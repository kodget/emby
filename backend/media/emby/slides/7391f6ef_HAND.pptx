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57" r:id="rId5"/>
    <p:sldId id="289" r:id="rId6"/>
    <p:sldId id="261" r:id="rId7"/>
    <p:sldId id="262" r:id="rId8"/>
    <p:sldId id="264" r:id="rId9"/>
    <p:sldId id="263" r:id="rId10"/>
    <p:sldId id="265" r:id="rId11"/>
    <p:sldId id="266" r:id="rId12"/>
    <p:sldId id="267" r:id="rId13"/>
    <p:sldId id="269" r:id="rId14"/>
    <p:sldId id="268"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3" autoAdjust="0"/>
    <p:restoredTop sz="94660"/>
  </p:normalViewPr>
  <p:slideViewPr>
    <p:cSldViewPr snapToGrid="0">
      <p:cViewPr varScale="1">
        <p:scale>
          <a:sx n="79" d="100"/>
          <a:sy n="79" d="100"/>
        </p:scale>
        <p:origin x="77" y="2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FB029FC-CF6E-467D-A45B-80814F86406B}"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BFB4EE-9FEA-4C29-9000-19072B8C32C1}" type="slidenum">
              <a:rPr lang="en-US" smtClean="0"/>
              <a:t>‹#›</a:t>
            </a:fld>
            <a:endParaRPr lang="en-US"/>
          </a:p>
        </p:txBody>
      </p:sp>
    </p:spTree>
    <p:extLst>
      <p:ext uri="{BB962C8B-B14F-4D97-AF65-F5344CB8AC3E}">
        <p14:creationId xmlns:p14="http://schemas.microsoft.com/office/powerpoint/2010/main" val="3738966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FB029FC-CF6E-467D-A45B-80814F86406B}"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BFB4EE-9FEA-4C29-9000-19072B8C32C1}" type="slidenum">
              <a:rPr lang="en-US" smtClean="0"/>
              <a:t>‹#›</a:t>
            </a:fld>
            <a:endParaRPr lang="en-US"/>
          </a:p>
        </p:txBody>
      </p:sp>
    </p:spTree>
    <p:extLst>
      <p:ext uri="{BB962C8B-B14F-4D97-AF65-F5344CB8AC3E}">
        <p14:creationId xmlns:p14="http://schemas.microsoft.com/office/powerpoint/2010/main" val="3919407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FB029FC-CF6E-467D-A45B-80814F86406B}"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BFB4EE-9FEA-4C29-9000-19072B8C32C1}" type="slidenum">
              <a:rPr lang="en-US" smtClean="0"/>
              <a:t>‹#›</a:t>
            </a:fld>
            <a:endParaRPr lang="en-US"/>
          </a:p>
        </p:txBody>
      </p:sp>
    </p:spTree>
    <p:extLst>
      <p:ext uri="{BB962C8B-B14F-4D97-AF65-F5344CB8AC3E}">
        <p14:creationId xmlns:p14="http://schemas.microsoft.com/office/powerpoint/2010/main" val="2010091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FB029FC-CF6E-467D-A45B-80814F86406B}" type="datetimeFigureOut">
              <a:rPr lang="en-US" smtClean="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BFB4EE-9FEA-4C29-9000-19072B8C32C1}" type="slidenum">
              <a:rPr lang="en-US" smtClean="0"/>
              <a:t>‹#›</a:t>
            </a:fld>
            <a:endParaRPr lang="en-US"/>
          </a:p>
        </p:txBody>
      </p:sp>
    </p:spTree>
    <p:extLst>
      <p:ext uri="{BB962C8B-B14F-4D97-AF65-F5344CB8AC3E}">
        <p14:creationId xmlns:p14="http://schemas.microsoft.com/office/powerpoint/2010/main" val="2339185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FB029FC-CF6E-467D-A45B-80814F86406B}" type="datetimeFigureOut">
              <a:rPr lang="en-US" smtClean="0"/>
              <a:t>4/28/2025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BFB4EE-9FEA-4C29-9000-19072B8C32C1}" type="slidenum">
              <a:rPr lang="en-US" smtClean="0"/>
              <a:t>‹#›</a:t>
            </a:fld>
            <a:endParaRPr lang="en-US"/>
          </a:p>
        </p:txBody>
      </p:sp>
    </p:spTree>
    <p:extLst>
      <p:ext uri="{BB962C8B-B14F-4D97-AF65-F5344CB8AC3E}">
        <p14:creationId xmlns:p14="http://schemas.microsoft.com/office/powerpoint/2010/main" val="350224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FB029FC-CF6E-467D-A45B-80814F86406B}" type="datetimeFigureOut">
              <a:rPr lang="en-US" smtClean="0"/>
              <a:t>4/28/2025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BFB4EE-9FEA-4C29-9000-19072B8C32C1}" type="slidenum">
              <a:rPr lang="en-US" smtClean="0"/>
              <a:t>‹#›</a:t>
            </a:fld>
            <a:endParaRPr lang="en-US"/>
          </a:p>
        </p:txBody>
      </p:sp>
    </p:spTree>
    <p:extLst>
      <p:ext uri="{BB962C8B-B14F-4D97-AF65-F5344CB8AC3E}">
        <p14:creationId xmlns:p14="http://schemas.microsoft.com/office/powerpoint/2010/main" val="2071893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B029FC-CF6E-467D-A45B-80814F86406B}" type="datetimeFigureOut">
              <a:rPr lang="en-US" smtClean="0"/>
              <a:t>4/28/2025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BFB4EE-9FEA-4C29-9000-19072B8C32C1}" type="slidenum">
              <a:rPr lang="en-US" smtClean="0"/>
              <a:t>‹#›</a:t>
            </a:fld>
            <a:endParaRPr lang="en-US"/>
          </a:p>
        </p:txBody>
      </p:sp>
    </p:spTree>
    <p:extLst>
      <p:ext uri="{BB962C8B-B14F-4D97-AF65-F5344CB8AC3E}">
        <p14:creationId xmlns:p14="http://schemas.microsoft.com/office/powerpoint/2010/main" val="2258621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FB029FC-CF6E-467D-A45B-80814F86406B}" type="datetimeFigureOut">
              <a:rPr lang="en-US" smtClean="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BFB4EE-9FEA-4C29-9000-19072B8C32C1}" type="slidenum">
              <a:rPr lang="en-US" smtClean="0"/>
              <a:t>‹#›</a:t>
            </a:fld>
            <a:endParaRPr lang="en-US"/>
          </a:p>
        </p:txBody>
      </p:sp>
    </p:spTree>
    <p:extLst>
      <p:ext uri="{BB962C8B-B14F-4D97-AF65-F5344CB8AC3E}">
        <p14:creationId xmlns:p14="http://schemas.microsoft.com/office/powerpoint/2010/main" val="3335161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FB029FC-CF6E-467D-A45B-80814F86406B}" type="datetimeFigureOut">
              <a:rPr lang="en-US" smtClean="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BFB4EE-9FEA-4C29-9000-19072B8C32C1}" type="slidenum">
              <a:rPr lang="en-US" smtClean="0"/>
              <a:t>‹#›</a:t>
            </a:fld>
            <a:endParaRPr lang="en-US"/>
          </a:p>
        </p:txBody>
      </p:sp>
    </p:spTree>
    <p:extLst>
      <p:ext uri="{BB962C8B-B14F-4D97-AF65-F5344CB8AC3E}">
        <p14:creationId xmlns:p14="http://schemas.microsoft.com/office/powerpoint/2010/main" val="2141165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FB029FC-CF6E-467D-A45B-80814F86406B}"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BFB4EE-9FEA-4C29-9000-19072B8C32C1}" type="slidenum">
              <a:rPr lang="en-US" smtClean="0"/>
              <a:t>‹#›</a:t>
            </a:fld>
            <a:endParaRPr lang="en-US"/>
          </a:p>
        </p:txBody>
      </p:sp>
    </p:spTree>
    <p:extLst>
      <p:ext uri="{BB962C8B-B14F-4D97-AF65-F5344CB8AC3E}">
        <p14:creationId xmlns:p14="http://schemas.microsoft.com/office/powerpoint/2010/main" val="13877314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FB029FC-CF6E-467D-A45B-80814F86406B}"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BFB4EE-9FEA-4C29-9000-19072B8C32C1}" type="slidenum">
              <a:rPr lang="en-US" smtClean="0"/>
              <a:t>‹#›</a:t>
            </a:fld>
            <a:endParaRPr lang="en-US"/>
          </a:p>
        </p:txBody>
      </p:sp>
    </p:spTree>
    <p:extLst>
      <p:ext uri="{BB962C8B-B14F-4D97-AF65-F5344CB8AC3E}">
        <p14:creationId xmlns:p14="http://schemas.microsoft.com/office/powerpoint/2010/main" val="3023721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B029FC-CF6E-467D-A45B-80814F86406B}" type="datetimeFigureOut">
              <a:rPr lang="en-US" smtClean="0"/>
              <a:t>4/28/2025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BFB4EE-9FEA-4C29-9000-19072B8C32C1}" type="slidenum">
              <a:rPr lang="en-US" smtClean="0"/>
              <a:t>‹#›</a:t>
            </a:fld>
            <a:endParaRPr lang="en-US"/>
          </a:p>
        </p:txBody>
      </p:sp>
    </p:spTree>
    <p:extLst>
      <p:ext uri="{BB962C8B-B14F-4D97-AF65-F5344CB8AC3E}">
        <p14:creationId xmlns:p14="http://schemas.microsoft.com/office/powerpoint/2010/main" val="1355541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eorthopod.com/hip-anatomy/"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eorthopod.com/news/knee-articular-cartilage-repair-in-teen-athletes/" TargetMode="External"/><Relationship Id="rId2" Type="http://schemas.openxmlformats.org/officeDocument/2006/relationships/hyperlink" Target="https://eorthopod.com/faq/i-am-a-physical-therapist-who-subscribes-to-your-service-it-has-been-a-great-help-to-me-tomorrow-i-will-be-seeing-two-patients-who-both-received-a-pyrolytic-carbon-implant-for-osteoarthritis-of-th/"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eorthopod.com/faq/what-do-injuries-to-the-pip-joint-of-the-hand-look-and-feel-like/" TargetMode="External"/><Relationship Id="rId2" Type="http://schemas.openxmlformats.org/officeDocument/2006/relationships/hyperlink" Target="https://eorthopod.com/faq/how-do-most-injuries-of-the-finger-collateral-ligaments-occur/" TargetMode="External"/><Relationship Id="rId1" Type="http://schemas.openxmlformats.org/officeDocument/2006/relationships/slideLayout" Target="../slideLayouts/slideLayout7.xml"/><Relationship Id="rId4" Type="http://schemas.openxmlformats.org/officeDocument/2006/relationships/hyperlink" Target="https://eorthopod.com/faq/which-finger-position-can-cause-injury-to-the-volar-plate-and-what-can-happen-with-an-injury-like-this/"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hyperlink" Target="https://eorthopod.com/news/more-research-needed-on-extensor-tendon-injuries/" TargetMode="External"/><Relationship Id="rId2" Type="http://schemas.openxmlformats.org/officeDocument/2006/relationships/hyperlink" Target="https://eorthopod.com/faq/i-am-a-professional-oboe-player-in-a-large-symphony-orchestra-while-we-were-traveling-overseas-i-fell-and-broke-my-wrist-my-wrist-is-healed-but-my-thumb-is-not-one-of-the-extensor-tendons-in-my-th/"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https://eorthopod.com/news/treatment-of-avascular-necrosis-of-the-carpal-bones-continues-to-evolve/"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hyperlink" Target="https://eorthopod.com/faq/ive-been-told-i-have-radial-tunnel-syndrome-and-thats-whats-causing-pain-along-the-outside-of-my-elbow-ive-had-it-injected-with-steroids-and-ive-seen-a-hand-therapist-but-nothing-has-helped/"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hyperlink" Target="https://eorthopod.com/news/avoiding-and-managing-ulnar-nerve-injuries/" TargetMode="External"/><Relationship Id="rId2" Type="http://schemas.openxmlformats.org/officeDocument/2006/relationships/hyperlink" Target="https://eorthopod.com/news/two-conditions-caused-by-median-nerve-disorders/"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teachmeanatomy.info/upper-limb/muscles/posterior-forearm/" TargetMode="External"/><Relationship Id="rId2" Type="http://schemas.openxmlformats.org/officeDocument/2006/relationships/hyperlink" Target="https://teachmeanatomy.info/upper-limb/muscles/anterior-forearm/"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hyperlink" Target="https://teachmeanatomy.info/upper-limb/nerves/median-nerve/"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teachmeanatomy.info/upper-limb/nerves/ulnar-nerve/" TargetMode="External"/><Relationship Id="rId2" Type="http://schemas.openxmlformats.org/officeDocument/2006/relationships/hyperlink" Target="https://teachmeanatomy.info/upper-limb/nerves/median-nerve/"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hyperlink" Target="https://teachmeanatomy.info/upper-limb/nerves/ulnar-nerve/"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hyperlink" Target="https://teachmeanatomy.info/upper-limb/nerves/ulnar-nerve/"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s://teachmeanatomy.info/upper-limb/nerves/ulnar-nerve/" TargetMode="External"/><Relationship Id="rId2" Type="http://schemas.openxmlformats.org/officeDocument/2006/relationships/hyperlink" Target="https://teachmeanatomy.info/upper-limb/nerves/median-nerve/"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hyperlink" Target="https://teachmeanatomy.info/upper-limb/nerves/ulnar-nerve/"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hyperlink" Target="https://teachmeanatomy.info/upper-limb/nerves/ulnar-nerve/" TargetMode="Externa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hyperlink" Target="https://teachmeanatomy.info/upper-limb/nerves/ulnar-nerve/" TargetMode="Externa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hyperlink" Target="https://teachmeanatomy.info/upper-limb/nerves/ulnar-nerve/" TargetMode="Externa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latin typeface="Times New Roman" panose="02020603050405020304" pitchFamily="18" charset="0"/>
                <a:cs typeface="Times New Roman" panose="02020603050405020304" pitchFamily="18" charset="0"/>
              </a:rPr>
              <a:t>HAND</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GB" dirty="0" smtClean="0">
                <a:latin typeface="Times New Roman" panose="02020603050405020304" pitchFamily="18" charset="0"/>
                <a:cs typeface="Times New Roman" panose="02020603050405020304" pitchFamily="18" charset="0"/>
              </a:rPr>
              <a:t>BY</a:t>
            </a:r>
          </a:p>
          <a:p>
            <a:r>
              <a:rPr lang="en-GB" dirty="0" smtClean="0">
                <a:latin typeface="Times New Roman" panose="02020603050405020304" pitchFamily="18" charset="0"/>
                <a:cs typeface="Times New Roman" panose="02020603050405020304" pitchFamily="18" charset="0"/>
              </a:rPr>
              <a:t>F.O. IGELIGE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7162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0" y="309672"/>
            <a:ext cx="12192000" cy="6124754"/>
          </a:xfrm>
          <a:prstGeom prst="rect">
            <a:avLst/>
          </a:prstGeom>
        </p:spPr>
        <p:txBody>
          <a:bodyPr wrap="square">
            <a:spAutoFit/>
          </a:bodyPr>
          <a:lstStyle/>
          <a:p>
            <a:r>
              <a:rPr lang="en-US" sz="2800" b="1" i="0" dirty="0" smtClean="0">
                <a:solidFill>
                  <a:srgbClr val="C00000"/>
                </a:solidFill>
                <a:effectLst/>
                <a:latin typeface="Times New Roman" panose="02020603050405020304" pitchFamily="18" charset="0"/>
                <a:cs typeface="Times New Roman" panose="02020603050405020304" pitchFamily="18" charset="0"/>
              </a:rPr>
              <a:t>Important Structures of the Hand</a:t>
            </a:r>
          </a:p>
          <a:p>
            <a:endParaRPr lang="en-GB" sz="2800" b="1" dirty="0">
              <a:solidFill>
                <a:srgbClr val="C00000"/>
              </a:solidFill>
              <a:latin typeface="Times New Roman" panose="02020603050405020304" pitchFamily="18" charset="0"/>
              <a:cs typeface="Times New Roman" panose="02020603050405020304" pitchFamily="18" charset="0"/>
            </a:endParaRPr>
          </a:p>
          <a:p>
            <a:endParaRPr lang="en-US" sz="2800" b="1" i="0" dirty="0" smtClean="0">
              <a:solidFill>
                <a:srgbClr val="C00000"/>
              </a:solidFill>
              <a:effectLst/>
              <a:latin typeface="Times New Roman" panose="02020603050405020304" pitchFamily="18" charset="0"/>
              <a:cs typeface="Times New Roman" panose="02020603050405020304" pitchFamily="18" charset="0"/>
            </a:endParaRPr>
          </a:p>
          <a:p>
            <a:r>
              <a:rPr lang="en-US" sz="2800" b="0" i="0" dirty="0" smtClean="0">
                <a:solidFill>
                  <a:srgbClr val="3A3A3A"/>
                </a:solidFill>
                <a:effectLst/>
                <a:latin typeface="Times New Roman" panose="02020603050405020304" pitchFamily="18" charset="0"/>
                <a:cs typeface="Times New Roman" panose="02020603050405020304" pitchFamily="18" charset="0"/>
              </a:rPr>
              <a:t>The </a:t>
            </a:r>
            <a:r>
              <a:rPr lang="en-US" sz="2800" b="0" i="0" u="none" strike="noStrike" dirty="0" smtClean="0">
                <a:solidFill>
                  <a:srgbClr val="1E73BE"/>
                </a:solidFill>
                <a:effectLst/>
                <a:latin typeface="Times New Roman" panose="02020603050405020304" pitchFamily="18" charset="0"/>
                <a:cs typeface="Times New Roman" panose="02020603050405020304" pitchFamily="18" charset="0"/>
                <a:hlinkClick r:id="rId2"/>
              </a:rPr>
              <a:t>important structures</a:t>
            </a:r>
            <a:r>
              <a:rPr lang="en-US" sz="2800" b="0" i="0" dirty="0" smtClean="0">
                <a:solidFill>
                  <a:srgbClr val="3A3A3A"/>
                </a:solidFill>
                <a:effectLst/>
                <a:latin typeface="Times New Roman" panose="02020603050405020304" pitchFamily="18" charset="0"/>
                <a:cs typeface="Times New Roman" panose="02020603050405020304" pitchFamily="18" charset="0"/>
              </a:rPr>
              <a:t> of the hand can be divided into several categories. These include; </a:t>
            </a:r>
          </a:p>
          <a:p>
            <a:endParaRPr lang="en-US" sz="2800" b="0" i="0" dirty="0" smtClean="0">
              <a:solidFill>
                <a:srgbClr val="3A3A3A"/>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bones and joints</a:t>
            </a:r>
          </a:p>
          <a:p>
            <a:pPr>
              <a:buFont typeface="Arial" panose="020B0604020202020204" pitchFamily="34" charset="0"/>
              <a:buChar char="•"/>
            </a:pPr>
            <a:endParaRPr lang="en-US" sz="2800" b="0" i="0" dirty="0" smtClean="0">
              <a:solidFill>
                <a:srgbClr val="3A3A3A"/>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ligaments and tendons</a:t>
            </a:r>
          </a:p>
          <a:p>
            <a:pPr>
              <a:buFont typeface="Arial" panose="020B0604020202020204" pitchFamily="34" charset="0"/>
              <a:buChar char="•"/>
            </a:pPr>
            <a:endParaRPr lang="en-US" sz="2800" b="0" i="0" dirty="0" smtClean="0">
              <a:solidFill>
                <a:srgbClr val="3A3A3A"/>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Muscles,</a:t>
            </a:r>
            <a:r>
              <a:rPr lang="en-US" sz="2800" dirty="0">
                <a:solidFill>
                  <a:srgbClr val="3A3A3A"/>
                </a:solidFill>
                <a:latin typeface="Times New Roman" panose="02020603050405020304" pitchFamily="18" charset="0"/>
                <a:cs typeface="Times New Roman" panose="02020603050405020304" pitchFamily="18" charset="0"/>
              </a:rPr>
              <a:t> </a:t>
            </a:r>
            <a:r>
              <a:rPr lang="en-US" sz="2800" b="0" i="0" dirty="0" smtClean="0">
                <a:solidFill>
                  <a:srgbClr val="3A3A3A"/>
                </a:solidFill>
                <a:effectLst/>
                <a:latin typeface="Times New Roman" panose="02020603050405020304" pitchFamily="18" charset="0"/>
                <a:cs typeface="Times New Roman" panose="02020603050405020304" pitchFamily="18" charset="0"/>
              </a:rPr>
              <a:t>nerves,</a:t>
            </a:r>
            <a:r>
              <a:rPr lang="en-US" sz="2800" dirty="0">
                <a:solidFill>
                  <a:srgbClr val="3A3A3A"/>
                </a:solidFill>
                <a:latin typeface="Times New Roman" panose="02020603050405020304" pitchFamily="18" charset="0"/>
                <a:cs typeface="Times New Roman" panose="02020603050405020304" pitchFamily="18" charset="0"/>
              </a:rPr>
              <a:t> </a:t>
            </a:r>
            <a:r>
              <a:rPr lang="en-US" sz="2800" b="0" i="0" dirty="0" smtClean="0">
                <a:solidFill>
                  <a:srgbClr val="3A3A3A"/>
                </a:solidFill>
                <a:effectLst/>
                <a:latin typeface="Times New Roman" panose="02020603050405020304" pitchFamily="18" charset="0"/>
                <a:cs typeface="Times New Roman" panose="02020603050405020304" pitchFamily="18" charset="0"/>
              </a:rPr>
              <a:t>blood vessels</a:t>
            </a:r>
          </a:p>
          <a:p>
            <a:pPr>
              <a:buFont typeface="Arial" panose="020B0604020202020204" pitchFamily="34" charset="0"/>
              <a:buChar char="•"/>
            </a:pPr>
            <a:endParaRPr lang="en-US" sz="2800" b="0" i="0" dirty="0" smtClean="0">
              <a:solidFill>
                <a:srgbClr val="3A3A3A"/>
              </a:solidFill>
              <a:effectLst/>
              <a:latin typeface="Times New Roman" panose="02020603050405020304" pitchFamily="18" charset="0"/>
              <a:cs typeface="Times New Roman" panose="02020603050405020304" pitchFamily="18" charset="0"/>
            </a:endParaRPr>
          </a:p>
          <a:p>
            <a:r>
              <a:rPr lang="en-US" sz="2800" b="0" i="0" dirty="0" smtClean="0">
                <a:solidFill>
                  <a:srgbClr val="3A3A3A"/>
                </a:solidFill>
                <a:effectLst/>
                <a:latin typeface="Times New Roman" panose="02020603050405020304" pitchFamily="18" charset="0"/>
                <a:cs typeface="Times New Roman" panose="02020603050405020304" pitchFamily="18" charset="0"/>
              </a:rPr>
              <a:t>The front, or palm-side, of the hand is referred to as the </a:t>
            </a:r>
            <a:r>
              <a:rPr lang="en-US" sz="2800" b="0" i="1" dirty="0" smtClean="0">
                <a:solidFill>
                  <a:srgbClr val="3A3A3A"/>
                </a:solidFill>
                <a:effectLst/>
                <a:latin typeface="Times New Roman" panose="02020603050405020304" pitchFamily="18" charset="0"/>
                <a:cs typeface="Times New Roman" panose="02020603050405020304" pitchFamily="18" charset="0"/>
              </a:rPr>
              <a:t>palmar</a:t>
            </a:r>
            <a:r>
              <a:rPr lang="en-US" sz="2800" b="0" i="0" dirty="0" smtClean="0">
                <a:solidFill>
                  <a:srgbClr val="3A3A3A"/>
                </a:solidFill>
                <a:effectLst/>
                <a:latin typeface="Times New Roman" panose="02020603050405020304" pitchFamily="18" charset="0"/>
                <a:cs typeface="Times New Roman" panose="02020603050405020304" pitchFamily="18" charset="0"/>
              </a:rPr>
              <a:t> side. The back of the hand is called the </a:t>
            </a:r>
            <a:r>
              <a:rPr lang="en-US" sz="2800" b="0" i="1" dirty="0" smtClean="0">
                <a:solidFill>
                  <a:srgbClr val="3A3A3A"/>
                </a:solidFill>
                <a:effectLst/>
                <a:latin typeface="Times New Roman" panose="02020603050405020304" pitchFamily="18" charset="0"/>
                <a:cs typeface="Times New Roman" panose="02020603050405020304" pitchFamily="18" charset="0"/>
              </a:rPr>
              <a:t>dorsal</a:t>
            </a:r>
            <a:r>
              <a:rPr lang="en-US" sz="2800" b="0" i="0" dirty="0" smtClean="0">
                <a:solidFill>
                  <a:srgbClr val="3A3A3A"/>
                </a:solidFill>
                <a:effectLst/>
                <a:latin typeface="Times New Roman" panose="02020603050405020304" pitchFamily="18" charset="0"/>
                <a:cs typeface="Times New Roman" panose="02020603050405020304" pitchFamily="18" charset="0"/>
              </a:rPr>
              <a:t> side.</a:t>
            </a:r>
            <a:endParaRPr lang="en-US" sz="2800" b="0" i="0" dirty="0">
              <a:solidFill>
                <a:srgbClr val="3A3A3A"/>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44047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eorthopod.com/sites/default/files/images/hand_anatomy_bones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4" y="673769"/>
            <a:ext cx="3810000" cy="3810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325486" y="144999"/>
            <a:ext cx="2108269" cy="369332"/>
          </a:xfrm>
          <a:prstGeom prst="rect">
            <a:avLst/>
          </a:prstGeom>
        </p:spPr>
        <p:txBody>
          <a:bodyPr wrap="none">
            <a:spAutoFit/>
          </a:bodyPr>
          <a:lstStyle/>
          <a:p>
            <a:r>
              <a:rPr lang="en-US" b="1" i="0" dirty="0" smtClean="0">
                <a:solidFill>
                  <a:srgbClr val="3A3A3A"/>
                </a:solidFill>
                <a:effectLst/>
                <a:latin typeface="Open Sans"/>
              </a:rPr>
              <a:t>Bones and Joints</a:t>
            </a:r>
            <a:endParaRPr lang="en-US" dirty="0"/>
          </a:p>
        </p:txBody>
      </p:sp>
      <p:pic>
        <p:nvPicPr>
          <p:cNvPr id="3" name="Picture 2"/>
          <p:cNvPicPr>
            <a:picLocks noChangeAspect="1"/>
          </p:cNvPicPr>
          <p:nvPr/>
        </p:nvPicPr>
        <p:blipFill>
          <a:blip r:embed="rId3"/>
          <a:stretch>
            <a:fillRect/>
          </a:stretch>
        </p:blipFill>
        <p:spPr>
          <a:xfrm>
            <a:off x="4064651" y="107951"/>
            <a:ext cx="3810000" cy="3171825"/>
          </a:xfrm>
          <a:prstGeom prst="rect">
            <a:avLst/>
          </a:prstGeom>
        </p:spPr>
      </p:pic>
      <p:pic>
        <p:nvPicPr>
          <p:cNvPr id="4" name="Picture 3"/>
          <p:cNvPicPr>
            <a:picLocks noChangeAspect="1"/>
          </p:cNvPicPr>
          <p:nvPr/>
        </p:nvPicPr>
        <p:blipFill>
          <a:blip r:embed="rId4"/>
          <a:stretch>
            <a:fillRect/>
          </a:stretch>
        </p:blipFill>
        <p:spPr>
          <a:xfrm>
            <a:off x="8300987" y="144999"/>
            <a:ext cx="3810000" cy="3171825"/>
          </a:xfrm>
          <a:prstGeom prst="rect">
            <a:avLst/>
          </a:prstGeom>
        </p:spPr>
      </p:pic>
      <p:pic>
        <p:nvPicPr>
          <p:cNvPr id="2052" name="Picture 4" descr="https://eorthopod.com/sites/default/files/images/hand_anatomy_cartilage01.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9696" y="3924668"/>
            <a:ext cx="381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8617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lstStyle/>
          <a:p>
            <a:r>
              <a:rPr lang="en-GB" b="1" dirty="0" smtClean="0">
                <a:solidFill>
                  <a:srgbClr val="C00000"/>
                </a:solidFill>
                <a:latin typeface="Times New Roman" panose="02020603050405020304" pitchFamily="18" charset="0"/>
                <a:cs typeface="Times New Roman" panose="02020603050405020304" pitchFamily="18" charset="0"/>
              </a:rPr>
              <a:t>INTRODUCTION</a:t>
            </a:r>
            <a:endParaRPr lang="en-US"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377" y="1029903"/>
            <a:ext cx="12124623" cy="5147060"/>
          </a:xfrm>
        </p:spPr>
        <p:txBody>
          <a:bodyPr>
            <a:normAutofit/>
          </a:bodyPr>
          <a:lstStyle/>
          <a:p>
            <a:pPr fontAlgn="base"/>
            <a:r>
              <a:rPr lang="en-US" dirty="0">
                <a:latin typeface="Times New Roman" panose="02020603050405020304" pitchFamily="18" charset="0"/>
                <a:cs typeface="Times New Roman" panose="02020603050405020304" pitchFamily="18" charset="0"/>
              </a:rPr>
              <a:t>The hand is composed of many different bones, muscles, and ligaments that allow for a large amount of movement and dexterity</a:t>
            </a:r>
            <a:r>
              <a:rPr lang="en-US" dirty="0" smtClean="0">
                <a:latin typeface="Times New Roman" panose="02020603050405020304" pitchFamily="18" charset="0"/>
                <a:cs typeface="Times New Roman" panose="02020603050405020304" pitchFamily="18" charset="0"/>
              </a:rPr>
              <a:t>.</a:t>
            </a:r>
          </a:p>
          <a:p>
            <a:pPr marL="0" indent="0" fontAlgn="base">
              <a:buNone/>
            </a:pPr>
            <a:endParaRPr lang="en-US" dirty="0">
              <a:latin typeface="Times New Roman" panose="02020603050405020304" pitchFamily="18" charset="0"/>
              <a:cs typeface="Times New Roman" panose="02020603050405020304" pitchFamily="18" charset="0"/>
            </a:endParaRPr>
          </a:p>
          <a:p>
            <a:pPr fontAlgn="base"/>
            <a:r>
              <a:rPr lang="en-US" dirty="0">
                <a:latin typeface="Times New Roman" panose="02020603050405020304" pitchFamily="18" charset="0"/>
                <a:cs typeface="Times New Roman" panose="02020603050405020304" pitchFamily="18" charset="0"/>
              </a:rPr>
              <a:t>There are three major types of bones in the hand </a:t>
            </a:r>
            <a:r>
              <a:rPr lang="en-US" dirty="0" smtClean="0">
                <a:latin typeface="Times New Roman" panose="02020603050405020304" pitchFamily="18" charset="0"/>
                <a:cs typeface="Times New Roman" panose="02020603050405020304" pitchFamily="18" charset="0"/>
              </a:rPr>
              <a:t>itself;</a:t>
            </a:r>
          </a:p>
          <a:p>
            <a:pPr fontAlgn="base"/>
            <a:r>
              <a:rPr lang="en-US" b="1" dirty="0">
                <a:latin typeface="Times New Roman" panose="02020603050405020304" pitchFamily="18" charset="0"/>
                <a:cs typeface="Times New Roman" panose="02020603050405020304" pitchFamily="18" charset="0"/>
              </a:rPr>
              <a:t>Phalanges. </a:t>
            </a:r>
            <a:r>
              <a:rPr lang="en-US" dirty="0">
                <a:latin typeface="Times New Roman" panose="02020603050405020304" pitchFamily="18" charset="0"/>
                <a:cs typeface="Times New Roman" panose="02020603050405020304" pitchFamily="18" charset="0"/>
              </a:rPr>
              <a:t>These 14 bones are found in the fingers of each hand and also in the toes of each foot. Each finger has three phalanges (the distal, middle, and proximal). The thumb only has two.</a:t>
            </a:r>
          </a:p>
          <a:p>
            <a:pPr fontAlgn="base"/>
            <a:r>
              <a:rPr lang="en-US" b="1" dirty="0">
                <a:latin typeface="Times New Roman" panose="02020603050405020304" pitchFamily="18" charset="0"/>
                <a:cs typeface="Times New Roman" panose="02020603050405020304" pitchFamily="18" charset="0"/>
              </a:rPr>
              <a:t>Metacarpal bones. </a:t>
            </a:r>
            <a:r>
              <a:rPr lang="en-US" dirty="0">
                <a:latin typeface="Times New Roman" panose="02020603050405020304" pitchFamily="18" charset="0"/>
                <a:cs typeface="Times New Roman" panose="02020603050405020304" pitchFamily="18" charset="0"/>
              </a:rPr>
              <a:t>These five bones make up the middle part of the hand</a:t>
            </a:r>
            <a:r>
              <a:rPr lang="en-US" dirty="0" smtClean="0">
                <a:latin typeface="Times New Roman" panose="02020603050405020304" pitchFamily="18" charset="0"/>
                <a:cs typeface="Times New Roman" panose="02020603050405020304" pitchFamily="18" charset="0"/>
              </a:rPr>
              <a:t>.</a:t>
            </a:r>
          </a:p>
          <a:p>
            <a:pPr marL="0" indent="0" fontAlgn="base">
              <a:buNone/>
            </a:pPr>
            <a:endParaRPr lang="en-US" dirty="0">
              <a:latin typeface="Times New Roman" panose="02020603050405020304" pitchFamily="18" charset="0"/>
              <a:cs typeface="Times New Roman" panose="02020603050405020304" pitchFamily="18" charset="0"/>
            </a:endParaRPr>
          </a:p>
          <a:p>
            <a:pPr fontAlgn="base"/>
            <a:r>
              <a:rPr lang="en-US" b="1" dirty="0">
                <a:latin typeface="Times New Roman" panose="02020603050405020304" pitchFamily="18" charset="0"/>
                <a:cs typeface="Times New Roman" panose="02020603050405020304" pitchFamily="18" charset="0"/>
              </a:rPr>
              <a:t>Carpal bones. </a:t>
            </a:r>
            <a:r>
              <a:rPr lang="en-US" dirty="0">
                <a:latin typeface="Times New Roman" panose="02020603050405020304" pitchFamily="18" charset="0"/>
                <a:cs typeface="Times New Roman" panose="02020603050405020304" pitchFamily="18" charset="0"/>
              </a:rPr>
              <a:t>These eight bones create the wrist. The two rows of carpal bones are connected to two bones of the arm—the ulna bone and the radius bone.</a:t>
            </a:r>
          </a:p>
          <a:p>
            <a:pPr marL="0" indent="0" fontAlgn="base">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8520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252" y="174919"/>
            <a:ext cx="12192000" cy="6124754"/>
          </a:xfrm>
          <a:prstGeom prst="rect">
            <a:avLst/>
          </a:prstGeom>
        </p:spPr>
        <p:txBody>
          <a:bodyPr wrap="square">
            <a:spAutoFit/>
          </a:bodyPr>
          <a:lstStyle/>
          <a:p>
            <a:pPr marL="457200" indent="-457200" fontAlgn="base">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Numerous muscles, ligaments, tendons, and sheaths can be found within the hand.</a:t>
            </a:r>
          </a:p>
          <a:p>
            <a:pPr fontAlgn="base"/>
            <a:endParaRPr lang="en-US" sz="2800" dirty="0" smtClean="0">
              <a:latin typeface="Times New Roman" panose="02020603050405020304" pitchFamily="18" charset="0"/>
              <a:cs typeface="Times New Roman" panose="02020603050405020304" pitchFamily="18" charset="0"/>
            </a:endParaRPr>
          </a:p>
          <a:p>
            <a:pPr marL="457200" indent="-457200" fontAlgn="base">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 The muscles are the structures that can contract, allowing movement of the bones in the hand. </a:t>
            </a:r>
          </a:p>
          <a:p>
            <a:pPr marL="457200" indent="-457200" fontAlgn="base">
              <a:buFont typeface="Arial" panose="020B0604020202020204" pitchFamily="34" charset="0"/>
              <a:buChar char="•"/>
            </a:pPr>
            <a:endParaRPr lang="en-US" sz="2800" dirty="0" smtClean="0">
              <a:latin typeface="Times New Roman" panose="02020603050405020304" pitchFamily="18" charset="0"/>
              <a:cs typeface="Times New Roman" panose="02020603050405020304" pitchFamily="18" charset="0"/>
            </a:endParaRPr>
          </a:p>
          <a:p>
            <a:pPr marL="457200" indent="-457200" fontAlgn="base">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The ligaments are fibrous tissues that help bind together the joints in the hand. The sheaths are tubular structures that surround part of the fingers. </a:t>
            </a:r>
          </a:p>
          <a:p>
            <a:pPr fontAlgn="base"/>
            <a:endParaRPr lang="en-US" sz="2800" dirty="0" smtClean="0">
              <a:latin typeface="Times New Roman" panose="02020603050405020304" pitchFamily="18" charset="0"/>
              <a:cs typeface="Times New Roman" panose="02020603050405020304" pitchFamily="18" charset="0"/>
            </a:endParaRPr>
          </a:p>
          <a:p>
            <a:pPr marL="457200" indent="-457200" fontAlgn="base">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The tendons connect muscles in the arm or hand to the bone to allow movement and typically pass through the sheaths.</a:t>
            </a:r>
          </a:p>
          <a:p>
            <a:pPr marL="457200" indent="-457200" fontAlgn="base">
              <a:buFont typeface="Arial" panose="020B0604020202020204" pitchFamily="34" charset="0"/>
              <a:buChar char="•"/>
            </a:pPr>
            <a:endParaRPr lang="en-US" sz="2800" dirty="0" smtClean="0">
              <a:latin typeface="Times New Roman" panose="02020603050405020304" pitchFamily="18" charset="0"/>
              <a:cs typeface="Times New Roman" panose="02020603050405020304" pitchFamily="18" charset="0"/>
            </a:endParaRPr>
          </a:p>
          <a:p>
            <a:pPr fontAlgn="base"/>
            <a:r>
              <a:rPr lang="en-US" sz="2800" dirty="0" smtClean="0">
                <a:latin typeface="Times New Roman" panose="02020603050405020304" pitchFamily="18" charset="0"/>
                <a:cs typeface="Times New Roman" panose="02020603050405020304" pitchFamily="18" charset="0"/>
              </a:rPr>
              <a:t>In addition, there are arteries, veins, and nerves within the hand that provide blood flow and sensation to the hand and fingers.</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614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417415"/>
          </a:xfrm>
          <a:prstGeom prst="rect">
            <a:avLst/>
          </a:prstGeom>
        </p:spPr>
        <p:txBody>
          <a:bodyPr wrap="square">
            <a:spAutoFit/>
          </a:bodyPr>
          <a:lstStyle/>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There are 27 bones within the wrist and hand. The wrist itself contains eight small bones, called </a:t>
            </a:r>
            <a:r>
              <a:rPr lang="en-US" sz="2800" b="0" i="1" dirty="0" smtClean="0">
                <a:solidFill>
                  <a:srgbClr val="3A3A3A"/>
                </a:solidFill>
                <a:effectLst/>
                <a:latin typeface="Times New Roman" panose="02020603050405020304" pitchFamily="18" charset="0"/>
                <a:cs typeface="Times New Roman" panose="02020603050405020304" pitchFamily="18" charset="0"/>
              </a:rPr>
              <a:t>carpals</a:t>
            </a:r>
            <a:r>
              <a:rPr lang="en-US" sz="2800" b="0" i="0" dirty="0" smtClean="0">
                <a:solidFill>
                  <a:srgbClr val="3A3A3A"/>
                </a:solidFill>
                <a:effectLst/>
                <a:latin typeface="Times New Roman" panose="02020603050405020304" pitchFamily="18" charset="0"/>
                <a:cs typeface="Times New Roman" panose="02020603050405020304" pitchFamily="18" charset="0"/>
              </a:rPr>
              <a:t>. </a:t>
            </a:r>
          </a:p>
          <a:p>
            <a:pPr marL="457200" indent="-457200">
              <a:buFont typeface="Arial" panose="020B0604020202020204" pitchFamily="34" charset="0"/>
              <a:buChar char="•"/>
            </a:pPr>
            <a:endParaRPr lang="en-US" sz="2800" b="0" i="0" dirty="0" smtClean="0">
              <a:solidFill>
                <a:srgbClr val="3A3A3A"/>
              </a:solidFill>
              <a:effectLst/>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The carpals join with the two forearm bones, the </a:t>
            </a:r>
            <a:r>
              <a:rPr lang="en-US" sz="2800" b="0" i="1" dirty="0" smtClean="0">
                <a:solidFill>
                  <a:srgbClr val="3A3A3A"/>
                </a:solidFill>
                <a:effectLst/>
                <a:latin typeface="Times New Roman" panose="02020603050405020304" pitchFamily="18" charset="0"/>
                <a:cs typeface="Times New Roman" panose="02020603050405020304" pitchFamily="18" charset="0"/>
              </a:rPr>
              <a:t>radius</a:t>
            </a:r>
            <a:r>
              <a:rPr lang="en-US" sz="2800" b="0" i="0" dirty="0" smtClean="0">
                <a:solidFill>
                  <a:srgbClr val="3A3A3A"/>
                </a:solidFill>
                <a:effectLst/>
                <a:latin typeface="Times New Roman" panose="02020603050405020304" pitchFamily="18" charset="0"/>
                <a:cs typeface="Times New Roman" panose="02020603050405020304" pitchFamily="18" charset="0"/>
              </a:rPr>
              <a:t> and </a:t>
            </a:r>
            <a:r>
              <a:rPr lang="en-US" sz="2800" b="0" i="1" dirty="0" smtClean="0">
                <a:solidFill>
                  <a:srgbClr val="3A3A3A"/>
                </a:solidFill>
                <a:effectLst/>
                <a:latin typeface="Times New Roman" panose="02020603050405020304" pitchFamily="18" charset="0"/>
                <a:cs typeface="Times New Roman" panose="02020603050405020304" pitchFamily="18" charset="0"/>
              </a:rPr>
              <a:t>ulna</a:t>
            </a:r>
            <a:r>
              <a:rPr lang="en-US" sz="2800" b="0" i="0" dirty="0" smtClean="0">
                <a:solidFill>
                  <a:srgbClr val="3A3A3A"/>
                </a:solidFill>
                <a:effectLst/>
                <a:latin typeface="Times New Roman" panose="02020603050405020304" pitchFamily="18" charset="0"/>
                <a:cs typeface="Times New Roman" panose="02020603050405020304" pitchFamily="18" charset="0"/>
              </a:rPr>
              <a:t>, forming the wrist joint. Further into the palm, the carpals connect to the </a:t>
            </a:r>
            <a:r>
              <a:rPr lang="en-US" sz="2800" b="0" i="1" dirty="0" smtClean="0">
                <a:solidFill>
                  <a:srgbClr val="3A3A3A"/>
                </a:solidFill>
                <a:effectLst/>
                <a:latin typeface="Times New Roman" panose="02020603050405020304" pitchFamily="18" charset="0"/>
                <a:cs typeface="Times New Roman" panose="02020603050405020304" pitchFamily="18" charset="0"/>
              </a:rPr>
              <a:t>metacarpals</a:t>
            </a:r>
            <a:r>
              <a:rPr lang="en-US" sz="2800" b="0" i="0" dirty="0" smtClean="0">
                <a:solidFill>
                  <a:srgbClr val="3A3A3A"/>
                </a:solidFill>
                <a:effectLst/>
                <a:latin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endParaRPr lang="en-US" sz="2800" b="0" i="0" dirty="0" smtClean="0">
              <a:solidFill>
                <a:srgbClr val="3A3A3A"/>
              </a:solidFill>
              <a:effectLst/>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 There are five metacarpals forming the palm of the hand. One metacarpal connects to each finger and thumb. Small bone shafts called </a:t>
            </a:r>
            <a:r>
              <a:rPr lang="en-US" sz="2800" b="0" i="1" dirty="0" smtClean="0">
                <a:solidFill>
                  <a:srgbClr val="3A3A3A"/>
                </a:solidFill>
                <a:effectLst/>
                <a:latin typeface="Times New Roman" panose="02020603050405020304" pitchFamily="18" charset="0"/>
                <a:cs typeface="Times New Roman" panose="02020603050405020304" pitchFamily="18" charset="0"/>
              </a:rPr>
              <a:t>phalanges</a:t>
            </a:r>
            <a:r>
              <a:rPr lang="en-US" sz="2800" b="0" i="0" dirty="0" smtClean="0">
                <a:solidFill>
                  <a:srgbClr val="3A3A3A"/>
                </a:solidFill>
                <a:effectLst/>
                <a:latin typeface="Times New Roman" panose="02020603050405020304" pitchFamily="18" charset="0"/>
                <a:cs typeface="Times New Roman" panose="02020603050405020304" pitchFamily="18" charset="0"/>
              </a:rPr>
              <a:t> line up to form each finger and thumb.</a:t>
            </a:r>
          </a:p>
          <a:p>
            <a:endParaRPr lang="en-US" sz="2800" b="0" i="0" dirty="0" smtClean="0">
              <a:solidFill>
                <a:srgbClr val="3A3A3A"/>
              </a:solidFill>
              <a:effectLst/>
              <a:latin typeface="Times New Roman" panose="02020603050405020304" pitchFamily="18" charset="0"/>
              <a:cs typeface="Times New Roman" panose="02020603050405020304" pitchFamily="18" charset="0"/>
            </a:endParaRPr>
          </a:p>
          <a:p>
            <a:r>
              <a:rPr lang="en-US" sz="2800" b="0" i="0" dirty="0" smtClean="0">
                <a:solidFill>
                  <a:srgbClr val="3A3A3A"/>
                </a:solidFill>
                <a:effectLst/>
                <a:latin typeface="Times New Roman" panose="02020603050405020304" pitchFamily="18" charset="0"/>
                <a:cs typeface="Times New Roman" panose="02020603050405020304" pitchFamily="18" charset="0"/>
              </a:rPr>
              <a:t>The main knuckle joints are formed by the connections of the phalanges to the metacarpals. </a:t>
            </a:r>
          </a:p>
          <a:p>
            <a:endParaRPr lang="en-US" sz="2800" b="0" i="0" dirty="0" smtClean="0">
              <a:solidFill>
                <a:srgbClr val="3A3A3A"/>
              </a:solidFill>
              <a:effectLst/>
              <a:latin typeface="Times New Roman" panose="02020603050405020304" pitchFamily="18" charset="0"/>
              <a:cs typeface="Times New Roman" panose="02020603050405020304" pitchFamily="18" charset="0"/>
            </a:endParaRPr>
          </a:p>
          <a:p>
            <a:r>
              <a:rPr lang="en-US" sz="2800" b="0" i="0" dirty="0" smtClean="0">
                <a:solidFill>
                  <a:srgbClr val="3A3A3A"/>
                </a:solidFill>
                <a:effectLst/>
                <a:latin typeface="Times New Roman" panose="02020603050405020304" pitchFamily="18" charset="0"/>
                <a:cs typeface="Times New Roman" panose="02020603050405020304" pitchFamily="18" charset="0"/>
              </a:rPr>
              <a:t>These joints are called the </a:t>
            </a:r>
            <a:r>
              <a:rPr lang="en-US" sz="2800" b="0" i="1" dirty="0" err="1" smtClean="0">
                <a:solidFill>
                  <a:srgbClr val="3A3A3A"/>
                </a:solidFill>
                <a:effectLst/>
                <a:latin typeface="Times New Roman" panose="02020603050405020304" pitchFamily="18" charset="0"/>
                <a:cs typeface="Times New Roman" panose="02020603050405020304" pitchFamily="18" charset="0"/>
              </a:rPr>
              <a:t>metacarpophalangeal</a:t>
            </a:r>
            <a:r>
              <a:rPr lang="en-US" sz="2800" b="0" i="1" dirty="0" smtClean="0">
                <a:solidFill>
                  <a:srgbClr val="3A3A3A"/>
                </a:solidFill>
                <a:effectLst/>
                <a:latin typeface="Times New Roman" panose="02020603050405020304" pitchFamily="18" charset="0"/>
                <a:cs typeface="Times New Roman" panose="02020603050405020304" pitchFamily="18" charset="0"/>
              </a:rPr>
              <a:t> joints</a:t>
            </a:r>
            <a:r>
              <a:rPr lang="en-US" sz="2800" b="0" i="0" dirty="0" smtClean="0">
                <a:solidFill>
                  <a:srgbClr val="3A3A3A"/>
                </a:solidFill>
                <a:effectLst/>
                <a:latin typeface="Times New Roman" panose="02020603050405020304" pitchFamily="18" charset="0"/>
                <a:cs typeface="Times New Roman" panose="02020603050405020304" pitchFamily="18" charset="0"/>
              </a:rPr>
              <a:t> (MCP joints). The MCP joints work like a hinge when you bend and straighten your fingers and thumb.</a:t>
            </a:r>
          </a:p>
          <a:p>
            <a:r>
              <a:rPr lang="en-US" sz="2800" b="0" i="0" dirty="0" smtClean="0">
                <a:solidFill>
                  <a:srgbClr val="3A3A3A"/>
                </a:solidFill>
                <a:effectLst/>
                <a:latin typeface="Times New Roman" panose="02020603050405020304" pitchFamily="18" charset="0"/>
                <a:cs typeface="Times New Roman" panose="02020603050405020304" pitchFamily="18" charset="0"/>
              </a:rPr>
              <a:t/>
            </a:r>
            <a:br>
              <a:rPr lang="en-US" sz="2800" b="0" i="0" dirty="0" smtClean="0">
                <a:solidFill>
                  <a:srgbClr val="3A3A3A"/>
                </a:solidFill>
                <a:effectLst/>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4234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56190"/>
            <a:ext cx="12192000" cy="6555641"/>
          </a:xfrm>
          <a:prstGeom prst="rect">
            <a:avLst/>
          </a:prstGeom>
        </p:spPr>
        <p:txBody>
          <a:bodyPr wrap="square">
            <a:spAutoFit/>
          </a:bodyPr>
          <a:lstStyle/>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The three phalanges in each finger are separated by two joints, called </a:t>
            </a:r>
            <a:r>
              <a:rPr lang="en-US" sz="2800" b="0" i="1" dirty="0" err="1" smtClean="0">
                <a:solidFill>
                  <a:srgbClr val="3A3A3A"/>
                </a:solidFill>
                <a:effectLst/>
                <a:latin typeface="Times New Roman" panose="02020603050405020304" pitchFamily="18" charset="0"/>
                <a:cs typeface="Times New Roman" panose="02020603050405020304" pitchFamily="18" charset="0"/>
              </a:rPr>
              <a:t>interphalangeal</a:t>
            </a:r>
            <a:r>
              <a:rPr lang="en-US" sz="2800" b="0" i="1" dirty="0" smtClean="0">
                <a:solidFill>
                  <a:srgbClr val="3A3A3A"/>
                </a:solidFill>
                <a:effectLst/>
                <a:latin typeface="Times New Roman" panose="02020603050405020304" pitchFamily="18" charset="0"/>
                <a:cs typeface="Times New Roman" panose="02020603050405020304" pitchFamily="18" charset="0"/>
              </a:rPr>
              <a:t> joints</a:t>
            </a:r>
            <a:r>
              <a:rPr lang="en-US" sz="2800" b="0" i="0" dirty="0" smtClean="0">
                <a:solidFill>
                  <a:srgbClr val="3A3A3A"/>
                </a:solidFill>
                <a:effectLst/>
                <a:latin typeface="Times New Roman" panose="02020603050405020304" pitchFamily="18" charset="0"/>
                <a:cs typeface="Times New Roman" panose="02020603050405020304" pitchFamily="18" charset="0"/>
              </a:rPr>
              <a:t> (IP joints). </a:t>
            </a:r>
          </a:p>
          <a:p>
            <a:pPr marL="457200" indent="-457200">
              <a:buFont typeface="Arial" panose="020B0604020202020204" pitchFamily="34" charset="0"/>
              <a:buChar char="•"/>
            </a:pPr>
            <a:endParaRPr lang="en-US" sz="2800" b="0" i="0" dirty="0" smtClean="0">
              <a:solidFill>
                <a:srgbClr val="3A3A3A"/>
              </a:solidFill>
              <a:effectLst/>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The one closest to the </a:t>
            </a:r>
            <a:r>
              <a:rPr lang="en-US" sz="2800" b="0" i="0" u="none" strike="noStrike" dirty="0" err="1" smtClean="0">
                <a:solidFill>
                  <a:srgbClr val="1E73BE"/>
                </a:solidFill>
                <a:effectLst/>
                <a:latin typeface="Times New Roman" panose="02020603050405020304" pitchFamily="18" charset="0"/>
                <a:cs typeface="Times New Roman" panose="02020603050405020304" pitchFamily="18" charset="0"/>
                <a:hlinkClick r:id="rId2"/>
              </a:rPr>
              <a:t>mcp</a:t>
            </a:r>
            <a:r>
              <a:rPr lang="en-US" sz="2800" b="0" i="0" u="none" strike="noStrike" dirty="0" smtClean="0">
                <a:solidFill>
                  <a:srgbClr val="1E73BE"/>
                </a:solidFill>
                <a:effectLst/>
                <a:latin typeface="Times New Roman" panose="02020603050405020304" pitchFamily="18" charset="0"/>
                <a:cs typeface="Times New Roman" panose="02020603050405020304" pitchFamily="18" charset="0"/>
                <a:hlinkClick r:id="rId2"/>
              </a:rPr>
              <a:t> joint</a:t>
            </a:r>
            <a:r>
              <a:rPr lang="en-US" sz="2800" b="0" i="0" dirty="0" smtClean="0">
                <a:solidFill>
                  <a:srgbClr val="3A3A3A"/>
                </a:solidFill>
                <a:effectLst/>
                <a:latin typeface="Times New Roman" panose="02020603050405020304" pitchFamily="18" charset="0"/>
                <a:cs typeface="Times New Roman" panose="02020603050405020304" pitchFamily="18" charset="0"/>
              </a:rPr>
              <a:t> (knuckle) is called the </a:t>
            </a:r>
            <a:r>
              <a:rPr lang="en-US" sz="2800" b="0" i="1" dirty="0" smtClean="0">
                <a:solidFill>
                  <a:srgbClr val="3A3A3A"/>
                </a:solidFill>
                <a:effectLst/>
                <a:latin typeface="Times New Roman" panose="02020603050405020304" pitchFamily="18" charset="0"/>
                <a:cs typeface="Times New Roman" panose="02020603050405020304" pitchFamily="18" charset="0"/>
              </a:rPr>
              <a:t>proximal IP joint</a:t>
            </a:r>
            <a:r>
              <a:rPr lang="en-US" sz="2800" b="0" i="0" dirty="0" smtClean="0">
                <a:solidFill>
                  <a:srgbClr val="3A3A3A"/>
                </a:solidFill>
                <a:effectLst/>
                <a:latin typeface="Times New Roman" panose="02020603050405020304" pitchFamily="18" charset="0"/>
                <a:cs typeface="Times New Roman" panose="02020603050405020304" pitchFamily="18" charset="0"/>
              </a:rPr>
              <a:t> (PIP joint). </a:t>
            </a: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The joint near the end of the finger is called the </a:t>
            </a:r>
            <a:r>
              <a:rPr lang="en-US" sz="2800" b="0" i="1" dirty="0" smtClean="0">
                <a:solidFill>
                  <a:srgbClr val="3A3A3A"/>
                </a:solidFill>
                <a:effectLst/>
                <a:latin typeface="Times New Roman" panose="02020603050405020304" pitchFamily="18" charset="0"/>
                <a:cs typeface="Times New Roman" panose="02020603050405020304" pitchFamily="18" charset="0"/>
              </a:rPr>
              <a:t>distal IP joint</a:t>
            </a:r>
            <a:r>
              <a:rPr lang="en-US" sz="2800" b="0" i="0" dirty="0" smtClean="0">
                <a:solidFill>
                  <a:srgbClr val="3A3A3A"/>
                </a:solidFill>
                <a:effectLst/>
                <a:latin typeface="Times New Roman" panose="02020603050405020304" pitchFamily="18" charset="0"/>
                <a:cs typeface="Times New Roman" panose="02020603050405020304" pitchFamily="18" charset="0"/>
              </a:rPr>
              <a:t> (DIP joint). The thumb only has one IP joint between the two thumb phalanges. </a:t>
            </a: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The IP joints of the digits also work like hinges when you bend and straighten your fingers and thumb.</a:t>
            </a: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The joints of the hand, fingers, and thumb are covered on the ends with </a:t>
            </a:r>
            <a:r>
              <a:rPr lang="en-US" sz="2800" b="0" i="1" dirty="0" smtClean="0">
                <a:solidFill>
                  <a:srgbClr val="3A3A3A"/>
                </a:solidFill>
                <a:effectLst/>
                <a:latin typeface="Times New Roman" panose="02020603050405020304" pitchFamily="18" charset="0"/>
                <a:cs typeface="Times New Roman" panose="02020603050405020304" pitchFamily="18" charset="0"/>
              </a:rPr>
              <a:t>articular cartilage</a:t>
            </a:r>
            <a:r>
              <a:rPr lang="en-US" sz="2800" b="0" i="0" dirty="0" smtClean="0">
                <a:solidFill>
                  <a:srgbClr val="3A3A3A"/>
                </a:solidFill>
                <a:effectLst/>
                <a:latin typeface="Times New Roman" panose="02020603050405020304" pitchFamily="18" charset="0"/>
                <a:cs typeface="Times New Roman" panose="02020603050405020304" pitchFamily="18" charset="0"/>
              </a:rPr>
              <a:t>. This white, shiny material has a rubbery consistency. </a:t>
            </a: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The function of </a:t>
            </a:r>
            <a:r>
              <a:rPr lang="en-US" sz="2800" b="0" i="0" u="none" strike="noStrike" dirty="0" smtClean="0">
                <a:solidFill>
                  <a:srgbClr val="1E73BE"/>
                </a:solidFill>
                <a:effectLst/>
                <a:latin typeface="Times New Roman" panose="02020603050405020304" pitchFamily="18" charset="0"/>
                <a:cs typeface="Times New Roman" panose="02020603050405020304" pitchFamily="18" charset="0"/>
                <a:hlinkClick r:id="rId3"/>
              </a:rPr>
              <a:t>articular cartilage</a:t>
            </a:r>
            <a:r>
              <a:rPr lang="en-US" sz="2800" b="0" i="0" dirty="0" smtClean="0">
                <a:solidFill>
                  <a:srgbClr val="3A3A3A"/>
                </a:solidFill>
                <a:effectLst/>
                <a:latin typeface="Times New Roman" panose="02020603050405020304" pitchFamily="18" charset="0"/>
                <a:cs typeface="Times New Roman" panose="02020603050405020304" pitchFamily="18" charset="0"/>
              </a:rPr>
              <a:t> is to absorb shock and provide an extremely smooth surface to</a:t>
            </a:r>
            <a:br>
              <a:rPr lang="en-US" sz="2800" b="0" i="0" dirty="0" smtClean="0">
                <a:solidFill>
                  <a:srgbClr val="3A3A3A"/>
                </a:solidFill>
                <a:effectLst/>
                <a:latin typeface="Times New Roman" panose="02020603050405020304" pitchFamily="18" charset="0"/>
                <a:cs typeface="Times New Roman" panose="02020603050405020304" pitchFamily="18" charset="0"/>
              </a:rPr>
            </a:br>
            <a:r>
              <a:rPr lang="en-US" sz="2800" b="0" i="0" dirty="0" smtClean="0">
                <a:solidFill>
                  <a:srgbClr val="3A3A3A"/>
                </a:solidFill>
                <a:effectLst/>
                <a:latin typeface="Times New Roman" panose="02020603050405020304" pitchFamily="18" charset="0"/>
                <a:cs typeface="Times New Roman" panose="02020603050405020304" pitchFamily="18" charset="0"/>
              </a:rPr>
              <a:t>facilitate motion. There is articular cartilage essentially everywhere that two bony surfaces move against one another, or </a:t>
            </a:r>
            <a:r>
              <a:rPr lang="en-US" sz="2800" b="0" i="1" dirty="0" smtClean="0">
                <a:solidFill>
                  <a:srgbClr val="3A3A3A"/>
                </a:solidFill>
                <a:effectLst/>
                <a:latin typeface="Times New Roman" panose="02020603050405020304" pitchFamily="18" charset="0"/>
                <a:cs typeface="Times New Roman" panose="02020603050405020304" pitchFamily="18" charset="0"/>
              </a:rPr>
              <a:t>articulate</a:t>
            </a:r>
            <a:r>
              <a:rPr lang="en-US" sz="2800" b="0" i="0" dirty="0" smtClean="0">
                <a:solidFill>
                  <a:srgbClr val="3A3A3A"/>
                </a:solidFill>
                <a:effectLst/>
                <a:latin typeface="Times New Roman" panose="02020603050405020304" pitchFamily="18" charset="0"/>
                <a:cs typeface="Times New Roman" panose="02020603050405020304" pitchFamily="18" charset="0"/>
              </a:rPr>
              <a:t>.</a:t>
            </a:r>
            <a:endParaRPr lang="en-US" sz="2800" b="0" i="0" dirty="0">
              <a:solidFill>
                <a:srgbClr val="3A3A3A"/>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2219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5503" y="100050"/>
            <a:ext cx="11973828" cy="6555641"/>
          </a:xfrm>
          <a:prstGeom prst="rect">
            <a:avLst/>
          </a:prstGeom>
        </p:spPr>
        <p:txBody>
          <a:bodyPr wrap="square">
            <a:spAutoFit/>
          </a:bodyPr>
          <a:lstStyle/>
          <a:p>
            <a:r>
              <a:rPr lang="en-GB" sz="2800" b="1" dirty="0" smtClean="0">
                <a:solidFill>
                  <a:srgbClr val="C00000"/>
                </a:solidFill>
                <a:latin typeface="Times New Roman" panose="02020603050405020304" pitchFamily="18" charset="0"/>
                <a:cs typeface="Times New Roman" panose="02020603050405020304" pitchFamily="18" charset="0"/>
              </a:rPr>
              <a:t>LIGAMENTS</a:t>
            </a:r>
          </a:p>
          <a:p>
            <a:endParaRPr lang="en-US" sz="2800" b="1" dirty="0" smtClean="0">
              <a:solidFill>
                <a:srgbClr val="C00000"/>
              </a:solidFill>
              <a:effectLst/>
              <a:latin typeface="Times New Roman" panose="02020603050405020304" pitchFamily="18" charset="0"/>
              <a:cs typeface="Times New Roman" panose="02020603050405020304" pitchFamily="18" charset="0"/>
            </a:endParaRPr>
          </a:p>
          <a:p>
            <a:r>
              <a:rPr lang="en-US" sz="2800" b="0" i="1" dirty="0" smtClean="0">
                <a:solidFill>
                  <a:srgbClr val="3A3A3A"/>
                </a:solidFill>
                <a:effectLst/>
                <a:latin typeface="Times New Roman" panose="02020603050405020304" pitchFamily="18" charset="0"/>
                <a:cs typeface="Times New Roman" panose="02020603050405020304" pitchFamily="18" charset="0"/>
              </a:rPr>
              <a:t>Ligaments</a:t>
            </a:r>
            <a:r>
              <a:rPr lang="en-US" sz="2800" b="0" i="0" dirty="0" smtClean="0">
                <a:solidFill>
                  <a:srgbClr val="3A3A3A"/>
                </a:solidFill>
                <a:effectLst/>
                <a:latin typeface="Times New Roman" panose="02020603050405020304" pitchFamily="18" charset="0"/>
                <a:cs typeface="Times New Roman" panose="02020603050405020304" pitchFamily="18" charset="0"/>
              </a:rPr>
              <a:t> are tough bands of tissue that connect bones together. </a:t>
            </a: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Two important structures, called </a:t>
            </a:r>
            <a:r>
              <a:rPr lang="en-US" sz="2800" b="0" i="1" dirty="0" smtClean="0">
                <a:solidFill>
                  <a:srgbClr val="3A3A3A"/>
                </a:solidFill>
                <a:effectLst/>
                <a:latin typeface="Times New Roman" panose="02020603050405020304" pitchFamily="18" charset="0"/>
                <a:cs typeface="Times New Roman" panose="02020603050405020304" pitchFamily="18" charset="0"/>
              </a:rPr>
              <a:t>collateral ligaments</a:t>
            </a:r>
            <a:r>
              <a:rPr lang="en-US" sz="2800" b="0" i="0" dirty="0" smtClean="0">
                <a:solidFill>
                  <a:srgbClr val="3A3A3A"/>
                </a:solidFill>
                <a:effectLst/>
                <a:latin typeface="Times New Roman" panose="02020603050405020304" pitchFamily="18" charset="0"/>
                <a:cs typeface="Times New Roman" panose="02020603050405020304" pitchFamily="18" charset="0"/>
              </a:rPr>
              <a:t>, are found on either side of each finger and thumb joint. </a:t>
            </a: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The function of the </a:t>
            </a:r>
            <a:r>
              <a:rPr lang="en-US" sz="2800" b="0" i="0" u="none" strike="noStrike" dirty="0" smtClean="0">
                <a:solidFill>
                  <a:srgbClr val="1E73BE"/>
                </a:solidFill>
                <a:effectLst/>
                <a:latin typeface="Times New Roman" panose="02020603050405020304" pitchFamily="18" charset="0"/>
                <a:cs typeface="Times New Roman" panose="02020603050405020304" pitchFamily="18" charset="0"/>
                <a:hlinkClick r:id="rId2"/>
              </a:rPr>
              <a:t>collateral ligaments</a:t>
            </a:r>
            <a:r>
              <a:rPr lang="en-US" sz="2800" b="0" i="0" dirty="0" smtClean="0">
                <a:solidFill>
                  <a:srgbClr val="3A3A3A"/>
                </a:solidFill>
                <a:effectLst/>
                <a:latin typeface="Times New Roman" panose="02020603050405020304" pitchFamily="18" charset="0"/>
                <a:cs typeface="Times New Roman" panose="02020603050405020304" pitchFamily="18" charset="0"/>
              </a:rPr>
              <a:t> is to prevent abnormal sideways bending of each joint.</a:t>
            </a: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In the </a:t>
            </a:r>
            <a:r>
              <a:rPr lang="en-US" sz="2800" b="0" i="0" u="none" strike="noStrike" dirty="0" smtClean="0">
                <a:solidFill>
                  <a:srgbClr val="1E73BE"/>
                </a:solidFill>
                <a:effectLst/>
                <a:latin typeface="Times New Roman" panose="02020603050405020304" pitchFamily="18" charset="0"/>
                <a:cs typeface="Times New Roman" panose="02020603050405020304" pitchFamily="18" charset="0"/>
                <a:hlinkClick r:id="rId3"/>
              </a:rPr>
              <a:t>pip joint</a:t>
            </a:r>
            <a:r>
              <a:rPr lang="en-US" sz="2800" b="0" i="0" dirty="0" smtClean="0">
                <a:solidFill>
                  <a:srgbClr val="3A3A3A"/>
                </a:solidFill>
                <a:effectLst/>
                <a:latin typeface="Times New Roman" panose="02020603050405020304" pitchFamily="18" charset="0"/>
                <a:cs typeface="Times New Roman" panose="02020603050405020304" pitchFamily="18" charset="0"/>
              </a:rPr>
              <a:t> (the middle joint between the main knuckle and the DIP joint), the strongest ligament is the </a:t>
            </a:r>
            <a:r>
              <a:rPr lang="en-US" sz="2800" b="0" i="1" dirty="0" smtClean="0">
                <a:solidFill>
                  <a:srgbClr val="3A3A3A"/>
                </a:solidFill>
                <a:effectLst/>
                <a:latin typeface="Times New Roman" panose="02020603050405020304" pitchFamily="18" charset="0"/>
                <a:cs typeface="Times New Roman" panose="02020603050405020304" pitchFamily="18" charset="0"/>
              </a:rPr>
              <a:t>volar plate</a:t>
            </a:r>
            <a:r>
              <a:rPr lang="en-US" sz="2800" b="0" i="0" dirty="0" smtClean="0">
                <a:solidFill>
                  <a:srgbClr val="3A3A3A"/>
                </a:solidFill>
                <a:effectLst/>
                <a:latin typeface="Times New Roman" panose="02020603050405020304" pitchFamily="18" charset="0"/>
                <a:cs typeface="Times New Roman" panose="02020603050405020304" pitchFamily="18" charset="0"/>
              </a:rPr>
              <a:t>. </a:t>
            </a: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This ligament connects the proximal phalanx to the middle phalanx on the palm side of the joint. </a:t>
            </a: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The ligament tightens as the joint is straightened and keeps the PIP joint from bending back too far (hyperextending). </a:t>
            </a: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Finger deformities can occur when the </a:t>
            </a:r>
            <a:r>
              <a:rPr lang="en-US" sz="2800" b="0" i="0" u="none" strike="noStrike" dirty="0" smtClean="0">
                <a:solidFill>
                  <a:srgbClr val="1E73BE"/>
                </a:solidFill>
                <a:effectLst/>
                <a:latin typeface="Times New Roman" panose="02020603050405020304" pitchFamily="18" charset="0"/>
                <a:cs typeface="Times New Roman" panose="02020603050405020304" pitchFamily="18" charset="0"/>
                <a:hlinkClick r:id="rId4"/>
              </a:rPr>
              <a:t>volar plate</a:t>
            </a:r>
            <a:r>
              <a:rPr lang="en-US" sz="2800" b="0" i="0" dirty="0" smtClean="0">
                <a:solidFill>
                  <a:srgbClr val="3A3A3A"/>
                </a:solidFill>
                <a:effectLst/>
                <a:latin typeface="Times New Roman" panose="02020603050405020304" pitchFamily="18" charset="0"/>
                <a:cs typeface="Times New Roman" panose="02020603050405020304" pitchFamily="18" charset="0"/>
              </a:rPr>
              <a:t> loosens from disease or injury.</a:t>
            </a:r>
            <a:endParaRPr lang="en-US" sz="2800" b="0" i="0" dirty="0">
              <a:solidFill>
                <a:srgbClr val="3A3A3A"/>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5492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748966"/>
            <a:ext cx="3810000" cy="2857500"/>
          </a:xfrm>
          <a:prstGeom prst="rect">
            <a:avLst/>
          </a:prstGeom>
        </p:spPr>
      </p:pic>
      <p:sp>
        <p:nvSpPr>
          <p:cNvPr id="3" name="Rectangle 2"/>
          <p:cNvSpPr/>
          <p:nvPr/>
        </p:nvSpPr>
        <p:spPr>
          <a:xfrm>
            <a:off x="151441" y="164249"/>
            <a:ext cx="2822119" cy="369332"/>
          </a:xfrm>
          <a:prstGeom prst="rect">
            <a:avLst/>
          </a:prstGeom>
        </p:spPr>
        <p:txBody>
          <a:bodyPr wrap="none">
            <a:spAutoFit/>
          </a:bodyPr>
          <a:lstStyle/>
          <a:p>
            <a:r>
              <a:rPr lang="en-US" b="1" i="0" dirty="0" smtClean="0">
                <a:solidFill>
                  <a:srgbClr val="C00000"/>
                </a:solidFill>
                <a:effectLst/>
                <a:latin typeface="Open Sans"/>
              </a:rPr>
              <a:t>Ligaments and Tendons</a:t>
            </a:r>
            <a:endParaRPr lang="en-US" dirty="0">
              <a:solidFill>
                <a:srgbClr val="C00000"/>
              </a:solidFill>
            </a:endParaRPr>
          </a:p>
        </p:txBody>
      </p:sp>
      <p:pic>
        <p:nvPicPr>
          <p:cNvPr id="4" name="Picture 3"/>
          <p:cNvPicPr>
            <a:picLocks noChangeAspect="1"/>
          </p:cNvPicPr>
          <p:nvPr/>
        </p:nvPicPr>
        <p:blipFill>
          <a:blip r:embed="rId3"/>
          <a:stretch>
            <a:fillRect/>
          </a:stretch>
        </p:blipFill>
        <p:spPr>
          <a:xfrm>
            <a:off x="4191000" y="164249"/>
            <a:ext cx="3810000" cy="3810000"/>
          </a:xfrm>
          <a:prstGeom prst="rect">
            <a:avLst/>
          </a:prstGeom>
        </p:spPr>
      </p:pic>
      <p:pic>
        <p:nvPicPr>
          <p:cNvPr id="5" name="Picture 4"/>
          <p:cNvPicPr>
            <a:picLocks noChangeAspect="1"/>
          </p:cNvPicPr>
          <p:nvPr/>
        </p:nvPicPr>
        <p:blipFill>
          <a:blip r:embed="rId4"/>
          <a:stretch>
            <a:fillRect/>
          </a:stretch>
        </p:blipFill>
        <p:spPr>
          <a:xfrm>
            <a:off x="8051533" y="748966"/>
            <a:ext cx="3810000" cy="3810000"/>
          </a:xfrm>
          <a:prstGeom prst="rect">
            <a:avLst/>
          </a:prstGeom>
        </p:spPr>
      </p:pic>
      <p:pic>
        <p:nvPicPr>
          <p:cNvPr id="6" name="Picture 5"/>
          <p:cNvPicPr>
            <a:picLocks noChangeAspect="1"/>
          </p:cNvPicPr>
          <p:nvPr/>
        </p:nvPicPr>
        <p:blipFill>
          <a:blip r:embed="rId5"/>
          <a:stretch>
            <a:fillRect/>
          </a:stretch>
        </p:blipFill>
        <p:spPr>
          <a:xfrm>
            <a:off x="190500" y="3728185"/>
            <a:ext cx="3810000" cy="3810000"/>
          </a:xfrm>
          <a:prstGeom prst="rect">
            <a:avLst/>
          </a:prstGeom>
        </p:spPr>
      </p:pic>
    </p:spTree>
    <p:extLst>
      <p:ext uri="{BB962C8B-B14F-4D97-AF65-F5344CB8AC3E}">
        <p14:creationId xmlns:p14="http://schemas.microsoft.com/office/powerpoint/2010/main" val="1813169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4380" y="79188"/>
            <a:ext cx="11973826" cy="6986528"/>
          </a:xfrm>
          <a:prstGeom prst="rect">
            <a:avLst/>
          </a:prstGeom>
        </p:spPr>
        <p:txBody>
          <a:bodyPr wrap="square">
            <a:spAutoFit/>
          </a:bodyPr>
          <a:lstStyle/>
          <a:p>
            <a:r>
              <a:rPr lang="en-US" sz="2800" b="1" i="0" dirty="0" smtClean="0">
                <a:solidFill>
                  <a:srgbClr val="C00000"/>
                </a:solidFill>
                <a:effectLst/>
                <a:latin typeface="Times New Roman" panose="02020603050405020304" pitchFamily="18" charset="0"/>
                <a:cs typeface="Times New Roman" panose="02020603050405020304" pitchFamily="18" charset="0"/>
              </a:rPr>
              <a:t>TENDONS</a:t>
            </a: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The tendons that allow each finger joint to straighten are called the </a:t>
            </a:r>
            <a:r>
              <a:rPr lang="en-US" sz="2800" b="0" i="1" dirty="0" smtClean="0">
                <a:solidFill>
                  <a:srgbClr val="3A3A3A"/>
                </a:solidFill>
                <a:effectLst/>
                <a:latin typeface="Times New Roman" panose="02020603050405020304" pitchFamily="18" charset="0"/>
                <a:cs typeface="Times New Roman" panose="02020603050405020304" pitchFamily="18" charset="0"/>
              </a:rPr>
              <a:t>extensor tendons</a:t>
            </a:r>
            <a:r>
              <a:rPr lang="en-US" sz="2800" b="0" i="0" dirty="0" smtClean="0">
                <a:solidFill>
                  <a:srgbClr val="3A3A3A"/>
                </a:solidFill>
                <a:effectLst/>
                <a:latin typeface="Times New Roman" panose="02020603050405020304" pitchFamily="18" charset="0"/>
                <a:cs typeface="Times New Roman" panose="02020603050405020304" pitchFamily="18" charset="0"/>
              </a:rPr>
              <a:t>. </a:t>
            </a: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The </a:t>
            </a:r>
            <a:r>
              <a:rPr lang="en-US" sz="2800" b="0" i="0" u="none" strike="noStrike" dirty="0" smtClean="0">
                <a:solidFill>
                  <a:srgbClr val="1E73BE"/>
                </a:solidFill>
                <a:effectLst/>
                <a:latin typeface="Times New Roman" panose="02020603050405020304" pitchFamily="18" charset="0"/>
                <a:cs typeface="Times New Roman" panose="02020603050405020304" pitchFamily="18" charset="0"/>
                <a:hlinkClick r:id="rId2"/>
              </a:rPr>
              <a:t>extensor tendons</a:t>
            </a:r>
            <a:r>
              <a:rPr lang="en-US" sz="2800" b="0" i="0" dirty="0" smtClean="0">
                <a:solidFill>
                  <a:srgbClr val="3A3A3A"/>
                </a:solidFill>
                <a:effectLst/>
                <a:latin typeface="Times New Roman" panose="02020603050405020304" pitchFamily="18" charset="0"/>
                <a:cs typeface="Times New Roman" panose="02020603050405020304" pitchFamily="18" charset="0"/>
              </a:rPr>
              <a:t> of the fingers begin as muscles that arise from the backside of the forearm bones. </a:t>
            </a: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These muscles travel towards the hand, where they eventually connect to the extensor tendons before crossing over the back of the wrist joint. </a:t>
            </a: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As they travel into the fingers, the extensor tendons become the </a:t>
            </a:r>
            <a:r>
              <a:rPr lang="en-US" sz="2800" b="0" i="1" dirty="0" smtClean="0">
                <a:solidFill>
                  <a:srgbClr val="3A3A3A"/>
                </a:solidFill>
                <a:effectLst/>
                <a:latin typeface="Times New Roman" panose="02020603050405020304" pitchFamily="18" charset="0"/>
                <a:cs typeface="Times New Roman" panose="02020603050405020304" pitchFamily="18" charset="0"/>
              </a:rPr>
              <a:t>extensor hood</a:t>
            </a:r>
            <a:r>
              <a:rPr lang="en-US" sz="2800" b="0" i="0" dirty="0" smtClean="0">
                <a:solidFill>
                  <a:srgbClr val="3A3A3A"/>
                </a:solidFill>
                <a:effectLst/>
                <a:latin typeface="Times New Roman" panose="02020603050405020304" pitchFamily="18" charset="0"/>
                <a:cs typeface="Times New Roman" panose="02020603050405020304" pitchFamily="18" charset="0"/>
              </a:rPr>
              <a:t>. The extensor hood flattens out to cover the top of the finger and sends out branches on each side that connect to the bones in the middle and end of the finger.</a:t>
            </a: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The place where the </a:t>
            </a:r>
            <a:r>
              <a:rPr lang="en-US" sz="2800" b="0" i="0" u="none" strike="noStrike" dirty="0" smtClean="0">
                <a:solidFill>
                  <a:srgbClr val="1E73BE"/>
                </a:solidFill>
                <a:effectLst/>
                <a:latin typeface="Times New Roman" panose="02020603050405020304" pitchFamily="18" charset="0"/>
                <a:cs typeface="Times New Roman" panose="02020603050405020304" pitchFamily="18" charset="0"/>
                <a:hlinkClick r:id="rId3"/>
              </a:rPr>
              <a:t>extensor tendon</a:t>
            </a:r>
            <a:r>
              <a:rPr lang="en-US" sz="2800" b="0" i="0" dirty="0" smtClean="0">
                <a:solidFill>
                  <a:srgbClr val="3A3A3A"/>
                </a:solidFill>
                <a:effectLst/>
                <a:latin typeface="Times New Roman" panose="02020603050405020304" pitchFamily="18" charset="0"/>
                <a:cs typeface="Times New Roman" panose="02020603050405020304" pitchFamily="18" charset="0"/>
              </a:rPr>
              <a:t> attaches to the middle phalanx is called the </a:t>
            </a:r>
            <a:r>
              <a:rPr lang="en-US" sz="2800" b="0" i="1" dirty="0" smtClean="0">
                <a:solidFill>
                  <a:srgbClr val="3A3A3A"/>
                </a:solidFill>
                <a:effectLst/>
                <a:latin typeface="Times New Roman" panose="02020603050405020304" pitchFamily="18" charset="0"/>
                <a:cs typeface="Times New Roman" panose="02020603050405020304" pitchFamily="18" charset="0"/>
              </a:rPr>
              <a:t>central slip</a:t>
            </a:r>
            <a:r>
              <a:rPr lang="en-US" sz="2800" b="0" i="0" dirty="0" smtClean="0">
                <a:solidFill>
                  <a:srgbClr val="3A3A3A"/>
                </a:solidFill>
                <a:effectLst/>
                <a:latin typeface="Times New Roman" panose="02020603050405020304" pitchFamily="18" charset="0"/>
                <a:cs typeface="Times New Roman" panose="02020603050405020304" pitchFamily="18" charset="0"/>
              </a:rPr>
              <a:t>. </a:t>
            </a: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When the extensor muscles contract, they tug on the extensor tendon and straighten the finger. Problems occur when the central slip is damaged, as can happen with a tear.</a:t>
            </a:r>
            <a:endParaRPr lang="en-US" sz="2800" b="0" i="0" dirty="0">
              <a:solidFill>
                <a:srgbClr val="3A3A3A"/>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605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28926"/>
            <a:ext cx="12192000" cy="6555641"/>
          </a:xfrm>
          <a:prstGeom prst="rect">
            <a:avLst/>
          </a:prstGeom>
        </p:spPr>
        <p:txBody>
          <a:bodyPr wrap="square">
            <a:spAutoFit/>
          </a:bodyPr>
          <a:lstStyle/>
          <a:p>
            <a:r>
              <a:rPr lang="en-US" sz="2800" b="1" i="0" dirty="0" smtClean="0">
                <a:solidFill>
                  <a:srgbClr val="C00000"/>
                </a:solidFill>
                <a:effectLst/>
                <a:latin typeface="Times New Roman" panose="02020603050405020304" pitchFamily="18" charset="0"/>
                <a:cs typeface="Times New Roman" panose="02020603050405020304" pitchFamily="18" charset="0"/>
              </a:rPr>
              <a:t>Muscles</a:t>
            </a:r>
            <a:endParaRPr lang="en-US" sz="2800" b="0" i="0" dirty="0" smtClean="0">
              <a:solidFill>
                <a:srgbClr val="C00000"/>
              </a:solidFill>
              <a:effectLst/>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Many of the muscles that control the hand start at the elbow or forearm. </a:t>
            </a:r>
          </a:p>
          <a:p>
            <a:pPr marL="457200" indent="-457200">
              <a:buFont typeface="Arial" panose="020B0604020202020204" pitchFamily="34" charset="0"/>
              <a:buChar char="•"/>
            </a:pPr>
            <a:endParaRPr lang="en-US" sz="2800" b="0" i="0" dirty="0" smtClean="0">
              <a:solidFill>
                <a:srgbClr val="3A3A3A"/>
              </a:solidFill>
              <a:effectLst/>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They run down the forearm and cross the wrist and hand. Some control only the bending or straightening of the wrist. </a:t>
            </a:r>
          </a:p>
          <a:p>
            <a:pPr marL="457200" indent="-457200">
              <a:buFont typeface="Arial" panose="020B0604020202020204" pitchFamily="34" charset="0"/>
              <a:buChar char="•"/>
            </a:pPr>
            <a:endParaRPr lang="en-US" sz="2800" b="0" i="0" dirty="0" smtClean="0">
              <a:solidFill>
                <a:srgbClr val="3A3A3A"/>
              </a:solidFill>
              <a:effectLst/>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Others influence motion of the fingers or thumb. Many of these muscles help position and hold the wrist and hand while the thumb and fingers grip or perform fine motor actions.</a:t>
            </a:r>
          </a:p>
          <a:p>
            <a:pPr marL="457200" indent="-457200">
              <a:buFont typeface="Arial" panose="020B0604020202020204" pitchFamily="34" charset="0"/>
              <a:buChar char="•"/>
            </a:pPr>
            <a:endParaRPr lang="en-US" sz="2800" b="0" i="0" dirty="0" smtClean="0">
              <a:solidFill>
                <a:srgbClr val="3A3A3A"/>
              </a:solidFill>
              <a:effectLst/>
              <a:latin typeface="Times New Roman" panose="02020603050405020304" pitchFamily="18" charset="0"/>
              <a:cs typeface="Times New Roman" panose="02020603050405020304" pitchFamily="18" charset="0"/>
            </a:endParaRPr>
          </a:p>
          <a:p>
            <a:r>
              <a:rPr lang="en-US" sz="2800" b="0" i="0" dirty="0" smtClean="0">
                <a:solidFill>
                  <a:srgbClr val="3A3A3A"/>
                </a:solidFill>
                <a:effectLst/>
                <a:latin typeface="Times New Roman" panose="02020603050405020304" pitchFamily="18" charset="0"/>
                <a:cs typeface="Times New Roman" panose="02020603050405020304" pitchFamily="18" charset="0"/>
              </a:rPr>
              <a:t>Most of the small muscles that work the thumb and pinky finger start on the </a:t>
            </a:r>
            <a:r>
              <a:rPr lang="en-US" sz="2800" b="0" i="0" u="none" strike="noStrike" dirty="0" smtClean="0">
                <a:solidFill>
                  <a:srgbClr val="1E73BE"/>
                </a:solidFill>
                <a:effectLst/>
                <a:latin typeface="Times New Roman" panose="02020603050405020304" pitchFamily="18" charset="0"/>
                <a:cs typeface="Times New Roman" panose="02020603050405020304" pitchFamily="18" charset="0"/>
                <a:hlinkClick r:id="rId2"/>
              </a:rPr>
              <a:t>carpal bones</a:t>
            </a:r>
            <a:r>
              <a:rPr lang="en-US" sz="2800" b="0" i="0" dirty="0" smtClean="0">
                <a:solidFill>
                  <a:srgbClr val="3A3A3A"/>
                </a:solidFill>
                <a:effectLst/>
                <a:latin typeface="Times New Roman" panose="02020603050405020304" pitchFamily="18" charset="0"/>
                <a:cs typeface="Times New Roman" panose="02020603050405020304" pitchFamily="18" charset="0"/>
              </a:rPr>
              <a:t>. These muscles connect in ways that allow the hand to grip and hold. </a:t>
            </a:r>
          </a:p>
          <a:p>
            <a:endParaRPr lang="en-US" sz="2800" b="0" i="0" dirty="0" smtClean="0">
              <a:solidFill>
                <a:srgbClr val="3A3A3A"/>
              </a:solidFill>
              <a:effectLst/>
              <a:latin typeface="Times New Roman" panose="02020603050405020304" pitchFamily="18" charset="0"/>
              <a:cs typeface="Times New Roman" panose="02020603050405020304" pitchFamily="18" charset="0"/>
            </a:endParaRPr>
          </a:p>
          <a:p>
            <a:r>
              <a:rPr lang="en-US" sz="2800" b="0" i="0" dirty="0" smtClean="0">
                <a:solidFill>
                  <a:srgbClr val="3A3A3A"/>
                </a:solidFill>
                <a:effectLst/>
                <a:latin typeface="Times New Roman" panose="02020603050405020304" pitchFamily="18" charset="0"/>
                <a:cs typeface="Times New Roman" panose="02020603050405020304" pitchFamily="18" charset="0"/>
              </a:rPr>
              <a:t>Two muscles allow the thumb to move across the palm of the hand, an important function called </a:t>
            </a:r>
            <a:r>
              <a:rPr lang="en-US" sz="2800" b="0" i="1" dirty="0" smtClean="0">
                <a:solidFill>
                  <a:srgbClr val="3A3A3A"/>
                </a:solidFill>
                <a:effectLst/>
                <a:latin typeface="Times New Roman" panose="02020603050405020304" pitchFamily="18" charset="0"/>
                <a:cs typeface="Times New Roman" panose="02020603050405020304" pitchFamily="18" charset="0"/>
              </a:rPr>
              <a:t>thumb opposition</a:t>
            </a:r>
            <a:r>
              <a:rPr lang="en-US" sz="2800" b="0" i="0" dirty="0" smtClean="0">
                <a:solidFill>
                  <a:srgbClr val="3A3A3A"/>
                </a:solidFill>
                <a:effectLst/>
                <a:latin typeface="Times New Roman" panose="02020603050405020304" pitchFamily="18" charset="0"/>
                <a:cs typeface="Times New Roman" panose="02020603050405020304" pitchFamily="18" charset="0"/>
              </a:rPr>
              <a:t>.</a:t>
            </a:r>
            <a:endParaRPr lang="en-US" sz="2800" b="0" i="0" dirty="0">
              <a:solidFill>
                <a:srgbClr val="3A3A3A"/>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8562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7213" y="2526480"/>
            <a:ext cx="3810000" cy="3171825"/>
          </a:xfrm>
          <a:prstGeom prst="rect">
            <a:avLst/>
          </a:prstGeom>
        </p:spPr>
      </p:pic>
      <p:pic>
        <p:nvPicPr>
          <p:cNvPr id="3" name="Picture 2"/>
          <p:cNvPicPr>
            <a:picLocks noChangeAspect="1"/>
          </p:cNvPicPr>
          <p:nvPr/>
        </p:nvPicPr>
        <p:blipFill>
          <a:blip r:embed="rId3"/>
          <a:stretch>
            <a:fillRect/>
          </a:stretch>
        </p:blipFill>
        <p:spPr>
          <a:xfrm>
            <a:off x="4275221" y="2526480"/>
            <a:ext cx="3810000" cy="3171825"/>
          </a:xfrm>
          <a:prstGeom prst="rect">
            <a:avLst/>
          </a:prstGeom>
        </p:spPr>
      </p:pic>
      <p:sp>
        <p:nvSpPr>
          <p:cNvPr id="4" name="Rectangle 3"/>
          <p:cNvSpPr/>
          <p:nvPr/>
        </p:nvSpPr>
        <p:spPr>
          <a:xfrm>
            <a:off x="0" y="76010"/>
            <a:ext cx="12192000" cy="1384995"/>
          </a:xfrm>
          <a:prstGeom prst="rect">
            <a:avLst/>
          </a:prstGeom>
        </p:spPr>
        <p:txBody>
          <a:bodyPr wrap="square">
            <a:spAutoFit/>
          </a:bodyPr>
          <a:lstStyle/>
          <a:p>
            <a:r>
              <a:rPr lang="en-US" sz="2800" b="0" i="0" dirty="0" smtClean="0">
                <a:solidFill>
                  <a:srgbClr val="3A3A3A"/>
                </a:solidFill>
                <a:effectLst/>
                <a:latin typeface="Times New Roman" panose="02020603050405020304" pitchFamily="18" charset="0"/>
                <a:cs typeface="Times New Roman" panose="02020603050405020304" pitchFamily="18" charset="0"/>
              </a:rPr>
              <a:t>The smallest muscles that originate in the wrist and hand are called the </a:t>
            </a:r>
            <a:r>
              <a:rPr lang="en-US" sz="2800" b="0" i="1" dirty="0" smtClean="0">
                <a:solidFill>
                  <a:srgbClr val="3A3A3A"/>
                </a:solidFill>
                <a:effectLst/>
                <a:latin typeface="Times New Roman" panose="02020603050405020304" pitchFamily="18" charset="0"/>
                <a:cs typeface="Times New Roman" panose="02020603050405020304" pitchFamily="18" charset="0"/>
              </a:rPr>
              <a:t>intrinsic muscles</a:t>
            </a:r>
            <a:r>
              <a:rPr lang="en-US" sz="2800" b="0" i="0" dirty="0" smtClean="0">
                <a:solidFill>
                  <a:srgbClr val="3A3A3A"/>
                </a:solidFill>
                <a:effectLst/>
                <a:latin typeface="Times New Roman" panose="02020603050405020304" pitchFamily="18" charset="0"/>
                <a:cs typeface="Times New Roman" panose="02020603050405020304" pitchFamily="18" charset="0"/>
              </a:rPr>
              <a:t>. The intrinsic muscles guide the fine motions of the fingers by getting the fingers positioned and holding them steady during hand activities.</a:t>
            </a:r>
            <a:endParaRPr lang="en-US" sz="28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4"/>
          <a:stretch>
            <a:fillRect/>
          </a:stretch>
        </p:blipFill>
        <p:spPr>
          <a:xfrm>
            <a:off x="8300185" y="2303645"/>
            <a:ext cx="3810000" cy="3810000"/>
          </a:xfrm>
          <a:prstGeom prst="rect">
            <a:avLst/>
          </a:prstGeom>
        </p:spPr>
      </p:pic>
    </p:spTree>
    <p:extLst>
      <p:ext uri="{BB962C8B-B14F-4D97-AF65-F5344CB8AC3E}">
        <p14:creationId xmlns:p14="http://schemas.microsoft.com/office/powerpoint/2010/main" val="10845533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2455"/>
            <a:ext cx="12098955" cy="5693866"/>
          </a:xfrm>
          <a:prstGeom prst="rect">
            <a:avLst/>
          </a:prstGeom>
        </p:spPr>
        <p:txBody>
          <a:bodyPr wrap="square">
            <a:spAutoFit/>
          </a:bodyPr>
          <a:lstStyle/>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All of the nerves that travel to the hand and fingers begin together at the shoulder: the </a:t>
            </a:r>
            <a:r>
              <a:rPr lang="en-US" sz="2800" b="0" i="1" dirty="0" smtClean="0">
                <a:solidFill>
                  <a:srgbClr val="3A3A3A"/>
                </a:solidFill>
                <a:effectLst/>
                <a:latin typeface="Times New Roman" panose="02020603050405020304" pitchFamily="18" charset="0"/>
                <a:cs typeface="Times New Roman" panose="02020603050405020304" pitchFamily="18" charset="0"/>
              </a:rPr>
              <a:t>radial nerve</a:t>
            </a:r>
            <a:r>
              <a:rPr lang="en-US" sz="2800" b="0" i="0" dirty="0" smtClean="0">
                <a:solidFill>
                  <a:srgbClr val="3A3A3A"/>
                </a:solidFill>
                <a:effectLst/>
                <a:latin typeface="Times New Roman" panose="02020603050405020304" pitchFamily="18" charset="0"/>
                <a:cs typeface="Times New Roman" panose="02020603050405020304" pitchFamily="18" charset="0"/>
              </a:rPr>
              <a:t>, the </a:t>
            </a:r>
            <a:r>
              <a:rPr lang="en-US" sz="2800" b="0" i="1" dirty="0" smtClean="0">
                <a:solidFill>
                  <a:srgbClr val="3A3A3A"/>
                </a:solidFill>
                <a:effectLst/>
                <a:latin typeface="Times New Roman" panose="02020603050405020304" pitchFamily="18" charset="0"/>
                <a:cs typeface="Times New Roman" panose="02020603050405020304" pitchFamily="18" charset="0"/>
              </a:rPr>
              <a:t>median nerve</a:t>
            </a:r>
            <a:r>
              <a:rPr lang="en-US" sz="2800" b="0" i="0" dirty="0" smtClean="0">
                <a:solidFill>
                  <a:srgbClr val="3A3A3A"/>
                </a:solidFill>
                <a:effectLst/>
                <a:latin typeface="Times New Roman" panose="02020603050405020304" pitchFamily="18" charset="0"/>
                <a:cs typeface="Times New Roman" panose="02020603050405020304" pitchFamily="18" charset="0"/>
              </a:rPr>
              <a:t>, and the </a:t>
            </a:r>
            <a:r>
              <a:rPr lang="en-US" sz="2800" b="0" i="1" dirty="0" smtClean="0">
                <a:solidFill>
                  <a:srgbClr val="3A3A3A"/>
                </a:solidFill>
                <a:effectLst/>
                <a:latin typeface="Times New Roman" panose="02020603050405020304" pitchFamily="18" charset="0"/>
                <a:cs typeface="Times New Roman" panose="02020603050405020304" pitchFamily="18" charset="0"/>
              </a:rPr>
              <a:t>ulnar nerve</a:t>
            </a:r>
            <a:r>
              <a:rPr lang="en-US" sz="2800" b="0" i="0" dirty="0" smtClean="0">
                <a:solidFill>
                  <a:srgbClr val="3A3A3A"/>
                </a:solidFill>
                <a:effectLst/>
                <a:latin typeface="Times New Roman" panose="02020603050405020304" pitchFamily="18" charset="0"/>
                <a:cs typeface="Times New Roman" panose="02020603050405020304" pitchFamily="18" charset="0"/>
              </a:rPr>
              <a:t>. </a:t>
            </a:r>
          </a:p>
          <a:p>
            <a:pPr marL="457200" indent="-457200">
              <a:buFont typeface="Arial" panose="020B0604020202020204" pitchFamily="34" charset="0"/>
              <a:buChar char="•"/>
            </a:pPr>
            <a:endParaRPr lang="en-US" sz="2800" b="0" i="0" dirty="0" smtClean="0">
              <a:solidFill>
                <a:srgbClr val="3A3A3A"/>
              </a:solidFill>
              <a:effectLst/>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These nerves carry signals from the brain to the muscles that move the arm, hand, fingers, and thumb. The nerves also carry signals back to the brain about sensations such as touch, pain, and temperature.</a:t>
            </a:r>
          </a:p>
          <a:p>
            <a:pPr marL="457200" indent="-457200">
              <a:buFont typeface="Arial" panose="020B0604020202020204" pitchFamily="34" charset="0"/>
              <a:buChar char="•"/>
            </a:pPr>
            <a:endParaRPr lang="en-US" sz="2800" b="0" i="0" dirty="0" smtClean="0">
              <a:solidFill>
                <a:srgbClr val="3A3A3A"/>
              </a:solidFill>
              <a:effectLst/>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The </a:t>
            </a:r>
            <a:r>
              <a:rPr lang="en-US" sz="2800" b="0" i="0" u="none" strike="noStrike" dirty="0" smtClean="0">
                <a:solidFill>
                  <a:srgbClr val="1E73BE"/>
                </a:solidFill>
                <a:effectLst/>
                <a:latin typeface="Times New Roman" panose="02020603050405020304" pitchFamily="18" charset="0"/>
                <a:cs typeface="Times New Roman" panose="02020603050405020304" pitchFamily="18" charset="0"/>
                <a:hlinkClick r:id="rId2"/>
              </a:rPr>
              <a:t>radial nerve</a:t>
            </a:r>
            <a:r>
              <a:rPr lang="en-US" sz="2800" b="0" i="0" dirty="0" smtClean="0">
                <a:solidFill>
                  <a:srgbClr val="3A3A3A"/>
                </a:solidFill>
                <a:effectLst/>
                <a:latin typeface="Times New Roman" panose="02020603050405020304" pitchFamily="18" charset="0"/>
                <a:cs typeface="Times New Roman" panose="02020603050405020304" pitchFamily="18" charset="0"/>
              </a:rPr>
              <a:t> runs along the thumb-side edge of the forearm. It wraps around the end of the radius bone toward the back of the hand. </a:t>
            </a:r>
          </a:p>
          <a:p>
            <a:endParaRPr lang="en-US" sz="2800" b="0" i="0" dirty="0" smtClean="0">
              <a:solidFill>
                <a:srgbClr val="3A3A3A"/>
              </a:solidFill>
              <a:effectLst/>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It gives sensation to the back of the hand from the thumb to the third finger. It also supplies the back of the thumb and just beyond the main knuckle of the back surface of the ring and middle fingers.</a:t>
            </a:r>
            <a:endParaRPr lang="en-US" sz="2800" b="0" i="0" dirty="0">
              <a:solidFill>
                <a:srgbClr val="3A3A3A"/>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1094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79396" y="176463"/>
            <a:ext cx="3810000" cy="3810000"/>
          </a:xfrm>
          <a:prstGeom prst="rect">
            <a:avLst/>
          </a:prstGeom>
        </p:spPr>
      </p:pic>
      <p:pic>
        <p:nvPicPr>
          <p:cNvPr id="3" name="Picture 2"/>
          <p:cNvPicPr>
            <a:picLocks noChangeAspect="1"/>
          </p:cNvPicPr>
          <p:nvPr/>
        </p:nvPicPr>
        <p:blipFill>
          <a:blip r:embed="rId3"/>
          <a:stretch>
            <a:fillRect/>
          </a:stretch>
        </p:blipFill>
        <p:spPr>
          <a:xfrm>
            <a:off x="4489383" y="253465"/>
            <a:ext cx="3810000" cy="3810000"/>
          </a:xfrm>
          <a:prstGeom prst="rect">
            <a:avLst/>
          </a:prstGeom>
        </p:spPr>
      </p:pic>
      <p:pic>
        <p:nvPicPr>
          <p:cNvPr id="4" name="Picture 3"/>
          <p:cNvPicPr>
            <a:picLocks noChangeAspect="1"/>
          </p:cNvPicPr>
          <p:nvPr/>
        </p:nvPicPr>
        <p:blipFill>
          <a:blip r:embed="rId4"/>
          <a:stretch>
            <a:fillRect/>
          </a:stretch>
        </p:blipFill>
        <p:spPr>
          <a:xfrm>
            <a:off x="8382000" y="1543251"/>
            <a:ext cx="3810000" cy="3810000"/>
          </a:xfrm>
          <a:prstGeom prst="rect">
            <a:avLst/>
          </a:prstGeom>
        </p:spPr>
      </p:pic>
    </p:spTree>
    <p:extLst>
      <p:ext uri="{BB962C8B-B14F-4D97-AF65-F5344CB8AC3E}">
        <p14:creationId xmlns:p14="http://schemas.microsoft.com/office/powerpoint/2010/main" val="2224113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253" y="0"/>
            <a:ext cx="12095747" cy="7109639"/>
          </a:xfrm>
          <a:prstGeom prst="rect">
            <a:avLst/>
          </a:prstGeom>
        </p:spPr>
        <p:txBody>
          <a:bodyPr wrap="square">
            <a:spAutoFit/>
          </a:bodyPr>
          <a:lstStyle/>
          <a:p>
            <a:pPr marL="342900" indent="-342900">
              <a:buFont typeface="Arial" panose="020B0604020202020204" pitchFamily="34" charset="0"/>
              <a:buChar char="•"/>
            </a:pPr>
            <a:r>
              <a:rPr lang="en-US" sz="2400" b="0" i="0" dirty="0" smtClean="0">
                <a:solidFill>
                  <a:srgbClr val="3A3A3A"/>
                </a:solidFill>
                <a:effectLst/>
                <a:latin typeface="Times New Roman" panose="02020603050405020304" pitchFamily="18" charset="0"/>
                <a:cs typeface="Times New Roman" panose="02020603050405020304" pitchFamily="18" charset="0"/>
              </a:rPr>
              <a:t>The </a:t>
            </a:r>
            <a:r>
              <a:rPr lang="en-US" sz="2400" b="0" i="0" u="none" strike="noStrike" dirty="0" smtClean="0">
                <a:solidFill>
                  <a:srgbClr val="1E73BE"/>
                </a:solidFill>
                <a:effectLst/>
                <a:latin typeface="Times New Roman" panose="02020603050405020304" pitchFamily="18" charset="0"/>
                <a:cs typeface="Times New Roman" panose="02020603050405020304" pitchFamily="18" charset="0"/>
                <a:hlinkClick r:id="rId2"/>
              </a:rPr>
              <a:t>median nerve</a:t>
            </a:r>
            <a:r>
              <a:rPr lang="en-US" sz="2400" b="0" i="0" dirty="0" smtClean="0">
                <a:solidFill>
                  <a:srgbClr val="3A3A3A"/>
                </a:solidFill>
                <a:effectLst/>
                <a:latin typeface="Times New Roman" panose="02020603050405020304" pitchFamily="18" charset="0"/>
                <a:cs typeface="Times New Roman" panose="02020603050405020304" pitchFamily="18" charset="0"/>
              </a:rPr>
              <a:t> travels through a tunnel within the wrist called the </a:t>
            </a:r>
            <a:r>
              <a:rPr lang="en-US" sz="2400" b="0" i="1" dirty="0" smtClean="0">
                <a:solidFill>
                  <a:srgbClr val="3A3A3A"/>
                </a:solidFill>
                <a:effectLst/>
                <a:latin typeface="Times New Roman" panose="02020603050405020304" pitchFamily="18" charset="0"/>
                <a:cs typeface="Times New Roman" panose="02020603050405020304" pitchFamily="18" charset="0"/>
              </a:rPr>
              <a:t>carpal tunnel</a:t>
            </a:r>
            <a:r>
              <a:rPr lang="en-US" sz="2400" b="0" i="0" dirty="0" smtClean="0">
                <a:solidFill>
                  <a:srgbClr val="3A3A3A"/>
                </a:solidFill>
                <a:effectLst/>
                <a:latin typeface="Times New Roman" panose="02020603050405020304" pitchFamily="18" charset="0"/>
                <a:cs typeface="Times New Roman" panose="02020603050405020304" pitchFamily="18" charset="0"/>
              </a:rPr>
              <a:t>. This nerve gives sensation to the thumb, index finger, long finger, and half of the ring finger. It also sends a nerve branch to control the </a:t>
            </a:r>
            <a:r>
              <a:rPr lang="en-US" sz="2400" b="0" i="1" dirty="0" err="1" smtClean="0">
                <a:solidFill>
                  <a:srgbClr val="3A3A3A"/>
                </a:solidFill>
                <a:effectLst/>
                <a:latin typeface="Times New Roman" panose="02020603050405020304" pitchFamily="18" charset="0"/>
                <a:cs typeface="Times New Roman" panose="02020603050405020304" pitchFamily="18" charset="0"/>
              </a:rPr>
              <a:t>thenar</a:t>
            </a:r>
            <a:r>
              <a:rPr lang="en-US" sz="2400" b="0" i="1" dirty="0" smtClean="0">
                <a:solidFill>
                  <a:srgbClr val="3A3A3A"/>
                </a:solidFill>
                <a:effectLst/>
                <a:latin typeface="Times New Roman" panose="02020603050405020304" pitchFamily="18" charset="0"/>
                <a:cs typeface="Times New Roman" panose="02020603050405020304" pitchFamily="18" charset="0"/>
              </a:rPr>
              <a:t> muscles</a:t>
            </a:r>
            <a:r>
              <a:rPr lang="en-US" sz="2400" b="0" i="0" dirty="0" smtClean="0">
                <a:solidFill>
                  <a:srgbClr val="3A3A3A"/>
                </a:solidFill>
                <a:effectLst/>
                <a:latin typeface="Times New Roman" panose="02020603050405020304" pitchFamily="18" charset="0"/>
                <a:cs typeface="Times New Roman" panose="02020603050405020304" pitchFamily="18" charset="0"/>
              </a:rPr>
              <a:t> of the thumb. </a:t>
            </a:r>
          </a:p>
          <a:p>
            <a:pPr marL="342900" indent="-342900">
              <a:buFont typeface="Arial" panose="020B0604020202020204" pitchFamily="34" charset="0"/>
              <a:buChar char="•"/>
            </a:pPr>
            <a:endParaRPr lang="en-US" sz="2400" b="0" i="0" dirty="0" smtClean="0">
              <a:solidFill>
                <a:srgbClr val="3A3A3A"/>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0" i="0" dirty="0" smtClean="0">
                <a:solidFill>
                  <a:srgbClr val="3A3A3A"/>
                </a:solidFill>
                <a:effectLst/>
                <a:latin typeface="Times New Roman" panose="02020603050405020304" pitchFamily="18" charset="0"/>
                <a:cs typeface="Times New Roman" panose="02020603050405020304" pitchFamily="18" charset="0"/>
              </a:rPr>
              <a:t>The </a:t>
            </a:r>
            <a:r>
              <a:rPr lang="en-US" sz="2400" b="0" i="0" dirty="0" err="1" smtClean="0">
                <a:solidFill>
                  <a:srgbClr val="3A3A3A"/>
                </a:solidFill>
                <a:effectLst/>
                <a:latin typeface="Times New Roman" panose="02020603050405020304" pitchFamily="18" charset="0"/>
                <a:cs typeface="Times New Roman" panose="02020603050405020304" pitchFamily="18" charset="0"/>
              </a:rPr>
              <a:t>thenar</a:t>
            </a:r>
            <a:r>
              <a:rPr lang="en-US" sz="2400" b="0" i="0" dirty="0" smtClean="0">
                <a:solidFill>
                  <a:srgbClr val="3A3A3A"/>
                </a:solidFill>
                <a:effectLst/>
                <a:latin typeface="Times New Roman" panose="02020603050405020304" pitchFamily="18" charset="0"/>
                <a:cs typeface="Times New Roman" panose="02020603050405020304" pitchFamily="18" charset="0"/>
              </a:rPr>
              <a:t> muscles help move the thumb and let you touch the pad of the thumb to the tips each of each finger on the same hand, a motion called opposition.</a:t>
            </a:r>
          </a:p>
          <a:p>
            <a:pPr marL="342900" indent="-342900">
              <a:buFont typeface="Arial" panose="020B0604020202020204" pitchFamily="34" charset="0"/>
              <a:buChar char="•"/>
            </a:pPr>
            <a:endParaRPr lang="en-US" sz="2400" b="0" i="0" dirty="0" smtClean="0">
              <a:solidFill>
                <a:srgbClr val="3A3A3A"/>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0" i="0" dirty="0" smtClean="0">
                <a:solidFill>
                  <a:srgbClr val="3A3A3A"/>
                </a:solidFill>
                <a:effectLst/>
                <a:latin typeface="Times New Roman" panose="02020603050405020304" pitchFamily="18" charset="0"/>
                <a:cs typeface="Times New Roman" panose="02020603050405020304" pitchFamily="18" charset="0"/>
              </a:rPr>
              <a:t>The </a:t>
            </a:r>
            <a:r>
              <a:rPr lang="en-US" sz="2400" b="0" i="0" u="none" strike="noStrike" dirty="0" smtClean="0">
                <a:solidFill>
                  <a:srgbClr val="1E73BE"/>
                </a:solidFill>
                <a:effectLst/>
                <a:latin typeface="Times New Roman" panose="02020603050405020304" pitchFamily="18" charset="0"/>
                <a:cs typeface="Times New Roman" panose="02020603050405020304" pitchFamily="18" charset="0"/>
                <a:hlinkClick r:id="rId3"/>
              </a:rPr>
              <a:t>ulnar nerve</a:t>
            </a:r>
            <a:r>
              <a:rPr lang="en-US" sz="2400" b="0" i="0" dirty="0" smtClean="0">
                <a:solidFill>
                  <a:srgbClr val="3A3A3A"/>
                </a:solidFill>
                <a:effectLst/>
                <a:latin typeface="Times New Roman" panose="02020603050405020304" pitchFamily="18" charset="0"/>
                <a:cs typeface="Times New Roman" panose="02020603050405020304" pitchFamily="18" charset="0"/>
              </a:rPr>
              <a:t> travels through a separate tunnel, called </a:t>
            </a:r>
            <a:r>
              <a:rPr lang="en-US" sz="2400" b="0" i="1" dirty="0" err="1" smtClean="0">
                <a:solidFill>
                  <a:srgbClr val="3A3A3A"/>
                </a:solidFill>
                <a:effectLst/>
                <a:latin typeface="Times New Roman" panose="02020603050405020304" pitchFamily="18" charset="0"/>
                <a:cs typeface="Times New Roman" panose="02020603050405020304" pitchFamily="18" charset="0"/>
              </a:rPr>
              <a:t>Guyon’s</a:t>
            </a:r>
            <a:r>
              <a:rPr lang="en-US" sz="2400" b="0" i="1" dirty="0" smtClean="0">
                <a:solidFill>
                  <a:srgbClr val="3A3A3A"/>
                </a:solidFill>
                <a:effectLst/>
                <a:latin typeface="Times New Roman" panose="02020603050405020304" pitchFamily="18" charset="0"/>
                <a:cs typeface="Times New Roman" panose="02020603050405020304" pitchFamily="18" charset="0"/>
              </a:rPr>
              <a:t> canal</a:t>
            </a:r>
            <a:r>
              <a:rPr lang="en-US" sz="2400" b="0" i="0" dirty="0" smtClean="0">
                <a:solidFill>
                  <a:srgbClr val="3A3A3A"/>
                </a:solidFill>
                <a:effectLst/>
                <a:latin typeface="Times New Roman" panose="02020603050405020304" pitchFamily="18" charset="0"/>
                <a:cs typeface="Times New Roman" panose="02020603050405020304" pitchFamily="18" charset="0"/>
              </a:rPr>
              <a:t>. This tunnel is formed by two carpal bones, the </a:t>
            </a:r>
            <a:r>
              <a:rPr lang="en-US" sz="2400" b="0" i="1" dirty="0" smtClean="0">
                <a:solidFill>
                  <a:srgbClr val="3A3A3A"/>
                </a:solidFill>
                <a:effectLst/>
                <a:latin typeface="Times New Roman" panose="02020603050405020304" pitchFamily="18" charset="0"/>
                <a:cs typeface="Times New Roman" panose="02020603050405020304" pitchFamily="18" charset="0"/>
              </a:rPr>
              <a:t>pisiform</a:t>
            </a:r>
            <a:r>
              <a:rPr lang="en-US" sz="2400" b="0" i="0" dirty="0" smtClean="0">
                <a:solidFill>
                  <a:srgbClr val="3A3A3A"/>
                </a:solidFill>
                <a:effectLst/>
                <a:latin typeface="Times New Roman" panose="02020603050405020304" pitchFamily="18" charset="0"/>
                <a:cs typeface="Times New Roman" panose="02020603050405020304" pitchFamily="18" charset="0"/>
              </a:rPr>
              <a:t> and </a:t>
            </a:r>
            <a:r>
              <a:rPr lang="en-US" sz="2400" b="0" i="1" dirty="0" smtClean="0">
                <a:solidFill>
                  <a:srgbClr val="3A3A3A"/>
                </a:solidFill>
                <a:effectLst/>
                <a:latin typeface="Times New Roman" panose="02020603050405020304" pitchFamily="18" charset="0"/>
                <a:cs typeface="Times New Roman" panose="02020603050405020304" pitchFamily="18" charset="0"/>
              </a:rPr>
              <a:t>hamate</a:t>
            </a:r>
            <a:r>
              <a:rPr lang="en-US" sz="2400" b="0" i="0" dirty="0" smtClean="0">
                <a:solidFill>
                  <a:srgbClr val="3A3A3A"/>
                </a:solidFill>
                <a:effectLst/>
                <a:latin typeface="Times New Roman" panose="02020603050405020304" pitchFamily="18" charset="0"/>
                <a:cs typeface="Times New Roman" panose="02020603050405020304" pitchFamily="18" charset="0"/>
              </a:rPr>
              <a:t>, and the ligament that connects them.</a:t>
            </a:r>
          </a:p>
          <a:p>
            <a:pPr marL="342900" indent="-342900">
              <a:buFont typeface="Arial" panose="020B0604020202020204" pitchFamily="34" charset="0"/>
              <a:buChar char="•"/>
            </a:pPr>
            <a:endParaRPr lang="en-US" sz="2400" b="0" i="0" dirty="0" smtClean="0">
              <a:solidFill>
                <a:srgbClr val="3A3A3A"/>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b="0" i="0" dirty="0" smtClean="0">
              <a:solidFill>
                <a:srgbClr val="3A3A3A"/>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0" i="0" dirty="0" smtClean="0">
                <a:solidFill>
                  <a:srgbClr val="3A3A3A"/>
                </a:solidFill>
                <a:effectLst/>
                <a:latin typeface="Times New Roman" panose="02020603050405020304" pitchFamily="18" charset="0"/>
                <a:cs typeface="Times New Roman" panose="02020603050405020304" pitchFamily="18" charset="0"/>
              </a:rPr>
              <a:t> After passing through the canal, the ulnar nerve branches out to supply feeling to the little finger and half the ring finger. </a:t>
            </a:r>
          </a:p>
          <a:p>
            <a:pPr marL="342900" indent="-342900">
              <a:buFont typeface="Arial" panose="020B0604020202020204" pitchFamily="34" charset="0"/>
              <a:buChar char="•"/>
            </a:pPr>
            <a:endParaRPr lang="en-GB" sz="2400" dirty="0">
              <a:solidFill>
                <a:srgbClr val="3A3A3A"/>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GB" sz="2400" b="0" i="0" dirty="0" smtClean="0">
              <a:solidFill>
                <a:srgbClr val="3A3A3A"/>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b="0" i="0" dirty="0" smtClean="0">
              <a:solidFill>
                <a:srgbClr val="3A3A3A"/>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400" b="0" i="0" dirty="0" smtClean="0">
              <a:solidFill>
                <a:srgbClr val="3A3A3A"/>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0" i="0" dirty="0" smtClean="0">
                <a:solidFill>
                  <a:srgbClr val="3A3A3A"/>
                </a:solidFill>
                <a:effectLst/>
                <a:latin typeface="Times New Roman" panose="02020603050405020304" pitchFamily="18" charset="0"/>
                <a:cs typeface="Times New Roman" panose="02020603050405020304" pitchFamily="18" charset="0"/>
              </a:rPr>
              <a:t>Branches of this nerve also supply the small muscles in the palm and the muscle that pulls the thumb toward the palm.</a:t>
            </a:r>
            <a:endParaRPr lang="en-US" sz="2400" b="0" i="0" dirty="0">
              <a:solidFill>
                <a:srgbClr val="3A3A3A"/>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73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8188"/>
            <a:ext cx="12098955" cy="6986528"/>
          </a:xfrm>
          <a:prstGeom prst="rect">
            <a:avLst/>
          </a:prstGeom>
        </p:spPr>
        <p:txBody>
          <a:bodyPr wrap="square">
            <a:spAutoFit/>
          </a:bodyPr>
          <a:lstStyle/>
          <a:p>
            <a:r>
              <a:rPr lang="en-US" sz="2800" b="0" i="0" dirty="0" smtClean="0">
                <a:solidFill>
                  <a:srgbClr val="3A3A3A"/>
                </a:solidFill>
                <a:effectLst/>
                <a:latin typeface="Times New Roman" panose="02020603050405020304" pitchFamily="18" charset="0"/>
                <a:cs typeface="Times New Roman" panose="02020603050405020304" pitchFamily="18" charset="0"/>
              </a:rPr>
              <a:t>The nerves that travel to the hand are subject to problems. Constant bending and straightening of the wrist and fingers can lead to irritation or pressure on the nerves within their tunnels and cause problems such as pain, numbness, and weakness in the hand, fingers, and thumb.</a:t>
            </a:r>
          </a:p>
          <a:p>
            <a:r>
              <a:rPr lang="en-US" sz="2800" b="1" i="0" dirty="0" smtClean="0">
                <a:solidFill>
                  <a:srgbClr val="C00000"/>
                </a:solidFill>
                <a:effectLst/>
                <a:latin typeface="Times New Roman" panose="02020603050405020304" pitchFamily="18" charset="0"/>
                <a:cs typeface="Times New Roman" panose="02020603050405020304" pitchFamily="18" charset="0"/>
              </a:rPr>
              <a:t>Blood Vessels</a:t>
            </a:r>
            <a:endParaRPr lang="en-US" sz="2800" b="0" i="0" dirty="0" smtClean="0">
              <a:solidFill>
                <a:srgbClr val="C00000"/>
              </a:solidFill>
              <a:effectLst/>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Traveling along with the nerves are the large vessels that supply the hand with blood. </a:t>
            </a: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The largest artery is the </a:t>
            </a:r>
            <a:r>
              <a:rPr lang="en-US" sz="2800" b="0" i="1" dirty="0" smtClean="0">
                <a:solidFill>
                  <a:srgbClr val="3A3A3A"/>
                </a:solidFill>
                <a:effectLst/>
                <a:latin typeface="Times New Roman" panose="02020603050405020304" pitchFamily="18" charset="0"/>
                <a:cs typeface="Times New Roman" panose="02020603050405020304" pitchFamily="18" charset="0"/>
              </a:rPr>
              <a:t>radial artery</a:t>
            </a:r>
            <a:r>
              <a:rPr lang="en-US" sz="2800" b="0" i="0" dirty="0" smtClean="0">
                <a:solidFill>
                  <a:srgbClr val="3A3A3A"/>
                </a:solidFill>
                <a:effectLst/>
                <a:latin typeface="Times New Roman" panose="02020603050405020304" pitchFamily="18" charset="0"/>
                <a:cs typeface="Times New Roman" panose="02020603050405020304" pitchFamily="18" charset="0"/>
              </a:rPr>
              <a:t> that travels across the front of the wrist, closest to the thumb. </a:t>
            </a:r>
          </a:p>
          <a:p>
            <a:pPr marL="457200" indent="-457200">
              <a:buFont typeface="Arial" panose="020B0604020202020204" pitchFamily="34" charset="0"/>
              <a:buChar char="•"/>
            </a:pPr>
            <a:endParaRPr lang="en-US" sz="2800" b="0" i="0" dirty="0" smtClean="0">
              <a:solidFill>
                <a:srgbClr val="3A3A3A"/>
              </a:solidFill>
              <a:effectLst/>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The radial artery is where the pulse is taken in the wrist. The </a:t>
            </a:r>
            <a:r>
              <a:rPr lang="en-US" sz="2800" b="0" i="1" dirty="0" smtClean="0">
                <a:solidFill>
                  <a:srgbClr val="3A3A3A"/>
                </a:solidFill>
                <a:effectLst/>
                <a:latin typeface="Times New Roman" panose="02020603050405020304" pitchFamily="18" charset="0"/>
                <a:cs typeface="Times New Roman" panose="02020603050405020304" pitchFamily="18" charset="0"/>
              </a:rPr>
              <a:t>ulnar artery</a:t>
            </a:r>
            <a:r>
              <a:rPr lang="en-US" sz="2800" b="0" i="0" dirty="0" smtClean="0">
                <a:solidFill>
                  <a:srgbClr val="3A3A3A"/>
                </a:solidFill>
                <a:effectLst/>
                <a:latin typeface="Times New Roman" panose="02020603050405020304" pitchFamily="18" charset="0"/>
                <a:cs typeface="Times New Roman" panose="02020603050405020304" pitchFamily="18" charset="0"/>
              </a:rPr>
              <a:t> runs next to the ulnar nerve through </a:t>
            </a:r>
            <a:r>
              <a:rPr lang="en-US" sz="2800" b="0" i="0" dirty="0" err="1" smtClean="0">
                <a:solidFill>
                  <a:srgbClr val="3A3A3A"/>
                </a:solidFill>
                <a:effectLst/>
                <a:latin typeface="Times New Roman" panose="02020603050405020304" pitchFamily="18" charset="0"/>
                <a:cs typeface="Times New Roman" panose="02020603050405020304" pitchFamily="18" charset="0"/>
              </a:rPr>
              <a:t>Guyon’s</a:t>
            </a:r>
            <a:r>
              <a:rPr lang="en-US" sz="2800" b="0" i="0" dirty="0" smtClean="0">
                <a:solidFill>
                  <a:srgbClr val="3A3A3A"/>
                </a:solidFill>
                <a:effectLst/>
                <a:latin typeface="Times New Roman" panose="02020603050405020304" pitchFamily="18" charset="0"/>
                <a:cs typeface="Times New Roman" panose="02020603050405020304" pitchFamily="18" charset="0"/>
              </a:rPr>
              <a:t> canal (mentioned earlier). </a:t>
            </a:r>
          </a:p>
          <a:p>
            <a:pPr marL="457200" indent="-457200">
              <a:buFont typeface="Arial" panose="020B0604020202020204" pitchFamily="34" charset="0"/>
              <a:buChar char="•"/>
            </a:pPr>
            <a:endParaRPr lang="en-US" sz="2800" b="0" i="0" dirty="0" smtClean="0">
              <a:solidFill>
                <a:srgbClr val="3A3A3A"/>
              </a:solidFill>
              <a:effectLst/>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0" i="0" dirty="0" smtClean="0">
                <a:solidFill>
                  <a:srgbClr val="3A3A3A"/>
                </a:solidFill>
                <a:effectLst/>
                <a:latin typeface="Times New Roman" panose="02020603050405020304" pitchFamily="18" charset="0"/>
                <a:cs typeface="Times New Roman" panose="02020603050405020304" pitchFamily="18" charset="0"/>
              </a:rPr>
              <a:t>The ulnar and radial arteries arch together within the palm of the hand, supplying the front of the hand, fingers, and thumb. Other arteries travel across the back of the wrist to supply the back of the hand, fingers, and thumb.</a:t>
            </a:r>
            <a:endParaRPr lang="en-US" sz="2800" b="0" i="0" dirty="0">
              <a:solidFill>
                <a:srgbClr val="3A3A3A"/>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70824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0632" y="330467"/>
            <a:ext cx="3048000" cy="3810000"/>
          </a:xfrm>
          <a:prstGeom prst="rect">
            <a:avLst/>
          </a:prstGeom>
        </p:spPr>
      </p:pic>
      <p:pic>
        <p:nvPicPr>
          <p:cNvPr id="3" name="Picture 2"/>
          <p:cNvPicPr>
            <a:picLocks noChangeAspect="1"/>
          </p:cNvPicPr>
          <p:nvPr/>
        </p:nvPicPr>
        <p:blipFill>
          <a:blip r:embed="rId3"/>
          <a:stretch>
            <a:fillRect/>
          </a:stretch>
        </p:blipFill>
        <p:spPr>
          <a:xfrm>
            <a:off x="4447874" y="214964"/>
            <a:ext cx="3238500" cy="3810000"/>
          </a:xfrm>
          <a:prstGeom prst="rect">
            <a:avLst/>
          </a:prstGeom>
        </p:spPr>
      </p:pic>
    </p:spTree>
    <p:extLst>
      <p:ext uri="{BB962C8B-B14F-4D97-AF65-F5344CB8AC3E}">
        <p14:creationId xmlns:p14="http://schemas.microsoft.com/office/powerpoint/2010/main" val="251693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5385" y="2274838"/>
            <a:ext cx="11463689" cy="2308324"/>
          </a:xfrm>
          <a:prstGeom prst="rect">
            <a:avLst/>
          </a:prstGeom>
        </p:spPr>
        <p:txBody>
          <a:bodyPr wrap="square">
            <a:spAutoFit/>
          </a:bodyPr>
          <a:lstStyle/>
          <a:p>
            <a:r>
              <a:rPr lang="en-US" sz="2400" b="1" i="0" dirty="0" smtClean="0">
                <a:solidFill>
                  <a:srgbClr val="000000"/>
                </a:solidFill>
                <a:effectLst/>
                <a:latin typeface="Times New Roman" panose="02020603050405020304" pitchFamily="18" charset="0"/>
                <a:cs typeface="Times New Roman" panose="02020603050405020304" pitchFamily="18" charset="0"/>
              </a:rPr>
              <a:t>The muscles that act on the hand can be divided into two groups:</a:t>
            </a:r>
          </a:p>
          <a:p>
            <a:endParaRPr lang="en-US" sz="2400" b="1" i="0" dirty="0" smtClean="0">
              <a:solidFill>
                <a:srgbClr val="000000"/>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i="0" dirty="0" smtClean="0">
                <a:solidFill>
                  <a:srgbClr val="000000"/>
                </a:solidFill>
                <a:effectLst/>
                <a:latin typeface="Times New Roman" panose="02020603050405020304" pitchFamily="18" charset="0"/>
                <a:cs typeface="Times New Roman" panose="02020603050405020304" pitchFamily="18" charset="0"/>
              </a:rPr>
              <a:t>Extrinsic muscles</a:t>
            </a:r>
            <a:r>
              <a:rPr lang="en-US" sz="2400" b="0" i="0" dirty="0" smtClean="0">
                <a:solidFill>
                  <a:srgbClr val="000000"/>
                </a:solidFill>
                <a:effectLst/>
                <a:latin typeface="Times New Roman" panose="02020603050405020304" pitchFamily="18" charset="0"/>
                <a:cs typeface="Times New Roman" panose="02020603050405020304" pitchFamily="18" charset="0"/>
              </a:rPr>
              <a:t> – located in the </a:t>
            </a:r>
            <a:r>
              <a:rPr lang="en-US" sz="2400" b="0" i="0" u="none" strike="noStrike" dirty="0" smtClean="0">
                <a:solidFill>
                  <a:srgbClr val="008178"/>
                </a:solidFill>
                <a:effectLst/>
                <a:latin typeface="Times New Roman" panose="02020603050405020304" pitchFamily="18" charset="0"/>
                <a:cs typeface="Times New Roman" panose="02020603050405020304" pitchFamily="18" charset="0"/>
                <a:hlinkClick r:id="rId2" tooltip="Muscles in the Anterior Compartment of the Forearm"/>
              </a:rPr>
              <a:t>anterior</a:t>
            </a:r>
            <a:r>
              <a:rPr lang="en-US" sz="2400" b="0" i="0" dirty="0" smtClean="0">
                <a:solidFill>
                  <a:srgbClr val="000000"/>
                </a:solidFill>
                <a:effectLst/>
                <a:latin typeface="Times New Roman" panose="02020603050405020304" pitchFamily="18" charset="0"/>
                <a:cs typeface="Times New Roman" panose="02020603050405020304" pitchFamily="18" charset="0"/>
              </a:rPr>
              <a:t> and </a:t>
            </a:r>
            <a:r>
              <a:rPr lang="en-US" sz="2400" b="0" i="0" u="none" strike="noStrike" dirty="0" smtClean="0">
                <a:solidFill>
                  <a:srgbClr val="008178"/>
                </a:solidFill>
                <a:effectLst/>
                <a:latin typeface="Times New Roman" panose="02020603050405020304" pitchFamily="18" charset="0"/>
                <a:cs typeface="Times New Roman" panose="02020603050405020304" pitchFamily="18" charset="0"/>
                <a:hlinkClick r:id="rId3"/>
              </a:rPr>
              <a:t>posterior</a:t>
            </a:r>
            <a:r>
              <a:rPr lang="en-US" sz="2400" b="0" i="0" dirty="0" smtClean="0">
                <a:solidFill>
                  <a:srgbClr val="000000"/>
                </a:solidFill>
                <a:effectLst/>
                <a:latin typeface="Times New Roman" panose="02020603050405020304" pitchFamily="18" charset="0"/>
                <a:cs typeface="Times New Roman" panose="02020603050405020304" pitchFamily="18" charset="0"/>
              </a:rPr>
              <a:t> compartments of the forearm. They control crude movements and produce a forceful grip.</a:t>
            </a:r>
          </a:p>
          <a:p>
            <a:pPr>
              <a:buFont typeface="Arial" panose="020B0604020202020204" pitchFamily="34" charset="0"/>
              <a:buChar char="•"/>
            </a:pPr>
            <a:r>
              <a:rPr lang="en-US" sz="2400" b="1" i="0" dirty="0" smtClean="0">
                <a:solidFill>
                  <a:srgbClr val="000000"/>
                </a:solidFill>
                <a:effectLst/>
                <a:latin typeface="Times New Roman" panose="02020603050405020304" pitchFamily="18" charset="0"/>
                <a:cs typeface="Times New Roman" panose="02020603050405020304" pitchFamily="18" charset="0"/>
              </a:rPr>
              <a:t>Intrinsic muscles</a:t>
            </a:r>
            <a:r>
              <a:rPr lang="en-US" sz="2400" b="0" i="0" dirty="0" smtClean="0">
                <a:solidFill>
                  <a:srgbClr val="000000"/>
                </a:solidFill>
                <a:effectLst/>
                <a:latin typeface="Times New Roman" panose="02020603050405020304" pitchFamily="18" charset="0"/>
                <a:cs typeface="Times New Roman" panose="02020603050405020304" pitchFamily="18" charset="0"/>
              </a:rPr>
              <a:t> – located within the hand itself. They are responsible for the fine motor functions of the hand.</a:t>
            </a: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46511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5878" y="285064"/>
            <a:ext cx="11646569" cy="6370975"/>
          </a:xfrm>
          <a:prstGeom prst="rect">
            <a:avLst/>
          </a:prstGeom>
        </p:spPr>
        <p:txBody>
          <a:bodyPr wrap="square">
            <a:spAutoFit/>
          </a:bodyPr>
          <a:lstStyle/>
          <a:p>
            <a:r>
              <a:rPr lang="en-US" sz="2400" b="1" i="0" dirty="0" err="1" smtClean="0">
                <a:solidFill>
                  <a:srgbClr val="C00000"/>
                </a:solidFill>
                <a:effectLst/>
                <a:latin typeface="Times New Roman" panose="02020603050405020304" pitchFamily="18" charset="0"/>
                <a:cs typeface="Times New Roman" panose="02020603050405020304" pitchFamily="18" charset="0"/>
              </a:rPr>
              <a:t>Thenar</a:t>
            </a:r>
            <a:r>
              <a:rPr lang="en-US" sz="2400" b="1" i="0" dirty="0" smtClean="0">
                <a:solidFill>
                  <a:srgbClr val="C00000"/>
                </a:solidFill>
                <a:effectLst/>
                <a:latin typeface="Times New Roman" panose="02020603050405020304" pitchFamily="18" charset="0"/>
                <a:cs typeface="Times New Roman" panose="02020603050405020304" pitchFamily="18" charset="0"/>
              </a:rPr>
              <a:t> Muscles</a:t>
            </a:r>
          </a:p>
          <a:p>
            <a:endParaRPr lang="en-US" sz="2400" b="1" i="0" dirty="0" smtClean="0">
              <a:solidFill>
                <a:srgbClr val="000000"/>
              </a:solidFill>
              <a:effectLst/>
              <a:latin typeface="Times New Roman" panose="02020603050405020304" pitchFamily="18" charset="0"/>
              <a:cs typeface="Times New Roman" panose="02020603050405020304" pitchFamily="18" charset="0"/>
            </a:endParaRPr>
          </a:p>
          <a:p>
            <a:r>
              <a:rPr lang="en-US" sz="2400" b="0" i="0" dirty="0" smtClean="0">
                <a:solidFill>
                  <a:srgbClr val="000000"/>
                </a:solidFill>
                <a:effectLst/>
                <a:latin typeface="Times New Roman" panose="02020603050405020304" pitchFamily="18" charset="0"/>
                <a:cs typeface="Times New Roman" panose="02020603050405020304" pitchFamily="18" charset="0"/>
              </a:rPr>
              <a:t>The </a:t>
            </a:r>
            <a:r>
              <a:rPr lang="en-US" sz="2400" b="0" i="0" dirty="0" err="1" smtClean="0">
                <a:solidFill>
                  <a:srgbClr val="000000"/>
                </a:solidFill>
                <a:effectLst/>
                <a:latin typeface="Times New Roman" panose="02020603050405020304" pitchFamily="18" charset="0"/>
                <a:cs typeface="Times New Roman" panose="02020603050405020304" pitchFamily="18" charset="0"/>
              </a:rPr>
              <a:t>thenar</a:t>
            </a:r>
            <a:r>
              <a:rPr lang="en-US" sz="2400" b="0" i="0" dirty="0" smtClean="0">
                <a:solidFill>
                  <a:srgbClr val="000000"/>
                </a:solidFill>
                <a:effectLst/>
                <a:latin typeface="Times New Roman" panose="02020603050405020304" pitchFamily="18" charset="0"/>
                <a:cs typeface="Times New Roman" panose="02020603050405020304" pitchFamily="18" charset="0"/>
              </a:rPr>
              <a:t> muscles are three short muscles located at the base of the thumb. The muscle bellies produce a bulge, known as the </a:t>
            </a:r>
            <a:r>
              <a:rPr lang="en-US" sz="2400" b="1" i="0" dirty="0" err="1" smtClean="0">
                <a:solidFill>
                  <a:srgbClr val="000000"/>
                </a:solidFill>
                <a:effectLst/>
                <a:latin typeface="Times New Roman" panose="02020603050405020304" pitchFamily="18" charset="0"/>
                <a:cs typeface="Times New Roman" panose="02020603050405020304" pitchFamily="18" charset="0"/>
              </a:rPr>
              <a:t>thenar</a:t>
            </a:r>
            <a:r>
              <a:rPr lang="en-US" sz="2400" b="1" i="0" dirty="0" smtClean="0">
                <a:solidFill>
                  <a:srgbClr val="000000"/>
                </a:solidFill>
                <a:effectLst/>
                <a:latin typeface="Times New Roman" panose="02020603050405020304" pitchFamily="18" charset="0"/>
                <a:cs typeface="Times New Roman" panose="02020603050405020304" pitchFamily="18" charset="0"/>
              </a:rPr>
              <a:t> eminence</a:t>
            </a:r>
            <a:r>
              <a:rPr lang="en-US" sz="2400" b="0" i="0" dirty="0" smtClean="0">
                <a:solidFill>
                  <a:srgbClr val="000000"/>
                </a:solidFill>
                <a:effectLst/>
                <a:latin typeface="Times New Roman" panose="02020603050405020304" pitchFamily="18" charset="0"/>
                <a:cs typeface="Times New Roman" panose="02020603050405020304" pitchFamily="18" charset="0"/>
              </a:rPr>
              <a:t>. They are responsible for the fine movements of the thumb.</a:t>
            </a:r>
          </a:p>
          <a:p>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r>
              <a:rPr lang="en-US" sz="2400" b="0" i="0" dirty="0" smtClean="0">
                <a:solidFill>
                  <a:srgbClr val="000000"/>
                </a:solidFill>
                <a:effectLst/>
                <a:latin typeface="Times New Roman" panose="02020603050405020304" pitchFamily="18" charset="0"/>
                <a:cs typeface="Times New Roman" panose="02020603050405020304" pitchFamily="18" charset="0"/>
              </a:rPr>
              <a:t>The </a:t>
            </a:r>
            <a:r>
              <a:rPr lang="en-US" sz="2400" b="1" i="0" u="none" strike="noStrike" dirty="0" smtClean="0">
                <a:solidFill>
                  <a:srgbClr val="008178"/>
                </a:solidFill>
                <a:effectLst/>
                <a:latin typeface="Times New Roman" panose="02020603050405020304" pitchFamily="18" charset="0"/>
                <a:cs typeface="Times New Roman" panose="02020603050405020304" pitchFamily="18" charset="0"/>
                <a:hlinkClick r:id="rId2"/>
              </a:rPr>
              <a:t>median nerve</a:t>
            </a:r>
            <a:r>
              <a:rPr lang="en-US" sz="2400" b="0" i="0" dirty="0" smtClean="0">
                <a:solidFill>
                  <a:srgbClr val="000000"/>
                </a:solidFill>
                <a:effectLst/>
                <a:latin typeface="Times New Roman" panose="02020603050405020304" pitchFamily="18" charset="0"/>
                <a:cs typeface="Times New Roman" panose="02020603050405020304" pitchFamily="18" charset="0"/>
              </a:rPr>
              <a:t> innervates all the </a:t>
            </a:r>
            <a:r>
              <a:rPr lang="en-US" sz="2400" b="0" i="0" dirty="0" err="1" smtClean="0">
                <a:solidFill>
                  <a:srgbClr val="000000"/>
                </a:solidFill>
                <a:effectLst/>
                <a:latin typeface="Times New Roman" panose="02020603050405020304" pitchFamily="18" charset="0"/>
                <a:cs typeface="Times New Roman" panose="02020603050405020304" pitchFamily="18" charset="0"/>
              </a:rPr>
              <a:t>thenar</a:t>
            </a:r>
            <a:r>
              <a:rPr lang="en-US" sz="2400" b="0" i="0" dirty="0" smtClean="0">
                <a:solidFill>
                  <a:srgbClr val="000000"/>
                </a:solidFill>
                <a:effectLst/>
                <a:latin typeface="Times New Roman" panose="02020603050405020304" pitchFamily="18" charset="0"/>
                <a:cs typeface="Times New Roman" panose="02020603050405020304" pitchFamily="18" charset="0"/>
              </a:rPr>
              <a:t> muscles.</a:t>
            </a:r>
          </a:p>
          <a:p>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r>
              <a:rPr lang="en-US" sz="2400" b="1" i="0" u="sng" dirty="0" err="1" smtClean="0">
                <a:solidFill>
                  <a:srgbClr val="000000"/>
                </a:solidFill>
                <a:effectLst/>
                <a:latin typeface="Times New Roman" panose="02020603050405020304" pitchFamily="18" charset="0"/>
                <a:cs typeface="Times New Roman" panose="02020603050405020304" pitchFamily="18" charset="0"/>
              </a:rPr>
              <a:t>Opponens</a:t>
            </a:r>
            <a:r>
              <a:rPr lang="en-US" sz="2400" b="1" i="0" u="sng" dirty="0" smtClean="0">
                <a:solidFill>
                  <a:srgbClr val="000000"/>
                </a:solidFill>
                <a:effectLst/>
                <a:latin typeface="Times New Roman" panose="02020603050405020304" pitchFamily="18" charset="0"/>
                <a:cs typeface="Times New Roman" panose="02020603050405020304" pitchFamily="18" charset="0"/>
              </a:rPr>
              <a:t> </a:t>
            </a:r>
            <a:r>
              <a:rPr lang="en-US" sz="2400" b="1" i="0" u="sng" dirty="0" err="1" smtClean="0">
                <a:solidFill>
                  <a:srgbClr val="000000"/>
                </a:solidFill>
                <a:effectLst/>
                <a:latin typeface="Times New Roman" panose="02020603050405020304" pitchFamily="18" charset="0"/>
                <a:cs typeface="Times New Roman" panose="02020603050405020304" pitchFamily="18" charset="0"/>
              </a:rPr>
              <a:t>Pollicis</a:t>
            </a: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r>
              <a:rPr lang="en-US" sz="2400" b="0" i="0" dirty="0" smtClean="0">
                <a:solidFill>
                  <a:srgbClr val="000000"/>
                </a:solidFill>
                <a:effectLst/>
                <a:latin typeface="Times New Roman" panose="02020603050405020304" pitchFamily="18" charset="0"/>
                <a:cs typeface="Times New Roman" panose="02020603050405020304" pitchFamily="18" charset="0"/>
              </a:rPr>
              <a:t>The </a:t>
            </a:r>
            <a:r>
              <a:rPr lang="en-US" sz="2400" b="0" i="0" dirty="0" err="1" smtClean="0">
                <a:solidFill>
                  <a:srgbClr val="000000"/>
                </a:solidFill>
                <a:effectLst/>
                <a:latin typeface="Times New Roman" panose="02020603050405020304" pitchFamily="18" charset="0"/>
                <a:cs typeface="Times New Roman" panose="02020603050405020304" pitchFamily="18" charset="0"/>
              </a:rPr>
              <a:t>opponens</a:t>
            </a:r>
            <a:r>
              <a:rPr lang="en-US" sz="2400" b="0" i="0" dirty="0" smtClean="0">
                <a:solidFill>
                  <a:srgbClr val="000000"/>
                </a:solidFill>
                <a:effectLst/>
                <a:latin typeface="Times New Roman" panose="02020603050405020304" pitchFamily="18" charset="0"/>
                <a:cs typeface="Times New Roman" panose="02020603050405020304" pitchFamily="18" charset="0"/>
              </a:rPr>
              <a:t> </a:t>
            </a:r>
            <a:r>
              <a:rPr lang="en-US" sz="2400" b="0" i="0" dirty="0" err="1" smtClean="0">
                <a:solidFill>
                  <a:srgbClr val="000000"/>
                </a:solidFill>
                <a:effectLst/>
                <a:latin typeface="Times New Roman" panose="02020603050405020304" pitchFamily="18" charset="0"/>
                <a:cs typeface="Times New Roman" panose="02020603050405020304" pitchFamily="18" charset="0"/>
              </a:rPr>
              <a:t>pollicis</a:t>
            </a:r>
            <a:r>
              <a:rPr lang="en-US" sz="2400" b="0" i="0" dirty="0" smtClean="0">
                <a:solidFill>
                  <a:srgbClr val="000000"/>
                </a:solidFill>
                <a:effectLst/>
                <a:latin typeface="Times New Roman" panose="02020603050405020304" pitchFamily="18" charset="0"/>
                <a:cs typeface="Times New Roman" panose="02020603050405020304" pitchFamily="18" charset="0"/>
              </a:rPr>
              <a:t> is the largest of the </a:t>
            </a:r>
            <a:r>
              <a:rPr lang="en-US" sz="2400" b="0" i="0" dirty="0" err="1" smtClean="0">
                <a:solidFill>
                  <a:srgbClr val="000000"/>
                </a:solidFill>
                <a:effectLst/>
                <a:latin typeface="Times New Roman" panose="02020603050405020304" pitchFamily="18" charset="0"/>
                <a:cs typeface="Times New Roman" panose="02020603050405020304" pitchFamily="18" charset="0"/>
              </a:rPr>
              <a:t>thenar</a:t>
            </a:r>
            <a:r>
              <a:rPr lang="en-US" sz="2400" b="0" i="0" dirty="0" smtClean="0">
                <a:solidFill>
                  <a:srgbClr val="000000"/>
                </a:solidFill>
                <a:effectLst/>
                <a:latin typeface="Times New Roman" panose="02020603050405020304" pitchFamily="18" charset="0"/>
                <a:cs typeface="Times New Roman" panose="02020603050405020304" pitchFamily="18" charset="0"/>
              </a:rPr>
              <a:t> muscles, and lies underneath the other two.</a:t>
            </a:r>
          </a:p>
          <a:p>
            <a:pPr>
              <a:buFont typeface="Arial" panose="020B0604020202020204" pitchFamily="34" charset="0"/>
              <a:buChar char="•"/>
            </a:pPr>
            <a:r>
              <a:rPr lang="en-US" sz="2400" b="1" i="0" dirty="0" smtClean="0">
                <a:solidFill>
                  <a:srgbClr val="000000"/>
                </a:solidFill>
                <a:effectLst/>
                <a:latin typeface="Times New Roman" panose="02020603050405020304" pitchFamily="18" charset="0"/>
                <a:cs typeface="Times New Roman" panose="02020603050405020304" pitchFamily="18" charset="0"/>
              </a:rPr>
              <a:t>Attachments</a:t>
            </a:r>
            <a:r>
              <a:rPr lang="en-US" sz="2400" b="0" i="0" dirty="0" smtClean="0">
                <a:solidFill>
                  <a:srgbClr val="000000"/>
                </a:solidFill>
                <a:effectLst/>
                <a:latin typeface="Times New Roman" panose="02020603050405020304" pitchFamily="18" charset="0"/>
                <a:cs typeface="Times New Roman" panose="02020603050405020304" pitchFamily="18" charset="0"/>
              </a:rPr>
              <a:t>:</a:t>
            </a:r>
            <a:r>
              <a:rPr lang="en-US" sz="2400" b="1" i="0" dirty="0" smtClean="0">
                <a:solidFill>
                  <a:srgbClr val="000000"/>
                </a:solidFill>
                <a:effectLst/>
                <a:latin typeface="Times New Roman" panose="02020603050405020304" pitchFamily="18" charset="0"/>
                <a:cs typeface="Times New Roman" panose="02020603050405020304" pitchFamily="18" charset="0"/>
              </a:rPr>
              <a:t> </a:t>
            </a:r>
            <a:r>
              <a:rPr lang="en-US" sz="2400" b="0" i="0" dirty="0" smtClean="0">
                <a:solidFill>
                  <a:srgbClr val="000000"/>
                </a:solidFill>
                <a:effectLst/>
                <a:latin typeface="Times New Roman" panose="02020603050405020304" pitchFamily="18" charset="0"/>
                <a:cs typeface="Times New Roman" panose="02020603050405020304" pitchFamily="18" charset="0"/>
              </a:rPr>
              <a:t>Originates from the tubercle of the trapezium and the associated flexor retinaculum. It inserts onto the lateral margin of the first metacarpal.</a:t>
            </a:r>
          </a:p>
          <a:p>
            <a:pPr>
              <a:buFont typeface="Arial" panose="020B0604020202020204" pitchFamily="34" charset="0"/>
              <a:buChar char="•"/>
            </a:pP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i="0" dirty="0" smtClean="0">
                <a:solidFill>
                  <a:srgbClr val="000000"/>
                </a:solidFill>
                <a:effectLst/>
                <a:latin typeface="Times New Roman" panose="02020603050405020304" pitchFamily="18" charset="0"/>
                <a:cs typeface="Times New Roman" panose="02020603050405020304" pitchFamily="18" charset="0"/>
              </a:rPr>
              <a:t>Actions</a:t>
            </a:r>
            <a:r>
              <a:rPr lang="en-US" sz="2400" b="0" i="0" dirty="0" smtClean="0">
                <a:solidFill>
                  <a:srgbClr val="000000"/>
                </a:solidFill>
                <a:effectLst/>
                <a:latin typeface="Times New Roman" panose="02020603050405020304" pitchFamily="18" charset="0"/>
                <a:cs typeface="Times New Roman" panose="02020603050405020304" pitchFamily="18" charset="0"/>
              </a:rPr>
              <a:t>: Opposes the thumb, by medially rotating and flexing the metacarpal on the trapezium.</a:t>
            </a:r>
          </a:p>
          <a:p>
            <a:pPr>
              <a:buFont typeface="Arial" panose="020B0604020202020204" pitchFamily="34" charset="0"/>
              <a:buChar char="•"/>
            </a:pP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i="0" dirty="0" smtClean="0">
                <a:solidFill>
                  <a:srgbClr val="000000"/>
                </a:solidFill>
                <a:effectLst/>
                <a:latin typeface="Times New Roman" panose="02020603050405020304" pitchFamily="18" charset="0"/>
                <a:cs typeface="Times New Roman" panose="02020603050405020304" pitchFamily="18" charset="0"/>
              </a:rPr>
              <a:t>Innervation</a:t>
            </a:r>
            <a:r>
              <a:rPr lang="en-US" sz="2400" b="0" i="0" dirty="0" smtClean="0">
                <a:solidFill>
                  <a:srgbClr val="000000"/>
                </a:solidFill>
                <a:effectLst/>
                <a:latin typeface="Times New Roman" panose="02020603050405020304" pitchFamily="18" charset="0"/>
                <a:cs typeface="Times New Roman" panose="02020603050405020304" pitchFamily="18" charset="0"/>
              </a:rPr>
              <a:t>: </a:t>
            </a:r>
            <a:r>
              <a:rPr lang="en-US" sz="2400" b="0" i="0" u="none" strike="noStrike" dirty="0" smtClean="0">
                <a:solidFill>
                  <a:srgbClr val="008178"/>
                </a:solidFill>
                <a:effectLst/>
                <a:latin typeface="Times New Roman" panose="02020603050405020304" pitchFamily="18" charset="0"/>
                <a:cs typeface="Times New Roman" panose="02020603050405020304" pitchFamily="18" charset="0"/>
                <a:hlinkClick r:id="rId2"/>
              </a:rPr>
              <a:t>Median nerve</a:t>
            </a:r>
            <a:r>
              <a:rPr lang="en-US" sz="2400" b="0" i="0" dirty="0" smtClean="0">
                <a:solidFill>
                  <a:srgbClr val="000000"/>
                </a:solidFill>
                <a:effectLst/>
                <a:latin typeface="Times New Roman" panose="02020603050405020304" pitchFamily="18" charset="0"/>
                <a:cs typeface="Times New Roman" panose="02020603050405020304" pitchFamily="18" charset="0"/>
              </a:rPr>
              <a:t> (recurrent branch).</a:t>
            </a: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7988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4379" y="474345"/>
            <a:ext cx="12047621" cy="3693319"/>
          </a:xfrm>
          <a:prstGeom prst="rect">
            <a:avLst/>
          </a:prstGeom>
        </p:spPr>
        <p:txBody>
          <a:bodyPr wrap="square">
            <a:spAutoFit/>
          </a:bodyPr>
          <a:lstStyle/>
          <a:p>
            <a:r>
              <a:rPr lang="en-US" b="1" i="0" u="sng" dirty="0" smtClean="0">
                <a:solidFill>
                  <a:srgbClr val="000000"/>
                </a:solidFill>
                <a:effectLst/>
                <a:latin typeface="acumin-pro"/>
              </a:rPr>
              <a:t>Abductor </a:t>
            </a:r>
            <a:r>
              <a:rPr lang="en-US" b="1" i="0" u="sng" dirty="0" err="1" smtClean="0">
                <a:solidFill>
                  <a:srgbClr val="000000"/>
                </a:solidFill>
                <a:effectLst/>
                <a:latin typeface="acumin-pro"/>
              </a:rPr>
              <a:t>Pollicis</a:t>
            </a:r>
            <a:r>
              <a:rPr lang="en-US" b="1" i="0" u="sng" dirty="0" smtClean="0">
                <a:solidFill>
                  <a:srgbClr val="000000"/>
                </a:solidFill>
                <a:effectLst/>
                <a:latin typeface="acumin-pro"/>
              </a:rPr>
              <a:t> </a:t>
            </a:r>
            <a:r>
              <a:rPr lang="en-US" b="1" i="0" u="sng" dirty="0" err="1" smtClean="0">
                <a:solidFill>
                  <a:srgbClr val="000000"/>
                </a:solidFill>
                <a:effectLst/>
                <a:latin typeface="acumin-pro"/>
              </a:rPr>
              <a:t>Brevis</a:t>
            </a:r>
            <a:endParaRPr lang="en-US" b="0" i="0" dirty="0" smtClean="0">
              <a:solidFill>
                <a:srgbClr val="000000"/>
              </a:solidFill>
              <a:effectLst/>
              <a:latin typeface="acumin-pro"/>
            </a:endParaRPr>
          </a:p>
          <a:p>
            <a:r>
              <a:rPr lang="en-US" b="0" i="0" dirty="0" smtClean="0">
                <a:solidFill>
                  <a:srgbClr val="000000"/>
                </a:solidFill>
                <a:effectLst/>
                <a:latin typeface="acumin-pro"/>
              </a:rPr>
              <a:t>The abductor </a:t>
            </a:r>
            <a:r>
              <a:rPr lang="en-US" b="0" i="0" dirty="0" err="1" smtClean="0">
                <a:solidFill>
                  <a:srgbClr val="000000"/>
                </a:solidFill>
                <a:effectLst/>
                <a:latin typeface="acumin-pro"/>
              </a:rPr>
              <a:t>pollicis</a:t>
            </a:r>
            <a:r>
              <a:rPr lang="en-US" b="0" i="0" dirty="0" smtClean="0">
                <a:solidFill>
                  <a:srgbClr val="000000"/>
                </a:solidFill>
                <a:effectLst/>
                <a:latin typeface="acumin-pro"/>
              </a:rPr>
              <a:t> </a:t>
            </a:r>
            <a:r>
              <a:rPr lang="en-US" b="0" i="0" dirty="0" err="1" smtClean="0">
                <a:solidFill>
                  <a:srgbClr val="000000"/>
                </a:solidFill>
                <a:effectLst/>
                <a:latin typeface="acumin-pro"/>
              </a:rPr>
              <a:t>brevis</a:t>
            </a:r>
            <a:r>
              <a:rPr lang="en-US" b="0" i="0" dirty="0" smtClean="0">
                <a:solidFill>
                  <a:srgbClr val="000000"/>
                </a:solidFill>
                <a:effectLst/>
                <a:latin typeface="acumin-pro"/>
              </a:rPr>
              <a:t> forms the anterolateral aspect of the </a:t>
            </a:r>
            <a:r>
              <a:rPr lang="en-US" b="0" i="0" dirty="0" err="1" smtClean="0">
                <a:solidFill>
                  <a:srgbClr val="000000"/>
                </a:solidFill>
                <a:effectLst/>
                <a:latin typeface="acumin-pro"/>
              </a:rPr>
              <a:t>thenar</a:t>
            </a:r>
            <a:r>
              <a:rPr lang="en-US" b="0" i="0" dirty="0" smtClean="0">
                <a:solidFill>
                  <a:srgbClr val="000000"/>
                </a:solidFill>
                <a:effectLst/>
                <a:latin typeface="acumin-pro"/>
              </a:rPr>
              <a:t> eminence, overlying the </a:t>
            </a:r>
            <a:r>
              <a:rPr lang="en-US" b="0" i="0" dirty="0" err="1" smtClean="0">
                <a:solidFill>
                  <a:srgbClr val="000000"/>
                </a:solidFill>
                <a:effectLst/>
                <a:latin typeface="acumin-pro"/>
              </a:rPr>
              <a:t>opponens</a:t>
            </a:r>
            <a:r>
              <a:rPr lang="en-US" b="0" i="0" dirty="0" smtClean="0">
                <a:solidFill>
                  <a:srgbClr val="000000"/>
                </a:solidFill>
                <a:effectLst/>
                <a:latin typeface="acumin-pro"/>
              </a:rPr>
              <a:t> </a:t>
            </a:r>
            <a:r>
              <a:rPr lang="en-US" b="0" i="0" dirty="0" err="1" smtClean="0">
                <a:solidFill>
                  <a:srgbClr val="000000"/>
                </a:solidFill>
                <a:effectLst/>
                <a:latin typeface="acumin-pro"/>
              </a:rPr>
              <a:t>pollicis</a:t>
            </a:r>
            <a:r>
              <a:rPr lang="en-US" b="0" i="0" dirty="0" smtClean="0">
                <a:solidFill>
                  <a:srgbClr val="000000"/>
                </a:solidFill>
                <a:effectLst/>
                <a:latin typeface="acumin-pro"/>
              </a:rPr>
              <a:t>.</a:t>
            </a:r>
          </a:p>
          <a:p>
            <a:pPr>
              <a:buFont typeface="Arial" panose="020B0604020202020204" pitchFamily="34" charset="0"/>
              <a:buChar char="•"/>
            </a:pPr>
            <a:r>
              <a:rPr lang="en-US" b="1" i="0" dirty="0" smtClean="0">
                <a:solidFill>
                  <a:srgbClr val="000000"/>
                </a:solidFill>
                <a:effectLst/>
                <a:latin typeface="acumin-pro"/>
              </a:rPr>
              <a:t>Attachments</a:t>
            </a:r>
            <a:r>
              <a:rPr lang="en-US" b="0" i="0" dirty="0" smtClean="0">
                <a:solidFill>
                  <a:srgbClr val="000000"/>
                </a:solidFill>
                <a:effectLst/>
                <a:latin typeface="acumin-pro"/>
              </a:rPr>
              <a:t>: Originates from the tubercles of the scaphoid and trapezium, and from the associated flexor retinaculum. Attaches to lateral side of proximal phalanx of the thumb.</a:t>
            </a:r>
          </a:p>
          <a:p>
            <a:pPr>
              <a:buFont typeface="Arial" panose="020B0604020202020204" pitchFamily="34" charset="0"/>
              <a:buChar char="•"/>
            </a:pPr>
            <a:r>
              <a:rPr lang="en-US" b="1" i="0" dirty="0" smtClean="0">
                <a:solidFill>
                  <a:srgbClr val="000000"/>
                </a:solidFill>
                <a:effectLst/>
                <a:latin typeface="acumin-pro"/>
              </a:rPr>
              <a:t>Actions</a:t>
            </a:r>
            <a:r>
              <a:rPr lang="en-US" b="0" i="0" dirty="0" smtClean="0">
                <a:solidFill>
                  <a:srgbClr val="000000"/>
                </a:solidFill>
                <a:effectLst/>
                <a:latin typeface="acumin-pro"/>
              </a:rPr>
              <a:t>: Abducts the thumb.</a:t>
            </a:r>
          </a:p>
          <a:p>
            <a:pPr>
              <a:buFont typeface="Arial" panose="020B0604020202020204" pitchFamily="34" charset="0"/>
              <a:buChar char="•"/>
            </a:pPr>
            <a:r>
              <a:rPr lang="en-US" b="1" i="0" dirty="0" smtClean="0">
                <a:solidFill>
                  <a:srgbClr val="000000"/>
                </a:solidFill>
                <a:effectLst/>
                <a:latin typeface="acumin-pro"/>
              </a:rPr>
              <a:t>Innervation</a:t>
            </a:r>
            <a:r>
              <a:rPr lang="en-US" b="0" i="0" dirty="0" smtClean="0">
                <a:solidFill>
                  <a:srgbClr val="000000"/>
                </a:solidFill>
                <a:effectLst/>
                <a:latin typeface="acumin-pro"/>
              </a:rPr>
              <a:t>: </a:t>
            </a:r>
            <a:r>
              <a:rPr lang="en-US" b="0" i="0" u="none" strike="noStrike" dirty="0" smtClean="0">
                <a:solidFill>
                  <a:srgbClr val="008178"/>
                </a:solidFill>
                <a:effectLst/>
                <a:latin typeface="acumin-pro"/>
                <a:hlinkClick r:id="rId2"/>
              </a:rPr>
              <a:t>Median nerve</a:t>
            </a:r>
            <a:r>
              <a:rPr lang="en-US" b="0" i="0" dirty="0" smtClean="0">
                <a:solidFill>
                  <a:srgbClr val="000000"/>
                </a:solidFill>
                <a:effectLst/>
                <a:latin typeface="acumin-pro"/>
              </a:rPr>
              <a:t> (recurrent branch).</a:t>
            </a:r>
          </a:p>
          <a:p>
            <a:r>
              <a:rPr lang="en-US" b="1" i="0" u="sng" dirty="0" smtClean="0">
                <a:solidFill>
                  <a:srgbClr val="000000"/>
                </a:solidFill>
                <a:effectLst/>
                <a:latin typeface="acumin-pro"/>
              </a:rPr>
              <a:t>Flexor </a:t>
            </a:r>
            <a:r>
              <a:rPr lang="en-US" b="1" i="0" u="sng" dirty="0" err="1" smtClean="0">
                <a:solidFill>
                  <a:srgbClr val="000000"/>
                </a:solidFill>
                <a:effectLst/>
                <a:latin typeface="acumin-pro"/>
              </a:rPr>
              <a:t>Pollicis</a:t>
            </a:r>
            <a:r>
              <a:rPr lang="en-US" b="1" i="0" u="sng" dirty="0" smtClean="0">
                <a:solidFill>
                  <a:srgbClr val="000000"/>
                </a:solidFill>
                <a:effectLst/>
                <a:latin typeface="acumin-pro"/>
              </a:rPr>
              <a:t> </a:t>
            </a:r>
            <a:r>
              <a:rPr lang="en-US" b="1" i="0" u="sng" dirty="0" err="1" smtClean="0">
                <a:solidFill>
                  <a:srgbClr val="000000"/>
                </a:solidFill>
                <a:effectLst/>
                <a:latin typeface="acumin-pro"/>
              </a:rPr>
              <a:t>Brevis</a:t>
            </a:r>
            <a:endParaRPr lang="en-US" b="0" i="0" dirty="0" smtClean="0">
              <a:solidFill>
                <a:srgbClr val="000000"/>
              </a:solidFill>
              <a:effectLst/>
              <a:latin typeface="acumin-pro"/>
            </a:endParaRPr>
          </a:p>
          <a:p>
            <a:r>
              <a:rPr lang="en-US" b="0" i="0" dirty="0" smtClean="0">
                <a:solidFill>
                  <a:srgbClr val="000000"/>
                </a:solidFill>
                <a:effectLst/>
                <a:latin typeface="acumin-pro"/>
              </a:rPr>
              <a:t>The flexor </a:t>
            </a:r>
            <a:r>
              <a:rPr lang="en-US" b="0" i="0" dirty="0" err="1" smtClean="0">
                <a:solidFill>
                  <a:srgbClr val="000000"/>
                </a:solidFill>
                <a:effectLst/>
                <a:latin typeface="acumin-pro"/>
              </a:rPr>
              <a:t>pollicis</a:t>
            </a:r>
            <a:r>
              <a:rPr lang="en-US" b="0" i="0" dirty="0" smtClean="0">
                <a:solidFill>
                  <a:srgbClr val="000000"/>
                </a:solidFill>
                <a:effectLst/>
                <a:latin typeface="acumin-pro"/>
              </a:rPr>
              <a:t> </a:t>
            </a:r>
            <a:r>
              <a:rPr lang="en-US" b="0" i="0" dirty="0" err="1" smtClean="0">
                <a:solidFill>
                  <a:srgbClr val="000000"/>
                </a:solidFill>
                <a:effectLst/>
                <a:latin typeface="acumin-pro"/>
              </a:rPr>
              <a:t>brevis</a:t>
            </a:r>
            <a:r>
              <a:rPr lang="en-US" b="0" i="0" dirty="0" smtClean="0">
                <a:solidFill>
                  <a:srgbClr val="000000"/>
                </a:solidFill>
                <a:effectLst/>
                <a:latin typeface="acumin-pro"/>
              </a:rPr>
              <a:t> forms the medial aspect of the </a:t>
            </a:r>
            <a:r>
              <a:rPr lang="en-US" b="0" i="0" dirty="0" err="1" smtClean="0">
                <a:solidFill>
                  <a:srgbClr val="000000"/>
                </a:solidFill>
                <a:effectLst/>
                <a:latin typeface="acumin-pro"/>
              </a:rPr>
              <a:t>thenar</a:t>
            </a:r>
            <a:r>
              <a:rPr lang="en-US" b="0" i="0" dirty="0" smtClean="0">
                <a:solidFill>
                  <a:srgbClr val="000000"/>
                </a:solidFill>
                <a:effectLst/>
                <a:latin typeface="acumin-pro"/>
              </a:rPr>
              <a:t> eminence. It is described as having a superficial and deep part – although the deep component is variable in size.</a:t>
            </a:r>
          </a:p>
          <a:p>
            <a:pPr>
              <a:buFont typeface="Arial" panose="020B0604020202020204" pitchFamily="34" charset="0"/>
              <a:buChar char="•"/>
            </a:pPr>
            <a:r>
              <a:rPr lang="en-US" b="1" i="0" dirty="0" smtClean="0">
                <a:solidFill>
                  <a:srgbClr val="000000"/>
                </a:solidFill>
                <a:effectLst/>
                <a:latin typeface="acumin-pro"/>
              </a:rPr>
              <a:t>Attachments</a:t>
            </a:r>
            <a:r>
              <a:rPr lang="en-US" b="0" i="0" dirty="0" smtClean="0">
                <a:solidFill>
                  <a:srgbClr val="000000"/>
                </a:solidFill>
                <a:effectLst/>
                <a:latin typeface="acumin-pro"/>
              </a:rPr>
              <a:t>: Originates from the tubercle of the trapezium and from the associated flexor retinaculum. Attaches to the base of the proximal phalanx of the thumb.</a:t>
            </a:r>
          </a:p>
          <a:p>
            <a:pPr>
              <a:buFont typeface="Arial" panose="020B0604020202020204" pitchFamily="34" charset="0"/>
              <a:buChar char="•"/>
            </a:pPr>
            <a:r>
              <a:rPr lang="en-US" b="1" i="0" dirty="0" smtClean="0">
                <a:solidFill>
                  <a:srgbClr val="000000"/>
                </a:solidFill>
                <a:effectLst/>
                <a:latin typeface="acumin-pro"/>
              </a:rPr>
              <a:t>Actions</a:t>
            </a:r>
            <a:r>
              <a:rPr lang="en-US" b="0" i="0" dirty="0" smtClean="0">
                <a:solidFill>
                  <a:srgbClr val="000000"/>
                </a:solidFill>
                <a:effectLst/>
                <a:latin typeface="acumin-pro"/>
              </a:rPr>
              <a:t>: Flexes the </a:t>
            </a:r>
            <a:r>
              <a:rPr lang="en-US" b="0" i="0" dirty="0" err="1" smtClean="0">
                <a:solidFill>
                  <a:srgbClr val="000000"/>
                </a:solidFill>
                <a:effectLst/>
                <a:latin typeface="acumin-pro"/>
              </a:rPr>
              <a:t>metacarpophalangeal</a:t>
            </a:r>
            <a:r>
              <a:rPr lang="en-US" b="0" i="0" dirty="0" smtClean="0">
                <a:solidFill>
                  <a:srgbClr val="000000"/>
                </a:solidFill>
                <a:effectLst/>
                <a:latin typeface="acumin-pro"/>
              </a:rPr>
              <a:t> joint of the thumb.</a:t>
            </a:r>
          </a:p>
          <a:p>
            <a:pPr>
              <a:buFont typeface="Arial" panose="020B0604020202020204" pitchFamily="34" charset="0"/>
              <a:buChar char="•"/>
            </a:pPr>
            <a:r>
              <a:rPr lang="en-US" b="1" i="0" dirty="0" smtClean="0">
                <a:solidFill>
                  <a:srgbClr val="000000"/>
                </a:solidFill>
                <a:effectLst/>
                <a:latin typeface="acumin-pro"/>
              </a:rPr>
              <a:t>Innervation</a:t>
            </a:r>
            <a:r>
              <a:rPr lang="en-US" b="0" i="0" dirty="0" smtClean="0">
                <a:solidFill>
                  <a:srgbClr val="000000"/>
                </a:solidFill>
                <a:effectLst/>
                <a:latin typeface="acumin-pro"/>
              </a:rPr>
              <a:t>: </a:t>
            </a:r>
            <a:r>
              <a:rPr lang="en-US" b="0" i="0" u="none" strike="noStrike" dirty="0" smtClean="0">
                <a:solidFill>
                  <a:srgbClr val="008178"/>
                </a:solidFill>
                <a:effectLst/>
                <a:latin typeface="acumin-pro"/>
                <a:hlinkClick r:id="rId2"/>
              </a:rPr>
              <a:t>Median nerve</a:t>
            </a:r>
            <a:r>
              <a:rPr lang="en-US" b="0" i="0" dirty="0" smtClean="0">
                <a:solidFill>
                  <a:srgbClr val="000000"/>
                </a:solidFill>
                <a:effectLst/>
                <a:latin typeface="acumin-pro"/>
              </a:rPr>
              <a:t> (recurrent branch). The deep head is innervated by the deep branch of the </a:t>
            </a:r>
            <a:r>
              <a:rPr lang="en-US" b="0" i="0" u="none" strike="noStrike" dirty="0" smtClean="0">
                <a:solidFill>
                  <a:srgbClr val="008178"/>
                </a:solidFill>
                <a:effectLst/>
                <a:latin typeface="acumin-pro"/>
                <a:hlinkClick r:id="rId3"/>
              </a:rPr>
              <a:t>ulnar nerve</a:t>
            </a:r>
            <a:r>
              <a:rPr lang="en-US" b="0" i="0" dirty="0" smtClean="0">
                <a:solidFill>
                  <a:srgbClr val="000000"/>
                </a:solidFill>
                <a:effectLst/>
                <a:latin typeface="acumin-pro"/>
              </a:rPr>
              <a:t>.</a:t>
            </a:r>
            <a:endParaRPr lang="en-US" b="0" i="0" dirty="0">
              <a:solidFill>
                <a:srgbClr val="000000"/>
              </a:solidFill>
              <a:effectLst/>
              <a:latin typeface="acumin-pro"/>
            </a:endParaRPr>
          </a:p>
        </p:txBody>
      </p:sp>
    </p:spTree>
    <p:extLst>
      <p:ext uri="{BB962C8B-B14F-4D97-AF65-F5344CB8AC3E}">
        <p14:creationId xmlns:p14="http://schemas.microsoft.com/office/powerpoint/2010/main" val="15430065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03609" y="83451"/>
            <a:ext cx="7600950" cy="7060430"/>
          </a:xfrm>
          <a:prstGeom prst="rect">
            <a:avLst/>
          </a:prstGeom>
        </p:spPr>
      </p:pic>
      <p:sp>
        <p:nvSpPr>
          <p:cNvPr id="3" name="Rectangle 2"/>
          <p:cNvSpPr/>
          <p:nvPr/>
        </p:nvSpPr>
        <p:spPr>
          <a:xfrm>
            <a:off x="8416607" y="6228166"/>
            <a:ext cx="3775393" cy="369332"/>
          </a:xfrm>
          <a:prstGeom prst="rect">
            <a:avLst/>
          </a:prstGeom>
        </p:spPr>
        <p:txBody>
          <a:bodyPr wrap="none">
            <a:spAutoFit/>
          </a:bodyPr>
          <a:lstStyle/>
          <a:p>
            <a:r>
              <a:rPr lang="en-US" b="0" i="0" dirty="0" smtClean="0">
                <a:solidFill>
                  <a:srgbClr val="000000"/>
                </a:solidFill>
                <a:effectLst/>
                <a:latin typeface="acumin-pro"/>
              </a:rPr>
              <a:t>Palmar view of the </a:t>
            </a:r>
            <a:r>
              <a:rPr lang="en-US" b="0" i="0" dirty="0" err="1" smtClean="0">
                <a:solidFill>
                  <a:srgbClr val="000000"/>
                </a:solidFill>
                <a:effectLst/>
                <a:latin typeface="acumin-pro"/>
              </a:rPr>
              <a:t>thenar</a:t>
            </a:r>
            <a:r>
              <a:rPr lang="en-US" b="0" i="0" dirty="0" smtClean="0">
                <a:solidFill>
                  <a:srgbClr val="000000"/>
                </a:solidFill>
                <a:effectLst/>
                <a:latin typeface="acumin-pro"/>
              </a:rPr>
              <a:t> muscles.</a:t>
            </a:r>
            <a:endParaRPr lang="en-US" dirty="0"/>
          </a:p>
        </p:txBody>
      </p:sp>
    </p:spTree>
    <p:extLst>
      <p:ext uri="{BB962C8B-B14F-4D97-AF65-F5344CB8AC3E}">
        <p14:creationId xmlns:p14="http://schemas.microsoft.com/office/powerpoint/2010/main" val="36923126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19200" y="-642938"/>
            <a:ext cx="9753600" cy="8143875"/>
          </a:xfrm>
          <a:prstGeom prst="rect">
            <a:avLst/>
          </a:prstGeom>
        </p:spPr>
      </p:pic>
    </p:spTree>
    <p:extLst>
      <p:ext uri="{BB962C8B-B14F-4D97-AF65-F5344CB8AC3E}">
        <p14:creationId xmlns:p14="http://schemas.microsoft.com/office/powerpoint/2010/main" val="32045140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1007" y="202704"/>
            <a:ext cx="11723570" cy="5632311"/>
          </a:xfrm>
          <a:prstGeom prst="rect">
            <a:avLst/>
          </a:prstGeom>
        </p:spPr>
        <p:txBody>
          <a:bodyPr wrap="square">
            <a:spAutoFit/>
          </a:bodyPr>
          <a:lstStyle/>
          <a:p>
            <a:r>
              <a:rPr lang="en-US" sz="2400" b="1" i="0" dirty="0" err="1" smtClean="0">
                <a:solidFill>
                  <a:srgbClr val="C00000"/>
                </a:solidFill>
                <a:effectLst/>
                <a:latin typeface="Times New Roman" panose="02020603050405020304" pitchFamily="18" charset="0"/>
                <a:cs typeface="Times New Roman" panose="02020603050405020304" pitchFamily="18" charset="0"/>
              </a:rPr>
              <a:t>Hypothenar</a:t>
            </a:r>
            <a:r>
              <a:rPr lang="en-US" sz="2400" b="1" i="0" dirty="0" smtClean="0">
                <a:solidFill>
                  <a:srgbClr val="C00000"/>
                </a:solidFill>
                <a:effectLst/>
                <a:latin typeface="Times New Roman" panose="02020603050405020304" pitchFamily="18" charset="0"/>
                <a:cs typeface="Times New Roman" panose="02020603050405020304" pitchFamily="18" charset="0"/>
              </a:rPr>
              <a:t> Muscles</a:t>
            </a:r>
          </a:p>
          <a:p>
            <a:r>
              <a:rPr lang="en-US" sz="2400" b="0" i="0" dirty="0" smtClean="0">
                <a:solidFill>
                  <a:srgbClr val="000000"/>
                </a:solidFill>
                <a:effectLst/>
                <a:latin typeface="Times New Roman" panose="02020603050405020304" pitchFamily="18" charset="0"/>
                <a:cs typeface="Times New Roman" panose="02020603050405020304" pitchFamily="18" charset="0"/>
              </a:rPr>
              <a:t>The </a:t>
            </a:r>
            <a:r>
              <a:rPr lang="en-US" sz="2400" b="0" i="0" dirty="0" err="1" smtClean="0">
                <a:solidFill>
                  <a:srgbClr val="000000"/>
                </a:solidFill>
                <a:effectLst/>
                <a:latin typeface="Times New Roman" panose="02020603050405020304" pitchFamily="18" charset="0"/>
                <a:cs typeface="Times New Roman" panose="02020603050405020304" pitchFamily="18" charset="0"/>
              </a:rPr>
              <a:t>hypothenar</a:t>
            </a:r>
            <a:r>
              <a:rPr lang="en-US" sz="2400" b="0" i="0" dirty="0" smtClean="0">
                <a:solidFill>
                  <a:srgbClr val="000000"/>
                </a:solidFill>
                <a:effectLst/>
                <a:latin typeface="Times New Roman" panose="02020603050405020304" pitchFamily="18" charset="0"/>
                <a:cs typeface="Times New Roman" panose="02020603050405020304" pitchFamily="18" charset="0"/>
              </a:rPr>
              <a:t> muscles form the </a:t>
            </a:r>
            <a:r>
              <a:rPr lang="en-US" sz="2400" b="1" i="0" dirty="0" err="1" smtClean="0">
                <a:solidFill>
                  <a:srgbClr val="000000"/>
                </a:solidFill>
                <a:effectLst/>
                <a:latin typeface="Times New Roman" panose="02020603050405020304" pitchFamily="18" charset="0"/>
                <a:cs typeface="Times New Roman" panose="02020603050405020304" pitchFamily="18" charset="0"/>
              </a:rPr>
              <a:t>hypothenar</a:t>
            </a:r>
            <a:r>
              <a:rPr lang="en-US" sz="2400" b="1" i="0" dirty="0" smtClean="0">
                <a:solidFill>
                  <a:srgbClr val="000000"/>
                </a:solidFill>
                <a:effectLst/>
                <a:latin typeface="Times New Roman" panose="02020603050405020304" pitchFamily="18" charset="0"/>
                <a:cs typeface="Times New Roman" panose="02020603050405020304" pitchFamily="18" charset="0"/>
              </a:rPr>
              <a:t> eminence</a:t>
            </a:r>
            <a:r>
              <a:rPr lang="en-US" sz="2400" b="0" i="0" dirty="0" smtClean="0">
                <a:solidFill>
                  <a:srgbClr val="000000"/>
                </a:solidFill>
                <a:effectLst/>
                <a:latin typeface="Times New Roman" panose="02020603050405020304" pitchFamily="18" charset="0"/>
                <a:cs typeface="Times New Roman" panose="02020603050405020304" pitchFamily="18" charset="0"/>
              </a:rPr>
              <a:t> – a muscular protrusion on the medial side of the palm, at the base of the little finger. These muscles are similar to the </a:t>
            </a:r>
            <a:r>
              <a:rPr lang="en-US" sz="2400" b="0" i="0" dirty="0" err="1" smtClean="0">
                <a:solidFill>
                  <a:srgbClr val="000000"/>
                </a:solidFill>
                <a:effectLst/>
                <a:latin typeface="Times New Roman" panose="02020603050405020304" pitchFamily="18" charset="0"/>
                <a:cs typeface="Times New Roman" panose="02020603050405020304" pitchFamily="18" charset="0"/>
              </a:rPr>
              <a:t>thenar</a:t>
            </a:r>
            <a:r>
              <a:rPr lang="en-US" sz="2400" b="0" i="0" dirty="0" smtClean="0">
                <a:solidFill>
                  <a:srgbClr val="000000"/>
                </a:solidFill>
                <a:effectLst/>
                <a:latin typeface="Times New Roman" panose="02020603050405020304" pitchFamily="18" charset="0"/>
                <a:cs typeface="Times New Roman" panose="02020603050405020304" pitchFamily="18" charset="0"/>
              </a:rPr>
              <a:t> muscles in both name and </a:t>
            </a:r>
            <a:r>
              <a:rPr lang="en-US" sz="2400" b="0" i="0" dirty="0" err="1" smtClean="0">
                <a:solidFill>
                  <a:srgbClr val="000000"/>
                </a:solidFill>
                <a:effectLst/>
                <a:latin typeface="Times New Roman" panose="02020603050405020304" pitchFamily="18" charset="0"/>
                <a:cs typeface="Times New Roman" panose="02020603050405020304" pitchFamily="18" charset="0"/>
              </a:rPr>
              <a:t>organisation</a:t>
            </a:r>
            <a:r>
              <a:rPr lang="en-US" sz="2400" b="0" i="0" dirty="0" smtClean="0">
                <a:solidFill>
                  <a:srgbClr val="000000"/>
                </a:solidFill>
                <a:effectLst/>
                <a:latin typeface="Times New Roman" panose="02020603050405020304" pitchFamily="18" charset="0"/>
                <a:cs typeface="Times New Roman" panose="02020603050405020304" pitchFamily="18" charset="0"/>
              </a:rPr>
              <a:t>.</a:t>
            </a:r>
          </a:p>
          <a:p>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r>
              <a:rPr lang="en-US" sz="2400" b="0" i="0" dirty="0" smtClean="0">
                <a:solidFill>
                  <a:srgbClr val="000000"/>
                </a:solidFill>
                <a:effectLst/>
                <a:latin typeface="Times New Roman" panose="02020603050405020304" pitchFamily="18" charset="0"/>
                <a:cs typeface="Times New Roman" panose="02020603050405020304" pitchFamily="18" charset="0"/>
              </a:rPr>
              <a:t>The </a:t>
            </a:r>
            <a:r>
              <a:rPr lang="en-US" sz="2400" b="0" i="0" u="none" strike="noStrike" dirty="0" smtClean="0">
                <a:solidFill>
                  <a:srgbClr val="008178"/>
                </a:solidFill>
                <a:effectLst/>
                <a:latin typeface="Times New Roman" panose="02020603050405020304" pitchFamily="18" charset="0"/>
                <a:cs typeface="Times New Roman" panose="02020603050405020304" pitchFamily="18" charset="0"/>
                <a:hlinkClick r:id="rId2"/>
              </a:rPr>
              <a:t>ulnar nerve</a:t>
            </a:r>
            <a:r>
              <a:rPr lang="en-US" sz="2400" b="0" i="0" dirty="0" smtClean="0">
                <a:solidFill>
                  <a:srgbClr val="000000"/>
                </a:solidFill>
                <a:effectLst/>
                <a:latin typeface="Times New Roman" panose="02020603050405020304" pitchFamily="18" charset="0"/>
                <a:cs typeface="Times New Roman" panose="02020603050405020304" pitchFamily="18" charset="0"/>
              </a:rPr>
              <a:t> innervates the muscles of the </a:t>
            </a:r>
            <a:r>
              <a:rPr lang="en-US" sz="2400" b="0" i="0" dirty="0" err="1" smtClean="0">
                <a:solidFill>
                  <a:srgbClr val="000000"/>
                </a:solidFill>
                <a:effectLst/>
                <a:latin typeface="Times New Roman" panose="02020603050405020304" pitchFamily="18" charset="0"/>
                <a:cs typeface="Times New Roman" panose="02020603050405020304" pitchFamily="18" charset="0"/>
              </a:rPr>
              <a:t>hypothenar</a:t>
            </a:r>
            <a:r>
              <a:rPr lang="en-US" sz="2400" b="0" i="0" dirty="0" smtClean="0">
                <a:solidFill>
                  <a:srgbClr val="000000"/>
                </a:solidFill>
                <a:effectLst/>
                <a:latin typeface="Times New Roman" panose="02020603050405020304" pitchFamily="18" charset="0"/>
                <a:cs typeface="Times New Roman" panose="02020603050405020304" pitchFamily="18" charset="0"/>
              </a:rPr>
              <a:t> eminence.</a:t>
            </a:r>
          </a:p>
          <a:p>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r>
              <a:rPr lang="en-US" sz="2400" b="1" i="0" u="sng" dirty="0" err="1" smtClean="0">
                <a:solidFill>
                  <a:srgbClr val="000000"/>
                </a:solidFill>
                <a:effectLst/>
                <a:latin typeface="Times New Roman" panose="02020603050405020304" pitchFamily="18" charset="0"/>
                <a:cs typeface="Times New Roman" panose="02020603050405020304" pitchFamily="18" charset="0"/>
              </a:rPr>
              <a:t>Opponens</a:t>
            </a:r>
            <a:r>
              <a:rPr lang="en-US" sz="2400" b="1" i="0" u="sng" dirty="0" smtClean="0">
                <a:solidFill>
                  <a:srgbClr val="000000"/>
                </a:solidFill>
                <a:effectLst/>
                <a:latin typeface="Times New Roman" panose="02020603050405020304" pitchFamily="18" charset="0"/>
                <a:cs typeface="Times New Roman" panose="02020603050405020304" pitchFamily="18" charset="0"/>
              </a:rPr>
              <a:t> </a:t>
            </a:r>
            <a:r>
              <a:rPr lang="en-US" sz="2400" b="1" i="0" u="sng" dirty="0" err="1" smtClean="0">
                <a:solidFill>
                  <a:srgbClr val="000000"/>
                </a:solidFill>
                <a:effectLst/>
                <a:latin typeface="Times New Roman" panose="02020603050405020304" pitchFamily="18" charset="0"/>
                <a:cs typeface="Times New Roman" panose="02020603050405020304" pitchFamily="18" charset="0"/>
              </a:rPr>
              <a:t>Digiti</a:t>
            </a:r>
            <a:r>
              <a:rPr lang="en-US" sz="2400" b="1" i="0" u="sng" dirty="0" smtClean="0">
                <a:solidFill>
                  <a:srgbClr val="000000"/>
                </a:solidFill>
                <a:effectLst/>
                <a:latin typeface="Times New Roman" panose="02020603050405020304" pitchFamily="18" charset="0"/>
                <a:cs typeface="Times New Roman" panose="02020603050405020304" pitchFamily="18" charset="0"/>
              </a:rPr>
              <a:t> </a:t>
            </a:r>
            <a:r>
              <a:rPr lang="en-US" sz="2400" b="1" i="0" u="sng" dirty="0" err="1" smtClean="0">
                <a:solidFill>
                  <a:srgbClr val="000000"/>
                </a:solidFill>
                <a:effectLst/>
                <a:latin typeface="Times New Roman" panose="02020603050405020304" pitchFamily="18" charset="0"/>
                <a:cs typeface="Times New Roman" panose="02020603050405020304" pitchFamily="18" charset="0"/>
              </a:rPr>
              <a:t>Minimi</a:t>
            </a: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r>
              <a:rPr lang="en-US" sz="2400" b="0" i="0" dirty="0" smtClean="0">
                <a:solidFill>
                  <a:srgbClr val="000000"/>
                </a:solidFill>
                <a:effectLst/>
                <a:latin typeface="Times New Roman" panose="02020603050405020304" pitchFamily="18" charset="0"/>
                <a:cs typeface="Times New Roman" panose="02020603050405020304" pitchFamily="18" charset="0"/>
              </a:rPr>
              <a:t>The </a:t>
            </a:r>
            <a:r>
              <a:rPr lang="en-US" sz="2400" b="0" i="0" dirty="0" err="1" smtClean="0">
                <a:solidFill>
                  <a:srgbClr val="000000"/>
                </a:solidFill>
                <a:effectLst/>
                <a:latin typeface="Times New Roman" panose="02020603050405020304" pitchFamily="18" charset="0"/>
                <a:cs typeface="Times New Roman" panose="02020603050405020304" pitchFamily="18" charset="0"/>
              </a:rPr>
              <a:t>opponens</a:t>
            </a:r>
            <a:r>
              <a:rPr lang="en-US" sz="2400" b="0" i="0" dirty="0" smtClean="0">
                <a:solidFill>
                  <a:srgbClr val="000000"/>
                </a:solidFill>
                <a:effectLst/>
                <a:latin typeface="Times New Roman" panose="02020603050405020304" pitchFamily="18" charset="0"/>
                <a:cs typeface="Times New Roman" panose="02020603050405020304" pitchFamily="18" charset="0"/>
              </a:rPr>
              <a:t> digit </a:t>
            </a:r>
            <a:r>
              <a:rPr lang="en-US" sz="2400" b="0" i="0" dirty="0" err="1" smtClean="0">
                <a:solidFill>
                  <a:srgbClr val="000000"/>
                </a:solidFill>
                <a:effectLst/>
                <a:latin typeface="Times New Roman" panose="02020603050405020304" pitchFamily="18" charset="0"/>
                <a:cs typeface="Times New Roman" panose="02020603050405020304" pitchFamily="18" charset="0"/>
              </a:rPr>
              <a:t>minimi</a:t>
            </a:r>
            <a:r>
              <a:rPr lang="en-US" sz="2400" b="0" i="0" dirty="0" smtClean="0">
                <a:solidFill>
                  <a:srgbClr val="000000"/>
                </a:solidFill>
                <a:effectLst/>
                <a:latin typeface="Times New Roman" panose="02020603050405020304" pitchFamily="18" charset="0"/>
                <a:cs typeface="Times New Roman" panose="02020603050405020304" pitchFamily="18" charset="0"/>
              </a:rPr>
              <a:t> lies deep to the other </a:t>
            </a:r>
            <a:r>
              <a:rPr lang="en-US" sz="2400" b="0" i="0" dirty="0" err="1" smtClean="0">
                <a:solidFill>
                  <a:srgbClr val="000000"/>
                </a:solidFill>
                <a:effectLst/>
                <a:latin typeface="Times New Roman" panose="02020603050405020304" pitchFamily="18" charset="0"/>
                <a:cs typeface="Times New Roman" panose="02020603050405020304" pitchFamily="18" charset="0"/>
              </a:rPr>
              <a:t>hypothenar</a:t>
            </a:r>
            <a:r>
              <a:rPr lang="en-US" sz="2400" b="0" i="0" dirty="0" smtClean="0">
                <a:solidFill>
                  <a:srgbClr val="000000"/>
                </a:solidFill>
                <a:effectLst/>
                <a:latin typeface="Times New Roman" panose="02020603050405020304" pitchFamily="18" charset="0"/>
                <a:cs typeface="Times New Roman" panose="02020603050405020304" pitchFamily="18" charset="0"/>
              </a:rPr>
              <a:t> muscles.</a:t>
            </a:r>
          </a:p>
          <a:p>
            <a:pPr>
              <a:buFont typeface="Arial" panose="020B0604020202020204" pitchFamily="34" charset="0"/>
              <a:buChar char="•"/>
            </a:pPr>
            <a:r>
              <a:rPr lang="en-US" sz="2400" b="1" i="0" dirty="0" smtClean="0">
                <a:solidFill>
                  <a:srgbClr val="000000"/>
                </a:solidFill>
                <a:effectLst/>
                <a:latin typeface="Times New Roman" panose="02020603050405020304" pitchFamily="18" charset="0"/>
                <a:cs typeface="Times New Roman" panose="02020603050405020304" pitchFamily="18" charset="0"/>
              </a:rPr>
              <a:t>Attachments</a:t>
            </a:r>
            <a:r>
              <a:rPr lang="en-US" sz="2400" b="0" i="0" dirty="0" smtClean="0">
                <a:solidFill>
                  <a:srgbClr val="000000"/>
                </a:solidFill>
                <a:effectLst/>
                <a:latin typeface="Times New Roman" panose="02020603050405020304" pitchFamily="18" charset="0"/>
                <a:cs typeface="Times New Roman" panose="02020603050405020304" pitchFamily="18" charset="0"/>
              </a:rPr>
              <a:t>: Originates from the hook of hamate and associated flexor retinaculum, inserts into the medial margin of metacarpal V.</a:t>
            </a:r>
          </a:p>
          <a:p>
            <a:pPr>
              <a:buFont typeface="Arial" panose="020B0604020202020204" pitchFamily="34" charset="0"/>
              <a:buChar char="•"/>
            </a:pPr>
            <a:r>
              <a:rPr lang="en-US" sz="2400" b="1" i="0" dirty="0" smtClean="0">
                <a:solidFill>
                  <a:srgbClr val="000000"/>
                </a:solidFill>
                <a:effectLst/>
                <a:latin typeface="Times New Roman" panose="02020603050405020304" pitchFamily="18" charset="0"/>
                <a:cs typeface="Times New Roman" panose="02020603050405020304" pitchFamily="18" charset="0"/>
              </a:rPr>
              <a:t>Actions</a:t>
            </a:r>
            <a:r>
              <a:rPr lang="en-US" sz="2400" b="0" i="0" dirty="0" smtClean="0">
                <a:solidFill>
                  <a:srgbClr val="000000"/>
                </a:solidFill>
                <a:effectLst/>
                <a:latin typeface="Times New Roman" panose="02020603050405020304" pitchFamily="18" charset="0"/>
                <a:cs typeface="Times New Roman" panose="02020603050405020304" pitchFamily="18" charset="0"/>
              </a:rPr>
              <a:t>: It rotates the metacarpal of the little finger towards the palm, producing opposition.</a:t>
            </a:r>
          </a:p>
          <a:p>
            <a:pPr>
              <a:buFont typeface="Arial" panose="020B0604020202020204" pitchFamily="34" charset="0"/>
              <a:buChar char="•"/>
            </a:pPr>
            <a:r>
              <a:rPr lang="en-US" sz="2400" b="1" i="0" dirty="0" smtClean="0">
                <a:solidFill>
                  <a:srgbClr val="000000"/>
                </a:solidFill>
                <a:effectLst/>
                <a:latin typeface="Times New Roman" panose="02020603050405020304" pitchFamily="18" charset="0"/>
                <a:cs typeface="Times New Roman" panose="02020603050405020304" pitchFamily="18" charset="0"/>
              </a:rPr>
              <a:t>Innervation</a:t>
            </a:r>
            <a:r>
              <a:rPr lang="en-US" sz="2400" b="0" i="0" dirty="0" smtClean="0">
                <a:solidFill>
                  <a:srgbClr val="000000"/>
                </a:solidFill>
                <a:effectLst/>
                <a:latin typeface="Times New Roman" panose="02020603050405020304" pitchFamily="18" charset="0"/>
                <a:cs typeface="Times New Roman" panose="02020603050405020304" pitchFamily="18" charset="0"/>
              </a:rPr>
              <a:t>: </a:t>
            </a:r>
            <a:r>
              <a:rPr lang="en-US" sz="2400" b="0" i="0" u="none" strike="noStrike" dirty="0" smtClean="0">
                <a:solidFill>
                  <a:srgbClr val="008178"/>
                </a:solidFill>
                <a:effectLst/>
                <a:latin typeface="Times New Roman" panose="02020603050405020304" pitchFamily="18" charset="0"/>
                <a:cs typeface="Times New Roman" panose="02020603050405020304" pitchFamily="18" charset="0"/>
                <a:hlinkClick r:id="rId2"/>
              </a:rPr>
              <a:t>Ulnar nerve</a:t>
            </a:r>
            <a:r>
              <a:rPr lang="en-US" sz="2400" b="0" i="0" dirty="0" smtClean="0">
                <a:solidFill>
                  <a:srgbClr val="000000"/>
                </a:solidFill>
                <a:effectLst/>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
            </a:r>
            <a:br>
              <a:rPr lang="en-US" sz="2400" dirty="0" smtClean="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62490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2505" y="94693"/>
            <a:ext cx="11848699" cy="5632311"/>
          </a:xfrm>
          <a:prstGeom prst="rect">
            <a:avLst/>
          </a:prstGeom>
        </p:spPr>
        <p:txBody>
          <a:bodyPr wrap="square">
            <a:spAutoFit/>
          </a:bodyPr>
          <a:lstStyle/>
          <a:p>
            <a:r>
              <a:rPr lang="en-US" sz="2400" b="1" i="0" u="sng" dirty="0" smtClean="0">
                <a:solidFill>
                  <a:srgbClr val="000000"/>
                </a:solidFill>
                <a:effectLst/>
                <a:latin typeface="Times New Roman" panose="02020603050405020304" pitchFamily="18" charset="0"/>
                <a:cs typeface="Times New Roman" panose="02020603050405020304" pitchFamily="18" charset="0"/>
              </a:rPr>
              <a:t>Abductor </a:t>
            </a:r>
            <a:r>
              <a:rPr lang="en-US" sz="2400" b="1" i="0" u="sng" dirty="0" err="1" smtClean="0">
                <a:solidFill>
                  <a:srgbClr val="000000"/>
                </a:solidFill>
                <a:effectLst/>
                <a:latin typeface="Times New Roman" panose="02020603050405020304" pitchFamily="18" charset="0"/>
                <a:cs typeface="Times New Roman" panose="02020603050405020304" pitchFamily="18" charset="0"/>
              </a:rPr>
              <a:t>Digiti</a:t>
            </a:r>
            <a:r>
              <a:rPr lang="en-US" sz="2400" b="1" i="0" u="sng" dirty="0" smtClean="0">
                <a:solidFill>
                  <a:srgbClr val="000000"/>
                </a:solidFill>
                <a:effectLst/>
                <a:latin typeface="Times New Roman" panose="02020603050405020304" pitchFamily="18" charset="0"/>
                <a:cs typeface="Times New Roman" panose="02020603050405020304" pitchFamily="18" charset="0"/>
              </a:rPr>
              <a:t> </a:t>
            </a:r>
            <a:r>
              <a:rPr lang="en-US" sz="2400" b="1" i="0" u="sng" dirty="0" err="1" smtClean="0">
                <a:solidFill>
                  <a:srgbClr val="000000"/>
                </a:solidFill>
                <a:effectLst/>
                <a:latin typeface="Times New Roman" panose="02020603050405020304" pitchFamily="18" charset="0"/>
                <a:cs typeface="Times New Roman" panose="02020603050405020304" pitchFamily="18" charset="0"/>
              </a:rPr>
              <a:t>Minimi</a:t>
            </a: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r>
              <a:rPr lang="en-US" sz="2400" b="0" i="0" dirty="0" smtClean="0">
                <a:solidFill>
                  <a:srgbClr val="000000"/>
                </a:solidFill>
                <a:effectLst/>
                <a:latin typeface="Times New Roman" panose="02020603050405020304" pitchFamily="18" charset="0"/>
                <a:cs typeface="Times New Roman" panose="02020603050405020304" pitchFamily="18" charset="0"/>
              </a:rPr>
              <a:t>The abductor </a:t>
            </a:r>
            <a:r>
              <a:rPr lang="en-US" sz="2400" b="0" i="0" dirty="0" err="1" smtClean="0">
                <a:solidFill>
                  <a:srgbClr val="000000"/>
                </a:solidFill>
                <a:effectLst/>
                <a:latin typeface="Times New Roman" panose="02020603050405020304" pitchFamily="18" charset="0"/>
                <a:cs typeface="Times New Roman" panose="02020603050405020304" pitchFamily="18" charset="0"/>
              </a:rPr>
              <a:t>digiti</a:t>
            </a:r>
            <a:r>
              <a:rPr lang="en-US" sz="2400" b="0" i="0" dirty="0" smtClean="0">
                <a:solidFill>
                  <a:srgbClr val="000000"/>
                </a:solidFill>
                <a:effectLst/>
                <a:latin typeface="Times New Roman" panose="02020603050405020304" pitchFamily="18" charset="0"/>
                <a:cs typeface="Times New Roman" panose="02020603050405020304" pitchFamily="18" charset="0"/>
              </a:rPr>
              <a:t> </a:t>
            </a:r>
            <a:r>
              <a:rPr lang="en-US" sz="2400" b="0" i="0" dirty="0" err="1" smtClean="0">
                <a:solidFill>
                  <a:srgbClr val="000000"/>
                </a:solidFill>
                <a:effectLst/>
                <a:latin typeface="Times New Roman" panose="02020603050405020304" pitchFamily="18" charset="0"/>
                <a:cs typeface="Times New Roman" panose="02020603050405020304" pitchFamily="18" charset="0"/>
              </a:rPr>
              <a:t>minimi</a:t>
            </a:r>
            <a:r>
              <a:rPr lang="en-US" sz="2400" b="0" i="0" dirty="0" smtClean="0">
                <a:solidFill>
                  <a:srgbClr val="000000"/>
                </a:solidFill>
                <a:effectLst/>
                <a:latin typeface="Times New Roman" panose="02020603050405020304" pitchFamily="18" charset="0"/>
                <a:cs typeface="Times New Roman" panose="02020603050405020304" pitchFamily="18" charset="0"/>
              </a:rPr>
              <a:t> is the most superficial of the </a:t>
            </a:r>
            <a:r>
              <a:rPr lang="en-US" sz="2400" b="0" i="0" dirty="0" err="1" smtClean="0">
                <a:solidFill>
                  <a:srgbClr val="000000"/>
                </a:solidFill>
                <a:effectLst/>
                <a:latin typeface="Times New Roman" panose="02020603050405020304" pitchFamily="18" charset="0"/>
                <a:cs typeface="Times New Roman" panose="02020603050405020304" pitchFamily="18" charset="0"/>
              </a:rPr>
              <a:t>hypothenar</a:t>
            </a:r>
            <a:r>
              <a:rPr lang="en-US" sz="2400" b="0" i="0" dirty="0" smtClean="0">
                <a:solidFill>
                  <a:srgbClr val="000000"/>
                </a:solidFill>
                <a:effectLst/>
                <a:latin typeface="Times New Roman" panose="02020603050405020304" pitchFamily="18" charset="0"/>
                <a:cs typeface="Times New Roman" panose="02020603050405020304" pitchFamily="18" charset="0"/>
              </a:rPr>
              <a:t> muscle group.</a:t>
            </a:r>
          </a:p>
          <a:p>
            <a:pPr>
              <a:buFont typeface="Arial" panose="020B0604020202020204" pitchFamily="34" charset="0"/>
              <a:buChar char="•"/>
            </a:pPr>
            <a:r>
              <a:rPr lang="en-US" sz="2400" b="1" i="0" dirty="0" smtClean="0">
                <a:solidFill>
                  <a:srgbClr val="000000"/>
                </a:solidFill>
                <a:effectLst/>
                <a:latin typeface="Times New Roman" panose="02020603050405020304" pitchFamily="18" charset="0"/>
                <a:cs typeface="Times New Roman" panose="02020603050405020304" pitchFamily="18" charset="0"/>
              </a:rPr>
              <a:t>Attachments</a:t>
            </a:r>
            <a:r>
              <a:rPr lang="en-US" sz="2400" b="0" i="0" dirty="0" smtClean="0">
                <a:solidFill>
                  <a:srgbClr val="000000"/>
                </a:solidFill>
                <a:effectLst/>
                <a:latin typeface="Times New Roman" panose="02020603050405020304" pitchFamily="18" charset="0"/>
                <a:cs typeface="Times New Roman" panose="02020603050405020304" pitchFamily="18" charset="0"/>
              </a:rPr>
              <a:t>: Originates from the pisiform and the tendon of the flexor carpi </a:t>
            </a:r>
            <a:r>
              <a:rPr lang="en-US" sz="2400" b="0" i="0" dirty="0" err="1" smtClean="0">
                <a:solidFill>
                  <a:srgbClr val="000000"/>
                </a:solidFill>
                <a:effectLst/>
                <a:latin typeface="Times New Roman" panose="02020603050405020304" pitchFamily="18" charset="0"/>
                <a:cs typeface="Times New Roman" panose="02020603050405020304" pitchFamily="18" charset="0"/>
              </a:rPr>
              <a:t>ulnaris</a:t>
            </a:r>
            <a:r>
              <a:rPr lang="en-US" sz="2400" b="0" i="0" dirty="0" smtClean="0">
                <a:solidFill>
                  <a:srgbClr val="000000"/>
                </a:solidFill>
                <a:effectLst/>
                <a:latin typeface="Times New Roman" panose="02020603050405020304" pitchFamily="18" charset="0"/>
                <a:cs typeface="Times New Roman" panose="02020603050405020304" pitchFamily="18" charset="0"/>
              </a:rPr>
              <a:t>. It attaches to the base of the proximal phalanx of the little finger.</a:t>
            </a:r>
          </a:p>
          <a:p>
            <a:pPr>
              <a:buFont typeface="Arial" panose="020B0604020202020204" pitchFamily="34" charset="0"/>
              <a:buChar char="•"/>
            </a:pPr>
            <a:r>
              <a:rPr lang="en-US" sz="2400" b="1" i="0" dirty="0" smtClean="0">
                <a:solidFill>
                  <a:srgbClr val="000000"/>
                </a:solidFill>
                <a:effectLst/>
                <a:latin typeface="Times New Roman" panose="02020603050405020304" pitchFamily="18" charset="0"/>
                <a:cs typeface="Times New Roman" panose="02020603050405020304" pitchFamily="18" charset="0"/>
              </a:rPr>
              <a:t>Actions</a:t>
            </a:r>
            <a:r>
              <a:rPr lang="en-US" sz="2400" b="0" i="0" dirty="0" smtClean="0">
                <a:solidFill>
                  <a:srgbClr val="000000"/>
                </a:solidFill>
                <a:effectLst/>
                <a:latin typeface="Times New Roman" panose="02020603050405020304" pitchFamily="18" charset="0"/>
                <a:cs typeface="Times New Roman" panose="02020603050405020304" pitchFamily="18" charset="0"/>
              </a:rPr>
              <a:t>: Abducts the little finger.</a:t>
            </a:r>
          </a:p>
          <a:p>
            <a:pPr>
              <a:buFont typeface="Arial" panose="020B0604020202020204" pitchFamily="34" charset="0"/>
              <a:buChar char="•"/>
            </a:pPr>
            <a:r>
              <a:rPr lang="en-US" sz="2400" b="1" i="0" dirty="0" smtClean="0">
                <a:solidFill>
                  <a:srgbClr val="000000"/>
                </a:solidFill>
                <a:effectLst/>
                <a:latin typeface="Times New Roman" panose="02020603050405020304" pitchFamily="18" charset="0"/>
                <a:cs typeface="Times New Roman" panose="02020603050405020304" pitchFamily="18" charset="0"/>
              </a:rPr>
              <a:t>Innervation</a:t>
            </a:r>
            <a:r>
              <a:rPr lang="en-US" sz="2400" b="0" i="0" dirty="0" smtClean="0">
                <a:solidFill>
                  <a:srgbClr val="000000"/>
                </a:solidFill>
                <a:effectLst/>
                <a:latin typeface="Times New Roman" panose="02020603050405020304" pitchFamily="18" charset="0"/>
                <a:cs typeface="Times New Roman" panose="02020603050405020304" pitchFamily="18" charset="0"/>
              </a:rPr>
              <a:t>: </a:t>
            </a:r>
            <a:r>
              <a:rPr lang="en-US" sz="2400" b="0" i="0" u="none" strike="noStrike" dirty="0" smtClean="0">
                <a:solidFill>
                  <a:srgbClr val="008178"/>
                </a:solidFill>
                <a:effectLst/>
                <a:latin typeface="Times New Roman" panose="02020603050405020304" pitchFamily="18" charset="0"/>
                <a:cs typeface="Times New Roman" panose="02020603050405020304" pitchFamily="18" charset="0"/>
                <a:hlinkClick r:id="rId2"/>
              </a:rPr>
              <a:t>Ulnar nerve</a:t>
            </a:r>
            <a:r>
              <a:rPr lang="en-US" sz="2400" b="0" i="0" dirty="0" smtClean="0">
                <a:solidFill>
                  <a:srgbClr val="000000"/>
                </a:solidFill>
                <a:effectLst/>
                <a:latin typeface="Times New Roman" panose="02020603050405020304" pitchFamily="18" charset="0"/>
                <a:cs typeface="Times New Roman" panose="02020603050405020304" pitchFamily="18" charset="0"/>
              </a:rPr>
              <a:t>.</a:t>
            </a:r>
          </a:p>
          <a:p>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r>
              <a:rPr lang="en-US" sz="2400" b="1" i="0" u="sng" dirty="0" smtClean="0">
                <a:solidFill>
                  <a:srgbClr val="000000"/>
                </a:solidFill>
                <a:effectLst/>
                <a:latin typeface="Times New Roman" panose="02020603050405020304" pitchFamily="18" charset="0"/>
                <a:cs typeface="Times New Roman" panose="02020603050405020304" pitchFamily="18" charset="0"/>
              </a:rPr>
              <a:t>Flexor </a:t>
            </a:r>
            <a:r>
              <a:rPr lang="en-US" sz="2400" b="1" i="0" u="sng" dirty="0" err="1" smtClean="0">
                <a:solidFill>
                  <a:srgbClr val="000000"/>
                </a:solidFill>
                <a:effectLst/>
                <a:latin typeface="Times New Roman" panose="02020603050405020304" pitchFamily="18" charset="0"/>
                <a:cs typeface="Times New Roman" panose="02020603050405020304" pitchFamily="18" charset="0"/>
              </a:rPr>
              <a:t>Digiti</a:t>
            </a:r>
            <a:r>
              <a:rPr lang="en-US" sz="2400" b="1" i="0" u="sng" dirty="0" smtClean="0">
                <a:solidFill>
                  <a:srgbClr val="000000"/>
                </a:solidFill>
                <a:effectLst/>
                <a:latin typeface="Times New Roman" panose="02020603050405020304" pitchFamily="18" charset="0"/>
                <a:cs typeface="Times New Roman" panose="02020603050405020304" pitchFamily="18" charset="0"/>
              </a:rPr>
              <a:t> </a:t>
            </a:r>
            <a:r>
              <a:rPr lang="en-US" sz="2400" b="1" i="0" u="sng" dirty="0" err="1" smtClean="0">
                <a:solidFill>
                  <a:srgbClr val="000000"/>
                </a:solidFill>
                <a:effectLst/>
                <a:latin typeface="Times New Roman" panose="02020603050405020304" pitchFamily="18" charset="0"/>
                <a:cs typeface="Times New Roman" panose="02020603050405020304" pitchFamily="18" charset="0"/>
              </a:rPr>
              <a:t>Minimi</a:t>
            </a:r>
            <a:r>
              <a:rPr lang="en-US" sz="2400" b="1" i="0" u="sng" dirty="0" smtClean="0">
                <a:solidFill>
                  <a:srgbClr val="000000"/>
                </a:solidFill>
                <a:effectLst/>
                <a:latin typeface="Times New Roman" panose="02020603050405020304" pitchFamily="18" charset="0"/>
                <a:cs typeface="Times New Roman" panose="02020603050405020304" pitchFamily="18" charset="0"/>
              </a:rPr>
              <a:t> </a:t>
            </a:r>
            <a:r>
              <a:rPr lang="en-US" sz="2400" b="1" i="0" u="sng" dirty="0" err="1" smtClean="0">
                <a:solidFill>
                  <a:srgbClr val="000000"/>
                </a:solidFill>
                <a:effectLst/>
                <a:latin typeface="Times New Roman" panose="02020603050405020304" pitchFamily="18" charset="0"/>
                <a:cs typeface="Times New Roman" panose="02020603050405020304" pitchFamily="18" charset="0"/>
              </a:rPr>
              <a:t>Brevis</a:t>
            </a: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r>
              <a:rPr lang="en-US" sz="2400" b="0" i="0" dirty="0" smtClean="0">
                <a:solidFill>
                  <a:srgbClr val="000000"/>
                </a:solidFill>
                <a:effectLst/>
                <a:latin typeface="Times New Roman" panose="02020603050405020304" pitchFamily="18" charset="0"/>
                <a:cs typeface="Times New Roman" panose="02020603050405020304" pitchFamily="18" charset="0"/>
              </a:rPr>
              <a:t>The flexor </a:t>
            </a:r>
            <a:r>
              <a:rPr lang="en-US" sz="2400" b="0" i="0" dirty="0" err="1" smtClean="0">
                <a:solidFill>
                  <a:srgbClr val="000000"/>
                </a:solidFill>
                <a:effectLst/>
                <a:latin typeface="Times New Roman" panose="02020603050405020304" pitchFamily="18" charset="0"/>
                <a:cs typeface="Times New Roman" panose="02020603050405020304" pitchFamily="18" charset="0"/>
              </a:rPr>
              <a:t>digiti</a:t>
            </a:r>
            <a:r>
              <a:rPr lang="en-US" sz="2400" b="0" i="0" dirty="0" smtClean="0">
                <a:solidFill>
                  <a:srgbClr val="000000"/>
                </a:solidFill>
                <a:effectLst/>
                <a:latin typeface="Times New Roman" panose="02020603050405020304" pitchFamily="18" charset="0"/>
                <a:cs typeface="Times New Roman" panose="02020603050405020304" pitchFamily="18" charset="0"/>
              </a:rPr>
              <a:t> </a:t>
            </a:r>
            <a:r>
              <a:rPr lang="en-US" sz="2400" b="0" i="0" dirty="0" err="1" smtClean="0">
                <a:solidFill>
                  <a:srgbClr val="000000"/>
                </a:solidFill>
                <a:effectLst/>
                <a:latin typeface="Times New Roman" panose="02020603050405020304" pitchFamily="18" charset="0"/>
                <a:cs typeface="Times New Roman" panose="02020603050405020304" pitchFamily="18" charset="0"/>
              </a:rPr>
              <a:t>minimi</a:t>
            </a:r>
            <a:r>
              <a:rPr lang="en-US" sz="2400" b="0" i="0" dirty="0" smtClean="0">
                <a:solidFill>
                  <a:srgbClr val="000000"/>
                </a:solidFill>
                <a:effectLst/>
                <a:latin typeface="Times New Roman" panose="02020603050405020304" pitchFamily="18" charset="0"/>
                <a:cs typeface="Times New Roman" panose="02020603050405020304" pitchFamily="18" charset="0"/>
              </a:rPr>
              <a:t> </a:t>
            </a:r>
            <a:r>
              <a:rPr lang="en-US" sz="2400" b="0" i="0" dirty="0" err="1" smtClean="0">
                <a:solidFill>
                  <a:srgbClr val="000000"/>
                </a:solidFill>
                <a:effectLst/>
                <a:latin typeface="Times New Roman" panose="02020603050405020304" pitchFamily="18" charset="0"/>
                <a:cs typeface="Times New Roman" panose="02020603050405020304" pitchFamily="18" charset="0"/>
              </a:rPr>
              <a:t>brevis</a:t>
            </a:r>
            <a:r>
              <a:rPr lang="en-US" sz="2400" b="0" i="0" dirty="0" smtClean="0">
                <a:solidFill>
                  <a:srgbClr val="000000"/>
                </a:solidFill>
                <a:effectLst/>
                <a:latin typeface="Times New Roman" panose="02020603050405020304" pitchFamily="18" charset="0"/>
                <a:cs typeface="Times New Roman" panose="02020603050405020304" pitchFamily="18" charset="0"/>
              </a:rPr>
              <a:t> lies laterally to the abductor </a:t>
            </a:r>
            <a:r>
              <a:rPr lang="en-US" sz="2400" b="0" i="0" dirty="0" err="1" smtClean="0">
                <a:solidFill>
                  <a:srgbClr val="000000"/>
                </a:solidFill>
                <a:effectLst/>
                <a:latin typeface="Times New Roman" panose="02020603050405020304" pitchFamily="18" charset="0"/>
                <a:cs typeface="Times New Roman" panose="02020603050405020304" pitchFamily="18" charset="0"/>
              </a:rPr>
              <a:t>digiti</a:t>
            </a:r>
            <a:r>
              <a:rPr lang="en-US" sz="2400" b="0" i="0" dirty="0" smtClean="0">
                <a:solidFill>
                  <a:srgbClr val="000000"/>
                </a:solidFill>
                <a:effectLst/>
                <a:latin typeface="Times New Roman" panose="02020603050405020304" pitchFamily="18" charset="0"/>
                <a:cs typeface="Times New Roman" panose="02020603050405020304" pitchFamily="18" charset="0"/>
              </a:rPr>
              <a:t> </a:t>
            </a:r>
            <a:r>
              <a:rPr lang="en-US" sz="2400" b="0" i="0" dirty="0" err="1" smtClean="0">
                <a:solidFill>
                  <a:srgbClr val="000000"/>
                </a:solidFill>
                <a:effectLst/>
                <a:latin typeface="Times New Roman" panose="02020603050405020304" pitchFamily="18" charset="0"/>
                <a:cs typeface="Times New Roman" panose="02020603050405020304" pitchFamily="18" charset="0"/>
              </a:rPr>
              <a:t>minimi</a:t>
            </a:r>
            <a:r>
              <a:rPr lang="en-US" sz="2400" b="0" i="0" dirty="0" smtClean="0">
                <a:solidFill>
                  <a:srgbClr val="000000"/>
                </a:solidFill>
                <a:effectLst/>
                <a:latin typeface="Times New Roman" panose="02020603050405020304" pitchFamily="18" charset="0"/>
                <a:cs typeface="Times New Roman" panose="02020603050405020304" pitchFamily="18" charset="0"/>
              </a:rPr>
              <a:t> in the hand.</a:t>
            </a:r>
          </a:p>
          <a:p>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i="0" dirty="0" smtClean="0">
                <a:solidFill>
                  <a:srgbClr val="000000"/>
                </a:solidFill>
                <a:effectLst/>
                <a:latin typeface="Times New Roman" panose="02020603050405020304" pitchFamily="18" charset="0"/>
                <a:cs typeface="Times New Roman" panose="02020603050405020304" pitchFamily="18" charset="0"/>
              </a:rPr>
              <a:t>Attachments</a:t>
            </a:r>
            <a:r>
              <a:rPr lang="en-US" sz="2400" b="0" i="0" dirty="0" smtClean="0">
                <a:solidFill>
                  <a:srgbClr val="000000"/>
                </a:solidFill>
                <a:effectLst/>
                <a:latin typeface="Times New Roman" panose="02020603050405020304" pitchFamily="18" charset="0"/>
                <a:cs typeface="Times New Roman" panose="02020603050405020304" pitchFamily="18" charset="0"/>
              </a:rPr>
              <a:t>: Originates from the hook of hamate and adjacent flexor retinaculum, and inserts into the base of the proximal phalanx of the little finger.</a:t>
            </a:r>
          </a:p>
          <a:p>
            <a:pPr>
              <a:buFont typeface="Arial" panose="020B0604020202020204" pitchFamily="34" charset="0"/>
              <a:buChar char="•"/>
            </a:pP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i="0" dirty="0" smtClean="0">
                <a:solidFill>
                  <a:srgbClr val="000000"/>
                </a:solidFill>
                <a:effectLst/>
                <a:latin typeface="Times New Roman" panose="02020603050405020304" pitchFamily="18" charset="0"/>
                <a:cs typeface="Times New Roman" panose="02020603050405020304" pitchFamily="18" charset="0"/>
              </a:rPr>
              <a:t>Actions</a:t>
            </a:r>
            <a:r>
              <a:rPr lang="en-US" sz="2400" b="0" i="0" dirty="0" smtClean="0">
                <a:solidFill>
                  <a:srgbClr val="000000"/>
                </a:solidFill>
                <a:effectLst/>
                <a:latin typeface="Times New Roman" panose="02020603050405020304" pitchFamily="18" charset="0"/>
                <a:cs typeface="Times New Roman" panose="02020603050405020304" pitchFamily="18" charset="0"/>
              </a:rPr>
              <a:t>: Flexes the </a:t>
            </a:r>
            <a:r>
              <a:rPr lang="en-US" sz="2400" b="0" i="0" dirty="0" err="1" smtClean="0">
                <a:solidFill>
                  <a:srgbClr val="000000"/>
                </a:solidFill>
                <a:effectLst/>
                <a:latin typeface="Times New Roman" panose="02020603050405020304" pitchFamily="18" charset="0"/>
                <a:cs typeface="Times New Roman" panose="02020603050405020304" pitchFamily="18" charset="0"/>
              </a:rPr>
              <a:t>metacarpophalangeal</a:t>
            </a:r>
            <a:r>
              <a:rPr lang="en-US" sz="2400" b="0" i="0" dirty="0" smtClean="0">
                <a:solidFill>
                  <a:srgbClr val="000000"/>
                </a:solidFill>
                <a:effectLst/>
                <a:latin typeface="Times New Roman" panose="02020603050405020304" pitchFamily="18" charset="0"/>
                <a:cs typeface="Times New Roman" panose="02020603050405020304" pitchFamily="18" charset="0"/>
              </a:rPr>
              <a:t> joint of the little finger.</a:t>
            </a:r>
          </a:p>
          <a:p>
            <a:pPr>
              <a:buFont typeface="Arial" panose="020B0604020202020204" pitchFamily="34" charset="0"/>
              <a:buChar char="•"/>
            </a:pPr>
            <a:r>
              <a:rPr lang="en-US" sz="2400" b="1" i="0" dirty="0" smtClean="0">
                <a:solidFill>
                  <a:srgbClr val="000000"/>
                </a:solidFill>
                <a:effectLst/>
                <a:latin typeface="Times New Roman" panose="02020603050405020304" pitchFamily="18" charset="0"/>
                <a:cs typeface="Times New Roman" panose="02020603050405020304" pitchFamily="18" charset="0"/>
              </a:rPr>
              <a:t>Innervation</a:t>
            </a:r>
            <a:r>
              <a:rPr lang="en-US" sz="2400" b="0" i="0" dirty="0" smtClean="0">
                <a:solidFill>
                  <a:srgbClr val="000000"/>
                </a:solidFill>
                <a:effectLst/>
                <a:latin typeface="Times New Roman" panose="02020603050405020304" pitchFamily="18" charset="0"/>
                <a:cs typeface="Times New Roman" panose="02020603050405020304" pitchFamily="18" charset="0"/>
              </a:rPr>
              <a:t>: </a:t>
            </a:r>
            <a:r>
              <a:rPr lang="en-US" sz="2400" b="0" i="0" u="none" strike="noStrike" dirty="0" smtClean="0">
                <a:solidFill>
                  <a:srgbClr val="008178"/>
                </a:solidFill>
                <a:effectLst/>
                <a:latin typeface="Times New Roman" panose="02020603050405020304" pitchFamily="18" charset="0"/>
                <a:cs typeface="Times New Roman" panose="02020603050405020304" pitchFamily="18" charset="0"/>
                <a:hlinkClick r:id="rId2"/>
              </a:rPr>
              <a:t>Ulnar nerve</a:t>
            </a:r>
            <a:r>
              <a:rPr lang="en-US" sz="2400" b="0" i="0" dirty="0" smtClean="0">
                <a:solidFill>
                  <a:srgbClr val="000000"/>
                </a:solidFill>
                <a:effectLst/>
                <a:latin typeface="Times New Roman" panose="02020603050405020304" pitchFamily="18" charset="0"/>
                <a:cs typeface="Times New Roman" panose="02020603050405020304" pitchFamily="18" charset="0"/>
              </a:rPr>
              <a:t>.</a:t>
            </a: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81591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19200" y="538162"/>
            <a:ext cx="9753600" cy="5781675"/>
          </a:xfrm>
          <a:prstGeom prst="rect">
            <a:avLst/>
          </a:prstGeom>
        </p:spPr>
      </p:pic>
      <p:sp>
        <p:nvSpPr>
          <p:cNvPr id="3" name="Rectangle 2"/>
          <p:cNvSpPr/>
          <p:nvPr/>
        </p:nvSpPr>
        <p:spPr>
          <a:xfrm>
            <a:off x="1523594" y="6488668"/>
            <a:ext cx="5737468" cy="369332"/>
          </a:xfrm>
          <a:prstGeom prst="rect">
            <a:avLst/>
          </a:prstGeom>
        </p:spPr>
        <p:txBody>
          <a:bodyPr wrap="none">
            <a:spAutoFit/>
          </a:bodyPr>
          <a:lstStyle/>
          <a:p>
            <a:r>
              <a:rPr lang="en-US" b="0" i="0" dirty="0" smtClean="0">
                <a:solidFill>
                  <a:srgbClr val="000000"/>
                </a:solidFill>
                <a:effectLst/>
                <a:latin typeface="acumin-pro"/>
              </a:rPr>
              <a:t>Superficial and deep layers of the </a:t>
            </a:r>
            <a:r>
              <a:rPr lang="en-US" b="0" i="0" dirty="0" err="1" smtClean="0">
                <a:solidFill>
                  <a:srgbClr val="000000"/>
                </a:solidFill>
                <a:effectLst/>
                <a:latin typeface="acumin-pro"/>
              </a:rPr>
              <a:t>hypothenar</a:t>
            </a:r>
            <a:r>
              <a:rPr lang="en-US" b="0" i="0" dirty="0" smtClean="0">
                <a:solidFill>
                  <a:srgbClr val="000000"/>
                </a:solidFill>
                <a:effectLst/>
                <a:latin typeface="acumin-pro"/>
              </a:rPr>
              <a:t> muscles</a:t>
            </a:r>
            <a:endParaRPr lang="en-US" dirty="0"/>
          </a:p>
        </p:txBody>
      </p:sp>
    </p:spTree>
    <p:extLst>
      <p:ext uri="{BB962C8B-B14F-4D97-AF65-F5344CB8AC3E}">
        <p14:creationId xmlns:p14="http://schemas.microsoft.com/office/powerpoint/2010/main" val="24894995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001" y="0"/>
            <a:ext cx="12050828" cy="5693866"/>
          </a:xfrm>
          <a:prstGeom prst="rect">
            <a:avLst/>
          </a:prstGeom>
        </p:spPr>
        <p:txBody>
          <a:bodyPr wrap="square">
            <a:spAutoFit/>
          </a:bodyPr>
          <a:lstStyle/>
          <a:p>
            <a:r>
              <a:rPr lang="en-US" sz="2800" b="1" i="0" dirty="0" err="1" smtClean="0">
                <a:solidFill>
                  <a:srgbClr val="C00000"/>
                </a:solidFill>
                <a:effectLst/>
                <a:latin typeface="Times New Roman" panose="02020603050405020304" pitchFamily="18" charset="0"/>
                <a:cs typeface="Times New Roman" panose="02020603050405020304" pitchFamily="18" charset="0"/>
              </a:rPr>
              <a:t>Lumbricals</a:t>
            </a:r>
            <a:endParaRPr lang="en-US" sz="2800" b="1" i="0" dirty="0" smtClean="0">
              <a:solidFill>
                <a:srgbClr val="C00000"/>
              </a:solidFill>
              <a:effectLst/>
              <a:latin typeface="Times New Roman" panose="02020603050405020304" pitchFamily="18" charset="0"/>
              <a:cs typeface="Times New Roman" panose="02020603050405020304" pitchFamily="18" charset="0"/>
            </a:endParaRPr>
          </a:p>
          <a:p>
            <a:r>
              <a:rPr lang="en-US" sz="2800" b="0" i="0" dirty="0" smtClean="0">
                <a:solidFill>
                  <a:srgbClr val="000000"/>
                </a:solidFill>
                <a:effectLst/>
                <a:latin typeface="Times New Roman" panose="02020603050405020304" pitchFamily="18" charset="0"/>
                <a:cs typeface="Times New Roman" panose="02020603050405020304" pitchFamily="18" charset="0"/>
              </a:rPr>
              <a:t>There are four </a:t>
            </a:r>
            <a:r>
              <a:rPr lang="en-US" sz="2800" b="0" i="0" dirty="0" err="1" smtClean="0">
                <a:solidFill>
                  <a:srgbClr val="000000"/>
                </a:solidFill>
                <a:effectLst/>
                <a:latin typeface="Times New Roman" panose="02020603050405020304" pitchFamily="18" charset="0"/>
                <a:cs typeface="Times New Roman" panose="02020603050405020304" pitchFamily="18" charset="0"/>
              </a:rPr>
              <a:t>lumbricals</a:t>
            </a:r>
            <a:r>
              <a:rPr lang="en-US" sz="2800" b="0" i="0" dirty="0" smtClean="0">
                <a:solidFill>
                  <a:srgbClr val="000000"/>
                </a:solidFill>
                <a:effectLst/>
                <a:latin typeface="Times New Roman" panose="02020603050405020304" pitchFamily="18" charset="0"/>
                <a:cs typeface="Times New Roman" panose="02020603050405020304" pitchFamily="18" charset="0"/>
              </a:rPr>
              <a:t> in the hand, each associated with a finger. They are very crucial to finger movement, linking the extensor tendons to the flexor tendons.</a:t>
            </a:r>
          </a:p>
          <a:p>
            <a:r>
              <a:rPr lang="en-US" sz="2800" b="0" i="0" dirty="0" smtClean="0">
                <a:solidFill>
                  <a:srgbClr val="000000"/>
                </a:solidFill>
                <a:effectLst/>
                <a:latin typeface="Times New Roman" panose="02020603050405020304" pitchFamily="18" charset="0"/>
                <a:cs typeface="Times New Roman" panose="02020603050405020304" pitchFamily="18" charset="0"/>
              </a:rPr>
              <a:t>Denervation of these muscles is the basis for the ulnar claw and hand of benediction.</a:t>
            </a:r>
          </a:p>
          <a:p>
            <a:pPr>
              <a:buFont typeface="Arial" panose="020B0604020202020204" pitchFamily="34" charset="0"/>
              <a:buChar char="•"/>
            </a:pPr>
            <a:r>
              <a:rPr lang="en-US" sz="2800" b="1" i="0" dirty="0" smtClean="0">
                <a:solidFill>
                  <a:srgbClr val="000000"/>
                </a:solidFill>
                <a:effectLst/>
                <a:latin typeface="Times New Roman" panose="02020603050405020304" pitchFamily="18" charset="0"/>
                <a:cs typeface="Times New Roman" panose="02020603050405020304" pitchFamily="18" charset="0"/>
              </a:rPr>
              <a:t>Attachments</a:t>
            </a:r>
            <a:r>
              <a:rPr lang="en-US" sz="2800" b="0" i="0" dirty="0" smtClean="0">
                <a:solidFill>
                  <a:srgbClr val="000000"/>
                </a:solidFill>
                <a:effectLst/>
                <a:latin typeface="Times New Roman" panose="02020603050405020304" pitchFamily="18" charset="0"/>
                <a:cs typeface="Times New Roman" panose="02020603050405020304" pitchFamily="18" charset="0"/>
              </a:rPr>
              <a:t>: Each </a:t>
            </a:r>
            <a:r>
              <a:rPr lang="en-US" sz="2800" b="0" i="0" dirty="0" err="1" smtClean="0">
                <a:solidFill>
                  <a:srgbClr val="000000"/>
                </a:solidFill>
                <a:effectLst/>
                <a:latin typeface="Times New Roman" panose="02020603050405020304" pitchFamily="18" charset="0"/>
                <a:cs typeface="Times New Roman" panose="02020603050405020304" pitchFamily="18" charset="0"/>
              </a:rPr>
              <a:t>lumbrical</a:t>
            </a:r>
            <a:r>
              <a:rPr lang="en-US" sz="2800" b="0" i="0" dirty="0" smtClean="0">
                <a:solidFill>
                  <a:srgbClr val="000000"/>
                </a:solidFill>
                <a:effectLst/>
                <a:latin typeface="Times New Roman" panose="02020603050405020304" pitchFamily="18" charset="0"/>
                <a:cs typeface="Times New Roman" panose="02020603050405020304" pitchFamily="18" charset="0"/>
              </a:rPr>
              <a:t> originates from a tendon of the flexor </a:t>
            </a:r>
            <a:r>
              <a:rPr lang="en-US" sz="2800" b="0" i="0" dirty="0" err="1" smtClean="0">
                <a:solidFill>
                  <a:srgbClr val="000000"/>
                </a:solidFill>
                <a:effectLst/>
                <a:latin typeface="Times New Roman" panose="02020603050405020304" pitchFamily="18" charset="0"/>
                <a:cs typeface="Times New Roman" panose="02020603050405020304" pitchFamily="18" charset="0"/>
              </a:rPr>
              <a:t>digitorum</a:t>
            </a:r>
            <a:r>
              <a:rPr lang="en-US" sz="2800" b="0" i="0" dirty="0" smtClean="0">
                <a:solidFill>
                  <a:srgbClr val="000000"/>
                </a:solidFill>
                <a:effectLst/>
                <a:latin typeface="Times New Roman" panose="02020603050405020304" pitchFamily="18" charset="0"/>
                <a:cs typeface="Times New Roman" panose="02020603050405020304" pitchFamily="18" charset="0"/>
              </a:rPr>
              <a:t> </a:t>
            </a:r>
            <a:r>
              <a:rPr lang="en-US" sz="2800" b="0" i="0" dirty="0" err="1" smtClean="0">
                <a:solidFill>
                  <a:srgbClr val="000000"/>
                </a:solidFill>
                <a:effectLst/>
                <a:latin typeface="Times New Roman" panose="02020603050405020304" pitchFamily="18" charset="0"/>
                <a:cs typeface="Times New Roman" panose="02020603050405020304" pitchFamily="18" charset="0"/>
              </a:rPr>
              <a:t>profundus</a:t>
            </a:r>
            <a:r>
              <a:rPr lang="en-US" sz="2800" b="0" i="0" dirty="0" smtClean="0">
                <a:solidFill>
                  <a:srgbClr val="000000"/>
                </a:solidFill>
                <a:effectLst/>
                <a:latin typeface="Times New Roman" panose="02020603050405020304" pitchFamily="18" charset="0"/>
                <a:cs typeface="Times New Roman" panose="02020603050405020304" pitchFamily="18" charset="0"/>
              </a:rPr>
              <a:t>. They pass dorsally and laterally around each finger, and inserts into the extensor hood.</a:t>
            </a:r>
          </a:p>
          <a:p>
            <a:pPr>
              <a:buFont typeface="Arial" panose="020B0604020202020204" pitchFamily="34" charset="0"/>
              <a:buChar char="•"/>
            </a:pPr>
            <a:r>
              <a:rPr lang="en-US" sz="2800" b="1" i="0" dirty="0" smtClean="0">
                <a:solidFill>
                  <a:srgbClr val="000000"/>
                </a:solidFill>
                <a:effectLst/>
                <a:latin typeface="Times New Roman" panose="02020603050405020304" pitchFamily="18" charset="0"/>
                <a:cs typeface="Times New Roman" panose="02020603050405020304" pitchFamily="18" charset="0"/>
              </a:rPr>
              <a:t>Actions</a:t>
            </a:r>
            <a:r>
              <a:rPr lang="en-US" sz="2800" b="0" i="0" dirty="0" smtClean="0">
                <a:solidFill>
                  <a:srgbClr val="000000"/>
                </a:solidFill>
                <a:effectLst/>
                <a:latin typeface="Times New Roman" panose="02020603050405020304" pitchFamily="18" charset="0"/>
                <a:cs typeface="Times New Roman" panose="02020603050405020304" pitchFamily="18" charset="0"/>
              </a:rPr>
              <a:t>: Flexion at the MCP joint and extension at the </a:t>
            </a:r>
            <a:r>
              <a:rPr lang="en-US" sz="2800" b="0" i="0" dirty="0" err="1" smtClean="0">
                <a:solidFill>
                  <a:srgbClr val="000000"/>
                </a:solidFill>
                <a:effectLst/>
                <a:latin typeface="Times New Roman" panose="02020603050405020304" pitchFamily="18" charset="0"/>
                <a:cs typeface="Times New Roman" panose="02020603050405020304" pitchFamily="18" charset="0"/>
              </a:rPr>
              <a:t>interphalangeal</a:t>
            </a:r>
            <a:r>
              <a:rPr lang="en-US" sz="2800" b="0" i="0" dirty="0" smtClean="0">
                <a:solidFill>
                  <a:srgbClr val="000000"/>
                </a:solidFill>
                <a:effectLst/>
                <a:latin typeface="Times New Roman" panose="02020603050405020304" pitchFamily="18" charset="0"/>
                <a:cs typeface="Times New Roman" panose="02020603050405020304" pitchFamily="18" charset="0"/>
              </a:rPr>
              <a:t> (IP) joints of each digit.</a:t>
            </a:r>
          </a:p>
          <a:p>
            <a:pPr>
              <a:buFont typeface="Arial" panose="020B0604020202020204" pitchFamily="34" charset="0"/>
              <a:buChar char="•"/>
            </a:pPr>
            <a:r>
              <a:rPr lang="en-US" sz="2800" b="1" i="0" dirty="0" smtClean="0">
                <a:solidFill>
                  <a:srgbClr val="000000"/>
                </a:solidFill>
                <a:effectLst/>
                <a:latin typeface="Times New Roman" panose="02020603050405020304" pitchFamily="18" charset="0"/>
                <a:cs typeface="Times New Roman" panose="02020603050405020304" pitchFamily="18" charset="0"/>
              </a:rPr>
              <a:t>Innervation</a:t>
            </a:r>
            <a:r>
              <a:rPr lang="en-US" sz="2800" b="0" i="0" dirty="0" smtClean="0">
                <a:solidFill>
                  <a:srgbClr val="000000"/>
                </a:solidFill>
                <a:effectLst/>
                <a:latin typeface="Times New Roman" panose="02020603050405020304" pitchFamily="18" charset="0"/>
                <a:cs typeface="Times New Roman" panose="02020603050405020304" pitchFamily="18" charset="0"/>
              </a:rPr>
              <a:t>: The lateral two </a:t>
            </a:r>
            <a:r>
              <a:rPr lang="en-US" sz="2800" b="0" i="0" dirty="0" err="1" smtClean="0">
                <a:solidFill>
                  <a:srgbClr val="000000"/>
                </a:solidFill>
                <a:effectLst/>
                <a:latin typeface="Times New Roman" panose="02020603050405020304" pitchFamily="18" charset="0"/>
                <a:cs typeface="Times New Roman" panose="02020603050405020304" pitchFamily="18" charset="0"/>
              </a:rPr>
              <a:t>lumbricals</a:t>
            </a:r>
            <a:r>
              <a:rPr lang="en-US" sz="2800" b="0" i="0" dirty="0" smtClean="0">
                <a:solidFill>
                  <a:srgbClr val="000000"/>
                </a:solidFill>
                <a:effectLst/>
                <a:latin typeface="Times New Roman" panose="02020603050405020304" pitchFamily="18" charset="0"/>
                <a:cs typeface="Times New Roman" panose="02020603050405020304" pitchFamily="18" charset="0"/>
              </a:rPr>
              <a:t> (of the index and middle fingers) are innervated by the </a:t>
            </a:r>
            <a:r>
              <a:rPr lang="en-US" sz="2800" b="0" i="0" u="none" strike="noStrike" dirty="0" smtClean="0">
                <a:solidFill>
                  <a:srgbClr val="008178"/>
                </a:solidFill>
                <a:effectLst/>
                <a:latin typeface="Times New Roman" panose="02020603050405020304" pitchFamily="18" charset="0"/>
                <a:cs typeface="Times New Roman" panose="02020603050405020304" pitchFamily="18" charset="0"/>
                <a:hlinkClick r:id="rId2"/>
              </a:rPr>
              <a:t>median nerve</a:t>
            </a:r>
            <a:r>
              <a:rPr lang="en-US" sz="2800" b="0" i="0" dirty="0" smtClean="0">
                <a:solidFill>
                  <a:srgbClr val="000000"/>
                </a:solidFill>
                <a:effectLst/>
                <a:latin typeface="Times New Roman" panose="02020603050405020304" pitchFamily="18" charset="0"/>
                <a:cs typeface="Times New Roman" panose="02020603050405020304" pitchFamily="18" charset="0"/>
              </a:rPr>
              <a:t>. The medial two </a:t>
            </a:r>
            <a:r>
              <a:rPr lang="en-US" sz="2800" b="0" i="0" dirty="0" err="1" smtClean="0">
                <a:solidFill>
                  <a:srgbClr val="000000"/>
                </a:solidFill>
                <a:effectLst/>
                <a:latin typeface="Times New Roman" panose="02020603050405020304" pitchFamily="18" charset="0"/>
                <a:cs typeface="Times New Roman" panose="02020603050405020304" pitchFamily="18" charset="0"/>
              </a:rPr>
              <a:t>lumbricals</a:t>
            </a:r>
            <a:r>
              <a:rPr lang="en-US" sz="2800" b="0" i="0" dirty="0" smtClean="0">
                <a:solidFill>
                  <a:srgbClr val="000000"/>
                </a:solidFill>
                <a:effectLst/>
                <a:latin typeface="Times New Roman" panose="02020603050405020304" pitchFamily="18" charset="0"/>
                <a:cs typeface="Times New Roman" panose="02020603050405020304" pitchFamily="18" charset="0"/>
              </a:rPr>
              <a:t> (of the little and ring fingers) are innervated by the </a:t>
            </a:r>
            <a:r>
              <a:rPr lang="en-US" sz="2800" b="0" i="0" u="none" strike="noStrike" dirty="0" smtClean="0">
                <a:solidFill>
                  <a:srgbClr val="008178"/>
                </a:solidFill>
                <a:effectLst/>
                <a:latin typeface="Times New Roman" panose="02020603050405020304" pitchFamily="18" charset="0"/>
                <a:cs typeface="Times New Roman" panose="02020603050405020304" pitchFamily="18" charset="0"/>
                <a:hlinkClick r:id="rId3"/>
              </a:rPr>
              <a:t>ulnar nerve</a:t>
            </a:r>
            <a:r>
              <a:rPr lang="en-US" sz="2800" b="0" i="0" dirty="0" smtClean="0">
                <a:solidFill>
                  <a:srgbClr val="000000"/>
                </a:solidFill>
                <a:effectLst/>
                <a:latin typeface="Times New Roman" panose="02020603050405020304" pitchFamily="18" charset="0"/>
                <a:cs typeface="Times New Roman" panose="02020603050405020304" pitchFamily="18" charset="0"/>
              </a:rPr>
              <a:t>.</a:t>
            </a:r>
            <a:endParaRPr lang="en-US" sz="28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95899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04436" y="591854"/>
            <a:ext cx="5943600" cy="4095750"/>
          </a:xfrm>
          <a:prstGeom prst="rect">
            <a:avLst/>
          </a:prstGeom>
        </p:spPr>
      </p:pic>
      <p:sp>
        <p:nvSpPr>
          <p:cNvPr id="3" name="Rectangle 2"/>
          <p:cNvSpPr/>
          <p:nvPr/>
        </p:nvSpPr>
        <p:spPr>
          <a:xfrm>
            <a:off x="1527208" y="5656530"/>
            <a:ext cx="6096000" cy="830997"/>
          </a:xfrm>
          <a:prstGeom prst="rect">
            <a:avLst/>
          </a:prstGeom>
        </p:spPr>
        <p:txBody>
          <a:bodyPr>
            <a:spAutoFit/>
          </a:bodyPr>
          <a:lstStyle/>
          <a:p>
            <a:r>
              <a:rPr lang="en-US" sz="2400" b="0" i="0" dirty="0" smtClean="0">
                <a:solidFill>
                  <a:srgbClr val="000000"/>
                </a:solidFill>
                <a:effectLst/>
                <a:latin typeface="Times New Roman" panose="02020603050405020304" pitchFamily="18" charset="0"/>
                <a:cs typeface="Times New Roman" panose="02020603050405020304" pitchFamily="18" charset="0"/>
              </a:rPr>
              <a:t>The </a:t>
            </a:r>
            <a:r>
              <a:rPr lang="en-US" sz="2400" b="0" i="0" dirty="0" err="1" smtClean="0">
                <a:solidFill>
                  <a:srgbClr val="000000"/>
                </a:solidFill>
                <a:effectLst/>
                <a:latin typeface="Times New Roman" panose="02020603050405020304" pitchFamily="18" charset="0"/>
                <a:cs typeface="Times New Roman" panose="02020603050405020304" pitchFamily="18" charset="0"/>
              </a:rPr>
              <a:t>lumbricals</a:t>
            </a:r>
            <a:r>
              <a:rPr lang="en-US" sz="2400" b="0" i="0" dirty="0" smtClean="0">
                <a:solidFill>
                  <a:srgbClr val="000000"/>
                </a:solidFill>
                <a:effectLst/>
                <a:latin typeface="Times New Roman" panose="02020603050405020304" pitchFamily="18" charset="0"/>
                <a:cs typeface="Times New Roman" panose="02020603050405020304" pitchFamily="18" charset="0"/>
              </a:rPr>
              <a:t> of the hand. Note the differing </a:t>
            </a:r>
            <a:r>
              <a:rPr lang="en-US" sz="2400" b="0" i="0" dirty="0" err="1" smtClean="0">
                <a:solidFill>
                  <a:srgbClr val="000000"/>
                </a:solidFill>
                <a:effectLst/>
                <a:latin typeface="Times New Roman" panose="02020603050405020304" pitchFamily="18" charset="0"/>
                <a:cs typeface="Times New Roman" panose="02020603050405020304" pitchFamily="18" charset="0"/>
              </a:rPr>
              <a:t>unipennate</a:t>
            </a:r>
            <a:r>
              <a:rPr lang="en-US" sz="2400" b="0" i="0" dirty="0" smtClean="0">
                <a:solidFill>
                  <a:srgbClr val="000000"/>
                </a:solidFill>
                <a:effectLst/>
                <a:latin typeface="Times New Roman" panose="02020603050405020304" pitchFamily="18" charset="0"/>
                <a:cs typeface="Times New Roman" panose="02020603050405020304" pitchFamily="18" charset="0"/>
              </a:rPr>
              <a:t> and </a:t>
            </a:r>
            <a:r>
              <a:rPr lang="en-US" sz="2400" b="0" i="0" dirty="0" err="1" smtClean="0">
                <a:solidFill>
                  <a:srgbClr val="000000"/>
                </a:solidFill>
                <a:effectLst/>
                <a:latin typeface="Times New Roman" panose="02020603050405020304" pitchFamily="18" charset="0"/>
                <a:cs typeface="Times New Roman" panose="02020603050405020304" pitchFamily="18" charset="0"/>
              </a:rPr>
              <a:t>bipennate</a:t>
            </a:r>
            <a:r>
              <a:rPr lang="en-US" sz="2400" b="0" i="0" dirty="0" smtClean="0">
                <a:solidFill>
                  <a:srgbClr val="000000"/>
                </a:solidFill>
                <a:effectLst/>
                <a:latin typeface="Times New Roman" panose="02020603050405020304" pitchFamily="18" charset="0"/>
                <a:cs typeface="Times New Roman" panose="02020603050405020304" pitchFamily="18" charset="0"/>
              </a:rPr>
              <a:t> structure.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4919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6627" y="0"/>
            <a:ext cx="11588817" cy="6370975"/>
          </a:xfrm>
          <a:prstGeom prst="rect">
            <a:avLst/>
          </a:prstGeom>
        </p:spPr>
        <p:txBody>
          <a:bodyPr wrap="square">
            <a:spAutoFit/>
          </a:bodyPr>
          <a:lstStyle/>
          <a:p>
            <a:r>
              <a:rPr lang="en-US" sz="2400" b="1" i="0" dirty="0" err="1" smtClean="0">
                <a:solidFill>
                  <a:srgbClr val="000000"/>
                </a:solidFill>
                <a:effectLst/>
                <a:latin typeface="Times New Roman" panose="02020603050405020304" pitchFamily="18" charset="0"/>
                <a:cs typeface="Times New Roman" panose="02020603050405020304" pitchFamily="18" charset="0"/>
              </a:rPr>
              <a:t>Interossei</a:t>
            </a:r>
            <a:endParaRPr lang="en-US" sz="2400" b="1" i="0" dirty="0" smtClean="0">
              <a:solidFill>
                <a:srgbClr val="000000"/>
              </a:solidFill>
              <a:effectLst/>
              <a:latin typeface="Times New Roman" panose="02020603050405020304" pitchFamily="18" charset="0"/>
              <a:cs typeface="Times New Roman" panose="02020603050405020304" pitchFamily="18" charset="0"/>
            </a:endParaRPr>
          </a:p>
          <a:p>
            <a:r>
              <a:rPr lang="en-US" sz="2400" b="0" i="0" dirty="0" smtClean="0">
                <a:solidFill>
                  <a:srgbClr val="000000"/>
                </a:solidFill>
                <a:effectLst/>
                <a:latin typeface="Times New Roman" panose="02020603050405020304" pitchFamily="18" charset="0"/>
                <a:cs typeface="Times New Roman" panose="02020603050405020304" pitchFamily="18" charset="0"/>
              </a:rPr>
              <a:t>The </a:t>
            </a:r>
            <a:r>
              <a:rPr lang="en-US" sz="2400" b="1" i="0" dirty="0" err="1" smtClean="0">
                <a:solidFill>
                  <a:srgbClr val="000000"/>
                </a:solidFill>
                <a:effectLst/>
                <a:latin typeface="Times New Roman" panose="02020603050405020304" pitchFamily="18" charset="0"/>
                <a:cs typeface="Times New Roman" panose="02020603050405020304" pitchFamily="18" charset="0"/>
              </a:rPr>
              <a:t>interossei</a:t>
            </a:r>
            <a:r>
              <a:rPr lang="en-US" sz="2400" b="0" i="0" dirty="0" smtClean="0">
                <a:solidFill>
                  <a:srgbClr val="000000"/>
                </a:solidFill>
                <a:effectLst/>
                <a:latin typeface="Times New Roman" panose="02020603050405020304" pitchFamily="18" charset="0"/>
                <a:cs typeface="Times New Roman" panose="02020603050405020304" pitchFamily="18" charset="0"/>
              </a:rPr>
              <a:t> muscles are located between the metacarpal bones of the hand. They can be divided into two groups – dorsal and palmar.</a:t>
            </a:r>
          </a:p>
          <a:p>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r>
              <a:rPr lang="en-US" sz="2400" b="0" i="0" dirty="0" smtClean="0">
                <a:solidFill>
                  <a:srgbClr val="000000"/>
                </a:solidFill>
                <a:effectLst/>
                <a:latin typeface="Times New Roman" panose="02020603050405020304" pitchFamily="18" charset="0"/>
                <a:cs typeface="Times New Roman" panose="02020603050405020304" pitchFamily="18" charset="0"/>
              </a:rPr>
              <a:t>In addition to their actions of abduction (dorsal </a:t>
            </a:r>
            <a:r>
              <a:rPr lang="en-US" sz="2400" b="0" i="0" dirty="0" err="1" smtClean="0">
                <a:solidFill>
                  <a:srgbClr val="000000"/>
                </a:solidFill>
                <a:effectLst/>
                <a:latin typeface="Times New Roman" panose="02020603050405020304" pitchFamily="18" charset="0"/>
                <a:cs typeface="Times New Roman" panose="02020603050405020304" pitchFamily="18" charset="0"/>
              </a:rPr>
              <a:t>interossei</a:t>
            </a:r>
            <a:r>
              <a:rPr lang="en-US" sz="2400" b="0" i="0" dirty="0" smtClean="0">
                <a:solidFill>
                  <a:srgbClr val="000000"/>
                </a:solidFill>
                <a:effectLst/>
                <a:latin typeface="Times New Roman" panose="02020603050405020304" pitchFamily="18" charset="0"/>
                <a:cs typeface="Times New Roman" panose="02020603050405020304" pitchFamily="18" charset="0"/>
              </a:rPr>
              <a:t>) and adduction (palmar </a:t>
            </a:r>
            <a:r>
              <a:rPr lang="en-US" sz="2400" b="0" i="0" dirty="0" err="1" smtClean="0">
                <a:solidFill>
                  <a:srgbClr val="000000"/>
                </a:solidFill>
                <a:effectLst/>
                <a:latin typeface="Times New Roman" panose="02020603050405020304" pitchFamily="18" charset="0"/>
                <a:cs typeface="Times New Roman" panose="02020603050405020304" pitchFamily="18" charset="0"/>
              </a:rPr>
              <a:t>interossei</a:t>
            </a:r>
            <a:r>
              <a:rPr lang="en-US" sz="2400" b="0" i="0" dirty="0" smtClean="0">
                <a:solidFill>
                  <a:srgbClr val="000000"/>
                </a:solidFill>
                <a:effectLst/>
                <a:latin typeface="Times New Roman" panose="02020603050405020304" pitchFamily="18" charset="0"/>
                <a:cs typeface="Times New Roman" panose="02020603050405020304" pitchFamily="18" charset="0"/>
              </a:rPr>
              <a:t>) of the fingers, the </a:t>
            </a:r>
            <a:r>
              <a:rPr lang="en-US" sz="2400" b="0" i="0" dirty="0" err="1" smtClean="0">
                <a:solidFill>
                  <a:srgbClr val="000000"/>
                </a:solidFill>
                <a:effectLst/>
                <a:latin typeface="Times New Roman" panose="02020603050405020304" pitchFamily="18" charset="0"/>
                <a:cs typeface="Times New Roman" panose="02020603050405020304" pitchFamily="18" charset="0"/>
              </a:rPr>
              <a:t>interossei</a:t>
            </a:r>
            <a:r>
              <a:rPr lang="en-US" sz="2400" b="0" i="0" dirty="0" smtClean="0">
                <a:solidFill>
                  <a:srgbClr val="000000"/>
                </a:solidFill>
                <a:effectLst/>
                <a:latin typeface="Times New Roman" panose="02020603050405020304" pitchFamily="18" charset="0"/>
                <a:cs typeface="Times New Roman" panose="02020603050405020304" pitchFamily="18" charset="0"/>
              </a:rPr>
              <a:t> also assist the </a:t>
            </a:r>
            <a:r>
              <a:rPr lang="en-US" sz="2400" b="0" i="0" dirty="0" err="1" smtClean="0">
                <a:solidFill>
                  <a:srgbClr val="000000"/>
                </a:solidFill>
                <a:effectLst/>
                <a:latin typeface="Times New Roman" panose="02020603050405020304" pitchFamily="18" charset="0"/>
                <a:cs typeface="Times New Roman" panose="02020603050405020304" pitchFamily="18" charset="0"/>
              </a:rPr>
              <a:t>lumbricals</a:t>
            </a:r>
            <a:r>
              <a:rPr lang="en-US" sz="2400" b="0" i="0" dirty="0" smtClean="0">
                <a:solidFill>
                  <a:srgbClr val="000000"/>
                </a:solidFill>
                <a:effectLst/>
                <a:latin typeface="Times New Roman" panose="02020603050405020304" pitchFamily="18" charset="0"/>
                <a:cs typeface="Times New Roman" panose="02020603050405020304" pitchFamily="18" charset="0"/>
              </a:rPr>
              <a:t> in flexion at the MCP joints and extension at the IP joints.</a:t>
            </a:r>
          </a:p>
          <a:p>
            <a:r>
              <a:rPr lang="en-US" sz="2400" b="1" i="0" u="sng" dirty="0" smtClean="0">
                <a:solidFill>
                  <a:srgbClr val="000000"/>
                </a:solidFill>
                <a:effectLst/>
                <a:latin typeface="Times New Roman" panose="02020603050405020304" pitchFamily="18" charset="0"/>
                <a:cs typeface="Times New Roman" panose="02020603050405020304" pitchFamily="18" charset="0"/>
              </a:rPr>
              <a:t>Dorsal </a:t>
            </a:r>
            <a:r>
              <a:rPr lang="en-US" sz="2400" b="1" i="0" u="sng" dirty="0" err="1" smtClean="0">
                <a:solidFill>
                  <a:srgbClr val="000000"/>
                </a:solidFill>
                <a:effectLst/>
                <a:latin typeface="Times New Roman" panose="02020603050405020304" pitchFamily="18" charset="0"/>
                <a:cs typeface="Times New Roman" panose="02020603050405020304" pitchFamily="18" charset="0"/>
              </a:rPr>
              <a:t>Interossei</a:t>
            </a: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r>
              <a:rPr lang="en-US" sz="2400" b="0" i="0" dirty="0" smtClean="0">
                <a:solidFill>
                  <a:srgbClr val="000000"/>
                </a:solidFill>
                <a:effectLst/>
                <a:latin typeface="Times New Roman" panose="02020603050405020304" pitchFamily="18" charset="0"/>
                <a:cs typeface="Times New Roman" panose="02020603050405020304" pitchFamily="18" charset="0"/>
              </a:rPr>
              <a:t>The most superficial of all dorsal muscles, these can be palpated on the dorsum of the hand. There are four dorsal </a:t>
            </a:r>
            <a:r>
              <a:rPr lang="en-US" sz="2400" b="0" i="0" dirty="0" err="1" smtClean="0">
                <a:solidFill>
                  <a:srgbClr val="000000"/>
                </a:solidFill>
                <a:effectLst/>
                <a:latin typeface="Times New Roman" panose="02020603050405020304" pitchFamily="18" charset="0"/>
                <a:cs typeface="Times New Roman" panose="02020603050405020304" pitchFamily="18" charset="0"/>
              </a:rPr>
              <a:t>interossei</a:t>
            </a:r>
            <a:r>
              <a:rPr lang="en-US" sz="2400" b="0" i="0" dirty="0" smtClean="0">
                <a:solidFill>
                  <a:srgbClr val="000000"/>
                </a:solidFill>
                <a:effectLst/>
                <a:latin typeface="Times New Roman" panose="02020603050405020304" pitchFamily="18" charset="0"/>
                <a:cs typeface="Times New Roman" panose="02020603050405020304" pitchFamily="18" charset="0"/>
              </a:rPr>
              <a:t> muscles.</a:t>
            </a:r>
          </a:p>
          <a:p>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i="0" dirty="0" smtClean="0">
                <a:solidFill>
                  <a:srgbClr val="000000"/>
                </a:solidFill>
                <a:effectLst/>
                <a:latin typeface="Times New Roman" panose="02020603050405020304" pitchFamily="18" charset="0"/>
                <a:cs typeface="Times New Roman" panose="02020603050405020304" pitchFamily="18" charset="0"/>
              </a:rPr>
              <a:t>Attachments</a:t>
            </a:r>
            <a:r>
              <a:rPr lang="en-US" sz="2400" b="0" i="0" dirty="0" smtClean="0">
                <a:solidFill>
                  <a:srgbClr val="000000"/>
                </a:solidFill>
                <a:effectLst/>
                <a:latin typeface="Times New Roman" panose="02020603050405020304" pitchFamily="18" charset="0"/>
                <a:cs typeface="Times New Roman" panose="02020603050405020304" pitchFamily="18" charset="0"/>
              </a:rPr>
              <a:t>: Each </a:t>
            </a:r>
            <a:r>
              <a:rPr lang="en-US" sz="2400" b="0" i="0" dirty="0" err="1" smtClean="0">
                <a:solidFill>
                  <a:srgbClr val="000000"/>
                </a:solidFill>
                <a:effectLst/>
                <a:latin typeface="Times New Roman" panose="02020603050405020304" pitchFamily="18" charset="0"/>
                <a:cs typeface="Times New Roman" panose="02020603050405020304" pitchFamily="18" charset="0"/>
              </a:rPr>
              <a:t>interossei</a:t>
            </a:r>
            <a:r>
              <a:rPr lang="en-US" sz="2400" b="0" i="0" dirty="0" smtClean="0">
                <a:solidFill>
                  <a:srgbClr val="000000"/>
                </a:solidFill>
                <a:effectLst/>
                <a:latin typeface="Times New Roman" panose="02020603050405020304" pitchFamily="18" charset="0"/>
                <a:cs typeface="Times New Roman" panose="02020603050405020304" pitchFamily="18" charset="0"/>
              </a:rPr>
              <a:t> originates from the lateral and medial surfaces of the metacarpals. They attach into the extensor hood and proximal phalanx of each finger.</a:t>
            </a:r>
          </a:p>
          <a:p>
            <a:pPr>
              <a:buFont typeface="Arial" panose="020B0604020202020204" pitchFamily="34" charset="0"/>
              <a:buChar char="•"/>
            </a:pP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i="0" dirty="0" smtClean="0">
                <a:solidFill>
                  <a:srgbClr val="000000"/>
                </a:solidFill>
                <a:effectLst/>
                <a:latin typeface="Times New Roman" panose="02020603050405020304" pitchFamily="18" charset="0"/>
                <a:cs typeface="Times New Roman" panose="02020603050405020304" pitchFamily="18" charset="0"/>
              </a:rPr>
              <a:t>Actions</a:t>
            </a:r>
            <a:r>
              <a:rPr lang="en-US" sz="2400" b="0" i="0" dirty="0" smtClean="0">
                <a:solidFill>
                  <a:srgbClr val="000000"/>
                </a:solidFill>
                <a:effectLst/>
                <a:latin typeface="Times New Roman" panose="02020603050405020304" pitchFamily="18" charset="0"/>
                <a:cs typeface="Times New Roman" panose="02020603050405020304" pitchFamily="18" charset="0"/>
              </a:rPr>
              <a:t>: Abduction of the digits. Assists in flexion at the </a:t>
            </a:r>
            <a:r>
              <a:rPr lang="en-US" sz="2400" b="0" i="0" dirty="0" err="1" smtClean="0">
                <a:solidFill>
                  <a:srgbClr val="000000"/>
                </a:solidFill>
                <a:effectLst/>
                <a:latin typeface="Times New Roman" panose="02020603050405020304" pitchFamily="18" charset="0"/>
                <a:cs typeface="Times New Roman" panose="02020603050405020304" pitchFamily="18" charset="0"/>
              </a:rPr>
              <a:t>metacarpophalangeal</a:t>
            </a:r>
            <a:r>
              <a:rPr lang="en-US" sz="2400" b="0" i="0" dirty="0" smtClean="0">
                <a:solidFill>
                  <a:srgbClr val="000000"/>
                </a:solidFill>
                <a:effectLst/>
                <a:latin typeface="Times New Roman" panose="02020603050405020304" pitchFamily="18" charset="0"/>
                <a:cs typeface="Times New Roman" panose="02020603050405020304" pitchFamily="18" charset="0"/>
              </a:rPr>
              <a:t> joints and extension at the </a:t>
            </a:r>
            <a:r>
              <a:rPr lang="en-US" sz="2400" b="0" i="0" dirty="0" err="1" smtClean="0">
                <a:solidFill>
                  <a:srgbClr val="000000"/>
                </a:solidFill>
                <a:effectLst/>
                <a:latin typeface="Times New Roman" panose="02020603050405020304" pitchFamily="18" charset="0"/>
                <a:cs typeface="Times New Roman" panose="02020603050405020304" pitchFamily="18" charset="0"/>
              </a:rPr>
              <a:t>interphalangeal</a:t>
            </a:r>
            <a:r>
              <a:rPr lang="en-US" sz="2400" b="0" i="0" dirty="0" smtClean="0">
                <a:solidFill>
                  <a:srgbClr val="000000"/>
                </a:solidFill>
                <a:effectLst/>
                <a:latin typeface="Times New Roman" panose="02020603050405020304" pitchFamily="18" charset="0"/>
                <a:cs typeface="Times New Roman" panose="02020603050405020304" pitchFamily="18" charset="0"/>
              </a:rPr>
              <a:t> joints.</a:t>
            </a:r>
          </a:p>
          <a:p>
            <a:pPr>
              <a:buFont typeface="Arial" panose="020B0604020202020204" pitchFamily="34" charset="0"/>
              <a:buChar char="•"/>
            </a:pPr>
            <a:r>
              <a:rPr lang="en-US" sz="2400" b="1" i="0" dirty="0" smtClean="0">
                <a:solidFill>
                  <a:srgbClr val="000000"/>
                </a:solidFill>
                <a:effectLst/>
                <a:latin typeface="Times New Roman" panose="02020603050405020304" pitchFamily="18" charset="0"/>
                <a:cs typeface="Times New Roman" panose="02020603050405020304" pitchFamily="18" charset="0"/>
              </a:rPr>
              <a:t>Innervation</a:t>
            </a:r>
            <a:r>
              <a:rPr lang="en-US" sz="2400" b="0" i="0" dirty="0" smtClean="0">
                <a:solidFill>
                  <a:srgbClr val="000000"/>
                </a:solidFill>
                <a:effectLst/>
                <a:latin typeface="Times New Roman" panose="02020603050405020304" pitchFamily="18" charset="0"/>
                <a:cs typeface="Times New Roman" panose="02020603050405020304" pitchFamily="18" charset="0"/>
              </a:rPr>
              <a:t>: </a:t>
            </a:r>
            <a:r>
              <a:rPr lang="en-US" sz="2400" b="0" i="0" u="none" strike="noStrike" dirty="0" smtClean="0">
                <a:solidFill>
                  <a:srgbClr val="008178"/>
                </a:solidFill>
                <a:effectLst/>
                <a:latin typeface="Times New Roman" panose="02020603050405020304" pitchFamily="18" charset="0"/>
                <a:cs typeface="Times New Roman" panose="02020603050405020304" pitchFamily="18" charset="0"/>
                <a:hlinkClick r:id="rId2"/>
              </a:rPr>
              <a:t>Ulnar nerve</a:t>
            </a:r>
            <a:r>
              <a:rPr lang="en-US" sz="2400" b="0" i="0" dirty="0" smtClean="0">
                <a:solidFill>
                  <a:srgbClr val="000000"/>
                </a:solidFill>
                <a:effectLst/>
                <a:latin typeface="Times New Roman" panose="02020603050405020304" pitchFamily="18" charset="0"/>
                <a:cs typeface="Times New Roman" panose="02020603050405020304" pitchFamily="18" charset="0"/>
              </a:rPr>
              <a:t>.</a:t>
            </a: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53360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4171"/>
            <a:ext cx="11454063" cy="3416320"/>
          </a:xfrm>
          <a:prstGeom prst="rect">
            <a:avLst/>
          </a:prstGeom>
        </p:spPr>
        <p:txBody>
          <a:bodyPr wrap="square">
            <a:spAutoFit/>
          </a:bodyPr>
          <a:lstStyle/>
          <a:p>
            <a:r>
              <a:rPr lang="en-US" b="1" i="0" u="sng" dirty="0" smtClean="0">
                <a:solidFill>
                  <a:srgbClr val="000000"/>
                </a:solidFill>
                <a:effectLst/>
                <a:latin typeface="acumin-pro"/>
              </a:rPr>
              <a:t>Palmar </a:t>
            </a:r>
            <a:r>
              <a:rPr lang="en-US" b="1" i="0" u="sng" dirty="0" err="1" smtClean="0">
                <a:solidFill>
                  <a:srgbClr val="000000"/>
                </a:solidFill>
                <a:effectLst/>
                <a:latin typeface="acumin-pro"/>
              </a:rPr>
              <a:t>Interossei</a:t>
            </a:r>
            <a:endParaRPr lang="en-US" b="0" i="0" dirty="0" smtClean="0">
              <a:solidFill>
                <a:srgbClr val="000000"/>
              </a:solidFill>
              <a:effectLst/>
              <a:latin typeface="acumin-pro"/>
            </a:endParaRPr>
          </a:p>
          <a:p>
            <a:r>
              <a:rPr lang="en-US" b="0" i="0" dirty="0" smtClean="0">
                <a:solidFill>
                  <a:srgbClr val="000000"/>
                </a:solidFill>
                <a:effectLst/>
                <a:latin typeface="acumin-pro"/>
              </a:rPr>
              <a:t>These are located anteriorly on the hand. There are three palmar </a:t>
            </a:r>
            <a:r>
              <a:rPr lang="en-US" b="0" i="0" dirty="0" err="1" smtClean="0">
                <a:solidFill>
                  <a:srgbClr val="000000"/>
                </a:solidFill>
                <a:effectLst/>
                <a:latin typeface="acumin-pro"/>
              </a:rPr>
              <a:t>interossei</a:t>
            </a:r>
            <a:r>
              <a:rPr lang="en-US" b="0" i="0" dirty="0" smtClean="0">
                <a:solidFill>
                  <a:srgbClr val="000000"/>
                </a:solidFill>
                <a:effectLst/>
                <a:latin typeface="acumin-pro"/>
              </a:rPr>
              <a:t> muscles (although some texts describe a fourth muscle at the base of the proximal phalanx of the thumb).</a:t>
            </a:r>
          </a:p>
          <a:p>
            <a:endParaRPr lang="en-US" b="0" i="0" dirty="0" smtClean="0">
              <a:solidFill>
                <a:srgbClr val="000000"/>
              </a:solidFill>
              <a:effectLst/>
              <a:latin typeface="acumin-pro"/>
            </a:endParaRPr>
          </a:p>
          <a:p>
            <a:pPr>
              <a:buFont typeface="Arial" panose="020B0604020202020204" pitchFamily="34" charset="0"/>
              <a:buChar char="•"/>
            </a:pPr>
            <a:r>
              <a:rPr lang="en-US" b="1" i="0" dirty="0" smtClean="0">
                <a:solidFill>
                  <a:srgbClr val="000000"/>
                </a:solidFill>
                <a:effectLst/>
                <a:latin typeface="acumin-pro"/>
              </a:rPr>
              <a:t>Attachments</a:t>
            </a:r>
            <a:r>
              <a:rPr lang="en-US" b="0" i="0" dirty="0" smtClean="0">
                <a:solidFill>
                  <a:srgbClr val="000000"/>
                </a:solidFill>
                <a:effectLst/>
                <a:latin typeface="acumin-pro"/>
              </a:rPr>
              <a:t>: Each </a:t>
            </a:r>
            <a:r>
              <a:rPr lang="en-US" b="0" i="0" dirty="0" err="1" smtClean="0">
                <a:solidFill>
                  <a:srgbClr val="000000"/>
                </a:solidFill>
                <a:effectLst/>
                <a:latin typeface="acumin-pro"/>
              </a:rPr>
              <a:t>interossei</a:t>
            </a:r>
            <a:r>
              <a:rPr lang="en-US" b="0" i="0" dirty="0" smtClean="0">
                <a:solidFill>
                  <a:srgbClr val="000000"/>
                </a:solidFill>
                <a:effectLst/>
                <a:latin typeface="acumin-pro"/>
              </a:rPr>
              <a:t> originates from a medial or lateral surface of a metacarpal, and attaches into the extensor hood and proximal phalanx of same finger.</a:t>
            </a:r>
          </a:p>
          <a:p>
            <a:pPr>
              <a:buFont typeface="Arial" panose="020B0604020202020204" pitchFamily="34" charset="0"/>
              <a:buChar char="•"/>
            </a:pPr>
            <a:endParaRPr lang="en-GB" dirty="0">
              <a:solidFill>
                <a:srgbClr val="000000"/>
              </a:solidFill>
              <a:latin typeface="acumin-pro"/>
            </a:endParaRPr>
          </a:p>
          <a:p>
            <a:pPr>
              <a:buFont typeface="Arial" panose="020B0604020202020204" pitchFamily="34" charset="0"/>
              <a:buChar char="•"/>
            </a:pPr>
            <a:endParaRPr lang="en-US" b="0" i="0" dirty="0" smtClean="0">
              <a:solidFill>
                <a:srgbClr val="000000"/>
              </a:solidFill>
              <a:effectLst/>
              <a:latin typeface="acumin-pro"/>
            </a:endParaRPr>
          </a:p>
          <a:p>
            <a:pPr>
              <a:buFont typeface="Arial" panose="020B0604020202020204" pitchFamily="34" charset="0"/>
              <a:buChar char="•"/>
            </a:pPr>
            <a:r>
              <a:rPr lang="en-US" b="1" i="0" dirty="0" smtClean="0">
                <a:solidFill>
                  <a:srgbClr val="000000"/>
                </a:solidFill>
                <a:effectLst/>
                <a:latin typeface="acumin-pro"/>
              </a:rPr>
              <a:t>Actions</a:t>
            </a:r>
            <a:r>
              <a:rPr lang="en-US" b="0" i="0" dirty="0" smtClean="0">
                <a:solidFill>
                  <a:srgbClr val="000000"/>
                </a:solidFill>
                <a:effectLst/>
                <a:latin typeface="acumin-pro"/>
              </a:rPr>
              <a:t>: Adduction of the digits. Assists in flexion at the met</a:t>
            </a:r>
          </a:p>
          <a:p>
            <a:pPr>
              <a:buFont typeface="Arial" panose="020B0604020202020204" pitchFamily="34" charset="0"/>
              <a:buChar char="•"/>
            </a:pPr>
            <a:endParaRPr lang="en-US" b="0" i="0" dirty="0" smtClean="0">
              <a:solidFill>
                <a:srgbClr val="000000"/>
              </a:solidFill>
              <a:effectLst/>
              <a:latin typeface="acumin-pro"/>
            </a:endParaRPr>
          </a:p>
          <a:p>
            <a:pPr>
              <a:buFont typeface="Arial" panose="020B0604020202020204" pitchFamily="34" charset="0"/>
              <a:buChar char="•"/>
            </a:pPr>
            <a:r>
              <a:rPr lang="en-US" b="0" i="0" dirty="0" err="1" smtClean="0">
                <a:solidFill>
                  <a:srgbClr val="000000"/>
                </a:solidFill>
                <a:effectLst/>
                <a:latin typeface="acumin-pro"/>
              </a:rPr>
              <a:t>acarpophalangeal</a:t>
            </a:r>
            <a:r>
              <a:rPr lang="en-US" b="0" i="0" dirty="0" smtClean="0">
                <a:solidFill>
                  <a:srgbClr val="000000"/>
                </a:solidFill>
                <a:effectLst/>
                <a:latin typeface="acumin-pro"/>
              </a:rPr>
              <a:t> joints and extension at the </a:t>
            </a:r>
            <a:r>
              <a:rPr lang="en-US" b="0" i="0" dirty="0" err="1" smtClean="0">
                <a:solidFill>
                  <a:srgbClr val="000000"/>
                </a:solidFill>
                <a:effectLst/>
                <a:latin typeface="acumin-pro"/>
              </a:rPr>
              <a:t>interphalangeal</a:t>
            </a:r>
            <a:r>
              <a:rPr lang="en-US" b="0" i="0" dirty="0" smtClean="0">
                <a:solidFill>
                  <a:srgbClr val="000000"/>
                </a:solidFill>
                <a:effectLst/>
                <a:latin typeface="acumin-pro"/>
              </a:rPr>
              <a:t> joints.</a:t>
            </a:r>
          </a:p>
          <a:p>
            <a:pPr>
              <a:buFont typeface="Arial" panose="020B0604020202020204" pitchFamily="34" charset="0"/>
              <a:buChar char="•"/>
            </a:pPr>
            <a:r>
              <a:rPr lang="en-US" b="1" i="0" dirty="0" smtClean="0">
                <a:solidFill>
                  <a:srgbClr val="000000"/>
                </a:solidFill>
                <a:effectLst/>
                <a:latin typeface="acumin-pro"/>
              </a:rPr>
              <a:t>Innervation</a:t>
            </a:r>
            <a:r>
              <a:rPr lang="en-US" b="0" i="0" dirty="0" smtClean="0">
                <a:solidFill>
                  <a:srgbClr val="000000"/>
                </a:solidFill>
                <a:effectLst/>
                <a:latin typeface="acumin-pro"/>
              </a:rPr>
              <a:t>: </a:t>
            </a:r>
            <a:r>
              <a:rPr lang="en-US" b="0" i="0" u="none" strike="noStrike" dirty="0" smtClean="0">
                <a:solidFill>
                  <a:srgbClr val="008178"/>
                </a:solidFill>
                <a:effectLst/>
                <a:latin typeface="acumin-pro"/>
                <a:hlinkClick r:id="rId2"/>
              </a:rPr>
              <a:t>Ulnar nerve</a:t>
            </a:r>
            <a:r>
              <a:rPr lang="en-US" b="0" i="0" dirty="0" smtClean="0">
                <a:solidFill>
                  <a:srgbClr val="000000"/>
                </a:solidFill>
                <a:effectLst/>
                <a:latin typeface="acumin-pro"/>
              </a:rPr>
              <a:t>.</a:t>
            </a:r>
            <a:endParaRPr lang="en-US" b="0" i="0" dirty="0">
              <a:solidFill>
                <a:srgbClr val="000000"/>
              </a:solidFill>
              <a:effectLst/>
              <a:latin typeface="acumin-pro"/>
            </a:endParaRPr>
          </a:p>
        </p:txBody>
      </p:sp>
    </p:spTree>
    <p:extLst>
      <p:ext uri="{BB962C8B-B14F-4D97-AF65-F5344CB8AC3E}">
        <p14:creationId xmlns:p14="http://schemas.microsoft.com/office/powerpoint/2010/main" val="38377788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348511" y="-129540"/>
            <a:ext cx="5410200" cy="4191000"/>
          </a:xfrm>
          <a:prstGeom prst="rect">
            <a:avLst/>
          </a:prstGeom>
        </p:spPr>
      </p:pic>
      <p:sp>
        <p:nvSpPr>
          <p:cNvPr id="3" name="Rectangle 2"/>
          <p:cNvSpPr/>
          <p:nvPr/>
        </p:nvSpPr>
        <p:spPr>
          <a:xfrm>
            <a:off x="3441888" y="5121261"/>
            <a:ext cx="4826962" cy="369332"/>
          </a:xfrm>
          <a:prstGeom prst="rect">
            <a:avLst/>
          </a:prstGeom>
        </p:spPr>
        <p:txBody>
          <a:bodyPr wrap="none">
            <a:spAutoFit/>
          </a:bodyPr>
          <a:lstStyle/>
          <a:p>
            <a:r>
              <a:rPr lang="en-US" b="0" i="0" dirty="0" smtClean="0">
                <a:solidFill>
                  <a:srgbClr val="000000"/>
                </a:solidFill>
                <a:effectLst/>
                <a:latin typeface="acumin-pro"/>
              </a:rPr>
              <a:t>The dorsal and palmar </a:t>
            </a:r>
            <a:r>
              <a:rPr lang="en-US" b="0" i="0" dirty="0" err="1" smtClean="0">
                <a:solidFill>
                  <a:srgbClr val="000000"/>
                </a:solidFill>
                <a:effectLst/>
                <a:latin typeface="acumin-pro"/>
              </a:rPr>
              <a:t>interossei</a:t>
            </a:r>
            <a:r>
              <a:rPr lang="en-US" b="0" i="0" dirty="0" smtClean="0">
                <a:solidFill>
                  <a:srgbClr val="000000"/>
                </a:solidFill>
                <a:effectLst/>
                <a:latin typeface="acumin-pro"/>
              </a:rPr>
              <a:t> of the hand.</a:t>
            </a:r>
            <a:endParaRPr lang="en-US" dirty="0"/>
          </a:p>
        </p:txBody>
      </p:sp>
    </p:spTree>
    <p:extLst>
      <p:ext uri="{BB962C8B-B14F-4D97-AF65-F5344CB8AC3E}">
        <p14:creationId xmlns:p14="http://schemas.microsoft.com/office/powerpoint/2010/main" val="38459827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879" y="205928"/>
            <a:ext cx="11713945" cy="5262979"/>
          </a:xfrm>
          <a:prstGeom prst="rect">
            <a:avLst/>
          </a:prstGeom>
        </p:spPr>
        <p:txBody>
          <a:bodyPr wrap="square">
            <a:spAutoFit/>
          </a:bodyPr>
          <a:lstStyle/>
          <a:p>
            <a:r>
              <a:rPr lang="en-US" sz="2400" b="0" i="0" dirty="0" smtClean="0">
                <a:solidFill>
                  <a:srgbClr val="000000"/>
                </a:solidFill>
                <a:effectLst/>
                <a:latin typeface="Times New Roman" panose="02020603050405020304" pitchFamily="18" charset="0"/>
                <a:cs typeface="Times New Roman" panose="02020603050405020304" pitchFamily="18" charset="0"/>
              </a:rPr>
              <a:t>There are two other muscles in the palm that are not </a:t>
            </a:r>
            <a:r>
              <a:rPr lang="en-US" sz="2400" b="0" i="0" dirty="0" err="1" smtClean="0">
                <a:solidFill>
                  <a:srgbClr val="000000"/>
                </a:solidFill>
                <a:effectLst/>
                <a:latin typeface="Times New Roman" panose="02020603050405020304" pitchFamily="18" charset="0"/>
                <a:cs typeface="Times New Roman" panose="02020603050405020304" pitchFamily="18" charset="0"/>
              </a:rPr>
              <a:t>lumbricals</a:t>
            </a:r>
            <a:r>
              <a:rPr lang="en-US" sz="2400" b="0" i="0" dirty="0" smtClean="0">
                <a:solidFill>
                  <a:srgbClr val="000000"/>
                </a:solidFill>
                <a:effectLst/>
                <a:latin typeface="Times New Roman" panose="02020603050405020304" pitchFamily="18" charset="0"/>
                <a:cs typeface="Times New Roman" panose="02020603050405020304" pitchFamily="18" charset="0"/>
              </a:rPr>
              <a:t> or </a:t>
            </a:r>
            <a:r>
              <a:rPr lang="en-US" sz="2400" b="0" i="0" dirty="0" err="1" smtClean="0">
                <a:solidFill>
                  <a:srgbClr val="000000"/>
                </a:solidFill>
                <a:effectLst/>
                <a:latin typeface="Times New Roman" panose="02020603050405020304" pitchFamily="18" charset="0"/>
                <a:cs typeface="Times New Roman" panose="02020603050405020304" pitchFamily="18" charset="0"/>
              </a:rPr>
              <a:t>interossei</a:t>
            </a:r>
            <a:r>
              <a:rPr lang="en-US" sz="2400" b="0" i="0" dirty="0" smtClean="0">
                <a:solidFill>
                  <a:srgbClr val="000000"/>
                </a:solidFill>
                <a:effectLst/>
                <a:latin typeface="Times New Roman" panose="02020603050405020304" pitchFamily="18" charset="0"/>
                <a:cs typeface="Times New Roman" panose="02020603050405020304" pitchFamily="18" charset="0"/>
              </a:rPr>
              <a:t> and do not fit in the </a:t>
            </a:r>
            <a:r>
              <a:rPr lang="en-US" sz="2400" b="0" i="0" dirty="0" err="1" smtClean="0">
                <a:solidFill>
                  <a:srgbClr val="000000"/>
                </a:solidFill>
                <a:effectLst/>
                <a:latin typeface="Times New Roman" panose="02020603050405020304" pitchFamily="18" charset="0"/>
                <a:cs typeface="Times New Roman" panose="02020603050405020304" pitchFamily="18" charset="0"/>
              </a:rPr>
              <a:t>hypothenar</a:t>
            </a:r>
            <a:r>
              <a:rPr lang="en-US" sz="2400" b="0" i="0" dirty="0" smtClean="0">
                <a:solidFill>
                  <a:srgbClr val="000000"/>
                </a:solidFill>
                <a:effectLst/>
                <a:latin typeface="Times New Roman" panose="02020603050405020304" pitchFamily="18" charset="0"/>
                <a:cs typeface="Times New Roman" panose="02020603050405020304" pitchFamily="18" charset="0"/>
              </a:rPr>
              <a:t> or </a:t>
            </a:r>
            <a:r>
              <a:rPr lang="en-US" sz="2400" b="0" i="0" dirty="0" err="1" smtClean="0">
                <a:solidFill>
                  <a:srgbClr val="000000"/>
                </a:solidFill>
                <a:effectLst/>
                <a:latin typeface="Times New Roman" panose="02020603050405020304" pitchFamily="18" charset="0"/>
                <a:cs typeface="Times New Roman" panose="02020603050405020304" pitchFamily="18" charset="0"/>
              </a:rPr>
              <a:t>thenar</a:t>
            </a:r>
            <a:r>
              <a:rPr lang="en-US" sz="2400" b="0" i="0" dirty="0" smtClean="0">
                <a:solidFill>
                  <a:srgbClr val="000000"/>
                </a:solidFill>
                <a:effectLst/>
                <a:latin typeface="Times New Roman" panose="02020603050405020304" pitchFamily="18" charset="0"/>
                <a:cs typeface="Times New Roman" panose="02020603050405020304" pitchFamily="18" charset="0"/>
              </a:rPr>
              <a:t> compartments:</a:t>
            </a:r>
          </a:p>
          <a:p>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r>
              <a:rPr lang="en-US" sz="2400" b="1" i="0" u="sng" dirty="0" smtClean="0">
                <a:solidFill>
                  <a:srgbClr val="000000"/>
                </a:solidFill>
                <a:effectLst/>
                <a:latin typeface="Times New Roman" panose="02020603050405020304" pitchFamily="18" charset="0"/>
                <a:cs typeface="Times New Roman" panose="02020603050405020304" pitchFamily="18" charset="0"/>
              </a:rPr>
              <a:t>Palmaris </a:t>
            </a:r>
            <a:r>
              <a:rPr lang="en-US" sz="2400" b="1" i="0" u="sng" dirty="0" err="1" smtClean="0">
                <a:solidFill>
                  <a:srgbClr val="000000"/>
                </a:solidFill>
                <a:effectLst/>
                <a:latin typeface="Times New Roman" panose="02020603050405020304" pitchFamily="18" charset="0"/>
                <a:cs typeface="Times New Roman" panose="02020603050405020304" pitchFamily="18" charset="0"/>
              </a:rPr>
              <a:t>Brevis</a:t>
            </a: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r>
              <a:rPr lang="en-US" sz="2400" b="0" i="0" dirty="0" smtClean="0">
                <a:solidFill>
                  <a:srgbClr val="000000"/>
                </a:solidFill>
                <a:effectLst/>
                <a:latin typeface="Times New Roman" panose="02020603050405020304" pitchFamily="18" charset="0"/>
                <a:cs typeface="Times New Roman" panose="02020603050405020304" pitchFamily="18" charset="0"/>
              </a:rPr>
              <a:t>The </a:t>
            </a:r>
            <a:r>
              <a:rPr lang="en-US" sz="2400" b="0" i="0" dirty="0" err="1" smtClean="0">
                <a:solidFill>
                  <a:srgbClr val="000000"/>
                </a:solidFill>
                <a:effectLst/>
                <a:latin typeface="Times New Roman" panose="02020603050405020304" pitchFamily="18" charset="0"/>
                <a:cs typeface="Times New Roman" panose="02020603050405020304" pitchFamily="18" charset="0"/>
              </a:rPr>
              <a:t>palmaris</a:t>
            </a:r>
            <a:r>
              <a:rPr lang="en-US" sz="2400" b="0" i="0" dirty="0" smtClean="0">
                <a:solidFill>
                  <a:srgbClr val="000000"/>
                </a:solidFill>
                <a:effectLst/>
                <a:latin typeface="Times New Roman" panose="02020603050405020304" pitchFamily="18" charset="0"/>
                <a:cs typeface="Times New Roman" panose="02020603050405020304" pitchFamily="18" charset="0"/>
              </a:rPr>
              <a:t> </a:t>
            </a:r>
            <a:r>
              <a:rPr lang="en-US" sz="2400" b="0" i="0" dirty="0" err="1" smtClean="0">
                <a:solidFill>
                  <a:srgbClr val="000000"/>
                </a:solidFill>
                <a:effectLst/>
                <a:latin typeface="Times New Roman" panose="02020603050405020304" pitchFamily="18" charset="0"/>
                <a:cs typeface="Times New Roman" panose="02020603050405020304" pitchFamily="18" charset="0"/>
              </a:rPr>
              <a:t>brevis</a:t>
            </a:r>
            <a:r>
              <a:rPr lang="en-US" sz="2400" b="0" i="0" dirty="0" smtClean="0">
                <a:solidFill>
                  <a:srgbClr val="000000"/>
                </a:solidFill>
                <a:effectLst/>
                <a:latin typeface="Times New Roman" panose="02020603050405020304" pitchFamily="18" charset="0"/>
                <a:cs typeface="Times New Roman" panose="02020603050405020304" pitchFamily="18" charset="0"/>
              </a:rPr>
              <a:t> is a small, thin muscle, found superficially in the subcutaneous tissue of the </a:t>
            </a:r>
            <a:r>
              <a:rPr lang="en-US" sz="2400" b="0" i="0" dirty="0" err="1" smtClean="0">
                <a:solidFill>
                  <a:srgbClr val="000000"/>
                </a:solidFill>
                <a:effectLst/>
                <a:latin typeface="Times New Roman" panose="02020603050405020304" pitchFamily="18" charset="0"/>
                <a:cs typeface="Times New Roman" panose="02020603050405020304" pitchFamily="18" charset="0"/>
              </a:rPr>
              <a:t>hypothenar</a:t>
            </a:r>
            <a:r>
              <a:rPr lang="en-US" sz="2400" b="0" i="0" dirty="0" smtClean="0">
                <a:solidFill>
                  <a:srgbClr val="000000"/>
                </a:solidFill>
                <a:effectLst/>
                <a:latin typeface="Times New Roman" panose="02020603050405020304" pitchFamily="18" charset="0"/>
                <a:cs typeface="Times New Roman" panose="02020603050405020304" pitchFamily="18" charset="0"/>
              </a:rPr>
              <a:t> eminence.</a:t>
            </a:r>
          </a:p>
          <a:p>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i="0" dirty="0" smtClean="0">
                <a:solidFill>
                  <a:srgbClr val="000000"/>
                </a:solidFill>
                <a:effectLst/>
                <a:latin typeface="Times New Roman" panose="02020603050405020304" pitchFamily="18" charset="0"/>
                <a:cs typeface="Times New Roman" panose="02020603050405020304" pitchFamily="18" charset="0"/>
              </a:rPr>
              <a:t>Attachments</a:t>
            </a:r>
            <a:r>
              <a:rPr lang="en-US" sz="2400" b="0" i="0" dirty="0" smtClean="0">
                <a:solidFill>
                  <a:srgbClr val="000000"/>
                </a:solidFill>
                <a:effectLst/>
                <a:latin typeface="Times New Roman" panose="02020603050405020304" pitchFamily="18" charset="0"/>
                <a:cs typeface="Times New Roman" panose="02020603050405020304" pitchFamily="18" charset="0"/>
              </a:rPr>
              <a:t>: Originates from the palmar </a:t>
            </a:r>
            <a:r>
              <a:rPr lang="en-US" sz="2400" b="0" i="0" dirty="0" err="1" smtClean="0">
                <a:solidFill>
                  <a:srgbClr val="000000"/>
                </a:solidFill>
                <a:effectLst/>
                <a:latin typeface="Times New Roman" panose="02020603050405020304" pitchFamily="18" charset="0"/>
                <a:cs typeface="Times New Roman" panose="02020603050405020304" pitchFamily="18" charset="0"/>
              </a:rPr>
              <a:t>aponeurosis</a:t>
            </a:r>
            <a:r>
              <a:rPr lang="en-US" sz="2400" b="0" i="0" dirty="0" smtClean="0">
                <a:solidFill>
                  <a:srgbClr val="000000"/>
                </a:solidFill>
                <a:effectLst/>
                <a:latin typeface="Times New Roman" panose="02020603050405020304" pitchFamily="18" charset="0"/>
                <a:cs typeface="Times New Roman" panose="02020603050405020304" pitchFamily="18" charset="0"/>
              </a:rPr>
              <a:t> and flexor retinaculum, attaches to the dermis of the skin on the medial margin of the hand.</a:t>
            </a:r>
          </a:p>
          <a:p>
            <a:pPr>
              <a:buFont typeface="Arial" panose="020B0604020202020204" pitchFamily="34" charset="0"/>
              <a:buChar char="•"/>
            </a:pP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i="0" dirty="0" smtClean="0">
                <a:solidFill>
                  <a:srgbClr val="000000"/>
                </a:solidFill>
                <a:effectLst/>
                <a:latin typeface="Times New Roman" panose="02020603050405020304" pitchFamily="18" charset="0"/>
                <a:cs typeface="Times New Roman" panose="02020603050405020304" pitchFamily="18" charset="0"/>
              </a:rPr>
              <a:t>Actions</a:t>
            </a:r>
            <a:r>
              <a:rPr lang="en-US" sz="2400" b="0" i="0" dirty="0" smtClean="0">
                <a:solidFill>
                  <a:srgbClr val="000000"/>
                </a:solidFill>
                <a:effectLst/>
                <a:latin typeface="Times New Roman" panose="02020603050405020304" pitchFamily="18" charset="0"/>
                <a:cs typeface="Times New Roman" panose="02020603050405020304" pitchFamily="18" charset="0"/>
              </a:rPr>
              <a:t>: Wrinkles the skin of the </a:t>
            </a:r>
            <a:r>
              <a:rPr lang="en-US" sz="2400" b="0" i="0" dirty="0" err="1" smtClean="0">
                <a:solidFill>
                  <a:srgbClr val="000000"/>
                </a:solidFill>
                <a:effectLst/>
                <a:latin typeface="Times New Roman" panose="02020603050405020304" pitchFamily="18" charset="0"/>
                <a:cs typeface="Times New Roman" panose="02020603050405020304" pitchFamily="18" charset="0"/>
              </a:rPr>
              <a:t>hypothenar</a:t>
            </a:r>
            <a:r>
              <a:rPr lang="en-US" sz="2400" b="0" i="0" dirty="0" smtClean="0">
                <a:solidFill>
                  <a:srgbClr val="000000"/>
                </a:solidFill>
                <a:effectLst/>
                <a:latin typeface="Times New Roman" panose="02020603050405020304" pitchFamily="18" charset="0"/>
                <a:cs typeface="Times New Roman" panose="02020603050405020304" pitchFamily="18" charset="0"/>
              </a:rPr>
              <a:t> eminence and deepens the curvature of the hand, improving grip.</a:t>
            </a:r>
          </a:p>
          <a:p>
            <a:pPr>
              <a:buFont typeface="Arial" panose="020B0604020202020204" pitchFamily="34" charset="0"/>
              <a:buChar char="•"/>
            </a:pP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i="0" dirty="0" smtClean="0">
                <a:solidFill>
                  <a:srgbClr val="000000"/>
                </a:solidFill>
                <a:effectLst/>
                <a:latin typeface="Times New Roman" panose="02020603050405020304" pitchFamily="18" charset="0"/>
                <a:cs typeface="Times New Roman" panose="02020603050405020304" pitchFamily="18" charset="0"/>
              </a:rPr>
              <a:t>Innervation</a:t>
            </a:r>
            <a:r>
              <a:rPr lang="en-US" sz="2400" b="0" i="0" dirty="0" smtClean="0">
                <a:solidFill>
                  <a:srgbClr val="000000"/>
                </a:solidFill>
                <a:effectLst/>
                <a:latin typeface="Times New Roman" panose="02020603050405020304" pitchFamily="18" charset="0"/>
                <a:cs typeface="Times New Roman" panose="02020603050405020304" pitchFamily="18" charset="0"/>
              </a:rPr>
              <a:t>: </a:t>
            </a:r>
            <a:r>
              <a:rPr lang="en-US" sz="2400" b="0" i="0" u="none" strike="noStrike" dirty="0" smtClean="0">
                <a:solidFill>
                  <a:srgbClr val="008178"/>
                </a:solidFill>
                <a:effectLst/>
                <a:latin typeface="Times New Roman" panose="02020603050405020304" pitchFamily="18" charset="0"/>
                <a:cs typeface="Times New Roman" panose="02020603050405020304" pitchFamily="18" charset="0"/>
                <a:hlinkClick r:id="rId2"/>
              </a:rPr>
              <a:t>Ulnar nerve</a:t>
            </a:r>
            <a:r>
              <a:rPr lang="en-US" sz="2400" b="0" i="0" dirty="0" smtClean="0">
                <a:solidFill>
                  <a:srgbClr val="000000"/>
                </a:solidFill>
                <a:effectLst/>
                <a:latin typeface="Times New Roman" panose="02020603050405020304" pitchFamily="18" charset="0"/>
                <a:cs typeface="Times New Roman" panose="02020603050405020304" pitchFamily="18" charset="0"/>
              </a:rPr>
              <a:t>.</a:t>
            </a: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14968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377" y="0"/>
            <a:ext cx="12050829" cy="4524315"/>
          </a:xfrm>
          <a:prstGeom prst="rect">
            <a:avLst/>
          </a:prstGeom>
        </p:spPr>
        <p:txBody>
          <a:bodyPr wrap="square">
            <a:spAutoFit/>
          </a:bodyPr>
          <a:lstStyle/>
          <a:p>
            <a:r>
              <a:rPr lang="en-US" sz="2400" b="1" i="0" u="sng" dirty="0" smtClean="0">
                <a:solidFill>
                  <a:srgbClr val="000000"/>
                </a:solidFill>
                <a:effectLst/>
                <a:latin typeface="Times New Roman" panose="02020603050405020304" pitchFamily="18" charset="0"/>
                <a:cs typeface="Times New Roman" panose="02020603050405020304" pitchFamily="18" charset="0"/>
              </a:rPr>
              <a:t>Adductor </a:t>
            </a:r>
            <a:r>
              <a:rPr lang="en-US" sz="2400" b="1" i="0" u="sng" dirty="0" err="1" smtClean="0">
                <a:solidFill>
                  <a:srgbClr val="000000"/>
                </a:solidFill>
                <a:effectLst/>
                <a:latin typeface="Times New Roman" panose="02020603050405020304" pitchFamily="18" charset="0"/>
                <a:cs typeface="Times New Roman" panose="02020603050405020304" pitchFamily="18" charset="0"/>
              </a:rPr>
              <a:t>Pollicis</a:t>
            </a: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r>
              <a:rPr lang="en-US" sz="2400" b="0" i="0" dirty="0" smtClean="0">
                <a:solidFill>
                  <a:srgbClr val="000000"/>
                </a:solidFill>
                <a:effectLst/>
                <a:latin typeface="Times New Roman" panose="02020603050405020304" pitchFamily="18" charset="0"/>
                <a:cs typeface="Times New Roman" panose="02020603050405020304" pitchFamily="18" charset="0"/>
              </a:rPr>
              <a:t>The adductor </a:t>
            </a:r>
            <a:r>
              <a:rPr lang="en-US" sz="2400" b="0" i="0" dirty="0" err="1" smtClean="0">
                <a:solidFill>
                  <a:srgbClr val="000000"/>
                </a:solidFill>
                <a:effectLst/>
                <a:latin typeface="Times New Roman" panose="02020603050405020304" pitchFamily="18" charset="0"/>
                <a:cs typeface="Times New Roman" panose="02020603050405020304" pitchFamily="18" charset="0"/>
              </a:rPr>
              <a:t>pollicis</a:t>
            </a:r>
            <a:r>
              <a:rPr lang="en-US" sz="2400" b="0" i="0" dirty="0" smtClean="0">
                <a:solidFill>
                  <a:srgbClr val="000000"/>
                </a:solidFill>
                <a:effectLst/>
                <a:latin typeface="Times New Roman" panose="02020603050405020304" pitchFamily="18" charset="0"/>
                <a:cs typeface="Times New Roman" panose="02020603050405020304" pitchFamily="18" charset="0"/>
              </a:rPr>
              <a:t> large triangular muscle with two heads. The radial artery passes anteriorly through the space between the two heads, forming the deep palmar arch.</a:t>
            </a:r>
          </a:p>
          <a:p>
            <a:endParaRPr lang="en-GB" sz="2400" dirty="0">
              <a:solidFill>
                <a:srgbClr val="000000"/>
              </a:solidFill>
              <a:latin typeface="Times New Roman" panose="02020603050405020304" pitchFamily="18" charset="0"/>
              <a:cs typeface="Times New Roman" panose="02020603050405020304" pitchFamily="18" charset="0"/>
            </a:endParaRPr>
          </a:p>
          <a:p>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i="0" dirty="0" smtClean="0">
                <a:solidFill>
                  <a:srgbClr val="000000"/>
                </a:solidFill>
                <a:effectLst/>
                <a:latin typeface="Times New Roman" panose="02020603050405020304" pitchFamily="18" charset="0"/>
                <a:cs typeface="Times New Roman" panose="02020603050405020304" pitchFamily="18" charset="0"/>
              </a:rPr>
              <a:t>Attachments</a:t>
            </a:r>
            <a:r>
              <a:rPr lang="en-US" sz="2400" b="0" i="0" dirty="0" smtClean="0">
                <a:solidFill>
                  <a:srgbClr val="000000"/>
                </a:solidFill>
                <a:effectLst/>
                <a:latin typeface="Times New Roman" panose="02020603050405020304" pitchFamily="18" charset="0"/>
                <a:cs typeface="Times New Roman" panose="02020603050405020304" pitchFamily="18" charset="0"/>
              </a:rPr>
              <a:t>: One head originates from metacarpal III. The other head originates from the </a:t>
            </a:r>
            <a:r>
              <a:rPr lang="en-US" sz="2400" b="0" i="0" dirty="0" err="1" smtClean="0">
                <a:solidFill>
                  <a:srgbClr val="000000"/>
                </a:solidFill>
                <a:effectLst/>
                <a:latin typeface="Times New Roman" panose="02020603050405020304" pitchFamily="18" charset="0"/>
                <a:cs typeface="Times New Roman" panose="02020603050405020304" pitchFamily="18" charset="0"/>
              </a:rPr>
              <a:t>capitate</a:t>
            </a:r>
            <a:r>
              <a:rPr lang="en-US" sz="2400" b="0" i="0" dirty="0" smtClean="0">
                <a:solidFill>
                  <a:srgbClr val="000000"/>
                </a:solidFill>
                <a:effectLst/>
                <a:latin typeface="Times New Roman" panose="02020603050405020304" pitchFamily="18" charset="0"/>
                <a:cs typeface="Times New Roman" panose="02020603050405020304" pitchFamily="18" charset="0"/>
              </a:rPr>
              <a:t> and adjacent areas of metacarpals II and III. Both attach into the base of the proximal phalanx of the thumb.</a:t>
            </a:r>
          </a:p>
          <a:p>
            <a:pPr>
              <a:buFont typeface="Arial" panose="020B0604020202020204" pitchFamily="34" charset="0"/>
              <a:buChar char="•"/>
            </a:pP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i="0" dirty="0" smtClean="0">
                <a:solidFill>
                  <a:srgbClr val="000000"/>
                </a:solidFill>
                <a:effectLst/>
                <a:latin typeface="Times New Roman" panose="02020603050405020304" pitchFamily="18" charset="0"/>
                <a:cs typeface="Times New Roman" panose="02020603050405020304" pitchFamily="18" charset="0"/>
              </a:rPr>
              <a:t>Actions</a:t>
            </a:r>
            <a:r>
              <a:rPr lang="en-US" sz="2400" b="0" i="0" dirty="0" smtClean="0">
                <a:solidFill>
                  <a:srgbClr val="000000"/>
                </a:solidFill>
                <a:effectLst/>
                <a:latin typeface="Times New Roman" panose="02020603050405020304" pitchFamily="18" charset="0"/>
                <a:cs typeface="Times New Roman" panose="02020603050405020304" pitchFamily="18" charset="0"/>
              </a:rPr>
              <a:t>: Adductor of the thumb.</a:t>
            </a:r>
          </a:p>
          <a:p>
            <a:pPr>
              <a:buFont typeface="Arial" panose="020B0604020202020204" pitchFamily="34" charset="0"/>
              <a:buChar char="•"/>
            </a:pPr>
            <a:endParaRPr lang="en-US" sz="2400" b="0" i="0" dirty="0" smtClean="0">
              <a:solidFill>
                <a:srgbClr val="000000"/>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b="1" i="0" dirty="0" smtClean="0">
                <a:solidFill>
                  <a:srgbClr val="000000"/>
                </a:solidFill>
                <a:effectLst/>
                <a:latin typeface="Times New Roman" panose="02020603050405020304" pitchFamily="18" charset="0"/>
                <a:cs typeface="Times New Roman" panose="02020603050405020304" pitchFamily="18" charset="0"/>
              </a:rPr>
              <a:t>Innervation</a:t>
            </a:r>
            <a:r>
              <a:rPr lang="en-US" sz="2400" b="0" i="0" dirty="0" smtClean="0">
                <a:solidFill>
                  <a:srgbClr val="000000"/>
                </a:solidFill>
                <a:effectLst/>
                <a:latin typeface="Times New Roman" panose="02020603050405020304" pitchFamily="18" charset="0"/>
                <a:cs typeface="Times New Roman" panose="02020603050405020304" pitchFamily="18" charset="0"/>
              </a:rPr>
              <a:t>: </a:t>
            </a:r>
            <a:r>
              <a:rPr lang="en-US" sz="2400" b="0" i="0" u="none" strike="noStrike" dirty="0" smtClean="0">
                <a:solidFill>
                  <a:srgbClr val="008178"/>
                </a:solidFill>
                <a:effectLst/>
                <a:latin typeface="Times New Roman" panose="02020603050405020304" pitchFamily="18" charset="0"/>
                <a:cs typeface="Times New Roman" panose="02020603050405020304" pitchFamily="18" charset="0"/>
                <a:hlinkClick r:id="rId2"/>
              </a:rPr>
              <a:t>Ulnar nerve</a:t>
            </a:r>
            <a:r>
              <a:rPr lang="en-US" sz="2400" b="0" i="0" dirty="0" smtClean="0">
                <a:solidFill>
                  <a:srgbClr val="000000"/>
                </a:solidFill>
                <a:effectLst/>
                <a:latin typeface="Times New Roman" panose="02020603050405020304" pitchFamily="18" charset="0"/>
                <a:cs typeface="Times New Roman" panose="02020603050405020304" pitchFamily="18" charset="0"/>
              </a:rPr>
              <a:t>.</a:t>
            </a: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7623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719512" y="747712"/>
            <a:ext cx="4752975" cy="5362575"/>
          </a:xfrm>
          <a:prstGeom prst="rect">
            <a:avLst/>
          </a:prstGeom>
        </p:spPr>
      </p:pic>
      <p:sp>
        <p:nvSpPr>
          <p:cNvPr id="3" name="Rectangle 2"/>
          <p:cNvSpPr/>
          <p:nvPr/>
        </p:nvSpPr>
        <p:spPr>
          <a:xfrm>
            <a:off x="1250947" y="6110287"/>
            <a:ext cx="5917004" cy="369332"/>
          </a:xfrm>
          <a:prstGeom prst="rect">
            <a:avLst/>
          </a:prstGeom>
        </p:spPr>
        <p:txBody>
          <a:bodyPr wrap="none">
            <a:spAutoFit/>
          </a:bodyPr>
          <a:lstStyle/>
          <a:p>
            <a:r>
              <a:rPr lang="en-US" b="0" i="0" dirty="0" smtClean="0">
                <a:solidFill>
                  <a:srgbClr val="000000"/>
                </a:solidFill>
                <a:effectLst/>
                <a:latin typeface="acumin-pro"/>
              </a:rPr>
              <a:t>The adductor </a:t>
            </a:r>
            <a:r>
              <a:rPr lang="en-US" b="0" i="0" dirty="0" err="1" smtClean="0">
                <a:solidFill>
                  <a:srgbClr val="000000"/>
                </a:solidFill>
                <a:effectLst/>
                <a:latin typeface="acumin-pro"/>
              </a:rPr>
              <a:t>pollicis</a:t>
            </a:r>
            <a:r>
              <a:rPr lang="en-US" b="0" i="0" dirty="0" smtClean="0">
                <a:solidFill>
                  <a:srgbClr val="000000"/>
                </a:solidFill>
                <a:effectLst/>
                <a:latin typeface="acumin-pro"/>
              </a:rPr>
              <a:t>. Note the two heads of the muscle.</a:t>
            </a:r>
            <a:endParaRPr lang="en-US" dirty="0"/>
          </a:p>
        </p:txBody>
      </p:sp>
    </p:spTree>
    <p:extLst>
      <p:ext uri="{BB962C8B-B14F-4D97-AF65-F5344CB8AC3E}">
        <p14:creationId xmlns:p14="http://schemas.microsoft.com/office/powerpoint/2010/main" val="19973295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754</TotalTime>
  <Words>862</Words>
  <Application>Microsoft Office PowerPoint</Application>
  <PresentationFormat>Widescreen</PresentationFormat>
  <Paragraphs>208</Paragraphs>
  <Slides>33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acumin-pro</vt:lpstr>
      <vt:lpstr>Arial</vt:lpstr>
      <vt:lpstr>Calibri</vt:lpstr>
      <vt:lpstr>Calibri Light</vt:lpstr>
      <vt:lpstr>Open Sans</vt:lpstr>
      <vt:lpstr>Times New Roman</vt:lpstr>
      <vt:lpstr>Office Theme</vt:lpstr>
      <vt:lpstr>HAND</vt:lpstr>
      <vt:lpstr>PowerPoint Presentation</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dc:title>
  <dc:creator>HP</dc:creator>
  <cp:lastModifiedBy>HP</cp:lastModifiedBy>
  <cp:revision>88</cp:revision>
  <dcterms:created xsi:type="dcterms:W3CDTF">2025-04-28T19:44:50Z</dcterms:created>
  <dcterms:modified xsi:type="dcterms:W3CDTF">2025-04-29T08:19:00Z</dcterms:modified>
</cp:coreProperties>
</file>