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7" r:id="rId2"/>
    <p:sldId id="256" r:id="rId3"/>
    <p:sldId id="258" r:id="rId4"/>
    <p:sldId id="259" r:id="rId5"/>
    <p:sldId id="260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1" r:id="rId29"/>
    <p:sldId id="308" r:id="rId30"/>
    <p:sldId id="292" r:id="rId31"/>
    <p:sldId id="293" r:id="rId32"/>
    <p:sldId id="294" r:id="rId33"/>
    <p:sldId id="295" r:id="rId34"/>
    <p:sldId id="296" r:id="rId35"/>
    <p:sldId id="297" r:id="rId36"/>
    <p:sldId id="299" r:id="rId37"/>
    <p:sldId id="300" r:id="rId38"/>
    <p:sldId id="301" r:id="rId39"/>
    <p:sldId id="329" r:id="rId40"/>
    <p:sldId id="302" r:id="rId41"/>
    <p:sldId id="261" r:id="rId42"/>
    <p:sldId id="263" r:id="rId43"/>
    <p:sldId id="303" r:id="rId44"/>
    <p:sldId id="304" r:id="rId45"/>
    <p:sldId id="305" r:id="rId46"/>
    <p:sldId id="306" r:id="rId47"/>
    <p:sldId id="307" r:id="rId48"/>
    <p:sldId id="323" r:id="rId49"/>
    <p:sldId id="324" r:id="rId50"/>
    <p:sldId id="325" r:id="rId51"/>
    <p:sldId id="326" r:id="rId52"/>
    <p:sldId id="327" r:id="rId53"/>
    <p:sldId id="328" r:id="rId54"/>
    <p:sldId id="488" r:id="rId55"/>
    <p:sldId id="489" r:id="rId56"/>
    <p:sldId id="487" r:id="rId57"/>
    <p:sldId id="490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CAE08-AE7B-46CC-8CF9-11F67EFA72E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C4453-124B-426C-BAC1-2B836E920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65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297C738-7B80-4CEB-9F35-CA74B258CC75}" type="slidenum">
              <a:t>57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60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8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0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69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1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1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2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0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6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7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02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86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60632-59C2-427F-97D8-215ECFF07D7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2DB4D-536A-4BDE-A6F3-71E7FECDA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2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1906073" y="553792"/>
            <a:ext cx="8757634" cy="1906073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ANATOMY OF THE PHARNYX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2895600" y="4353060"/>
            <a:ext cx="6892344" cy="1906072"/>
          </a:xfrm>
        </p:spPr>
        <p:txBody>
          <a:bodyPr>
            <a:normAutofit/>
          </a:bodyPr>
          <a:lstStyle/>
          <a:p>
            <a:r>
              <a:rPr lang="en-AU" b="1" dirty="0" smtClean="0">
                <a:latin typeface="Arial Black" pitchFamily="34" charset="0"/>
              </a:rPr>
              <a:t>BY</a:t>
            </a:r>
          </a:p>
          <a:p>
            <a:endParaRPr lang="en-AU" dirty="0"/>
          </a:p>
          <a:p>
            <a:r>
              <a:rPr lang="en-AU" dirty="0" smtClean="0">
                <a:latin typeface="Arial Black" pitchFamily="34" charset="0"/>
              </a:rPr>
              <a:t>DR OJEWALE A.O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58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7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2205"/>
            <a:ext cx="9144000" cy="925378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Outline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03797"/>
            <a:ext cx="9144000" cy="24469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Intro</a:t>
            </a:r>
          </a:p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Parts</a:t>
            </a:r>
          </a:p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Pharyngeal wall</a:t>
            </a:r>
          </a:p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Pharyngeal spaces</a:t>
            </a:r>
          </a:p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Pharyngeal muscles</a:t>
            </a:r>
          </a:p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</a:t>
            </a:r>
          </a:p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Arterial supply</a:t>
            </a:r>
          </a:p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Venous drainage</a:t>
            </a:r>
          </a:p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Nerve supply</a:t>
            </a:r>
          </a:p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Lymphatic drainage</a:t>
            </a:r>
          </a:p>
          <a:p>
            <a:pPr algn="l"/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Applied Anatomy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908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4069724" y="257576"/>
            <a:ext cx="6141075" cy="885407"/>
          </a:xfrm>
        </p:spPr>
        <p:txBody>
          <a:bodyPr/>
          <a:lstStyle/>
          <a:p>
            <a:r>
              <a:rPr lang="en-AU" b="1" dirty="0" smtClean="0">
                <a:latin typeface="Arial Black" pitchFamily="34" charset="0"/>
              </a:rPr>
              <a:t>Intro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1378039" y="1352282"/>
            <a:ext cx="9556124" cy="5291428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pharynx is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fibromuscular tube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located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behind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nasal cavities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mouth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Extends from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the base of the skull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above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level of the lower border of the cricoid cartilage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(C6) below.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Measures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12-14 cm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length.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widest above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where it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measures 3.5 cm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but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narrows below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(at its junction with the oesophagus) where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1.5 cm wide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59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40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1981200" y="1374748"/>
            <a:ext cx="8229600" cy="5197524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alimentary tract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narrowest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pharyngo-oesophagus junction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(except for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vermiform appendix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 This junction is about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15 cm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incisor teeth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divided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three parts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these include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nasopharynx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(lying behind the nose),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oropharynx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(lying behind the oral cavity),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laryngopharynx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(lying behind the larynx).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invested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externally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bucopharyngeal fascia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/>
          </a:p>
        </p:txBody>
      </p:sp>
      <p:sp>
        <p:nvSpPr>
          <p:cNvPr id="104859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138670" y="605307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446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5</a:t>
            </a:fld>
            <a:endParaRPr lang="en-US"/>
          </a:p>
        </p:txBody>
      </p:sp>
      <p:pic>
        <p:nvPicPr>
          <p:cNvPr id="209715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9555" y="1223492"/>
            <a:ext cx="9156879" cy="4562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00" name="TextBox 5"/>
          <p:cNvSpPr txBox="1"/>
          <p:nvPr/>
        </p:nvSpPr>
        <p:spPr>
          <a:xfrm>
            <a:off x="4024298" y="6110066"/>
            <a:ext cx="327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Subdivisions of the pharynx</a:t>
            </a:r>
          </a:p>
        </p:txBody>
      </p:sp>
    </p:spTree>
    <p:extLst>
      <p:ext uri="{BB962C8B-B14F-4D97-AF65-F5344CB8AC3E}">
        <p14:creationId xmlns:p14="http://schemas.microsoft.com/office/powerpoint/2010/main" val="139969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721217" y="1"/>
            <a:ext cx="10632583" cy="1305908"/>
          </a:xfrm>
        </p:spPr>
        <p:txBody>
          <a:bodyPr>
            <a:norm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Nasopharynx (Nasal Part of the pharynx)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>
          <a:xfrm>
            <a:off x="721217" y="1081825"/>
            <a:ext cx="10632583" cy="5776175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the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 part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of the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 pharynx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located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above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soft palate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behind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nasal cavities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respiratory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 in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function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 and is thus lined by the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respiratory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(pseudostratified ciliated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columnar) epithelium.</a:t>
            </a: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It has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a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roof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 formed by the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body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sphenoid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 and the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basilar part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occipital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bone,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a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floor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 formed by the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soft palate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(sloping upper surface).</a:t>
            </a: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It communicates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anteriorly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with the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nasal cavities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via the </a:t>
            </a:r>
            <a:r>
              <a:rPr lang="en-AU" sz="12800" b="1" dirty="0">
                <a:latin typeface="Arial" pitchFamily="34" charset="0"/>
                <a:cs typeface="Arial" pitchFamily="34" charset="0"/>
              </a:rPr>
              <a:t>posterior nasal apertures 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(</a:t>
            </a:r>
            <a:r>
              <a:rPr lang="en-AU" sz="12800" dirty="0" err="1">
                <a:latin typeface="Arial" pitchFamily="34" charset="0"/>
                <a:cs typeface="Arial" pitchFamily="34" charset="0"/>
              </a:rPr>
              <a:t>choanae</a:t>
            </a:r>
            <a:r>
              <a:rPr lang="en-AU" sz="12800" dirty="0">
                <a:latin typeface="Arial" pitchFamily="34" charset="0"/>
                <a:cs typeface="Arial" pitchFamily="34" charset="0"/>
              </a:rPr>
              <a:t>). </a:t>
            </a:r>
            <a:endParaRPr lang="en-AU" sz="128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It has a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posterior wall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formed by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continuous sloping surface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 with roof and It is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supported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anterior arch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C1 vertebra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12800" dirty="0" smtClean="0">
                <a:latin typeface="Arial" pitchFamily="34" charset="0"/>
                <a:cs typeface="Arial" pitchFamily="34" charset="0"/>
              </a:rPr>
              <a:t>It is bounded laterally by the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medial pterygoid plate 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12800" b="1" dirty="0" smtClean="0">
                <a:latin typeface="Arial" pitchFamily="34" charset="0"/>
                <a:cs typeface="Arial" pitchFamily="34" charset="0"/>
              </a:rPr>
              <a:t>sphenoid</a:t>
            </a:r>
            <a:r>
              <a:rPr lang="en-AU" sz="128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1280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AU" sz="12800" dirty="0">
              <a:latin typeface="Arial" pitchFamily="34" charset="0"/>
              <a:cs typeface="Arial" pitchFamily="34" charset="0"/>
            </a:endParaRP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87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Content Placeholder 2"/>
          <p:cNvSpPr>
            <a:spLocks noGrp="1"/>
          </p:cNvSpPr>
          <p:nvPr>
            <p:ph idx="1"/>
          </p:nvPr>
        </p:nvSpPr>
        <p:spPr>
          <a:xfrm>
            <a:off x="1723622" y="1249251"/>
            <a:ext cx="9184783" cy="4928428"/>
          </a:xfrm>
        </p:spPr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is linked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tympanic cavities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pharyngotympanic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(auditory)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tubes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These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open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 walls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one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each side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continuous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below with the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oropharynx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through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isthmus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isthmus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closed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during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swallowing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soft palate.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walls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are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rigid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non-collapsible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keep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air passage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patent.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1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7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035639" y="360608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57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8</a:t>
            </a:fld>
            <a:endParaRPr lang="en-US"/>
          </a:p>
        </p:txBody>
      </p:sp>
      <p:pic>
        <p:nvPicPr>
          <p:cNvPr id="209715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452794" y="1142985"/>
            <a:ext cx="5572164" cy="483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21" name="TextBox 5"/>
          <p:cNvSpPr txBox="1"/>
          <p:nvPr/>
        </p:nvSpPr>
        <p:spPr>
          <a:xfrm>
            <a:off x="3381356" y="6000769"/>
            <a:ext cx="5143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latin typeface="Arial" pitchFamily="34" charset="0"/>
                <a:cs typeface="Arial" pitchFamily="34" charset="0"/>
              </a:rPr>
              <a:t>Pathways for food (red arrow) and air (green </a:t>
            </a:r>
          </a:p>
          <a:p>
            <a:r>
              <a:rPr lang="en-AU" b="1" dirty="0">
                <a:latin typeface="Arial" pitchFamily="34" charset="0"/>
                <a:cs typeface="Arial" pitchFamily="34" charset="0"/>
              </a:rPr>
              <a:t>arrow) through the pharynx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67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The features of nasopharynx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23" name="Content Placeholder 2"/>
          <p:cNvSpPr>
            <a:spLocks noGrp="1"/>
          </p:cNvSpPr>
          <p:nvPr>
            <p:ph idx="1"/>
          </p:nvPr>
        </p:nvSpPr>
        <p:spPr>
          <a:xfrm>
            <a:off x="1674254" y="1600200"/>
            <a:ext cx="9002332" cy="5043510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On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each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its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 walls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opening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auditory tube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; this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opening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located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about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10 mm behind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(and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slightly below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 end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inferior nasal concha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opening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each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auditory tube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bounded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behind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by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mucosal elevation- tubal elevation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This is produced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medial end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cartilaginous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auditory tube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4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10</a:t>
            </a:fld>
            <a:endParaRPr lang="en-US"/>
          </a:p>
        </p:txBody>
      </p:sp>
      <p:pic>
        <p:nvPicPr>
          <p:cNvPr id="209715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9555" y="734097"/>
            <a:ext cx="9066727" cy="5319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26" name="TextBox 4"/>
          <p:cNvSpPr txBox="1"/>
          <p:nvPr/>
        </p:nvSpPr>
        <p:spPr>
          <a:xfrm>
            <a:off x="1666844" y="6072207"/>
            <a:ext cx="9787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pharynx </a:t>
            </a:r>
            <a:r>
              <a:rPr lang="en-AU" dirty="0">
                <a:latin typeface="Arial" pitchFamily="34" charset="0"/>
                <a:cs typeface="Arial" pitchFamily="34" charset="0"/>
              </a:rPr>
              <a:t>opened 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behind</a:t>
            </a:r>
            <a:r>
              <a:rPr lang="en-AU" dirty="0">
                <a:latin typeface="Arial" pitchFamily="34" charset="0"/>
                <a:cs typeface="Arial" pitchFamily="34" charset="0"/>
              </a:rPr>
              <a:t> showing features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walls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nasopharynx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oropharynx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laryngopharynx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399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Content Placeholder 2"/>
          <p:cNvSpPr>
            <a:spLocks noGrp="1"/>
          </p:cNvSpPr>
          <p:nvPr>
            <p:ph idx="1"/>
          </p:nvPr>
        </p:nvSpPr>
        <p:spPr>
          <a:xfrm>
            <a:off x="1236372" y="1545464"/>
            <a:ext cx="9826580" cy="5312535"/>
          </a:xfrm>
        </p:spPr>
        <p:txBody>
          <a:bodyPr>
            <a:noAutofit/>
          </a:bodyPr>
          <a:lstStyle/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Descending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from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tubal elevation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vertical fold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mucosa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,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salpingopharyngeal fold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; this contains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salpingopharyngeus.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Behind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tubal elevation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has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 depression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termed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recess (fossa of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Rosenmuller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roof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nasopharynx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n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asopharyngeal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pharyngeal) tonsil (adenoids).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This is an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aggregation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lymphoid tissue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(and is much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more prominent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children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945487" y="553792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08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167425" y="-515155"/>
            <a:ext cx="11835685" cy="1872579"/>
          </a:xfrm>
        </p:spPr>
        <p:txBody>
          <a:bodyPr>
            <a:norm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Oropharynx (Oral Part of the Pharynx)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30" name="Content Placeholder 2"/>
          <p:cNvSpPr>
            <a:spLocks noGrp="1"/>
          </p:cNvSpPr>
          <p:nvPr>
            <p:ph idx="1"/>
          </p:nvPr>
        </p:nvSpPr>
        <p:spPr>
          <a:xfrm>
            <a:off x="309093" y="669701"/>
            <a:ext cx="11694017" cy="6188299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lies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behind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oral cavity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extends from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lower surface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soft palate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above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upper border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epiglottis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communicates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anteriorly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oropharyngeal isthmus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(through which it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opens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oral cavity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 and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tongue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has a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roof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formed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soft palate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(under surface) and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isthmus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through which it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communicated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with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nasopharynx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has a floor formed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 1/3rd of the tongue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the Interval between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tongue and epiglottis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is bounded laterally on each side, it is supported by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pterygomandibular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raphe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mandible, tongue, and hyoid bone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88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Content Placeholder 2"/>
          <p:cNvSpPr>
            <a:spLocks noGrp="1"/>
          </p:cNvSpPr>
          <p:nvPr>
            <p:ph idx="1"/>
          </p:nvPr>
        </p:nvSpPr>
        <p:spPr>
          <a:xfrm>
            <a:off x="1738282" y="1339402"/>
            <a:ext cx="8715436" cy="5304307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is related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body of C2 vertebra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upper part of the body of C3 vertebra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has a lining of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stratified squamous non-keratinized epithelium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/>
          </a:p>
        </p:txBody>
      </p:sp>
      <p:sp>
        <p:nvSpPr>
          <p:cNvPr id="104863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602310" y="643944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424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The features of oropharynx</a:t>
            </a:r>
            <a:endParaRPr lang="en-US" dirty="0"/>
          </a:p>
        </p:txBody>
      </p:sp>
      <p:sp>
        <p:nvSpPr>
          <p:cNvPr id="1048635" name="Content Placeholder 2"/>
          <p:cNvSpPr>
            <a:spLocks noGrp="1"/>
          </p:cNvSpPr>
          <p:nvPr>
            <p:ph idx="1"/>
          </p:nvPr>
        </p:nvSpPr>
        <p:spPr>
          <a:xfrm>
            <a:off x="1666844" y="1600200"/>
            <a:ext cx="8786874" cy="4972072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presents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palatine tonsils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one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either side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located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into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triangular fossa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(tonsillar fossa) bounded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anteriorly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palatoglossal arch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palatopharyngeal arch.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palatoglossal arch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runs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downwards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forwards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from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palate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 margin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tongue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palatopharyngeal arch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runs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downwards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backwards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where it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fades out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3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75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Content Placeholder 2"/>
          <p:cNvSpPr>
            <a:spLocks noGrp="1"/>
          </p:cNvSpPr>
          <p:nvPr>
            <p:ph idx="1"/>
          </p:nvPr>
        </p:nvSpPr>
        <p:spPr>
          <a:xfrm>
            <a:off x="631065" y="1004552"/>
            <a:ext cx="10722735" cy="563915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Anterior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presents: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Lingual tonsil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formed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numerous nodules of lymphoid tissue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underneath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mucous lining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dorsum of the tongue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Upper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free end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epiglottis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behind the tongue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Median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glossoepiglottic folds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connecting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anterior surface and edges of the epiglottis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respectively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tongue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Epiglottic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valleculae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are shallow fossa between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median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glossoepiglottic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folds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 smtClean="0"/>
          </a:p>
          <a:p>
            <a:pPr algn="just"/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15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190186" y="386366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297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071546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Oropharyngeal Isthmus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42" name="Content Placeholder 2"/>
          <p:cNvSpPr>
            <a:spLocks noGrp="1"/>
          </p:cNvSpPr>
          <p:nvPr>
            <p:ph idx="1"/>
          </p:nvPr>
        </p:nvSpPr>
        <p:spPr>
          <a:xfrm>
            <a:off x="991673" y="656823"/>
            <a:ext cx="10097037" cy="6201177"/>
          </a:xfrm>
        </p:spPr>
        <p:txBody>
          <a:bodyPr>
            <a:normAutofit fontScale="96875"/>
          </a:bodyPr>
          <a:lstStyle/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It is an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arched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opening between the two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palatoglossal folds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through which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oral cavity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communicates with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oropharynx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It is bounded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above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soft palate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It is bounded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by the dorsal surface of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posterior one-third of the tongue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It is bounded laterally by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palatoglossal fold/arch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on either side containing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palatoglossus muscle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oropharyngeal isthmus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is closed during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deglutition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to prevent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regurgitation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of food from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mouth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83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17</a:t>
            </a:fld>
            <a:endParaRPr lang="en-US" dirty="0"/>
          </a:p>
        </p:txBody>
      </p:sp>
      <p:pic>
        <p:nvPicPr>
          <p:cNvPr id="209715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00011" y="875763"/>
            <a:ext cx="8628845" cy="4863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45" name="TextBox 5"/>
          <p:cNvSpPr txBox="1"/>
          <p:nvPr/>
        </p:nvSpPr>
        <p:spPr>
          <a:xfrm>
            <a:off x="3952860" y="5929331"/>
            <a:ext cx="4357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 Black" pitchFamily="34" charset="0"/>
              </a:rPr>
              <a:t>Boundaries of the oropharyngeal isthmus</a:t>
            </a:r>
            <a:endParaRPr lang="en-US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234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417638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itchFamily="34" charset="0"/>
                <a:cs typeface="Arial" pitchFamily="34" charset="0"/>
              </a:rPr>
              <a:t>Laryngopharynx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1048647" name="Content Placeholder 2"/>
          <p:cNvSpPr>
            <a:spLocks noGrp="1"/>
          </p:cNvSpPr>
          <p:nvPr>
            <p:ph idx="1"/>
          </p:nvPr>
        </p:nvSpPr>
        <p:spPr>
          <a:xfrm>
            <a:off x="695459" y="1071546"/>
            <a:ext cx="10097037" cy="5572164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laryngopharynx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lies behind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laryngeal inlet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 wall of the larynx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lies behind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extends from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upper border of the epiglottis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lower border of cricoid cartilage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anteriorly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lower border of C6 vertebra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posteriorly. It communicates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anteriorly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with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laryngeal cavity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through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laryngeal inlet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inferiorly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esophagus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at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pharyngoesophageal junction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(the narrowest part of the GIT except appendix).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4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32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>
          <a:xfrm>
            <a:off x="334851" y="274638"/>
            <a:ext cx="11732653" cy="1143000"/>
          </a:xfrm>
        </p:spPr>
        <p:txBody>
          <a:bodyPr>
            <a:noAutofit/>
          </a:bodyPr>
          <a:lstStyle/>
          <a:p>
            <a:pPr algn="ctr"/>
            <a:r>
              <a:rPr lang="en-US" dirty="0" smtClean="0">
                <a:latin typeface="Arial Black" pitchFamily="34" charset="0"/>
              </a:rPr>
              <a:t>Boundaries of </a:t>
            </a:r>
            <a:r>
              <a:rPr lang="en-US" dirty="0" smtClean="0">
                <a:latin typeface="Arial Black" pitchFamily="34" charset="0"/>
                <a:cs typeface="Arial" pitchFamily="34" charset="0"/>
              </a:rPr>
              <a:t>laryngopharynx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50" name="Content Placeholder 2"/>
          <p:cNvSpPr>
            <a:spLocks noGrp="1"/>
          </p:cNvSpPr>
          <p:nvPr>
            <p:ph idx="1"/>
          </p:nvPr>
        </p:nvSpPr>
        <p:spPr>
          <a:xfrm>
            <a:off x="811369" y="1417638"/>
            <a:ext cx="11256135" cy="5440362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Anterior wall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It is formed by: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Laryngeal inlet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 wall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supported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bodies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C3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C4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C5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C6 vertebrae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 wall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supported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thyroid cartilage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thyrohyoid membrane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5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4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1981200" y="642918"/>
            <a:ext cx="8229600" cy="774720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900" dirty="0">
                <a:latin typeface="Arial Black" panose="020B0A04020102020204" pitchFamily="34" charset="0"/>
                <a:cs typeface="Arial" pitchFamily="34" charset="0"/>
              </a:rPr>
              <a:t>Features</a:t>
            </a:r>
            <a:r>
              <a:rPr lang="en-AU" dirty="0" smtClean="0"/>
              <a:t/>
            </a:r>
            <a:br>
              <a:rPr lang="en-AU" dirty="0" smtClean="0"/>
            </a:br>
            <a:endParaRPr lang="en-US" dirty="0"/>
          </a:p>
        </p:txBody>
      </p:sp>
      <p:sp>
        <p:nvSpPr>
          <p:cNvPr id="1048653" name="Content Placeholder 2"/>
          <p:cNvSpPr>
            <a:spLocks noGrp="1"/>
          </p:cNvSpPr>
          <p:nvPr>
            <p:ph idx="1"/>
          </p:nvPr>
        </p:nvSpPr>
        <p:spPr>
          <a:xfrm>
            <a:off x="1365161" y="1357298"/>
            <a:ext cx="9787943" cy="5286412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features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laryngopharynx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are:</a:t>
            </a:r>
          </a:p>
          <a:p>
            <a:pPr marL="0" indent="0" algn="just">
              <a:buNone/>
            </a:pPr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wall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presents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laryngeal inlet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below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laryngeal inlet,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supported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cricoid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arytenoid cartilages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presents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piriform fossa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one on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each side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laryngeal inlet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08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>
                <a:latin typeface="Arial Black" pitchFamily="34" charset="0"/>
              </a:rPr>
              <a:t>Piriform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56" name="Content Placeholder 2"/>
          <p:cNvSpPr>
            <a:spLocks noGrp="1"/>
          </p:cNvSpPr>
          <p:nvPr>
            <p:ph idx="1"/>
          </p:nvPr>
        </p:nvSpPr>
        <p:spPr>
          <a:xfrm>
            <a:off x="838200" y="1596980"/>
            <a:ext cx="10515600" cy="4579983"/>
          </a:xfrm>
        </p:spPr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is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deep recess broad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above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narrow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below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anterior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laryngopharynx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on each side of the laryngeal inlet. These recesses are produced due 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bulging of larynx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into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laryngopharynx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5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71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437881" y="334850"/>
            <a:ext cx="11410681" cy="1326525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Arial Black" pitchFamily="34" charset="0"/>
              </a:rPr>
              <a:t>Boundaries of the piriform fossa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59" name="Content Placeholder 2"/>
          <p:cNvSpPr>
            <a:spLocks noGrp="1"/>
          </p:cNvSpPr>
          <p:nvPr>
            <p:ph idx="1"/>
          </p:nvPr>
        </p:nvSpPr>
        <p:spPr>
          <a:xfrm>
            <a:off x="850005" y="1571222"/>
            <a:ext cx="10503795" cy="5286777"/>
          </a:xfrm>
        </p:spPr>
        <p:txBody>
          <a:bodyPr>
            <a:noAutofit/>
          </a:bodyPr>
          <a:lstStyle/>
          <a:p>
            <a:pPr algn="just"/>
            <a:r>
              <a:rPr lang="en-US" sz="3200" dirty="0" smtClean="0">
                <a:latin typeface="Arial" pitchFamily="34" charset="0"/>
                <a:cs typeface="Arial" pitchFamily="34" charset="0"/>
              </a:rPr>
              <a:t>Medial: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Aryepiglottic fold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quadrangular membrane of larynx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dirty="0" smtClean="0">
                <a:latin typeface="Arial" pitchFamily="34" charset="0"/>
                <a:cs typeface="Arial" pitchFamily="34" charset="0"/>
              </a:rPr>
              <a:t>Lateral: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Mucous membrane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covering the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medial surface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lamina of thyroid cartilage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thyrohyoid membrane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internal laryngeal nerve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superior laryngeal vessels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pierce the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thyrohyoid membrane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and traverse underneath the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mucous membrane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floor of the fossa to reach the medial wall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dirty="0" smtClean="0">
                <a:latin typeface="Arial" pitchFamily="34" charset="0"/>
                <a:cs typeface="Arial" pitchFamily="34" charset="0"/>
              </a:rPr>
              <a:t>Above: It is separated from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epiglottic vallecula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by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lateral glossoepiglottic fold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sz="32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6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22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Content Placeholder 2"/>
          <p:cNvSpPr>
            <a:spLocks noGrp="1"/>
          </p:cNvSpPr>
          <p:nvPr>
            <p:ph idx="1"/>
          </p:nvPr>
        </p:nvSpPr>
        <p:spPr>
          <a:xfrm>
            <a:off x="1981200" y="928670"/>
            <a:ext cx="8229600" cy="5643602"/>
          </a:xfrm>
        </p:spPr>
        <p:txBody>
          <a:bodyPr/>
          <a:lstStyle/>
          <a:p>
            <a:pPr marL="0" indent="0" algn="just"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23</a:t>
            </a:fld>
            <a:endParaRPr lang="en-US"/>
          </a:p>
        </p:txBody>
      </p:sp>
      <p:pic>
        <p:nvPicPr>
          <p:cNvPr id="209715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4856" y="568091"/>
            <a:ext cx="10168944" cy="5646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63" name="TextBox 8"/>
          <p:cNvSpPr txBox="1"/>
          <p:nvPr/>
        </p:nvSpPr>
        <p:spPr>
          <a:xfrm>
            <a:off x="2704563" y="6286521"/>
            <a:ext cx="7405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latin typeface="Arial Black" panose="020B0A04020102020204" pitchFamily="34" charset="0"/>
                <a:cs typeface="Arial" pitchFamily="34" charset="0"/>
              </a:rPr>
              <a:t>Coronal </a:t>
            </a:r>
            <a:r>
              <a:rPr lang="en-AU" dirty="0">
                <a:latin typeface="Arial Black" panose="020B0A04020102020204" pitchFamily="34" charset="0"/>
                <a:cs typeface="Arial" pitchFamily="34" charset="0"/>
              </a:rPr>
              <a:t>section through larynx showing the location and boundaries of the piriform fossa</a:t>
            </a:r>
            <a:endParaRPr lang="en-US" dirty="0">
              <a:latin typeface="Arial Black" panose="020B0A0402010202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486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rial Black" pitchFamily="34" charset="0"/>
              </a:rPr>
              <a:t>Pharyngeal wall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65" name="Content Placeholder 2"/>
          <p:cNvSpPr>
            <a:spLocks noGrp="1"/>
          </p:cNvSpPr>
          <p:nvPr>
            <p:ph idx="1"/>
          </p:nvPr>
        </p:nvSpPr>
        <p:spPr>
          <a:xfrm>
            <a:off x="1390918" y="1428736"/>
            <a:ext cx="8819882" cy="514353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wall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consists of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four layers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; from within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outwards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these are as follows:</a:t>
            </a:r>
          </a:p>
          <a:p>
            <a:pPr algn="just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Mucous membrane/mucous coat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Pharyngobasilar fascia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(pharyngeal aponeurosis).</a:t>
            </a:r>
          </a:p>
          <a:p>
            <a:pPr algn="just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Muscular coat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(pharyngeal muscles).</a:t>
            </a:r>
          </a:p>
          <a:p>
            <a:pPr algn="just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Buccopharyngeal fascia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(loose areolar sheath).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6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73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25</a:t>
            </a:fld>
            <a:endParaRPr lang="en-US"/>
          </a:p>
        </p:txBody>
      </p:sp>
      <p:pic>
        <p:nvPicPr>
          <p:cNvPr id="209715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381224" y="1000109"/>
            <a:ext cx="7000924" cy="5072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68" name="TextBox 5"/>
          <p:cNvSpPr txBox="1"/>
          <p:nvPr/>
        </p:nvSpPr>
        <p:spPr>
          <a:xfrm>
            <a:off x="3809984" y="6143644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Structure of the pharyngeal wall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462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>
          <a:xfrm>
            <a:off x="592428" y="365125"/>
            <a:ext cx="10761372" cy="1325563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itchFamily="34" charset="0"/>
              </a:rPr>
              <a:t>        Cont’d</a:t>
            </a:r>
            <a:endParaRPr lang="en-US" dirty="0"/>
          </a:p>
        </p:txBody>
      </p:sp>
      <p:sp>
        <p:nvSpPr>
          <p:cNvPr id="1048670" name="Content Placeholder 2"/>
          <p:cNvSpPr>
            <a:spLocks noGrp="1"/>
          </p:cNvSpPr>
          <p:nvPr>
            <p:ph idx="1"/>
          </p:nvPr>
        </p:nvSpPr>
        <p:spPr>
          <a:xfrm>
            <a:off x="1094705" y="1223493"/>
            <a:ext cx="10509160" cy="5497982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Mucous membrane/mucous coat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mucous membrane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lining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contains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considerable amount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elastic tissue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continuous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mucous lining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eustachian tubes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nasal cavities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mouth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esophagus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lined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stratified squamous (non-keratinized) epithelium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oropharynx and laryngopharynx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), except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region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nasopharynx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where it is lined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pseudostratified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ciliated columnar epithelium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(respiratory epithelium).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 zone lined by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cuboidal epithelium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however lies between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oropharynx  and laryngopharynx</a:t>
            </a:r>
            <a:endParaRPr lang="en-US" sz="3200" dirty="0" smtClean="0"/>
          </a:p>
          <a:p>
            <a:pPr marL="0" indent="0" algn="just">
              <a:buNone/>
            </a:pP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7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32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Content Placeholder 2"/>
          <p:cNvSpPr>
            <a:spLocks noGrp="1"/>
          </p:cNvSpPr>
          <p:nvPr>
            <p:ph idx="1"/>
          </p:nvPr>
        </p:nvSpPr>
        <p:spPr>
          <a:xfrm>
            <a:off x="154546" y="373487"/>
            <a:ext cx="12037454" cy="6484513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Pharyngobasilar fascia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It is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fibrous thickening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submucosa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lines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muscular coat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thick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near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base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skull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but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thin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indistinct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inferiorly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thickest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dirty="0" smtClean="0">
                <a:latin typeface="Arial" pitchFamily="34" charset="0"/>
                <a:cs typeface="Arial" pitchFamily="34" charset="0"/>
              </a:rPr>
              <a:t>(a)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where it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fills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gap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upper border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superior constrictor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base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skull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dirty="0" smtClean="0">
                <a:latin typeface="Arial" pitchFamily="34" charset="0"/>
                <a:cs typeface="Arial" pitchFamily="34" charset="0"/>
              </a:rPr>
              <a:t>(b)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where it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forms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raphe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Muscular coat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muscular coat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consists of the following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two layers of striated muscles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outer layer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comprises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three pairs of circular muscles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constrictors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inner layer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comprises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three pairs of longitudinal muscles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7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27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430332" y="-154546"/>
            <a:ext cx="38507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204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Content Placeholder 2"/>
          <p:cNvSpPr>
            <a:spLocks noGrp="1"/>
          </p:cNvSpPr>
          <p:nvPr>
            <p:ph idx="1"/>
          </p:nvPr>
        </p:nvSpPr>
        <p:spPr>
          <a:xfrm>
            <a:off x="1118315" y="940158"/>
            <a:ext cx="10021909" cy="5781317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Buccopharyngeal fascia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It is an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inconspicuous fascia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which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covers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outer surface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constrictor muscles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upper part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it is also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prolonged forwards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cover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buccinator muscles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hence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name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buccopharyngeal fascia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upper border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superior constrictor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it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blends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with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pharyngobasilar fascia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7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28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396248" y="1"/>
            <a:ext cx="23310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572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rial Black" pitchFamily="34" charset="0"/>
              </a:rPr>
              <a:t>        Pharyngeal spaces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20" name="Content Placeholder 2"/>
          <p:cNvSpPr>
            <a:spLocks noGrp="1"/>
          </p:cNvSpPr>
          <p:nvPr>
            <p:ph idx="1"/>
          </p:nvPr>
        </p:nvSpPr>
        <p:spPr>
          <a:xfrm>
            <a:off x="1365161" y="1493948"/>
            <a:ext cx="9633397" cy="5364051"/>
          </a:xfrm>
        </p:spPr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These are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potential spaces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relation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viz.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Retropharyngeal space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It is situated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behind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extends from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base of the skull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above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bifurcation of trachea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below.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Parapharyngeal space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situated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side of the 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contains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carotid vessels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internal jugular vein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last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four cranial nerves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cervical sympathetic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chain.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496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699174"/>
          </a:xfrm>
        </p:spPr>
        <p:txBody>
          <a:bodyPr>
            <a:noAutofit/>
          </a:bodyPr>
          <a:lstStyle/>
          <a:p>
            <a:pPr algn="ctr"/>
            <a:r>
              <a:rPr lang="en-US" dirty="0" smtClean="0">
                <a:latin typeface="Arial Black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P</a:t>
            </a:r>
            <a:r>
              <a:rPr lang="en-US" dirty="0" smtClean="0">
                <a:latin typeface="Arial Black" pitchFamily="34" charset="0"/>
              </a:rPr>
              <a:t>haryngeal muscles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167425" y="463639"/>
            <a:ext cx="8667482" cy="6180072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Constrictor muscles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three constrictor muscles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superior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middle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inferior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 are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arranged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like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flowerpot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without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base,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placed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one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other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open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front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for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communication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nasal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laryngeal cavities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Thus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inferior constrictor overlaps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middle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which in turn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overlaps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superior constrictor.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They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form bulk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muscular coat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wall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arise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front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from the margins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 openings of the nasal, oral, and laryngeal cavities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8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30</a:t>
            </a:fld>
            <a:endParaRPr lang="en-US"/>
          </a:p>
        </p:txBody>
      </p:sp>
      <p:pic>
        <p:nvPicPr>
          <p:cNvPr id="209716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66220" y="699174"/>
            <a:ext cx="3425780" cy="5350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81" name="TextBox 5"/>
          <p:cNvSpPr txBox="1"/>
          <p:nvPr/>
        </p:nvSpPr>
        <p:spPr>
          <a:xfrm>
            <a:off x="8834907" y="5743977"/>
            <a:ext cx="3357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Overlapping arrangement of the constrictor muscles of the pharynx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837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Content Placeholder 2"/>
          <p:cNvSpPr>
            <a:spLocks noGrp="1"/>
          </p:cNvSpPr>
          <p:nvPr>
            <p:ph idx="1"/>
          </p:nvPr>
        </p:nvSpPr>
        <p:spPr>
          <a:xfrm>
            <a:off x="1738282" y="1262130"/>
            <a:ext cx="8643998" cy="5381580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fibres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pass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backwards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in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fan-shaped manner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lateral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 walls of the pharynx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to be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inserted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median fibrous raphe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 aspect of the 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extending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from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base of the skull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tubercle of occipital bone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esophagus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31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602310" y="566670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0179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32</a:t>
            </a:fld>
            <a:endParaRPr lang="en-US"/>
          </a:p>
        </p:txBody>
      </p:sp>
      <p:pic>
        <p:nvPicPr>
          <p:cNvPr id="209716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28801" y="1000109"/>
            <a:ext cx="8860664" cy="5126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85" name="TextBox 5"/>
          <p:cNvSpPr txBox="1"/>
          <p:nvPr/>
        </p:nvSpPr>
        <p:spPr>
          <a:xfrm>
            <a:off x="3566287" y="6352143"/>
            <a:ext cx="6659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Origin and insertion of the constrictors of the pharynx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553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00766"/>
          </a:xfrm>
        </p:spPr>
        <p:txBody>
          <a:bodyPr>
            <a:noAutofit/>
          </a:bodyPr>
          <a:lstStyle/>
          <a:p>
            <a:r>
              <a:rPr lang="en-AU" sz="3600" dirty="0">
                <a:latin typeface="Arial Black" pitchFamily="34" charset="0"/>
              </a:rPr>
              <a:t>Origin, insertion, nerve supply, and actions of the constrictor muscles of the pharynx</a:t>
            </a:r>
            <a:endParaRPr lang="en-US" sz="3600" dirty="0">
              <a:latin typeface="Arial Black" pitchFamily="34" charset="0"/>
            </a:endParaRPr>
          </a:p>
        </p:txBody>
      </p:sp>
      <p:graphicFrame>
        <p:nvGraphicFramePr>
          <p:cNvPr id="4194304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4945640"/>
              </p:ext>
            </p:extLst>
          </p:nvPr>
        </p:nvGraphicFramePr>
        <p:xfrm>
          <a:off x="360609" y="1300768"/>
          <a:ext cx="11616743" cy="5420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357"/>
                <a:gridCol w="3334648"/>
                <a:gridCol w="1918952"/>
                <a:gridCol w="2884868"/>
                <a:gridCol w="1390918"/>
              </a:tblGrid>
              <a:tr h="416977"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Muscle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Insertion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Nerve supply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2844586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Superior constrictor </a:t>
                      </a:r>
                    </a:p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(Quadrilateral in shape)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(a) </a:t>
                      </a:r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Pterygoid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hamulus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(b)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Pterygomandibular </a:t>
                      </a:r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raphe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(c)  Medial surface of the mandible at the upper end of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mylohyoid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line</a:t>
                      </a:r>
                    </a:p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(d)  Side of the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posterior part of the tongue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(a) Pharyngeal tubercle on the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base of skull </a:t>
                      </a:r>
                    </a:p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(b) Median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fibrous </a:t>
                      </a:r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raphe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Pharyngeal branch of the </a:t>
                      </a:r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vagus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nerve carrying fibres of cranial root of the accessory nerve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Helps in </a:t>
                      </a:r>
                    </a:p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deglutition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215914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Middle constrictor </a:t>
                      </a:r>
                    </a:p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(Fan shaped)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(a)  Lower part of the </a:t>
                      </a:r>
                    </a:p>
                    <a:p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stylohyoid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ligament </a:t>
                      </a:r>
                    </a:p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(b)  Lesser cornu of hyoid </a:t>
                      </a:r>
                    </a:p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(c)  Upper border of greater cornu of hyoid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Median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fibrous </a:t>
                      </a:r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raphe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Pharyngeal branch of the </a:t>
                      </a:r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vagus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nerve carrying fibres of cranial root of the accessory nerve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Helps in </a:t>
                      </a:r>
                    </a:p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deglutition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68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84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graphicFrame>
        <p:nvGraphicFramePr>
          <p:cNvPr id="419430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067318"/>
              </p:ext>
            </p:extLst>
          </p:nvPr>
        </p:nvGraphicFramePr>
        <p:xfrm>
          <a:off x="502276" y="1600201"/>
          <a:ext cx="11526591" cy="4472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680"/>
                <a:gridCol w="2745530"/>
                <a:gridCol w="2028686"/>
                <a:gridCol w="2120900"/>
                <a:gridCol w="1659795"/>
              </a:tblGrid>
              <a:tr h="503015"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Muscle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Insertion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Nerve supply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272868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Inferior constrictor </a:t>
                      </a:r>
                    </a:p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(a)</a:t>
                      </a:r>
                      <a:r>
                        <a:rPr lang="en-US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000" dirty="0" err="1" smtClean="0">
                          <a:latin typeface="Arial" pitchFamily="34" charset="0"/>
                          <a:cs typeface="Arial" pitchFamily="34" charset="0"/>
                        </a:rPr>
                        <a:t>Thyropharyngeus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(a)  Oblique line on lamina of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the thyroid cartilage </a:t>
                      </a:r>
                    </a:p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(b)  Tendinous band between the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thyroid (inferior) tubercle and cricoid cartilage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Median fibrous </a:t>
                      </a:r>
                      <a:r>
                        <a:rPr lang="en-US" sz="2000" dirty="0" err="1" smtClean="0">
                          <a:latin typeface="Arial" pitchFamily="34" charset="0"/>
                          <a:cs typeface="Arial" pitchFamily="34" charset="0"/>
                        </a:rPr>
                        <a:t>raphe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(a)Pharyngeal plexus and </a:t>
                      </a:r>
                    </a:p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(b) External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laryngeal nerve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Helps in </a:t>
                      </a:r>
                    </a:p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deglutition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24031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(b)  </a:t>
                      </a:r>
                      <a:r>
                        <a:rPr lang="en-US" sz="2000" dirty="0" err="1" smtClean="0">
                          <a:latin typeface="Arial" pitchFamily="34" charset="0"/>
                          <a:cs typeface="Arial" pitchFamily="34" charset="0"/>
                        </a:rPr>
                        <a:t>Cricopharyngeus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Arial" pitchFamily="34" charset="0"/>
                          <a:cs typeface="Arial" pitchFamily="34" charset="0"/>
                        </a:rPr>
                        <a:t>Cricoid</a:t>
                      </a:r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 cartilage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Median</a:t>
                      </a:r>
                      <a:r>
                        <a:rPr lang="en-US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fibrous </a:t>
                      </a:r>
                      <a:r>
                        <a:rPr lang="en-US" sz="2000" dirty="0" err="1" smtClean="0">
                          <a:latin typeface="Arial" pitchFamily="34" charset="0"/>
                          <a:cs typeface="Arial" pitchFamily="34" charset="0"/>
                        </a:rPr>
                        <a:t>raphe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Recurrent laryngeal nerve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68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16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>
          <a:xfrm>
            <a:off x="838200" y="-218941"/>
            <a:ext cx="10515600" cy="1197735"/>
          </a:xfrm>
        </p:spPr>
        <p:txBody>
          <a:bodyPr>
            <a:norm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Gaps in the </a:t>
            </a:r>
            <a:r>
              <a:rPr lang="en-AU" dirty="0">
                <a:latin typeface="Arial Black" pitchFamily="34" charset="0"/>
              </a:rPr>
              <a:t>p</a:t>
            </a:r>
            <a:r>
              <a:rPr lang="en-AU" dirty="0" smtClean="0">
                <a:latin typeface="Arial Black" pitchFamily="34" charset="0"/>
              </a:rPr>
              <a:t>haryngeal wall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91" name="Content Placeholder 2"/>
          <p:cNvSpPr>
            <a:spLocks noGrp="1"/>
          </p:cNvSpPr>
          <p:nvPr>
            <p:ph idx="1"/>
          </p:nvPr>
        </p:nvSpPr>
        <p:spPr>
          <a:xfrm>
            <a:off x="386366" y="785611"/>
            <a:ext cx="10967434" cy="5391352"/>
          </a:xfrm>
        </p:spPr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four gaps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exist on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either side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relation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constrictor muscles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gaps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structures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passing through these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gaps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9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942" y="2202287"/>
            <a:ext cx="11134858" cy="43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19991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1313645" y="145849"/>
            <a:ext cx="10040155" cy="1143000"/>
          </a:xfrm>
        </p:spPr>
        <p:txBody>
          <a:bodyPr>
            <a:noAutofit/>
          </a:bodyPr>
          <a:lstStyle/>
          <a:p>
            <a:r>
              <a:rPr lang="en-AU" sz="3600" dirty="0">
                <a:latin typeface="Arial Black" pitchFamily="34" charset="0"/>
              </a:rPr>
              <a:t>The gaps in the pharyngeal wall and structures </a:t>
            </a:r>
            <a:r>
              <a:rPr lang="en-AU" sz="3600" dirty="0" smtClean="0">
                <a:latin typeface="Arial Black" pitchFamily="34" charset="0"/>
              </a:rPr>
              <a:t>passing </a:t>
            </a:r>
            <a:r>
              <a:rPr lang="en-AU" sz="3600" dirty="0">
                <a:latin typeface="Arial Black" pitchFamily="34" charset="0"/>
              </a:rPr>
              <a:t>through them</a:t>
            </a:r>
            <a:endParaRPr lang="en-US" sz="3600" dirty="0">
              <a:latin typeface="Arial Black" pitchFamily="34" charset="0"/>
            </a:endParaRPr>
          </a:p>
        </p:txBody>
      </p:sp>
      <p:graphicFrame>
        <p:nvGraphicFramePr>
          <p:cNvPr id="4194306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0082260"/>
              </p:ext>
            </p:extLst>
          </p:nvPr>
        </p:nvGraphicFramePr>
        <p:xfrm>
          <a:off x="373486" y="1288848"/>
          <a:ext cx="11818514" cy="535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9257"/>
                <a:gridCol w="5909257"/>
              </a:tblGrid>
              <a:tr h="797533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Gap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Structures passing </a:t>
                      </a:r>
                    </a:p>
                    <a:p>
                      <a:pPr algn="just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through them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822932">
                <a:tc>
                  <a:txBody>
                    <a:bodyPr/>
                    <a:lstStyle/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Between the base of skull and the upper concave border of superior constrictor (sinus of Morgagni)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Auditory tube</a:t>
                      </a:r>
                    </a:p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Levator palati muscle</a:t>
                      </a:r>
                    </a:p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Ascending palatine artery</a:t>
                      </a:r>
                    </a:p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Palatine branch of the </a:t>
                      </a:r>
                    </a:p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ascending pharyngeal artery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797533">
                <a:tc>
                  <a:txBody>
                    <a:bodyPr/>
                    <a:lstStyle/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Between the superior and middle constrictors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Stylopharyngeus muscle</a:t>
                      </a:r>
                    </a:p>
                    <a:p>
                      <a:pPr algn="just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Glossopharyngeal nerve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797533">
                <a:tc>
                  <a:txBody>
                    <a:bodyPr/>
                    <a:lstStyle/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Between the middle and inferior constrictors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Internal laryngeal nerve</a:t>
                      </a:r>
                    </a:p>
                    <a:p>
                      <a:pPr algn="just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Superior laryngeal vessels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139333">
                <a:tc>
                  <a:txBody>
                    <a:bodyPr/>
                    <a:lstStyle/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Between the lower border of </a:t>
                      </a:r>
                    </a:p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inferior constrictor and the esophagus (in the tracheoesophageal groove)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Recurrent laryngeal nerve</a:t>
                      </a:r>
                    </a:p>
                    <a:p>
                      <a:pPr algn="just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Inferior laryngeal vessels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69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296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2013238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itchFamily="34" charset="0"/>
              </a:rPr>
              <a:t>Longitudinal muscles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98" name="Content Placeholder 2"/>
          <p:cNvSpPr>
            <a:spLocks noGrp="1"/>
          </p:cNvSpPr>
          <p:nvPr>
            <p:ph idx="1"/>
          </p:nvPr>
        </p:nvSpPr>
        <p:spPr>
          <a:xfrm>
            <a:off x="1067872" y="1636288"/>
            <a:ext cx="10407203" cy="4922568"/>
          </a:xfrm>
        </p:spPr>
        <p:txBody>
          <a:bodyPr>
            <a:normAutofit fontScale="96875"/>
          </a:bodyPr>
          <a:lstStyle/>
          <a:p>
            <a:pPr algn="just"/>
            <a:r>
              <a:rPr lang="en-AU" sz="3300" dirty="0" smtClean="0">
                <a:latin typeface="Arial" pitchFamily="34" charset="0"/>
                <a:cs typeface="Arial" pitchFamily="34" charset="0"/>
              </a:rPr>
              <a:t>They are a </a:t>
            </a:r>
            <a:r>
              <a:rPr lang="en-AU" sz="3300" b="1" dirty="0" smtClean="0">
                <a:latin typeface="Arial" pitchFamily="34" charset="0"/>
                <a:cs typeface="Arial" pitchFamily="34" charset="0"/>
              </a:rPr>
              <a:t>group</a:t>
            </a:r>
            <a:r>
              <a:rPr lang="en-AU" sz="33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300" b="1" dirty="0" smtClean="0">
                <a:latin typeface="Arial" pitchFamily="34" charset="0"/>
                <a:cs typeface="Arial" pitchFamily="34" charset="0"/>
              </a:rPr>
              <a:t>muscles</a:t>
            </a:r>
            <a:r>
              <a:rPr lang="en-AU" sz="3300" dirty="0" smtClean="0">
                <a:latin typeface="Arial" pitchFamily="34" charset="0"/>
                <a:cs typeface="Arial" pitchFamily="34" charset="0"/>
              </a:rPr>
              <a:t> that run </a:t>
            </a:r>
            <a:r>
              <a:rPr lang="en-AU" sz="3300" b="1" dirty="0" smtClean="0">
                <a:latin typeface="Arial" pitchFamily="34" charset="0"/>
                <a:cs typeface="Arial" pitchFamily="34" charset="0"/>
              </a:rPr>
              <a:t>longitudinally</a:t>
            </a:r>
            <a:r>
              <a:rPr lang="en-AU" sz="3300" dirty="0" smtClean="0">
                <a:latin typeface="Arial" pitchFamily="34" charset="0"/>
                <a:cs typeface="Arial" pitchFamily="34" charset="0"/>
              </a:rPr>
              <a:t> along the </a:t>
            </a:r>
            <a:r>
              <a:rPr lang="en-AU" sz="33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300" dirty="0" smtClean="0">
                <a:latin typeface="Arial" pitchFamily="34" charset="0"/>
                <a:cs typeface="Arial" pitchFamily="34" charset="0"/>
              </a:rPr>
              <a:t> from above </a:t>
            </a:r>
            <a:r>
              <a:rPr lang="en-AU" sz="3300" b="1" dirty="0" smtClean="0">
                <a:latin typeface="Arial" pitchFamily="34" charset="0"/>
                <a:cs typeface="Arial" pitchFamily="34" charset="0"/>
              </a:rPr>
              <a:t>downwards</a:t>
            </a:r>
            <a:r>
              <a:rPr lang="en-AU" sz="3300" dirty="0" smtClean="0">
                <a:latin typeface="Arial" pitchFamily="34" charset="0"/>
                <a:cs typeface="Arial" pitchFamily="34" charset="0"/>
              </a:rPr>
              <a:t> to </a:t>
            </a:r>
            <a:r>
              <a:rPr lang="en-AU" sz="3300" b="1" dirty="0" smtClean="0">
                <a:latin typeface="Arial" pitchFamily="34" charset="0"/>
                <a:cs typeface="Arial" pitchFamily="34" charset="0"/>
              </a:rPr>
              <a:t>form</a:t>
            </a:r>
            <a:r>
              <a:rPr lang="en-AU" sz="33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300" b="1" dirty="0" smtClean="0">
                <a:latin typeface="Arial" pitchFamily="34" charset="0"/>
                <a:cs typeface="Arial" pitchFamily="34" charset="0"/>
              </a:rPr>
              <a:t>longitudinal muscle coat</a:t>
            </a:r>
            <a:r>
              <a:rPr lang="en-AU" sz="33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3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300" b="1" dirty="0" smtClean="0">
                <a:latin typeface="Arial" pitchFamily="34" charset="0"/>
                <a:cs typeface="Arial" pitchFamily="34" charset="0"/>
              </a:rPr>
              <a:t>three longitudinal muscles </a:t>
            </a:r>
            <a:r>
              <a:rPr lang="en-AU" sz="33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3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300" dirty="0" smtClean="0">
                <a:latin typeface="Arial" pitchFamily="34" charset="0"/>
                <a:cs typeface="Arial" pitchFamily="34" charset="0"/>
              </a:rPr>
              <a:t> are, </a:t>
            </a:r>
            <a:r>
              <a:rPr lang="en-US" sz="3300" b="1" dirty="0" smtClean="0">
                <a:latin typeface="Arial" pitchFamily="34" charset="0"/>
                <a:cs typeface="Arial" pitchFamily="34" charset="0"/>
              </a:rPr>
              <a:t>stylopharyngeus</a:t>
            </a:r>
            <a:r>
              <a:rPr lang="en-US" sz="33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3300" b="1" dirty="0" smtClean="0">
                <a:latin typeface="Arial" pitchFamily="34" charset="0"/>
                <a:cs typeface="Arial" pitchFamily="34" charset="0"/>
              </a:rPr>
              <a:t>palatopharyngeus</a:t>
            </a:r>
            <a:r>
              <a:rPr lang="en-US" sz="33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US" sz="3300" b="1" dirty="0" smtClean="0">
                <a:latin typeface="Arial" pitchFamily="34" charset="0"/>
                <a:cs typeface="Arial" pitchFamily="34" charset="0"/>
              </a:rPr>
              <a:t>salpingopharyngeus</a:t>
            </a:r>
            <a:r>
              <a:rPr lang="en-US" sz="33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69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471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>
          <a:xfrm>
            <a:off x="437882" y="-360608"/>
            <a:ext cx="11281893" cy="1468191"/>
          </a:xfrm>
        </p:spPr>
        <p:txBody>
          <a:bodyPr>
            <a:noAutofit/>
          </a:bodyPr>
          <a:lstStyle/>
          <a:p>
            <a:r>
              <a:rPr lang="en-AU" sz="3600" dirty="0">
                <a:latin typeface="Arial Black" pitchFamily="34" charset="0"/>
                <a:cs typeface="Arial" pitchFamily="34" charset="0"/>
              </a:rPr>
              <a:t>Origin, insertion, and nerve supply of the longitudinal muscles of the pharynx</a:t>
            </a:r>
            <a:endParaRPr lang="en-US" sz="3600" dirty="0">
              <a:latin typeface="Arial Black" pitchFamily="34" charset="0"/>
              <a:cs typeface="Arial" pitchFamily="34" charset="0"/>
            </a:endParaRPr>
          </a:p>
        </p:txBody>
      </p:sp>
      <p:graphicFrame>
        <p:nvGraphicFramePr>
          <p:cNvPr id="4194307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7666117"/>
              </p:ext>
            </p:extLst>
          </p:nvPr>
        </p:nvGraphicFramePr>
        <p:xfrm>
          <a:off x="1" y="785611"/>
          <a:ext cx="12192000" cy="5935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258"/>
                <a:gridCol w="3871545"/>
                <a:gridCol w="2934676"/>
                <a:gridCol w="2861521"/>
              </a:tblGrid>
              <a:tr h="473440">
                <a:tc>
                  <a:txBody>
                    <a:bodyPr/>
                    <a:lstStyle/>
                    <a:p>
                      <a:r>
                        <a:rPr lang="en-US" dirty="0" smtClean="0"/>
                        <a:t>Muscle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Origin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Insertion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Nerve supply</a:t>
                      </a:r>
                      <a:endParaRPr lang="en-US" dirty="0"/>
                    </a:p>
                  </a:txBody>
                  <a:tcPr/>
                </a:tc>
              </a:tr>
              <a:tr h="1447665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Stylopharyngeus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Medial surface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of the </a:t>
                      </a:r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base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of </a:t>
                      </a:r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styloid process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of the </a:t>
                      </a:r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temporal bone</a:t>
                      </a:r>
                      <a:endParaRPr lang="en-US" sz="20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Pharyngeal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wall &amp; p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osterior border of the lamina of thyroid cartilage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Glossopharyngeal (IX) nerve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89376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Palatopharyngeus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Hard</a:t>
                      </a:r>
                      <a:r>
                        <a:rPr lang="en-AU" sz="2000" b="1" baseline="0" dirty="0" smtClean="0">
                          <a:latin typeface="Arial" pitchFamily="34" charset="0"/>
                          <a:cs typeface="Arial" pitchFamily="34" charset="0"/>
                        </a:rPr>
                        <a:t> palate 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and </a:t>
                      </a:r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upper</a:t>
                      </a:r>
                      <a:r>
                        <a:rPr lang="en-AU" sz="2000" b="1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surface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of the </a:t>
                      </a:r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palatine</a:t>
                      </a:r>
                      <a:r>
                        <a:rPr lang="en-AU" sz="2000" b="1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aponeurosis</a:t>
                      </a:r>
                      <a:endParaRPr lang="en-US" sz="20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Pharyngeal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wall &amp;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posterior border of the lamina of thyroid cartilage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Cranial root of accessory (11</a:t>
                      </a:r>
                      <a:r>
                        <a:rPr lang="en-AU" sz="2000" baseline="30000" dirty="0" smtClean="0">
                          <a:latin typeface="Arial" pitchFamily="34" charset="0"/>
                          <a:cs typeface="Arial" pitchFamily="34" charset="0"/>
                        </a:rPr>
                        <a:t>th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) nerve via </a:t>
                      </a:r>
                    </a:p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pharyngeal plexus of </a:t>
                      </a:r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vagus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nerve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2120998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Salpingopharyngeus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Lower part of the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cartilage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of the </a:t>
                      </a:r>
                      <a:r>
                        <a:rPr lang="en-AU" sz="2000" b="1" dirty="0" smtClean="0">
                          <a:latin typeface="Arial" pitchFamily="34" charset="0"/>
                          <a:cs typeface="Arial" pitchFamily="34" charset="0"/>
                        </a:rPr>
                        <a:t>auditory tube</a:t>
                      </a:r>
                      <a:endParaRPr lang="en-US" sz="20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Posterior border of the lamina of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t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hyroid cartilage, It blends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with the</a:t>
                      </a:r>
                      <a:r>
                        <a:rPr lang="en-US" sz="2000" baseline="0" dirty="0" smtClean="0">
                          <a:latin typeface="Arial" pitchFamily="34" charset="0"/>
                          <a:cs typeface="Arial" pitchFamily="34" charset="0"/>
                        </a:rPr>
                        <a:t> p</a:t>
                      </a:r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alatopharyngeus into the pharyngeal wall.</a:t>
                      </a:r>
                    </a:p>
                    <a:p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Cranial root of accessory (11</a:t>
                      </a:r>
                      <a:r>
                        <a:rPr lang="en-AU" sz="2000" baseline="30000" dirty="0" smtClean="0">
                          <a:latin typeface="Arial" pitchFamily="34" charset="0"/>
                          <a:cs typeface="Arial" pitchFamily="34" charset="0"/>
                        </a:rPr>
                        <a:t>th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) nerve via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pharyngeal plexus of </a:t>
                      </a:r>
                      <a:r>
                        <a:rPr lang="en-AU" sz="2000" dirty="0" err="1" smtClean="0">
                          <a:latin typeface="Arial" pitchFamily="34" charset="0"/>
                          <a:cs typeface="Arial" pitchFamily="34" charset="0"/>
                        </a:rPr>
                        <a:t>vagus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 nerve</a:t>
                      </a:r>
                      <a:endParaRPr lang="en-US" sz="200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70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402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Cont’d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Actions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longitudinal muscles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They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elevate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larynx,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shorten and widen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pharynx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during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swallowing (deglutition)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At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same time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palatopharyngeal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sphincter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formed by some fibres of the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palatophayngeus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muscle closes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nasopharyngeal isthmus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49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40</a:t>
            </a:fld>
            <a:endParaRPr lang="en-US" dirty="0"/>
          </a:p>
        </p:txBody>
      </p:sp>
      <p:pic>
        <p:nvPicPr>
          <p:cNvPr id="209716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26524" y="1071547"/>
            <a:ext cx="9491730" cy="505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703" name="TextBox 5"/>
          <p:cNvSpPr txBox="1"/>
          <p:nvPr/>
        </p:nvSpPr>
        <p:spPr>
          <a:xfrm>
            <a:off x="2073499" y="6143645"/>
            <a:ext cx="8744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latin typeface="Arial" pitchFamily="34" charset="0"/>
                <a:cs typeface="Arial" pitchFamily="34" charset="0"/>
              </a:rPr>
              <a:t>Origin and insertion of the longitudinal muscles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the pharynx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5100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838200" y="-270455"/>
            <a:ext cx="10515600" cy="1094703"/>
          </a:xfrm>
        </p:spPr>
        <p:txBody>
          <a:bodyPr>
            <a:norm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Relations of the pharnyx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>
          <a:xfrm>
            <a:off x="296213" y="553792"/>
            <a:ext cx="11513713" cy="6645497"/>
          </a:xfrm>
        </p:spPr>
        <p:txBody>
          <a:bodyPr>
            <a:noAutofit/>
          </a:bodyPr>
          <a:lstStyle/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base of skull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including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posterior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sphenoidal body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basilar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occipital bone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front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tubercle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oesophagus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(with which it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directly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continuous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Behind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retropharyngeal space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prevertebral fascia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prevertebral muscles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(longus </a:t>
            </a:r>
            <a:r>
              <a:rPr lang="en-AU" sz="3200" dirty="0" err="1" smtClean="0">
                <a:latin typeface="Arial" pitchFamily="34" charset="0"/>
                <a:cs typeface="Arial" pitchFamily="34" charset="0"/>
              </a:rPr>
              <a:t>colli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longus capitis)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cervical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vertebral column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front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nasal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oral cavities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and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Laterally (on each side)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styloid process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its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attached muscles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upper end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thyroid lobe, carotid sheath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(and its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contents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), and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glossopharyngeal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vagus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accessory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hypoglossal nerves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353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42</a:t>
            </a:fld>
            <a:endParaRPr lang="en-US"/>
          </a:p>
        </p:txBody>
      </p:sp>
      <p:pic>
        <p:nvPicPr>
          <p:cNvPr id="209715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08338" y="592429"/>
            <a:ext cx="10645461" cy="5533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07" name="TextBox 5"/>
          <p:cNvSpPr txBox="1"/>
          <p:nvPr/>
        </p:nvSpPr>
        <p:spPr>
          <a:xfrm>
            <a:off x="2794715" y="6143645"/>
            <a:ext cx="780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latin typeface="Arial" pitchFamily="34" charset="0"/>
                <a:cs typeface="Arial" pitchFamily="34" charset="0"/>
              </a:rPr>
              <a:t>The sagittal section through the nose, mouth,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, and larynx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7348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87886"/>
          </a:xfrm>
        </p:spPr>
        <p:txBody>
          <a:bodyPr>
            <a:norm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Arterial supply of the pharynx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05" name="Content Placeholder 2"/>
          <p:cNvSpPr>
            <a:spLocks noGrp="1"/>
          </p:cNvSpPr>
          <p:nvPr>
            <p:ph idx="1"/>
          </p:nvPr>
        </p:nvSpPr>
        <p:spPr>
          <a:xfrm>
            <a:off x="838201" y="1287887"/>
            <a:ext cx="10417934" cy="5212947"/>
          </a:xfrm>
        </p:spPr>
        <p:txBody>
          <a:bodyPr>
            <a:normAutofit fontScale="96875"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branches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following arteries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supply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</a:t>
            </a:r>
            <a:endParaRPr lang="en-US" sz="3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Ascending pharyngeal artery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(from external carotid artery).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Ascending palatine and tonsillar arteries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(from facial artery).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Greater palatine and pharyngeal arteries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(from maxillary artery).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Lingual artery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(from external carotid artery).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0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94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itle 1"/>
          <p:cNvSpPr>
            <a:spLocks noGrp="1"/>
          </p:cNvSpPr>
          <p:nvPr>
            <p:ph type="title"/>
          </p:nvPr>
        </p:nvSpPr>
        <p:spPr>
          <a:xfrm>
            <a:off x="838200" y="515155"/>
            <a:ext cx="10515600" cy="1416675"/>
          </a:xfrm>
        </p:spPr>
        <p:txBody>
          <a:bodyPr>
            <a:norm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Venous drainage of the pharynx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08" name="Content Placeholder 2"/>
          <p:cNvSpPr>
            <a:spLocks noGrp="1"/>
          </p:cNvSpPr>
          <p:nvPr>
            <p:ph idx="1"/>
          </p:nvPr>
        </p:nvSpPr>
        <p:spPr>
          <a:xfrm>
            <a:off x="1197735" y="1931830"/>
            <a:ext cx="10341735" cy="4640441"/>
          </a:xfrm>
        </p:spPr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 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largely drained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venous plexus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which, like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nerve plexus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is situated on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posterolateral aspect of the pharynx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over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middle constrictor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It drains into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internal jugular vein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0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047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>
          <a:xfrm>
            <a:off x="838200" y="257577"/>
            <a:ext cx="10515600" cy="1339402"/>
          </a:xfrm>
        </p:spPr>
        <p:txBody>
          <a:bodyPr>
            <a:norm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Nerve supply of the pharynx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11" name="Content Placeholder 2"/>
          <p:cNvSpPr>
            <a:spLocks noGrp="1"/>
          </p:cNvSpPr>
          <p:nvPr>
            <p:ph idx="1"/>
          </p:nvPr>
        </p:nvSpPr>
        <p:spPr>
          <a:xfrm>
            <a:off x="838200" y="1197736"/>
            <a:ext cx="10515600" cy="5660264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Motor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All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muscles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are supplied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by the cranial root of accessory nerve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(via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branch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vagus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plexus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),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except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stylopharyngeus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which is supplied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glossopharyngeal nerve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Sensory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Nasopharynx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, by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pharyngeal branch of the pterygopalatine ganglion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carrying fibres from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maxillary division of the trigeminal nerve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Oropharynx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, by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glossopharyngeal nerve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Laryngopharynx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, by the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internal laryngeal nerve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573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1048555" y="141668"/>
            <a:ext cx="10593946" cy="978794"/>
          </a:xfrm>
        </p:spPr>
        <p:txBody>
          <a:bodyPr>
            <a:no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Pharyngeal plexus of the nerves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14" name="Content Placeholder 2"/>
          <p:cNvSpPr>
            <a:spLocks noGrp="1"/>
          </p:cNvSpPr>
          <p:nvPr>
            <p:ph idx="1"/>
          </p:nvPr>
        </p:nvSpPr>
        <p:spPr>
          <a:xfrm>
            <a:off x="1048555" y="1249250"/>
            <a:ext cx="10130307" cy="5608749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lies on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posterolateral aspect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over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middle constrictor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underneath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buccopharyngeal fascia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dirty="0" smtClean="0">
                <a:latin typeface="Arial" pitchFamily="34" charset="0"/>
                <a:cs typeface="Arial" pitchFamily="34" charset="0"/>
              </a:rPr>
              <a:t>It is formed by: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branch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vagus nerve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carrying fibres from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cranial part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accessory nerve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branch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glossopharyngeal nerve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branch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from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superior cervical sympathetic ganglion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00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31099"/>
          </a:xfrm>
        </p:spPr>
        <p:txBody>
          <a:bodyPr>
            <a:normAutofit/>
          </a:bodyPr>
          <a:lstStyle/>
          <a:p>
            <a:pPr algn="ctr"/>
            <a:r>
              <a:rPr lang="en-AU" dirty="0" smtClean="0">
                <a:latin typeface="Arial Black" pitchFamily="34" charset="0"/>
              </a:rPr>
              <a:t>Lymphatic drainage of the pharynx</a:t>
            </a:r>
            <a:endParaRPr lang="en-US" dirty="0"/>
          </a:p>
        </p:txBody>
      </p:sp>
      <p:sp>
        <p:nvSpPr>
          <p:cNvPr id="1048717" name="Content Placeholder 2"/>
          <p:cNvSpPr>
            <a:spLocks noGrp="1"/>
          </p:cNvSpPr>
          <p:nvPr>
            <p:ph idx="1"/>
          </p:nvPr>
        </p:nvSpPr>
        <p:spPr>
          <a:xfrm>
            <a:off x="1532586" y="1996224"/>
            <a:ext cx="9581882" cy="4504609"/>
          </a:xfrm>
        </p:spPr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lymph from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is drained into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upper and lower deep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cervical lymph nodes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directly and through retropharyngeal lymph nodes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697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071546"/>
          </a:xfrm>
        </p:spPr>
        <p:txBody>
          <a:bodyPr/>
          <a:lstStyle/>
          <a:p>
            <a:pPr algn="ctr"/>
            <a:r>
              <a:rPr lang="en-AU" dirty="0" smtClean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1048760" name="Content Placeholder 2"/>
          <p:cNvSpPr>
            <a:spLocks noGrp="1"/>
          </p:cNvSpPr>
          <p:nvPr>
            <p:ph idx="1"/>
          </p:nvPr>
        </p:nvSpPr>
        <p:spPr>
          <a:xfrm>
            <a:off x="1455313" y="1071546"/>
            <a:ext cx="9620517" cy="5500726"/>
          </a:xfrm>
        </p:spPr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Since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pathways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for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food and air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cross each other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oropharynx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food sometimes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may enter into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respiratory tract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cause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choking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Similarly,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air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often enters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digestive tract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producing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gas in the stomach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which results in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eructation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(belching).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malignant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tumor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laryngopharynx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hypopharynx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 may grow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space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provided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piriform fossa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without producing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symptoms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until the patient presents with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metastatic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lymphadenopathy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6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01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Content Placeholder 2"/>
          <p:cNvSpPr>
            <a:spLocks noGrp="1"/>
          </p:cNvSpPr>
          <p:nvPr>
            <p:ph idx="1"/>
          </p:nvPr>
        </p:nvSpPr>
        <p:spPr>
          <a:xfrm>
            <a:off x="1981200" y="1439142"/>
            <a:ext cx="8229600" cy="4687022"/>
          </a:xfrm>
        </p:spPr>
        <p:txBody>
          <a:bodyPr>
            <a:norm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ingested foreign bodies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(e.g.,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fish bones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safety pins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 are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sometimes lodged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piriform fossa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If care is not taken,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removal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foreign bodies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may damage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internal laryngeal nerve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leading 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anesthesia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supraglottic part of the larynx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subsequent loss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protective cough reflex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6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49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396248" y="669701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496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Content Placeholder 2"/>
          <p:cNvSpPr>
            <a:spLocks noGrp="1"/>
          </p:cNvSpPr>
          <p:nvPr>
            <p:ph idx="1"/>
          </p:nvPr>
        </p:nvSpPr>
        <p:spPr>
          <a:xfrm>
            <a:off x="1712890" y="1484322"/>
            <a:ext cx="8497910" cy="4641842"/>
          </a:xfrm>
        </p:spPr>
        <p:txBody>
          <a:bodyPr>
            <a:normAutofit/>
          </a:bodyPr>
          <a:lstStyle/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Waldeyer’s ring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aggregations of lymphoid tissue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underneath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epithelial lining of pharyngeal wall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tonsils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surround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commencement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air and food passages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These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aggregations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together constitute an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interrupted circle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Waldeyer’s ring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which forms the s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pecial feature of the interior of the 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6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50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906851" y="437882"/>
            <a:ext cx="278261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093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Content Placeholder 2"/>
          <p:cNvSpPr>
            <a:spLocks noGrp="1"/>
          </p:cNvSpPr>
          <p:nvPr>
            <p:ph idx="1"/>
          </p:nvPr>
        </p:nvSpPr>
        <p:spPr>
          <a:xfrm>
            <a:off x="1133342" y="1284596"/>
            <a:ext cx="10483402" cy="5144799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Waldeyer’s ring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formed by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haryngeal tonsil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(nasopharyngeal tonsil),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posterosuperiorly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Lingual tonsil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anteriorly.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Tubal and palatine tonsils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laterally.</a:t>
            </a:r>
          </a:p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Waldeyer’s ring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prevents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invasion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microorganisms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from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entering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air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food passages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this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helps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defense mechanism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respiratory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alimentary systems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6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51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164428" y="515155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4502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52</a:t>
            </a:fld>
            <a:endParaRPr lang="en-US"/>
          </a:p>
        </p:txBody>
      </p:sp>
      <p:pic>
        <p:nvPicPr>
          <p:cNvPr id="209716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24100" y="1584101"/>
            <a:ext cx="7804756" cy="452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5615189" y="721217"/>
            <a:ext cx="215155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2327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Content Placeholder 2"/>
          <p:cNvSpPr>
            <a:spLocks noGrp="1"/>
          </p:cNvSpPr>
          <p:nvPr>
            <p:ph idx="1"/>
          </p:nvPr>
        </p:nvSpPr>
        <p:spPr>
          <a:xfrm>
            <a:off x="914400" y="1043188"/>
            <a:ext cx="10439400" cy="5313161"/>
          </a:xfrm>
        </p:spPr>
        <p:txBody>
          <a:bodyPr>
            <a:noAutofit/>
          </a:bodyPr>
          <a:lstStyle/>
          <a:p>
            <a:pPr algn="just"/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Pouch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also called Zenker’s diverticulum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):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Inferior constrictor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muscle has two parts: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thyropharyngeus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made up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oblique fibres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cricopharyngeus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made up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transverse fibres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dirty="0" smtClean="0">
                <a:latin typeface="Arial" pitchFamily="34" charset="0"/>
                <a:cs typeface="Arial" pitchFamily="34" charset="0"/>
              </a:rPr>
              <a:t>The potential gap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posteriorly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between the </a:t>
            </a:r>
            <a:r>
              <a:rPr lang="en-US" sz="3200" b="1" dirty="0" err="1" smtClean="0">
                <a:latin typeface="Arial" pitchFamily="34" charset="0"/>
                <a:cs typeface="Arial" pitchFamily="34" charset="0"/>
              </a:rPr>
              <a:t>thyropharyngeus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3200" b="1" dirty="0" err="1" smtClean="0">
                <a:latin typeface="Arial" pitchFamily="34" charset="0"/>
                <a:cs typeface="Arial" pitchFamily="34" charset="0"/>
              </a:rPr>
              <a:t>cricopharyngeus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is called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pharyngeal dimple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Killian’s dehiscence.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mucosa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submucosa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pharynx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may bulge through this weak area to form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pouch or diverticulum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7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53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409127" y="334851"/>
            <a:ext cx="215155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126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Content Placeholder 2"/>
          <p:cNvSpPr>
            <a:spLocks noGrp="1"/>
          </p:cNvSpPr>
          <p:nvPr>
            <p:ph idx="1"/>
          </p:nvPr>
        </p:nvSpPr>
        <p:spPr>
          <a:xfrm>
            <a:off x="1352282" y="914400"/>
            <a:ext cx="10277341" cy="6858000"/>
          </a:xfrm>
        </p:spPr>
        <p:txBody>
          <a:bodyPr>
            <a:noAutofit/>
          </a:bodyPr>
          <a:lstStyle/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formation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pouch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the region of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Killian’s dehiscence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attributed to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neuromuscular incoordination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in this region, which may be because the two parts of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inferior constrictor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have different nerve supply. 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propulsive thyropharyngeus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supplied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pharyngeal plexus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sz="3200" b="1" dirty="0" err="1" smtClean="0">
                <a:latin typeface="Arial" pitchFamily="34" charset="0"/>
                <a:cs typeface="Arial" pitchFamily="34" charset="0"/>
              </a:rPr>
              <a:t>sphincteric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 cricopharyngeus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is supplied by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recurrent laryngeal nerve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. If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cricopharyngeus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fails to relax 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when the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thyropharyngeus contracts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, the bolus of food is pushed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backwards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tends</a:t>
            </a:r>
            <a:r>
              <a:rPr lang="en-AU" sz="3200" dirty="0" smtClean="0">
                <a:latin typeface="Arial" pitchFamily="34" charset="0"/>
                <a:cs typeface="Arial" pitchFamily="34" charset="0"/>
              </a:rPr>
              <a:t> to produce a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diverticulum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4877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54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911403" y="167426"/>
            <a:ext cx="2189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3165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55</a:t>
            </a:fld>
            <a:endParaRPr lang="en-US"/>
          </a:p>
        </p:txBody>
      </p:sp>
      <p:pic>
        <p:nvPicPr>
          <p:cNvPr id="209716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56068" y="1183036"/>
            <a:ext cx="4039712" cy="38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9716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67373" y="218941"/>
            <a:ext cx="5504899" cy="5710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772" name="TextBox 6"/>
          <p:cNvSpPr txBox="1"/>
          <p:nvPr/>
        </p:nvSpPr>
        <p:spPr>
          <a:xfrm>
            <a:off x="1519707" y="5267458"/>
            <a:ext cx="252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Killian’s dehiscence</a:t>
            </a:r>
          </a:p>
        </p:txBody>
      </p:sp>
      <p:sp>
        <p:nvSpPr>
          <p:cNvPr id="1048773" name="TextBox 7"/>
          <p:cNvSpPr txBox="1"/>
          <p:nvPr/>
        </p:nvSpPr>
        <p:spPr>
          <a:xfrm>
            <a:off x="6238876" y="6143644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Pharyngeal diverticulum</a:t>
            </a:r>
          </a:p>
        </p:txBody>
      </p:sp>
    </p:spTree>
    <p:extLst>
      <p:ext uri="{BB962C8B-B14F-4D97-AF65-F5344CB8AC3E}">
        <p14:creationId xmlns:p14="http://schemas.microsoft.com/office/powerpoint/2010/main" val="11836091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2" name="Content Placeholder 2"/>
          <p:cNvSpPr>
            <a:spLocks noGrp="1"/>
          </p:cNvSpPr>
          <p:nvPr>
            <p:ph idx="1"/>
          </p:nvPr>
        </p:nvSpPr>
        <p:spPr>
          <a:xfrm>
            <a:off x="1981200" y="2143117"/>
            <a:ext cx="8229600" cy="3983047"/>
          </a:xfrm>
        </p:spPr>
        <p:txBody>
          <a:bodyPr>
            <a:normAutofit/>
          </a:bodyPr>
          <a:lstStyle/>
          <a:p>
            <a:pPr algn="just"/>
            <a:r>
              <a:rPr lang="en-AU" sz="6000" dirty="0">
                <a:latin typeface="Arial Black" pitchFamily="34" charset="0"/>
              </a:rPr>
              <a:t>THANK YOU ALL, FOR LISTENING.</a:t>
            </a:r>
            <a:endParaRPr lang="en-US" sz="6000" dirty="0">
              <a:latin typeface="Arial Black" pitchFamily="34" charset="0"/>
            </a:endParaRPr>
          </a:p>
        </p:txBody>
      </p:sp>
      <p:sp>
        <p:nvSpPr>
          <p:cNvPr id="10490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A5A2-C338-4B6B-B0A9-21F2939EE50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744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lum bright="-50000"/>
            <a:alphaModFix/>
          </a:blip>
          <a:srcRect/>
          <a:stretch>
            <a:fillRect/>
          </a:stretch>
        </p:blipFill>
        <p:spPr>
          <a:xfrm>
            <a:off x="838080" y="743040"/>
            <a:ext cx="10919880" cy="61145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4"/>
          <p:cNvSpPr txBox="1">
            <a:spLocks noGrp="1"/>
          </p:cNvSpPr>
          <p:nvPr>
            <p:ph type="sldNum" sz="quarter" idx="4294967295"/>
          </p:nvPr>
        </p:nvSpPr>
        <p:spPr>
          <a:xfrm>
            <a:off x="8610480" y="635652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0" algn="r"/>
            <a:fld id="{BCBF9748-E052-4C27-8111-0255FF83CC0B}" type="slidenum">
              <a:t>57</a:t>
            </a:fld>
            <a:endParaRPr lang="en-US" sz="1200">
              <a:solidFill>
                <a:srgbClr val="8B8B8B"/>
              </a:solidFill>
              <a:latin typeface="Calibri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2186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3213</Words>
  <Application>Microsoft Office PowerPoint</Application>
  <PresentationFormat>Widescreen</PresentationFormat>
  <Paragraphs>328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Arial Black</vt:lpstr>
      <vt:lpstr>Calibri</vt:lpstr>
      <vt:lpstr>Calibri Light</vt:lpstr>
      <vt:lpstr>Tahoma</vt:lpstr>
      <vt:lpstr>Wingdings</vt:lpstr>
      <vt:lpstr>Office Theme</vt:lpstr>
      <vt:lpstr>ANATOMY OF THE PHARNYX</vt:lpstr>
      <vt:lpstr>Outline</vt:lpstr>
      <vt:lpstr>Intro</vt:lpstr>
      <vt:lpstr>PowerPoint Presentation</vt:lpstr>
      <vt:lpstr>PowerPoint Presentation</vt:lpstr>
      <vt:lpstr>Nasopharynx (Nasal Part of the pharynx)</vt:lpstr>
      <vt:lpstr>PowerPoint Presentation</vt:lpstr>
      <vt:lpstr>PowerPoint Presentation</vt:lpstr>
      <vt:lpstr>The features of nasopharynx</vt:lpstr>
      <vt:lpstr>PowerPoint Presentation</vt:lpstr>
      <vt:lpstr>PowerPoint Presentation</vt:lpstr>
      <vt:lpstr>Oropharynx (Oral Part of the Pharynx)</vt:lpstr>
      <vt:lpstr>PowerPoint Presentation</vt:lpstr>
      <vt:lpstr>The features of oropharynx</vt:lpstr>
      <vt:lpstr>PowerPoint Presentation</vt:lpstr>
      <vt:lpstr>Oropharyngeal Isthmus</vt:lpstr>
      <vt:lpstr>PowerPoint Presentation</vt:lpstr>
      <vt:lpstr>Laryngopharynx</vt:lpstr>
      <vt:lpstr>Boundaries of laryngopharynx</vt:lpstr>
      <vt:lpstr>Features </vt:lpstr>
      <vt:lpstr>Piriform fossa</vt:lpstr>
      <vt:lpstr>Boundaries of the piriform fossa</vt:lpstr>
      <vt:lpstr>PowerPoint Presentation</vt:lpstr>
      <vt:lpstr>Pharyngeal wall</vt:lpstr>
      <vt:lpstr>PowerPoint Presentation</vt:lpstr>
      <vt:lpstr>        Cont’d</vt:lpstr>
      <vt:lpstr>PowerPoint Presentation</vt:lpstr>
      <vt:lpstr>PowerPoint Presentation</vt:lpstr>
      <vt:lpstr>        Pharyngeal spaces</vt:lpstr>
      <vt:lpstr> Pharyngeal muscles</vt:lpstr>
      <vt:lpstr>PowerPoint Presentation</vt:lpstr>
      <vt:lpstr>PowerPoint Presentation</vt:lpstr>
      <vt:lpstr>Origin, insertion, nerve supply, and actions of the constrictor muscles of the pharynx</vt:lpstr>
      <vt:lpstr>Cont’d</vt:lpstr>
      <vt:lpstr>Gaps in the pharyngeal wall</vt:lpstr>
      <vt:lpstr>The gaps in the pharyngeal wall and structures passing through them</vt:lpstr>
      <vt:lpstr>Longitudinal muscles</vt:lpstr>
      <vt:lpstr>Origin, insertion, and nerve supply of the longitudinal muscles of the pharynx</vt:lpstr>
      <vt:lpstr>Cont’d</vt:lpstr>
      <vt:lpstr>PowerPoint Presentation</vt:lpstr>
      <vt:lpstr>Relations of the pharnyx</vt:lpstr>
      <vt:lpstr>PowerPoint Presentation</vt:lpstr>
      <vt:lpstr>Arterial supply of the pharynx</vt:lpstr>
      <vt:lpstr>Venous drainage of the pharynx</vt:lpstr>
      <vt:lpstr>Nerve supply of the pharynx</vt:lpstr>
      <vt:lpstr>Pharyngeal plexus of the nerves</vt:lpstr>
      <vt:lpstr>Lymphatic drainage of the pharynx</vt:lpstr>
      <vt:lpstr>Applied anatomy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ANATOMY OF THE PHARNYX</dc:title>
  <dc:creator>dell</dc:creator>
  <cp:lastModifiedBy>dell</cp:lastModifiedBy>
  <cp:revision>24</cp:revision>
  <dcterms:created xsi:type="dcterms:W3CDTF">2025-09-02T07:20:31Z</dcterms:created>
  <dcterms:modified xsi:type="dcterms:W3CDTF">2026-04-14T12:29:06Z</dcterms:modified>
</cp:coreProperties>
</file>