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24" r:id="rId64"/>
    <p:sldId id="325" r:id="rId65"/>
    <p:sldId id="326" r:id="rId66"/>
    <p:sldId id="327" r:id="rId67"/>
    <p:sldId id="320" r:id="rId68"/>
    <p:sldId id="322" r:id="rId69"/>
    <p:sldId id="321" r:id="rId70"/>
    <p:sldId id="328" r:id="rId71"/>
    <p:sldId id="323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>
      <p:cViewPr varScale="1">
        <p:scale>
          <a:sx n="72" d="100"/>
          <a:sy n="72" d="100"/>
        </p:scale>
        <p:origin x="12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6F7F-AF18-4D8D-825D-0CCC911396F1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7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7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93D3A-04A2-49C9-89C1-C31FDB8500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409203-86F6-44CD-B27E-AF86514F2B7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5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2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6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3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3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7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55A30-8704-4A8F-ABED-E1D143E0A7CA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70CB8-CBEB-4C45-B71F-1FA69ED348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357158" y="357167"/>
            <a:ext cx="8429684" cy="1785950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itchFamily="34" charset="0"/>
              </a:rPr>
              <a:t>Anatomy of the Temporal Region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BY</a:t>
            </a:r>
          </a:p>
          <a:p>
            <a:endParaRPr lang="en-AU" dirty="0">
              <a:latin typeface="Arial Black" pitchFamily="34" charset="0"/>
            </a:endParaRPr>
          </a:p>
          <a:p>
            <a:r>
              <a:rPr lang="en-AU" dirty="0">
                <a:latin typeface="Arial Black" pitchFamily="34" charset="0"/>
              </a:rPr>
              <a:t>DR. A.O OJEWALE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Outline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285720" y="785794"/>
            <a:ext cx="8501122" cy="6500858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Intro (Temporal region)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Temporal Fossa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Boundaries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Contents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Infratemporal Fossa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Intro</a:t>
            </a:r>
          </a:p>
          <a:p>
            <a:pPr algn="just"/>
            <a:r>
              <a:rPr lang="en-AU" dirty="0">
                <a:latin typeface="Arial Black" pitchFamily="34" charset="0"/>
              </a:rPr>
              <a:t>Communications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Boundaries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Contents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Applied Anatomy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94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Intro’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142844" y="500042"/>
            <a:ext cx="8786874" cy="6357958"/>
          </a:xfrm>
        </p:spPr>
        <p:txBody>
          <a:bodyPr>
            <a:normAutofit fontScale="96875"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Structures  located in the temporal region are two fossae 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and infratemporal fossae</a:t>
            </a:r>
            <a:r>
              <a:rPr lang="en-AU" dirty="0">
                <a:latin typeface="Arial" pitchFamily="34" charset="0"/>
                <a:cs typeface="Arial" pitchFamily="34" charset="0"/>
              </a:rPr>
              <a:t>) separated by the zygomatic arch.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Temporal fossa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fan shaped space </a:t>
            </a:r>
            <a:r>
              <a:rPr lang="en-AU" dirty="0">
                <a:latin typeface="Arial" pitchFamily="34" charset="0"/>
                <a:cs typeface="Arial" pitchFamily="34" charset="0"/>
              </a:rPr>
              <a:t>located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skull </a:t>
            </a:r>
            <a:r>
              <a:rPr lang="en-AU" dirty="0">
                <a:latin typeface="Arial" pitchFamily="34" charset="0"/>
                <a:cs typeface="Arial" pitchFamily="34" charset="0"/>
              </a:rPr>
              <a:t>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zygomatic arch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contains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,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fascia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neurovascular structures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communicates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 deep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zygomatic arch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crest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sphenoid</a:t>
            </a:r>
            <a:r>
              <a:rPr lang="en-AU" dirty="0">
                <a:latin typeface="Arial" pitchFamily="34" charset="0"/>
                <a:cs typeface="Arial" pitchFamily="34" charset="0"/>
              </a:rPr>
              <a:t> separates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fossae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Boundaries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-142908" y="785794"/>
            <a:ext cx="9286908" cy="707236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000" dirty="0">
                <a:latin typeface="Arial" pitchFamily="34" charset="0"/>
                <a:cs typeface="Arial" pitchFamily="34" charset="0"/>
              </a:rPr>
              <a:t>It is bounded: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frontal process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zygomatic bone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zygomatic process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frontal bone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superiorly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temporal lines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infratemporal crest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greater wing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sphenoid bone</a:t>
            </a:r>
          </a:p>
          <a:p>
            <a:pPr algn="just"/>
            <a:r>
              <a:rPr lang="en-AU" sz="3000" b="1" dirty="0">
                <a:latin typeface="Arial" pitchFamily="34" charset="0"/>
                <a:cs typeface="Arial" pitchFamily="34" charset="0"/>
              </a:rPr>
              <a:t>Laterally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temporal fascia, which is overlying the temporalis muscle</a:t>
            </a:r>
          </a:p>
          <a:p>
            <a:pPr algn="just"/>
            <a:r>
              <a:rPr lang="en-AU" sz="3000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(the floor) by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four adjoining bones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: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frontal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temporal (squamous)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parietal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, and (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greater wing of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)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sphenoid bones.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71546"/>
            <a:ext cx="8358246" cy="505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599" name="TextBox 4"/>
          <p:cNvSpPr txBox="1"/>
          <p:nvPr/>
        </p:nvSpPr>
        <p:spPr>
          <a:xfrm>
            <a:off x="2500298" y="6286520"/>
            <a:ext cx="4198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Temporal and infratemporal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Pterion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214282" y="714356"/>
            <a:ext cx="8715436" cy="642942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 circular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floor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the [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parietal, frontal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wing of sphenoid, temporal, (squamous)] bones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this floor meet to form an </a:t>
            </a:r>
            <a:r>
              <a:rPr lang="en-AU" b="1" i="1" dirty="0">
                <a:latin typeface="Arial" pitchFamily="34" charset="0"/>
                <a:cs typeface="Arial" pitchFamily="34" charset="0"/>
              </a:rPr>
              <a:t>H-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shaped suture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located (its centre)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3.5 cm </a:t>
            </a:r>
            <a:r>
              <a:rPr lang="en-AU" dirty="0">
                <a:latin typeface="Arial" pitchFamily="34" charset="0"/>
                <a:cs typeface="Arial" pitchFamily="34" charset="0"/>
              </a:rPr>
              <a:t>behind the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frontozygomatic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suture 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4.0 cm </a:t>
            </a:r>
            <a:r>
              <a:rPr lang="en-AU" dirty="0">
                <a:latin typeface="Arial" pitchFamily="34" charset="0"/>
                <a:cs typeface="Arial" pitchFamily="34" charset="0"/>
              </a:rPr>
              <a:t>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zygomatic arch.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important surgical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anatomical landmark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overlies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branch of middle meningeal artery; </a:t>
            </a:r>
            <a:r>
              <a:rPr lang="en-AU" dirty="0">
                <a:latin typeface="Arial" pitchFamily="34" charset="0"/>
                <a:cs typeface="Arial" pitchFamily="34" charset="0"/>
              </a:rPr>
              <a:t>this may rupture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fracture of this region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785950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Contents of 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457200" y="2428868"/>
            <a:ext cx="8229600" cy="3697295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Temporalis muscle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Zygomaticotemporal nerve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Deep temporal nerve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Deep temporal artery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24485" y="857232"/>
            <a:ext cx="7695030" cy="5268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04" name="TextBox 4"/>
          <p:cNvSpPr txBox="1"/>
          <p:nvPr/>
        </p:nvSpPr>
        <p:spPr>
          <a:xfrm>
            <a:off x="2571736" y="621508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Contents of temporal fossa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The temporal fascia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643578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strong fibrous sheet </a:t>
            </a:r>
            <a:r>
              <a:rPr lang="en-AU" dirty="0">
                <a:latin typeface="Arial" pitchFamily="34" charset="0"/>
                <a:cs typeface="Arial" pitchFamily="34" charset="0"/>
              </a:rPr>
              <a:t>that covers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forms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roof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attached above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temporal line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below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zygomatic arch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Proximal attachment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Floor of the temporalis fossa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Deep surface of temporal fascia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2144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142844" y="285728"/>
            <a:ext cx="8858312" cy="728667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Distal attachment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Apex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coronoid process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 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Innervation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Deep temporal nerves (from the anterior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mandibular nerve)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Actions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It elevates the mandible (and thus closes the mouth) - a function of its anterior fibres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It retracts the mandible (from a protruded position) -a function of its posterior fibres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The temporalis muscle</a:t>
            </a:r>
            <a:endParaRPr lang="en-US" dirty="0"/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715436" cy="692948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fan-shaped </a:t>
            </a:r>
            <a:r>
              <a:rPr lang="en-AU" dirty="0">
                <a:latin typeface="Arial" pitchFamily="34" charset="0"/>
                <a:cs typeface="Arial" pitchFamily="34" charset="0"/>
              </a:rPr>
              <a:t>muscle that fills much of the temporal fossa.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Proximal attachment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bony surfaces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fascia 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Distal attachment: Coronoid process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fibers </a:t>
            </a:r>
            <a:r>
              <a:rPr lang="en-AU" dirty="0">
                <a:latin typeface="Arial" pitchFamily="34" charset="0"/>
                <a:cs typeface="Arial" pitchFamily="34" charset="0"/>
              </a:rPr>
              <a:t>are oriented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vertically</a:t>
            </a:r>
            <a:r>
              <a:rPr lang="en-AU" dirty="0">
                <a:latin typeface="Arial" pitchFamily="34" charset="0"/>
                <a:cs typeface="Arial" pitchFamily="34" charset="0"/>
              </a:rPr>
              <a:t> while the 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fibers </a:t>
            </a:r>
            <a:r>
              <a:rPr lang="en-AU" dirty="0">
                <a:latin typeface="Arial" pitchFamily="34" charset="0"/>
                <a:cs typeface="Arial" pitchFamily="34" charset="0"/>
              </a:rPr>
              <a:t>are oriented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horizontally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Blood supply</a:t>
            </a:r>
            <a:r>
              <a:rPr lang="en-AU" dirty="0">
                <a:latin typeface="Arial" pitchFamily="34" charset="0"/>
                <a:cs typeface="Arial" pitchFamily="34" charset="0"/>
              </a:rPr>
              <a:t>: Deep temporal arteries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Nerve supply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temporal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AU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8586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501122" cy="585789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irregular space </a:t>
            </a:r>
            <a:r>
              <a:rPr lang="en-AU" dirty="0">
                <a:latin typeface="Arial" pitchFamily="34" charset="0"/>
                <a:cs typeface="Arial" pitchFamily="34" charset="0"/>
              </a:rPr>
              <a:t>located 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contains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several structures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include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vessels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 (in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close interrelationship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each other</a:t>
            </a:r>
            <a:r>
              <a:rPr lang="en-AU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communicates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interval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zygomatic arch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 of the temple.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also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communicates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cranial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foramina ovale and spinosum (located in its roof).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-214346" y="0"/>
            <a:ext cx="9358346" cy="1285860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Boundaries of the 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142844" y="1285860"/>
            <a:ext cx="8858312" cy="5572140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With the mandible in place,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bounded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(the roof)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wing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sphenoid bone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adjacent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squamous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bone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 anatomical structure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Medially </a:t>
            </a:r>
            <a:r>
              <a:rPr lang="en-AU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plate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mastoid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styloid processes </a:t>
            </a:r>
            <a:r>
              <a:rPr lang="en-AU" dirty="0">
                <a:latin typeface="Arial" pitchFamily="34" charset="0"/>
                <a:cs typeface="Arial" pitchFamily="34" charset="0"/>
              </a:rPr>
              <a:t>(of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bone</a:t>
            </a:r>
            <a:r>
              <a:rPr lang="en-AU" dirty="0">
                <a:latin typeface="Arial" pitchFamily="34" charset="0"/>
                <a:cs typeface="Arial" pitchFamily="34" charset="0"/>
              </a:rPr>
              <a:t>)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tympanic plate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1285860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Contents of the 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214282" y="1142984"/>
            <a:ext cx="8715436" cy="5429288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Numerous structures </a:t>
            </a:r>
            <a:r>
              <a:rPr lang="en-AU" dirty="0">
                <a:latin typeface="Arial" pitchFamily="34" charset="0"/>
                <a:cs typeface="Arial" pitchFamily="34" charset="0"/>
              </a:rPr>
              <a:t>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crammed</a:t>
            </a:r>
            <a:r>
              <a:rPr lang="en-AU" dirty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; these include: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Muscles </a:t>
            </a:r>
            <a:r>
              <a:rPr lang="en-AU" dirty="0">
                <a:latin typeface="Arial" pitchFamily="34" charset="0"/>
                <a:cs typeface="Arial" pitchFamily="34" charset="0"/>
              </a:rPr>
              <a:t>-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Arteries </a:t>
            </a:r>
            <a:r>
              <a:rPr lang="en-AU" dirty="0">
                <a:latin typeface="Arial" pitchFamily="34" charset="0"/>
                <a:cs typeface="Arial" pitchFamily="34" charset="0"/>
              </a:rPr>
              <a:t>-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numerous 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Veins </a:t>
            </a:r>
            <a:r>
              <a:rPr lang="en-AU" dirty="0">
                <a:latin typeface="Arial" pitchFamily="34" charset="0"/>
                <a:cs typeface="Arial" pitchFamily="34" charset="0"/>
              </a:rPr>
              <a:t>-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pterygoid plexus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veins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 -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chorda tympani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Ganglion</a:t>
            </a:r>
            <a:r>
              <a:rPr lang="en-AU" dirty="0">
                <a:latin typeface="Arial" pitchFamily="34" charset="0"/>
                <a:cs typeface="Arial" pitchFamily="34" charset="0"/>
              </a:rPr>
              <a:t> -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otic ganglion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714356"/>
            <a:ext cx="8072494" cy="541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19" name="TextBox 4"/>
          <p:cNvSpPr txBox="1"/>
          <p:nvPr/>
        </p:nvSpPr>
        <p:spPr>
          <a:xfrm>
            <a:off x="2285984" y="6215082"/>
            <a:ext cx="5786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Boundaries and contents of the Infratemporal fossa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Communications of the infratemporal fossa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2097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2"/>
            <a:ext cx="8001056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21444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Muscles of 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Lower part of temporalis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Lateral pterygoid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Medial pterygoid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The lateral pterygoid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0" y="714356"/>
            <a:ext cx="8929718" cy="6143644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has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heads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origin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heads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converges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sphenoidal origin </a:t>
            </a:r>
            <a:r>
              <a:rPr lang="en-AU" dirty="0">
                <a:latin typeface="Arial" pitchFamily="34" charset="0"/>
                <a:cs typeface="Arial" pitchFamily="34" charset="0"/>
              </a:rPr>
              <a:t>to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insertion.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regarded as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key muscle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region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its relations provide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fair idea </a:t>
            </a:r>
            <a:r>
              <a:rPr lang="en-AU" dirty="0">
                <a:latin typeface="Arial" pitchFamily="34" charset="0"/>
                <a:cs typeface="Arial" pitchFamily="34" charset="0"/>
              </a:rPr>
              <a:t>about the layout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structures</a:t>
            </a:r>
            <a:r>
              <a:rPr lang="en-AU" dirty="0">
                <a:latin typeface="Arial" pitchFamily="34" charset="0"/>
                <a:cs typeface="Arial" pitchFamily="34" charset="0"/>
              </a:rPr>
              <a:t> in this region.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traversed (between its two heads)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buccal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as this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descends</a:t>
            </a:r>
            <a:r>
              <a:rPr lang="en-AU" dirty="0">
                <a:latin typeface="Arial" pitchFamily="34" charset="0"/>
                <a:cs typeface="Arial" pitchFamily="34" charset="0"/>
              </a:rPr>
              <a:t> towards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785818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0" y="357166"/>
            <a:ext cx="9144000" cy="692948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related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masseter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temporalis, 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(the upper part of)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sphenomandibular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meningeal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traverses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either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</a:t>
            </a:r>
            <a:r>
              <a:rPr lang="en-AU" dirty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alveolar nerves </a:t>
            </a:r>
            <a:r>
              <a:rPr lang="en-AU" dirty="0">
                <a:latin typeface="Arial" pitchFamily="34" charset="0"/>
                <a:cs typeface="Arial" pitchFamily="34" charset="0"/>
              </a:rPr>
              <a:t>descend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close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nerves to masseter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temporalis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ascend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 close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357850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Proximal attachment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Upper head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crest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wing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sphenoid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Lower head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plate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Distal attachment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Fibrous capsule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disc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temporomandibular joint (TMJ).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Neck of the mandible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209715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88"/>
            <a:ext cx="7929618" cy="4082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30" name="TextBox 4"/>
          <p:cNvSpPr txBox="1"/>
          <p:nvPr/>
        </p:nvSpPr>
        <p:spPr>
          <a:xfrm>
            <a:off x="1785918" y="5929330"/>
            <a:ext cx="532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Origin and insertion of the lateral pterygoid muscle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714356"/>
            <a:ext cx="7500990" cy="541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31" name="TextBox 4"/>
          <p:cNvSpPr txBox="1"/>
          <p:nvPr/>
        </p:nvSpPr>
        <p:spPr>
          <a:xfrm>
            <a:off x="1928794" y="6357958"/>
            <a:ext cx="606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 Black" pitchFamily="34" charset="0"/>
              </a:rPr>
              <a:t>Relation of the lateral pterygoid muscle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3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429264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Innervation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Deep temporal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(from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Actions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Protrudes the 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, thereby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opening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mouth</a:t>
            </a:r>
            <a:r>
              <a:rPr lang="en-AU" dirty="0">
                <a:latin typeface="Arial" pitchFamily="34" charset="0"/>
                <a:cs typeface="Arial" pitchFamily="34" charset="0"/>
              </a:rPr>
              <a:t> (when acting simultaneously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opposite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Produces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movements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 (when acting alternately with the opposite muscle).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  <a:cs typeface="Arial" pitchFamily="34" charset="0"/>
              </a:rPr>
              <a:t>The medial pterygoid</a:t>
            </a:r>
            <a:endParaRPr lang="en-US" b="1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643998" cy="600076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thick quadrilateral muscle </a:t>
            </a:r>
            <a:r>
              <a:rPr lang="en-AU" dirty="0">
                <a:latin typeface="Arial" pitchFamily="34" charset="0"/>
                <a:cs typeface="Arial" pitchFamily="34" charset="0"/>
              </a:rPr>
              <a:t>located in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arises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heads</a:t>
            </a:r>
            <a:r>
              <a:rPr lang="en-AU" dirty="0">
                <a:latin typeface="Arial" pitchFamily="34" charset="0"/>
                <a:cs typeface="Arial" pitchFamily="34" charset="0"/>
              </a:rPr>
              <a:t>-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heads</a:t>
            </a:r>
            <a:r>
              <a:rPr lang="en-AU" dirty="0">
                <a:latin typeface="Arial" pitchFamily="34" charset="0"/>
                <a:cs typeface="Arial" pitchFamily="34" charset="0"/>
              </a:rPr>
              <a:t>. These embrace the 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descends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 (and maxillary) origin to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insertion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related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sphenomandibular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related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tensor veli palatini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94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0" y="357166"/>
            <a:ext cx="9144000" cy="6215106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Proximal attachment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Deep head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plate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pyramidal process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palatine bone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Superficial head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pyramidal process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Distal attachment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aspects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angle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behind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mylohyoid groove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Innervations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branch from the trunk of the mandibular nerve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20971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85860"/>
            <a:ext cx="7929618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39" name="TextBox 4"/>
          <p:cNvSpPr txBox="1"/>
          <p:nvPr/>
        </p:nvSpPr>
        <p:spPr>
          <a:xfrm>
            <a:off x="1571604" y="6072206"/>
            <a:ext cx="6929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2000" dirty="0">
                <a:latin typeface="Arial" pitchFamily="34" charset="0"/>
                <a:cs typeface="Arial" pitchFamily="34" charset="0"/>
              </a:rPr>
              <a:t>Origin and insertion of the medial pterygoid </a:t>
            </a:r>
          </a:p>
          <a:p>
            <a:pPr algn="just"/>
            <a:r>
              <a:rPr lang="en-AU" sz="2000" dirty="0">
                <a:latin typeface="Arial" pitchFamily="34" charset="0"/>
                <a:cs typeface="Arial" pitchFamily="34" charset="0"/>
              </a:rPr>
              <a:t>muscle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 Black" pitchFamily="34" charset="0"/>
              </a:rPr>
              <a:t>Actions</a:t>
            </a:r>
            <a:r>
              <a:rPr lang="en-AU" dirty="0"/>
              <a:t>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Elevates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thus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closes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mouth </a:t>
            </a:r>
            <a:r>
              <a:rPr lang="en-AU" dirty="0">
                <a:latin typeface="Arial" pitchFamily="34" charset="0"/>
                <a:cs typeface="Arial" pitchFamily="34" charset="0"/>
              </a:rPr>
              <a:t>(when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acting</a:t>
            </a:r>
            <a:r>
              <a:rPr lang="en-AU" dirty="0">
                <a:latin typeface="Arial" pitchFamily="34" charset="0"/>
                <a:cs typeface="Arial" pitchFamily="34" charset="0"/>
              </a:rPr>
              <a:t> simultaneously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opposite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Produces</a:t>
            </a:r>
            <a:r>
              <a:rPr lang="en-AU" dirty="0">
                <a:latin typeface="Arial" pitchFamily="34" charset="0"/>
                <a:cs typeface="Arial" pitchFamily="34" charset="0"/>
              </a:rPr>
              <a:t> grinding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movements</a:t>
            </a:r>
            <a:r>
              <a:rPr lang="en-AU" dirty="0">
                <a:latin typeface="Arial" pitchFamily="34" charset="0"/>
                <a:cs typeface="Arial" pitchFamily="34" charset="0"/>
              </a:rPr>
              <a:t>, i.e.,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chewing</a:t>
            </a:r>
            <a:r>
              <a:rPr lang="en-AU" dirty="0">
                <a:latin typeface="Arial" pitchFamily="34" charset="0"/>
                <a:cs typeface="Arial" pitchFamily="34" charset="0"/>
              </a:rPr>
              <a:t> (when acting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alternately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opposite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Protrudes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 (together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pterygoids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2873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Arteries of the 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285720" y="1500174"/>
            <a:ext cx="8572560" cy="5357826"/>
          </a:xfrm>
        </p:spPr>
        <p:txBody>
          <a:bodyPr>
            <a:normAutofit lnSpcReduction="10000"/>
          </a:bodyPr>
          <a:lstStyle/>
          <a:p>
            <a:r>
              <a:rPr lang="en-AU" dirty="0">
                <a:latin typeface="Arial Black" pitchFamily="34" charset="0"/>
              </a:rPr>
              <a:t>These include</a:t>
            </a:r>
            <a:r>
              <a:rPr lang="en-AU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largest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external carotid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is a major source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blood supply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nasal cavity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wall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roof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oral  cavity</a:t>
            </a:r>
            <a:r>
              <a:rPr lang="en-AU" dirty="0">
                <a:latin typeface="Arial" pitchFamily="34" charset="0"/>
                <a:cs typeface="Arial" pitchFamily="34" charset="0"/>
              </a:rPr>
              <a:t>,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all 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,  and  the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dura  mater  </a:t>
            </a:r>
            <a:r>
              <a:rPr lang="en-AU" dirty="0">
                <a:latin typeface="Arial" pitchFamily="34" charset="0"/>
                <a:cs typeface="Arial" pitchFamily="34" charset="0"/>
              </a:rPr>
              <a:t>in  the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cranial  cavity</a:t>
            </a:r>
            <a:r>
              <a:rPr lang="en-AU" dirty="0">
                <a:latin typeface="Arial" pitchFamily="34" charset="0"/>
                <a:cs typeface="Arial" pitchFamily="34" charset="0"/>
              </a:rPr>
              <a:t>.  It  passes  through the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supplies  it. It then  enters  the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pterygopalatine 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,  where  it gives origin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terminal 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0" y="571480"/>
            <a:ext cx="9001156" cy="671517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originates  within 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substance  </a:t>
            </a:r>
            <a:r>
              <a:rPr lang="en-AU" dirty="0">
                <a:latin typeface="Arial" pitchFamily="34" charset="0"/>
                <a:cs typeface="Arial" pitchFamily="34" charset="0"/>
              </a:rPr>
              <a:t>of  the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parotid  gland  </a:t>
            </a:r>
            <a:r>
              <a:rPr lang="en-AU" dirty="0">
                <a:latin typeface="Arial" pitchFamily="34" charset="0"/>
                <a:cs typeface="Arial" pitchFamily="34" charset="0"/>
              </a:rPr>
              <a:t>and  then passes forward,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sphenomandibular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,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  It  ascends  obliquely  through  the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 fossa  </a:t>
            </a:r>
            <a:r>
              <a:rPr lang="en-AU" dirty="0">
                <a:latin typeface="Arial" pitchFamily="34" charset="0"/>
                <a:cs typeface="Arial" pitchFamily="34" charset="0"/>
              </a:rPr>
              <a:t>to  enter 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pterygopalatine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by passing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pterygomaxillary fissure</a:t>
            </a:r>
            <a:r>
              <a:rPr lang="en-AU" dirty="0">
                <a:latin typeface="Arial" pitchFamily="34" charset="0"/>
                <a:cs typeface="Arial" pitchFamily="34" charset="0"/>
              </a:rPr>
              <a:t>. This part of the vessel may pass either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</a:t>
            </a:r>
            <a:r>
              <a:rPr lang="en-AU" dirty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. If it passes medial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head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then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loops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heads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to access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pterygomaxillary fissure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43008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Branches of the maxillary artery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47" name="Content Placeholder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92922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st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are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five (5). These include: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Deep auricular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Anterior tympanic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Middle meningeal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Accessory meningeal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Inferior alveolar artery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B21CC-0453-4983-A213-D5B52F8F1A6E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714356"/>
            <a:ext cx="7715304" cy="5500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49" name="TextBox 4"/>
          <p:cNvSpPr txBox="1"/>
          <p:nvPr/>
        </p:nvSpPr>
        <p:spPr>
          <a:xfrm>
            <a:off x="2214546" y="6143644"/>
            <a:ext cx="439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 Black" pitchFamily="34" charset="0"/>
              </a:rPr>
              <a:t>Branches of the maxillary artery 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51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715436" cy="6786610"/>
          </a:xfrm>
        </p:spPr>
        <p:txBody>
          <a:bodyPr>
            <a:normAutofit fontScale="62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5100" dirty="0">
                <a:latin typeface="Arial" pitchFamily="34" charset="0"/>
                <a:cs typeface="Arial" pitchFamily="34" charset="0"/>
              </a:rPr>
              <a:t>Branches of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2</a:t>
            </a:r>
            <a:r>
              <a:rPr lang="en-AU" sz="5100" b="1" baseline="30000" dirty="0">
                <a:latin typeface="Arial" pitchFamily="34" charset="0"/>
                <a:cs typeface="Arial" pitchFamily="34" charset="0"/>
              </a:rPr>
              <a:t>nd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 part 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supply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muscles of mastication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; These include:</a:t>
            </a:r>
          </a:p>
          <a:p>
            <a:pPr algn="just"/>
            <a:r>
              <a:rPr lang="en-AU" sz="51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posterior deep temporal arteries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; these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ascend deep 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temporalis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, which they supply.</a:t>
            </a:r>
          </a:p>
          <a:p>
            <a:pPr algn="just"/>
            <a:r>
              <a:rPr lang="en-AU" sz="5100" b="1" dirty="0">
                <a:latin typeface="Arial" pitchFamily="34" charset="0"/>
                <a:cs typeface="Arial" pitchFamily="34" charset="0"/>
              </a:rPr>
              <a:t>Pterygoid branches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, to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pterygoid muscles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5100" b="1" dirty="0">
                <a:latin typeface="Arial" pitchFamily="34" charset="0"/>
                <a:cs typeface="Arial" pitchFamily="34" charset="0"/>
              </a:rPr>
              <a:t>Masseteric branch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, which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traverses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mandibular notch 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(behind temporalis) to reach the deep aspect of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masseter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, which it supplies</a:t>
            </a:r>
          </a:p>
          <a:p>
            <a:pPr algn="just"/>
            <a:r>
              <a:rPr lang="en-AU" sz="5100" b="1" dirty="0">
                <a:latin typeface="Arial" pitchFamily="34" charset="0"/>
                <a:cs typeface="Arial" pitchFamily="34" charset="0"/>
              </a:rPr>
              <a:t>Buccal branch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, which accompanies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buccal nerve 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to supply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buccinator 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mucosa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5100" b="1" dirty="0">
                <a:latin typeface="Arial" pitchFamily="34" charset="0"/>
                <a:cs typeface="Arial" pitchFamily="34" charset="0"/>
              </a:rPr>
              <a:t>cheek</a:t>
            </a:r>
            <a:r>
              <a:rPr lang="en-AU" sz="51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AU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B21CC-0453-4983-A213-D5B52F8F1A6E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Branches of the 3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rd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part of the maxillary artery include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Posterior superior alveolar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Infraorbital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Descending palatine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Artery of the pterygoid canal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Pharyngeal artery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Sphenopalatine artery.</a:t>
            </a:r>
          </a:p>
          <a:p>
            <a:endParaRPr lang="en-US" dirty="0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B21CC-0453-4983-A213-D5B52F8F1A6E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857232"/>
            <a:ext cx="7329515" cy="502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56" name="TextBox 4"/>
          <p:cNvSpPr txBox="1"/>
          <p:nvPr/>
        </p:nvSpPr>
        <p:spPr>
          <a:xfrm>
            <a:off x="1643042" y="5857892"/>
            <a:ext cx="571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Blood supply of temporal and infratemporal region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500174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Veins of the 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472518" cy="5500702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Maxillary vein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drains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pterygoid plexus of veins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accompanied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st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as it passes backwards from its origin (between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neck </a:t>
            </a:r>
            <a:r>
              <a:rPr lang="en-AU" dirty="0">
                <a:latin typeface="Arial" pitchFamily="34" charset="0"/>
                <a:cs typeface="Arial" pitchFamily="34" charset="0"/>
              </a:rPr>
              <a:t>laterally,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sphenomandibular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medially)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unites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superficial temporal vein </a:t>
            </a:r>
            <a:r>
              <a:rPr lang="en-AU" dirty="0">
                <a:latin typeface="Arial" pitchFamily="34" charset="0"/>
                <a:cs typeface="Arial" pitchFamily="34" charset="0"/>
              </a:rPr>
              <a:t>(behind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 of 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) to form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retromandibular vein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785818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0" y="285728"/>
            <a:ext cx="8929718" cy="728667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/>
              <a:t>Pterygoid plexus of veins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located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also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receives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tributaries</a:t>
            </a:r>
            <a:r>
              <a:rPr lang="en-AU" dirty="0">
                <a:latin typeface="Arial" pitchFamily="34" charset="0"/>
                <a:cs typeface="Arial" pitchFamily="34" charset="0"/>
              </a:rPr>
              <a:t> that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drain</a:t>
            </a:r>
            <a:r>
              <a:rPr lang="en-AU" dirty="0">
                <a:latin typeface="Arial" pitchFamily="34" charset="0"/>
                <a:cs typeface="Arial" pitchFamily="34" charset="0"/>
              </a:rPr>
              <a:t>, to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larger extent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territories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communicates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facial vein </a:t>
            </a:r>
            <a:r>
              <a:rPr lang="en-AU" dirty="0">
                <a:latin typeface="Arial" pitchFamily="34" charset="0"/>
                <a:cs typeface="Arial" pitchFamily="34" charset="0"/>
              </a:rPr>
              <a:t>(through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facial vein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also communicates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cavernous sinus </a:t>
            </a:r>
            <a:r>
              <a:rPr lang="en-AU" dirty="0">
                <a:latin typeface="Arial" pitchFamily="34" charset="0"/>
                <a:cs typeface="Arial" pitchFamily="34" charset="0"/>
              </a:rPr>
              <a:t>(through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emissary veins </a:t>
            </a:r>
            <a:r>
              <a:rPr lang="en-AU" dirty="0">
                <a:latin typeface="Arial" pitchFamily="34" charset="0"/>
                <a:cs typeface="Arial" pitchFamily="34" charset="0"/>
              </a:rPr>
              <a:t>that traverse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foramina ovale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lacerum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sphenoidal emissary 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85725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drained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vein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9716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643050"/>
            <a:ext cx="914400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6" name="TextBox 4"/>
          <p:cNvSpPr txBox="1"/>
          <p:nvPr/>
        </p:nvSpPr>
        <p:spPr>
          <a:xfrm>
            <a:off x="1428728" y="6215082"/>
            <a:ext cx="5786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Venous drainage of temporal and infratemporal fossa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47251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Nerves of the Infratemporal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These include: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numerous 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chorda tympani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facial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78581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Mandibular nerve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70" name="Content Placeholder 2"/>
          <p:cNvSpPr>
            <a:spLocks noGrp="1"/>
          </p:cNvSpPr>
          <p:nvPr>
            <p:ph idx="1"/>
          </p:nvPr>
        </p:nvSpPr>
        <p:spPr>
          <a:xfrm>
            <a:off x="0" y="214290"/>
            <a:ext cx="9144000" cy="7929618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largest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divisions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trigeminal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has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sensory root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 motor root </a:t>
            </a:r>
            <a:r>
              <a:rPr lang="en-AU" dirty="0">
                <a:latin typeface="Arial" pitchFamily="34" charset="0"/>
                <a:cs typeface="Arial" pitchFamily="34" charset="0"/>
              </a:rPr>
              <a:t>;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latter</a:t>
            </a:r>
            <a:r>
              <a:rPr lang="en-AU" dirty="0">
                <a:latin typeface="Arial" pitchFamily="34" charset="0"/>
                <a:cs typeface="Arial" pitchFamily="34" charset="0"/>
              </a:rPr>
              <a:t> lies beneath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trigeminal ganglion </a:t>
            </a:r>
            <a:r>
              <a:rPr lang="en-AU" dirty="0">
                <a:latin typeface="Arial" pitchFamily="34" charset="0"/>
                <a:cs typeface="Arial" pitchFamily="34" charset="0"/>
              </a:rPr>
              <a:t>as it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passes </a:t>
            </a:r>
            <a:r>
              <a:rPr lang="en-AU" dirty="0">
                <a:latin typeface="Arial" pitchFamily="34" charset="0"/>
                <a:cs typeface="Arial" pitchFamily="34" charset="0"/>
              </a:rPr>
              <a:t>towards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foramen ovale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traverses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foramen ovale </a:t>
            </a:r>
            <a:r>
              <a:rPr lang="en-AU" dirty="0">
                <a:latin typeface="Arial" pitchFamily="34" charset="0"/>
                <a:cs typeface="Arial" pitchFamily="34" charset="0"/>
              </a:rPr>
              <a:t>as two separate roots 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sensory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motor</a:t>
            </a:r>
            <a:r>
              <a:rPr lang="en-AU" dirty="0">
                <a:latin typeface="Arial" pitchFamily="34" charset="0"/>
                <a:cs typeface="Arial" pitchFamily="34" charset="0"/>
              </a:rPr>
              <a:t>), which unite just beyond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 to form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trunk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divides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, into a larger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a smaller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division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928670"/>
            <a:ext cx="7786742" cy="519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Branches of the mandibular nerve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535782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They arise from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trunk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division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division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 that arise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main trunk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include: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Meningeal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(nervus spinosus), and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Nerve to medial pterygoid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858312" cy="1417638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The meningeal branch of the mandibular nerve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74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643998" cy="571504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ascends (with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meningeal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)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foramen spinosum </a:t>
            </a:r>
            <a:r>
              <a:rPr lang="en-AU" dirty="0">
                <a:latin typeface="Arial" pitchFamily="34" charset="0"/>
                <a:cs typeface="Arial" pitchFamily="34" charset="0"/>
              </a:rPr>
              <a:t>(to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cranial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gives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sensory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dura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cranial fossae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that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calvaria</a:t>
            </a:r>
            <a:r>
              <a:rPr lang="en-AU" dirty="0">
                <a:latin typeface="Arial" pitchFamily="34" charset="0"/>
                <a:cs typeface="Arial" pitchFamily="34" charset="0"/>
              </a:rPr>
              <a:t>, as well as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mucosa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mastoid air cells</a:t>
            </a:r>
            <a:r>
              <a:rPr lang="en-A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786874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The nerve to medial pterygoid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76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also 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trunk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innervates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pterygoid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also sends branches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tensor tympani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tensor veli palatini</a:t>
            </a:r>
            <a:r>
              <a:rPr lang="en-AU" dirty="0">
                <a:latin typeface="Arial" pitchFamily="34" charset="0"/>
                <a:cs typeface="Arial" pitchFamily="34" charset="0"/>
              </a:rPr>
              <a:t>; these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 pass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otic ganglion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78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00660"/>
          </a:xfrm>
        </p:spPr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largely motor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They include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Masseteric nerve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Deep temporal nerves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Nerve to 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Buccal nerve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Masseteric nerve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1048680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401080" cy="6500858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passes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,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(and just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capsule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TMJ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continues laterally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notch </a:t>
            </a:r>
            <a:r>
              <a:rPr lang="en-AU" dirty="0">
                <a:latin typeface="Arial" pitchFamily="34" charset="0"/>
                <a:cs typeface="Arial" pitchFamily="34" charset="0"/>
              </a:rPr>
              <a:t>(behind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 tendon</a:t>
            </a:r>
            <a:r>
              <a:rPr lang="en-AU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innervates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masseter </a:t>
            </a:r>
            <a:r>
              <a:rPr lang="en-AU" dirty="0">
                <a:latin typeface="Arial" pitchFamily="34" charset="0"/>
                <a:cs typeface="Arial" pitchFamily="34" charset="0"/>
              </a:rPr>
              <a:t>(through the deep surface of the masseter) and the TMJ.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accompanied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masseteric artery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Deep temporal nerves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82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401080" cy="5929354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They usually occur 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temporal 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;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intermediate one </a:t>
            </a:r>
            <a:r>
              <a:rPr lang="en-AU" dirty="0">
                <a:latin typeface="Arial" pitchFamily="34" charset="0"/>
                <a:cs typeface="Arial" pitchFamily="34" charset="0"/>
              </a:rPr>
              <a:t>may be present.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They pass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,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. Then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They turn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upwards </a:t>
            </a:r>
            <a:r>
              <a:rPr lang="en-AU" dirty="0">
                <a:latin typeface="Arial" pitchFamily="34" charset="0"/>
                <a:cs typeface="Arial" pitchFamily="34" charset="0"/>
              </a:rPr>
              <a:t>to enter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they innervate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temporalis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(via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Nerve to lateral pterygoid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supplies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May share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 stem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buccal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The buccal nerve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86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sensory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first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heads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</a:t>
            </a:r>
            <a:r>
              <a:rPr lang="en-AU" dirty="0">
                <a:latin typeface="Arial" pitchFamily="34" charset="0"/>
                <a:cs typeface="Arial" pitchFamily="34" charset="0"/>
              </a:rPr>
              <a:t>, it then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descends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cheek </a:t>
            </a:r>
            <a:r>
              <a:rPr lang="en-AU" dirty="0">
                <a:latin typeface="Arial" pitchFamily="34" charset="0"/>
                <a:cs typeface="Arial" pitchFamily="34" charset="0"/>
              </a:rPr>
              <a:t>deep to (or through)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temporalis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masseter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innervates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mucosa</a:t>
            </a:r>
            <a:r>
              <a:rPr lang="en-AU" dirty="0">
                <a:latin typeface="Arial" pitchFamily="34" charset="0"/>
                <a:cs typeface="Arial" pitchFamily="34" charset="0"/>
              </a:rPr>
              <a:t> over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buccinator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also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innervates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gums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may give rise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deep temporal nerve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joined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buccal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facial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(a motor ramus).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85860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88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472518" cy="600076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are mainly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sensory</a:t>
            </a:r>
            <a:r>
              <a:rPr lang="en-AU" dirty="0">
                <a:latin typeface="Arial" pitchFamily="34" charset="0"/>
                <a:cs typeface="Arial" pitchFamily="34" charset="0"/>
              </a:rPr>
              <a:t>; these include:</a:t>
            </a:r>
          </a:p>
          <a:p>
            <a:r>
              <a:rPr lang="en-AU" b="1" dirty="0">
                <a:latin typeface="Arial" pitchFamily="34" charset="0"/>
                <a:cs typeface="Arial" pitchFamily="34" charset="0"/>
              </a:rPr>
              <a:t>Auriculotemporal nerve</a:t>
            </a:r>
          </a:p>
          <a:p>
            <a:r>
              <a:rPr lang="en-AU" b="1" dirty="0">
                <a:latin typeface="Arial" pitchFamily="34" charset="0"/>
                <a:cs typeface="Arial" pitchFamily="34" charset="0"/>
              </a:rPr>
              <a:t>Lingual nerve</a:t>
            </a:r>
          </a:p>
          <a:p>
            <a:r>
              <a:rPr lang="en-AU" b="1" dirty="0">
                <a:latin typeface="Arial" pitchFamily="34" charset="0"/>
                <a:cs typeface="Arial" pitchFamily="34" charset="0"/>
              </a:rPr>
              <a:t>Inferior lingual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Lingual nerve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90" name="Content Placeholder 2"/>
          <p:cNvSpPr>
            <a:spLocks noGrp="1"/>
          </p:cNvSpPr>
          <p:nvPr>
            <p:ph idx="1"/>
          </p:nvPr>
        </p:nvSpPr>
        <p:spPr>
          <a:xfrm>
            <a:off x="285720" y="642918"/>
            <a:ext cx="8715436" cy="6643734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descends first between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tensor veli palatini </a:t>
            </a:r>
            <a:r>
              <a:rPr lang="en-AU" dirty="0">
                <a:latin typeface="Arial" pitchFamily="34" charset="0"/>
                <a:cs typeface="Arial" pitchFamily="34" charset="0"/>
              </a:rPr>
              <a:t>medially,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laterally.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continues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forwards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medially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 </a:t>
            </a:r>
            <a:r>
              <a:rPr lang="en-AU" dirty="0">
                <a:latin typeface="Arial" pitchFamily="34" charset="0"/>
                <a:cs typeface="Arial" pitchFamily="34" charset="0"/>
              </a:rPr>
              <a:t>laterally 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alveolar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 near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3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rd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molar tooth </a:t>
            </a:r>
            <a:r>
              <a:rPr lang="en-AU" dirty="0">
                <a:latin typeface="Arial" pitchFamily="34" charset="0"/>
                <a:cs typeface="Arial" pitchFamily="34" charset="0"/>
              </a:rPr>
              <a:t>(below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margin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pharyngeal constrictor</a:t>
            </a:r>
            <a:r>
              <a:rPr lang="en-AU" dirty="0">
                <a:latin typeface="Arial" pitchFamily="34" charset="0"/>
                <a:cs typeface="Arial" pitchFamily="34" charset="0"/>
              </a:rPr>
              <a:t>); here, it is covered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buccal mucosa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can be felt by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finger</a:t>
            </a:r>
            <a:r>
              <a:rPr lang="en-AU" dirty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mouth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92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643998" cy="550072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continues forwards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stylohyoid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aspects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hyoglossus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genioglossus</a:t>
            </a:r>
            <a:r>
              <a:rPr lang="en-AU" dirty="0">
                <a:latin typeface="Arial" pitchFamily="34" charset="0"/>
                <a:cs typeface="Arial" pitchFamily="34" charset="0"/>
              </a:rPr>
              <a:t> 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to mylohyoid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gland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crosses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gland </a:t>
            </a:r>
            <a:r>
              <a:rPr lang="en-AU" dirty="0">
                <a:latin typeface="Arial" pitchFamily="34" charset="0"/>
                <a:cs typeface="Arial" pitchFamily="34" charset="0"/>
              </a:rPr>
              <a:t>first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, before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ascending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genioglossus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innervates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mucosa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2/3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rd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tongue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joined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chorda tympani </a:t>
            </a:r>
            <a:r>
              <a:rPr lang="en-AU" dirty="0">
                <a:latin typeface="Arial" pitchFamily="34" charset="0"/>
                <a:cs typeface="Arial" pitchFamily="34" charset="0"/>
              </a:rPr>
              <a:t>(in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) ; this branch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facial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conveys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presynaptic parasympathetic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ganglion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also joined by fibres which arise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ganglion</a:t>
            </a:r>
            <a:r>
              <a:rPr lang="en-AU" dirty="0">
                <a:latin typeface="Arial" pitchFamily="34" charset="0"/>
                <a:cs typeface="Arial" pitchFamily="34" charset="0"/>
              </a:rPr>
              <a:t>, these contain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secretomotor</a:t>
            </a:r>
            <a:r>
              <a:rPr lang="en-AU" dirty="0">
                <a:latin typeface="Arial" pitchFamily="34" charset="0"/>
                <a:cs typeface="Arial" pitchFamily="34" charset="0"/>
              </a:rPr>
              <a:t> (postganglionic parasympathetic) fibres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sublingual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lingual glands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142844" y="142852"/>
            <a:ext cx="8858312" cy="1000132"/>
          </a:xfrm>
        </p:spPr>
        <p:txBody>
          <a:bodyPr>
            <a:noAutofit/>
          </a:bodyPr>
          <a:lstStyle/>
          <a:p>
            <a:r>
              <a:rPr lang="en-AU" dirty="0">
                <a:latin typeface="Arial Black" pitchFamily="34" charset="0"/>
              </a:rPr>
              <a:t>Branches of the lingual nerve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96" name="Content Placeholder 2"/>
          <p:cNvSpPr>
            <a:spLocks noGrp="1"/>
          </p:cNvSpPr>
          <p:nvPr>
            <p:ph idx="1"/>
          </p:nvPr>
        </p:nvSpPr>
        <p:spPr>
          <a:xfrm>
            <a:off x="214282" y="1142984"/>
            <a:ext cx="8643998" cy="5500726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gives: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Sensory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mucosa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floor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mouth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Sensory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 aspects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gingivae </a:t>
            </a:r>
            <a:r>
              <a:rPr lang="en-AU" dirty="0">
                <a:latin typeface="Arial" pitchFamily="34" charset="0"/>
                <a:cs typeface="Arial" pitchFamily="34" charset="0"/>
              </a:rPr>
              <a:t>(gums)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Sensory rami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premolar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st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molar teeth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mucosa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2/3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rd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dirty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presulcus part</a:t>
            </a:r>
            <a:r>
              <a:rPr lang="en-AU" dirty="0">
                <a:latin typeface="Arial" pitchFamily="34" charset="0"/>
                <a:cs typeface="Arial" pitchFamily="34" charset="0"/>
              </a:rPr>
              <a:t>)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tongue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1048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Secretomotor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sublingual</a:t>
            </a:r>
            <a:r>
              <a:rPr lang="en-AU" dirty="0">
                <a:latin typeface="Arial" pitchFamily="34" charset="0"/>
                <a:cs typeface="Arial" pitchFamily="34" charset="0"/>
              </a:rPr>
              <a:t> 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lingual glands</a:t>
            </a:r>
            <a:r>
              <a:rPr lang="en-AU" dirty="0">
                <a:latin typeface="Arial" pitchFamily="34" charset="0"/>
                <a:cs typeface="Arial" pitchFamily="34" charset="0"/>
              </a:rPr>
              <a:t>. These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fibres</a:t>
            </a:r>
            <a:r>
              <a:rPr lang="en-AU" dirty="0">
                <a:latin typeface="Arial" pitchFamily="34" charset="0"/>
                <a:cs typeface="Arial" pitchFamily="34" charset="0"/>
              </a:rPr>
              <a:t> arise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ganglion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Communicating rami </a:t>
            </a:r>
            <a:r>
              <a:rPr lang="en-AU" dirty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hypoglossal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(at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apex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tongue</a:t>
            </a:r>
            <a:r>
              <a:rPr lang="en-AU" dirty="0">
                <a:latin typeface="Arial" pitchFamily="34" charset="0"/>
                <a:cs typeface="Arial" pitchFamily="34" charset="0"/>
              </a:rPr>
              <a:t>) via these rami,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sensory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may be distributed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tongue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1214422"/>
          </a:xfrm>
        </p:spPr>
        <p:txBody>
          <a:bodyPr>
            <a:noAutofit/>
          </a:bodyPr>
          <a:lstStyle/>
          <a:p>
            <a:r>
              <a:rPr lang="en-AU" dirty="0">
                <a:latin typeface="Arial Black" pitchFamily="34" charset="0"/>
              </a:rPr>
              <a:t>The inferior alveolar nerve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00" name="Content Placeholder 2"/>
          <p:cNvSpPr>
            <a:spLocks noGrp="1"/>
          </p:cNvSpPr>
          <p:nvPr>
            <p:ph idx="1"/>
          </p:nvPr>
        </p:nvSpPr>
        <p:spPr>
          <a:xfrm>
            <a:off x="142844" y="857232"/>
            <a:ext cx="8715436" cy="6000768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division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descends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pterygoid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sphenomandibular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medially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ramus </a:t>
            </a:r>
            <a:r>
              <a:rPr lang="en-AU" dirty="0">
                <a:latin typeface="Arial" pitchFamily="34" charset="0"/>
                <a:cs typeface="Arial" pitchFamily="34" charset="0"/>
              </a:rPr>
              <a:t>laterally as it enters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canal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accompanied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alveolar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(from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</a:t>
            </a:r>
            <a:r>
              <a:rPr lang="en-AU" b="1" baseline="30000" dirty="0">
                <a:latin typeface="Arial" pitchFamily="34" charset="0"/>
                <a:cs typeface="Arial" pitchFamily="34" charset="0"/>
              </a:rPr>
              <a:t>st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maxillary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214422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1048702" name="Content Placeholder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5643602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gives rise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mylohyoid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just before it enters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; this innervates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mylohyoid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forms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dental plexus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numerous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(which arise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canal</a:t>
            </a:r>
            <a:r>
              <a:rPr lang="en-AU" dirty="0">
                <a:latin typeface="Arial" pitchFamily="34" charset="0"/>
                <a:cs typeface="Arial" pitchFamily="34" charset="0"/>
              </a:rPr>
              <a:t>); this plexus innervates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gums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alveolar processes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innervates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gums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skin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chin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>
          <a:xfrm>
            <a:off x="214282" y="-214338"/>
            <a:ext cx="8715436" cy="1428760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Branches of inferior alveolar nerve include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04" name="Content Placeholder 2"/>
          <p:cNvSpPr>
            <a:spLocks noGrp="1"/>
          </p:cNvSpPr>
          <p:nvPr>
            <p:ph idx="1"/>
          </p:nvPr>
        </p:nvSpPr>
        <p:spPr>
          <a:xfrm>
            <a:off x="142844" y="1000108"/>
            <a:ext cx="8786874" cy="5857892"/>
          </a:xfrm>
        </p:spPr>
        <p:txBody>
          <a:bodyPr>
            <a:normAutofit fontScale="925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Mylohyoid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pierces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sphenomandibular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traverses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mylohyoid groove </a:t>
            </a:r>
            <a:r>
              <a:rPr lang="en-AU" dirty="0">
                <a:latin typeface="Arial" pitchFamily="34" charset="0"/>
                <a:cs typeface="Arial" pitchFamily="34" charset="0"/>
              </a:rPr>
              <a:t>, to supply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mylohyoid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accompanied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mylohyoid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molar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premolar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, these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also supply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gums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alveolar processes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Incisive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innervates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incisor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canine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Mental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emerges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mental foramen </a:t>
            </a:r>
            <a:r>
              <a:rPr lang="en-AU" dirty="0">
                <a:latin typeface="Arial" pitchFamily="34" charset="0"/>
                <a:cs typeface="Arial" pitchFamily="34" charset="0"/>
              </a:rPr>
              <a:t>to innervate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skin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chin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that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lip </a:t>
            </a:r>
            <a:r>
              <a:rPr lang="en-AU" dirty="0">
                <a:latin typeface="Arial" pitchFamily="34" charset="0"/>
                <a:cs typeface="Arial" pitchFamily="34" charset="0"/>
              </a:rPr>
              <a:t>(and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its mucosa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Chorda tympani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06" name="Content Placeholder 2"/>
          <p:cNvSpPr>
            <a:spLocks noGrp="1"/>
          </p:cNvSpPr>
          <p:nvPr>
            <p:ph idx="1"/>
          </p:nvPr>
        </p:nvSpPr>
        <p:spPr>
          <a:xfrm>
            <a:off x="285720" y="571480"/>
            <a:ext cx="8401080" cy="628652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facial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about 6 mm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stylomastoid 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, it then passes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forwards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upwards</a:t>
            </a:r>
            <a:r>
              <a:rPr lang="en-AU" dirty="0">
                <a:latin typeface="Arial" pitchFamily="34" charset="0"/>
                <a:cs typeface="Arial" pitchFamily="34" charset="0"/>
              </a:rPr>
              <a:t>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ear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crosses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tympanic membrane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behind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forwards </a:t>
            </a:r>
            <a:r>
              <a:rPr lang="en-AU" dirty="0">
                <a:latin typeface="Arial" pitchFamily="34" charset="0"/>
                <a:cs typeface="Arial" pitchFamily="34" charset="0"/>
              </a:rPr>
              <a:t>(between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fibrous layer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mucous lining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tympanic membrane</a:t>
            </a:r>
            <a:r>
              <a:rPr lang="en-AU" dirty="0">
                <a:latin typeface="Arial" pitchFamily="34" charset="0"/>
                <a:cs typeface="Arial" pitchFamily="34" charset="0"/>
              </a:rPr>
              <a:t>),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wall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tympanic cavity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leaves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ear </a:t>
            </a:r>
            <a:r>
              <a:rPr lang="en-AU" dirty="0">
                <a:latin typeface="Arial" pitchFamily="34" charset="0"/>
                <a:cs typeface="Arial" pitchFamily="34" charset="0"/>
              </a:rPr>
              <a:t>to enter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, where it joins the l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ingual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at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acute angle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08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643998" cy="5340369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conveys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preganglionic parasympathetic </a:t>
            </a:r>
            <a:r>
              <a:rPr lang="en-AU" dirty="0">
                <a:latin typeface="Arial" pitchFamily="34" charset="0"/>
                <a:cs typeface="Arial" pitchFamily="34" charset="0"/>
              </a:rPr>
              <a:t>fibres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ganglion </a:t>
            </a:r>
            <a:r>
              <a:rPr lang="en-AU" dirty="0">
                <a:latin typeface="Arial" pitchFamily="34" charset="0"/>
                <a:cs typeface="Arial" pitchFamily="34" charset="0"/>
              </a:rPr>
              <a:t>(via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); these fibres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salivatory nucleus </a:t>
            </a:r>
            <a:r>
              <a:rPr lang="en-AU" dirty="0">
                <a:latin typeface="Arial" pitchFamily="34" charset="0"/>
                <a:cs typeface="Arial" pitchFamily="34" charset="0"/>
              </a:rPr>
              <a:t>(in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pontine tegmentum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9716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500438"/>
            <a:ext cx="7358114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40108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Otic ganglion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0" name="Content Placeholder 2"/>
          <p:cNvSpPr>
            <a:spLocks noGrp="1"/>
          </p:cNvSpPr>
          <p:nvPr>
            <p:ph idx="1"/>
          </p:nvPr>
        </p:nvSpPr>
        <p:spPr>
          <a:xfrm>
            <a:off x="0" y="714356"/>
            <a:ext cx="8929718" cy="614364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 reddish oval body </a:t>
            </a:r>
            <a:r>
              <a:rPr lang="en-AU" dirty="0">
                <a:latin typeface="Arial" pitchFamily="34" charset="0"/>
                <a:cs typeface="Arial" pitchFamily="34" charset="0"/>
              </a:rPr>
              <a:t>located just 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foramen ovale </a:t>
            </a:r>
            <a:r>
              <a:rPr lang="en-AU" dirty="0">
                <a:latin typeface="Arial" pitchFamily="34" charset="0"/>
                <a:cs typeface="Arial" pitchFamily="34" charset="0"/>
              </a:rPr>
              <a:t>(and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),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one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peripheral parasympathetic ganglia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receives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preganglionic parasympathetic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glossopharyngeal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via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petrosal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; these fibres arise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salivatory nucleus </a:t>
            </a:r>
            <a:r>
              <a:rPr lang="en-AU" dirty="0">
                <a:latin typeface="Arial" pitchFamily="34" charset="0"/>
                <a:cs typeface="Arial" pitchFamily="34" charset="0"/>
              </a:rPr>
              <a:t>(located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medullary tegmentum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source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postganglionic parasympathetic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parotid gland. These fibres 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conveyed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gland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auriculotemporal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8586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traversed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tensor tympani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tensor veli palatini </a:t>
            </a:r>
            <a:r>
              <a:rPr lang="en-AU" dirty="0">
                <a:latin typeface="Arial" pitchFamily="34" charset="0"/>
                <a:cs typeface="Arial" pitchFamily="34" charset="0"/>
              </a:rPr>
              <a:t>(though these do not synapse in it).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9716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571744"/>
            <a:ext cx="8215370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18F8-7621-440A-9D9C-CEFFAB59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Pterygopalatine Fossa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82FC-8773-42EF-9F97-2FFF73B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83162"/>
          </a:xfrm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narrow pyramidal space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located below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orbit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bounded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it communicates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adjacent bony cavities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via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foramina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contains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important nerves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blood vessels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ganglion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pterygopalatine ganglion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759401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BEDA-9F7B-4824-9843-4FBB48ADF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247B-94A8-429C-8628-0977A994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544616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bounded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above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greater wing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sphenoid bone.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bounded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below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floor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pyramidal process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palatine bone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bounded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anteriorly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posterior surface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maxilla.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bounded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posteriorly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pterygoid process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sphenoid bone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bounded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medially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perpendicular plate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palatine bone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92955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6427-C635-4F4E-9502-32AF2748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The Pterygopalatine Fossa communicates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B589-2D26-404E-8449-C78C952FF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Anterosuperiorly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orbit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through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inferior orbital fissure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Posterosuperiorly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middle cranial fossa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through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foramen rotundum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pterygoid canal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Laterally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infratemporal fossa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through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pterygomaxillary fissure.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Medially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nasal cavity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through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sphenopalatine foramen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93805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9B65-AD34-4D99-9F0A-99C0BEB1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The Pterygopalatine Fossa contains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75ED4-9F98-41E8-A9DF-910B56D3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612068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Pterygopalatine ganglion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orbital branches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palatine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(greater and lesser)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nerves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nasal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lateral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posterior superior nasal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medial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posterior superior nasal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including the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nasopalatine foramen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nerves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pharyngeal nerve.</a:t>
            </a:r>
          </a:p>
          <a:p>
            <a:pPr algn="just"/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Maxillary nerve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and its branches (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Paired ganglionic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(pterygopalatine)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meningeal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zygomatic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posterior superior alveolar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infraorbital nerves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(3</a:t>
            </a:r>
            <a:r>
              <a:rPr lang="en-US" sz="35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part of maxillary artery and its branches</a:t>
            </a:r>
          </a:p>
          <a:p>
            <a:pPr algn="just"/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Nerve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pterygoid canal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455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285720" y="-243408"/>
            <a:ext cx="8401080" cy="108012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4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9036496" cy="6984776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 alveolar nerve block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performed</a:t>
            </a:r>
            <a:r>
              <a:rPr lang="en-AU" dirty="0">
                <a:latin typeface="Arial" pitchFamily="34" charset="0"/>
                <a:cs typeface="Arial" pitchFamily="34" charset="0"/>
              </a:rPr>
              <a:t> by injecting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anaesthetic agent </a:t>
            </a:r>
            <a:r>
              <a:rPr lang="en-AU" dirty="0">
                <a:latin typeface="Arial" pitchFamily="34" charset="0"/>
                <a:cs typeface="Arial" pitchFamily="34" charset="0"/>
              </a:rPr>
              <a:t>around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foramen</a:t>
            </a:r>
            <a:r>
              <a:rPr lang="en-AU" dirty="0">
                <a:latin typeface="Arial" pitchFamily="34" charset="0"/>
                <a:cs typeface="Arial" pitchFamily="34" charset="0"/>
              </a:rPr>
              <a:t>; this procedure largely abolishes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sensations</a:t>
            </a:r>
            <a:r>
              <a:rPr lang="en-AU" dirty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usually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does not </a:t>
            </a:r>
            <a:r>
              <a:rPr lang="en-AU" dirty="0">
                <a:latin typeface="Arial" pitchFamily="34" charset="0"/>
                <a:cs typeface="Arial" pitchFamily="34" charset="0"/>
              </a:rPr>
              <a:t>completely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abolish sensations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; this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owing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fact</a:t>
            </a:r>
            <a:r>
              <a:rPr lang="en-AU" dirty="0">
                <a:latin typeface="Arial" pitchFamily="34" charset="0"/>
                <a:cs typeface="Arial" pitchFamily="34" charset="0"/>
              </a:rPr>
              <a:t> that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also reach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teeth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mandible</a:t>
            </a:r>
            <a:r>
              <a:rPr lang="en-AU" dirty="0">
                <a:latin typeface="Arial" pitchFamily="34" charset="0"/>
                <a:cs typeface="Arial" pitchFamily="34" charset="0"/>
              </a:rPr>
              <a:t>.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anesthetizes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its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; the needle is passed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infratemporal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notch.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8" name="Content Placeholder 2"/>
          <p:cNvSpPr>
            <a:spLocks noGrp="1"/>
          </p:cNvSpPr>
          <p:nvPr>
            <p:ph idx="1"/>
          </p:nvPr>
        </p:nvSpPr>
        <p:spPr>
          <a:xfrm>
            <a:off x="-108520" y="404664"/>
            <a:ext cx="9073008" cy="820891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sphenomandibular ligament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important landmark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 anesthetic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inferior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alveolar nerve block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n-US" dirty="0"/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temporal fascia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silvery-white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thick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fibrous sheet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aponeurotic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It is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thickest fascia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Structurally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it represents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some species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tortoise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it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replaced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temporal fossa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bony tunnel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temporal fascia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as 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graft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by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ENT surgeons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tympanoplasty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tympanic membrane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algn="just"/>
            <a:endParaRPr lang="en-US" sz="4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93610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6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036496" cy="6953426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lingual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is at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 risk </a:t>
            </a:r>
            <a:r>
              <a:rPr lang="en-AU" dirty="0">
                <a:latin typeface="Arial" pitchFamily="34" charset="0"/>
                <a:cs typeface="Arial" pitchFamily="34" charset="0"/>
              </a:rPr>
              <a:t>(10%) during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surgical removal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impacted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third molar teeth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</a:t>
            </a:r>
            <a:r>
              <a:rPr lang="en-AU" dirty="0">
                <a:latin typeface="Arial" pitchFamily="34" charset="0"/>
                <a:cs typeface="Arial" pitchFamily="34" charset="0"/>
              </a:rPr>
              <a:t> is also at risk during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surgical removal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salivary gland</a:t>
            </a:r>
            <a:r>
              <a:rPr lang="en-AU" dirty="0">
                <a:latin typeface="Arial" pitchFamily="34" charset="0"/>
                <a:cs typeface="Arial" pitchFamily="34" charset="0"/>
              </a:rPr>
              <a:t>, during which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submandibular duct </a:t>
            </a:r>
            <a:r>
              <a:rPr lang="en-AU" dirty="0">
                <a:latin typeface="Arial" pitchFamily="34" charset="0"/>
                <a:cs typeface="Arial" pitchFamily="34" charset="0"/>
              </a:rPr>
              <a:t>must be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dissected out carefully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nerve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Therefore the patients suffering from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tongue cancer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pain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 radiates to the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ear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 and to the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temporal fossa 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in the area of distribution of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auriculo-temporal nerve. 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The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 pain 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relieved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 by dividing the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lingual nerve below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behind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anose="020B0604020202020204" pitchFamily="34" charset="0"/>
                <a:cs typeface="Arial" pitchFamily="34" charset="0"/>
              </a:rPr>
              <a:t>last molar tooth</a:t>
            </a:r>
            <a:r>
              <a:rPr lang="en-AU" dirty="0">
                <a:latin typeface="Arial" panose="020B0604020202020204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902B-7890-4BBE-81EA-166D3F99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93FB-E9D0-4198-9831-0A45BD059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Referred Pain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the pain frequently referred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one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mandibular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other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41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04872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0971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7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0F521-DCCF-4D69-9E62-A91F7C409601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3569</Words>
  <Application>Microsoft Office PowerPoint</Application>
  <PresentationFormat>On-screen Show (4:3)</PresentationFormat>
  <Paragraphs>324</Paragraphs>
  <Slides>71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Arial</vt:lpstr>
      <vt:lpstr>Arial Black</vt:lpstr>
      <vt:lpstr>Calibri</vt:lpstr>
      <vt:lpstr>Wingdings</vt:lpstr>
      <vt:lpstr>Office Theme</vt:lpstr>
      <vt:lpstr>Anatomy of the Temporal Region</vt:lpstr>
      <vt:lpstr>Outline</vt:lpstr>
      <vt:lpstr>Intro’</vt:lpstr>
      <vt:lpstr>Boundaries</vt:lpstr>
      <vt:lpstr>PowerPoint Presentation</vt:lpstr>
      <vt:lpstr>Pterion</vt:lpstr>
      <vt:lpstr>Contents of temporal fossa</vt:lpstr>
      <vt:lpstr>PowerPoint Presentation</vt:lpstr>
      <vt:lpstr>The temporal fascia</vt:lpstr>
      <vt:lpstr>Cont’d</vt:lpstr>
      <vt:lpstr>The temporalis muscle</vt:lpstr>
      <vt:lpstr>Infratemporal fossa</vt:lpstr>
      <vt:lpstr>Boundaries of the Infratemporal fossa</vt:lpstr>
      <vt:lpstr>Cont’d</vt:lpstr>
      <vt:lpstr>Contents of the Infratemporal fossa</vt:lpstr>
      <vt:lpstr>PowerPoint Presentation</vt:lpstr>
      <vt:lpstr>Communications of the infratemporal fossa</vt:lpstr>
      <vt:lpstr>Muscles of Infratemporal fossa</vt:lpstr>
      <vt:lpstr>The lateral pterygoid</vt:lpstr>
      <vt:lpstr>Cont’d</vt:lpstr>
      <vt:lpstr>Cont’d</vt:lpstr>
      <vt:lpstr>Cont’d</vt:lpstr>
      <vt:lpstr>PowerPoint Presentation</vt:lpstr>
      <vt:lpstr>Cont’d</vt:lpstr>
      <vt:lpstr>The medial pterygoid</vt:lpstr>
      <vt:lpstr>Cont’d</vt:lpstr>
      <vt:lpstr>Cont’d</vt:lpstr>
      <vt:lpstr>Cont’d</vt:lpstr>
      <vt:lpstr>Arteries of the Infratemporal Fossa</vt:lpstr>
      <vt:lpstr>Cont’d</vt:lpstr>
      <vt:lpstr>Branches of the maxillary artery </vt:lpstr>
      <vt:lpstr>PowerPoint Presentation</vt:lpstr>
      <vt:lpstr>Cont’d</vt:lpstr>
      <vt:lpstr>Cont’d</vt:lpstr>
      <vt:lpstr>PowerPoint Presentation</vt:lpstr>
      <vt:lpstr>Veins of the Infratemporal fossa</vt:lpstr>
      <vt:lpstr>Cont’d</vt:lpstr>
      <vt:lpstr>Cont’d</vt:lpstr>
      <vt:lpstr>Nerves of the Infratemporal fossa</vt:lpstr>
      <vt:lpstr>Mandibular nerve</vt:lpstr>
      <vt:lpstr>PowerPoint Presentation</vt:lpstr>
      <vt:lpstr>Branches of the mandibular nerve</vt:lpstr>
      <vt:lpstr>The meningeal branch of the mandibular nerve</vt:lpstr>
      <vt:lpstr>The nerve to medial pterygoid</vt:lpstr>
      <vt:lpstr>Cont’d</vt:lpstr>
      <vt:lpstr>Masseteric nerve</vt:lpstr>
      <vt:lpstr>Deep temporal nerves</vt:lpstr>
      <vt:lpstr>Nerve to lateral pterygoid</vt:lpstr>
      <vt:lpstr>The buccal nerve</vt:lpstr>
      <vt:lpstr>Cont’d</vt:lpstr>
      <vt:lpstr>Cont’d</vt:lpstr>
      <vt:lpstr>Cont’d</vt:lpstr>
      <vt:lpstr>Cont’d</vt:lpstr>
      <vt:lpstr>Branches of the lingual nerve</vt:lpstr>
      <vt:lpstr>Cont’d</vt:lpstr>
      <vt:lpstr>The inferior alveolar nerve</vt:lpstr>
      <vt:lpstr>Cont’d</vt:lpstr>
      <vt:lpstr>Branches of inferior alveolar nerve include</vt:lpstr>
      <vt:lpstr>Chorda tympani</vt:lpstr>
      <vt:lpstr>Cont’d</vt:lpstr>
      <vt:lpstr>Otic ganglion</vt:lpstr>
      <vt:lpstr>Cont’d</vt:lpstr>
      <vt:lpstr>Pterygopalatine Fossa</vt:lpstr>
      <vt:lpstr>Cont’d</vt:lpstr>
      <vt:lpstr>The Pterygopalatine Fossa communicates </vt:lpstr>
      <vt:lpstr>The Pterygopalatine Fossa contains </vt:lpstr>
      <vt:lpstr>Applied Anatomy</vt:lpstr>
      <vt:lpstr>Cont’d</vt:lpstr>
      <vt:lpstr>Cont’d</vt:lpstr>
      <vt:lpstr>Cont’d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the Temporal Region</dc:title>
  <dc:creator>Dr. Ojewale</dc:creator>
  <cp:lastModifiedBy>dell</cp:lastModifiedBy>
  <cp:revision>12</cp:revision>
  <dcterms:created xsi:type="dcterms:W3CDTF">2023-09-08T12:03:50Z</dcterms:created>
  <dcterms:modified xsi:type="dcterms:W3CDTF">2025-01-30T16:41:18Z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5ca73ae740d3426fbc4a0eabd6dfb043</vt:lpwstr>
  </property>
</Properties>
</file>