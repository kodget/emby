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8" r:id="rId10"/>
    <p:sldId id="264" r:id="rId11"/>
    <p:sldId id="265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48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4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2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8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9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9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8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3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2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7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271D3-D1D4-44F1-A821-14D51045DA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45225-AF85-4091-8428-B05A4A220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3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689" y="468820"/>
            <a:ext cx="10515600" cy="5809432"/>
          </a:xfrm>
        </p:spPr>
        <p:txBody>
          <a:bodyPr/>
          <a:lstStyle/>
          <a:p>
            <a:pPr algn="ctr"/>
            <a:r>
              <a:rPr lang="en-US" dirty="0"/>
              <a:t>THYROID AND PARATHYROID GLAND</a:t>
            </a:r>
            <a:br>
              <a:rPr lang="en-US" dirty="0"/>
            </a:br>
            <a:r>
              <a:rPr lang="en-US" dirty="0"/>
              <a:t>BY </a:t>
            </a:r>
            <a:br>
              <a:rPr lang="en-US" dirty="0"/>
            </a:br>
            <a:r>
              <a:rPr lang="en-US" dirty="0"/>
              <a:t>DR. OGWUCHE, ELIJAH</a:t>
            </a:r>
            <a:br>
              <a:rPr lang="en-US" dirty="0"/>
            </a:br>
            <a:r>
              <a:rPr lang="en-US" dirty="0"/>
              <a:t>(BSc. MSc. MB,BS)</a:t>
            </a:r>
            <a:br>
              <a:rPr lang="en-US" dirty="0"/>
            </a:br>
            <a:r>
              <a:rPr lang="en-US" dirty="0"/>
              <a:t>LAGOS STATE UNIVERSITY COLLEGE OF MEDICINE (LASUCOM), IKEJA.</a:t>
            </a:r>
          </a:p>
        </p:txBody>
      </p:sp>
    </p:spTree>
    <p:extLst>
      <p:ext uri="{BB962C8B-B14F-4D97-AF65-F5344CB8AC3E}">
        <p14:creationId xmlns:p14="http://schemas.microsoft.com/office/powerpoint/2010/main" val="25068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PARTS</a:t>
            </a:r>
          </a:p>
          <a:p>
            <a:r>
              <a:rPr lang="en-US" dirty="0"/>
              <a:t>RELATIONS</a:t>
            </a:r>
          </a:p>
          <a:p>
            <a:r>
              <a:rPr lang="en-US" dirty="0"/>
              <a:t>ARTERIAL SUPPLY</a:t>
            </a:r>
          </a:p>
          <a:p>
            <a:r>
              <a:rPr lang="en-US" dirty="0"/>
              <a:t>VENOUS DRAINAGE</a:t>
            </a:r>
          </a:p>
          <a:p>
            <a:r>
              <a:rPr lang="en-US" dirty="0"/>
              <a:t>LYMPHATIC DRAINAGE</a:t>
            </a:r>
          </a:p>
          <a:p>
            <a:r>
              <a:rPr lang="en-US" dirty="0"/>
              <a:t>NERVE SUPPLY</a:t>
            </a:r>
          </a:p>
          <a:p>
            <a:r>
              <a:rPr lang="en-US" dirty="0"/>
              <a:t>APPLIED ANATOMY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6751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thyroid gland is the largest endocrine gland in the body</a:t>
            </a:r>
          </a:p>
          <a:p>
            <a:r>
              <a:rPr lang="en-US" dirty="0"/>
              <a:t>It has a butter-fly shape appearance</a:t>
            </a:r>
          </a:p>
          <a:p>
            <a:r>
              <a:rPr lang="en-US" dirty="0"/>
              <a:t>It is situated in the neck, anterior to the trachea between the levels of 5</a:t>
            </a:r>
            <a:r>
              <a:rPr lang="en-US" baseline="30000" dirty="0"/>
              <a:t>th</a:t>
            </a:r>
            <a:r>
              <a:rPr lang="en-US" dirty="0"/>
              <a:t> cervical to 1</a:t>
            </a:r>
            <a:r>
              <a:rPr lang="en-US" baseline="30000" dirty="0"/>
              <a:t>st</a:t>
            </a:r>
            <a:r>
              <a:rPr lang="en-US" dirty="0"/>
              <a:t> thoracic vertebrate (C5 to T1)</a:t>
            </a:r>
          </a:p>
          <a:p>
            <a:r>
              <a:rPr lang="en-US" dirty="0"/>
              <a:t>Weighs about 25g, typically about 5cm long</a:t>
            </a:r>
          </a:p>
          <a:p>
            <a:r>
              <a:rPr lang="en-US" dirty="0"/>
              <a:t>Not usually visible or palpable </a:t>
            </a:r>
          </a:p>
          <a:p>
            <a:r>
              <a:rPr lang="en-US" dirty="0"/>
              <a:t>Largest in females than males and increases in size during pregnancy and menstruation</a:t>
            </a:r>
          </a:p>
        </p:txBody>
      </p:sp>
    </p:spTree>
    <p:extLst>
      <p:ext uri="{BB962C8B-B14F-4D97-AF65-F5344CB8AC3E}">
        <p14:creationId xmlns:p14="http://schemas.microsoft.com/office/powerpoint/2010/main" val="3560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DIAGRAM</a:t>
            </a:r>
          </a:p>
        </p:txBody>
      </p:sp>
      <p:pic>
        <p:nvPicPr>
          <p:cNvPr id="2050" name="Picture 2" descr="https://img.freepik.com/premium-vector/anatomy-thyroid-human-organ-illustration-organ-details-concept_278713-316.jpg?w=200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384" y="1825625"/>
            <a:ext cx="7117237" cy="484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31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thyroid gland is made up of two lobes; </a:t>
            </a:r>
          </a:p>
          <a:p>
            <a:r>
              <a:rPr lang="en-US" dirty="0"/>
              <a:t>The right and left lobes, connected centrally across the trachea by the isthmus</a:t>
            </a:r>
          </a:p>
          <a:p>
            <a:r>
              <a:rPr lang="en-US" dirty="0"/>
              <a:t>Occasionally, there is the pyramidal lobe</a:t>
            </a:r>
          </a:p>
        </p:txBody>
      </p:sp>
    </p:spTree>
    <p:extLst>
      <p:ext uri="{BB962C8B-B14F-4D97-AF65-F5344CB8AC3E}">
        <p14:creationId xmlns:p14="http://schemas.microsoft.com/office/powerpoint/2010/main" val="232158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ANTERIORLY</a:t>
            </a:r>
            <a:r>
              <a:rPr lang="en-US" dirty="0"/>
              <a:t>; </a:t>
            </a:r>
            <a:r>
              <a:rPr lang="en-US" dirty="0" err="1"/>
              <a:t>Pretrachea</a:t>
            </a:r>
            <a:r>
              <a:rPr lang="en-US" dirty="0"/>
              <a:t> fascia, strap muscles and sternocleidomastoid. The internal jugular vein courses over the Isthmus, the thyroid </a:t>
            </a:r>
            <a:r>
              <a:rPr lang="en-US" dirty="0" err="1"/>
              <a:t>ima</a:t>
            </a:r>
            <a:r>
              <a:rPr lang="en-US" dirty="0"/>
              <a:t> artery, a branch of the </a:t>
            </a:r>
            <a:r>
              <a:rPr lang="en-US" dirty="0" err="1"/>
              <a:t>thyrocervical</a:t>
            </a:r>
            <a:r>
              <a:rPr lang="en-US" dirty="0"/>
              <a:t> trunk may be occasionally present.</a:t>
            </a:r>
          </a:p>
          <a:p>
            <a:r>
              <a:rPr lang="en-US" u="sng" dirty="0"/>
              <a:t>POSTERIORLY</a:t>
            </a:r>
            <a:r>
              <a:rPr lang="en-US" dirty="0"/>
              <a:t>; Parathyroid glands, larynx and trachea, pharynx and </a:t>
            </a:r>
            <a:r>
              <a:rPr lang="en-US" dirty="0" err="1"/>
              <a:t>oesophagus</a:t>
            </a:r>
            <a:r>
              <a:rPr lang="en-US" dirty="0"/>
              <a:t>, the recurrent laryngeal nerve. </a:t>
            </a:r>
          </a:p>
          <a:p>
            <a:r>
              <a:rPr lang="en-US" u="sng" dirty="0"/>
              <a:t>LATERALLY</a:t>
            </a:r>
            <a:r>
              <a:rPr lang="en-US" dirty="0"/>
              <a:t>; The carotid sheath overlies carotid artery</a:t>
            </a:r>
          </a:p>
          <a:p>
            <a:r>
              <a:rPr lang="en-US" u="sng" dirty="0"/>
              <a:t>MEDIALLY</a:t>
            </a:r>
            <a:r>
              <a:rPr lang="en-US" dirty="0"/>
              <a:t>; Trachea, esophagus, inferior constrictor and cricothyroid muscle, external laryngeal and recurrent laryngeal nerves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779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VASCULATURE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u="sng" dirty="0"/>
              <a:t>Arterial supply;</a:t>
            </a:r>
            <a:r>
              <a:rPr lang="en-US" dirty="0"/>
              <a:t> superior thyroid artery, inferior thyroid artery, thyroid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artey</a:t>
            </a:r>
            <a:r>
              <a:rPr lang="en-US" dirty="0"/>
              <a:t>.</a:t>
            </a:r>
          </a:p>
          <a:p>
            <a:r>
              <a:rPr lang="en-US" dirty="0"/>
              <a:t>Venous drainage; Superior thyroid vein, middle thyroid vein and inferior thyroid vein</a:t>
            </a:r>
          </a:p>
          <a:p>
            <a:r>
              <a:rPr lang="en-US" dirty="0"/>
              <a:t>Lymphatic drainage; this follows the arteries and include-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</a:t>
            </a:r>
            <a:r>
              <a:rPr lang="en-US" dirty="0"/>
              <a:t>. From the upper lobes they drain into the </a:t>
            </a:r>
            <a:r>
              <a:rPr lang="en-US" dirty="0" err="1"/>
              <a:t>anterosuperior</a:t>
            </a:r>
            <a:r>
              <a:rPr lang="en-US" dirty="0"/>
              <a:t> groups of</a:t>
            </a:r>
          </a:p>
          <a:p>
            <a:pPr marL="0" indent="0">
              <a:buNone/>
            </a:pPr>
            <a:r>
              <a:rPr lang="en-US" dirty="0"/>
              <a:t>     deep cervical lymph nodes</a:t>
            </a:r>
          </a:p>
          <a:p>
            <a:pPr marL="0" indent="0">
              <a:buNone/>
            </a:pPr>
            <a:r>
              <a:rPr lang="en-US" dirty="0"/>
              <a:t>  ii. From  the lower poles they drain into the posterior, inferior groups </a:t>
            </a:r>
          </a:p>
          <a:p>
            <a:pPr marL="0" indent="0">
              <a:buNone/>
            </a:pPr>
            <a:r>
              <a:rPr lang="en-US" dirty="0"/>
              <a:t>      of deep cervical lymph nodes.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382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ARTERIAL SUPPLY</a:t>
            </a:r>
          </a:p>
        </p:txBody>
      </p:sp>
      <p:pic>
        <p:nvPicPr>
          <p:cNvPr id="4098" name="Picture 2" descr="https://preview.redd.it/arterial-supply-of-the-thyroid-gland-v0-o4n6915ie8za1.png?width=1202&amp;format=png&amp;auto=webp&amp;s=5b6f2a3772a288a4d9caeb8c44fc917f863ca1cb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402" y="1825625"/>
            <a:ext cx="778319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73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VENOUS DRAINAGE</a:t>
            </a:r>
          </a:p>
        </p:txBody>
      </p:sp>
      <p:pic>
        <p:nvPicPr>
          <p:cNvPr id="5122" name="Picture 2" descr="https://i0.wp.com/www.anatomyqa.com/wp-content/uploads/2017/01/venous-drainage-of-thyroid-gland.png?resize=499%2C35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2" y="2310606"/>
            <a:ext cx="4752975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63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NERVE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laryngeal and recurrent laryngeal nerve</a:t>
            </a:r>
          </a:p>
          <a:p>
            <a:r>
              <a:rPr lang="en-US" dirty="0" err="1"/>
              <a:t>secretomotor</a:t>
            </a:r>
            <a:r>
              <a:rPr lang="en-US" dirty="0"/>
              <a:t> are derived from the;</a:t>
            </a:r>
          </a:p>
          <a:p>
            <a:pPr>
              <a:buFontTx/>
              <a:buChar char="-"/>
            </a:pPr>
            <a:r>
              <a:rPr lang="en-US" dirty="0"/>
              <a:t>Superior</a:t>
            </a:r>
          </a:p>
          <a:p>
            <a:pPr>
              <a:buFontTx/>
              <a:buChar char="-"/>
            </a:pPr>
            <a:r>
              <a:rPr lang="en-US" dirty="0"/>
              <a:t>Middle and </a:t>
            </a:r>
          </a:p>
          <a:p>
            <a:pPr>
              <a:buFontTx/>
              <a:buChar char="-"/>
            </a:pPr>
            <a:r>
              <a:rPr lang="en-US" dirty="0"/>
              <a:t>Inferior cervical sympathetic ganglia</a:t>
            </a:r>
          </a:p>
        </p:txBody>
      </p:sp>
    </p:spTree>
    <p:extLst>
      <p:ext uri="{BB962C8B-B14F-4D97-AF65-F5344CB8AC3E}">
        <p14:creationId xmlns:p14="http://schemas.microsoft.com/office/powerpoint/2010/main" val="2510299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Basal metabolic rate</a:t>
            </a:r>
          </a:p>
          <a:p>
            <a:r>
              <a:rPr lang="en-US" dirty="0"/>
              <a:t>Psychic  growth</a:t>
            </a:r>
          </a:p>
          <a:p>
            <a:r>
              <a:rPr lang="en-US" dirty="0"/>
              <a:t>Calcium metabolism</a:t>
            </a:r>
          </a:p>
        </p:txBody>
      </p:sp>
    </p:spTree>
    <p:extLst>
      <p:ext uri="{BB962C8B-B14F-4D97-AF65-F5344CB8AC3E}">
        <p14:creationId xmlns:p14="http://schemas.microsoft.com/office/powerpoint/2010/main" val="89690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E3CF-D11A-84E9-5326-980E6818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PARATHYROID GLAND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1F84D4-88DB-0CDF-0B28-43CF931C5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2001044"/>
            <a:ext cx="7620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2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8B9D-6F28-0594-2CBB-AC8B0DBF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PARATHYROID GLANDS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6E11D-661D-25F7-57A3-41F25FC6C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are four small pea-sized endocrine glands located on the posterior surface of the thyroid gland, </a:t>
            </a:r>
            <a:r>
              <a:rPr lang="en-US" dirty="0" err="1"/>
              <a:t>embeded</a:t>
            </a:r>
            <a:r>
              <a:rPr lang="en-US" dirty="0"/>
              <a:t>  within its tissue</a:t>
            </a:r>
          </a:p>
          <a:p>
            <a:r>
              <a:rPr lang="en-US" dirty="0"/>
              <a:t>They are small flattened oval shaped glands</a:t>
            </a:r>
          </a:p>
          <a:p>
            <a:r>
              <a:rPr lang="en-US" dirty="0"/>
              <a:t>Responsible for the production of parathyroid hormones (PTH) that regulate serum calcium levels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744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F49E-C1B1-D8E5-4CCF-A9349D44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PARATHYROID GLANDS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C5C16-08A9-5DE4-FBF9-3A2CB5F9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superior parathyroid glands are derived embryologically from the fourth pharyngeal pouch while </a:t>
            </a:r>
          </a:p>
          <a:p>
            <a:r>
              <a:rPr lang="en-US" dirty="0"/>
              <a:t>The inferior parathyroid glands are derived from the third pharyngeal pouch</a:t>
            </a:r>
          </a:p>
          <a:p>
            <a:r>
              <a:rPr lang="en-US" dirty="0"/>
              <a:t>variations; in few individuals, the inferior Parathyroid glands are located as far inferiorly as the superior mediastinum</a:t>
            </a:r>
          </a:p>
        </p:txBody>
      </p:sp>
    </p:spTree>
    <p:extLst>
      <p:ext uri="{BB962C8B-B14F-4D97-AF65-F5344CB8AC3E}">
        <p14:creationId xmlns:p14="http://schemas.microsoft.com/office/powerpoint/2010/main" val="3092134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D94D-DC39-2FE7-C4DE-411E8036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VASCULATURE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F6747-01C2-31F4-8F7A-2D112DB59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 similar blood supply as the thyroid gland</a:t>
            </a:r>
          </a:p>
          <a:p>
            <a:r>
              <a:rPr lang="en-US" dirty="0"/>
              <a:t>Blood supply; chiefly from the inferior thyroid artery, collateral supply from the superior thyroid artery and thyroid </a:t>
            </a:r>
            <a:r>
              <a:rPr lang="en-US" dirty="0" err="1"/>
              <a:t>ima</a:t>
            </a:r>
            <a:r>
              <a:rPr lang="en-US" dirty="0"/>
              <a:t> artery</a:t>
            </a:r>
          </a:p>
          <a:p>
            <a:r>
              <a:rPr lang="en-US" dirty="0"/>
              <a:t>Venous drainage; superior, middle and inferior thyroid veins</a:t>
            </a:r>
          </a:p>
          <a:p>
            <a:r>
              <a:rPr lang="en-US" dirty="0"/>
              <a:t>Lymphatic drainage; paratracheal and deep cervical nodes</a:t>
            </a:r>
          </a:p>
          <a:p>
            <a:r>
              <a:rPr lang="en-US" dirty="0"/>
              <a:t>Nerve supply; sympathetic nerve supply is from the thyroid branches of cervical ganglia which are vasomotor </a:t>
            </a:r>
          </a:p>
          <a:p>
            <a:r>
              <a:rPr lang="en-US" dirty="0"/>
              <a:t>The secretomotor supply is hormonal</a:t>
            </a:r>
          </a:p>
        </p:txBody>
      </p:sp>
    </p:spTree>
    <p:extLst>
      <p:ext uri="{BB962C8B-B14F-4D97-AF65-F5344CB8AC3E}">
        <p14:creationId xmlns:p14="http://schemas.microsoft.com/office/powerpoint/2010/main" val="3386154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250B-C9F8-56B9-A045-051D0618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CBD96-7E35-C867-8CD2-608F7687E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function of the parathyroid glands is regulation of serum levels of calcium by releasing parathyroid hormone (PTH)</a:t>
            </a:r>
          </a:p>
        </p:txBody>
      </p:sp>
    </p:spTree>
    <p:extLst>
      <p:ext uri="{BB962C8B-B14F-4D97-AF65-F5344CB8AC3E}">
        <p14:creationId xmlns:p14="http://schemas.microsoft.com/office/powerpoint/2010/main" val="3368538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C87D-09AE-8D56-8056-253776B7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APPLIED 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97DC8-F931-5075-BC87-877EE38F5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Ectopic thyroid</a:t>
            </a:r>
          </a:p>
          <a:p>
            <a:r>
              <a:rPr lang="en-US" dirty="0"/>
              <a:t>Thyroglossal cyst and fistula</a:t>
            </a:r>
          </a:p>
          <a:p>
            <a:r>
              <a:rPr lang="en-US" dirty="0" err="1"/>
              <a:t>Goitre</a:t>
            </a:r>
            <a:endParaRPr lang="en-US" dirty="0"/>
          </a:p>
          <a:p>
            <a:r>
              <a:rPr lang="en-US" dirty="0"/>
              <a:t>Hypothyroidism, hyperthyroidism </a:t>
            </a:r>
          </a:p>
          <a:p>
            <a:r>
              <a:rPr lang="en-US" dirty="0"/>
              <a:t>Hashimoto’s thyroiditis</a:t>
            </a:r>
          </a:p>
          <a:p>
            <a:r>
              <a:rPr lang="en-US" dirty="0"/>
              <a:t>Damage to right and left recurrent laryngeal nerve</a:t>
            </a:r>
          </a:p>
          <a:p>
            <a:r>
              <a:rPr lang="en-US" dirty="0" err="1"/>
              <a:t>hypocalcaemia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19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E684-A7C6-1AB6-5AA3-097B9540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8565F-79F7-F9BC-4B4F-B3FAA42D2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Guyton, Arthur C, and John E Hall. Textbook Of Medical Physiology. 11th ed., India, Elsevier Saunders, 2007 ,.</a:t>
            </a:r>
          </a:p>
          <a:p>
            <a:r>
              <a:rPr lang="en-US" dirty="0"/>
              <a:t>Jamieson, Robert W. et al. "The Cervical Sympathetic Ganglia: An Anatomical Study of 100 Cervicothoracic Dissections." Quarterly Bulletin Of Northwestern University Medical School, vol 26, no. 3, 1952, pp. 219-227.</a:t>
            </a:r>
          </a:p>
          <a:p>
            <a:r>
              <a:rPr lang="en-US" dirty="0"/>
              <a:t>Mescher, Anthony L, and Luis C Junqueira. Junqueira's Basic Histology. 13th ed., New York, </a:t>
            </a:r>
            <a:r>
              <a:rPr lang="en-US" dirty="0" err="1"/>
              <a:t>Mcgraw-Hill</a:t>
            </a:r>
            <a:r>
              <a:rPr lang="en-US" dirty="0"/>
              <a:t> Medical, 2013 ,.</a:t>
            </a:r>
          </a:p>
          <a:p>
            <a:r>
              <a:rPr lang="en-US" dirty="0"/>
              <a:t>Moore, Keith L et al. The Developing Human. 9th ed., Philadelphia, PA, Elsevier-Saunders, 2013 ,.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4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7133-457A-6BA3-0E31-E66B6C0A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5978525"/>
          </a:xfrm>
        </p:spPr>
        <p:txBody>
          <a:bodyPr/>
          <a:lstStyle/>
          <a:p>
            <a:pPr algn="ctr"/>
            <a:r>
              <a:rPr lang="en-US" i="1" dirty="0"/>
              <a:t>THANK YOU 4 LISTENING</a:t>
            </a:r>
          </a:p>
        </p:txBody>
      </p:sp>
    </p:spTree>
    <p:extLst>
      <p:ext uri="{BB962C8B-B14F-4D97-AF65-F5344CB8AC3E}">
        <p14:creationId xmlns:p14="http://schemas.microsoft.com/office/powerpoint/2010/main" val="891788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673</Words>
  <Application>Microsoft Office PowerPoint</Application>
  <PresentationFormat>Widescreen</PresentationFormat>
  <Paragraphs>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THYROID AND PARATHYROID GLAND BY  DR. OGWUCHE, ELIJAH (BSc. MSc. MB,BS) LAGOS STATE UNIVERSITY COLLEGE OF MEDICINE (LASUCOM), IKEJA.</vt:lpstr>
      <vt:lpstr>OUTLINE</vt:lpstr>
      <vt:lpstr>INTRODUCTION</vt:lpstr>
      <vt:lpstr>DIAGRAM</vt:lpstr>
      <vt:lpstr>PARTS</vt:lpstr>
      <vt:lpstr>RELATIONS</vt:lpstr>
      <vt:lpstr>VASCULATURE</vt:lpstr>
      <vt:lpstr>ARTERIAL SUPPLY</vt:lpstr>
      <vt:lpstr>VENOUS DRAINAGE</vt:lpstr>
      <vt:lpstr>NERVE SUPPLY</vt:lpstr>
      <vt:lpstr>FUNCTIONS</vt:lpstr>
      <vt:lpstr>PARATHYROID GLAND</vt:lpstr>
      <vt:lpstr>PARATHYROID GLANDS</vt:lpstr>
      <vt:lpstr>PARATHYROID GLANDS</vt:lpstr>
      <vt:lpstr>VASCULATURE</vt:lpstr>
      <vt:lpstr>FUNCTIONS</vt:lpstr>
      <vt:lpstr>APPLIED ANATOMY</vt:lpstr>
      <vt:lpstr>REFERENCES</vt:lpstr>
      <vt:lpstr>THANK YOU 4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THYROID GLAND BY  DR. OGWUCHE, ELIJAH (BSc. MSc. MB,BS) LAGOS STATE UNIVERSITY COLLEGE OF MEDICINE (LASUCOM), IKEJA.</dc:title>
  <dc:creator>Windows</dc:creator>
  <cp:lastModifiedBy>Elijah Ogwuche</cp:lastModifiedBy>
  <cp:revision>15</cp:revision>
  <dcterms:created xsi:type="dcterms:W3CDTF">2025-08-21T20:04:41Z</dcterms:created>
  <dcterms:modified xsi:type="dcterms:W3CDTF">2026-03-31T09:12:09Z</dcterms:modified>
</cp:coreProperties>
</file>