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3" r:id="rId6"/>
    <p:sldId id="274" r:id="rId7"/>
    <p:sldId id="261" r:id="rId8"/>
    <p:sldId id="262" r:id="rId9"/>
    <p:sldId id="263" r:id="rId10"/>
    <p:sldId id="264" r:id="rId11"/>
    <p:sldId id="265" r:id="rId12"/>
    <p:sldId id="266" r:id="rId13"/>
    <p:sldId id="267"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7FB28212-BC14-4FA6-B888-03D070AB4D64}" type="datetimeFigureOut">
              <a:rPr lang="en-GB" smtClean="0"/>
              <a:t>12/09/2025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E3B0813-F529-4D56-9748-DA9DC3BE8E40}" type="slidenum">
              <a:rPr lang="en-GB" smtClean="0"/>
              <a:t>‹#›</a:t>
            </a:fld>
            <a:endParaRPr lang="en-GB"/>
          </a:p>
        </p:txBody>
      </p:sp>
    </p:spTree>
    <p:extLst>
      <p:ext uri="{BB962C8B-B14F-4D97-AF65-F5344CB8AC3E}">
        <p14:creationId xmlns:p14="http://schemas.microsoft.com/office/powerpoint/2010/main" val="1449620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FB28212-BC14-4FA6-B888-03D070AB4D64}" type="datetimeFigureOut">
              <a:rPr lang="en-GB" smtClean="0"/>
              <a:t>12/09/2025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E3B0813-F529-4D56-9748-DA9DC3BE8E40}" type="slidenum">
              <a:rPr lang="en-GB" smtClean="0"/>
              <a:t>‹#›</a:t>
            </a:fld>
            <a:endParaRPr lang="en-GB"/>
          </a:p>
        </p:txBody>
      </p:sp>
    </p:spTree>
    <p:extLst>
      <p:ext uri="{BB962C8B-B14F-4D97-AF65-F5344CB8AC3E}">
        <p14:creationId xmlns:p14="http://schemas.microsoft.com/office/powerpoint/2010/main" val="4195806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FB28212-BC14-4FA6-B888-03D070AB4D64}" type="datetimeFigureOut">
              <a:rPr lang="en-GB" smtClean="0"/>
              <a:t>12/09/2025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E3B0813-F529-4D56-9748-DA9DC3BE8E40}" type="slidenum">
              <a:rPr lang="en-GB" smtClean="0"/>
              <a:t>‹#›</a:t>
            </a:fld>
            <a:endParaRPr lang="en-GB"/>
          </a:p>
        </p:txBody>
      </p:sp>
    </p:spTree>
    <p:extLst>
      <p:ext uri="{BB962C8B-B14F-4D97-AF65-F5344CB8AC3E}">
        <p14:creationId xmlns:p14="http://schemas.microsoft.com/office/powerpoint/2010/main" val="2359079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7FB28212-BC14-4FA6-B888-03D070AB4D64}" type="datetimeFigureOut">
              <a:rPr lang="en-GB" smtClean="0"/>
              <a:t>12/09/2025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E3B0813-F529-4D56-9748-DA9DC3BE8E40}" type="slidenum">
              <a:rPr lang="en-GB" smtClean="0"/>
              <a:t>‹#›</a:t>
            </a:fld>
            <a:endParaRPr lang="en-GB"/>
          </a:p>
        </p:txBody>
      </p:sp>
    </p:spTree>
    <p:extLst>
      <p:ext uri="{BB962C8B-B14F-4D97-AF65-F5344CB8AC3E}">
        <p14:creationId xmlns:p14="http://schemas.microsoft.com/office/powerpoint/2010/main" val="2144864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7FB28212-BC14-4FA6-B888-03D070AB4D64}" type="datetimeFigureOut">
              <a:rPr lang="en-GB" smtClean="0"/>
              <a:t>12/09/2025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E3B0813-F529-4D56-9748-DA9DC3BE8E40}" type="slidenum">
              <a:rPr lang="en-GB" smtClean="0"/>
              <a:t>‹#›</a:t>
            </a:fld>
            <a:endParaRPr lang="en-GB"/>
          </a:p>
        </p:txBody>
      </p:sp>
    </p:spTree>
    <p:extLst>
      <p:ext uri="{BB962C8B-B14F-4D97-AF65-F5344CB8AC3E}">
        <p14:creationId xmlns:p14="http://schemas.microsoft.com/office/powerpoint/2010/main" val="494173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7FB28212-BC14-4FA6-B888-03D070AB4D64}" type="datetimeFigureOut">
              <a:rPr lang="en-GB" smtClean="0"/>
              <a:t>12/09/2025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E3B0813-F529-4D56-9748-DA9DC3BE8E40}" type="slidenum">
              <a:rPr lang="en-GB" smtClean="0"/>
              <a:t>‹#›</a:t>
            </a:fld>
            <a:endParaRPr lang="en-GB"/>
          </a:p>
        </p:txBody>
      </p:sp>
    </p:spTree>
    <p:extLst>
      <p:ext uri="{BB962C8B-B14F-4D97-AF65-F5344CB8AC3E}">
        <p14:creationId xmlns:p14="http://schemas.microsoft.com/office/powerpoint/2010/main" val="908994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B28212-BC14-4FA6-B888-03D070AB4D64}" type="datetimeFigureOut">
              <a:rPr lang="en-GB" smtClean="0"/>
              <a:t>12/09/2025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E3B0813-F529-4D56-9748-DA9DC3BE8E40}" type="slidenum">
              <a:rPr lang="en-GB" smtClean="0"/>
              <a:t>‹#›</a:t>
            </a:fld>
            <a:endParaRPr lang="en-GB"/>
          </a:p>
        </p:txBody>
      </p:sp>
    </p:spTree>
    <p:extLst>
      <p:ext uri="{BB962C8B-B14F-4D97-AF65-F5344CB8AC3E}">
        <p14:creationId xmlns:p14="http://schemas.microsoft.com/office/powerpoint/2010/main" val="1730160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FB28212-BC14-4FA6-B888-03D070AB4D64}" type="datetimeFigureOut">
              <a:rPr lang="en-GB" smtClean="0"/>
              <a:t>12/09/2025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E3B0813-F529-4D56-9748-DA9DC3BE8E40}" type="slidenum">
              <a:rPr lang="en-GB" smtClean="0"/>
              <a:t>‹#›</a:t>
            </a:fld>
            <a:endParaRPr lang="en-GB"/>
          </a:p>
        </p:txBody>
      </p:sp>
    </p:spTree>
    <p:extLst>
      <p:ext uri="{BB962C8B-B14F-4D97-AF65-F5344CB8AC3E}">
        <p14:creationId xmlns:p14="http://schemas.microsoft.com/office/powerpoint/2010/main" val="1618467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FB28212-BC14-4FA6-B888-03D070AB4D64}" type="datetimeFigureOut">
              <a:rPr lang="en-GB" smtClean="0"/>
              <a:t>12/09/2025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E3B0813-F529-4D56-9748-DA9DC3BE8E40}" type="slidenum">
              <a:rPr lang="en-GB" smtClean="0"/>
              <a:t>‹#›</a:t>
            </a:fld>
            <a:endParaRPr lang="en-GB"/>
          </a:p>
        </p:txBody>
      </p:sp>
    </p:spTree>
    <p:extLst>
      <p:ext uri="{BB962C8B-B14F-4D97-AF65-F5344CB8AC3E}">
        <p14:creationId xmlns:p14="http://schemas.microsoft.com/office/powerpoint/2010/main" val="3067450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FB28212-BC14-4FA6-B888-03D070AB4D64}" type="datetimeFigureOut">
              <a:rPr lang="en-GB" smtClean="0"/>
              <a:t>12/09/2025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E3B0813-F529-4D56-9748-DA9DC3BE8E40}" type="slidenum">
              <a:rPr lang="en-GB" smtClean="0"/>
              <a:t>‹#›</a:t>
            </a:fld>
            <a:endParaRPr lang="en-GB"/>
          </a:p>
        </p:txBody>
      </p:sp>
    </p:spTree>
    <p:extLst>
      <p:ext uri="{BB962C8B-B14F-4D97-AF65-F5344CB8AC3E}">
        <p14:creationId xmlns:p14="http://schemas.microsoft.com/office/powerpoint/2010/main" val="2071890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FB28212-BC14-4FA6-B888-03D070AB4D64}" type="datetimeFigureOut">
              <a:rPr lang="en-GB" smtClean="0"/>
              <a:t>12/09/2025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E3B0813-F529-4D56-9748-DA9DC3BE8E40}" type="slidenum">
              <a:rPr lang="en-GB" smtClean="0"/>
              <a:t>‹#›</a:t>
            </a:fld>
            <a:endParaRPr lang="en-GB"/>
          </a:p>
        </p:txBody>
      </p:sp>
    </p:spTree>
    <p:extLst>
      <p:ext uri="{BB962C8B-B14F-4D97-AF65-F5344CB8AC3E}">
        <p14:creationId xmlns:p14="http://schemas.microsoft.com/office/powerpoint/2010/main" val="2312243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B28212-BC14-4FA6-B888-03D070AB4D64}" type="datetimeFigureOut">
              <a:rPr lang="en-GB" smtClean="0"/>
              <a:t>12/09/2025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3B0813-F529-4D56-9748-DA9DC3BE8E40}" type="slidenum">
              <a:rPr lang="en-GB" smtClean="0"/>
              <a:t>‹#›</a:t>
            </a:fld>
            <a:endParaRPr lang="en-GB"/>
          </a:p>
        </p:txBody>
      </p:sp>
    </p:spTree>
    <p:extLst>
      <p:ext uri="{BB962C8B-B14F-4D97-AF65-F5344CB8AC3E}">
        <p14:creationId xmlns:p14="http://schemas.microsoft.com/office/powerpoint/2010/main" val="21826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2789" y="117811"/>
            <a:ext cx="9144000" cy="1247350"/>
          </a:xfrm>
        </p:spPr>
        <p:txBody>
          <a:bodyPr/>
          <a:lstStyle/>
          <a:p>
            <a:r>
              <a:rPr lang="en-GB" dirty="0" smtClean="0">
                <a:solidFill>
                  <a:srgbClr val="FF0000"/>
                </a:solidFill>
              </a:rPr>
              <a:t>Carotid artery pathway</a:t>
            </a:r>
            <a:endParaRPr lang="en-GB" dirty="0">
              <a:solidFill>
                <a:srgbClr val="FF0000"/>
              </a:solidFill>
            </a:endParaRPr>
          </a:p>
        </p:txBody>
      </p:sp>
      <p:sp>
        <p:nvSpPr>
          <p:cNvPr id="3" name="Subtitle 2"/>
          <p:cNvSpPr>
            <a:spLocks noGrp="1"/>
          </p:cNvSpPr>
          <p:nvPr>
            <p:ph type="subTitle" idx="1"/>
          </p:nvPr>
        </p:nvSpPr>
        <p:spPr>
          <a:xfrm>
            <a:off x="476518" y="1841679"/>
            <a:ext cx="11410682" cy="4803819"/>
          </a:xfrm>
        </p:spPr>
        <p:txBody>
          <a:bodyPr/>
          <a:lstStyle/>
          <a:p>
            <a:pPr marL="342900" indent="-342900" algn="just">
              <a:buFont typeface="Wingdings" panose="05000000000000000000" pitchFamily="2" charset="2"/>
              <a:buChar char="v"/>
            </a:pPr>
            <a:r>
              <a:rPr lang="en-GB" sz="3200" dirty="0" smtClean="0">
                <a:solidFill>
                  <a:srgbClr val="0070C0"/>
                </a:solidFill>
              </a:rPr>
              <a:t>Introduction</a:t>
            </a:r>
          </a:p>
          <a:p>
            <a:pPr marL="342900" indent="-342900" algn="just">
              <a:buFont typeface="Wingdings" panose="05000000000000000000" pitchFamily="2" charset="2"/>
              <a:buChar char="v"/>
            </a:pPr>
            <a:r>
              <a:rPr lang="en-GB" sz="3200" dirty="0" smtClean="0">
                <a:solidFill>
                  <a:srgbClr val="0070C0"/>
                </a:solidFill>
              </a:rPr>
              <a:t>Divisions of common carotid artery</a:t>
            </a:r>
          </a:p>
          <a:p>
            <a:pPr marL="342900" indent="-342900" algn="just">
              <a:buFont typeface="Wingdings" panose="05000000000000000000" pitchFamily="2" charset="2"/>
              <a:buChar char="v"/>
            </a:pPr>
            <a:r>
              <a:rPr lang="en-GB" sz="3200" dirty="0" smtClean="0">
                <a:solidFill>
                  <a:srgbClr val="0070C0"/>
                </a:solidFill>
              </a:rPr>
              <a:t>Divisions of external carotid artery and areas of supply</a:t>
            </a:r>
          </a:p>
          <a:p>
            <a:pPr marL="342900" indent="-342900" algn="just">
              <a:buFont typeface="Wingdings" panose="05000000000000000000" pitchFamily="2" charset="2"/>
              <a:buChar char="v"/>
            </a:pPr>
            <a:r>
              <a:rPr lang="en-GB" sz="3200" dirty="0" smtClean="0">
                <a:solidFill>
                  <a:srgbClr val="0070C0"/>
                </a:solidFill>
              </a:rPr>
              <a:t>Internal carotid artery pathway and segments</a:t>
            </a:r>
          </a:p>
          <a:p>
            <a:pPr marL="342900" indent="-342900" algn="just">
              <a:buFont typeface="Wingdings" panose="05000000000000000000" pitchFamily="2" charset="2"/>
              <a:buChar char="v"/>
            </a:pPr>
            <a:r>
              <a:rPr lang="en-GB" sz="3200" dirty="0" smtClean="0">
                <a:solidFill>
                  <a:srgbClr val="0070C0"/>
                </a:solidFill>
              </a:rPr>
              <a:t>Branches from the segments of internal carotid artery</a:t>
            </a:r>
          </a:p>
          <a:p>
            <a:pPr marL="342900" indent="-342900" algn="just">
              <a:buFont typeface="Wingdings" panose="05000000000000000000" pitchFamily="2" charset="2"/>
              <a:buChar char="v"/>
            </a:pPr>
            <a:r>
              <a:rPr lang="en-GB" sz="3200" dirty="0" smtClean="0">
                <a:solidFill>
                  <a:srgbClr val="0070C0"/>
                </a:solidFill>
              </a:rPr>
              <a:t>Applied anatomy </a:t>
            </a:r>
          </a:p>
          <a:p>
            <a:pPr algn="l"/>
            <a:endParaRPr lang="en-GB" dirty="0"/>
          </a:p>
        </p:txBody>
      </p:sp>
    </p:spTree>
    <p:extLst>
      <p:ext uri="{BB962C8B-B14F-4D97-AF65-F5344CB8AC3E}">
        <p14:creationId xmlns:p14="http://schemas.microsoft.com/office/powerpoint/2010/main" val="5519675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21971" y="540913"/>
            <a:ext cx="11668259" cy="6168980"/>
          </a:xfrm>
        </p:spPr>
        <p:txBody>
          <a:bodyPr>
            <a:noAutofit/>
          </a:bodyPr>
          <a:lstStyle/>
          <a:p>
            <a:pPr algn="just"/>
            <a:r>
              <a:rPr lang="en-GB" sz="3200" dirty="0" smtClean="0"/>
              <a:t>The common carotid artery of left and right sides are asymmetrical in origin. The left common carotid artery arises from the left side from the arch of aorta in the thoracic cavity ascending to lie in front of left subclavian artery up to sternoclavicular joint. On the right side of arch of aorta arises the brachiocephalic trunk which bifurcates behind the right sternoclavicular joint into the right common carotid and right subclavian arteries. The common carotid arteries of both sides gives no branches proximal to their origins. The common carotid arteries lie within carotid sheath bearing three structures, the artery to the medial and vein to the left while the </a:t>
            </a:r>
            <a:r>
              <a:rPr lang="en-GB" sz="3200" dirty="0" err="1" smtClean="0"/>
              <a:t>vagus</a:t>
            </a:r>
            <a:r>
              <a:rPr lang="en-GB" sz="3200" dirty="0" smtClean="0"/>
              <a:t> nerve lie in between them. </a:t>
            </a:r>
          </a:p>
        </p:txBody>
      </p:sp>
    </p:spTree>
    <p:extLst>
      <p:ext uri="{BB962C8B-B14F-4D97-AF65-F5344CB8AC3E}">
        <p14:creationId xmlns:p14="http://schemas.microsoft.com/office/powerpoint/2010/main" val="2273817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7577" y="425003"/>
            <a:ext cx="11784169" cy="6168980"/>
          </a:xfrm>
        </p:spPr>
        <p:txBody>
          <a:bodyPr/>
          <a:lstStyle/>
          <a:p>
            <a:pPr algn="just"/>
            <a:r>
              <a:rPr lang="en-GB" sz="3200" dirty="0" smtClean="0"/>
              <a:t>The common carotid artery divides into external and internal carotid arteries. They both originate from a point called the </a:t>
            </a:r>
            <a:r>
              <a:rPr lang="en-GB" sz="3200" dirty="0" smtClean="0">
                <a:solidFill>
                  <a:srgbClr val="00B050"/>
                </a:solidFill>
              </a:rPr>
              <a:t>carotid bifurcation which is variably situated at a level between the third and fourth, or fourth and fifth cervical vertebrae (C3-C4/C4-C5)</a:t>
            </a:r>
            <a:r>
              <a:rPr lang="en-GB" sz="3200" dirty="0" smtClean="0"/>
              <a:t>. This point of bifurcation usually corresponds to upper border of thyroid cartilage lamina (upper border of C4).  </a:t>
            </a:r>
          </a:p>
          <a:p>
            <a:pPr algn="just"/>
            <a:r>
              <a:rPr lang="en-GB" sz="3200" dirty="0"/>
              <a:t>Situated close to the carotid bifurcation </a:t>
            </a:r>
            <a:r>
              <a:rPr lang="en-GB" sz="3200" dirty="0" smtClean="0"/>
              <a:t>is an </a:t>
            </a:r>
            <a:r>
              <a:rPr lang="en-GB" sz="3200" dirty="0"/>
              <a:t>anatomical </a:t>
            </a:r>
            <a:r>
              <a:rPr lang="en-GB" sz="3200" dirty="0" smtClean="0"/>
              <a:t>structure </a:t>
            </a:r>
            <a:r>
              <a:rPr lang="en-GB" sz="3200" dirty="0"/>
              <a:t>called </a:t>
            </a:r>
            <a:r>
              <a:rPr lang="en-GB" sz="3200" dirty="0">
                <a:solidFill>
                  <a:schemeClr val="accent2">
                    <a:lumMod val="75000"/>
                  </a:schemeClr>
                </a:solidFill>
              </a:rPr>
              <a:t>carotid sinus </a:t>
            </a:r>
            <a:r>
              <a:rPr lang="en-GB" sz="3200" dirty="0" smtClean="0"/>
              <a:t>generally located at C4. </a:t>
            </a:r>
            <a:r>
              <a:rPr lang="en-GB" sz="3200" dirty="0"/>
              <a:t>The carotid sinus or bulb is a dilation acting as a baroreceptor for detecting blood pressure changes, </a:t>
            </a:r>
            <a:endParaRPr lang="en-GB" sz="3200" dirty="0" smtClean="0"/>
          </a:p>
          <a:p>
            <a:pPr algn="l"/>
            <a:endParaRPr lang="en-GB" dirty="0"/>
          </a:p>
        </p:txBody>
      </p:sp>
    </p:spTree>
    <p:extLst>
      <p:ext uri="{BB962C8B-B14F-4D97-AF65-F5344CB8AC3E}">
        <p14:creationId xmlns:p14="http://schemas.microsoft.com/office/powerpoint/2010/main" val="15386835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4546" y="206062"/>
            <a:ext cx="6387922" cy="6490952"/>
          </a:xfrm>
        </p:spPr>
        <p:txBody>
          <a:bodyPr>
            <a:noAutofit/>
          </a:bodyPr>
          <a:lstStyle/>
          <a:p>
            <a:pPr algn="just"/>
            <a:r>
              <a:rPr lang="en-GB" sz="2900" dirty="0" smtClean="0">
                <a:solidFill>
                  <a:srgbClr val="0070C0"/>
                </a:solidFill>
              </a:rPr>
              <a:t>External carotid artery</a:t>
            </a:r>
            <a:r>
              <a:rPr lang="en-GB" sz="2900" dirty="0" smtClean="0"/>
              <a:t>: At its commencement from the common carotid artery lies at the side of wall of the pharynx somewhat anterior medial to internal carotid. It ascends in front of the artery deep to the posterior belly of digastric and stylohyoid and above it pierces the deep lamina of parotid fascia to enter the gland. Within the gland behind the neck of the mandible it divides into the terminal branches, maxillary and superficial temporal arteries. Before it divides into the two terminal branches, it gives off six branches. Three from the front, two from behind and one from the deep part.</a:t>
            </a:r>
            <a:endParaRPr lang="en-GB" sz="2900" dirty="0"/>
          </a:p>
        </p:txBody>
      </p:sp>
      <p:pic>
        <p:nvPicPr>
          <p:cNvPr id="5" name="Picture 4" descr="JaypeeDigital | eBook Reader"/>
          <p:cNvPicPr/>
          <p:nvPr/>
        </p:nvPicPr>
        <p:blipFill>
          <a:blip r:embed="rId2">
            <a:extLst>
              <a:ext uri="{28A0092B-C50C-407E-A947-70E740481C1C}">
                <a14:useLocalDpi xmlns:a14="http://schemas.microsoft.com/office/drawing/2010/main" val="0"/>
              </a:ext>
            </a:extLst>
          </a:blip>
          <a:srcRect/>
          <a:stretch>
            <a:fillRect/>
          </a:stretch>
        </p:blipFill>
        <p:spPr bwMode="auto">
          <a:xfrm>
            <a:off x="6645500" y="206062"/>
            <a:ext cx="5463952" cy="6490952"/>
          </a:xfrm>
          <a:prstGeom prst="rect">
            <a:avLst/>
          </a:prstGeom>
          <a:noFill/>
          <a:ln>
            <a:noFill/>
          </a:ln>
        </p:spPr>
      </p:pic>
    </p:spTree>
    <p:extLst>
      <p:ext uri="{BB962C8B-B14F-4D97-AF65-F5344CB8AC3E}">
        <p14:creationId xmlns:p14="http://schemas.microsoft.com/office/powerpoint/2010/main" val="36322639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5910" y="206062"/>
            <a:ext cx="6310648" cy="5662926"/>
          </a:xfrm>
        </p:spPr>
        <p:txBody>
          <a:bodyPr>
            <a:normAutofit/>
          </a:bodyPr>
          <a:lstStyle/>
          <a:p>
            <a:pPr algn="just"/>
            <a:r>
              <a:rPr lang="en-GB" sz="3200" dirty="0"/>
              <a:t>The three from the front are; </a:t>
            </a:r>
            <a:r>
              <a:rPr lang="en-GB" sz="3200" dirty="0">
                <a:solidFill>
                  <a:srgbClr val="0070C0"/>
                </a:solidFill>
              </a:rPr>
              <a:t>superior thyroid, lingual and facial </a:t>
            </a:r>
            <a:r>
              <a:rPr lang="en-GB" sz="3200" dirty="0"/>
              <a:t>which diverge widely. The two from behind are </a:t>
            </a:r>
            <a:r>
              <a:rPr lang="en-GB" sz="3200" dirty="0">
                <a:solidFill>
                  <a:srgbClr val="7030A0"/>
                </a:solidFill>
              </a:rPr>
              <a:t>occipital and posterior auricular </a:t>
            </a:r>
            <a:r>
              <a:rPr lang="en-GB" sz="3200" dirty="0"/>
              <a:t>which pass up deep and posterior to the posterior digastric respectively. The branch from the medial side is the </a:t>
            </a:r>
            <a:r>
              <a:rPr lang="en-GB" sz="3200" dirty="0">
                <a:solidFill>
                  <a:schemeClr val="accent4">
                    <a:lumMod val="75000"/>
                  </a:schemeClr>
                </a:solidFill>
              </a:rPr>
              <a:t>ascending pharyngeal </a:t>
            </a:r>
            <a:r>
              <a:rPr lang="en-GB" sz="3200" dirty="0"/>
              <a:t>which ascends to the base of the skull on the side wall of he pharynx long side the internal carotid. </a:t>
            </a:r>
          </a:p>
          <a:p>
            <a:pPr algn="just"/>
            <a:endParaRPr lang="en-GB" sz="3200" dirty="0"/>
          </a:p>
        </p:txBody>
      </p:sp>
      <p:pic>
        <p:nvPicPr>
          <p:cNvPr id="5" name="Picture 4" descr="JaypeeDigital | eBook Reader"/>
          <p:cNvPicPr/>
          <p:nvPr/>
        </p:nvPicPr>
        <p:blipFill>
          <a:blip r:embed="rId2">
            <a:extLst>
              <a:ext uri="{28A0092B-C50C-407E-A947-70E740481C1C}">
                <a14:useLocalDpi xmlns:a14="http://schemas.microsoft.com/office/drawing/2010/main" val="0"/>
              </a:ext>
            </a:extLst>
          </a:blip>
          <a:srcRect/>
          <a:stretch>
            <a:fillRect/>
          </a:stretch>
        </p:blipFill>
        <p:spPr bwMode="auto">
          <a:xfrm>
            <a:off x="6645500" y="206062"/>
            <a:ext cx="5463952" cy="6490952"/>
          </a:xfrm>
          <a:prstGeom prst="rect">
            <a:avLst/>
          </a:prstGeom>
          <a:noFill/>
          <a:ln>
            <a:noFill/>
          </a:ln>
        </p:spPr>
      </p:pic>
    </p:spTree>
    <p:extLst>
      <p:ext uri="{BB962C8B-B14F-4D97-AF65-F5344CB8AC3E}">
        <p14:creationId xmlns:p14="http://schemas.microsoft.com/office/powerpoint/2010/main" val="26855881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7578" y="206062"/>
            <a:ext cx="5692462" cy="6490952"/>
          </a:xfrm>
        </p:spPr>
        <p:txBody>
          <a:bodyPr/>
          <a:lstStyle/>
          <a:p>
            <a:pPr algn="just"/>
            <a:r>
              <a:rPr lang="en-GB" sz="3200" dirty="0">
                <a:solidFill>
                  <a:srgbClr val="FF0000"/>
                </a:solidFill>
              </a:rPr>
              <a:t>Superior thyroid artery </a:t>
            </a:r>
            <a:r>
              <a:rPr lang="en-GB" sz="3200" dirty="0"/>
              <a:t>is the first branch of the external carotid artery. It arises from the external carotid artery at the level of the hyoid bone. It descends from the anterior surface of the external carotid artery along the lateral border of the thyrohyoid muscle towards the apex of the thyroid gland. Supplies; sternocleidomastoid, cricothyroid and </a:t>
            </a:r>
            <a:r>
              <a:rPr lang="en-GB" sz="3200" dirty="0" err="1"/>
              <a:t>infrahyoid</a:t>
            </a:r>
            <a:r>
              <a:rPr lang="en-GB" sz="3200" dirty="0"/>
              <a:t> strap muscles. </a:t>
            </a:r>
          </a:p>
          <a:p>
            <a:endParaRPr lang="en-GB" dirty="0"/>
          </a:p>
        </p:txBody>
      </p:sp>
      <p:pic>
        <p:nvPicPr>
          <p:cNvPr id="5" name="Picture 4" descr="JaypeeDigital | eBook Reader"/>
          <p:cNvPicPr/>
          <p:nvPr/>
        </p:nvPicPr>
        <p:blipFill>
          <a:blip r:embed="rId2">
            <a:extLst>
              <a:ext uri="{28A0092B-C50C-407E-A947-70E740481C1C}">
                <a14:useLocalDpi xmlns:a14="http://schemas.microsoft.com/office/drawing/2010/main" val="0"/>
              </a:ext>
            </a:extLst>
          </a:blip>
          <a:srcRect/>
          <a:stretch>
            <a:fillRect/>
          </a:stretch>
        </p:blipFill>
        <p:spPr bwMode="auto">
          <a:xfrm>
            <a:off x="6233375" y="206062"/>
            <a:ext cx="5876077" cy="6490952"/>
          </a:xfrm>
          <a:prstGeom prst="rect">
            <a:avLst/>
          </a:prstGeom>
          <a:noFill/>
          <a:ln>
            <a:noFill/>
          </a:ln>
        </p:spPr>
      </p:pic>
    </p:spTree>
    <p:extLst>
      <p:ext uri="{BB962C8B-B14F-4D97-AF65-F5344CB8AC3E}">
        <p14:creationId xmlns:p14="http://schemas.microsoft.com/office/powerpoint/2010/main" val="2803597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06062" y="180304"/>
            <a:ext cx="11797048" cy="6516710"/>
          </a:xfrm>
        </p:spPr>
        <p:txBody>
          <a:bodyPr>
            <a:normAutofit fontScale="92500"/>
          </a:bodyPr>
          <a:lstStyle/>
          <a:p>
            <a:pPr algn="just"/>
            <a:r>
              <a:rPr lang="en-GB" sz="3200" dirty="0" smtClean="0">
                <a:solidFill>
                  <a:srgbClr val="FF0000"/>
                </a:solidFill>
              </a:rPr>
              <a:t>Ascending </a:t>
            </a:r>
            <a:r>
              <a:rPr lang="en-GB" sz="3200" dirty="0">
                <a:solidFill>
                  <a:srgbClr val="FF0000"/>
                </a:solidFill>
              </a:rPr>
              <a:t>pharyngeal artery </a:t>
            </a:r>
            <a:r>
              <a:rPr lang="en-GB" sz="3200" dirty="0"/>
              <a:t>arises from the medial surface of the external carotid artery between the internal carotid artery and pharynx to reach the base of the </a:t>
            </a:r>
            <a:r>
              <a:rPr lang="en-GB" sz="3200" dirty="0" smtClean="0"/>
              <a:t>cranium. </a:t>
            </a:r>
            <a:r>
              <a:rPr lang="en-GB" sz="3200" dirty="0"/>
              <a:t>A</a:t>
            </a:r>
            <a:r>
              <a:rPr lang="en-GB" sz="3200" dirty="0" smtClean="0"/>
              <a:t>scending </a:t>
            </a:r>
            <a:r>
              <a:rPr lang="en-GB" sz="3200" dirty="0"/>
              <a:t>pharyngeal artery </a:t>
            </a:r>
            <a:r>
              <a:rPr lang="en-GB" sz="3200" dirty="0" smtClean="0"/>
              <a:t>supply include </a:t>
            </a:r>
            <a:r>
              <a:rPr lang="en-GB" sz="3200" dirty="0"/>
              <a:t>the </a:t>
            </a:r>
            <a:r>
              <a:rPr lang="en-GB" sz="3200" dirty="0">
                <a:solidFill>
                  <a:schemeClr val="accent4">
                    <a:lumMod val="75000"/>
                  </a:schemeClr>
                </a:solidFill>
              </a:rPr>
              <a:t>pharynx, soft palate, the ear, meninges, muscles of the </a:t>
            </a:r>
            <a:r>
              <a:rPr lang="en-GB" sz="3200" dirty="0" smtClean="0">
                <a:solidFill>
                  <a:schemeClr val="accent4">
                    <a:lumMod val="75000"/>
                  </a:schemeClr>
                </a:solidFill>
              </a:rPr>
              <a:t>neck</a:t>
            </a:r>
            <a:r>
              <a:rPr lang="en-GB" sz="3200" dirty="0" smtClean="0"/>
              <a:t>.</a:t>
            </a:r>
          </a:p>
          <a:p>
            <a:pPr algn="just"/>
            <a:r>
              <a:rPr lang="en-GB" sz="3200" dirty="0">
                <a:solidFill>
                  <a:srgbClr val="FF0000"/>
                </a:solidFill>
              </a:rPr>
              <a:t>L</a:t>
            </a:r>
            <a:r>
              <a:rPr lang="en-GB" sz="3200" dirty="0" smtClean="0">
                <a:solidFill>
                  <a:srgbClr val="FF0000"/>
                </a:solidFill>
              </a:rPr>
              <a:t>ingual </a:t>
            </a:r>
            <a:r>
              <a:rPr lang="en-GB" sz="3200" dirty="0">
                <a:solidFill>
                  <a:srgbClr val="FF0000"/>
                </a:solidFill>
              </a:rPr>
              <a:t>artery </a:t>
            </a:r>
            <a:r>
              <a:rPr lang="en-GB" sz="3200" dirty="0"/>
              <a:t>arises from the anteromedial aspect of the external carotid artery at the level of the great cornu between the superior thyroid and facial </a:t>
            </a:r>
            <a:r>
              <a:rPr lang="en-GB" sz="3200" dirty="0" smtClean="0"/>
              <a:t>arteries. </a:t>
            </a:r>
            <a:r>
              <a:rPr lang="en-GB" sz="3200" dirty="0"/>
              <a:t>The lingual artery provides arterial supply to the </a:t>
            </a:r>
            <a:r>
              <a:rPr lang="en-GB" sz="3200" dirty="0">
                <a:solidFill>
                  <a:schemeClr val="accent4">
                    <a:lumMod val="75000"/>
                  </a:schemeClr>
                </a:solidFill>
              </a:rPr>
              <a:t>tongue and floor of the mouth. </a:t>
            </a:r>
          </a:p>
          <a:p>
            <a:pPr algn="just"/>
            <a:r>
              <a:rPr lang="en-GB" sz="3200" dirty="0">
                <a:solidFill>
                  <a:srgbClr val="FF0000"/>
                </a:solidFill>
              </a:rPr>
              <a:t>F</a:t>
            </a:r>
            <a:r>
              <a:rPr lang="en-GB" sz="3200" dirty="0" smtClean="0">
                <a:solidFill>
                  <a:srgbClr val="FF0000"/>
                </a:solidFill>
              </a:rPr>
              <a:t>acial </a:t>
            </a:r>
            <a:r>
              <a:rPr lang="en-GB" sz="3200" dirty="0">
                <a:solidFill>
                  <a:srgbClr val="FF0000"/>
                </a:solidFill>
              </a:rPr>
              <a:t>artery </a:t>
            </a:r>
            <a:r>
              <a:rPr lang="en-GB" sz="3200" dirty="0" smtClean="0"/>
              <a:t>emerges just </a:t>
            </a:r>
            <a:r>
              <a:rPr lang="en-GB" sz="3200" dirty="0"/>
              <a:t>above the lingual artery within the carotid triangle</a:t>
            </a:r>
            <a:r>
              <a:rPr lang="en-GB" sz="3200" dirty="0" smtClean="0"/>
              <a:t>. </a:t>
            </a:r>
            <a:r>
              <a:rPr lang="en-GB" sz="3200" dirty="0"/>
              <a:t>It </a:t>
            </a:r>
            <a:r>
              <a:rPr lang="en-GB" sz="3200" dirty="0" smtClean="0"/>
              <a:t>travels </a:t>
            </a:r>
            <a:r>
              <a:rPr lang="en-GB" sz="3200" dirty="0"/>
              <a:t>deep to the digastric and stylohyoid muscles, curving around the inferior border of the mandible to enter the face</a:t>
            </a:r>
            <a:r>
              <a:rPr lang="en-GB" sz="3200" dirty="0" smtClean="0"/>
              <a:t>.</a:t>
            </a:r>
            <a:r>
              <a:rPr lang="en-GB" sz="3200" dirty="0"/>
              <a:t> </a:t>
            </a:r>
            <a:r>
              <a:rPr lang="en-GB" sz="3200" dirty="0" smtClean="0"/>
              <a:t>​Supplies </a:t>
            </a:r>
            <a:r>
              <a:rPr lang="en-GB" sz="3200" dirty="0"/>
              <a:t>all structures in the face from the inferior border of the </a:t>
            </a:r>
            <a:r>
              <a:rPr lang="en-GB" sz="3200" dirty="0">
                <a:solidFill>
                  <a:srgbClr val="FFC000"/>
                </a:solidFill>
              </a:rPr>
              <a:t>m</a:t>
            </a:r>
            <a:r>
              <a:rPr lang="en-GB" sz="3200" dirty="0">
                <a:solidFill>
                  <a:schemeClr val="accent4">
                    <a:lumMod val="75000"/>
                  </a:schemeClr>
                </a:solidFill>
              </a:rPr>
              <a:t>andible anterior to the masseter muscle to the medial corner of the </a:t>
            </a:r>
            <a:r>
              <a:rPr lang="en-GB" sz="3200" dirty="0" smtClean="0">
                <a:solidFill>
                  <a:schemeClr val="accent4">
                    <a:lumMod val="75000"/>
                  </a:schemeClr>
                </a:solidFill>
              </a:rPr>
              <a:t>eye</a:t>
            </a:r>
            <a:r>
              <a:rPr lang="en-GB" sz="3200" dirty="0">
                <a:solidFill>
                  <a:schemeClr val="accent4">
                    <a:lumMod val="75000"/>
                  </a:schemeClr>
                </a:solidFill>
              </a:rPr>
              <a:t> </a:t>
            </a:r>
            <a:r>
              <a:rPr lang="en-GB" sz="3200" dirty="0" smtClean="0">
                <a:solidFill>
                  <a:schemeClr val="accent4">
                    <a:lumMod val="75000"/>
                  </a:schemeClr>
                </a:solidFill>
              </a:rPr>
              <a:t>that includes </a:t>
            </a:r>
            <a:r>
              <a:rPr lang="en-GB" sz="3200" dirty="0">
                <a:solidFill>
                  <a:schemeClr val="accent4">
                    <a:lumMod val="75000"/>
                  </a:schemeClr>
                </a:solidFill>
              </a:rPr>
              <a:t>soft palate, palatine tonsil, auditory tube and submandibular </a:t>
            </a:r>
            <a:r>
              <a:rPr lang="en-GB" sz="3200" dirty="0" smtClean="0">
                <a:solidFill>
                  <a:schemeClr val="accent4">
                    <a:lumMod val="75000"/>
                  </a:schemeClr>
                </a:solidFill>
              </a:rPr>
              <a:t>gland</a:t>
            </a:r>
            <a:r>
              <a:rPr lang="en-GB" sz="3200" dirty="0" smtClean="0"/>
              <a:t>.</a:t>
            </a:r>
            <a:endParaRPr lang="en-GB" sz="3200" dirty="0"/>
          </a:p>
        </p:txBody>
      </p:sp>
    </p:spTree>
    <p:extLst>
      <p:ext uri="{BB962C8B-B14F-4D97-AF65-F5344CB8AC3E}">
        <p14:creationId xmlns:p14="http://schemas.microsoft.com/office/powerpoint/2010/main" val="42726984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31820" y="167425"/>
            <a:ext cx="11745532" cy="6490952"/>
          </a:xfrm>
        </p:spPr>
        <p:txBody>
          <a:bodyPr>
            <a:normAutofit/>
          </a:bodyPr>
          <a:lstStyle/>
          <a:p>
            <a:pPr algn="just"/>
            <a:r>
              <a:rPr lang="en-GB" sz="3200" dirty="0">
                <a:solidFill>
                  <a:srgbClr val="FF0000"/>
                </a:solidFill>
              </a:rPr>
              <a:t>O</a:t>
            </a:r>
            <a:r>
              <a:rPr lang="en-GB" sz="3200" dirty="0" smtClean="0">
                <a:solidFill>
                  <a:srgbClr val="FF0000"/>
                </a:solidFill>
              </a:rPr>
              <a:t>ccipital artery </a:t>
            </a:r>
            <a:r>
              <a:rPr lang="en-GB" sz="3200" dirty="0" smtClean="0"/>
              <a:t>courses </a:t>
            </a:r>
            <a:r>
              <a:rPr lang="en-GB" sz="3200" dirty="0"/>
              <a:t>posterior and superiorly, deep to the posterior belly of the digastric </a:t>
            </a:r>
            <a:r>
              <a:rPr lang="en-GB" sz="3200" dirty="0" smtClean="0"/>
              <a:t>muscle, passes </a:t>
            </a:r>
            <a:r>
              <a:rPr lang="en-GB" sz="3200" dirty="0"/>
              <a:t>between the transverse process of the atlas (C1) and </a:t>
            </a:r>
            <a:r>
              <a:rPr lang="en-GB" sz="3200" dirty="0" smtClean="0"/>
              <a:t>pierces </a:t>
            </a:r>
            <a:r>
              <a:rPr lang="en-GB" sz="3200" dirty="0"/>
              <a:t>the investing layer of deep cervical fascia to ascend within the dense superficial fascia of the </a:t>
            </a:r>
            <a:r>
              <a:rPr lang="en-GB" sz="3200" dirty="0" smtClean="0"/>
              <a:t>scalp.</a:t>
            </a:r>
            <a:r>
              <a:rPr lang="en-GB" sz="3200" b="1" dirty="0"/>
              <a:t> </a:t>
            </a:r>
            <a:r>
              <a:rPr lang="en-GB" sz="3200" dirty="0" smtClean="0"/>
              <a:t>Supplies </a:t>
            </a:r>
            <a:r>
              <a:rPr lang="en-GB" sz="3200" dirty="0">
                <a:solidFill>
                  <a:schemeClr val="accent4">
                    <a:lumMod val="75000"/>
                  </a:schemeClr>
                </a:solidFill>
              </a:rPr>
              <a:t>sternocleidomastoid, </a:t>
            </a:r>
            <a:r>
              <a:rPr lang="en-GB" sz="3200" dirty="0" smtClean="0">
                <a:solidFill>
                  <a:schemeClr val="accent4">
                    <a:lumMod val="75000"/>
                  </a:schemeClr>
                </a:solidFill>
              </a:rPr>
              <a:t>trapezius, deep </a:t>
            </a:r>
            <a:r>
              <a:rPr lang="en-GB" sz="3200" dirty="0">
                <a:solidFill>
                  <a:schemeClr val="accent4">
                    <a:lumMod val="75000"/>
                  </a:schemeClr>
                </a:solidFill>
              </a:rPr>
              <a:t>muscles of the </a:t>
            </a:r>
            <a:r>
              <a:rPr lang="en-GB" sz="3200" dirty="0" smtClean="0">
                <a:solidFill>
                  <a:schemeClr val="accent4">
                    <a:lumMod val="75000"/>
                  </a:schemeClr>
                </a:solidFill>
              </a:rPr>
              <a:t>neck, </a:t>
            </a:r>
            <a:r>
              <a:rPr lang="en-GB" sz="3200" dirty="0">
                <a:solidFill>
                  <a:schemeClr val="accent4">
                    <a:lumMod val="75000"/>
                  </a:schemeClr>
                </a:solidFill>
              </a:rPr>
              <a:t>the meninges, pinna of the ear and mastoid air </a:t>
            </a:r>
            <a:r>
              <a:rPr lang="en-GB" sz="3200" dirty="0" smtClean="0">
                <a:solidFill>
                  <a:schemeClr val="accent4">
                    <a:lumMod val="75000"/>
                  </a:schemeClr>
                </a:solidFill>
              </a:rPr>
              <a:t>cells</a:t>
            </a:r>
            <a:r>
              <a:rPr lang="en-GB" sz="3200" dirty="0" smtClean="0"/>
              <a:t>.</a:t>
            </a:r>
          </a:p>
          <a:p>
            <a:pPr algn="just"/>
            <a:r>
              <a:rPr lang="en-GB" sz="3200" dirty="0">
                <a:solidFill>
                  <a:srgbClr val="FF0000"/>
                </a:solidFill>
              </a:rPr>
              <a:t>P</a:t>
            </a:r>
            <a:r>
              <a:rPr lang="en-GB" sz="3200" dirty="0" smtClean="0">
                <a:solidFill>
                  <a:srgbClr val="FF0000"/>
                </a:solidFill>
              </a:rPr>
              <a:t>osterior </a:t>
            </a:r>
            <a:r>
              <a:rPr lang="en-GB" sz="3200" dirty="0">
                <a:solidFill>
                  <a:srgbClr val="FF0000"/>
                </a:solidFill>
              </a:rPr>
              <a:t>auricular artery </a:t>
            </a:r>
            <a:r>
              <a:rPr lang="en-GB" sz="3200" dirty="0"/>
              <a:t>arises from the posterior aspect of the external carotid </a:t>
            </a:r>
            <a:r>
              <a:rPr lang="en-GB" sz="3200" dirty="0" smtClean="0"/>
              <a:t>artery. Supplies </a:t>
            </a:r>
            <a:r>
              <a:rPr lang="en-GB" sz="3200" dirty="0"/>
              <a:t>digastric, stylohyoid and </a:t>
            </a:r>
            <a:r>
              <a:rPr lang="en-GB" sz="3200" dirty="0" smtClean="0"/>
              <a:t>sternocleidomastoid </a:t>
            </a:r>
            <a:r>
              <a:rPr lang="en-GB" sz="3200" dirty="0"/>
              <a:t>muscles </a:t>
            </a:r>
            <a:r>
              <a:rPr lang="en-GB" sz="3200" dirty="0" smtClean="0"/>
              <a:t>and </a:t>
            </a:r>
            <a:r>
              <a:rPr lang="en-GB" sz="3200" dirty="0"/>
              <a:t>parotid </a:t>
            </a:r>
            <a:r>
              <a:rPr lang="en-GB" sz="3200" dirty="0" smtClean="0"/>
              <a:t>gland.</a:t>
            </a:r>
          </a:p>
          <a:p>
            <a:pPr algn="just"/>
            <a:r>
              <a:rPr lang="en-GB" sz="3200" dirty="0">
                <a:solidFill>
                  <a:srgbClr val="FF0000"/>
                </a:solidFill>
              </a:rPr>
              <a:t>M</a:t>
            </a:r>
            <a:r>
              <a:rPr lang="en-GB" sz="3200" dirty="0" smtClean="0">
                <a:solidFill>
                  <a:srgbClr val="FF0000"/>
                </a:solidFill>
              </a:rPr>
              <a:t>axillary artery, </a:t>
            </a:r>
            <a:r>
              <a:rPr lang="en-GB" sz="3200" dirty="0"/>
              <a:t>larger of the two terminal </a:t>
            </a:r>
            <a:r>
              <a:rPr lang="en-GB" sz="3200" dirty="0" smtClean="0"/>
              <a:t>branches </a:t>
            </a:r>
            <a:r>
              <a:rPr lang="en-GB" sz="3200" dirty="0"/>
              <a:t>arises from the external carotid artery within the parotid gland. </a:t>
            </a:r>
            <a:r>
              <a:rPr lang="en-GB" sz="3200" dirty="0" smtClean="0"/>
              <a:t>It is divided into three parts. Branches of the </a:t>
            </a:r>
            <a:r>
              <a:rPr lang="en-GB" sz="3200" dirty="0" smtClean="0">
                <a:solidFill>
                  <a:srgbClr val="00B0F0"/>
                </a:solidFill>
              </a:rPr>
              <a:t>first </a:t>
            </a:r>
            <a:r>
              <a:rPr lang="en-GB" sz="3200" dirty="0">
                <a:solidFill>
                  <a:srgbClr val="00B0F0"/>
                </a:solidFill>
              </a:rPr>
              <a:t>part </a:t>
            </a:r>
            <a:r>
              <a:rPr lang="en-GB" sz="3200" dirty="0"/>
              <a:t>include</a:t>
            </a:r>
            <a:r>
              <a:rPr lang="en-GB" sz="3200" dirty="0">
                <a:solidFill>
                  <a:schemeClr val="accent4">
                    <a:lumMod val="75000"/>
                  </a:schemeClr>
                </a:solidFill>
              </a:rPr>
              <a:t>: </a:t>
            </a:r>
            <a:r>
              <a:rPr lang="en-GB" sz="3200" dirty="0" smtClean="0">
                <a:solidFill>
                  <a:schemeClr val="accent4">
                    <a:lumMod val="75000"/>
                  </a:schemeClr>
                </a:solidFill>
              </a:rPr>
              <a:t>middle meningeal, </a:t>
            </a:r>
            <a:r>
              <a:rPr lang="en-GB" sz="3200" dirty="0">
                <a:solidFill>
                  <a:schemeClr val="accent4">
                    <a:lumMod val="75000"/>
                  </a:schemeClr>
                </a:solidFill>
              </a:rPr>
              <a:t>inferior </a:t>
            </a:r>
            <a:r>
              <a:rPr lang="en-GB" sz="3200" dirty="0" smtClean="0">
                <a:solidFill>
                  <a:schemeClr val="accent4">
                    <a:lumMod val="75000"/>
                  </a:schemeClr>
                </a:solidFill>
              </a:rPr>
              <a:t>alveolar, </a:t>
            </a:r>
            <a:r>
              <a:rPr lang="en-GB" sz="3200" dirty="0">
                <a:solidFill>
                  <a:schemeClr val="accent4">
                    <a:lumMod val="75000"/>
                  </a:schemeClr>
                </a:solidFill>
              </a:rPr>
              <a:t>deep auricular, anterior tympanic and accessory meningeal </a:t>
            </a:r>
            <a:r>
              <a:rPr lang="en-GB" sz="3200" dirty="0" smtClean="0">
                <a:solidFill>
                  <a:schemeClr val="accent4">
                    <a:lumMod val="75000"/>
                  </a:schemeClr>
                </a:solidFill>
              </a:rPr>
              <a:t>arteries.</a:t>
            </a:r>
            <a:endParaRPr lang="en-GB" sz="3200" dirty="0">
              <a:solidFill>
                <a:schemeClr val="accent4">
                  <a:lumMod val="75000"/>
                </a:schemeClr>
              </a:solidFill>
            </a:endParaRPr>
          </a:p>
        </p:txBody>
      </p:sp>
    </p:spTree>
    <p:extLst>
      <p:ext uri="{BB962C8B-B14F-4D97-AF65-F5344CB8AC3E}">
        <p14:creationId xmlns:p14="http://schemas.microsoft.com/office/powerpoint/2010/main" val="5118177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4546" y="167425"/>
            <a:ext cx="6130344" cy="6503831"/>
          </a:xfrm>
        </p:spPr>
        <p:txBody>
          <a:bodyPr/>
          <a:lstStyle/>
          <a:p>
            <a:pPr algn="just"/>
            <a:r>
              <a:rPr lang="en-GB" sz="2800" dirty="0" smtClean="0"/>
              <a:t>Branches of the </a:t>
            </a:r>
            <a:r>
              <a:rPr lang="en-GB" sz="2800" dirty="0" smtClean="0">
                <a:solidFill>
                  <a:srgbClr val="00B0F0"/>
                </a:solidFill>
              </a:rPr>
              <a:t>second </a:t>
            </a:r>
            <a:r>
              <a:rPr lang="en-GB" sz="2800" dirty="0">
                <a:solidFill>
                  <a:srgbClr val="00B0F0"/>
                </a:solidFill>
              </a:rPr>
              <a:t>part </a:t>
            </a:r>
            <a:r>
              <a:rPr lang="en-GB" sz="2800" dirty="0"/>
              <a:t>include: </a:t>
            </a:r>
            <a:r>
              <a:rPr lang="en-GB" sz="2800" dirty="0">
                <a:solidFill>
                  <a:schemeClr val="accent4">
                    <a:lumMod val="75000"/>
                  </a:schemeClr>
                </a:solidFill>
              </a:rPr>
              <a:t>the deep temporal, masseteric, buccal and pterygoid arteries</a:t>
            </a:r>
            <a:r>
              <a:rPr lang="en-GB" sz="2800" dirty="0"/>
              <a:t>. </a:t>
            </a:r>
            <a:endParaRPr lang="en-GB" sz="2800" dirty="0" smtClean="0"/>
          </a:p>
          <a:p>
            <a:pPr algn="just"/>
            <a:r>
              <a:rPr lang="en-GB" sz="2800" dirty="0" smtClean="0"/>
              <a:t>Branches of the </a:t>
            </a:r>
            <a:r>
              <a:rPr lang="en-GB" sz="2800" dirty="0" smtClean="0">
                <a:solidFill>
                  <a:srgbClr val="00B0F0"/>
                </a:solidFill>
              </a:rPr>
              <a:t>third </a:t>
            </a:r>
            <a:r>
              <a:rPr lang="en-GB" sz="2800" dirty="0">
                <a:solidFill>
                  <a:srgbClr val="00B0F0"/>
                </a:solidFill>
              </a:rPr>
              <a:t>part </a:t>
            </a:r>
            <a:r>
              <a:rPr lang="en-GB" sz="2800" dirty="0" smtClean="0"/>
              <a:t>include: </a:t>
            </a:r>
            <a:r>
              <a:rPr lang="en-GB" sz="2800" dirty="0" smtClean="0">
                <a:solidFill>
                  <a:schemeClr val="accent2">
                    <a:lumMod val="75000"/>
                  </a:schemeClr>
                </a:solidFill>
              </a:rPr>
              <a:t>posterior </a:t>
            </a:r>
            <a:r>
              <a:rPr lang="en-GB" sz="2800" dirty="0">
                <a:solidFill>
                  <a:schemeClr val="accent2">
                    <a:lumMod val="75000"/>
                  </a:schemeClr>
                </a:solidFill>
              </a:rPr>
              <a:t>superior alveolar, infraorbital, pharyngeal, descending </a:t>
            </a:r>
            <a:r>
              <a:rPr lang="en-GB" sz="2800" dirty="0" smtClean="0">
                <a:solidFill>
                  <a:schemeClr val="accent2">
                    <a:lumMod val="75000"/>
                  </a:schemeClr>
                </a:solidFill>
              </a:rPr>
              <a:t>palatine, </a:t>
            </a:r>
            <a:r>
              <a:rPr lang="en-GB" sz="2800" dirty="0">
                <a:solidFill>
                  <a:schemeClr val="accent2">
                    <a:lumMod val="75000"/>
                  </a:schemeClr>
                </a:solidFill>
              </a:rPr>
              <a:t>sphenopalatine arteries </a:t>
            </a:r>
            <a:r>
              <a:rPr lang="en-GB" sz="2800" dirty="0" smtClean="0">
                <a:solidFill>
                  <a:schemeClr val="accent2">
                    <a:lumMod val="75000"/>
                  </a:schemeClr>
                </a:solidFill>
              </a:rPr>
              <a:t>and </a:t>
            </a:r>
            <a:r>
              <a:rPr lang="en-GB" sz="2800" dirty="0">
                <a:solidFill>
                  <a:schemeClr val="accent2">
                    <a:lumMod val="75000"/>
                  </a:schemeClr>
                </a:solidFill>
              </a:rPr>
              <a:t>artery of the pterygoid canal</a:t>
            </a:r>
            <a:r>
              <a:rPr lang="en-GB" sz="2800" dirty="0"/>
              <a:t>. </a:t>
            </a:r>
          </a:p>
          <a:p>
            <a:pPr algn="just"/>
            <a:r>
              <a:rPr lang="en-GB" sz="2800" dirty="0" smtClean="0">
                <a:solidFill>
                  <a:srgbClr val="FF0000"/>
                </a:solidFill>
              </a:rPr>
              <a:t>Superficial </a:t>
            </a:r>
            <a:r>
              <a:rPr lang="en-GB" sz="2800" dirty="0">
                <a:solidFill>
                  <a:srgbClr val="FF0000"/>
                </a:solidFill>
              </a:rPr>
              <a:t>temporal artery </a:t>
            </a:r>
            <a:r>
              <a:rPr lang="en-GB" sz="2800" dirty="0"/>
              <a:t>arises as the smaller terminal branch </a:t>
            </a:r>
            <a:r>
              <a:rPr lang="en-GB" sz="2800" dirty="0" smtClean="0"/>
              <a:t>of external </a:t>
            </a:r>
            <a:r>
              <a:rPr lang="en-GB" sz="2800" dirty="0"/>
              <a:t>carotid artery. S</a:t>
            </a:r>
            <a:r>
              <a:rPr lang="en-GB" sz="2800" dirty="0" smtClean="0"/>
              <a:t>imilarly </a:t>
            </a:r>
            <a:r>
              <a:rPr lang="en-GB" sz="2800" dirty="0"/>
              <a:t>arises within the substance of the parotid gland behind the neck of the mandible</a:t>
            </a:r>
            <a:r>
              <a:rPr lang="en-GB" sz="2800" dirty="0" smtClean="0"/>
              <a:t>.</a:t>
            </a:r>
            <a:r>
              <a:rPr lang="en-GB" sz="2800" dirty="0"/>
              <a:t> </a:t>
            </a:r>
            <a:r>
              <a:rPr lang="en-GB" sz="2800" dirty="0" smtClean="0"/>
              <a:t>Branches; </a:t>
            </a:r>
            <a:r>
              <a:rPr lang="en-GB" sz="2800" dirty="0">
                <a:solidFill>
                  <a:schemeClr val="accent2">
                    <a:lumMod val="75000"/>
                  </a:schemeClr>
                </a:solidFill>
              </a:rPr>
              <a:t>transverse facial, </a:t>
            </a:r>
            <a:r>
              <a:rPr lang="en-GB" sz="2800" dirty="0" err="1" smtClean="0">
                <a:solidFill>
                  <a:schemeClr val="accent2">
                    <a:lumMod val="75000"/>
                  </a:schemeClr>
                </a:solidFill>
              </a:rPr>
              <a:t>zygoatico</a:t>
            </a:r>
            <a:r>
              <a:rPr lang="en-GB" sz="2800" dirty="0" smtClean="0">
                <a:solidFill>
                  <a:schemeClr val="accent2">
                    <a:lumMod val="75000"/>
                  </a:schemeClr>
                </a:solidFill>
              </a:rPr>
              <a:t> orbital </a:t>
            </a:r>
            <a:r>
              <a:rPr lang="en-GB" sz="2800" dirty="0">
                <a:solidFill>
                  <a:schemeClr val="accent2">
                    <a:lumMod val="75000"/>
                  </a:schemeClr>
                </a:solidFill>
              </a:rPr>
              <a:t>and middle temporal </a:t>
            </a:r>
            <a:r>
              <a:rPr lang="en-GB" sz="2800" dirty="0" smtClean="0">
                <a:solidFill>
                  <a:schemeClr val="accent2">
                    <a:lumMod val="75000"/>
                  </a:schemeClr>
                </a:solidFill>
              </a:rPr>
              <a:t>arteries, parotid anterior auricular</a:t>
            </a:r>
            <a:r>
              <a:rPr lang="en-GB" sz="2800" dirty="0" smtClean="0"/>
              <a:t>. </a:t>
            </a:r>
            <a:endParaRPr lang="en-GB" sz="2800" dirty="0"/>
          </a:p>
          <a:p>
            <a:endParaRPr lang="en-GB" dirty="0"/>
          </a:p>
        </p:txBody>
      </p:sp>
      <p:pic>
        <p:nvPicPr>
          <p:cNvPr id="5" name="Picture 4" descr="External Carotid Artery - Hithera"/>
          <p:cNvPicPr/>
          <p:nvPr/>
        </p:nvPicPr>
        <p:blipFill>
          <a:blip r:embed="rId2">
            <a:extLst>
              <a:ext uri="{28A0092B-C50C-407E-A947-70E740481C1C}">
                <a14:useLocalDpi xmlns:a14="http://schemas.microsoft.com/office/drawing/2010/main" val="0"/>
              </a:ext>
            </a:extLst>
          </a:blip>
          <a:srcRect/>
          <a:stretch>
            <a:fillRect/>
          </a:stretch>
        </p:blipFill>
        <p:spPr bwMode="auto">
          <a:xfrm>
            <a:off x="6310648" y="540913"/>
            <a:ext cx="5782613" cy="5666704"/>
          </a:xfrm>
          <a:prstGeom prst="rect">
            <a:avLst/>
          </a:prstGeom>
          <a:noFill/>
          <a:ln>
            <a:noFill/>
          </a:ln>
        </p:spPr>
      </p:pic>
    </p:spTree>
    <p:extLst>
      <p:ext uri="{BB962C8B-B14F-4D97-AF65-F5344CB8AC3E}">
        <p14:creationId xmlns:p14="http://schemas.microsoft.com/office/powerpoint/2010/main" val="10576128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21973" y="206062"/>
            <a:ext cx="11694016" cy="6465194"/>
          </a:xfrm>
        </p:spPr>
        <p:txBody>
          <a:bodyPr>
            <a:normAutofit/>
          </a:bodyPr>
          <a:lstStyle/>
          <a:p>
            <a:pPr algn="just"/>
            <a:r>
              <a:rPr lang="en-GB" sz="3200" dirty="0" smtClean="0">
                <a:solidFill>
                  <a:srgbClr val="FF0000"/>
                </a:solidFill>
              </a:rPr>
              <a:t>Internal carotid artery</a:t>
            </a:r>
            <a:r>
              <a:rPr lang="en-GB" sz="3200" dirty="0" smtClean="0"/>
              <a:t>: It is the terminal part of common carotid artery. It arises around the level of 4</a:t>
            </a:r>
            <a:r>
              <a:rPr lang="en-GB" sz="3200" baseline="30000" dirty="0" smtClean="0"/>
              <a:t>th</a:t>
            </a:r>
            <a:r>
              <a:rPr lang="en-GB" sz="3200" dirty="0" smtClean="0"/>
              <a:t> cervical vertebral where the common carotid bifurcates and lying deeper to its external counterpart. The pathway is divided into segments that include the following: </a:t>
            </a:r>
          </a:p>
          <a:p>
            <a:pPr marL="457200" lvl="0" indent="-457200" algn="l">
              <a:buFont typeface="Wingdings" panose="05000000000000000000" pitchFamily="2" charset="2"/>
              <a:buChar char="v"/>
            </a:pPr>
            <a:r>
              <a:rPr lang="en-GB" sz="3200" dirty="0"/>
              <a:t>C1 –</a:t>
            </a:r>
            <a:r>
              <a:rPr lang="en-GB" sz="3200" b="1" dirty="0"/>
              <a:t> C</a:t>
            </a:r>
            <a:r>
              <a:rPr lang="en-GB" sz="3200" dirty="0"/>
              <a:t>ervical Segment</a:t>
            </a:r>
          </a:p>
          <a:p>
            <a:pPr marL="457200" lvl="0" indent="-457200" algn="l">
              <a:buFont typeface="Wingdings" panose="05000000000000000000" pitchFamily="2" charset="2"/>
              <a:buChar char="v"/>
            </a:pPr>
            <a:r>
              <a:rPr lang="en-GB" sz="3200" dirty="0"/>
              <a:t>C2 – </a:t>
            </a:r>
            <a:r>
              <a:rPr lang="en-GB" sz="3200" b="1" dirty="0"/>
              <a:t>P</a:t>
            </a:r>
            <a:r>
              <a:rPr lang="en-GB" sz="3200" dirty="0"/>
              <a:t>etrous Segment</a:t>
            </a:r>
          </a:p>
          <a:p>
            <a:pPr marL="457200" lvl="0" indent="-457200" algn="l">
              <a:buFont typeface="Wingdings" panose="05000000000000000000" pitchFamily="2" charset="2"/>
              <a:buChar char="v"/>
            </a:pPr>
            <a:r>
              <a:rPr lang="en-GB" sz="3200" dirty="0"/>
              <a:t>C3 – </a:t>
            </a:r>
            <a:r>
              <a:rPr lang="en-GB" sz="3200" b="1" dirty="0" err="1"/>
              <a:t>L</a:t>
            </a:r>
            <a:r>
              <a:rPr lang="en-GB" sz="3200" dirty="0" err="1"/>
              <a:t>acerum</a:t>
            </a:r>
            <a:r>
              <a:rPr lang="en-GB" sz="3200" dirty="0"/>
              <a:t> Segment</a:t>
            </a:r>
          </a:p>
          <a:p>
            <a:pPr marL="457200" lvl="0" indent="-457200" algn="l">
              <a:buFont typeface="Wingdings" panose="05000000000000000000" pitchFamily="2" charset="2"/>
              <a:buChar char="v"/>
            </a:pPr>
            <a:r>
              <a:rPr lang="en-GB" sz="3200" dirty="0"/>
              <a:t>C4 – </a:t>
            </a:r>
            <a:r>
              <a:rPr lang="en-GB" sz="3200" b="1" dirty="0"/>
              <a:t>C</a:t>
            </a:r>
            <a:r>
              <a:rPr lang="en-GB" sz="3200" dirty="0"/>
              <a:t>avernous Segment</a:t>
            </a:r>
          </a:p>
          <a:p>
            <a:pPr marL="457200" lvl="0" indent="-457200" algn="l">
              <a:buFont typeface="Wingdings" panose="05000000000000000000" pitchFamily="2" charset="2"/>
              <a:buChar char="v"/>
            </a:pPr>
            <a:r>
              <a:rPr lang="en-GB" sz="3200" dirty="0"/>
              <a:t>C5 – </a:t>
            </a:r>
            <a:r>
              <a:rPr lang="en-GB" sz="3200" b="1" dirty="0"/>
              <a:t>C</a:t>
            </a:r>
            <a:r>
              <a:rPr lang="en-GB" sz="3200" dirty="0"/>
              <a:t>linoid Segment</a:t>
            </a:r>
          </a:p>
          <a:p>
            <a:pPr marL="457200" lvl="0" indent="-457200" algn="l">
              <a:buFont typeface="Wingdings" panose="05000000000000000000" pitchFamily="2" charset="2"/>
              <a:buChar char="v"/>
            </a:pPr>
            <a:r>
              <a:rPr lang="en-GB" sz="3200" dirty="0"/>
              <a:t>C6 – </a:t>
            </a:r>
            <a:r>
              <a:rPr lang="en-GB" sz="3200" b="1" dirty="0"/>
              <a:t>O</a:t>
            </a:r>
            <a:r>
              <a:rPr lang="en-GB" sz="3200" dirty="0"/>
              <a:t>phthalmic (</a:t>
            </a:r>
            <a:r>
              <a:rPr lang="en-GB" sz="3200" dirty="0" err="1"/>
              <a:t>Supraclinoid</a:t>
            </a:r>
            <a:r>
              <a:rPr lang="en-GB" sz="3200" dirty="0"/>
              <a:t>) Segment</a:t>
            </a:r>
          </a:p>
          <a:p>
            <a:pPr marL="457200" lvl="0" indent="-457200" algn="l">
              <a:buFont typeface="Wingdings" panose="05000000000000000000" pitchFamily="2" charset="2"/>
              <a:buChar char="v"/>
            </a:pPr>
            <a:r>
              <a:rPr lang="en-GB" sz="3200" dirty="0"/>
              <a:t>C7 – </a:t>
            </a:r>
            <a:r>
              <a:rPr lang="en-GB" sz="3200" b="1" dirty="0"/>
              <a:t>C</a:t>
            </a:r>
            <a:r>
              <a:rPr lang="en-GB" sz="3200" dirty="0"/>
              <a:t>ommunicating (Terminal) Segment</a:t>
            </a:r>
          </a:p>
          <a:p>
            <a:pPr algn="just"/>
            <a:endParaRPr lang="en-GB" sz="3200" dirty="0"/>
          </a:p>
        </p:txBody>
      </p:sp>
    </p:spTree>
    <p:extLst>
      <p:ext uri="{BB962C8B-B14F-4D97-AF65-F5344CB8AC3E}">
        <p14:creationId xmlns:p14="http://schemas.microsoft.com/office/powerpoint/2010/main" val="20087274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0609" y="347729"/>
            <a:ext cx="11565228" cy="6246253"/>
          </a:xfrm>
        </p:spPr>
        <p:txBody>
          <a:bodyPr>
            <a:normAutofit lnSpcReduction="10000"/>
          </a:bodyPr>
          <a:lstStyle/>
          <a:p>
            <a:pPr algn="just"/>
            <a:r>
              <a:rPr lang="en-GB" sz="3200" dirty="0" smtClean="0">
                <a:solidFill>
                  <a:srgbClr val="0070C0"/>
                </a:solidFill>
              </a:rPr>
              <a:t>C1, Cervical segment: </a:t>
            </a:r>
            <a:r>
              <a:rPr lang="en-GB" sz="3200" dirty="0" smtClean="0"/>
              <a:t>It extends from the carotid bifurcation until it enters the carotid canal in the skull anterior to the jugular foramen. At its origin it is somewhat dilated known </a:t>
            </a:r>
            <a:r>
              <a:rPr lang="en-GB" sz="3200" dirty="0"/>
              <a:t>a</a:t>
            </a:r>
            <a:r>
              <a:rPr lang="en-GB" sz="3200" dirty="0" smtClean="0"/>
              <a:t>s the carotid sinus. It runs vertically upward in the carotid sheath and enters the skull through carotid canal. During its course it lies in front of transverse processes of upper three cervical vertebrae. </a:t>
            </a:r>
          </a:p>
          <a:p>
            <a:pPr lvl="0" algn="just"/>
            <a:r>
              <a:rPr lang="en-GB" sz="3200" dirty="0" smtClean="0">
                <a:solidFill>
                  <a:srgbClr val="0070C0"/>
                </a:solidFill>
              </a:rPr>
              <a:t>C2</a:t>
            </a:r>
            <a:r>
              <a:rPr lang="en-GB" sz="3200" dirty="0">
                <a:solidFill>
                  <a:srgbClr val="0070C0"/>
                </a:solidFill>
              </a:rPr>
              <a:t>, </a:t>
            </a:r>
            <a:r>
              <a:rPr lang="en-GB" sz="3200" dirty="0" smtClean="0">
                <a:solidFill>
                  <a:srgbClr val="0070C0"/>
                </a:solidFill>
              </a:rPr>
              <a:t>Petrous segment</a:t>
            </a:r>
            <a:r>
              <a:rPr lang="en-GB" sz="3200" dirty="0" smtClean="0"/>
              <a:t>: </a:t>
            </a:r>
            <a:r>
              <a:rPr lang="en-GB" sz="3200" dirty="0"/>
              <a:t>From the entrance to the carotid </a:t>
            </a:r>
            <a:r>
              <a:rPr lang="en-GB" sz="3200" dirty="0" smtClean="0"/>
              <a:t>canal of petrous part temporal bone, the artery extends across to </a:t>
            </a:r>
            <a:r>
              <a:rPr lang="en-GB" sz="3200" dirty="0"/>
              <a:t>foramen </a:t>
            </a:r>
            <a:r>
              <a:rPr lang="en-GB" sz="3200" dirty="0" err="1"/>
              <a:t>lacerum</a:t>
            </a:r>
            <a:r>
              <a:rPr lang="en-GB" sz="3200" dirty="0"/>
              <a:t>. </a:t>
            </a:r>
            <a:r>
              <a:rPr lang="en-GB" sz="3200" dirty="0" smtClean="0"/>
              <a:t>This portion has three sections, ascending, genu and horizontal portions.</a:t>
            </a:r>
          </a:p>
          <a:p>
            <a:pPr lvl="0" algn="just"/>
            <a:r>
              <a:rPr lang="en-GB" sz="3200" dirty="0" smtClean="0"/>
              <a:t>It first travels vertically </a:t>
            </a:r>
            <a:r>
              <a:rPr lang="en-GB" sz="3200" dirty="0"/>
              <a:t>before taking an anteromedial course; after which it travels along a </a:t>
            </a:r>
            <a:r>
              <a:rPr lang="en-GB" sz="3200" dirty="0" err="1"/>
              <a:t>superomedial</a:t>
            </a:r>
            <a:r>
              <a:rPr lang="en-GB" sz="3200" dirty="0"/>
              <a:t> course advancing towards the foramen </a:t>
            </a:r>
            <a:r>
              <a:rPr lang="en-GB" sz="3200" dirty="0" err="1" smtClean="0"/>
              <a:t>lacerum</a:t>
            </a:r>
            <a:r>
              <a:rPr lang="en-GB" sz="3200" dirty="0" smtClean="0"/>
              <a:t>.</a:t>
            </a:r>
            <a:r>
              <a:rPr lang="en-GB" sz="3200" dirty="0"/>
              <a:t> </a:t>
            </a:r>
            <a:r>
              <a:rPr lang="en-GB" sz="3200" dirty="0" smtClean="0"/>
              <a:t>Its branches </a:t>
            </a:r>
            <a:r>
              <a:rPr lang="en-GB" sz="3200" dirty="0"/>
              <a:t>include the </a:t>
            </a:r>
            <a:r>
              <a:rPr lang="en-GB" sz="3200" dirty="0" err="1"/>
              <a:t>caroticotympanic</a:t>
            </a:r>
            <a:r>
              <a:rPr lang="en-GB" sz="3200" dirty="0"/>
              <a:t> artery and the </a:t>
            </a:r>
            <a:r>
              <a:rPr lang="en-GB" sz="3200" dirty="0" err="1"/>
              <a:t>vidian</a:t>
            </a:r>
            <a:r>
              <a:rPr lang="en-GB" sz="3200" dirty="0"/>
              <a:t> artery.</a:t>
            </a:r>
          </a:p>
        </p:txBody>
      </p:sp>
    </p:spTree>
    <p:extLst>
      <p:ext uri="{BB962C8B-B14F-4D97-AF65-F5344CB8AC3E}">
        <p14:creationId xmlns:p14="http://schemas.microsoft.com/office/powerpoint/2010/main" val="22057375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77799" y="139700"/>
            <a:ext cx="6248399" cy="6426200"/>
          </a:xfrm>
        </p:spPr>
        <p:txBody>
          <a:bodyPr>
            <a:normAutofit lnSpcReduction="10000"/>
          </a:bodyPr>
          <a:lstStyle/>
          <a:p>
            <a:pPr lvl="0" algn="just"/>
            <a:r>
              <a:rPr lang="en-GB" sz="2900" dirty="0" smtClean="0">
                <a:solidFill>
                  <a:srgbClr val="0070C0"/>
                </a:solidFill>
              </a:rPr>
              <a:t>C3, </a:t>
            </a:r>
            <a:r>
              <a:rPr lang="en-GB" sz="2900" dirty="0" err="1" smtClean="0">
                <a:solidFill>
                  <a:srgbClr val="0070C0"/>
                </a:solidFill>
              </a:rPr>
              <a:t>Lacerum</a:t>
            </a:r>
            <a:r>
              <a:rPr lang="en-GB" sz="2900" dirty="0" smtClean="0">
                <a:solidFill>
                  <a:srgbClr val="0070C0"/>
                </a:solidFill>
              </a:rPr>
              <a:t> segment: </a:t>
            </a:r>
            <a:r>
              <a:rPr lang="en-GB" sz="2900" dirty="0" smtClean="0"/>
              <a:t>It is a short </a:t>
            </a:r>
            <a:r>
              <a:rPr lang="en-GB" sz="2900" dirty="0"/>
              <a:t>segment </a:t>
            </a:r>
            <a:r>
              <a:rPr lang="en-GB" sz="2900" dirty="0" smtClean="0"/>
              <a:t>beginning above foramen </a:t>
            </a:r>
            <a:r>
              <a:rPr lang="en-GB" sz="2900" dirty="0" err="1" smtClean="0"/>
              <a:t>lacerum</a:t>
            </a:r>
            <a:r>
              <a:rPr lang="en-GB" sz="2900" dirty="0" smtClean="0"/>
              <a:t> </a:t>
            </a:r>
            <a:r>
              <a:rPr lang="en-GB" sz="2900" dirty="0"/>
              <a:t>occluding the foramen </a:t>
            </a:r>
            <a:r>
              <a:rPr lang="en-GB" sz="2900" dirty="0" err="1"/>
              <a:t>lacerum</a:t>
            </a:r>
            <a:r>
              <a:rPr lang="en-GB" sz="2900" dirty="0"/>
              <a:t> (not through it!) and ends at the </a:t>
            </a:r>
            <a:r>
              <a:rPr lang="en-GB" sz="2900" dirty="0" smtClean="0"/>
              <a:t>petro-lingual </a:t>
            </a:r>
            <a:r>
              <a:rPr lang="en-GB" sz="2900" dirty="0"/>
              <a:t>ligament. This anatomical structure is located on the wall of the cavernous sinus</a:t>
            </a:r>
            <a:r>
              <a:rPr lang="en-GB" sz="2900" dirty="0" smtClean="0"/>
              <a:t>.</a:t>
            </a:r>
          </a:p>
          <a:p>
            <a:pPr algn="just"/>
            <a:r>
              <a:rPr lang="en-GB" sz="2900" dirty="0" smtClean="0">
                <a:solidFill>
                  <a:srgbClr val="0070C0"/>
                </a:solidFill>
              </a:rPr>
              <a:t>C4, Cavernous segment</a:t>
            </a:r>
            <a:r>
              <a:rPr lang="en-GB" sz="2900" dirty="0" smtClean="0"/>
              <a:t>: This segment at first ascend towards posterior </a:t>
            </a:r>
            <a:r>
              <a:rPr lang="en-GB" sz="2900" dirty="0"/>
              <a:t>clinoid process of the sphenoid </a:t>
            </a:r>
            <a:r>
              <a:rPr lang="en-GB" sz="2900" dirty="0" smtClean="0"/>
              <a:t>bone and then passes forward by the side of body of sphenoid bone curving upward </a:t>
            </a:r>
            <a:r>
              <a:rPr lang="en-GB" sz="2900" dirty="0"/>
              <a:t>towards the anterior clinoid process </a:t>
            </a:r>
            <a:r>
              <a:rPr lang="en-GB" sz="2900" dirty="0" smtClean="0"/>
              <a:t>perforates the </a:t>
            </a:r>
            <a:r>
              <a:rPr lang="en-GB" sz="2900" dirty="0" err="1" smtClean="0"/>
              <a:t>dural</a:t>
            </a:r>
            <a:r>
              <a:rPr lang="en-GB" sz="2900" dirty="0" smtClean="0"/>
              <a:t> mater forming the roof </a:t>
            </a:r>
            <a:r>
              <a:rPr lang="en-GB" sz="2900" dirty="0"/>
              <a:t>of the cavernous sinus. </a:t>
            </a:r>
            <a:r>
              <a:rPr lang="en-GB" sz="2900" dirty="0" smtClean="0"/>
              <a:t>The curve of the cavernous segment is called </a:t>
            </a:r>
            <a:r>
              <a:rPr lang="en-GB" sz="2900" dirty="0" smtClean="0">
                <a:solidFill>
                  <a:schemeClr val="accent2">
                    <a:lumMod val="75000"/>
                  </a:schemeClr>
                </a:solidFill>
              </a:rPr>
              <a:t>carotid siphon</a:t>
            </a:r>
            <a:r>
              <a:rPr lang="en-GB" sz="2900" dirty="0" smtClean="0"/>
              <a:t>. </a:t>
            </a:r>
            <a:endParaRPr lang="en-GB" sz="2800" dirty="0"/>
          </a:p>
        </p:txBody>
      </p:sp>
      <p:pic>
        <p:nvPicPr>
          <p:cNvPr id="5" name="Picture 4" descr="Clinical basis for the knowledge of anatomy of the carotid artery: A review  article - Yenagoa Medical Journal"/>
          <p:cNvPicPr/>
          <p:nvPr/>
        </p:nvPicPr>
        <p:blipFill>
          <a:blip r:embed="rId2">
            <a:extLst>
              <a:ext uri="{28A0092B-C50C-407E-A947-70E740481C1C}">
                <a14:useLocalDpi xmlns:a14="http://schemas.microsoft.com/office/drawing/2010/main" val="0"/>
              </a:ext>
            </a:extLst>
          </a:blip>
          <a:srcRect/>
          <a:stretch>
            <a:fillRect/>
          </a:stretch>
        </p:blipFill>
        <p:spPr bwMode="auto">
          <a:xfrm>
            <a:off x="6426199" y="264015"/>
            <a:ext cx="5564036" cy="6432999"/>
          </a:xfrm>
          <a:prstGeom prst="rect">
            <a:avLst/>
          </a:prstGeom>
          <a:noFill/>
          <a:ln>
            <a:noFill/>
          </a:ln>
        </p:spPr>
      </p:pic>
    </p:spTree>
    <p:extLst>
      <p:ext uri="{BB962C8B-B14F-4D97-AF65-F5344CB8AC3E}">
        <p14:creationId xmlns:p14="http://schemas.microsoft.com/office/powerpoint/2010/main" val="1494002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5900" y="127000"/>
            <a:ext cx="6667500" cy="6540500"/>
          </a:xfrm>
        </p:spPr>
        <p:txBody>
          <a:bodyPr>
            <a:normAutofit/>
          </a:bodyPr>
          <a:lstStyle/>
          <a:p>
            <a:pPr algn="just"/>
            <a:r>
              <a:rPr lang="en-GB" sz="2800" dirty="0"/>
              <a:t>Within the cavernous sinus, the internal carotid artery travels </a:t>
            </a:r>
            <a:r>
              <a:rPr lang="en-GB" sz="2800" dirty="0" err="1"/>
              <a:t>superomedially</a:t>
            </a:r>
            <a:r>
              <a:rPr lang="en-GB" sz="2800" dirty="0"/>
              <a:t> to CN VI (</a:t>
            </a:r>
            <a:r>
              <a:rPr lang="en-GB" sz="2800" dirty="0" err="1"/>
              <a:t>abducens</a:t>
            </a:r>
            <a:r>
              <a:rPr lang="en-GB" sz="2800" dirty="0"/>
              <a:t> nerve) and medially to CN III (oculomotor nerve), CN IV (trochlear nerve), and CN V1 and CN V2 (ophthalmic and maxillary divisions of the trigeminal nerve, respectively</a:t>
            </a:r>
            <a:r>
              <a:rPr lang="en-GB" sz="2800" dirty="0" smtClean="0"/>
              <a:t>).</a:t>
            </a:r>
          </a:p>
          <a:p>
            <a:pPr algn="just"/>
            <a:r>
              <a:rPr lang="en-GB" sz="2800" dirty="0" smtClean="0"/>
              <a:t>Branches here are; </a:t>
            </a:r>
            <a:r>
              <a:rPr lang="en-GB" sz="2800" dirty="0" err="1" smtClean="0"/>
              <a:t>menigiohypophysial</a:t>
            </a:r>
            <a:r>
              <a:rPr lang="en-GB" sz="2800" dirty="0" smtClean="0"/>
              <a:t> artery, inferior lateral branch with also small capsular arteries supplying the cavernous wall. </a:t>
            </a:r>
            <a:endParaRPr lang="en-GB" sz="2800" dirty="0"/>
          </a:p>
        </p:txBody>
      </p:sp>
      <p:pic>
        <p:nvPicPr>
          <p:cNvPr id="6" name="Picture 5" descr="Internal Carotid Artery - Segments &amp; Branches"/>
          <p:cNvPicPr/>
          <p:nvPr/>
        </p:nvPicPr>
        <p:blipFill>
          <a:blip r:embed="rId2">
            <a:extLst>
              <a:ext uri="{28A0092B-C50C-407E-A947-70E740481C1C}">
                <a14:useLocalDpi xmlns:a14="http://schemas.microsoft.com/office/drawing/2010/main" val="0"/>
              </a:ext>
            </a:extLst>
          </a:blip>
          <a:srcRect/>
          <a:stretch>
            <a:fillRect/>
          </a:stretch>
        </p:blipFill>
        <p:spPr bwMode="auto">
          <a:xfrm>
            <a:off x="6998093" y="624624"/>
            <a:ext cx="5077996" cy="5215943"/>
          </a:xfrm>
          <a:prstGeom prst="rect">
            <a:avLst/>
          </a:prstGeom>
          <a:noFill/>
          <a:ln>
            <a:noFill/>
          </a:ln>
        </p:spPr>
      </p:pic>
    </p:spTree>
    <p:extLst>
      <p:ext uri="{BB962C8B-B14F-4D97-AF65-F5344CB8AC3E}">
        <p14:creationId xmlns:p14="http://schemas.microsoft.com/office/powerpoint/2010/main" val="41891875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4546" y="103030"/>
            <a:ext cx="6284891" cy="6568226"/>
          </a:xfrm>
        </p:spPr>
        <p:txBody>
          <a:bodyPr>
            <a:normAutofit lnSpcReduction="10000"/>
          </a:bodyPr>
          <a:lstStyle/>
          <a:p>
            <a:pPr lvl="0" algn="just"/>
            <a:r>
              <a:rPr lang="en-GB" sz="2800" dirty="0" smtClean="0">
                <a:solidFill>
                  <a:srgbClr val="0070C0"/>
                </a:solidFill>
              </a:rPr>
              <a:t>C5, Clinoid segment</a:t>
            </a:r>
            <a:r>
              <a:rPr lang="en-GB" sz="2800" b="1" dirty="0" smtClean="0"/>
              <a:t>:</a:t>
            </a:r>
            <a:r>
              <a:rPr lang="en-GB" sz="2800" dirty="0" smtClean="0"/>
              <a:t> </a:t>
            </a:r>
            <a:r>
              <a:rPr lang="en-GB" sz="2800" dirty="0"/>
              <a:t>A</a:t>
            </a:r>
            <a:r>
              <a:rPr lang="en-GB" sz="2800" dirty="0" smtClean="0"/>
              <a:t>fter </a:t>
            </a:r>
            <a:r>
              <a:rPr lang="en-GB" sz="2800" dirty="0"/>
              <a:t>exiting the cavernous sinus at the proximal </a:t>
            </a:r>
            <a:r>
              <a:rPr lang="en-GB" sz="2800" dirty="0" err="1"/>
              <a:t>dural</a:t>
            </a:r>
            <a:r>
              <a:rPr lang="en-GB" sz="2800" dirty="0"/>
              <a:t> ring, this segment travels a very short distance until the distal </a:t>
            </a:r>
            <a:r>
              <a:rPr lang="en-GB" sz="2800" dirty="0" err="1"/>
              <a:t>dural</a:t>
            </a:r>
            <a:r>
              <a:rPr lang="en-GB" sz="2800" dirty="0"/>
              <a:t> ring. </a:t>
            </a:r>
            <a:r>
              <a:rPr lang="en-GB" sz="2800" dirty="0" smtClean="0"/>
              <a:t>After which the artery is considered intra-</a:t>
            </a:r>
            <a:r>
              <a:rPr lang="en-GB" sz="2800" dirty="0" err="1" smtClean="0"/>
              <a:t>dural</a:t>
            </a:r>
            <a:r>
              <a:rPr lang="en-GB" sz="2800" dirty="0" smtClean="0"/>
              <a:t> and has entered the subarachnoid space. No branch arises here though ophthalmic may.</a:t>
            </a:r>
          </a:p>
          <a:p>
            <a:pPr algn="just"/>
            <a:r>
              <a:rPr lang="en-GB" sz="2800" dirty="0" smtClean="0">
                <a:solidFill>
                  <a:srgbClr val="0070C0"/>
                </a:solidFill>
              </a:rPr>
              <a:t>C6, Ophthalmic segment</a:t>
            </a:r>
            <a:r>
              <a:rPr lang="en-GB" sz="2800" dirty="0" smtClean="0"/>
              <a:t>: </a:t>
            </a:r>
            <a:r>
              <a:rPr lang="en-GB" sz="2800" dirty="0"/>
              <a:t>F</a:t>
            </a:r>
            <a:r>
              <a:rPr lang="en-GB" sz="2800" dirty="0" smtClean="0"/>
              <a:t>rom </a:t>
            </a:r>
            <a:r>
              <a:rPr lang="en-GB" sz="2800" dirty="0"/>
              <a:t>the distal </a:t>
            </a:r>
            <a:r>
              <a:rPr lang="en-GB" sz="2800" dirty="0" err="1"/>
              <a:t>dural</a:t>
            </a:r>
            <a:r>
              <a:rPr lang="en-GB" sz="2800" dirty="0"/>
              <a:t> ring, the C6 segment travels parallel and horizontal in an inferolateral position with respect to CN II (optic nerve). The end point is the origin of the posterior communicating </a:t>
            </a:r>
            <a:r>
              <a:rPr lang="en-GB" sz="2800" dirty="0" smtClean="0"/>
              <a:t>artery.</a:t>
            </a:r>
          </a:p>
          <a:p>
            <a:pPr algn="just"/>
            <a:r>
              <a:rPr lang="en-GB" sz="2800" dirty="0" smtClean="0"/>
              <a:t>Branches </a:t>
            </a:r>
            <a:r>
              <a:rPr lang="en-GB" sz="2800" dirty="0"/>
              <a:t>include the ophthalmic artery and the superior </a:t>
            </a:r>
            <a:r>
              <a:rPr lang="en-GB" sz="2800" dirty="0" err="1"/>
              <a:t>hypophyseal</a:t>
            </a:r>
            <a:r>
              <a:rPr lang="en-GB" sz="2800" dirty="0"/>
              <a:t> </a:t>
            </a:r>
            <a:r>
              <a:rPr lang="en-GB" sz="2800" dirty="0" smtClean="0"/>
              <a:t>artery.</a:t>
            </a:r>
            <a:endParaRPr lang="en-GB" sz="2800" dirty="0"/>
          </a:p>
          <a:p>
            <a:pPr lvl="0" algn="just"/>
            <a:r>
              <a:rPr lang="en-GB" sz="2800" dirty="0" smtClean="0"/>
              <a:t> </a:t>
            </a:r>
            <a:endParaRPr lang="en-GB" sz="2800" dirty="0"/>
          </a:p>
          <a:p>
            <a:pPr lvl="0" algn="just"/>
            <a:endParaRPr lang="en-GB" sz="2800" dirty="0"/>
          </a:p>
        </p:txBody>
      </p:sp>
      <p:pic>
        <p:nvPicPr>
          <p:cNvPr id="6" name="Picture 5" descr="Internal Carotid Artery in Petrous Part of Temporal Bone Anatomy"/>
          <p:cNvPicPr/>
          <p:nvPr/>
        </p:nvPicPr>
        <p:blipFill>
          <a:blip r:embed="rId2">
            <a:extLst>
              <a:ext uri="{28A0092B-C50C-407E-A947-70E740481C1C}">
                <a14:useLocalDpi xmlns:a14="http://schemas.microsoft.com/office/drawing/2010/main" val="0"/>
              </a:ext>
            </a:extLst>
          </a:blip>
          <a:srcRect/>
          <a:stretch>
            <a:fillRect/>
          </a:stretch>
        </p:blipFill>
        <p:spPr bwMode="auto">
          <a:xfrm>
            <a:off x="6439437" y="502275"/>
            <a:ext cx="5701047" cy="5782615"/>
          </a:xfrm>
          <a:prstGeom prst="rect">
            <a:avLst/>
          </a:prstGeom>
          <a:noFill/>
          <a:ln>
            <a:noFill/>
          </a:ln>
        </p:spPr>
      </p:pic>
    </p:spTree>
    <p:extLst>
      <p:ext uri="{BB962C8B-B14F-4D97-AF65-F5344CB8AC3E}">
        <p14:creationId xmlns:p14="http://schemas.microsoft.com/office/powerpoint/2010/main" val="19387102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4546" y="206063"/>
            <a:ext cx="6078829" cy="6529588"/>
          </a:xfrm>
        </p:spPr>
        <p:txBody>
          <a:bodyPr>
            <a:normAutofit/>
          </a:bodyPr>
          <a:lstStyle/>
          <a:p>
            <a:pPr algn="just"/>
            <a:r>
              <a:rPr lang="en-GB" sz="2800" dirty="0" smtClean="0">
                <a:solidFill>
                  <a:srgbClr val="0070C0"/>
                </a:solidFill>
              </a:rPr>
              <a:t>C7, Communicating segment</a:t>
            </a:r>
            <a:r>
              <a:rPr lang="en-GB" sz="2800" dirty="0" smtClean="0"/>
              <a:t>: </a:t>
            </a:r>
            <a:r>
              <a:rPr lang="en-GB" sz="2800" dirty="0"/>
              <a:t>From the proximal origin of the posterior communicating artery to the internal carotid </a:t>
            </a:r>
            <a:r>
              <a:rPr lang="en-GB" sz="2800" dirty="0" smtClean="0"/>
              <a:t>bifurcation. </a:t>
            </a:r>
          </a:p>
          <a:p>
            <a:pPr algn="just"/>
            <a:r>
              <a:rPr lang="en-GB" sz="2800" dirty="0" smtClean="0"/>
              <a:t>Branches include:</a:t>
            </a:r>
          </a:p>
          <a:p>
            <a:pPr marL="457200" indent="-457200" algn="just">
              <a:buFont typeface="Wingdings" panose="05000000000000000000" pitchFamily="2" charset="2"/>
              <a:buChar char="Ø"/>
            </a:pPr>
            <a:r>
              <a:rPr lang="en-GB" sz="2800" dirty="0"/>
              <a:t>P</a:t>
            </a:r>
            <a:r>
              <a:rPr lang="en-GB" sz="2800" dirty="0" smtClean="0"/>
              <a:t>osterior </a:t>
            </a:r>
            <a:r>
              <a:rPr lang="en-GB" sz="2800" dirty="0"/>
              <a:t>communicating artery, </a:t>
            </a:r>
            <a:endParaRPr lang="en-GB" sz="2800" dirty="0" smtClean="0"/>
          </a:p>
          <a:p>
            <a:pPr marL="457200" indent="-457200" algn="just">
              <a:buFont typeface="Wingdings" panose="05000000000000000000" pitchFamily="2" charset="2"/>
              <a:buChar char="Ø"/>
            </a:pPr>
            <a:r>
              <a:rPr lang="en-GB" sz="2800" dirty="0"/>
              <a:t>A</a:t>
            </a:r>
            <a:r>
              <a:rPr lang="en-GB" sz="2800" dirty="0" smtClean="0"/>
              <a:t>nterior </a:t>
            </a:r>
            <a:r>
              <a:rPr lang="en-GB" sz="2800" dirty="0"/>
              <a:t>choroidal artery, </a:t>
            </a:r>
            <a:endParaRPr lang="en-GB" sz="2800" dirty="0" smtClean="0"/>
          </a:p>
          <a:p>
            <a:pPr marL="457200" indent="-457200" algn="just">
              <a:buFont typeface="Wingdings" panose="05000000000000000000" pitchFamily="2" charset="2"/>
              <a:buChar char="Ø"/>
            </a:pPr>
            <a:r>
              <a:rPr lang="en-GB" sz="2800" dirty="0"/>
              <a:t>A</a:t>
            </a:r>
            <a:r>
              <a:rPr lang="en-GB" sz="2800" dirty="0" smtClean="0"/>
              <a:t>nterior </a:t>
            </a:r>
            <a:r>
              <a:rPr lang="en-GB" sz="2800" dirty="0"/>
              <a:t>cerebral artery</a:t>
            </a:r>
            <a:r>
              <a:rPr lang="en-GB" sz="2800" dirty="0" smtClean="0"/>
              <a:t>, </a:t>
            </a:r>
          </a:p>
          <a:p>
            <a:pPr marL="457200" indent="-457200" algn="just">
              <a:buFont typeface="Wingdings" panose="05000000000000000000" pitchFamily="2" charset="2"/>
              <a:buChar char="Ø"/>
            </a:pPr>
            <a:r>
              <a:rPr lang="en-GB" sz="2800" dirty="0"/>
              <a:t>M</a:t>
            </a:r>
            <a:r>
              <a:rPr lang="en-GB" sz="2800" dirty="0" smtClean="0"/>
              <a:t>iddle </a:t>
            </a:r>
            <a:r>
              <a:rPr lang="en-GB" sz="2800" dirty="0"/>
              <a:t>cerebral artery.</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4054" y="476517"/>
            <a:ext cx="5659056" cy="5022761"/>
          </a:xfrm>
          <a:prstGeom prst="rect">
            <a:avLst/>
          </a:prstGeom>
        </p:spPr>
      </p:pic>
    </p:spTree>
    <p:extLst>
      <p:ext uri="{BB962C8B-B14F-4D97-AF65-F5344CB8AC3E}">
        <p14:creationId xmlns:p14="http://schemas.microsoft.com/office/powerpoint/2010/main" val="39292043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50" y="540913"/>
            <a:ext cx="6439436" cy="560230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9214" y="824248"/>
            <a:ext cx="5234048" cy="5203066"/>
          </a:xfrm>
          <a:prstGeom prst="rect">
            <a:avLst/>
          </a:prstGeom>
        </p:spPr>
      </p:pic>
    </p:spTree>
    <p:extLst>
      <p:ext uri="{BB962C8B-B14F-4D97-AF65-F5344CB8AC3E}">
        <p14:creationId xmlns:p14="http://schemas.microsoft.com/office/powerpoint/2010/main" val="35962522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0609" y="218941"/>
            <a:ext cx="11552350" cy="6375042"/>
          </a:xfrm>
        </p:spPr>
        <p:txBody>
          <a:bodyPr>
            <a:normAutofit fontScale="92500"/>
          </a:bodyPr>
          <a:lstStyle/>
          <a:p>
            <a:pPr algn="just"/>
            <a:r>
              <a:rPr lang="en-GB" sz="3200" dirty="0">
                <a:solidFill>
                  <a:srgbClr val="0070C0"/>
                </a:solidFill>
              </a:rPr>
              <a:t>Clinical Significance: </a:t>
            </a:r>
          </a:p>
          <a:p>
            <a:pPr lvl="0" algn="just"/>
            <a:r>
              <a:rPr lang="en-GB" sz="3200" dirty="0">
                <a:solidFill>
                  <a:srgbClr val="FF0000"/>
                </a:solidFill>
              </a:rPr>
              <a:t>Stroke and TIA: </a:t>
            </a:r>
            <a:r>
              <a:rPr lang="en-GB" sz="3200" dirty="0"/>
              <a:t>Due to its vital role in supplying the brain, blockages or narrowing (stenosis) of the ICA from atherosclerosis can lead to transient ischemic attacks (TIAs) or stroke. </a:t>
            </a:r>
          </a:p>
          <a:p>
            <a:pPr algn="just"/>
            <a:r>
              <a:rPr lang="en-GB" sz="3200" dirty="0" smtClean="0">
                <a:solidFill>
                  <a:srgbClr val="FF0000"/>
                </a:solidFill>
              </a:rPr>
              <a:t>Atherosclerosis</a:t>
            </a:r>
            <a:r>
              <a:rPr lang="en-GB" sz="3200" dirty="0">
                <a:solidFill>
                  <a:srgbClr val="FF0000"/>
                </a:solidFill>
              </a:rPr>
              <a:t>: </a:t>
            </a:r>
            <a:r>
              <a:rPr lang="en-GB" sz="3200" dirty="0"/>
              <a:t>It is a common site for atherosclerosis, where plaque builds up, narrowing the artery and reducing blood flow to the brain. </a:t>
            </a:r>
          </a:p>
          <a:p>
            <a:pPr algn="just"/>
            <a:r>
              <a:rPr lang="en-GB" sz="3200" dirty="0" smtClean="0">
                <a:solidFill>
                  <a:srgbClr val="FF0000"/>
                </a:solidFill>
              </a:rPr>
              <a:t>Aneurysm</a:t>
            </a:r>
            <a:r>
              <a:rPr lang="en-GB" sz="3200" dirty="0">
                <a:solidFill>
                  <a:srgbClr val="FF0000"/>
                </a:solidFill>
              </a:rPr>
              <a:t>:</a:t>
            </a:r>
            <a:r>
              <a:rPr lang="en-GB" sz="3200" dirty="0"/>
              <a:t> The artery can develop an aneurysm, a weak spot that bulges and can rupture. </a:t>
            </a:r>
            <a:endParaRPr lang="en-GB" sz="3200" dirty="0" smtClean="0"/>
          </a:p>
          <a:p>
            <a:pPr algn="just"/>
            <a:r>
              <a:rPr lang="en-GB" sz="3200" dirty="0">
                <a:solidFill>
                  <a:srgbClr val="FF0000"/>
                </a:solidFill>
              </a:rPr>
              <a:t>Carotid artery disease </a:t>
            </a:r>
            <a:r>
              <a:rPr lang="en-GB" sz="3200" dirty="0"/>
              <a:t>is a disorder of the common carotid artery or either of its main divisions. It </a:t>
            </a:r>
            <a:r>
              <a:rPr lang="en-GB" sz="3200"/>
              <a:t>occurs </a:t>
            </a:r>
            <a:r>
              <a:rPr lang="en-GB" sz="3200" smtClean="0"/>
              <a:t>when </a:t>
            </a:r>
            <a:r>
              <a:rPr lang="en-GB" sz="3200" dirty="0"/>
              <a:t>growths start to form in these major arteries and limit the amount of blood that flows to the head and neck region. This ailment can become extremely serious, because it can cause ischemia to vital organs such as the brain and it also increases the risk of clot formation.</a:t>
            </a:r>
          </a:p>
          <a:p>
            <a:endParaRPr lang="en-GB" dirty="0"/>
          </a:p>
        </p:txBody>
      </p:sp>
    </p:spTree>
    <p:extLst>
      <p:ext uri="{BB962C8B-B14F-4D97-AF65-F5344CB8AC3E}">
        <p14:creationId xmlns:p14="http://schemas.microsoft.com/office/powerpoint/2010/main" val="26060986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TotalTime>
  <Words>1262</Words>
  <Application>Microsoft Office PowerPoint</Application>
  <PresentationFormat>Widescreen</PresentationFormat>
  <Paragraphs>52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Wingdings</vt:lpstr>
      <vt:lpstr>Office Theme</vt:lpstr>
      <vt:lpstr>Carotid artery pathway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Carotid artery pathway</dc:title>
  <dc:creator>Microsoft</dc:creator>
  <cp:lastModifiedBy>Microsoft</cp:lastModifiedBy>
  <cp:revision>42</cp:revision>
  <dcterms:created xsi:type="dcterms:W3CDTF">2025-09-11T11:59:26Z</dcterms:created>
  <dcterms:modified xsi:type="dcterms:W3CDTF">2025-09-12T09:45:42Z</dcterms:modified>
</cp:coreProperties>
</file>