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9144000"/>
  <p:embeddedFontLst>
    <p:embeddedFont>
      <p:font typeface="Garamon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iL60MiLXKh5Ve7InSEcAlqU5YD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aramond-regular.fntdata"/><Relationship Id="rId20" Type="http://schemas.openxmlformats.org/officeDocument/2006/relationships/slide" Target="slides/slide16.xml"/><Relationship Id="rId42" Type="http://schemas.openxmlformats.org/officeDocument/2006/relationships/font" Target="fonts/Garamond-italic.fntdata"/><Relationship Id="rId41" Type="http://schemas.openxmlformats.org/officeDocument/2006/relationships/font" Target="fonts/Garamond-bold.fntdata"/><Relationship Id="rId22" Type="http://schemas.openxmlformats.org/officeDocument/2006/relationships/slide" Target="slides/slide18.xml"/><Relationship Id="rId44" Type="http://customschemas.google.com/relationships/presentationmetadata" Target="metadata"/><Relationship Id="rId21" Type="http://schemas.openxmlformats.org/officeDocument/2006/relationships/slide" Target="slides/slide17.xml"/><Relationship Id="rId43" Type="http://schemas.openxmlformats.org/officeDocument/2006/relationships/font" Target="fonts/Garamond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7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descr="HD-PanelTitleR1.png" id="18" name="Google Shape;18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37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20" name="Google Shape;2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21" name="Google Shape;21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7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7" name="Google Shape;27;p37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3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9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0"/>
          <p:cNvSpPr txBox="1"/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" type="body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4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5" name="Google Shape;45;p40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41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4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" type="body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0" name="Google Shape;50;p41"/>
          <p:cNvSpPr txBox="1"/>
          <p:nvPr>
            <p:ph idx="2" type="body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" type="body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7" name="Google Shape;57;p42"/>
          <p:cNvSpPr txBox="1"/>
          <p:nvPr>
            <p:ph idx="2" type="body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8" name="Google Shape;58;p42"/>
          <p:cNvSpPr txBox="1"/>
          <p:nvPr>
            <p:ph idx="3" type="body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9" name="Google Shape;59;p42"/>
          <p:cNvSpPr txBox="1"/>
          <p:nvPr>
            <p:ph idx="4" type="body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3" name="Google Shape;63;p42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3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9" name="Google Shape;69;p43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4"/>
          <p:cNvSpPr txBox="1"/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" type="body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2" type="body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74" name="Google Shape;74;p4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7" name="Google Shape;77;p44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/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5"/>
          <p:cNvSpPr/>
          <p:nvPr>
            <p:ph idx="2" type="pic"/>
          </p:nvPr>
        </p:nvSpPr>
        <p:spPr>
          <a:xfrm>
            <a:off x="8094831" y="1041400"/>
            <a:ext cx="3063347" cy="47752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1" name="Google Shape;81;p45"/>
          <p:cNvSpPr txBox="1"/>
          <p:nvPr>
            <p:ph idx="1" type="body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2" name="Google Shape;82;p4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6"/>
          <p:cNvSpPr txBox="1"/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6"/>
          <p:cNvSpPr/>
          <p:nvPr>
            <p:ph idx="2" type="pic"/>
          </p:nvPr>
        </p:nvSpPr>
        <p:spPr>
          <a:xfrm>
            <a:off x="1041427" y="1041399"/>
            <a:ext cx="10105972" cy="3335869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8" name="Google Shape;88;p46"/>
          <p:cNvSpPr txBox="1"/>
          <p:nvPr>
            <p:ph idx="1" type="body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9" name="Google Shape;89;p4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7"/>
          <p:cNvSpPr txBox="1"/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7"/>
          <p:cNvSpPr txBox="1"/>
          <p:nvPr>
            <p:ph idx="1" type="body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4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8" name="Google Shape;98;p47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8"/>
          <p:cNvSpPr txBox="1"/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8"/>
          <p:cNvSpPr txBox="1"/>
          <p:nvPr>
            <p:ph idx="1" type="body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2" name="Google Shape;102;p48"/>
          <p:cNvSpPr txBox="1"/>
          <p:nvPr>
            <p:ph idx="2" type="body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4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48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48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48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9"/>
          <p:cNvSpPr txBox="1"/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9"/>
          <p:cNvSpPr txBox="1"/>
          <p:nvPr>
            <p:ph idx="1" type="body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4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0"/>
          <p:cNvSpPr txBox="1"/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0"/>
          <p:cNvSpPr txBox="1"/>
          <p:nvPr>
            <p:ph idx="1" type="body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50"/>
          <p:cNvSpPr txBox="1"/>
          <p:nvPr>
            <p:ph idx="2" type="body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5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2" name="Google Shape;122;p50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50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50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1"/>
          <p:cNvSpPr txBox="1"/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1"/>
          <p:cNvSpPr txBox="1"/>
          <p:nvPr>
            <p:ph idx="1" type="body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51"/>
          <p:cNvSpPr txBox="1"/>
          <p:nvPr>
            <p:ph idx="2" type="body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p5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2" name="Google Shape;132;p51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2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2"/>
          <p:cNvSpPr txBox="1"/>
          <p:nvPr>
            <p:ph idx="1" type="body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36" name="Google Shape;136;p5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9" name="Google Shape;139;p52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3"/>
          <p:cNvSpPr txBox="1"/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3"/>
          <p:cNvSpPr txBox="1"/>
          <p:nvPr>
            <p:ph idx="1" type="body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3" name="Google Shape;143;p5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5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6" name="Google Shape;146;p53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jp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descr="HD-PanelContent.png" id="7" name="Google Shape;7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36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9" name="Google Shape;9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0" name="Google Shape;1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36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i="0" sz="4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36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386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746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60044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4543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83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30835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30835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3083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3083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3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3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" name="Google Shape;15;p3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2235200" y="1871131"/>
            <a:ext cx="8174182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</a:pPr>
            <a:r>
              <a:rPr lang="en-GB"/>
              <a:t>VENOUS DRAINAGE OF HEAD AND NECK</a:t>
            </a:r>
            <a:endParaRPr/>
          </a:p>
        </p:txBody>
      </p:sp>
      <p:sp>
        <p:nvSpPr>
          <p:cNvPr id="152" name="Google Shape;152;p1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20"/>
              <a:buNone/>
            </a:pPr>
            <a:r>
              <a:rPr lang="en-GB" sz="2800"/>
              <a:t>DR OMOTAYO H A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ructure of Vein&#10; Veins are thin walled than arteries.&#10; Large lumen.&#10; Valves, maintain unidirection blood flow.&#10; 3 concentric layers ( tunicae)&#10;1) Tunica intima - innermost layer(endothilial cells &amp;&#10;internal elastic lamina)&#10;2) Tunica media –Middle layer ( contains muscle&#10;tissue, elastic fibres, collagen , external elastic&#10;lamina)&#10;3) Tunica adventitia – outer coat (elastic and collegen&#10;tissue, muscle fibres)&#10; " id="157" name="Google Shape;1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0404" y="604299"/>
            <a:ext cx="9501808" cy="5573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enous supply of head &amp; neck" id="162" name="Google Shape;1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9590" y="556591"/>
            <a:ext cx="7116418" cy="5732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eins of the Head and neck&#10; Venous drainage from the&#10;face is entirely superficial&#10; All the venous drainage&#10;from the head and neck&#10;terminate in the internal&#10;jugular vein which join the&#10;subclavian vein to form the&#10;brachiocephalic vein behind&#10;the medial end of the&#10;clavicle&#10; Two brachiocephalic veins&#10;unite to form superior vena&#10;cava&#10; " id="167" name="Google Shape;1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452" y="787179"/>
            <a:ext cx="9597225" cy="5064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ternal group&#10;a) Internal jugular&#10;b) External jugular&#10;c) Anterior jugular&#10;d) Oblique jugular&#10;e) Posterior external jugular&#10;Internal group&#10;a) Venous sinuses&#10;b) Emissary veins&#10;c) Diploic veins&#10; " id="172" name="Google Shape;1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452" y="1025719"/>
            <a:ext cx="9541565" cy="4675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erficial&#10;External jugular Facial&#10;Superficial temporal&#10;Deep&#10;Pterygoid plexus&#10;Internal jugular&#10; " id="177" name="Google Shape;1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672" y="1089330"/>
            <a:ext cx="9334831" cy="464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enous supply of head &amp; neck"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8355" y="1208599"/>
            <a:ext cx="9843715" cy="4587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eins of the Head and neck&#10;• Internal jugular vein:&#10;• It receive blood from the&#10;brain, face and the neck.&#10;• It emerges through the jugular&#10;foramen,as a continuation of the&#10;sigmoid sinus descend down in&#10;the neck, first behind then lateral&#10;to the internal carotid artery&#10;inside the carotid sheath&#10;• Terminate beneath the triangular&#10;interval between the sternal and&#10;the clavicular head of the&#10;sternocleidomastoid muscle&#10;joining the subclavian vein to&#10;form the brachiocephalic vein&#10; "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699" y="664255"/>
            <a:ext cx="9748299" cy="489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lbs of vein:&#10;a) Superior bulb: located in&#10;jugular fossa on inferior surface&#10;of temporal bone beneath the&#10;floor of middle ear cavity.&#10;b) Inferior bulb: located at the&#10;termination of the vein, lies&#10;beneath the lesser&#10;supraclavicular fossa&#10; "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772" y="1207883"/>
            <a:ext cx="9501808" cy="4866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ations:&#10;a) Superficially&#10;• Sternocleidomastoid&#10;• Posterior belly of digastric&#10;• Superior belly of omohyoid&#10;• Parotid gland&#10;• Styloid process&#10;• Accessory vein&#10;• Posterior auricular artery&#10;• Occipital artery&#10;• Sternocleidomastoid artery&#10;• Lower root of ansa cervicalis&#10;• Infrahyoid muscle&#10;• Anterior jugular vein&#10;• Deep cervical lymph nodes&#10;• Internal carotid artery&#10;• 9th, 10th,11th &amp; 12th nerve&#10; " id="197" name="Google Shape;1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2696" y="1033670"/>
            <a:ext cx="9803958" cy="4715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) Posteriorlly&#10;• Rectus capitis lateralis&#10;• Transverse process of atlas&#10;• Levator scapulae&#10;• Scaleneus medius&#10;• Cervical plaxus&#10;• Scalenus anterior&#10;• Phrenic nerve&#10;• Thyrocervical trunk&#10;• Inferior thyroid artery&#10; 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549" y="970060"/>
            <a:ext cx="9811909" cy="48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) Medially&#10;• Internal carotid&#10;artery&#10;• Common carotid&#10;artery&#10;• Vagus nerve&#10; "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598" y="993914"/>
            <a:ext cx="9621079" cy="4834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ibutaries&#10;1. Inferior petrosal sinus&#10;2. Pharyngeal veins&#10;3. Common facial vein&#10;4. Lingual vein&#10;5. Superior thyroid vein&#10;6. Kocher vein&#10;7. Occipital vein&#10;8. Thoracic duct (left)&#10;9. lymphatic duct (right)&#10; " id="212" name="Google Shape;2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6306" y="985963"/>
            <a:ext cx="9430247" cy="4834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munications&#10;1. With external jugular by oblique jugular&#10;2. With cavernous sinus by inferior petrosal sinus&#10; "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501" y="1073426"/>
            <a:ext cx="9613127" cy="4754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PLIED ANATOMY:&#10;1. Infection from middle ear spreads to IJV&#10;2. Surgical removal of deep cervical nodes can puncture&#10;IJV&#10;3. Easy accessibility between two heads of&#10;sternocleidomastoid muscle for introduction of&#10;cannula&#10;4. Thrombophlebitis can occur by spread of infection in&#10;caverous sinus&#10;5. Systolic thrill felt over the vein in mitral stenosis&#10;6. During CCF dilatation of vein occur&#10;7. Queckenstedt’s test – to find out block in CSF&#10;cerculation the test is perform during lumbar puncture&#10; "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4257" y="914400"/>
            <a:ext cx="9533614" cy="4945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ugular venous pulse (JVP)&#10;• Determine activity of&#10;atrium&#10;• Seen better then felt&#10;• Preferable over EJV&#10;• Elevation of JVP indicative&#10;of cardiac failure&#10;Hepato Jugular reflex&#10;• Elicited by deep compression&#10;of right lobe of liver&#10; "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647" y="985962"/>
            <a:ext cx="9692640" cy="486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) Facial (anterior facial vein)&#10;• Origin – junction of veins of forehead and nose&#10;• Upper part – angular vein&#10;book&#10; "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209" y="946205"/>
            <a:ext cx="9716494" cy="488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gular vein receives:&#10;1. Frontal vein&#10;(anterior parts of&#10;scalp)&#10;2. Supraorbital vein&#10;(eyebrows)&#10;3. Superior&#10;ophthalmic vein&#10;(opens into&#10;cavernous sinus)&#10; "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186" y="1041621"/>
            <a:ext cx="9422295" cy="4643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stomosis of facial vein&#10; " id="242" name="Google Shape;2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7624" y="1009816"/>
            <a:ext cx="9454101" cy="467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plied anatomy:&#10;A. Facial vein is common source of bleeding following&#10;surgery involving posterior vestibule lateral to&#10;mandible&#10;B. Infection from face can spread in a retrograde direction&#10;and cause thrombosis of the cavernous sinus. This is&#10;specially occur in presence of infection in upper lip and&#10;lower part of nose. Called dangerous area of the face.&#10;Dangerous area of the face.&#10; " id="247" name="Google Shape;2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8354" y="922351"/>
            <a:ext cx="9700591" cy="496956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 flipH="1">
            <a:off x="4460701" y="5329382"/>
            <a:ext cx="4341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DANGEROUS AREA OF FACE</a:t>
            </a:r>
            <a:endParaRPr b="1"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) Lingual vein&#10; The lingual veins begin on the&#10;dorsum, sides, and under&#10;surface of&#10;the tongue, and, passing&#10;backward along the course of&#10;the lingual artery, end in&#10;the internal jugular vein.&#10; Drains tongue and&#10;sublingual region&#10; Three branches&#10;a) Dorsal lingual veins&#10;b) Deep lingual veins&#10;c) Sublingual vein&#10; 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1565" y="868219"/>
            <a:ext cx="9541162" cy="4839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 Variations:&#10;1. Mostly drains into common facial vein&#10;2. In others – open into IJV and some into common&#10;facial vein&#10;3. Veins from pharynx often join lingual vein&#10; " id="258" name="Google Shape;2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4691" y="1080655"/>
            <a:ext cx="9430327" cy="4608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) Retromandibular Vein&#10;• Retromandibular vein:&#10;• formed by the union of&#10;superficial temporal and&#10;maxillary vein from the&#10;pterygoid plexus&#10;• passes downwards in the&#10;substance of the parotid&#10;gland emerging from its&#10;lower border &amp; divide into&#10;two divisions&#10; "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963" y="1080655"/>
            <a:ext cx="9735127" cy="464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GB">
                <a:solidFill>
                  <a:srgbClr val="00B050"/>
                </a:solidFill>
              </a:rPr>
              <a:t>Anterior division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GB"/>
              <a:t>Join the facial vein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GB">
                <a:solidFill>
                  <a:srgbClr val="00B050"/>
                </a:solidFill>
              </a:rPr>
              <a:t>Posterior division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GB"/>
              <a:t>Pierces the deep fascia and join the </a:t>
            </a:r>
            <a:r>
              <a:rPr lang="en-GB">
                <a:solidFill>
                  <a:srgbClr val="C00000"/>
                </a:solidFill>
              </a:rPr>
              <a:t>posterior auricular </a:t>
            </a:r>
            <a:r>
              <a:rPr lang="en-GB"/>
              <a:t>to form the </a:t>
            </a:r>
            <a:r>
              <a:rPr lang="en-GB">
                <a:solidFill>
                  <a:srgbClr val="C00000"/>
                </a:solidFill>
              </a:rPr>
              <a:t>external jugular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GB"/>
              <a:t>It empties into the </a:t>
            </a:r>
            <a:r>
              <a:rPr lang="en-GB">
                <a:solidFill>
                  <a:srgbClr val="C00000"/>
                </a:solidFill>
              </a:rPr>
              <a:t>subclavian vein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) Superficial temporal vein&#10;•It begins on the side and vertex of&#10;the skull in a plexus which&#10;communicates with the frontal vein&#10;and supraorbital vein, with the&#10;corresponding vein of the opposite&#10;side, and with the posterior auricular&#10;vein and occipital vein.&#10;•From this network frontal and&#10;parietal branches arise, and unite&#10;above the zygomatic arch to form&#10;the trunk of the vein, which is joined&#10;by the middle temporal&#10;vein emerging from the temporalis&#10;muscle.&#10; "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163" y="1034474"/>
            <a:ext cx="9328727" cy="476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 It then crosses the posterior root of the zygomatic&#10;arch, enters the substance of the parotid gland, and&#10;unites with the internal maxillary vein to form&#10;the posterior facial vein.&#10;• It drains the lateral scalp&#10;• It drain into and form the retromandibular vein with&#10;the maxillary vein&#10; " id="279" name="Google Shape;2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3455" y="1089891"/>
            <a:ext cx="8571346" cy="4599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) Maxillary vein&#10;• It begins in the infratemporal fossa&#10;•It collects blood from the pterygoid&#10;Plexus&#10;•Through the pterygoid plexus It&#10;receives the middle meningeal,&#10;posterior superior alveolar, inferior&#10;alveolar and other veins from the&#10;nose and palate (areas served by&#10;The maxillary artery)&#10;•After that it merges with the&#10;superficial temporal vein to form&#10;the retromandibular vein&#10; " id="284" name="Google Shape;2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7127" y="1052945"/>
            <a:ext cx="8793018" cy="4655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) Posterior auricular vein&#10;•The posterior auricular&#10;vein begins upon the side of the&#10;head, in a plexus which&#10;communicates with the&#10;tributaries of the occipital&#10;vein and superficial temporal&#10;veins.&#10;•It descends behind&#10;the auricula, and joins the&#10;posterior division of&#10;the posterior facial vein to form&#10;the external jugular.&#10; "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400" y="1099127"/>
            <a:ext cx="9134764" cy="4664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) Occipital vein&#10; The occipital vein begins&#10;as a plexus at the posterior&#10;aspect of the scalp from&#10;the external occipital&#10;protuberance and superior&#10;nuchal line to the back part&#10;of the vertex of the skull.&#10; From the plexus emerges a&#10;single vessel, which pierces&#10;the cranial attachment of&#10;the Trapezius and, dipping&#10;into the venous plexus of&#10;thesuboccipital&#10;triangle, joins the deep&#10;cervical and vertebral veins.&#10; " id="294" name="Google Shape;29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872" y="997527"/>
            <a:ext cx="9116291" cy="4738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ains major part of face &amp; scalp&#10;•Begins behind the angle of the&#10;mandible by the union of the posterior&#10;auricular and posterior division of&#10;the retromandibular veins.&#10;•It descend obliquely, deep to the&#10;platysma, receive the posterior external&#10;jugular vein pierce the deep fascia just&#10;above the clavicle and drain into the&#10;subclavian vein&#10; " id="299" name="Google Shape;2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7818" y="1136073"/>
            <a:ext cx="9254837" cy="447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ibutaries:&#10; Formative&#10; Occipital vein&#10; Oblique jugular&#10; Posterior external jugular&#10; Terminal&#10; Transverse cervical&#10; anterior jugular&#10; Suprascapular vein&#10; " id="304" name="Google Shape;30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7127" y="1108364"/>
            <a:ext cx="8931564" cy="4479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ibutaries:&#10; Formative&#10; Occipital vein&#10; Oblique jugular&#10; Posterior external jugular&#10; Terminal&#10; Transverse cervical&#10; anterior jugular&#10; Suprascapular vein&#10; " id="309" name="Google Shape;30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7054" y="1099127"/>
            <a:ext cx="8986981" cy="4719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plied anatomy&#10;a) Injury to the vein cause air embolism&#10;b) Vein becomes dilated above compression level during&#10;Valselva’s manoevre&#10;c) Vene puncture performed on this vein&#10;d) Surgical division of sternocleidomastoid muscle requires&#10;special care of the vein&#10;e) Increased venous pressure indicates congestive cardiac&#10;failure&#10; " id="314" name="Google Shape;3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1709" y="1145309"/>
            <a:ext cx="8903855" cy="443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•start below the chin, pass&#10;beneath the platysma to the&#10;suprasternal notch.&#10;•Pierce the deep fascia and is&#10;connected to the other side&#10;by an anastomosing vein the&#10;jugular arch&#10;•angle laterally to pass deep&#10;to sternocleidomastoid and&#10;open in the external&#10; " id="319" name="Google Shape;3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927" y="1274618"/>
            <a:ext cx="9199418" cy="4405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ibutaries:&#10;1. Skin&#10;2. Superficial tissues of neck&#10;Applied anatomy:&#10;1. Special care required to&#10;preserve the vein during&#10;surgical treatment&#10;of wry neck&#10; " id="324" name="Google Shape;32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218" y="1062182"/>
            <a:ext cx="8986982" cy="4747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2024-11-01T09:06:27Z</dcterms:created>
  <dc:creator>Microsoft account</dc:creator>
</cp:coreProperties>
</file>