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fntdata" ContentType="application/x-fontdata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67.xml" ContentType="application/vnd.openxmlformats-officedocument.presentationml.slide+xml"/>
  <Override PartName="/ppt/notesSlides/notesSlide67.xml" ContentType="application/vnd.openxmlformats-officedocument.presentationml.notesSlide+xml"/>
  <Override PartName="/ppt/slides/slide68.xml" ContentType="application/vnd.openxmlformats-officedocument.presentationml.slide+xml"/>
  <Override PartName="/ppt/notesSlides/notesSlide68.xml" ContentType="application/vnd.openxmlformats-officedocument.presentationml.notesSlide+xml"/>
  <Override PartName="/ppt/slides/slide69.xml" ContentType="application/vnd.openxmlformats-officedocument.presentationml.slide+xml"/>
  <Override PartName="/ppt/notesSlides/notesSlide69.xml" ContentType="application/vnd.openxmlformats-officedocument.presentationml.notesSlide+xml"/>
  <Override PartName="/ppt/slides/slide70.xml" ContentType="application/vnd.openxmlformats-officedocument.presentationml.slide+xml"/>
  <Override PartName="/ppt/notesSlides/notesSlide70.xml" ContentType="application/vnd.openxmlformats-officedocument.presentationml.notesSlide+xml"/>
  <Override PartName="/ppt/slides/slide71.xml" ContentType="application/vnd.openxmlformats-officedocument.presentationml.slide+xml"/>
  <Override PartName="/ppt/notesSlides/notesSlide71.xml" ContentType="application/vnd.openxmlformats-officedocument.presentationml.notesSlide+xml"/>
  <Override PartName="/ppt/slides/slide72.xml" ContentType="application/vnd.openxmlformats-officedocument.presentationml.slide+xml"/>
  <Override PartName="/ppt/notesSlides/notesSlide72.xml" ContentType="application/vnd.openxmlformats-officedocument.presentationml.notesSlide+xml"/>
  <Override PartName="/ppt/slides/slide73.xml" ContentType="application/vnd.openxmlformats-officedocument.presentationml.slide+xml"/>
  <Override PartName="/ppt/notesSlides/notesSlide73.xml" ContentType="application/vnd.openxmlformats-officedocument.presentationml.notesSlide+xml"/>
  <Override PartName="/ppt/slides/slide74.xml" ContentType="application/vnd.openxmlformats-officedocument.presentationml.slide+xml"/>
  <Override PartName="/ppt/notesSlides/notesSlide74.xml" ContentType="application/vnd.openxmlformats-officedocument.presentationml.notesSlide+xml"/>
  <Override PartName="/ppt/slides/slide75.xml" ContentType="application/vnd.openxmlformats-officedocument.presentationml.slide+xml"/>
  <Override PartName="/ppt/notesSlides/notesSlide75.xml" ContentType="application/vnd.openxmlformats-officedocument.presentationml.notesSlide+xml"/>
  <Override PartName="/ppt/slides/slide76.xml" ContentType="application/vnd.openxmlformats-officedocument.presentationml.slide+xml"/>
  <Override PartName="/ppt/notesSlides/notesSlide76.xml" ContentType="application/vnd.openxmlformats-officedocument.presentationml.notesSlide+xml"/>
  <Override PartName="/ppt/slides/slide77.xml" ContentType="application/vnd.openxmlformats-officedocument.presentationml.slide+xml"/>
  <Override PartName="/ppt/notesSlides/notesSlide77.xml" ContentType="application/vnd.openxmlformats-officedocument.presentationml.notesSlide+xml"/>
  <Override PartName="/ppt/slides/slide78.xml" ContentType="application/vnd.openxmlformats-officedocument.presentationml.slide+xml"/>
  <Override PartName="/ppt/notesSlides/notesSlide78.xml" ContentType="application/vnd.openxmlformats-officedocument.presentationml.notesSlide+xml"/>
  <Override PartName="/ppt/slides/slide79.xml" ContentType="application/vnd.openxmlformats-officedocument.presentationml.slide+xml"/>
  <Override PartName="/ppt/notesSlides/notesSlide79.xml" ContentType="application/vnd.openxmlformats-officedocument.presentationml.notesSlide+xml"/>
  <Override PartName="/ppt/slides/slide80.xml" ContentType="application/vnd.openxmlformats-officedocument.presentationml.slide+xml"/>
  <Override PartName="/ppt/notesSlides/notesSlide80.xml" ContentType="application/vnd.openxmlformats-officedocument.presentationml.notesSlide+xml"/>
  <Override PartName="/ppt/slides/slide81.xml" ContentType="application/vnd.openxmlformats-officedocument.presentationml.slide+xml"/>
  <Override PartName="/ppt/notesSlides/notesSlide81.xml" ContentType="application/vnd.openxmlformats-officedocument.presentationml.notesSlide+xml"/>
  <Override PartName="/ppt/slides/slide82.xml" ContentType="application/vnd.openxmlformats-officedocument.presentationml.slide+xml"/>
  <Override PartName="/ppt/notesSlides/notesSlide82.xml" ContentType="application/vnd.openxmlformats-officedocument.presentationml.notesSlide+xml"/>
  <Override PartName="/ppt/slides/slide83.xml" ContentType="application/vnd.openxmlformats-officedocument.presentationml.slide+xml"/>
  <Override PartName="/ppt/notesSlides/notesSlide83.xml" ContentType="application/vnd.openxmlformats-officedocument.presentationml.notes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autoCompressPictures="0" embedTrueTypeFonts="1" saveSubsetFonts="1" strictFirstAndLastChars="0">
  <p:sldMasterIdLst>
    <p:sldMasterId id="2147483648" r:id="rId1"/>
  </p:sldMasterIdLst>
  <p:notesMasterIdLst>
    <p:notesMasterId r:id="rId2"/>
  </p:notes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8" r:id="rId53"/>
    <p:sldId id="309" r:id="rId54"/>
    <p:sldId id="310" r:id="rId55"/>
    <p:sldId id="311" r:id="rId56"/>
    <p:sldId id="312" r:id="rId57"/>
    <p:sldId id="313" r:id="rId58"/>
    <p:sldId id="314" r:id="rId59"/>
    <p:sldId id="315" r:id="rId60"/>
    <p:sldId id="316" r:id="rId61"/>
    <p:sldId id="317" r:id="rId62"/>
    <p:sldId id="318" r:id="rId63"/>
    <p:sldId id="319" r:id="rId64"/>
    <p:sldId id="320" r:id="rId65"/>
    <p:sldId id="321" r:id="rId66"/>
    <p:sldId id="322" r:id="rId67"/>
    <p:sldId id="323" r:id="rId68"/>
    <p:sldId id="324" r:id="rId69"/>
    <p:sldId id="325" r:id="rId70"/>
    <p:sldId id="326" r:id="rId71"/>
    <p:sldId id="327" r:id="rId72"/>
    <p:sldId id="328" r:id="rId73"/>
    <p:sldId id="329" r:id="rId74"/>
    <p:sldId id="330" r:id="rId75"/>
    <p:sldId id="331" r:id="rId76"/>
    <p:sldId id="332" r:id="rId77"/>
    <p:sldId id="333" r:id="rId78"/>
    <p:sldId id="334" r:id="rId79"/>
    <p:sldId id="335" r:id="rId80"/>
    <p:sldId id="336" r:id="rId81"/>
    <p:sldId id="337" r:id="rId82"/>
    <p:sldId id="338" r:id="rId83"/>
    <p:sldId id="339" r:id="rId84"/>
    <p:sldId id="340" r:id="rId85"/>
  </p:sldIdLst>
  <p:sldSz cy="6858000" cx="9144000"/>
  <p:notesSz cx="6858000" cy="9144000"/>
  <p:embeddedFontLst>
    <p:embeddedFont>
      <p:font typeface="Arial Black"/>
      <p:regular r:id="rId86"/>
    </p:embeddedFont>
  </p:embeddedFontLst>
  <p:defaultTextStyle>
    <a:defPPr algn="l" lvl="0" marR="0" rtl="0">
      <a:lnSpc>
        <a:spcPct val="100000"/>
      </a:lnSpc>
      <a:spcBef>
        <a:spcPts val="0"/>
      </a:spcBef>
      <a:spcAft>
        <a:spcPts val="0"/>
      </a:spcAft>
    </a:defPPr>
    <a:lvl1pPr algn="l" lvl="0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1pPr>
    <a:lvl2pPr algn="l" lvl="1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2pPr>
    <a:lvl3pPr algn="l" lvl="2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3pPr>
    <a:lvl4pPr algn="l" lvl="3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4pPr>
    <a:lvl5pPr algn="l" lvl="4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5pPr>
    <a:lvl6pPr algn="l" lvl="5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6pPr>
    <a:lvl7pPr algn="l" lvl="6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7pPr>
    <a:lvl8pPr algn="l" lvl="7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8pPr>
    <a:lvl9pPr algn="l" lvl="8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>
  <a:tblStyle styleId="{71D96600-F101-4052-B59B-C13BEE91108C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 b="off" i="off"/>
      <a:tcStyle>
        <a:fill>
          <a:solidFill>
            <a:srgbClr val="CFD7E7"/>
          </a:solidFill>
        </a:fill>
      </a:tcStyle>
    </a:band1H>
    <a:band2H>
      <a:tcTxStyle b="off" i="off"/>
      <a:tcStyle>
        <a:fill>
          <a:solidFill>
            <a:srgbClr val="CFD7E7"/>
          </a:solidFill>
        </a:fill>
      </a:tcStyle>
    </a:band2H>
    <a:band1V>
      <a:tcTxStyle b="off" i="off"/>
      <a:tcStyle>
        <a:fill>
          <a:solidFill>
            <a:srgbClr val="CFD7E7"/>
          </a:solidFill>
        </a:fill>
      </a:tcStyle>
    </a:band1V>
    <a:band2V>
      <a:tcTxStyle b="off" i="off"/>
      <a:tcStyle>
        <a:fill>
          <a:solidFill>
            <a:srgbClr val="CFD7E7"/>
          </a:solidFill>
        </a:fill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seCell>
    <a:swCell>
      <a:tcTxStyle b="off" i="off"/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neCell>
    <a:nwCell>
      <a:tcTxStyle b="off" i="off"/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nwCell>
  </a:tblStyle>
</a:tblStyleLst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160"/>
        <p:guide pos="2880"/>
      </p:guideLst>
    </p:cSldViewPr>
  </p:slideViewPr>
  <p:gridSpacing cx="0" cy="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slide" Target="slides/slide37.xml"/><Relationship Id="rId40" Type="http://schemas.openxmlformats.org/officeDocument/2006/relationships/slide" Target="slides/slide38.xml"/><Relationship Id="rId41" Type="http://schemas.openxmlformats.org/officeDocument/2006/relationships/slide" Target="slides/slide39.xml"/><Relationship Id="rId42" Type="http://schemas.openxmlformats.org/officeDocument/2006/relationships/slide" Target="slides/slide40.xml"/><Relationship Id="rId43" Type="http://schemas.openxmlformats.org/officeDocument/2006/relationships/slide" Target="slides/slide41.xml"/><Relationship Id="rId44" Type="http://schemas.openxmlformats.org/officeDocument/2006/relationships/slide" Target="slides/slide42.xml"/><Relationship Id="rId45" Type="http://schemas.openxmlformats.org/officeDocument/2006/relationships/slide" Target="slides/slide43.xml"/><Relationship Id="rId46" Type="http://schemas.openxmlformats.org/officeDocument/2006/relationships/slide" Target="slides/slide44.xml"/><Relationship Id="rId47" Type="http://schemas.openxmlformats.org/officeDocument/2006/relationships/slide" Target="slides/slide45.xml"/><Relationship Id="rId48" Type="http://schemas.openxmlformats.org/officeDocument/2006/relationships/slide" Target="slides/slide46.xml"/><Relationship Id="rId49" Type="http://schemas.openxmlformats.org/officeDocument/2006/relationships/slide" Target="slides/slide47.xml"/><Relationship Id="rId50" Type="http://schemas.openxmlformats.org/officeDocument/2006/relationships/slide" Target="slides/slide48.xml"/><Relationship Id="rId51" Type="http://schemas.openxmlformats.org/officeDocument/2006/relationships/slide" Target="slides/slide49.xml"/><Relationship Id="rId52" Type="http://schemas.openxmlformats.org/officeDocument/2006/relationships/slide" Target="slides/slide50.xml"/><Relationship Id="rId53" Type="http://schemas.openxmlformats.org/officeDocument/2006/relationships/slide" Target="slides/slide51.xml"/><Relationship Id="rId54" Type="http://schemas.openxmlformats.org/officeDocument/2006/relationships/slide" Target="slides/slide52.xml"/><Relationship Id="rId55" Type="http://schemas.openxmlformats.org/officeDocument/2006/relationships/slide" Target="slides/slide53.xml"/><Relationship Id="rId56" Type="http://schemas.openxmlformats.org/officeDocument/2006/relationships/slide" Target="slides/slide54.xml"/><Relationship Id="rId57" Type="http://schemas.openxmlformats.org/officeDocument/2006/relationships/slide" Target="slides/slide55.xml"/><Relationship Id="rId58" Type="http://schemas.openxmlformats.org/officeDocument/2006/relationships/slide" Target="slides/slide56.xml"/><Relationship Id="rId59" Type="http://schemas.openxmlformats.org/officeDocument/2006/relationships/slide" Target="slides/slide57.xml"/><Relationship Id="rId60" Type="http://schemas.openxmlformats.org/officeDocument/2006/relationships/slide" Target="slides/slide58.xml"/><Relationship Id="rId61" Type="http://schemas.openxmlformats.org/officeDocument/2006/relationships/slide" Target="slides/slide59.xml"/><Relationship Id="rId62" Type="http://schemas.openxmlformats.org/officeDocument/2006/relationships/slide" Target="slides/slide60.xml"/><Relationship Id="rId63" Type="http://schemas.openxmlformats.org/officeDocument/2006/relationships/slide" Target="slides/slide61.xml"/><Relationship Id="rId64" Type="http://schemas.openxmlformats.org/officeDocument/2006/relationships/slide" Target="slides/slide62.xml"/><Relationship Id="rId65" Type="http://schemas.openxmlformats.org/officeDocument/2006/relationships/slide" Target="slides/slide63.xml"/><Relationship Id="rId66" Type="http://schemas.openxmlformats.org/officeDocument/2006/relationships/slide" Target="slides/slide64.xml"/><Relationship Id="rId67" Type="http://schemas.openxmlformats.org/officeDocument/2006/relationships/slide" Target="slides/slide65.xml"/><Relationship Id="rId68" Type="http://schemas.openxmlformats.org/officeDocument/2006/relationships/slide" Target="slides/slide66.xml"/><Relationship Id="rId69" Type="http://schemas.openxmlformats.org/officeDocument/2006/relationships/slide" Target="slides/slide67.xml"/><Relationship Id="rId70" Type="http://schemas.openxmlformats.org/officeDocument/2006/relationships/slide" Target="slides/slide68.xml"/><Relationship Id="rId71" Type="http://schemas.openxmlformats.org/officeDocument/2006/relationships/slide" Target="slides/slide69.xml"/><Relationship Id="rId72" Type="http://schemas.openxmlformats.org/officeDocument/2006/relationships/slide" Target="slides/slide70.xml"/><Relationship Id="rId73" Type="http://schemas.openxmlformats.org/officeDocument/2006/relationships/slide" Target="slides/slide71.xml"/><Relationship Id="rId74" Type="http://schemas.openxmlformats.org/officeDocument/2006/relationships/slide" Target="slides/slide72.xml"/><Relationship Id="rId75" Type="http://schemas.openxmlformats.org/officeDocument/2006/relationships/slide" Target="slides/slide73.xml"/><Relationship Id="rId76" Type="http://schemas.openxmlformats.org/officeDocument/2006/relationships/slide" Target="slides/slide74.xml"/><Relationship Id="rId77" Type="http://schemas.openxmlformats.org/officeDocument/2006/relationships/slide" Target="slides/slide75.xml"/><Relationship Id="rId78" Type="http://schemas.openxmlformats.org/officeDocument/2006/relationships/slide" Target="slides/slide76.xml"/><Relationship Id="rId79" Type="http://schemas.openxmlformats.org/officeDocument/2006/relationships/slide" Target="slides/slide77.xml"/><Relationship Id="rId80" Type="http://schemas.openxmlformats.org/officeDocument/2006/relationships/slide" Target="slides/slide78.xml"/><Relationship Id="rId81" Type="http://schemas.openxmlformats.org/officeDocument/2006/relationships/slide" Target="slides/slide79.xml"/><Relationship Id="rId82" Type="http://schemas.openxmlformats.org/officeDocument/2006/relationships/slide" Target="slides/slide80.xml"/><Relationship Id="rId83" Type="http://schemas.openxmlformats.org/officeDocument/2006/relationships/slide" Target="slides/slide81.xml"/><Relationship Id="rId84" Type="http://schemas.openxmlformats.org/officeDocument/2006/relationships/slide" Target="slides/slide82.xml"/><Relationship Id="rId85" Type="http://schemas.openxmlformats.org/officeDocument/2006/relationships/slide" Target="slides/slide83.xml"/><Relationship Id="rId86" Type="http://schemas.openxmlformats.org/officeDocument/2006/relationships/font" Target="fonts/font1.fntdata"/><Relationship Id="rId87" Type="http://schemas.openxmlformats.org/officeDocument/2006/relationships/tableStyles" Target="tableStyles.xml"/><Relationship Id="rId88" Type="http://schemas.openxmlformats.org/officeDocument/2006/relationships/presProps" Target="presProps.xml"/><Relationship Id="rId89" Type="http://schemas.openxmlformats.org/officeDocument/2006/relationships/viewProps" Target="viewProps.xml"/><Relationship Id="rId90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</p:bgPr>
    </p:bg>
    <p:spTree>
      <p:nvGrpSpPr>
        <p:cNvPr id="357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38" name="Google Shape;3;n"/>
          <p:cNvSpPr txBox="1"/>
          <p:nvPr>
            <p:ph type="hdr" idx="2"/>
          </p:nvPr>
        </p:nvSpPr>
        <p:spPr>
          <a:xfrm>
            <a:off x="0" y="0"/>
            <a:ext cx="2971800" cy="45720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lstStyle>
            <a:lvl1pPr algn="l" lv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12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algn="l" lvl="1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algn="l" lvl="2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algn="l" lvl="3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algn="l" lvl="4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algn="l" lvl="5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algn="l" lvl="6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algn="l" lvl="7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algn="l" lvl="8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49039" name="Google Shape;4;n"/>
          <p:cNvSpPr txBox="1"/>
          <p:nvPr>
            <p:ph type="dt" idx="10"/>
          </p:nvPr>
        </p:nvSpPr>
        <p:spPr>
          <a:xfrm>
            <a:off x="3884613" y="0"/>
            <a:ext cx="2971800" cy="45720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lstStyle>
            <a:lvl1pPr algn="r" lv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12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algn="l" lvl="1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algn="l" lvl="2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algn="l" lvl="3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algn="l" lvl="4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algn="l" lvl="5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algn="l" lvl="6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algn="l" lvl="7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algn="l" lvl="8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49040" name="Google Shape;5;n"/>
          <p:cNvSpPr/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9041" name="Google Shape;6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/>
          </a:bodyPr>
          <a:lstStyle>
            <a:lvl1pPr algn="l" indent="-228600" lvl="0" marL="45720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12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algn="l" indent="-228600" lvl="1" marL="91440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12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algn="l" indent="-228600" lvl="2" marL="137160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12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algn="l" indent="-228600" lvl="3" marL="182880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12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algn="l" indent="-228600" lvl="4" marL="228600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12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algn="l" indent="-228600" lvl="5" marL="274320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12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algn="l" indent="-228600" lvl="6" marL="320040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12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algn="l" indent="-228600" lvl="7" marL="365760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12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algn="l" indent="-228600" lvl="8" marL="411480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12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49042" name="Google Shape;7;n"/>
          <p:cNvSpPr txBox="1"/>
          <p:nvPr>
            <p:ph type="ftr" idx="11"/>
          </p:nvPr>
        </p:nvSpPr>
        <p:spPr>
          <a:xfrm>
            <a:off x="0" y="8685213"/>
            <a:ext cx="2971800" cy="457200"/>
          </a:xfrm>
          <a:prstGeom prst="rect"/>
          <a:noFill/>
          <a:ln>
            <a:noFill/>
          </a:ln>
        </p:spPr>
        <p:txBody>
          <a:bodyPr anchor="b" anchorCtr="0" bIns="45700" lIns="91425" rIns="91425" spcFirstLastPara="1" tIns="45700" wrap="square">
            <a:noAutofit/>
          </a:bodyPr>
          <a:lstStyle>
            <a:lvl1pPr algn="l" lv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12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algn="l" lvl="1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algn="l" lvl="2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algn="l" lvl="3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algn="l" lvl="4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algn="l" lvl="5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algn="l" lvl="6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algn="l" lvl="7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algn="l" lvl="8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49043" name="Google Shape;8;n"/>
          <p:cNvSpPr txBox="1"/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/>
          <a:noFill/>
          <a:ln>
            <a:noFill/>
          </a:ln>
        </p:spPr>
        <p:txBody>
          <a:bodyPr anchor="b" anchorCtr="0" bIns="45700" lIns="91425" rIns="91425" spcFirstLastPara="1" tIns="45700" wrap="square">
            <a:noAutofit/>
          </a:bodyPr>
          <a:p>
            <a:pPr algn="r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cap="none" sz="1200" i="0" lang="en-AU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cap="none" sz="1200" i="0" strike="noStrike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hlink="hlink" folHlink="folHlink"/>
  <p:notesStyle>
    <a:defPPr algn="l" lvl="0" marR="0" rtl="0">
      <a:lnSpc>
        <a:spcPct val="100000"/>
      </a:lnSpc>
      <a:spcBef>
        <a:spcPts val="0"/>
      </a:spcBef>
      <a:spcAft>
        <a:spcPts val="0"/>
      </a:spcAft>
    </a:defPPr>
    <a:lvl1pPr algn="l" lvl="0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1pPr>
    <a:lvl2pPr algn="l" lvl="1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2pPr>
    <a:lvl3pPr algn="l" lvl="2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3pPr>
    <a:lvl4pPr algn="l" lvl="3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4pPr>
    <a:lvl5pPr algn="l" lvl="4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5pPr>
    <a:lvl6pPr algn="l" lvl="5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6pPr>
    <a:lvl7pPr algn="l" lvl="6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7pPr>
    <a:lvl8pPr algn="l" lvl="7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8pPr>
    <a:lvl9pPr algn="l" lvl="8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"1.0" encoding="UTF-8" standalone="yes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"1.0" encoding="UTF-8" standalone="yes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5.xml.rels><?xml version="1.0" encoding="UTF-8" standalone="yes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6.xml.rels><?xml version="1.0" encoding="UTF-8" standalone="yes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17.xml.rels><?xml version="1.0" encoding="UTF-8" standalone="yes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_rels/notesSlide18.xml.rels><?xml version="1.0" encoding="UTF-8" standalone="yes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</file>

<file path=ppt/notesSlides/_rels/notesSlide19.xml.rels><?xml version="1.0" encoding="UTF-8" standalone="yes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</file>

<file path=ppt/notesSlides/_rels/notesSlide20.xml.rels><?xml version="1.0" encoding="UTF-8" standalone="yes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</Relationships>
</file>

<file path=ppt/notesSlides/_rels/notesSlide21.xml.rels><?xml version="1.0" encoding="UTF-8" standalone="yes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</Relationships>
</file>

<file path=ppt/notesSlides/_rels/notesSlide22.xml.rels><?xml version="1.0" encoding="UTF-8" standalone="yes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</Relationships>
</file>

<file path=ppt/notesSlides/_rels/notesSlide23.xml.rels><?xml version="1.0" encoding="UTF-8" standalone="yes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</Relationships>
</file>

<file path=ppt/notesSlides/_rels/notesSlide24.xml.rels><?xml version="1.0" encoding="UTF-8" standalone="yes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</Relationships>
</file>

<file path=ppt/notesSlides/_rels/notesSlide25.xml.rels><?xml version="1.0" encoding="UTF-8" standalone="yes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</Relationships>
</file>

<file path=ppt/notesSlides/_rels/notesSlide26.xml.rels><?xml version="1.0" encoding="UTF-8" standalone="yes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</Relationships>
</file>

<file path=ppt/notesSlides/_rels/notesSlide27.xml.rels><?xml version="1.0" encoding="UTF-8" standalone="yes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</Relationships>
</file>

<file path=ppt/notesSlides/_rels/notesSlide28.xml.rels><?xml version="1.0" encoding="UTF-8" standalone="yes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</Relationships>
</file>

<file path=ppt/notesSlides/_rels/notesSlide29.xml.rels><?xml version="1.0" encoding="UTF-8" standalone="yes"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</Relationships>
</file>

<file path=ppt/notesSlides/_rels/notesSlide30.xml.rels><?xml version="1.0" encoding="UTF-8" standalone="yes"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</Relationships>
</file>

<file path=ppt/notesSlides/_rels/notesSlide31.xml.rels><?xml version="1.0" encoding="UTF-8" standalone="yes"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</Relationships>
</file>

<file path=ppt/notesSlides/_rels/notesSlide32.xml.rels><?xml version="1.0" encoding="UTF-8" standalone="yes"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</Relationships>
</file>

<file path=ppt/notesSlides/_rels/notesSlide33.xml.rels><?xml version="1.0" encoding="UTF-8" standalone="yes"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</Relationships>
</file>

<file path=ppt/notesSlides/_rels/notesSlide34.xml.rels><?xml version="1.0" encoding="UTF-8" standalone="yes"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</Relationships>
</file>

<file path=ppt/notesSlides/_rels/notesSlide35.xml.rels><?xml version="1.0" encoding="UTF-8" standalone="yes"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</Relationships>
</file>

<file path=ppt/notesSlides/_rels/notesSlide36.xml.rels><?xml version="1.0" encoding="UTF-8" standalone="yes"?>
<Relationships xmlns="http://schemas.openxmlformats.org/package/2006/relationships"><Relationship Id="rId1" Type="http://schemas.openxmlformats.org/officeDocument/2006/relationships/slide" Target="../slides/slide36.xml"/><Relationship Id="rId2" Type="http://schemas.openxmlformats.org/officeDocument/2006/relationships/notesMaster" Target="../notesMasters/notesMaster1.xml"/></Relationships>
</file>

<file path=ppt/notesSlides/_rels/notesSlide37.xml.rels><?xml version="1.0" encoding="UTF-8" standalone="yes"?>
<Relationships xmlns="http://schemas.openxmlformats.org/package/2006/relationships"><Relationship Id="rId1" Type="http://schemas.openxmlformats.org/officeDocument/2006/relationships/slide" Target="../slides/slide37.xml"/><Relationship Id="rId2" Type="http://schemas.openxmlformats.org/officeDocument/2006/relationships/notesMaster" Target="../notesMasters/notesMaster1.xml"/></Relationships>
</file>

<file path=ppt/notesSlides/_rels/notesSlide38.xml.rels><?xml version="1.0" encoding="UTF-8" standalone="yes"?>
<Relationships xmlns="http://schemas.openxmlformats.org/package/2006/relationships"><Relationship Id="rId1" Type="http://schemas.openxmlformats.org/officeDocument/2006/relationships/slide" Target="../slides/slide38.xml"/><Relationship Id="rId2" Type="http://schemas.openxmlformats.org/officeDocument/2006/relationships/notesMaster" Target="../notesMasters/notesMaster1.xml"/></Relationships>
</file>

<file path=ppt/notesSlides/_rels/notesSlide39.xml.rels><?xml version="1.0" encoding="UTF-8" standalone="yes"?>
<Relationships xmlns="http://schemas.openxmlformats.org/package/2006/relationships"><Relationship Id="rId1" Type="http://schemas.openxmlformats.org/officeDocument/2006/relationships/slide" Target="../slides/slide39.xml"/><Relationship Id="rId2" Type="http://schemas.openxmlformats.org/officeDocument/2006/relationships/notesMaster" Target="../notesMasters/notesMaster1.xml"/></Relationships>
</file>

<file path=ppt/notesSlides/_rels/notesSlide40.xml.rels><?xml version="1.0" encoding="UTF-8" standalone="yes"?>
<Relationships xmlns="http://schemas.openxmlformats.org/package/2006/relationships"><Relationship Id="rId1" Type="http://schemas.openxmlformats.org/officeDocument/2006/relationships/slide" Target="../slides/slide40.xml"/><Relationship Id="rId2" Type="http://schemas.openxmlformats.org/officeDocument/2006/relationships/notesMaster" Target="../notesMasters/notesMaster1.xml"/></Relationships>
</file>

<file path=ppt/notesSlides/_rels/notesSlide41.xml.rels><?xml version="1.0" encoding="UTF-8" standalone="yes"?>
<Relationships xmlns="http://schemas.openxmlformats.org/package/2006/relationships"><Relationship Id="rId1" Type="http://schemas.openxmlformats.org/officeDocument/2006/relationships/slide" Target="../slides/slide41.xml"/><Relationship Id="rId2" Type="http://schemas.openxmlformats.org/officeDocument/2006/relationships/notesMaster" Target="../notesMasters/notesMaster1.xml"/></Relationships>
</file>

<file path=ppt/notesSlides/_rels/notesSlide42.xml.rels><?xml version="1.0" encoding="UTF-8" standalone="yes"?>
<Relationships xmlns="http://schemas.openxmlformats.org/package/2006/relationships"><Relationship Id="rId1" Type="http://schemas.openxmlformats.org/officeDocument/2006/relationships/slide" Target="../slides/slide42.xml"/><Relationship Id="rId2" Type="http://schemas.openxmlformats.org/officeDocument/2006/relationships/notesMaster" Target="../notesMasters/notesMaster1.xml"/></Relationships>
</file>

<file path=ppt/notesSlides/_rels/notesSlide43.xml.rels><?xml version="1.0" encoding="UTF-8" standalone="yes"?>
<Relationships xmlns="http://schemas.openxmlformats.org/package/2006/relationships"><Relationship Id="rId1" Type="http://schemas.openxmlformats.org/officeDocument/2006/relationships/slide" Target="../slides/slide43.xml"/><Relationship Id="rId2" Type="http://schemas.openxmlformats.org/officeDocument/2006/relationships/notesMaster" Target="../notesMasters/notesMaster1.xml"/></Relationships>
</file>

<file path=ppt/notesSlides/_rels/notesSlide44.xml.rels><?xml version="1.0" encoding="UTF-8" standalone="yes"?>
<Relationships xmlns="http://schemas.openxmlformats.org/package/2006/relationships"><Relationship Id="rId1" Type="http://schemas.openxmlformats.org/officeDocument/2006/relationships/slide" Target="../slides/slide44.xml"/><Relationship Id="rId2" Type="http://schemas.openxmlformats.org/officeDocument/2006/relationships/notesMaster" Target="../notesMasters/notesMaster1.xml"/></Relationships>
</file>

<file path=ppt/notesSlides/_rels/notesSlide45.xml.rels><?xml version="1.0" encoding="UTF-8" standalone="yes"?>
<Relationships xmlns="http://schemas.openxmlformats.org/package/2006/relationships"><Relationship Id="rId1" Type="http://schemas.openxmlformats.org/officeDocument/2006/relationships/slide" Target="../slides/slide45.xml"/><Relationship Id="rId2" Type="http://schemas.openxmlformats.org/officeDocument/2006/relationships/notesMaster" Target="../notesMasters/notesMaster1.xml"/></Relationships>
</file>

<file path=ppt/notesSlides/_rels/notesSlide46.xml.rels><?xml version="1.0" encoding="UTF-8" standalone="yes"?>
<Relationships xmlns="http://schemas.openxmlformats.org/package/2006/relationships"><Relationship Id="rId1" Type="http://schemas.openxmlformats.org/officeDocument/2006/relationships/slide" Target="../slides/slide46.xml"/><Relationship Id="rId2" Type="http://schemas.openxmlformats.org/officeDocument/2006/relationships/notesMaster" Target="../notesMasters/notesMaster1.xml"/></Relationships>
</file>

<file path=ppt/notesSlides/_rels/notesSlide47.xml.rels><?xml version="1.0" encoding="UTF-8" standalone="yes"?>
<Relationships xmlns="http://schemas.openxmlformats.org/package/2006/relationships"><Relationship Id="rId1" Type="http://schemas.openxmlformats.org/officeDocument/2006/relationships/slide" Target="../slides/slide47.xml"/><Relationship Id="rId2" Type="http://schemas.openxmlformats.org/officeDocument/2006/relationships/notesMaster" Target="../notesMasters/notesMaster1.xml"/></Relationships>
</file>

<file path=ppt/notesSlides/_rels/notesSlide48.xml.rels><?xml version="1.0" encoding="UTF-8" standalone="yes"?>
<Relationships xmlns="http://schemas.openxmlformats.org/package/2006/relationships"><Relationship Id="rId1" Type="http://schemas.openxmlformats.org/officeDocument/2006/relationships/slide" Target="../slides/slide48.xml"/><Relationship Id="rId2" Type="http://schemas.openxmlformats.org/officeDocument/2006/relationships/notesMaster" Target="../notesMasters/notesMaster1.xml"/></Relationships>
</file>

<file path=ppt/notesSlides/_rels/notesSlide49.xml.rels><?xml version="1.0" encoding="UTF-8" standalone="yes"?>
<Relationships xmlns="http://schemas.openxmlformats.org/package/2006/relationships"><Relationship Id="rId1" Type="http://schemas.openxmlformats.org/officeDocument/2006/relationships/slide" Target="../slides/slide49.xml"/><Relationship Id="rId2" Type="http://schemas.openxmlformats.org/officeDocument/2006/relationships/notesMaster" Target="../notesMasters/notesMaster1.xml"/></Relationships>
</file>

<file path=ppt/notesSlides/_rels/notesSlide50.xml.rels><?xml version="1.0" encoding="UTF-8" standalone="yes"?>
<Relationships xmlns="http://schemas.openxmlformats.org/package/2006/relationships"><Relationship Id="rId1" Type="http://schemas.openxmlformats.org/officeDocument/2006/relationships/slide" Target="../slides/slide50.xml"/><Relationship Id="rId2" Type="http://schemas.openxmlformats.org/officeDocument/2006/relationships/notesMaster" Target="../notesMasters/notesMaster1.xml"/></Relationships>
</file>

<file path=ppt/notesSlides/_rels/notesSlide51.xml.rels><?xml version="1.0" encoding="UTF-8" standalone="yes"?>
<Relationships xmlns="http://schemas.openxmlformats.org/package/2006/relationships"><Relationship Id="rId1" Type="http://schemas.openxmlformats.org/officeDocument/2006/relationships/slide" Target="../slides/slide51.xml"/><Relationship Id="rId2" Type="http://schemas.openxmlformats.org/officeDocument/2006/relationships/notesMaster" Target="../notesMasters/notesMaster1.xml"/></Relationships>
</file>

<file path=ppt/notesSlides/_rels/notesSlide52.xml.rels><?xml version="1.0" encoding="UTF-8" standalone="yes"?>
<Relationships xmlns="http://schemas.openxmlformats.org/package/2006/relationships"><Relationship Id="rId1" Type="http://schemas.openxmlformats.org/officeDocument/2006/relationships/slide" Target="../slides/slide52.xml"/><Relationship Id="rId2" Type="http://schemas.openxmlformats.org/officeDocument/2006/relationships/notesMaster" Target="../notesMasters/notesMaster1.xml"/></Relationships>
</file>

<file path=ppt/notesSlides/_rels/notesSlide53.xml.rels><?xml version="1.0" encoding="UTF-8" standalone="yes"?>
<Relationships xmlns="http://schemas.openxmlformats.org/package/2006/relationships"><Relationship Id="rId1" Type="http://schemas.openxmlformats.org/officeDocument/2006/relationships/slide" Target="../slides/slide53.xml"/><Relationship Id="rId2" Type="http://schemas.openxmlformats.org/officeDocument/2006/relationships/notesMaster" Target="../notesMasters/notesMaster1.xml"/></Relationships>
</file>

<file path=ppt/notesSlides/_rels/notesSlide54.xml.rels><?xml version="1.0" encoding="UTF-8" standalone="yes"?>
<Relationships xmlns="http://schemas.openxmlformats.org/package/2006/relationships"><Relationship Id="rId1" Type="http://schemas.openxmlformats.org/officeDocument/2006/relationships/slide" Target="../slides/slide54.xml"/><Relationship Id="rId2" Type="http://schemas.openxmlformats.org/officeDocument/2006/relationships/notesMaster" Target="../notesMasters/notesMaster1.xml"/></Relationships>
</file>

<file path=ppt/notesSlides/_rels/notesSlide55.xml.rels><?xml version="1.0" encoding="UTF-8" standalone="yes"?>
<Relationships xmlns="http://schemas.openxmlformats.org/package/2006/relationships"><Relationship Id="rId1" Type="http://schemas.openxmlformats.org/officeDocument/2006/relationships/slide" Target="../slides/slide55.xml"/><Relationship Id="rId2" Type="http://schemas.openxmlformats.org/officeDocument/2006/relationships/notesMaster" Target="../notesMasters/notesMaster1.xml"/></Relationships>
</file>

<file path=ppt/notesSlides/_rels/notesSlide56.xml.rels><?xml version="1.0" encoding="UTF-8" standalone="yes"?>
<Relationships xmlns="http://schemas.openxmlformats.org/package/2006/relationships"><Relationship Id="rId1" Type="http://schemas.openxmlformats.org/officeDocument/2006/relationships/slide" Target="../slides/slide56.xml"/><Relationship Id="rId2" Type="http://schemas.openxmlformats.org/officeDocument/2006/relationships/notesMaster" Target="../notesMasters/notesMaster1.xml"/></Relationships>
</file>

<file path=ppt/notesSlides/_rels/notesSlide57.xml.rels><?xml version="1.0" encoding="UTF-8" standalone="yes"?>
<Relationships xmlns="http://schemas.openxmlformats.org/package/2006/relationships"><Relationship Id="rId1" Type="http://schemas.openxmlformats.org/officeDocument/2006/relationships/slide" Target="../slides/slide57.xml"/><Relationship Id="rId2" Type="http://schemas.openxmlformats.org/officeDocument/2006/relationships/notesMaster" Target="../notesMasters/notesMaster1.xml"/></Relationships>
</file>

<file path=ppt/notesSlides/_rels/notesSlide58.xml.rels><?xml version="1.0" encoding="UTF-8" standalone="yes"?>
<Relationships xmlns="http://schemas.openxmlformats.org/package/2006/relationships"><Relationship Id="rId1" Type="http://schemas.openxmlformats.org/officeDocument/2006/relationships/slide" Target="../slides/slide58.xml"/><Relationship Id="rId2" Type="http://schemas.openxmlformats.org/officeDocument/2006/relationships/notesMaster" Target="../notesMasters/notesMaster1.xml"/></Relationships>
</file>

<file path=ppt/notesSlides/_rels/notesSlide59.xml.rels><?xml version="1.0" encoding="UTF-8" standalone="yes"?>
<Relationships xmlns="http://schemas.openxmlformats.org/package/2006/relationships"><Relationship Id="rId1" Type="http://schemas.openxmlformats.org/officeDocument/2006/relationships/slide" Target="../slides/slide59.xml"/><Relationship Id="rId2" Type="http://schemas.openxmlformats.org/officeDocument/2006/relationships/notesMaster" Target="../notesMasters/notesMaster1.xml"/></Relationships>
</file>

<file path=ppt/notesSlides/_rels/notesSlide60.xml.rels><?xml version="1.0" encoding="UTF-8" standalone="yes"?>
<Relationships xmlns="http://schemas.openxmlformats.org/package/2006/relationships"><Relationship Id="rId1" Type="http://schemas.openxmlformats.org/officeDocument/2006/relationships/slide" Target="../slides/slide60.xml"/><Relationship Id="rId2" Type="http://schemas.openxmlformats.org/officeDocument/2006/relationships/notesMaster" Target="../notesMasters/notesMaster1.xml"/></Relationships>
</file>

<file path=ppt/notesSlides/_rels/notesSlide61.xml.rels><?xml version="1.0" encoding="UTF-8" standalone="yes"?>
<Relationships xmlns="http://schemas.openxmlformats.org/package/2006/relationships"><Relationship Id="rId1" Type="http://schemas.openxmlformats.org/officeDocument/2006/relationships/slide" Target="../slides/slide61.xml"/><Relationship Id="rId2" Type="http://schemas.openxmlformats.org/officeDocument/2006/relationships/notesMaster" Target="../notesMasters/notesMaster1.xml"/></Relationships>
</file>

<file path=ppt/notesSlides/_rels/notesSlide62.xml.rels><?xml version="1.0" encoding="UTF-8" standalone="yes"?>
<Relationships xmlns="http://schemas.openxmlformats.org/package/2006/relationships"><Relationship Id="rId1" Type="http://schemas.openxmlformats.org/officeDocument/2006/relationships/slide" Target="../slides/slide62.xml"/><Relationship Id="rId2" Type="http://schemas.openxmlformats.org/officeDocument/2006/relationships/notesMaster" Target="../notesMasters/notesMaster1.xml"/></Relationships>
</file>

<file path=ppt/notesSlides/_rels/notesSlide63.xml.rels><?xml version="1.0" encoding="UTF-8" standalone="yes"?>
<Relationships xmlns="http://schemas.openxmlformats.org/package/2006/relationships"><Relationship Id="rId1" Type="http://schemas.openxmlformats.org/officeDocument/2006/relationships/slide" Target="../slides/slide63.xml"/><Relationship Id="rId2" Type="http://schemas.openxmlformats.org/officeDocument/2006/relationships/notesMaster" Target="../notesMasters/notesMaster1.xml"/></Relationships>
</file>

<file path=ppt/notesSlides/_rels/notesSlide64.xml.rels><?xml version="1.0" encoding="UTF-8" standalone="yes"?>
<Relationships xmlns="http://schemas.openxmlformats.org/package/2006/relationships"><Relationship Id="rId1" Type="http://schemas.openxmlformats.org/officeDocument/2006/relationships/slide" Target="../slides/slide64.xml"/><Relationship Id="rId2" Type="http://schemas.openxmlformats.org/officeDocument/2006/relationships/notesMaster" Target="../notesMasters/notesMaster1.xml"/></Relationships>
</file>

<file path=ppt/notesSlides/_rels/notesSlide65.xml.rels><?xml version="1.0" encoding="UTF-8" standalone="yes"?>
<Relationships xmlns="http://schemas.openxmlformats.org/package/2006/relationships"><Relationship Id="rId1" Type="http://schemas.openxmlformats.org/officeDocument/2006/relationships/slide" Target="../slides/slide65.xml"/><Relationship Id="rId2" Type="http://schemas.openxmlformats.org/officeDocument/2006/relationships/notesMaster" Target="../notesMasters/notesMaster1.xml"/></Relationships>
</file>

<file path=ppt/notesSlides/_rels/notesSlide66.xml.rels><?xml version="1.0" encoding="UTF-8" standalone="yes"?>
<Relationships xmlns="http://schemas.openxmlformats.org/package/2006/relationships"><Relationship Id="rId1" Type="http://schemas.openxmlformats.org/officeDocument/2006/relationships/slide" Target="../slides/slide66.xml"/><Relationship Id="rId2" Type="http://schemas.openxmlformats.org/officeDocument/2006/relationships/notesMaster" Target="../notesMasters/notesMaster1.xml"/></Relationships>
</file>

<file path=ppt/notesSlides/_rels/notesSlide67.xml.rels><?xml version="1.0" encoding="UTF-8" standalone="yes"?>
<Relationships xmlns="http://schemas.openxmlformats.org/package/2006/relationships"><Relationship Id="rId1" Type="http://schemas.openxmlformats.org/officeDocument/2006/relationships/slide" Target="../slides/slide67.xml"/><Relationship Id="rId2" Type="http://schemas.openxmlformats.org/officeDocument/2006/relationships/notesMaster" Target="../notesMasters/notesMaster1.xml"/></Relationships>
</file>

<file path=ppt/notesSlides/_rels/notesSlide68.xml.rels><?xml version="1.0" encoding="UTF-8" standalone="yes"?>
<Relationships xmlns="http://schemas.openxmlformats.org/package/2006/relationships"><Relationship Id="rId1" Type="http://schemas.openxmlformats.org/officeDocument/2006/relationships/slide" Target="../slides/slide68.xml"/><Relationship Id="rId2" Type="http://schemas.openxmlformats.org/officeDocument/2006/relationships/notesMaster" Target="../notesMasters/notesMaster1.xml"/></Relationships>
</file>

<file path=ppt/notesSlides/_rels/notesSlide69.xml.rels><?xml version="1.0" encoding="UTF-8" standalone="yes"?>
<Relationships xmlns="http://schemas.openxmlformats.org/package/2006/relationships"><Relationship Id="rId1" Type="http://schemas.openxmlformats.org/officeDocument/2006/relationships/slide" Target="../slides/slide69.xml"/><Relationship Id="rId2" Type="http://schemas.openxmlformats.org/officeDocument/2006/relationships/notesMaster" Target="../notesMasters/notesMaster1.xml"/></Relationships>
</file>

<file path=ppt/notesSlides/_rels/notesSlide70.xml.rels><?xml version="1.0" encoding="UTF-8" standalone="yes"?>
<Relationships xmlns="http://schemas.openxmlformats.org/package/2006/relationships"><Relationship Id="rId1" Type="http://schemas.openxmlformats.org/officeDocument/2006/relationships/slide" Target="../slides/slide70.xml"/><Relationship Id="rId2" Type="http://schemas.openxmlformats.org/officeDocument/2006/relationships/notesMaster" Target="../notesMasters/notesMaster1.xml"/></Relationships>
</file>

<file path=ppt/notesSlides/_rels/notesSlide71.xml.rels><?xml version="1.0" encoding="UTF-8" standalone="yes"?>
<Relationships xmlns="http://schemas.openxmlformats.org/package/2006/relationships"><Relationship Id="rId1" Type="http://schemas.openxmlformats.org/officeDocument/2006/relationships/slide" Target="../slides/slide71.xml"/><Relationship Id="rId2" Type="http://schemas.openxmlformats.org/officeDocument/2006/relationships/notesMaster" Target="../notesMasters/notesMaster1.xml"/></Relationships>
</file>

<file path=ppt/notesSlides/_rels/notesSlide72.xml.rels><?xml version="1.0" encoding="UTF-8" standalone="yes"?>
<Relationships xmlns="http://schemas.openxmlformats.org/package/2006/relationships"><Relationship Id="rId1" Type="http://schemas.openxmlformats.org/officeDocument/2006/relationships/slide" Target="../slides/slide72.xml"/><Relationship Id="rId2" Type="http://schemas.openxmlformats.org/officeDocument/2006/relationships/notesMaster" Target="../notesMasters/notesMaster1.xml"/></Relationships>
</file>

<file path=ppt/notesSlides/_rels/notesSlide73.xml.rels><?xml version="1.0" encoding="UTF-8" standalone="yes"?>
<Relationships xmlns="http://schemas.openxmlformats.org/package/2006/relationships"><Relationship Id="rId1" Type="http://schemas.openxmlformats.org/officeDocument/2006/relationships/slide" Target="../slides/slide73.xml"/><Relationship Id="rId2" Type="http://schemas.openxmlformats.org/officeDocument/2006/relationships/notesMaster" Target="../notesMasters/notesMaster1.xml"/></Relationships>
</file>

<file path=ppt/notesSlides/_rels/notesSlide74.xml.rels><?xml version="1.0" encoding="UTF-8" standalone="yes"?>
<Relationships xmlns="http://schemas.openxmlformats.org/package/2006/relationships"><Relationship Id="rId1" Type="http://schemas.openxmlformats.org/officeDocument/2006/relationships/slide" Target="../slides/slide74.xml"/><Relationship Id="rId2" Type="http://schemas.openxmlformats.org/officeDocument/2006/relationships/notesMaster" Target="../notesMasters/notesMaster1.xml"/></Relationships>
</file>

<file path=ppt/notesSlides/_rels/notesSlide75.xml.rels><?xml version="1.0" encoding="UTF-8" standalone="yes"?>
<Relationships xmlns="http://schemas.openxmlformats.org/package/2006/relationships"><Relationship Id="rId1" Type="http://schemas.openxmlformats.org/officeDocument/2006/relationships/slide" Target="../slides/slide75.xml"/><Relationship Id="rId2" Type="http://schemas.openxmlformats.org/officeDocument/2006/relationships/notesMaster" Target="../notesMasters/notesMaster1.xml"/></Relationships>
</file>

<file path=ppt/notesSlides/_rels/notesSlide76.xml.rels><?xml version="1.0" encoding="UTF-8" standalone="yes"?>
<Relationships xmlns="http://schemas.openxmlformats.org/package/2006/relationships"><Relationship Id="rId1" Type="http://schemas.openxmlformats.org/officeDocument/2006/relationships/slide" Target="../slides/slide76.xml"/><Relationship Id="rId2" Type="http://schemas.openxmlformats.org/officeDocument/2006/relationships/notesMaster" Target="../notesMasters/notesMaster1.xml"/></Relationships>
</file>

<file path=ppt/notesSlides/_rels/notesSlide77.xml.rels><?xml version="1.0" encoding="UTF-8" standalone="yes"?>
<Relationships xmlns="http://schemas.openxmlformats.org/package/2006/relationships"><Relationship Id="rId1" Type="http://schemas.openxmlformats.org/officeDocument/2006/relationships/slide" Target="../slides/slide77.xml"/><Relationship Id="rId2" Type="http://schemas.openxmlformats.org/officeDocument/2006/relationships/notesMaster" Target="../notesMasters/notesMaster1.xml"/></Relationships>
</file>

<file path=ppt/notesSlides/_rels/notesSlide78.xml.rels><?xml version="1.0" encoding="UTF-8" standalone="yes"?>
<Relationships xmlns="http://schemas.openxmlformats.org/package/2006/relationships"><Relationship Id="rId1" Type="http://schemas.openxmlformats.org/officeDocument/2006/relationships/slide" Target="../slides/slide78.xml"/><Relationship Id="rId2" Type="http://schemas.openxmlformats.org/officeDocument/2006/relationships/notesMaster" Target="../notesMasters/notesMaster1.xml"/></Relationships>
</file>

<file path=ppt/notesSlides/_rels/notesSlide79.xml.rels><?xml version="1.0" encoding="UTF-8" standalone="yes"?>
<Relationships xmlns="http://schemas.openxmlformats.org/package/2006/relationships"><Relationship Id="rId1" Type="http://schemas.openxmlformats.org/officeDocument/2006/relationships/slide" Target="../slides/slide79.xml"/><Relationship Id="rId2" Type="http://schemas.openxmlformats.org/officeDocument/2006/relationships/notesMaster" Target="../notesMasters/notesMaster1.xml"/></Relationships>
</file>

<file path=ppt/notesSlides/_rels/notesSlide80.xml.rels><?xml version="1.0" encoding="UTF-8" standalone="yes"?>
<Relationships xmlns="http://schemas.openxmlformats.org/package/2006/relationships"><Relationship Id="rId1" Type="http://schemas.openxmlformats.org/officeDocument/2006/relationships/slide" Target="../slides/slide80.xml"/><Relationship Id="rId2" Type="http://schemas.openxmlformats.org/officeDocument/2006/relationships/notesMaster" Target="../notesMasters/notesMaster1.xml"/></Relationships>
</file>

<file path=ppt/notesSlides/_rels/notesSlide81.xml.rels><?xml version="1.0" encoding="UTF-8" standalone="yes"?>
<Relationships xmlns="http://schemas.openxmlformats.org/package/2006/relationships"><Relationship Id="rId1" Type="http://schemas.openxmlformats.org/officeDocument/2006/relationships/slide" Target="../slides/slide81.xml"/><Relationship Id="rId2" Type="http://schemas.openxmlformats.org/officeDocument/2006/relationships/notesMaster" Target="../notesMasters/notesMaster1.xml"/></Relationships>
</file>

<file path=ppt/notesSlides/_rels/notesSlide82.xml.rels><?xml version="1.0" encoding="UTF-8" standalone="yes"?>
<Relationships xmlns="http://schemas.openxmlformats.org/package/2006/relationships"><Relationship Id="rId1" Type="http://schemas.openxmlformats.org/officeDocument/2006/relationships/slide" Target="../slides/slide82.xml"/><Relationship Id="rId2" Type="http://schemas.openxmlformats.org/officeDocument/2006/relationships/notesMaster" Target="../notesMasters/notesMaster1.xml"/></Relationships>
</file>

<file path=ppt/notesSlides/_rels/notesSlide83.xml.rels><?xml version="1.0" encoding="UTF-8" standalone="yes"?>
<Relationships xmlns="http://schemas.openxmlformats.org/package/2006/relationships"><Relationship Id="rId1" Type="http://schemas.openxmlformats.org/officeDocument/2006/relationships/slide" Target="../slides/slide83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22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6" name="Google Shape;85;p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algn="l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</a:p>
        </p:txBody>
      </p:sp>
      <p:sp>
        <p:nvSpPr>
          <p:cNvPr id="1048627" name="Google Shape;86;p1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25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0" name="Google Shape;92;p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algn="l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</a:p>
        </p:txBody>
      </p:sp>
      <p:sp>
        <p:nvSpPr>
          <p:cNvPr id="1048631" name="Google Shape;93;p2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28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6" name="Google Shape;98;p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algn="l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</a:p>
        </p:txBody>
      </p:sp>
      <p:sp>
        <p:nvSpPr>
          <p:cNvPr id="1048637" name="Google Shape;99;p3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3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0" name="Google Shape;108;p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algn="l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</a:p>
        </p:txBody>
      </p:sp>
      <p:sp>
        <p:nvSpPr>
          <p:cNvPr id="1048641" name="Google Shape;109;p4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34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5" name="Google Shape;114;p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algn="l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</a:p>
        </p:txBody>
      </p:sp>
      <p:sp>
        <p:nvSpPr>
          <p:cNvPr id="1048646" name="Google Shape;115;p5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37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0" name="Google Shape;121;p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algn="l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</a:p>
        </p:txBody>
      </p:sp>
      <p:sp>
        <p:nvSpPr>
          <p:cNvPr id="1048651" name="Google Shape;122;p6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40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5" name="Google Shape;129;p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algn="l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</a:p>
        </p:txBody>
      </p:sp>
      <p:sp>
        <p:nvSpPr>
          <p:cNvPr id="1048656" name="Google Shape;130;p7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43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9" name="Google Shape;136;p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algn="l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</a:p>
        </p:txBody>
      </p:sp>
      <p:sp>
        <p:nvSpPr>
          <p:cNvPr id="1048660" name="Google Shape;137;p8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46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4" name="Google Shape;142;p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algn="l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</a:p>
        </p:txBody>
      </p:sp>
      <p:sp>
        <p:nvSpPr>
          <p:cNvPr id="1048665" name="Google Shape;143;p9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49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8" name="Google Shape;149;p1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algn="l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</a:p>
        </p:txBody>
      </p:sp>
      <p:sp>
        <p:nvSpPr>
          <p:cNvPr id="1048669" name="Google Shape;150;p10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52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3" name="Google Shape;155;p1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algn="l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</a:p>
        </p:txBody>
      </p:sp>
      <p:sp>
        <p:nvSpPr>
          <p:cNvPr id="1048674" name="Google Shape;156;p11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55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7" name="Google Shape;162;p1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algn="l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</a:p>
        </p:txBody>
      </p:sp>
      <p:sp>
        <p:nvSpPr>
          <p:cNvPr id="1048678" name="Google Shape;163;p12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58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2" name="Google Shape;168;p1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algn="l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</a:p>
        </p:txBody>
      </p:sp>
      <p:sp>
        <p:nvSpPr>
          <p:cNvPr id="1048683" name="Google Shape;169;p13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6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7" name="Google Shape;175;p1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algn="l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</a:p>
        </p:txBody>
      </p:sp>
      <p:sp>
        <p:nvSpPr>
          <p:cNvPr id="1048688" name="Google Shape;176;p14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64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3" name="Google Shape;183;p1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algn="l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</a:p>
        </p:txBody>
      </p:sp>
      <p:sp>
        <p:nvSpPr>
          <p:cNvPr id="1048694" name="Google Shape;184;p15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67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8" name="Google Shape;192;p1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algn="l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</a:p>
        </p:txBody>
      </p:sp>
      <p:sp>
        <p:nvSpPr>
          <p:cNvPr id="1048699" name="Google Shape;193;p16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70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3" name="Google Shape;199;p1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algn="l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</a:p>
        </p:txBody>
      </p:sp>
      <p:sp>
        <p:nvSpPr>
          <p:cNvPr id="1048704" name="Google Shape;200;p17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73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7" name="Google Shape;206;p1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algn="l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</a:p>
        </p:txBody>
      </p:sp>
      <p:sp>
        <p:nvSpPr>
          <p:cNvPr id="1048708" name="Google Shape;207;p18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76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1" name="Google Shape;212;p1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algn="l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</a:p>
        </p:txBody>
      </p:sp>
      <p:sp>
        <p:nvSpPr>
          <p:cNvPr id="1048712" name="Google Shape;213;p19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79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5" name="Google Shape;219;p2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algn="l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</a:p>
        </p:txBody>
      </p:sp>
      <p:sp>
        <p:nvSpPr>
          <p:cNvPr id="1048716" name="Google Shape;220;p20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82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9" name="Google Shape;225;p2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algn="l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</a:p>
        </p:txBody>
      </p:sp>
      <p:sp>
        <p:nvSpPr>
          <p:cNvPr id="1048720" name="Google Shape;226;p21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85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3" name="Google Shape;231;p2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algn="l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</a:p>
        </p:txBody>
      </p:sp>
      <p:sp>
        <p:nvSpPr>
          <p:cNvPr id="1048724" name="Google Shape;232;p22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88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7" name="Google Shape;237;p2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algn="l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</a:p>
        </p:txBody>
      </p:sp>
      <p:sp>
        <p:nvSpPr>
          <p:cNvPr id="1048728" name="Google Shape;238;p23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9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2" name="Google Shape;243;p2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algn="l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</a:p>
        </p:txBody>
      </p:sp>
      <p:sp>
        <p:nvSpPr>
          <p:cNvPr id="1048733" name="Google Shape;244;p24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94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6" name="Google Shape;251;p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algn="l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</a:p>
        </p:txBody>
      </p:sp>
      <p:sp>
        <p:nvSpPr>
          <p:cNvPr id="1048737" name="Google Shape;252;p25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9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1" name="Google Shape;258;p2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algn="l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</a:p>
        </p:txBody>
      </p:sp>
      <p:sp>
        <p:nvSpPr>
          <p:cNvPr id="1048742" name="Google Shape;259;p26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00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6" name="Google Shape;265;p2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algn="l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</a:p>
        </p:txBody>
      </p:sp>
      <p:sp>
        <p:nvSpPr>
          <p:cNvPr id="1048747" name="Google Shape;266;p27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03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0" name="Google Shape;273;p28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8751" name="Google Shape;274;p2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/>
          </a:bodyPr>
          <a:p>
            <a:pPr algn="l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</a:p>
        </p:txBody>
      </p:sp>
      <p:sp>
        <p:nvSpPr>
          <p:cNvPr id="1048752" name="Google Shape;275;p28:notes"/>
          <p:cNvSpPr txBox="1"/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/>
          <a:noFill/>
          <a:ln>
            <a:noFill/>
          </a:ln>
        </p:spPr>
        <p:txBody>
          <a:bodyPr anchor="b" anchorCtr="0" bIns="45700" lIns="91425" rIns="91425" spcFirstLastPara="1" tIns="45700" wrap="square">
            <a:noAutofit/>
          </a:bodyPr>
          <a:p>
            <a:pPr algn="r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AU"/>
              <a:t>‹#›</a:t>
            </a:fld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0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5" name="Google Shape;287;p30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8756" name="Google Shape;288;p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/>
          </a:bodyPr>
          <a:p>
            <a:pPr algn="l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</a:p>
        </p:txBody>
      </p:sp>
      <p:sp>
        <p:nvSpPr>
          <p:cNvPr id="1048757" name="Google Shape;289;p30:notes"/>
          <p:cNvSpPr txBox="1"/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/>
          <a:noFill/>
          <a:ln>
            <a:noFill/>
          </a:ln>
        </p:spPr>
        <p:txBody>
          <a:bodyPr anchor="b" anchorCtr="0" bIns="45700" lIns="91425" rIns="91425" spcFirstLastPara="1" tIns="45700" wrap="square">
            <a:noAutofit/>
          </a:bodyPr>
          <a:p>
            <a:pPr algn="r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AU"/>
              <a:t>‹#›</a:t>
            </a:fld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0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1" name="Google Shape;280;p2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algn="l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</a:p>
        </p:txBody>
      </p:sp>
      <p:sp>
        <p:nvSpPr>
          <p:cNvPr id="1048762" name="Google Shape;281;p29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12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6" name="Google Shape;295;p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algn="l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</a:p>
        </p:txBody>
      </p:sp>
      <p:sp>
        <p:nvSpPr>
          <p:cNvPr id="1048767" name="Google Shape;296;p31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15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1" name="Google Shape;302;p3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algn="l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</a:p>
        </p:txBody>
      </p:sp>
      <p:sp>
        <p:nvSpPr>
          <p:cNvPr id="1048772" name="Google Shape;303;p32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18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6" name="Google Shape;310;p3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algn="l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</a:p>
        </p:txBody>
      </p:sp>
      <p:sp>
        <p:nvSpPr>
          <p:cNvPr id="1048777" name="Google Shape;311;p33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2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1" name="Google Shape;317;p3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algn="l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</a:p>
        </p:txBody>
      </p:sp>
      <p:sp>
        <p:nvSpPr>
          <p:cNvPr id="1048782" name="Google Shape;318;p34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6" name="Google Shape;325;p3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algn="l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</a:p>
        </p:txBody>
      </p:sp>
      <p:sp>
        <p:nvSpPr>
          <p:cNvPr id="1048787" name="Google Shape;326;p35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27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91" name="Google Shape;332;p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algn="l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</a:p>
        </p:txBody>
      </p:sp>
      <p:sp>
        <p:nvSpPr>
          <p:cNvPr id="1048792" name="Google Shape;333;p36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30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96" name="Google Shape;340;p3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algn="l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</a:p>
        </p:txBody>
      </p:sp>
      <p:sp>
        <p:nvSpPr>
          <p:cNvPr id="1048797" name="Google Shape;341;p37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8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6" name="Google Shape;347;p3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algn="l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</a:p>
        </p:txBody>
      </p:sp>
      <p:sp>
        <p:nvSpPr>
          <p:cNvPr id="1048617" name="Google Shape;348;p38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2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7" name="Google Shape;354;p3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algn="l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</a:p>
        </p:txBody>
      </p:sp>
      <p:sp>
        <p:nvSpPr>
          <p:cNvPr id="1048608" name="Google Shape;355;p39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6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7" name="Google Shape;361;p4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algn="l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</a:p>
        </p:txBody>
      </p:sp>
      <p:sp>
        <p:nvSpPr>
          <p:cNvPr id="1048598" name="Google Shape;362;p40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8" name="Google Shape;368;p4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algn="l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</a:p>
        </p:txBody>
      </p:sp>
      <p:sp>
        <p:nvSpPr>
          <p:cNvPr id="1048589" name="Google Shape;369;p41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2" name="Google Shape;374;p4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algn="l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</a:p>
        </p:txBody>
      </p:sp>
      <p:sp>
        <p:nvSpPr>
          <p:cNvPr id="1048593" name="Google Shape;375;p42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2" name="Google Shape;380;p4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algn="l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</a:p>
        </p:txBody>
      </p:sp>
      <p:sp>
        <p:nvSpPr>
          <p:cNvPr id="1048603" name="Google Shape;381;p43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5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1" name="Google Shape;387;p4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algn="l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</a:p>
        </p:txBody>
      </p:sp>
      <p:sp>
        <p:nvSpPr>
          <p:cNvPr id="1048612" name="Google Shape;388;p44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33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1" name="Google Shape;393;p4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algn="l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</a:p>
        </p:txBody>
      </p:sp>
      <p:sp>
        <p:nvSpPr>
          <p:cNvPr id="1048802" name="Google Shape;394;p45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36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6" name="Google Shape;401;p4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algn="l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</a:p>
        </p:txBody>
      </p:sp>
      <p:sp>
        <p:nvSpPr>
          <p:cNvPr id="1048807" name="Google Shape;402;p46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39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11" name="Google Shape;408;p4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algn="l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</a:p>
        </p:txBody>
      </p:sp>
      <p:sp>
        <p:nvSpPr>
          <p:cNvPr id="1048812" name="Google Shape;409;p47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42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16" name="Google Shape;415;p4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algn="l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</a:p>
        </p:txBody>
      </p:sp>
      <p:sp>
        <p:nvSpPr>
          <p:cNvPr id="1048817" name="Google Shape;416;p48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45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1" name="Google Shape;422;p4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algn="l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</a:p>
        </p:txBody>
      </p:sp>
      <p:sp>
        <p:nvSpPr>
          <p:cNvPr id="1048822" name="Google Shape;423;p49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4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6" name="Google Shape;429;p5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algn="l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</a:p>
        </p:txBody>
      </p:sp>
      <p:sp>
        <p:nvSpPr>
          <p:cNvPr id="1048827" name="Google Shape;430;p50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5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31" name="Google Shape;437;p5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algn="l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</a:p>
        </p:txBody>
      </p:sp>
      <p:sp>
        <p:nvSpPr>
          <p:cNvPr id="1048832" name="Google Shape;438;p51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54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36" name="Google Shape;444;p5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algn="l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</a:p>
        </p:txBody>
      </p:sp>
      <p:sp>
        <p:nvSpPr>
          <p:cNvPr id="1048837" name="Google Shape;445;p52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57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41" name="Google Shape;451;p5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algn="l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</a:p>
        </p:txBody>
      </p:sp>
      <p:sp>
        <p:nvSpPr>
          <p:cNvPr id="1048842" name="Google Shape;452;p53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60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45" name="Google Shape;458;p5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algn="l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</a:p>
        </p:txBody>
      </p:sp>
      <p:sp>
        <p:nvSpPr>
          <p:cNvPr id="1048846" name="Google Shape;459;p54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63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50" name="Google Shape;465;p5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algn="l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</a:p>
        </p:txBody>
      </p:sp>
      <p:sp>
        <p:nvSpPr>
          <p:cNvPr id="1048851" name="Google Shape;466;p55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66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55" name="Google Shape;472;p5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algn="l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</a:p>
        </p:txBody>
      </p:sp>
      <p:sp>
        <p:nvSpPr>
          <p:cNvPr id="1048856" name="Google Shape;473;p56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69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60" name="Google Shape;479;p5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algn="l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</a:p>
        </p:txBody>
      </p:sp>
      <p:sp>
        <p:nvSpPr>
          <p:cNvPr id="1048861" name="Google Shape;480;p57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72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65" name="Google Shape;486;p5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algn="l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</a:p>
        </p:txBody>
      </p:sp>
      <p:sp>
        <p:nvSpPr>
          <p:cNvPr id="1048866" name="Google Shape;487;p58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75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70" name="Google Shape;493;p5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algn="l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</a:p>
        </p:txBody>
      </p:sp>
      <p:sp>
        <p:nvSpPr>
          <p:cNvPr id="1048871" name="Google Shape;494;p59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78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75" name="Google Shape;500;p6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algn="l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</a:p>
        </p:txBody>
      </p:sp>
      <p:sp>
        <p:nvSpPr>
          <p:cNvPr id="1048876" name="Google Shape;501;p60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8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80" name="Google Shape;507;p6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algn="l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</a:p>
        </p:txBody>
      </p:sp>
      <p:sp>
        <p:nvSpPr>
          <p:cNvPr id="1048881" name="Google Shape;508;p61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84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85" name="Google Shape;514;p6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algn="l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</a:p>
        </p:txBody>
      </p:sp>
      <p:sp>
        <p:nvSpPr>
          <p:cNvPr id="1048886" name="Google Shape;515;p62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87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90" name="Google Shape;521;p6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algn="l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</a:p>
        </p:txBody>
      </p:sp>
      <p:sp>
        <p:nvSpPr>
          <p:cNvPr id="1048891" name="Google Shape;522;p63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90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95" name="Google Shape;529;p6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algn="l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</a:p>
        </p:txBody>
      </p:sp>
      <p:sp>
        <p:nvSpPr>
          <p:cNvPr id="1048896" name="Google Shape;530;p64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93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00" name="Google Shape;536;p6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algn="l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</a:p>
        </p:txBody>
      </p:sp>
      <p:sp>
        <p:nvSpPr>
          <p:cNvPr id="1048901" name="Google Shape;537;p65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96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05" name="Google Shape;543;p6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algn="l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</a:p>
        </p:txBody>
      </p:sp>
      <p:sp>
        <p:nvSpPr>
          <p:cNvPr id="1048906" name="Google Shape;544;p66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9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11" name="Google Shape;550;p6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algn="l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</a:p>
        </p:txBody>
      </p:sp>
      <p:sp>
        <p:nvSpPr>
          <p:cNvPr id="1048912" name="Google Shape;551;p67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02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15" name="Google Shape;559;p6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algn="l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</a:p>
        </p:txBody>
      </p:sp>
      <p:sp>
        <p:nvSpPr>
          <p:cNvPr id="1048916" name="Google Shape;560;p68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05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20" name="Google Shape;565;p6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algn="l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</a:p>
        </p:txBody>
      </p:sp>
      <p:sp>
        <p:nvSpPr>
          <p:cNvPr id="1048921" name="Google Shape;566;p69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08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25" name="Google Shape;572;p7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algn="l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</a:p>
        </p:txBody>
      </p:sp>
      <p:sp>
        <p:nvSpPr>
          <p:cNvPr id="1048926" name="Google Shape;573;p70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11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29" name="Google Shape;579;p7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algn="l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</a:p>
        </p:txBody>
      </p:sp>
      <p:sp>
        <p:nvSpPr>
          <p:cNvPr id="1048930" name="Google Shape;580;p71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1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34" name="Google Shape;585;p7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algn="l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</a:p>
        </p:txBody>
      </p:sp>
      <p:sp>
        <p:nvSpPr>
          <p:cNvPr id="1048935" name="Google Shape;586;p72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17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39" name="Google Shape;592;p7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algn="l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</a:p>
        </p:txBody>
      </p:sp>
      <p:sp>
        <p:nvSpPr>
          <p:cNvPr id="1048940" name="Google Shape;593;p73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20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44" name="Google Shape;599;p7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algn="l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</a:p>
        </p:txBody>
      </p:sp>
      <p:sp>
        <p:nvSpPr>
          <p:cNvPr id="1048945" name="Google Shape;600;p74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23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49" name="Google Shape;606;p7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algn="l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</a:p>
        </p:txBody>
      </p:sp>
      <p:sp>
        <p:nvSpPr>
          <p:cNvPr id="1048950" name="Google Shape;607;p75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26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54" name="Google Shape;613;p7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algn="l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</a:p>
        </p:txBody>
      </p:sp>
      <p:sp>
        <p:nvSpPr>
          <p:cNvPr id="1048955" name="Google Shape;614;p76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2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59" name="Google Shape;620;p7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algn="l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</a:p>
        </p:txBody>
      </p:sp>
      <p:sp>
        <p:nvSpPr>
          <p:cNvPr id="1048960" name="Google Shape;621;p77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32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64" name="Google Shape;627;p7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algn="l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</a:p>
        </p:txBody>
      </p:sp>
      <p:sp>
        <p:nvSpPr>
          <p:cNvPr id="1048965" name="Google Shape;628;p78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35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69" name="Google Shape;634;p7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algn="l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</a:p>
        </p:txBody>
      </p:sp>
      <p:sp>
        <p:nvSpPr>
          <p:cNvPr id="1048970" name="Google Shape;635;p79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38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74" name="Google Shape;641;p8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algn="l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</a:p>
        </p:txBody>
      </p:sp>
      <p:sp>
        <p:nvSpPr>
          <p:cNvPr id="1048975" name="Google Shape;642;p80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41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79" name="Google Shape;648;p8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algn="l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</a:p>
        </p:txBody>
      </p:sp>
      <p:sp>
        <p:nvSpPr>
          <p:cNvPr id="1048980" name="Google Shape;649;p81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4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84" name="Google Shape;655;p8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algn="l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</a:p>
        </p:txBody>
      </p:sp>
      <p:sp>
        <p:nvSpPr>
          <p:cNvPr id="1048985" name="Google Shape;656;p82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47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88" name="Google Shape;663;p8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algn="l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</a:p>
        </p:txBody>
      </p:sp>
      <p:sp>
        <p:nvSpPr>
          <p:cNvPr id="1048989" name="Google Shape;664;p83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19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8" name="Google Shape;16;p8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rmAutofit/>
          </a:bodyPr>
          <a:lstStyle>
            <a:lvl1pPr algn="ctr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lvl1pPr>
            <a:lvl2pPr algn="l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619" name="Google Shape;17;p85"/>
          <p:cNvSpPr txBox="1"/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/>
          </a:bodyPr>
          <a:lstStyle>
            <a:lvl1pPr algn="ctr" lv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algn="ctr" lvl="1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algn="ctr" lvl="2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algn="ctr" lvl="3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algn="ctr" lvl="4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algn="ctr" lvl="5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algn="ctr" lvl="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algn="ctr" lvl="7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algn="ctr" lvl="8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48620" name="Google Shape;18;p85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l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621" name="Google Shape;19;p85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622" name="Google Shape;20;p85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r" indent="0" lvl="0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algn="r" indent="0" lvl="1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algn="r" indent="0" lvl="2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algn="r" indent="0" lvl="3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algn="r" indent="0" lvl="4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algn="r" indent="0" lvl="5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algn="r" indent="0" lvl="6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algn="r" indent="0" lvl="7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algn="r" indent="0" lvl="8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64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Google Shape;22;p8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rmAutofit/>
          </a:bodyPr>
          <a:lstStyle>
            <a:lvl1pPr algn="ctr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lvl1pPr>
            <a:lvl2pPr algn="l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582" name="Google Shape;23;p86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/>
          </a:bodyPr>
          <a:lstStyle>
            <a:lvl1pPr algn="l" indent="-342900" lvl="0" marL="45720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1pPr>
            <a:lvl2pPr algn="l" indent="-342900" lvl="1" marL="91440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</a:lvl2pPr>
            <a:lvl3pPr algn="l" indent="-342900" lvl="2" marL="137160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3pPr>
            <a:lvl4pPr algn="l" indent="-342900" lvl="3" marL="182880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</a:lvl4pPr>
            <a:lvl5pPr algn="l" indent="-342900" lvl="4" marL="228600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</a:lvl5pPr>
            <a:lvl6pPr algn="l" indent="-342900" lvl="5" marL="274320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6pPr>
            <a:lvl7pPr algn="l" indent="-342900" lvl="6" marL="320040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7pPr>
            <a:lvl8pPr algn="l" indent="-342900" lvl="7" marL="365760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8pPr>
            <a:lvl9pPr algn="l" indent="-342900" lvl="8" marL="411480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9pPr>
          </a:lstStyle>
          <a:p/>
        </p:txBody>
      </p:sp>
      <p:sp>
        <p:nvSpPr>
          <p:cNvPr id="1048583" name="Google Shape;24;p86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l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584" name="Google Shape;25;p86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585" name="Google Shape;26;p86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r" indent="0" lvl="0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algn="r" indent="0" lvl="1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algn="r" indent="0" lvl="2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algn="r" indent="0" lvl="3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algn="r" indent="0" lvl="4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algn="r" indent="0" lvl="5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algn="r" indent="0" lvl="6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algn="r" indent="0" lvl="7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algn="r" indent="0" lvl="8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352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10" name="Google Shape;28;p8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/>
          </a:bodyPr>
          <a:lstStyle>
            <a:lvl1pPr algn="l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cap="none" sz="4000"/>
            </a:lvl1pPr>
            <a:lvl2pPr algn="l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9011" name="Google Shape;29;p87"/>
          <p:cNvSpPr txBox="1"/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/>
          <a:noFill/>
          <a:ln>
            <a:noFill/>
          </a:ln>
        </p:spPr>
        <p:txBody>
          <a:bodyPr anchor="b" anchorCtr="0" bIns="45700" lIns="91425" rIns="91425" spcFirstLastPara="1" tIns="45700" wrap="square">
            <a:normAutofit/>
          </a:bodyPr>
          <a:lstStyle>
            <a:lvl1pPr algn="l" indent="-228600" lvl="0" marL="4572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algn="l" indent="-228600" lvl="1" marL="91440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algn="l" indent="-228600" lvl="2" marL="137160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algn="l" indent="-228600" lvl="3" marL="182880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algn="l" indent="-228600" lvl="4" marL="228600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algn="l" indent="-228600" lvl="5" marL="274320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algn="l" indent="-228600" lvl="6" marL="320040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algn="l" indent="-228600" lvl="7" marL="365760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algn="l" indent="-228600" lvl="8" marL="411480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49012" name="Google Shape;30;p87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l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9013" name="Google Shape;31;p87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9014" name="Google Shape;32;p87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r" indent="0" lvl="0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algn="r" indent="0" lvl="1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algn="r" indent="0" lvl="2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algn="r" indent="0" lvl="3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algn="r" indent="0" lvl="4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algn="r" indent="0" lvl="5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algn="r" indent="0" lvl="6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algn="r" indent="0" lvl="7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algn="r" indent="0" lvl="8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35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15" name="Google Shape;34;p8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rmAutofit/>
          </a:bodyPr>
          <a:lstStyle>
            <a:lvl1pPr algn="ctr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lvl1pPr>
            <a:lvl2pPr algn="l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9016" name="Google Shape;35;p88"/>
          <p:cNvSpPr txBox="1"/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/>
          </a:bodyPr>
          <a:lstStyle>
            <a:lvl1pPr algn="l" indent="-406400" lvl="0" marL="45720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algn="l" indent="-381000" lvl="1" marL="91440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algn="l" indent="-355600" lvl="2" marL="13716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algn="l" indent="-342900" lvl="3" marL="182880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algn="l" indent="-342900" lvl="4" marL="228600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algn="l" indent="-342900" lvl="5" marL="274320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algn="l" indent="-342900" lvl="6" marL="320040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algn="l" indent="-342900" lvl="7" marL="365760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algn="l" indent="-342900" lvl="8" marL="411480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049017" name="Google Shape;36;p88"/>
          <p:cNvSpPr txBox="1"/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/>
          </a:bodyPr>
          <a:lstStyle>
            <a:lvl1pPr algn="l" indent="-406400" lvl="0" marL="45720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algn="l" indent="-381000" lvl="1" marL="91440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algn="l" indent="-355600" lvl="2" marL="13716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algn="l" indent="-342900" lvl="3" marL="182880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algn="l" indent="-342900" lvl="4" marL="228600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algn="l" indent="-342900" lvl="5" marL="274320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algn="l" indent="-342900" lvl="6" marL="320040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algn="l" indent="-342900" lvl="7" marL="365760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algn="l" indent="-342900" lvl="8" marL="411480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049018" name="Google Shape;37;p88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l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9019" name="Google Shape;38;p88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9020" name="Google Shape;39;p88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r" indent="0" lvl="0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algn="r" indent="0" lvl="1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algn="r" indent="0" lvl="2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algn="r" indent="0" lvl="3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algn="r" indent="0" lvl="4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algn="r" indent="0" lvl="5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algn="r" indent="0" lvl="6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algn="r" indent="0" lvl="7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algn="r" indent="0" lvl="8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354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21" name="Google Shape;41;p8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rmAutofit/>
          </a:bodyPr>
          <a:lstStyle>
            <a:lvl1pPr algn="ctr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lvl1pPr>
            <a:lvl2pPr algn="l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9022" name="Google Shape;42;p89"/>
          <p:cNvSpPr txBox="1"/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/>
          <a:noFill/>
          <a:ln>
            <a:noFill/>
          </a:ln>
        </p:spPr>
        <p:txBody>
          <a:bodyPr anchor="b" anchorCtr="0" bIns="45700" lIns="91425" rIns="91425" spcFirstLastPara="1" tIns="45700" wrap="square">
            <a:normAutofit/>
          </a:bodyPr>
          <a:lstStyle>
            <a:lvl1pPr algn="l" indent="-228600" lvl="0" marL="45720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algn="l" indent="-228600" lvl="1" marL="9144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algn="l" indent="-228600" lvl="2" marL="137160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algn="l" indent="-228600" lvl="3" marL="182880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algn="l" indent="-228600" lvl="4" marL="228600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algn="l" indent="-228600" lvl="5" marL="274320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algn="l" indent="-228600" lvl="6" marL="320040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algn="l" indent="-228600" lvl="7" marL="365760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algn="l" indent="-228600" lvl="8" marL="411480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049023" name="Google Shape;43;p89"/>
          <p:cNvSpPr txBox="1"/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/>
          </a:bodyPr>
          <a:lstStyle>
            <a:lvl1pPr algn="l" indent="-381000" lvl="0" marL="45720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algn="l" indent="-355600" lvl="1" marL="9144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algn="l" indent="-342900" lvl="2" marL="137160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algn="l" indent="-330200" lvl="3" marL="182880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algn="l" indent="-330200" lvl="4" marL="228600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algn="l" indent="-330200" lvl="5" marL="274320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algn="l" indent="-330200" lvl="6" marL="320040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algn="l" indent="-330200" lvl="7" marL="365760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algn="l" indent="-330200" lvl="8" marL="411480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049024" name="Google Shape;44;p89"/>
          <p:cNvSpPr txBox="1"/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/>
          <a:noFill/>
          <a:ln>
            <a:noFill/>
          </a:ln>
        </p:spPr>
        <p:txBody>
          <a:bodyPr anchor="b" anchorCtr="0" bIns="45700" lIns="91425" rIns="91425" spcFirstLastPara="1" tIns="45700" wrap="square">
            <a:normAutofit/>
          </a:bodyPr>
          <a:lstStyle>
            <a:lvl1pPr algn="l" indent="-228600" lvl="0" marL="45720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algn="l" indent="-228600" lvl="1" marL="9144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algn="l" indent="-228600" lvl="2" marL="137160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algn="l" indent="-228600" lvl="3" marL="182880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algn="l" indent="-228600" lvl="4" marL="228600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algn="l" indent="-228600" lvl="5" marL="274320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algn="l" indent="-228600" lvl="6" marL="320040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algn="l" indent="-228600" lvl="7" marL="365760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algn="l" indent="-228600" lvl="8" marL="411480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049025" name="Google Shape;45;p89"/>
          <p:cNvSpPr txBox="1"/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/>
          </a:bodyPr>
          <a:lstStyle>
            <a:lvl1pPr algn="l" indent="-381000" lvl="0" marL="45720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algn="l" indent="-355600" lvl="1" marL="9144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algn="l" indent="-342900" lvl="2" marL="137160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algn="l" indent="-330200" lvl="3" marL="182880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algn="l" indent="-330200" lvl="4" marL="228600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algn="l" indent="-330200" lvl="5" marL="274320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algn="l" indent="-330200" lvl="6" marL="320040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algn="l" indent="-330200" lvl="7" marL="365760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algn="l" indent="-330200" lvl="8" marL="411480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049026" name="Google Shape;46;p89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l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9027" name="Google Shape;47;p89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9028" name="Google Shape;48;p89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r" indent="0" lvl="0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algn="r" indent="0" lvl="1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algn="r" indent="0" lvl="2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algn="r" indent="0" lvl="3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algn="r" indent="0" lvl="4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algn="r" indent="0" lvl="5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algn="r" indent="0" lvl="6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algn="r" indent="0" lvl="7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algn="r" indent="0" lvl="8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348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90" name="Google Shape;50;p9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rmAutofit/>
          </a:bodyPr>
          <a:lstStyle>
            <a:lvl1pPr algn="ctr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lvl1pPr>
            <a:lvl2pPr algn="l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991" name="Google Shape;51;p90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l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992" name="Google Shape;52;p90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993" name="Google Shape;53;p90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r" indent="0" lvl="0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algn="r" indent="0" lvl="1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algn="r" indent="0" lvl="2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algn="r" indent="0" lvl="3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algn="r" indent="0" lvl="4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algn="r" indent="0" lvl="5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algn="r" indent="0" lvl="6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algn="r" indent="0" lvl="7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algn="r" indent="0" lvl="8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355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29" name="Google Shape;55;p91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l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9030" name="Google Shape;56;p91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9031" name="Google Shape;57;p91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r" indent="0" lvl="0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algn="r" indent="0" lvl="1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algn="r" indent="0" lvl="2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algn="r" indent="0" lvl="3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algn="r" indent="0" lvl="4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algn="r" indent="0" lvl="5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algn="r" indent="0" lvl="6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algn="r" indent="0" lvl="7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algn="r" indent="0" lvl="8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356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32" name="Google Shape;59;p92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/>
          <a:noFill/>
          <a:ln>
            <a:noFill/>
          </a:ln>
        </p:spPr>
        <p:txBody>
          <a:bodyPr anchor="b" anchorCtr="0" bIns="45700" lIns="91425" rIns="91425" spcFirstLastPara="1" tIns="45700" wrap="square">
            <a:normAutofit/>
          </a:bodyPr>
          <a:lstStyle>
            <a:lvl1pPr algn="l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algn="l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9033" name="Google Shape;60;p92"/>
          <p:cNvSpPr txBox="1"/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/>
          </a:bodyPr>
          <a:lstStyle>
            <a:lvl1pPr algn="l" indent="-431800" lvl="0" marL="45720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algn="l" indent="-406400" lvl="1" marL="91440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algn="l" indent="-381000" lvl="2" marL="137160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algn="l" indent="-355600" lvl="3" marL="18288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algn="l" indent="-355600" lvl="4" marL="22860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algn="l" indent="-355600" lvl="5" marL="27432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algn="l" indent="-355600" lvl="6" marL="32004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algn="l" indent="-355600" lvl="7" marL="36576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algn="l" indent="-355600" lvl="8" marL="41148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049034" name="Google Shape;61;p92"/>
          <p:cNvSpPr txBox="1"/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/>
          </a:bodyPr>
          <a:lstStyle>
            <a:lvl1pPr algn="l" indent="-228600" lvl="0" marL="45720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algn="l" indent="-228600" lvl="1" marL="91440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algn="l" indent="-228600" lvl="2" marL="137160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algn="l" indent="-228600" lvl="3" marL="182880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algn="l" indent="-228600" lvl="4" marL="228600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algn="l" indent="-228600" lvl="5" marL="274320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algn="l" indent="-228600" lvl="6" marL="320040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algn="l" indent="-228600" lvl="7" marL="365760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algn="l" indent="-228600" lvl="8" marL="411480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049035" name="Google Shape;62;p92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l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9036" name="Google Shape;63;p92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9037" name="Google Shape;64;p92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r" indent="0" lvl="0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algn="r" indent="0" lvl="1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algn="r" indent="0" lvl="2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algn="r" indent="0" lvl="3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algn="r" indent="0" lvl="4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algn="r" indent="0" lvl="5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algn="r" indent="0" lvl="6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algn="r" indent="0" lvl="7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algn="r" indent="0" lvl="8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350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99" name="Google Shape;66;p93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/>
          <a:noFill/>
          <a:ln>
            <a:noFill/>
          </a:ln>
        </p:spPr>
        <p:txBody>
          <a:bodyPr anchor="b" anchorCtr="0" bIns="45700" lIns="91425" rIns="91425" spcFirstLastPara="1" tIns="45700" wrap="square">
            <a:normAutofit/>
          </a:bodyPr>
          <a:lstStyle>
            <a:lvl1pPr algn="l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algn="l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9000" name="Google Shape;67;p93"/>
          <p:cNvSpPr/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/>
          <a:noFill/>
          <a:ln>
            <a:noFill/>
          </a:ln>
        </p:spPr>
      </p:sp>
      <p:sp>
        <p:nvSpPr>
          <p:cNvPr id="1049001" name="Google Shape;68;p93"/>
          <p:cNvSpPr txBox="1"/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/>
          </a:bodyPr>
          <a:lstStyle>
            <a:lvl1pPr algn="l" indent="-228600" lvl="0" marL="45720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algn="l" indent="-228600" lvl="1" marL="91440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algn="l" indent="-228600" lvl="2" marL="137160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algn="l" indent="-228600" lvl="3" marL="182880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algn="l" indent="-228600" lvl="4" marL="228600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algn="l" indent="-228600" lvl="5" marL="274320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algn="l" indent="-228600" lvl="6" marL="320040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algn="l" indent="-228600" lvl="7" marL="365760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algn="l" indent="-228600" lvl="8" marL="411480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049002" name="Google Shape;69;p93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l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9003" name="Google Shape;70;p93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9004" name="Google Shape;71;p93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r" indent="0" lvl="0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algn="r" indent="0" lvl="1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algn="r" indent="0" lvl="2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algn="r" indent="0" lvl="3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algn="r" indent="0" lvl="4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algn="r" indent="0" lvl="5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algn="r" indent="0" lvl="6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algn="r" indent="0" lvl="7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algn="r" indent="0" lvl="8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35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05" name="Google Shape;73;p9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rmAutofit/>
          </a:bodyPr>
          <a:lstStyle>
            <a:lvl1pPr algn="ctr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lvl1pPr>
            <a:lvl2pPr algn="l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9006" name="Google Shape;74;p94"/>
          <p:cNvSpPr txBox="1"/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/>
          </a:bodyPr>
          <a:lstStyle>
            <a:lvl1pPr algn="l" indent="-342900" lvl="0" marL="45720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1pPr>
            <a:lvl2pPr algn="l" indent="-342900" lvl="1" marL="91440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</a:lvl2pPr>
            <a:lvl3pPr algn="l" indent="-342900" lvl="2" marL="137160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3pPr>
            <a:lvl4pPr algn="l" indent="-342900" lvl="3" marL="182880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</a:lvl4pPr>
            <a:lvl5pPr algn="l" indent="-342900" lvl="4" marL="228600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</a:lvl5pPr>
            <a:lvl6pPr algn="l" indent="-342900" lvl="5" marL="274320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6pPr>
            <a:lvl7pPr algn="l" indent="-342900" lvl="6" marL="320040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7pPr>
            <a:lvl8pPr algn="l" indent="-342900" lvl="7" marL="365760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8pPr>
            <a:lvl9pPr algn="l" indent="-342900" lvl="8" marL="411480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9pPr>
          </a:lstStyle>
          <a:p/>
        </p:txBody>
      </p:sp>
      <p:sp>
        <p:nvSpPr>
          <p:cNvPr id="1049007" name="Google Shape;75;p94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l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9008" name="Google Shape;76;p94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9009" name="Google Shape;77;p94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r" indent="0" lvl="0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algn="r" indent="0" lvl="1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algn="r" indent="0" lvl="2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algn="r" indent="0" lvl="3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algn="r" indent="0" lvl="4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algn="r" indent="0" lvl="5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algn="r" indent="0" lvl="6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algn="r" indent="0" lvl="7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algn="r" indent="0" lvl="8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349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94" name="Google Shape;79;p95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rmAutofit/>
          </a:bodyPr>
          <a:lstStyle>
            <a:lvl1pPr algn="ctr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lvl1pPr>
            <a:lvl2pPr algn="l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995" name="Google Shape;80;p95"/>
          <p:cNvSpPr txBox="1"/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/>
          </a:bodyPr>
          <a:lstStyle>
            <a:lvl1pPr algn="l" indent="-342900" lvl="0" marL="45720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1pPr>
            <a:lvl2pPr algn="l" indent="-342900" lvl="1" marL="91440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</a:lvl2pPr>
            <a:lvl3pPr algn="l" indent="-342900" lvl="2" marL="137160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3pPr>
            <a:lvl4pPr algn="l" indent="-342900" lvl="3" marL="182880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</a:lvl4pPr>
            <a:lvl5pPr algn="l" indent="-342900" lvl="4" marL="228600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</a:lvl5pPr>
            <a:lvl6pPr algn="l" indent="-342900" lvl="5" marL="274320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6pPr>
            <a:lvl7pPr algn="l" indent="-342900" lvl="6" marL="320040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7pPr>
            <a:lvl8pPr algn="l" indent="-342900" lvl="7" marL="365760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8pPr>
            <a:lvl9pPr algn="l" indent="-342900" lvl="8" marL="411480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9pPr>
          </a:lstStyle>
          <a:p/>
        </p:txBody>
      </p:sp>
      <p:sp>
        <p:nvSpPr>
          <p:cNvPr id="1048996" name="Google Shape;81;p95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l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997" name="Google Shape;82;p95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998" name="Google Shape;83;p95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r" indent="0" lvl="0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algn="r" indent="0" lvl="1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algn="r" indent="0" lvl="2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algn="r" indent="0" lvl="3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algn="r" indent="0" lvl="4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algn="r" indent="0" lvl="5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algn="r" indent="0" lvl="6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algn="r" indent="0" lvl="7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algn="r" indent="0" lvl="8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</p:bgPr>
    </p:bg>
    <p:spTree>
      <p:nvGrpSpPr>
        <p:cNvPr id="52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Google Shape;10;p8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rmAutofit/>
          </a:bodyPr>
          <a:lstStyle>
            <a:lvl1pPr algn="ctr" lv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cap="none" sz="44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algn="l" lvl="1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1800" i="0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l" lvl="2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1800" i="0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l" lvl="3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1800" i="0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l" lvl="4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1800" i="0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l" lvl="5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1800" i="0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l" lvl="6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1800" i="0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l" lvl="7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1800" i="0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l" lvl="8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1800" i="0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48577" name="Google Shape;11;p84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/>
          </a:bodyPr>
          <a:lstStyle>
            <a:lvl1pPr algn="l" indent="-431800" lvl="0" marL="457200" marR="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cap="none" sz="32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algn="l" indent="-406400" lvl="1" marL="914400" marR="0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cap="none" sz="2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algn="l" indent="-381000" lvl="2" marL="1371600" marR="0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cap="none" sz="24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algn="l" indent="-355600" lvl="3" marL="1828800" marR="0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cap="none" sz="20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algn="l" indent="-355600" lvl="4" marL="2286000" marR="0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cap="none" sz="20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algn="l" indent="-355600" lvl="5" marL="2743200" marR="0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cap="none" sz="20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algn="l" indent="-355600" lvl="6" marL="3200400" marR="0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cap="none" sz="20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algn="l" indent="-355600" lvl="7" marL="3657600" marR="0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cap="none" sz="20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algn="l" indent="-355600" lvl="8" marL="4114800" marR="0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cap="none" sz="20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48578" name="Google Shape;12;p84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l" lv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1200" i="0" strike="noStrike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algn="l" lvl="1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algn="l" lvl="2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algn="l" lvl="3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algn="l" lvl="4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algn="l" lvl="5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algn="l" lvl="6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algn="l" lvl="7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algn="l" lvl="8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48579" name="Google Shape;13;p84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lv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1200" i="0" strike="noStrike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algn="l" lvl="1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algn="l" lvl="2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algn="l" lvl="3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algn="l" lvl="4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algn="l" lvl="5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algn="l" lvl="6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algn="l" lvl="7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algn="l" lvl="8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48580" name="Google Shape;14;p84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r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algn="r" indent="0" lvl="1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algn="r" indent="0" lvl="2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algn="r" indent="0" lvl="3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algn="r" indent="0" lvl="4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algn="r" indent="0" lvl="5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algn="r" indent="0" lvl="6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algn="r" indent="0" lvl="7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algn="r" indent="0" lvl="8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</a:p>
        </p:txBody>
      </p:sp>
    </p:spTree>
  </p:cSld>
  <p:clrMap accent1="accent1" accent2="accent2" accent3="accent3" accent4="accent4" accent5="accent5" accent6="accent6" bg1="lt1" bg2="dk2" tx1="dk1" tx2="lt2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algn="l" lvl="0" marR="0" rtl="0">
        <a:lnSpc>
          <a:spcPct val="100000"/>
        </a:lnSpc>
        <a:spcBef>
          <a:spcPts val="0"/>
        </a:spcBef>
        <a:spcAft>
          <a:spcPts val="0"/>
        </a:spcAft>
      </a:defPPr>
      <a:lvl1pPr algn="l" lvl="0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algn="l" lvl="1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algn="l" lvl="2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algn="l" lvl="3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algn="l" lvl="4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algn="l" lvl="5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algn="l" lvl="6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algn="l" lvl="7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algn="l" lvl="8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algn="l" lvl="0" marR="0" rtl="0">
        <a:lnSpc>
          <a:spcPct val="100000"/>
        </a:lnSpc>
        <a:spcBef>
          <a:spcPts val="0"/>
        </a:spcBef>
        <a:spcAft>
          <a:spcPts val="0"/>
        </a:spcAft>
      </a:defPPr>
      <a:lvl1pPr algn="l" lvl="0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algn="l" lvl="1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algn="l" lvl="2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algn="l" lvl="3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algn="l" lvl="4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algn="l" lvl="5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algn="l" lvl="6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algn="l" lvl="7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algn="l" lvl="8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algn="l" lvl="0" marR="0" rtl="0">
        <a:lnSpc>
          <a:spcPct val="100000"/>
        </a:lnSpc>
        <a:spcBef>
          <a:spcPts val="0"/>
        </a:spcBef>
        <a:spcAft>
          <a:spcPts val="0"/>
        </a:spcAft>
      </a:defPPr>
      <a:lvl1pPr algn="l" lvl="0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algn="l" lvl="1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algn="l" lvl="2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algn="l" lvl="3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algn="l" lvl="4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algn="l" lvl="5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algn="l" lvl="6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algn="l" lvl="7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algn="l" lvl="8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3.xml"/></Relationships>
</file>

<file path=ppt/slides/_rels/slide6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7.xml"/></Relationships>
</file>

<file path=ppt/slides/_rels/slide6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2.xml"/></Relationships>
</file>

<file path=ppt/slides/_rels/slide8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0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3" name="Google Shape;88;p1"/>
          <p:cNvSpPr txBox="1"/>
          <p:nvPr>
            <p:ph type="ctrTitle"/>
          </p:nvPr>
        </p:nvSpPr>
        <p:spPr>
          <a:xfrm>
            <a:off x="685800" y="1000109"/>
            <a:ext cx="7772400" cy="1714511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rmAutofit/>
          </a:bodyPr>
          <a:p>
            <a:pPr algn="ctr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b="1" lang="en-AU">
                <a:latin typeface="Arial Black"/>
                <a:ea typeface="Arial Black"/>
                <a:cs typeface="Arial Black"/>
                <a:sym typeface="Arial Black"/>
              </a:rPr>
              <a:t>NASAL CAVITY</a:t>
            </a:r>
            <a:endParaRPr b="1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048624" name="Google Shape;89;p1"/>
          <p:cNvSpPr txBox="1"/>
          <p:nvPr>
            <p:ph type="subTitle" idx="1"/>
          </p:nvPr>
        </p:nvSpPr>
        <p:spPr>
          <a:xfrm>
            <a:off x="1371600" y="3886200"/>
            <a:ext cx="6400800" cy="2186006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algn="ctr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600"/>
              <a:buNone/>
            </a:pPr>
            <a:r>
              <a:rPr b="1" sz="3600" lang="en-AU">
                <a:latin typeface="Arial Black"/>
                <a:ea typeface="Arial Black"/>
                <a:cs typeface="Arial Black"/>
                <a:sym typeface="Arial Black"/>
              </a:rPr>
              <a:t>BY </a:t>
            </a:r>
          </a:p>
          <a:p>
            <a:pPr algn="ctr" indent="0" lvl="0" marL="0" rtl="0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888888"/>
              </a:buClr>
              <a:buSzPts val="3600"/>
              <a:buNone/>
            </a:pPr>
            <a:r>
              <a:t/>
            </a:r>
            <a:endParaRPr b="1" sz="3600">
              <a:latin typeface="Arial Black"/>
              <a:ea typeface="Arial Black"/>
              <a:cs typeface="Arial Black"/>
              <a:sym typeface="Arial Black"/>
            </a:endParaRPr>
          </a:p>
          <a:p>
            <a:pPr algn="ctr" indent="0" lvl="0" marL="0" rtl="0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888888"/>
              </a:buClr>
              <a:buSzPts val="3600"/>
              <a:buNone/>
            </a:pPr>
            <a:r>
              <a:rPr b="1" sz="3600" lang="en-AU">
                <a:latin typeface="Arial Black"/>
                <a:ea typeface="Arial Black"/>
                <a:cs typeface="Arial Black"/>
                <a:sym typeface="Arial Black"/>
              </a:rPr>
              <a:t>DR OJEWALE A.O</a:t>
            </a:r>
            <a:endParaRPr b="1" sz="36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048625" name="Google Shape;90;p1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r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AU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3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8" name="Google Shape;95;p2"/>
          <p:cNvSpPr txBox="1"/>
          <p:nvPr>
            <p:ph type="title"/>
          </p:nvPr>
        </p:nvSpPr>
        <p:spPr>
          <a:xfrm>
            <a:off x="457200" y="0"/>
            <a:ext cx="8229600" cy="1417638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rmAutofit/>
          </a:bodyPr>
          <a:p>
            <a:pPr algn="ctr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lang="en-AU">
                <a:latin typeface="Arial Black"/>
                <a:ea typeface="Arial Black"/>
                <a:cs typeface="Arial Black"/>
                <a:sym typeface="Arial Black"/>
              </a:rPr>
              <a:t>Outline</a:t>
            </a:r>
            <a:endParaRPr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048629" name="Google Shape;96;p2"/>
          <p:cNvSpPr txBox="1"/>
          <p:nvPr>
            <p:ph type="body" idx="1"/>
          </p:nvPr>
        </p:nvSpPr>
        <p:spPr>
          <a:xfrm>
            <a:off x="457200" y="1214422"/>
            <a:ext cx="8229600" cy="5643578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/>
          </a:bodyPr>
          <a:p>
            <a:pPr algn="l" indent="-342931" lvl="0" marL="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sz="3500" lang="en-AU">
                <a:latin typeface="Arial"/>
                <a:ea typeface="Arial"/>
                <a:cs typeface="Arial"/>
                <a:sym typeface="Arial"/>
              </a:rPr>
              <a:t>Intro’</a:t>
            </a:r>
          </a:p>
          <a:p>
            <a:pPr algn="l" indent="-342931" lvl="0" marL="342900" rtl="0">
              <a:lnSpc>
                <a:spcPct val="100000"/>
              </a:lnSpc>
              <a:spcBef>
                <a:spcPts val="647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sz="3500" lang="en-AU">
                <a:latin typeface="Arial"/>
                <a:ea typeface="Arial"/>
                <a:cs typeface="Arial"/>
                <a:sym typeface="Arial"/>
              </a:rPr>
              <a:t>Parts (Vestibule and Nasal cavity proper)</a:t>
            </a:r>
          </a:p>
          <a:p>
            <a:pPr algn="l" indent="-342931" lvl="0" marL="342900" rtl="0">
              <a:lnSpc>
                <a:spcPct val="100000"/>
              </a:lnSpc>
              <a:spcBef>
                <a:spcPts val="647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sz="3500" lang="en-AU">
                <a:latin typeface="Arial"/>
                <a:ea typeface="Arial"/>
                <a:cs typeface="Arial"/>
                <a:sym typeface="Arial"/>
              </a:rPr>
              <a:t>Conchae</a:t>
            </a:r>
          </a:p>
          <a:p>
            <a:pPr algn="l" indent="-342931" lvl="0" marL="342900" rtl="0">
              <a:lnSpc>
                <a:spcPct val="100000"/>
              </a:lnSpc>
              <a:spcBef>
                <a:spcPts val="647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sz="3500" lang="en-AU">
                <a:latin typeface="Arial"/>
                <a:ea typeface="Arial"/>
                <a:cs typeface="Arial"/>
                <a:sym typeface="Arial"/>
              </a:rPr>
              <a:t>Meatuses</a:t>
            </a:r>
            <a:endParaRPr sz="3500">
              <a:latin typeface="Arial"/>
              <a:ea typeface="Arial"/>
              <a:cs typeface="Arial"/>
              <a:sym typeface="Arial"/>
            </a:endParaRPr>
          </a:p>
          <a:p>
            <a:pPr algn="l" indent="-342931" lvl="0" marL="342900" rtl="0">
              <a:lnSpc>
                <a:spcPct val="100000"/>
              </a:lnSpc>
              <a:spcBef>
                <a:spcPts val="647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sz="3500" lang="en-AU">
                <a:latin typeface="Arial"/>
                <a:ea typeface="Arial"/>
                <a:cs typeface="Arial"/>
                <a:sym typeface="Arial"/>
              </a:rPr>
              <a:t>Lining of nasal cavity</a:t>
            </a:r>
          </a:p>
          <a:p>
            <a:pPr algn="l" indent="-342931" lvl="0" marL="342900" rtl="0">
              <a:lnSpc>
                <a:spcPct val="100000"/>
              </a:lnSpc>
              <a:spcBef>
                <a:spcPts val="647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sz="3500" lang="en-AU">
                <a:latin typeface="Arial"/>
                <a:ea typeface="Arial"/>
                <a:cs typeface="Arial"/>
                <a:sym typeface="Arial"/>
              </a:rPr>
              <a:t>Arterial supplies</a:t>
            </a:r>
          </a:p>
          <a:p>
            <a:pPr algn="l" indent="-342931" lvl="0" marL="342900" rtl="0">
              <a:lnSpc>
                <a:spcPct val="100000"/>
              </a:lnSpc>
              <a:spcBef>
                <a:spcPts val="647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sz="3500" lang="en-AU">
                <a:latin typeface="Arial"/>
                <a:ea typeface="Arial"/>
                <a:cs typeface="Arial"/>
                <a:sym typeface="Arial"/>
              </a:rPr>
              <a:t>Venous drainage</a:t>
            </a:r>
          </a:p>
          <a:p>
            <a:pPr algn="l" indent="-342931" lvl="0" marL="342900" rtl="0">
              <a:lnSpc>
                <a:spcPct val="100000"/>
              </a:lnSpc>
              <a:spcBef>
                <a:spcPts val="647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sz="3500" lang="en-AU">
                <a:latin typeface="Arial"/>
                <a:ea typeface="Arial"/>
                <a:cs typeface="Arial"/>
                <a:sym typeface="Arial"/>
              </a:rPr>
              <a:t>Lymphatic drainage</a:t>
            </a:r>
          </a:p>
          <a:p>
            <a:pPr algn="l" indent="-342931" lvl="0" marL="342900" rtl="0">
              <a:lnSpc>
                <a:spcPct val="100000"/>
              </a:lnSpc>
              <a:spcBef>
                <a:spcPts val="647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sz="3500" lang="en-AU">
                <a:latin typeface="Arial"/>
                <a:ea typeface="Arial"/>
                <a:cs typeface="Arial"/>
                <a:sym typeface="Arial"/>
              </a:rPr>
              <a:t>Applied anatomy</a:t>
            </a:r>
          </a:p>
          <a:p>
            <a:pPr algn="l" indent="-154940" lvl="0" marL="342900" rtl="0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</a:p>
          <a:p>
            <a:pPr algn="l" indent="-154940" lvl="0" marL="342900" rtl="0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</a:p>
          <a:p>
            <a:pPr algn="l" indent="-154940" lvl="0" marL="342900" rtl="0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6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2" name="Google Shape;101;p3"/>
          <p:cNvSpPr txBox="1"/>
          <p:nvPr>
            <p:ph type="title"/>
          </p:nvPr>
        </p:nvSpPr>
        <p:spPr>
          <a:xfrm>
            <a:off x="457200" y="0"/>
            <a:ext cx="8229600" cy="1000108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rmAutofit/>
          </a:bodyPr>
          <a:p>
            <a:pPr algn="ctr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b="1" lang="en-AU">
                <a:latin typeface="Arial Black"/>
                <a:ea typeface="Arial Black"/>
                <a:cs typeface="Arial Black"/>
                <a:sym typeface="Arial Black"/>
              </a:rPr>
              <a:t>NASAL CAVITY</a:t>
            </a:r>
            <a:endParaRPr b="1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048633" name="Google Shape;102;p3"/>
          <p:cNvSpPr txBox="1"/>
          <p:nvPr>
            <p:ph type="body" idx="1"/>
          </p:nvPr>
        </p:nvSpPr>
        <p:spPr>
          <a:xfrm>
            <a:off x="285720" y="785794"/>
            <a:ext cx="8401080" cy="6072206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/>
          </a:bodyPr>
          <a:p>
            <a:pPr algn="just" indent="-342900" lvl="0" marL="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⮚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interior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nose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is divided into right and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left nasal cavities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by a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nasal septum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algn="just" indent="-139700" lvl="0" marL="34290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algn="just" indent="-342900" lvl="0" marL="34290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algn="just" indent="-342900" lvl="0" marL="34290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algn="just" indent="-342900" lvl="0" marL="34290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algn="just" indent="-342900" lvl="0" marL="34290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⮚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Each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nasal cavity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communicates with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exterior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via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anterior nasal aperture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nostril)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and with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nasopharynx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through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posterior nasal aperture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(or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choana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)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algn="just" indent="-139700" lvl="0" marL="34290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</a:p>
        </p:txBody>
      </p:sp>
      <p:pic>
        <p:nvPicPr>
          <p:cNvPr id="2097152" name="Google Shape;103;p3"/>
          <p:cNvPicPr preferRelativeResize="0">
            <a:picLocks/>
          </p:cNvPicPr>
          <p:nvPr/>
        </p:nvPicPr>
        <p:blipFill rotWithShape="1">
          <a:blip xmlns:r="http://schemas.openxmlformats.org/officeDocument/2006/relationships" r:embed="rId1">
            <a:alphaModFix/>
          </a:blip>
          <a:srcRect l="0" t="0" r="0" b="0"/>
          <a:stretch>
            <a:fillRect/>
          </a:stretch>
        </p:blipFill>
        <p:spPr>
          <a:xfrm>
            <a:off x="5929322" y="2285992"/>
            <a:ext cx="2709871" cy="1428760"/>
          </a:xfrm>
          <a:prstGeom prst="rect"/>
          <a:noFill/>
          <a:ln>
            <a:noFill/>
          </a:ln>
        </p:spPr>
      </p:pic>
      <p:sp>
        <p:nvSpPr>
          <p:cNvPr id="1048634" name="Google Shape;104;p3"/>
          <p:cNvSpPr txBox="1"/>
          <p:nvPr/>
        </p:nvSpPr>
        <p:spPr>
          <a:xfrm>
            <a:off x="4786314" y="3643314"/>
            <a:ext cx="4357686" cy="646331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spAutoFit/>
          </a:bodyPr>
          <a:p>
            <a:pPr algn="l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cap="none" sz="1800" i="0" lang="en-AU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Division of the internal nose into right and left nasal cavities</a:t>
            </a:r>
            <a:endParaRPr b="0" cap="none" sz="1800" i="0" strike="noStrike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635" name="Google Shape;105;p3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r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AU"/>
              <a:t>3</a:t>
            </a:fld>
          </a:p>
        </p:txBody>
      </p:sp>
      <p:pic>
        <p:nvPicPr>
          <p:cNvPr id="2097153" name="Google Shape;106;p3"/>
          <p:cNvPicPr preferRelativeResize="0">
            <a:picLocks/>
          </p:cNvPicPr>
          <p:nvPr/>
        </p:nvPicPr>
        <p:blipFill rotWithShape="1">
          <a:blip xmlns:r="http://schemas.openxmlformats.org/officeDocument/2006/relationships" r:embed="rId2">
            <a:alphaModFix/>
          </a:blip>
          <a:srcRect l="0" t="0" r="0" b="0"/>
          <a:stretch>
            <a:fillRect/>
          </a:stretch>
        </p:blipFill>
        <p:spPr>
          <a:xfrm>
            <a:off x="785786" y="2500306"/>
            <a:ext cx="3857652" cy="1500198"/>
          </a:xfrm>
          <a:prstGeom prst="rect"/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9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8" name="Google Shape;111;p4"/>
          <p:cNvSpPr txBox="1"/>
          <p:nvPr>
            <p:ph type="body" idx="1"/>
          </p:nvPr>
        </p:nvSpPr>
        <p:spPr>
          <a:xfrm>
            <a:off x="457200" y="1357298"/>
            <a:ext cx="8229600" cy="5214974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/>
          </a:bodyPr>
          <a:p>
            <a:pPr algn="just" indent="-342900" lvl="0" marL="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Each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nasal cavity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is divided into t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wo portions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: (a) a small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anteroinferior part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lined by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skin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-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the vestibule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and (b) a large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posterosuperior part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lined by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mucosa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-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the nasal cavity proper.</a:t>
            </a:r>
          </a:p>
          <a:p>
            <a:pPr algn="just" indent="-342900" lvl="0" marL="34290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Each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nasal cavity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receives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openings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paranasal sinuses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algn="just" indent="-139700" lvl="0" marL="34290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algn="just" indent="-139700" lvl="0" marL="34290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algn="just" indent="-139700" lvl="0" marL="34290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8639" name="Google Shape;112;p4"/>
          <p:cNvSpPr txBox="1"/>
          <p:nvPr/>
        </p:nvSpPr>
        <p:spPr>
          <a:xfrm>
            <a:off x="3643306" y="428604"/>
            <a:ext cx="2151551" cy="769441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spAutoFit/>
          </a:bodyPr>
          <a:p>
            <a:pPr algn="l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cap="none" sz="4400" i="0" lang="en-AU" strike="noStrike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Cont’d</a:t>
            </a:r>
            <a:endParaRPr b="0" cap="none" sz="4400" i="0" strike="noStrike" u="none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2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2" name="Google Shape;117;p5"/>
          <p:cNvSpPr txBox="1"/>
          <p:nvPr>
            <p:ph type="title"/>
          </p:nvPr>
        </p:nvSpPr>
        <p:spPr>
          <a:xfrm>
            <a:off x="457200" y="214290"/>
            <a:ext cx="8229600" cy="1000132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rmAutofit/>
          </a:bodyPr>
          <a:p>
            <a:pPr algn="ctr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lang="en-AU">
                <a:latin typeface="Arial Black"/>
                <a:ea typeface="Arial Black"/>
                <a:cs typeface="Arial Black"/>
                <a:sym typeface="Arial Black"/>
              </a:rPr>
              <a:t>VESTIBULE OF NOSE</a:t>
            </a:r>
            <a:endParaRPr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048643" name="Google Shape;118;p5"/>
          <p:cNvSpPr txBox="1"/>
          <p:nvPr>
            <p:ph type="body" idx="1"/>
          </p:nvPr>
        </p:nvSpPr>
        <p:spPr>
          <a:xfrm>
            <a:off x="457200" y="928670"/>
            <a:ext cx="8401080" cy="6143668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 lnSpcReduction="10000"/>
          </a:bodyPr>
          <a:p>
            <a:pPr algn="just" indent="-342900" lvl="0" marL="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It is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anteroinferior part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of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nasal cavity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lined by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skin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skin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contains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sebaceous glands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hair follicles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and the stiff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interlacing hair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called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vibrissae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 It is limited above by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limen nasi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on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lateral wall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vestibule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nasal cavity (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produced by the upper margin 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major alar cartilage)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 Its medial wall is formed by a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mobile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columella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algn="just" indent="-342900" lvl="0" marL="34290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It is bounded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laterally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by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ala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parts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alar cartilages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medially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by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septal process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major alar cartilage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algn="just" indent="-139700" lvl="0" marL="34290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8644" name="Google Shape;119;p5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r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AU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5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7" name="Google Shape;124;p6"/>
          <p:cNvSpPr txBox="1"/>
          <p:nvPr>
            <p:ph type="title"/>
          </p:nvPr>
        </p:nvSpPr>
        <p:spPr>
          <a:xfrm>
            <a:off x="457200" y="-285776"/>
            <a:ext cx="8229600" cy="1214446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rmAutofit/>
          </a:bodyPr>
          <a:p>
            <a:pPr algn="ctr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lang="en-AU">
                <a:latin typeface="Arial Black"/>
                <a:ea typeface="Arial Black"/>
                <a:cs typeface="Arial Black"/>
                <a:sym typeface="Arial Black"/>
              </a:rPr>
              <a:t>NASAL CAVITY PROPER</a:t>
            </a:r>
            <a:endParaRPr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048648" name="Google Shape;125;p6"/>
          <p:cNvSpPr txBox="1"/>
          <p:nvPr>
            <p:ph type="body" idx="1"/>
          </p:nvPr>
        </p:nvSpPr>
        <p:spPr>
          <a:xfrm>
            <a:off x="214282" y="428604"/>
            <a:ext cx="8715436" cy="6429396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algn="just" indent="-342900" lvl="0" marL="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sz="2800" lang="en-AU"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sz="2800" lang="en-AU">
                <a:latin typeface="Arial"/>
                <a:ea typeface="Arial"/>
                <a:cs typeface="Arial"/>
                <a:sym typeface="Arial"/>
              </a:rPr>
              <a:t>nasal cavity proper </a:t>
            </a:r>
            <a:r>
              <a:rPr sz="2800" lang="en-AU">
                <a:latin typeface="Arial"/>
                <a:ea typeface="Arial"/>
                <a:cs typeface="Arial"/>
                <a:sym typeface="Arial"/>
              </a:rPr>
              <a:t>presents the following </a:t>
            </a:r>
            <a:r>
              <a:rPr b="1" sz="2800" lang="en-AU">
                <a:latin typeface="Arial"/>
                <a:ea typeface="Arial"/>
                <a:cs typeface="Arial"/>
                <a:sym typeface="Arial"/>
              </a:rPr>
              <a:t>boundaries</a:t>
            </a:r>
            <a:r>
              <a:rPr sz="2800" lang="en-AU">
                <a:latin typeface="Arial"/>
                <a:ea typeface="Arial"/>
                <a:cs typeface="Arial"/>
                <a:sym typeface="Arial"/>
              </a:rPr>
              <a:t>:</a:t>
            </a:r>
          </a:p>
          <a:p>
            <a:pPr algn="just" indent="-342900" lvl="0" marL="342900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sz="2800" lang="en-AU">
                <a:latin typeface="Arial"/>
                <a:ea typeface="Arial"/>
                <a:cs typeface="Arial"/>
                <a:sym typeface="Arial"/>
              </a:rPr>
              <a:t>Roof.                         </a:t>
            </a:r>
          </a:p>
          <a:p>
            <a:pPr algn="just" indent="-342900" lvl="0" marL="342900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sz="2800" lang="en-AU">
                <a:latin typeface="Arial"/>
                <a:ea typeface="Arial"/>
                <a:cs typeface="Arial"/>
                <a:sym typeface="Arial"/>
              </a:rPr>
              <a:t>Floor.</a:t>
            </a:r>
          </a:p>
          <a:p>
            <a:pPr algn="just" indent="-342900" lvl="0" marL="342900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sz="2800" lang="en-AU">
                <a:latin typeface="Arial"/>
                <a:ea typeface="Arial"/>
                <a:cs typeface="Arial"/>
                <a:sym typeface="Arial"/>
              </a:rPr>
              <a:t>Medial wall (septum).</a:t>
            </a:r>
          </a:p>
          <a:p>
            <a:pPr algn="just" indent="-342900" lvl="0" marL="342900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sz="2800" lang="en-AU">
                <a:latin typeface="Arial"/>
                <a:ea typeface="Arial"/>
                <a:cs typeface="Arial"/>
                <a:sym typeface="Arial"/>
              </a:rPr>
              <a:t>Lateral wall.</a:t>
            </a:r>
          </a:p>
          <a:p>
            <a:pPr algn="just" indent="-165100" lvl="0" marL="342900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algn="just" indent="-342900" lvl="0" marL="342900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b="1" sz="2800" lang="en-AU">
                <a:latin typeface="Arial"/>
                <a:ea typeface="Arial"/>
                <a:cs typeface="Arial"/>
                <a:sym typeface="Arial"/>
              </a:rPr>
              <a:t>Roof</a:t>
            </a:r>
            <a:r>
              <a:rPr sz="2800" lang="en-AU">
                <a:latin typeface="Arial"/>
                <a:ea typeface="Arial"/>
                <a:cs typeface="Arial"/>
                <a:sym typeface="Arial"/>
              </a:rPr>
              <a:t>: The </a:t>
            </a:r>
            <a:r>
              <a:rPr b="1" sz="2800" lang="en-AU">
                <a:latin typeface="Arial"/>
                <a:ea typeface="Arial"/>
                <a:cs typeface="Arial"/>
                <a:sym typeface="Arial"/>
              </a:rPr>
              <a:t>roof</a:t>
            </a:r>
            <a:r>
              <a:rPr sz="2800" lang="en-AU">
                <a:latin typeface="Arial"/>
                <a:ea typeface="Arial"/>
                <a:cs typeface="Arial"/>
                <a:sym typeface="Arial"/>
              </a:rPr>
              <a:t> is very </a:t>
            </a:r>
            <a:r>
              <a:rPr b="1" sz="2800" lang="en-AU">
                <a:latin typeface="Arial"/>
                <a:ea typeface="Arial"/>
                <a:cs typeface="Arial"/>
                <a:sym typeface="Arial"/>
              </a:rPr>
              <a:t>narrow</a:t>
            </a:r>
            <a:r>
              <a:rPr sz="2800" lang="en-AU">
                <a:latin typeface="Arial"/>
                <a:ea typeface="Arial"/>
                <a:cs typeface="Arial"/>
                <a:sym typeface="Arial"/>
              </a:rPr>
              <a:t> in </a:t>
            </a:r>
            <a:r>
              <a:rPr b="1" sz="2800" lang="en-AU">
                <a:latin typeface="Arial"/>
                <a:ea typeface="Arial"/>
                <a:cs typeface="Arial"/>
                <a:sym typeface="Arial"/>
              </a:rPr>
              <a:t>front </a:t>
            </a:r>
            <a:r>
              <a:rPr sz="2800" lang="en-AU"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b="1" sz="2800" lang="en-AU">
                <a:latin typeface="Arial"/>
                <a:ea typeface="Arial"/>
                <a:cs typeface="Arial"/>
                <a:sym typeface="Arial"/>
              </a:rPr>
              <a:t>widens</a:t>
            </a:r>
            <a:r>
              <a:rPr sz="2800" lang="en-AU">
                <a:latin typeface="Arial"/>
                <a:ea typeface="Arial"/>
                <a:cs typeface="Arial"/>
                <a:sym typeface="Arial"/>
              </a:rPr>
              <a:t> to about </a:t>
            </a:r>
            <a:r>
              <a:rPr b="1" sz="2800" lang="en-AU">
                <a:latin typeface="Arial"/>
                <a:ea typeface="Arial"/>
                <a:cs typeface="Arial"/>
                <a:sym typeface="Arial"/>
              </a:rPr>
              <a:t>1 cm </a:t>
            </a:r>
            <a:r>
              <a:rPr sz="2800" lang="en-AU">
                <a:latin typeface="Arial"/>
                <a:ea typeface="Arial"/>
                <a:cs typeface="Arial"/>
                <a:sym typeface="Arial"/>
              </a:rPr>
              <a:t>near the </a:t>
            </a:r>
            <a:r>
              <a:rPr b="1" sz="2800" lang="en-AU">
                <a:latin typeface="Arial"/>
                <a:ea typeface="Arial"/>
                <a:cs typeface="Arial"/>
                <a:sym typeface="Arial"/>
              </a:rPr>
              <a:t>choana</a:t>
            </a:r>
            <a:r>
              <a:rPr sz="2800" lang="en-AU">
                <a:latin typeface="Arial"/>
                <a:ea typeface="Arial"/>
                <a:cs typeface="Arial"/>
                <a:sym typeface="Arial"/>
              </a:rPr>
              <a:t>. It is </a:t>
            </a:r>
            <a:r>
              <a:rPr b="1" sz="2800" lang="en-AU">
                <a:latin typeface="Arial"/>
                <a:ea typeface="Arial"/>
                <a:cs typeface="Arial"/>
                <a:sym typeface="Arial"/>
              </a:rPr>
              <a:t>horizontal </a:t>
            </a:r>
            <a:r>
              <a:rPr sz="2800" lang="en-AU">
                <a:latin typeface="Arial"/>
                <a:ea typeface="Arial"/>
                <a:cs typeface="Arial"/>
                <a:sym typeface="Arial"/>
              </a:rPr>
              <a:t>in the </a:t>
            </a:r>
            <a:r>
              <a:rPr b="1" sz="2800" lang="en-AU">
                <a:latin typeface="Arial"/>
                <a:ea typeface="Arial"/>
                <a:cs typeface="Arial"/>
                <a:sym typeface="Arial"/>
              </a:rPr>
              <a:t>middle third</a:t>
            </a:r>
            <a:r>
              <a:rPr sz="2800" lang="en-AU">
                <a:latin typeface="Arial"/>
                <a:ea typeface="Arial"/>
                <a:cs typeface="Arial"/>
                <a:sym typeface="Arial"/>
              </a:rPr>
              <a:t>, where it is formed by the </a:t>
            </a:r>
            <a:r>
              <a:rPr b="1" sz="2800" lang="en-AU">
                <a:latin typeface="Arial"/>
                <a:ea typeface="Arial"/>
                <a:cs typeface="Arial"/>
                <a:sym typeface="Arial"/>
              </a:rPr>
              <a:t>cribriform plate </a:t>
            </a:r>
            <a:r>
              <a:rPr sz="2800" lang="en-AU">
                <a:latin typeface="Arial"/>
                <a:ea typeface="Arial"/>
                <a:cs typeface="Arial"/>
                <a:sym typeface="Arial"/>
              </a:rPr>
              <a:t>of the </a:t>
            </a:r>
            <a:r>
              <a:rPr b="1" sz="2800" lang="en-AU">
                <a:latin typeface="Arial"/>
                <a:ea typeface="Arial"/>
                <a:cs typeface="Arial"/>
                <a:sym typeface="Arial"/>
              </a:rPr>
              <a:t>ethmoid</a:t>
            </a:r>
            <a:r>
              <a:rPr sz="2800" lang="en-AU">
                <a:latin typeface="Arial"/>
                <a:ea typeface="Arial"/>
                <a:cs typeface="Arial"/>
                <a:sym typeface="Arial"/>
              </a:rPr>
              <a:t>. The </a:t>
            </a:r>
            <a:r>
              <a:rPr b="1" sz="2800" lang="en-AU">
                <a:latin typeface="Arial"/>
                <a:ea typeface="Arial"/>
                <a:cs typeface="Arial"/>
                <a:sym typeface="Arial"/>
              </a:rPr>
              <a:t>roof</a:t>
            </a:r>
            <a:r>
              <a:rPr sz="2800" lang="en-AU">
                <a:latin typeface="Arial"/>
                <a:ea typeface="Arial"/>
                <a:cs typeface="Arial"/>
                <a:sym typeface="Arial"/>
              </a:rPr>
              <a:t> of the </a:t>
            </a:r>
            <a:r>
              <a:rPr b="1" sz="2800" lang="en-AU">
                <a:latin typeface="Arial"/>
                <a:ea typeface="Arial"/>
                <a:cs typeface="Arial"/>
                <a:sym typeface="Arial"/>
              </a:rPr>
              <a:t>nasal cavity proper </a:t>
            </a:r>
            <a:r>
              <a:rPr sz="2800" lang="en-AU">
                <a:latin typeface="Arial"/>
                <a:ea typeface="Arial"/>
                <a:cs typeface="Arial"/>
                <a:sym typeface="Arial"/>
              </a:rPr>
              <a:t>has </a:t>
            </a:r>
            <a:r>
              <a:rPr b="1" sz="2800" lang="en-AU">
                <a:latin typeface="Arial"/>
                <a:ea typeface="Arial"/>
                <a:cs typeface="Arial"/>
                <a:sym typeface="Arial"/>
              </a:rPr>
              <a:t>three parts</a:t>
            </a:r>
            <a:r>
              <a:rPr sz="2800" lang="en-AU">
                <a:latin typeface="Arial"/>
                <a:ea typeface="Arial"/>
                <a:cs typeface="Arial"/>
                <a:sym typeface="Arial"/>
              </a:rPr>
              <a:t>; these are, from behind forwards, the </a:t>
            </a:r>
            <a:r>
              <a:rPr b="1" sz="2800" lang="en-AU">
                <a:latin typeface="Arial"/>
                <a:ea typeface="Arial"/>
                <a:cs typeface="Arial"/>
                <a:sym typeface="Arial"/>
              </a:rPr>
              <a:t>sphenoidal</a:t>
            </a:r>
            <a:r>
              <a:rPr sz="2800" lang="en-AU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sz="2800" lang="en-AU">
                <a:latin typeface="Arial"/>
                <a:ea typeface="Arial"/>
                <a:cs typeface="Arial"/>
                <a:sym typeface="Arial"/>
              </a:rPr>
              <a:t>ethmoidal</a:t>
            </a:r>
            <a:r>
              <a:rPr sz="2800" lang="en-AU">
                <a:latin typeface="Arial"/>
                <a:ea typeface="Arial"/>
                <a:cs typeface="Arial"/>
                <a:sym typeface="Arial"/>
              </a:rPr>
              <a:t>, and </a:t>
            </a:r>
            <a:r>
              <a:rPr b="1" sz="2800" lang="en-AU">
                <a:latin typeface="Arial"/>
                <a:ea typeface="Arial"/>
                <a:cs typeface="Arial"/>
                <a:sym typeface="Arial"/>
              </a:rPr>
              <a:t>frontonasal</a:t>
            </a:r>
            <a:r>
              <a:rPr sz="2800" lang="en-AU">
                <a:latin typeface="Arial"/>
                <a:ea typeface="Arial"/>
                <a:cs typeface="Arial"/>
                <a:sym typeface="Arial"/>
              </a:rPr>
              <a:t> parts.</a:t>
            </a:r>
          </a:p>
          <a:p>
            <a:pPr algn="just" indent="-342900" lvl="0" marL="342900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sz="2800" lang="en-AU">
                <a:latin typeface="Arial"/>
                <a:ea typeface="Arial"/>
                <a:cs typeface="Arial"/>
                <a:sym typeface="Arial"/>
              </a:rPr>
              <a:t>.</a:t>
            </a:r>
            <a:endParaRPr sz="28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97154" name="Google Shape;126;p6"/>
          <p:cNvPicPr preferRelativeResize="0">
            <a:picLocks/>
          </p:cNvPicPr>
          <p:nvPr/>
        </p:nvPicPr>
        <p:blipFill rotWithShape="1">
          <a:blip xmlns:r="http://schemas.openxmlformats.org/officeDocument/2006/relationships" r:embed="rId1">
            <a:alphaModFix/>
          </a:blip>
          <a:srcRect l="0" t="0" r="0" b="0"/>
          <a:stretch>
            <a:fillRect/>
          </a:stretch>
        </p:blipFill>
        <p:spPr>
          <a:xfrm>
            <a:off x="4500562" y="1857364"/>
            <a:ext cx="3857652" cy="1928826"/>
          </a:xfrm>
          <a:prstGeom prst="rect"/>
          <a:noFill/>
          <a:ln>
            <a:noFill/>
          </a:ln>
        </p:spPr>
      </p:pic>
      <p:sp>
        <p:nvSpPr>
          <p:cNvPr id="1048649" name="Google Shape;127;p6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r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AU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8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2" name="Google Shape;132;p7"/>
          <p:cNvSpPr txBox="1"/>
          <p:nvPr>
            <p:ph type="body" idx="1"/>
          </p:nvPr>
        </p:nvSpPr>
        <p:spPr>
          <a:xfrm>
            <a:off x="214282" y="928670"/>
            <a:ext cx="8715436" cy="592933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/>
          </a:bodyPr>
          <a:p>
            <a:pPr algn="just" indent="-342900" lvl="0" marL="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sphenoidal part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of nasal roof is formed by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anterior surfaces of the body of the sphenoid,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this part slopes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downwards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backwards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and receives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the opening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sphenoidal sinus. </a:t>
            </a:r>
          </a:p>
          <a:p>
            <a:pPr algn="just" indent="-342900" lvl="0" marL="34290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AU">
                <a:latin typeface="Arial"/>
                <a:ea typeface="Arial"/>
                <a:cs typeface="Arial"/>
                <a:sym typeface="Arial"/>
              </a:rPr>
              <a:t>The ethmoidal part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of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nasal roof is formed by the cribriform plate of ethmoid; it is horizontally-disposed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and bears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several foramina,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which connect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nasal cavity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with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anterior cranial fossa (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and which transmit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olfactory nerve).</a:t>
            </a:r>
          </a:p>
        </p:txBody>
      </p:sp>
      <p:sp>
        <p:nvSpPr>
          <p:cNvPr id="1048653" name="Google Shape;133;p7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r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AU"/>
              <a:t>7</a:t>
            </a:fld>
          </a:p>
        </p:txBody>
      </p:sp>
      <p:sp>
        <p:nvSpPr>
          <p:cNvPr id="1048654" name="Google Shape;134;p7"/>
          <p:cNvSpPr txBox="1"/>
          <p:nvPr/>
        </p:nvSpPr>
        <p:spPr>
          <a:xfrm>
            <a:off x="2786050" y="0"/>
            <a:ext cx="3000396" cy="769441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spAutoFit/>
          </a:bodyPr>
          <a:p>
            <a:pPr algn="ctr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cap="none" sz="4400" i="0" lang="en-AU" strike="noStrike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Cont’d</a:t>
            </a:r>
            <a:endParaRPr b="0" cap="none" sz="4400" i="0" strike="noStrike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7" name="Google Shape;139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rmAutofit/>
          </a:bodyPr>
          <a:p>
            <a:pPr algn="ctr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lang="en-AU">
                <a:latin typeface="Arial Black"/>
                <a:ea typeface="Arial Black"/>
                <a:cs typeface="Arial Black"/>
                <a:sym typeface="Arial Black"/>
              </a:rPr>
              <a:t>Cont’d</a:t>
            </a:r>
            <a:endParaRPr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048658" name="Google Shape;140;p8"/>
          <p:cNvSpPr txBox="1"/>
          <p:nvPr>
            <p:ph type="body" idx="1"/>
          </p:nvPr>
        </p:nvSpPr>
        <p:spPr>
          <a:xfrm>
            <a:off x="457200" y="1214422"/>
            <a:ext cx="8229600" cy="5643578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/>
          </a:bodyPr>
          <a:p>
            <a:pPr algn="just" indent="-342900" lvl="0" marL="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AU">
                <a:latin typeface="Arial"/>
                <a:ea typeface="Arial"/>
                <a:cs typeface="Arial"/>
                <a:sym typeface="Arial"/>
              </a:rPr>
              <a:t>The frontonasal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part of nasal roof is formed by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nasal spine of the frontal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nasal bone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and the junction 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septal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lateral cartilages;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it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slopes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downwards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forwards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algn="just" indent="-342900" lvl="0" marL="34290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Intimately related (above) to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roof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nasal cavity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are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sphenoidal sinus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anterior cranial fossa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anterior cranial fossa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contains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olfactory bulb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frontal lobes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cerebral hemispheres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and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meninges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1" name="Google Shape;145;p9"/>
          <p:cNvSpPr txBox="1"/>
          <p:nvPr>
            <p:ph type="body" idx="1"/>
          </p:nvPr>
        </p:nvSpPr>
        <p:spPr>
          <a:xfrm>
            <a:off x="285720" y="1214422"/>
            <a:ext cx="8572560" cy="5643578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/>
          </a:bodyPr>
          <a:p>
            <a:pPr algn="just" indent="-342900" lvl="0" marL="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AU">
                <a:latin typeface="Arial"/>
                <a:ea typeface="Arial"/>
                <a:cs typeface="Arial"/>
                <a:sym typeface="Arial"/>
              </a:rPr>
              <a:t>Floor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: It is formed by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upper surface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hard palate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i.e.,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anterior three-fourth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is formed by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palatine process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of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maxilla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posterior one fourth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is formed by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horizontal plate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palatine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bone.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floor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is almost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horizontal. It slopes downwards and forwards,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and is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broader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than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roof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 It bears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opening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incisive canal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in its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anterior part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(near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nasal septum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).</a:t>
            </a:r>
          </a:p>
          <a:p>
            <a:pPr algn="just" indent="-133350" lvl="0" marL="342900" rtl="0">
              <a:lnSpc>
                <a:spcPct val="100000"/>
              </a:lnSpc>
              <a:spcBef>
                <a:spcPts val="66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</a:pPr>
            <a:r>
              <a:t/>
            </a:r>
            <a:endParaRPr sz="3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8662" name="Google Shape;146;p9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r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AU"/>
              <a:t>9</a:t>
            </a:fld>
          </a:p>
        </p:txBody>
      </p:sp>
      <p:sp>
        <p:nvSpPr>
          <p:cNvPr id="1048663" name="Google Shape;147;p9"/>
          <p:cNvSpPr txBox="1"/>
          <p:nvPr/>
        </p:nvSpPr>
        <p:spPr>
          <a:xfrm>
            <a:off x="3786182" y="428604"/>
            <a:ext cx="2151551" cy="769441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spAutoFit/>
          </a:bodyPr>
          <a:p>
            <a:pPr algn="l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cap="none" sz="4400" i="0" lang="en-AU" strike="noStrike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Cont’d</a:t>
            </a:r>
            <a:endParaRPr b="0" cap="none" sz="4400" i="0" strike="noStrike" u="none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7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6" name="Google Shape;152;p10"/>
          <p:cNvSpPr txBox="1"/>
          <p:nvPr>
            <p:ph type="title"/>
          </p:nvPr>
        </p:nvSpPr>
        <p:spPr>
          <a:xfrm>
            <a:off x="457200" y="0"/>
            <a:ext cx="8229600" cy="1000108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rmAutofit/>
          </a:bodyPr>
          <a:p>
            <a:pPr algn="ctr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lang="en-AU">
                <a:latin typeface="Arial Black"/>
                <a:ea typeface="Arial Black"/>
                <a:cs typeface="Arial Black"/>
                <a:sym typeface="Arial Black"/>
              </a:rPr>
              <a:t>Cont’d</a:t>
            </a:r>
          </a:p>
        </p:txBody>
      </p:sp>
      <p:sp>
        <p:nvSpPr>
          <p:cNvPr id="1048667" name="Google Shape;153;p10"/>
          <p:cNvSpPr txBox="1"/>
          <p:nvPr>
            <p:ph type="body" idx="1"/>
          </p:nvPr>
        </p:nvSpPr>
        <p:spPr>
          <a:xfrm>
            <a:off x="457200" y="785794"/>
            <a:ext cx="8543956" cy="6500858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/>
          </a:bodyPr>
          <a:p>
            <a:pPr algn="just" indent="-342931" lvl="0" marL="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sz="3500" lang="en-AU">
                <a:latin typeface="Arial"/>
                <a:ea typeface="Arial"/>
                <a:cs typeface="Arial"/>
                <a:sym typeface="Arial"/>
              </a:rPr>
              <a:t>Medial wall</a:t>
            </a:r>
            <a:r>
              <a:rPr sz="3500" lang="en-AU">
                <a:latin typeface="Arial"/>
                <a:ea typeface="Arial"/>
                <a:cs typeface="Arial"/>
                <a:sym typeface="Arial"/>
              </a:rPr>
              <a:t>: It is formed by </a:t>
            </a:r>
            <a:r>
              <a:rPr b="1" sz="3500" lang="en-AU">
                <a:latin typeface="Arial"/>
                <a:ea typeface="Arial"/>
                <a:cs typeface="Arial"/>
                <a:sym typeface="Arial"/>
              </a:rPr>
              <a:t>nasal septum</a:t>
            </a:r>
            <a:r>
              <a:rPr sz="3500" lang="en-AU">
                <a:latin typeface="Arial"/>
                <a:ea typeface="Arial"/>
                <a:cs typeface="Arial"/>
                <a:sym typeface="Arial"/>
              </a:rPr>
              <a:t>. The </a:t>
            </a:r>
            <a:r>
              <a:rPr b="1" sz="3500" lang="en-AU">
                <a:latin typeface="Arial"/>
                <a:ea typeface="Arial"/>
                <a:cs typeface="Arial"/>
                <a:sym typeface="Arial"/>
              </a:rPr>
              <a:t>nasal septum </a:t>
            </a:r>
            <a:r>
              <a:rPr sz="3500" lang="en-AU">
                <a:latin typeface="Arial"/>
                <a:ea typeface="Arial"/>
                <a:cs typeface="Arial"/>
                <a:sym typeface="Arial"/>
              </a:rPr>
              <a:t>is a median </a:t>
            </a:r>
            <a:r>
              <a:rPr b="1" sz="3500" lang="en-AU">
                <a:latin typeface="Arial"/>
                <a:ea typeface="Arial"/>
                <a:cs typeface="Arial"/>
                <a:sym typeface="Arial"/>
              </a:rPr>
              <a:t>osseocartilaginous partition </a:t>
            </a:r>
            <a:r>
              <a:rPr sz="3500" lang="en-AU">
                <a:latin typeface="Arial"/>
                <a:ea typeface="Arial"/>
                <a:cs typeface="Arial"/>
                <a:sym typeface="Arial"/>
              </a:rPr>
              <a:t>between the </a:t>
            </a:r>
            <a:r>
              <a:rPr b="1" sz="3500" lang="en-AU">
                <a:latin typeface="Arial"/>
                <a:ea typeface="Arial"/>
                <a:cs typeface="Arial"/>
                <a:sym typeface="Arial"/>
              </a:rPr>
              <a:t>nasal cavities</a:t>
            </a:r>
            <a:r>
              <a:rPr sz="3500" lang="en-AU">
                <a:latin typeface="Arial"/>
                <a:ea typeface="Arial"/>
                <a:cs typeface="Arial"/>
                <a:sym typeface="Arial"/>
              </a:rPr>
              <a:t>. It extends from the </a:t>
            </a:r>
            <a:r>
              <a:rPr b="1" sz="3500" lang="en-AU">
                <a:latin typeface="Arial"/>
                <a:ea typeface="Arial"/>
                <a:cs typeface="Arial"/>
                <a:sym typeface="Arial"/>
              </a:rPr>
              <a:t>nasal roof </a:t>
            </a:r>
            <a:r>
              <a:rPr sz="3500" lang="en-AU">
                <a:latin typeface="Arial"/>
                <a:ea typeface="Arial"/>
                <a:cs typeface="Arial"/>
                <a:sym typeface="Arial"/>
              </a:rPr>
              <a:t>above to the </a:t>
            </a:r>
            <a:r>
              <a:rPr b="1" sz="3500" lang="en-AU">
                <a:latin typeface="Arial"/>
                <a:ea typeface="Arial"/>
                <a:cs typeface="Arial"/>
                <a:sym typeface="Arial"/>
              </a:rPr>
              <a:t>floor</a:t>
            </a:r>
            <a:r>
              <a:rPr sz="3500" lang="en-AU">
                <a:latin typeface="Arial"/>
                <a:ea typeface="Arial"/>
                <a:cs typeface="Arial"/>
                <a:sym typeface="Arial"/>
              </a:rPr>
              <a:t> below.</a:t>
            </a:r>
          </a:p>
          <a:p>
            <a:pPr algn="just" indent="-342931" lvl="0" marL="342900" rtl="0">
              <a:lnSpc>
                <a:spcPct val="100000"/>
              </a:lnSpc>
              <a:spcBef>
                <a:spcPts val="647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sz="3500" lang="en-AU"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sz="3500" lang="en-AU">
                <a:latin typeface="Arial"/>
                <a:ea typeface="Arial"/>
                <a:cs typeface="Arial"/>
                <a:sym typeface="Arial"/>
              </a:rPr>
              <a:t>bony part </a:t>
            </a:r>
            <a:r>
              <a:rPr sz="3500" lang="en-AU">
                <a:latin typeface="Arial"/>
                <a:ea typeface="Arial"/>
                <a:cs typeface="Arial"/>
                <a:sym typeface="Arial"/>
              </a:rPr>
              <a:t>is formed by: </a:t>
            </a:r>
            <a:r>
              <a:rPr b="1" sz="3500" lang="en-AU">
                <a:latin typeface="Arial"/>
                <a:ea typeface="Arial"/>
                <a:cs typeface="Arial"/>
                <a:sym typeface="Arial"/>
              </a:rPr>
              <a:t>perpendicular plate of ethmoid</a:t>
            </a:r>
            <a:r>
              <a:rPr sz="3500" lang="en-AU">
                <a:latin typeface="Arial"/>
                <a:ea typeface="Arial"/>
                <a:cs typeface="Arial"/>
                <a:sym typeface="Arial"/>
              </a:rPr>
              <a:t>, which forms the </a:t>
            </a:r>
            <a:r>
              <a:rPr b="1" sz="3500" lang="en-AU">
                <a:latin typeface="Arial"/>
                <a:ea typeface="Arial"/>
                <a:cs typeface="Arial"/>
                <a:sym typeface="Arial"/>
              </a:rPr>
              <a:t>posterosuperior part </a:t>
            </a:r>
            <a:r>
              <a:rPr sz="3500" lang="en-AU">
                <a:latin typeface="Arial"/>
                <a:ea typeface="Arial"/>
                <a:cs typeface="Arial"/>
                <a:sym typeface="Arial"/>
              </a:rPr>
              <a:t>of the </a:t>
            </a:r>
            <a:r>
              <a:rPr b="1" sz="3500" lang="en-AU">
                <a:latin typeface="Arial"/>
                <a:ea typeface="Arial"/>
                <a:cs typeface="Arial"/>
                <a:sym typeface="Arial"/>
              </a:rPr>
              <a:t>septum, </a:t>
            </a:r>
            <a:r>
              <a:rPr sz="3500" lang="en-AU"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b="1" sz="3500" lang="en-AU">
                <a:latin typeface="Arial"/>
                <a:ea typeface="Arial"/>
                <a:cs typeface="Arial"/>
                <a:sym typeface="Arial"/>
              </a:rPr>
              <a:t>vomer</a:t>
            </a:r>
            <a:r>
              <a:rPr sz="3500" lang="en-AU">
                <a:latin typeface="Arial"/>
                <a:ea typeface="Arial"/>
                <a:cs typeface="Arial"/>
                <a:sym typeface="Arial"/>
              </a:rPr>
              <a:t>, which </a:t>
            </a:r>
            <a:r>
              <a:rPr b="1" sz="3500" lang="en-AU">
                <a:latin typeface="Arial"/>
                <a:ea typeface="Arial"/>
                <a:cs typeface="Arial"/>
                <a:sym typeface="Arial"/>
              </a:rPr>
              <a:t>forms</a:t>
            </a:r>
            <a:r>
              <a:rPr sz="3500" lang="en-AU">
                <a:latin typeface="Arial"/>
                <a:ea typeface="Arial"/>
                <a:cs typeface="Arial"/>
                <a:sym typeface="Arial"/>
              </a:rPr>
              <a:t> the </a:t>
            </a:r>
            <a:r>
              <a:rPr b="1" sz="3500" lang="en-AU">
                <a:latin typeface="Arial"/>
                <a:ea typeface="Arial"/>
                <a:cs typeface="Arial"/>
                <a:sym typeface="Arial"/>
              </a:rPr>
              <a:t>posteroinferior part </a:t>
            </a:r>
            <a:r>
              <a:rPr sz="3500" lang="en-AU">
                <a:latin typeface="Arial"/>
                <a:ea typeface="Arial"/>
                <a:cs typeface="Arial"/>
                <a:sym typeface="Arial"/>
              </a:rPr>
              <a:t>of the nasal </a:t>
            </a:r>
            <a:r>
              <a:rPr b="1" sz="3500" lang="en-AU">
                <a:latin typeface="Arial"/>
                <a:ea typeface="Arial"/>
                <a:cs typeface="Arial"/>
                <a:sym typeface="Arial"/>
              </a:rPr>
              <a:t>septum, including the posterior border of the nasal septum</a:t>
            </a:r>
            <a:r>
              <a:rPr sz="3500" lang="en-AU">
                <a:latin typeface="Arial"/>
                <a:ea typeface="Arial"/>
                <a:cs typeface="Arial"/>
                <a:sym typeface="Arial"/>
              </a:rPr>
              <a:t>. This bone extends from the </a:t>
            </a:r>
            <a:r>
              <a:rPr b="1" sz="3500" lang="en-AU">
                <a:latin typeface="Arial"/>
                <a:ea typeface="Arial"/>
                <a:cs typeface="Arial"/>
                <a:sym typeface="Arial"/>
              </a:rPr>
              <a:t>sphenoidal body </a:t>
            </a:r>
            <a:r>
              <a:rPr sz="3500" lang="en-AU">
                <a:latin typeface="Arial"/>
                <a:ea typeface="Arial"/>
                <a:cs typeface="Arial"/>
                <a:sym typeface="Arial"/>
              </a:rPr>
              <a:t>above to the </a:t>
            </a:r>
            <a:r>
              <a:rPr b="1" sz="3500" lang="en-AU">
                <a:latin typeface="Arial"/>
                <a:ea typeface="Arial"/>
                <a:cs typeface="Arial"/>
                <a:sym typeface="Arial"/>
              </a:rPr>
              <a:t>hard palate </a:t>
            </a:r>
            <a:r>
              <a:rPr sz="3500" lang="en-AU">
                <a:latin typeface="Arial"/>
                <a:ea typeface="Arial"/>
                <a:cs typeface="Arial"/>
                <a:sym typeface="Arial"/>
              </a:rPr>
              <a:t>below.</a:t>
            </a:r>
          </a:p>
          <a:p>
            <a:pPr algn="just" indent="-154940" lvl="0" marL="342900" rtl="0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algn="just" indent="-154940" lvl="0" marL="342900" rtl="0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0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0" name="Google Shape;158;p11"/>
          <p:cNvSpPr txBox="1"/>
          <p:nvPr>
            <p:ph type="body" idx="1"/>
          </p:nvPr>
        </p:nvSpPr>
        <p:spPr>
          <a:xfrm>
            <a:off x="214282" y="285728"/>
            <a:ext cx="8715436" cy="6357982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algn="just" indent="-342900" lvl="0" marL="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cartilaginous part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is formed by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septal cartilage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which forms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major anterior part of the septum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and fits in the angle between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vomer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perpendicular plate of ethmoid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and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septal processes of the two major alar cartilages.</a:t>
            </a:r>
          </a:p>
          <a:p>
            <a:pPr algn="just" indent="-342900" lvl="0" marL="34290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AU">
                <a:latin typeface="Arial"/>
                <a:ea typeface="Arial"/>
                <a:cs typeface="Arial"/>
                <a:sym typeface="Arial"/>
              </a:rPr>
              <a:t>The hyaline septal cartilage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completes the nasal septum anteriorly.</a:t>
            </a:r>
          </a:p>
          <a:p>
            <a:pPr algn="just" indent="-342900" lvl="0" marL="34290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AU">
                <a:latin typeface="Arial"/>
                <a:ea typeface="Arial"/>
                <a:cs typeface="Arial"/>
                <a:sym typeface="Arial"/>
              </a:rPr>
              <a:t>Minor contributions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to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nasal septum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are provided by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nasal spine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of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frontal bone anterosuperiorly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sphenoidal crest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posterosuperiorly, and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nasal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crest of maxilla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and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palatine bone inferiorly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8671" name="Google Shape;159;p11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r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AU"/>
              <a:t>11</a:t>
            </a:fld>
          </a:p>
        </p:txBody>
      </p:sp>
      <p:sp>
        <p:nvSpPr>
          <p:cNvPr id="1048672" name="Google Shape;160;p11"/>
          <p:cNvSpPr txBox="1"/>
          <p:nvPr/>
        </p:nvSpPr>
        <p:spPr>
          <a:xfrm>
            <a:off x="3786182" y="-142900"/>
            <a:ext cx="2151551" cy="769441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spAutoFit/>
          </a:bodyPr>
          <a:p>
            <a:pPr algn="l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cap="none" sz="4400" i="0" lang="en-AU" strike="noStrike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Cont’d</a:t>
            </a:r>
            <a:endParaRPr b="0" cap="none" sz="4400" i="0" strike="noStrike" u="none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3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5" name="Google Shape;165;p12"/>
          <p:cNvSpPr txBox="1"/>
          <p:nvPr>
            <p:ph type="title"/>
          </p:nvPr>
        </p:nvSpPr>
        <p:spPr>
          <a:xfrm>
            <a:off x="457200" y="428604"/>
            <a:ext cx="8229600" cy="1071570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rmAutofit/>
          </a:bodyPr>
          <a:p>
            <a:pPr algn="ctr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lang="en-AU">
                <a:latin typeface="Arial Black"/>
                <a:ea typeface="Arial Black"/>
                <a:cs typeface="Arial Black"/>
                <a:sym typeface="Arial Black"/>
              </a:rPr>
              <a:t>Cont’d</a:t>
            </a:r>
            <a:endParaRPr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048676" name="Google Shape;166;p1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/>
          </a:bodyPr>
          <a:p>
            <a:pPr algn="just" indent="-342900" lvl="0" marL="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nasopalatine nerve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sphenopalatine vessels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groove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surface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vomer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as they pass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anteroinferiorly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over the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 septum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6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9" name="Google Shape;171;p13"/>
          <p:cNvSpPr txBox="1"/>
          <p:nvPr>
            <p:ph type="body" idx="1"/>
          </p:nvPr>
        </p:nvSpPr>
        <p:spPr>
          <a:xfrm>
            <a:off x="0" y="571480"/>
            <a:ext cx="9001156" cy="6715172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/>
          </a:bodyPr>
          <a:p>
            <a:pPr algn="just" indent="-342900" lvl="0" marL="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AU">
                <a:latin typeface="Arial"/>
                <a:ea typeface="Arial"/>
                <a:cs typeface="Arial"/>
                <a:sym typeface="Arial"/>
              </a:rPr>
              <a:t>Lateral wall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: It has an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irregular appearance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owing to the presence of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three scroll-like bony processes (superior, middle, and inferior conchae)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that project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inferomedially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from it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It is formed by a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number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of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bones and cartilages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algn="just" indent="-342900" lvl="0" marL="342900" rtl="0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It is separated from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orbit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(in its upper part) by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ethmoidal labyrinth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algn="just" indent="-342900" lvl="0" marL="342900" rtl="0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It is formed mainly by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three bones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which include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maxillary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palatine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and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ethmoidal bones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algn="just" indent="-342900" lvl="0" marL="342900" rtl="0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It is also formed by the maxilla antero-inferiorly,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perpendicular plate of palatine bone posteriorly, and ethmoidal labyrinth superiorly.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8680" name="Google Shape;172;p13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r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AU"/>
              <a:t>13</a:t>
            </a:fld>
          </a:p>
        </p:txBody>
      </p:sp>
      <p:sp>
        <p:nvSpPr>
          <p:cNvPr id="1048681" name="Google Shape;173;p13"/>
          <p:cNvSpPr txBox="1"/>
          <p:nvPr/>
        </p:nvSpPr>
        <p:spPr>
          <a:xfrm>
            <a:off x="4000496" y="1"/>
            <a:ext cx="2500330" cy="769441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spAutoFit/>
          </a:bodyPr>
          <a:p>
            <a:pPr algn="l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cap="none" sz="4400" i="0" lang="en-AU" strike="noStrike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Cont’d</a:t>
            </a:r>
            <a:endParaRPr b="0" cap="none" sz="4400" i="0" strike="noStrike" u="none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9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5" name="Google Shape;178;p14"/>
          <p:cNvPicPr preferRelativeResize="0">
            <a:picLocks/>
          </p:cNvPicPr>
          <p:nvPr>
            <p:ph type="body" idx="1"/>
          </p:nvPr>
        </p:nvPicPr>
        <p:blipFill rotWithShape="1">
          <a:blip xmlns:r="http://schemas.openxmlformats.org/officeDocument/2006/relationships" r:embed="rId1">
            <a:alphaModFix/>
          </a:blip>
          <a:srcRect l="0" t="0" r="0" b="0"/>
          <a:stretch>
            <a:fillRect/>
          </a:stretch>
        </p:blipFill>
        <p:spPr>
          <a:xfrm>
            <a:off x="642910" y="857232"/>
            <a:ext cx="7429552" cy="5000660"/>
          </a:xfrm>
          <a:prstGeom prst="rect"/>
          <a:noFill/>
          <a:ln>
            <a:noFill/>
          </a:ln>
        </p:spPr>
      </p:pic>
      <p:sp>
        <p:nvSpPr>
          <p:cNvPr id="1048684" name="Google Shape;179;p14"/>
          <p:cNvSpPr txBox="1"/>
          <p:nvPr/>
        </p:nvSpPr>
        <p:spPr>
          <a:xfrm>
            <a:off x="2786050" y="5929330"/>
            <a:ext cx="3068597" cy="624799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spAutoFit/>
          </a:bodyPr>
          <a:p>
            <a:pPr algn="l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cap="none" sz="1800" i="0" lang="en-AU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Formation of the nasal septum</a:t>
            </a:r>
            <a:endParaRPr b="0" cap="none" sz="1800" i="0" strike="noStrike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685" name="Google Shape;180;p14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r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AU"/>
              <a:t>14</a:t>
            </a:fld>
          </a:p>
        </p:txBody>
      </p:sp>
      <p:sp>
        <p:nvSpPr>
          <p:cNvPr id="1048686" name="Google Shape;181;p14"/>
          <p:cNvSpPr txBox="1"/>
          <p:nvPr/>
        </p:nvSpPr>
        <p:spPr>
          <a:xfrm>
            <a:off x="3929058" y="214290"/>
            <a:ext cx="2151551" cy="769441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spAutoFit/>
          </a:bodyPr>
          <a:p>
            <a:pPr algn="l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cap="none" sz="4400" i="0" lang="en-AU" strike="noStrike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Cont’d</a:t>
            </a:r>
            <a:endParaRPr b="0" cap="none" sz="4400" i="0" strike="noStrike" u="none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2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9" name="Google Shape;186;p15"/>
          <p:cNvSpPr txBox="1"/>
          <p:nvPr>
            <p:ph type="body" idx="1"/>
          </p:nvPr>
        </p:nvSpPr>
        <p:spPr>
          <a:xfrm>
            <a:off x="457200" y="785794"/>
            <a:ext cx="8229600" cy="571504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/>
          </a:bodyPr>
          <a:p>
            <a:pPr algn="just" indent="-342900" lvl="0" marL="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cartilages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forming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lateral wall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are: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lateral nasal cartilage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(upper nasal cartilage),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major alar cartilage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(lower nasal cartilage), and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three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to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four tiny cartilages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alae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(minor alar cartilages).</a:t>
            </a:r>
          </a:p>
          <a:p>
            <a:pPr algn="just" indent="-139700" lvl="0" marL="34290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97156" name="Google Shape;187;p15"/>
          <p:cNvPicPr preferRelativeResize="0">
            <a:picLocks/>
          </p:cNvPicPr>
          <p:nvPr/>
        </p:nvPicPr>
        <p:blipFill rotWithShape="1">
          <a:blip xmlns:r="http://schemas.openxmlformats.org/officeDocument/2006/relationships" r:embed="rId1">
            <a:alphaModFix/>
          </a:blip>
          <a:srcRect l="0" t="0" r="0" b="0"/>
          <a:stretch>
            <a:fillRect/>
          </a:stretch>
        </p:blipFill>
        <p:spPr>
          <a:xfrm>
            <a:off x="1928794" y="3857628"/>
            <a:ext cx="6734200" cy="2357454"/>
          </a:xfrm>
          <a:prstGeom prst="rect"/>
          <a:noFill/>
          <a:ln>
            <a:noFill/>
          </a:ln>
        </p:spPr>
      </p:pic>
      <p:sp>
        <p:nvSpPr>
          <p:cNvPr id="1048690" name="Google Shape;188;p15"/>
          <p:cNvSpPr txBox="1"/>
          <p:nvPr/>
        </p:nvSpPr>
        <p:spPr>
          <a:xfrm>
            <a:off x="1857356" y="6357958"/>
            <a:ext cx="4587603" cy="624799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spAutoFit/>
          </a:bodyPr>
          <a:p>
            <a:pPr algn="l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cap="none" sz="1800" i="0" lang="en-AU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Formation of the lateral wall of the nasal cavity</a:t>
            </a:r>
            <a:endParaRPr b="0" cap="none" sz="1800" i="0" strike="noStrike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691" name="Google Shape;189;p15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r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AU"/>
              <a:t>15</a:t>
            </a:fld>
          </a:p>
        </p:txBody>
      </p:sp>
      <p:sp>
        <p:nvSpPr>
          <p:cNvPr id="1048692" name="Google Shape;190;p15"/>
          <p:cNvSpPr txBox="1"/>
          <p:nvPr/>
        </p:nvSpPr>
        <p:spPr>
          <a:xfrm>
            <a:off x="3786182" y="214290"/>
            <a:ext cx="2151551" cy="955001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spAutoFit/>
          </a:bodyPr>
          <a:p>
            <a:pPr algn="l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cap="none" sz="4400" i="0" lang="en-AU" strike="noStrike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Cont’d</a:t>
            </a:r>
            <a:endParaRPr b="0" cap="none" sz="4400" i="0" strike="noStrike" u="none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algn="l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cap="none" sz="1800" i="0" strike="noStrike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5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5" name="Google Shape;195;p16"/>
          <p:cNvSpPr txBox="1"/>
          <p:nvPr>
            <p:ph type="title"/>
          </p:nvPr>
        </p:nvSpPr>
        <p:spPr>
          <a:xfrm>
            <a:off x="457200" y="0"/>
            <a:ext cx="8229600" cy="642918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rmAutofit/>
          </a:bodyPr>
          <a:p>
            <a:pPr algn="ctr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 Black"/>
              <a:buNone/>
            </a:pPr>
            <a:r>
              <a:rPr lang="en-AU">
                <a:latin typeface="Arial Black"/>
                <a:ea typeface="Arial Black"/>
                <a:cs typeface="Arial Black"/>
                <a:sym typeface="Arial Black"/>
              </a:rPr>
              <a:t>Features of the lateral wall</a:t>
            </a:r>
            <a:endParaRPr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048696" name="Google Shape;196;p16"/>
          <p:cNvSpPr txBox="1"/>
          <p:nvPr>
            <p:ph type="body" idx="1"/>
          </p:nvPr>
        </p:nvSpPr>
        <p:spPr>
          <a:xfrm>
            <a:off x="214282" y="714356"/>
            <a:ext cx="8643998" cy="6572296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 lnSpcReduction="10000"/>
          </a:bodyPr>
          <a:p>
            <a:pPr algn="just" indent="-342900" lvl="0" marL="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AU"/>
              <a:t>   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lateral wall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is divided into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following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three areas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Anterior part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presents a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small depressed area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the vestibule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 It is lined by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skin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containing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vibrissae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(short, stiff curved hair).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Middle part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is known as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atrium of the middle meatus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 It is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limited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above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by a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faint ridge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of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mucous membrane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agger nasi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 The curved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mucocutaneous junction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between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atrium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vestibule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is known as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limen nasi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Posterior part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presents three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scroll-like projections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conchae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or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turbinates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spaces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separating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conchae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are called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meatuses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8697" name="Google Shape;197;p16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r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AU"/>
              <a:t>16</a:t>
            </a:fld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8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0" name="Google Shape;202;p17"/>
          <p:cNvSpPr txBox="1"/>
          <p:nvPr>
            <p:ph type="body" idx="1"/>
          </p:nvPr>
        </p:nvSpPr>
        <p:spPr>
          <a:xfrm>
            <a:off x="457200" y="1500174"/>
            <a:ext cx="8401080" cy="5143536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/>
          </a:bodyPr>
          <a:p>
            <a:pPr algn="just" indent="-342900" lvl="0" marL="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conchae and meatuses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form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main features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lateral wall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Conchae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(are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curved bony projections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directed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downwards and medially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Below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lateral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to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each concha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is a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corresponding  meatus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 From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above downwards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conchae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are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superior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middle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and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inferior nasal conchae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8701" name="Google Shape;203;p17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r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AU"/>
              <a:t>17</a:t>
            </a:fld>
          </a:p>
        </p:txBody>
      </p:sp>
      <p:sp>
        <p:nvSpPr>
          <p:cNvPr id="1048702" name="Google Shape;204;p17"/>
          <p:cNvSpPr txBox="1"/>
          <p:nvPr/>
        </p:nvSpPr>
        <p:spPr>
          <a:xfrm>
            <a:off x="3786182" y="571480"/>
            <a:ext cx="2714644" cy="955001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spAutoFit/>
          </a:bodyPr>
          <a:p>
            <a:pPr algn="l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cap="none" sz="4400" i="0" lang="en-AU" strike="noStrike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Cont’d</a:t>
            </a:r>
            <a:endParaRPr b="0" cap="none" sz="4400" i="0" strike="noStrike" u="none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algn="l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cap="none" sz="1800" i="0" strike="noStrike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5" name="Google Shape;209;p18"/>
          <p:cNvSpPr txBox="1"/>
          <p:nvPr>
            <p:ph type="body" idx="1"/>
          </p:nvPr>
        </p:nvSpPr>
        <p:spPr>
          <a:xfrm>
            <a:off x="285720" y="214290"/>
            <a:ext cx="8572560" cy="7072362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 lnSpcReduction="10000"/>
          </a:bodyPr>
          <a:p>
            <a:pPr algn="just" indent="-342900" lvl="0" marL="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⮚"/>
            </a:pPr>
            <a:r>
              <a:rPr b="1" lang="en-AU">
                <a:latin typeface="Arial"/>
                <a:ea typeface="Arial"/>
                <a:cs typeface="Arial"/>
                <a:sym typeface="Arial"/>
              </a:rPr>
              <a:t>Conchae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:</a:t>
            </a:r>
          </a:p>
          <a:p>
            <a:pPr algn="just" indent="-342900" lvl="0" marL="34290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AU">
                <a:latin typeface="Arial"/>
                <a:ea typeface="Arial"/>
                <a:cs typeface="Arial"/>
                <a:sym typeface="Arial"/>
              </a:rPr>
              <a:t>Superior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nasal concha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is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smallest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conchae,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It is located adjacent to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sphenoidal body. Superior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middle nasal conchae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are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projections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from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medial surface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ethmoidal labyrinth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 Superior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nasal concha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separates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sphenoethmoidal recess above from the superior nasal meatus below.</a:t>
            </a:r>
          </a:p>
          <a:p>
            <a:pPr algn="just" indent="-342900" lvl="0" marL="34290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middle nasal concha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is located above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inferior nasal concha, on the lateral wall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nasal cavity, and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it overhangs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middle nasal meatus.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algn="just" indent="-139700" lvl="0" marL="34290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8706" name="Google Shape;210;p18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r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AU"/>
              <a:t>18</a:t>
            </a:fld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9" name="Google Shape;215;p19"/>
          <p:cNvSpPr txBox="1"/>
          <p:nvPr>
            <p:ph type="title"/>
          </p:nvPr>
        </p:nvSpPr>
        <p:spPr>
          <a:xfrm>
            <a:off x="457200" y="274638"/>
            <a:ext cx="8229600" cy="939784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rmAutofit/>
          </a:bodyPr>
          <a:p>
            <a:pPr algn="ctr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lang="en-AU">
                <a:latin typeface="Arial Black"/>
                <a:ea typeface="Arial Black"/>
                <a:cs typeface="Arial Black"/>
                <a:sym typeface="Arial Black"/>
              </a:rPr>
              <a:t>Cont’d</a:t>
            </a:r>
            <a:endParaRPr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048710" name="Google Shape;216;p19"/>
          <p:cNvSpPr txBox="1"/>
          <p:nvPr>
            <p:ph type="body" idx="1"/>
          </p:nvPr>
        </p:nvSpPr>
        <p:spPr>
          <a:xfrm>
            <a:off x="457200" y="1214422"/>
            <a:ext cx="8229600" cy="4911741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/>
          </a:bodyPr>
          <a:p>
            <a:pPr algn="just" indent="-342900" lvl="0" marL="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AU">
                <a:latin typeface="Arial"/>
                <a:ea typeface="Arial"/>
                <a:cs typeface="Arial"/>
                <a:sym typeface="Arial"/>
              </a:rPr>
              <a:t>Inferior nasal concha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is a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separate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bone and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it is also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largest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conchae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 It is close to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nasal floor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and it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overhangs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inferior nasal meatus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 Being a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separate bone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inferior concha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articulates with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maxillary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palatine bone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algn="l" indent="-139700" lvl="0" marL="34290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</a:p>
        </p:txBody>
      </p:sp>
      <p:pic>
        <p:nvPicPr>
          <p:cNvPr id="2097157" name="Google Shape;217;p19"/>
          <p:cNvPicPr preferRelativeResize="0">
            <a:picLocks/>
          </p:cNvPicPr>
          <p:nvPr/>
        </p:nvPicPr>
        <p:blipFill rotWithShape="1">
          <a:blip xmlns:r="http://schemas.openxmlformats.org/officeDocument/2006/relationships" r:embed="rId1">
            <a:alphaModFix/>
          </a:blip>
          <a:srcRect l="0" t="0" r="0" b="0"/>
          <a:stretch>
            <a:fillRect/>
          </a:stretch>
        </p:blipFill>
        <p:spPr>
          <a:xfrm>
            <a:off x="2928926" y="4786322"/>
            <a:ext cx="6029325" cy="2071678"/>
          </a:xfrm>
          <a:prstGeom prst="rect"/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7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3" name="Google Shape;222;p20"/>
          <p:cNvSpPr txBox="1"/>
          <p:nvPr>
            <p:ph type="title"/>
          </p:nvPr>
        </p:nvSpPr>
        <p:spPr>
          <a:xfrm>
            <a:off x="457200" y="-214338"/>
            <a:ext cx="8229600" cy="1214446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rmAutofit/>
          </a:bodyPr>
          <a:p>
            <a:pPr algn="ctr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lang="en-AU">
                <a:latin typeface="Arial Black"/>
                <a:ea typeface="Arial Black"/>
                <a:cs typeface="Arial Black"/>
                <a:sym typeface="Arial Black"/>
              </a:rPr>
              <a:t>Meatuses</a:t>
            </a:r>
            <a:endParaRPr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048714" name="Google Shape;223;p20"/>
          <p:cNvSpPr txBox="1"/>
          <p:nvPr>
            <p:ph type="body" idx="1"/>
          </p:nvPr>
        </p:nvSpPr>
        <p:spPr>
          <a:xfrm>
            <a:off x="214282" y="714356"/>
            <a:ext cx="8472518" cy="5929354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 lnSpcReduction="10000"/>
          </a:bodyPr>
          <a:p>
            <a:pPr algn="just" indent="-342900" lvl="0" marL="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AU">
                <a:latin typeface="Arial"/>
                <a:ea typeface="Arial"/>
                <a:cs typeface="Arial"/>
                <a:sym typeface="Arial"/>
              </a:rPr>
              <a:t>Meatuses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are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passages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(recesses) beneath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overhanging conchae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superior nasal meatus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is located beneath the superior nasal concha; it is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shallowest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shortest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nasal meatuses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 It receives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opening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posterior ethmoidal sinus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algn="just" indent="-342900" lvl="0" marL="34290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middle nasal meatus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lies beneath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middle nasal concha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which largely hides it from view. On its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lateral wall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is the rounded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ethmoidal bulla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-an eminence produced by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middle ethmoidal air cells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0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7" name="Google Shape;228;p21"/>
          <p:cNvSpPr txBox="1"/>
          <p:nvPr>
            <p:ph type="title"/>
          </p:nvPr>
        </p:nvSpPr>
        <p:spPr>
          <a:xfrm>
            <a:off x="457200" y="-214338"/>
            <a:ext cx="8229600" cy="857256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rmAutofit/>
          </a:bodyPr>
          <a:p>
            <a:pPr algn="ctr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lang="en-AU">
                <a:latin typeface="Arial Black"/>
                <a:ea typeface="Arial Black"/>
                <a:cs typeface="Arial Black"/>
                <a:sym typeface="Arial Black"/>
              </a:rPr>
              <a:t>Cont’d</a:t>
            </a:r>
            <a:endParaRPr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048718" name="Google Shape;229;p21"/>
          <p:cNvSpPr txBox="1"/>
          <p:nvPr>
            <p:ph type="body" idx="1"/>
          </p:nvPr>
        </p:nvSpPr>
        <p:spPr>
          <a:xfrm>
            <a:off x="285720" y="500042"/>
            <a:ext cx="8643998" cy="6357958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algn="just" indent="-342900" lvl="0" marL="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Just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anteroinferior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to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ethmoidal bulla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on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lateral wall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middle nasal meatus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is a curved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narrow process-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uncinate process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of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ethmoid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 Between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uncinate process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of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ethmoid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below, and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ethmoidal bulla above,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is a curved groove termed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hiatus semilunaris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(on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lateral wall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of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middle nasal meatus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).</a:t>
            </a:r>
          </a:p>
          <a:p>
            <a:pPr algn="just" indent="-342900" lvl="0" marL="34290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At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upper end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hiatus semilunaris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is the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 opening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ethmoidal infundibulum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a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narrow funnel-shaped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canal into which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anterior ethmoidal air cells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and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frontal sinus open.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1" name="Google Shape;234;p22"/>
          <p:cNvSpPr txBox="1"/>
          <p:nvPr>
            <p:ph type="title"/>
          </p:nvPr>
        </p:nvSpPr>
        <p:spPr>
          <a:xfrm>
            <a:off x="457200" y="274638"/>
            <a:ext cx="8229600" cy="939784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rmAutofit/>
          </a:bodyPr>
          <a:p>
            <a:pPr algn="ctr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lang="en-AU">
                <a:latin typeface="Arial Black"/>
                <a:ea typeface="Arial Black"/>
                <a:cs typeface="Arial Black"/>
                <a:sym typeface="Arial Black"/>
              </a:rPr>
              <a:t>Cont’d</a:t>
            </a:r>
            <a:endParaRPr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048722" name="Google Shape;235;p22"/>
          <p:cNvSpPr txBox="1"/>
          <p:nvPr>
            <p:ph type="body" idx="1"/>
          </p:nvPr>
        </p:nvSpPr>
        <p:spPr>
          <a:xfrm>
            <a:off x="457200" y="1142984"/>
            <a:ext cx="8401080" cy="5715016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/>
          </a:bodyPr>
          <a:p>
            <a:pPr algn="just" indent="-342900" lvl="0" marL="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AU">
                <a:latin typeface="Arial"/>
                <a:ea typeface="Arial"/>
                <a:cs typeface="Arial"/>
                <a:sym typeface="Arial"/>
              </a:rPr>
              <a:t>Occasionally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ethmoidal infundibulum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ends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blindly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; in this instance,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frontal sinus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opens, via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frontonasal duct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into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hiatus semilunaris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algn="just" indent="-342900" lvl="0" marL="34290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maxillary sinus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opens into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lower end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hiatus semilunaris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through a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large ostium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algn="just" indent="-342900" lvl="0" marL="34290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middle ethmoidal sinus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opens into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middle nasal meatus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on or above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ethmoid bulla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6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5" name="Google Shape;240;p23"/>
          <p:cNvSpPr txBox="1"/>
          <p:nvPr>
            <p:ph type="title"/>
          </p:nvPr>
        </p:nvSpPr>
        <p:spPr>
          <a:xfrm>
            <a:off x="457200" y="0"/>
            <a:ext cx="8229600" cy="857232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rmAutofit/>
          </a:bodyPr>
          <a:p>
            <a:pPr algn="ctr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lang="en-AU">
                <a:latin typeface="Arial Black"/>
                <a:ea typeface="Arial Black"/>
                <a:cs typeface="Arial Black"/>
                <a:sym typeface="Arial Black"/>
              </a:rPr>
              <a:t>Cont’d</a:t>
            </a:r>
            <a:endParaRPr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048726" name="Google Shape;241;p23"/>
          <p:cNvSpPr txBox="1"/>
          <p:nvPr>
            <p:ph type="body" idx="1"/>
          </p:nvPr>
        </p:nvSpPr>
        <p:spPr>
          <a:xfrm>
            <a:off x="457200" y="785794"/>
            <a:ext cx="8472518" cy="6500858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/>
          </a:bodyPr>
          <a:p>
            <a:pPr algn="just" indent="-342900" lvl="0" marL="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inferior nasal meatus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is located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inferolateral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to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inferior nasal concha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; it is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largest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nasal meatuses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reaching as far down as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nasal floor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algn="just" indent="-342900" lvl="0" marL="34290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It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receives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the opening 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nasolacrimal duct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in its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anterior part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algn="just" indent="-342900" lvl="0" marL="34290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sphenoethmoidal recess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is a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triangular depression, and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narrow part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nasal cavity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located between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superior nasal concha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below, and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sphenoidal body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above. It receives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opening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sphenoidal sinus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9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8" name="Google Shape;246;p24"/>
          <p:cNvPicPr preferRelativeResize="0">
            <a:picLocks/>
          </p:cNvPicPr>
          <p:nvPr>
            <p:ph type="body" idx="1"/>
          </p:nvPr>
        </p:nvPicPr>
        <p:blipFill rotWithShape="1">
          <a:blip xmlns:r="http://schemas.openxmlformats.org/officeDocument/2006/relationships" r:embed="rId1">
            <a:alphaModFix/>
          </a:blip>
          <a:srcRect l="0" t="0" r="0" b="0"/>
          <a:stretch>
            <a:fillRect/>
          </a:stretch>
        </p:blipFill>
        <p:spPr>
          <a:xfrm>
            <a:off x="1285852" y="1071546"/>
            <a:ext cx="6229373" cy="4643470"/>
          </a:xfrm>
          <a:prstGeom prst="rect"/>
          <a:noFill/>
          <a:ln>
            <a:noFill/>
          </a:ln>
        </p:spPr>
      </p:pic>
      <p:sp>
        <p:nvSpPr>
          <p:cNvPr id="1048729" name="Google Shape;247;p24"/>
          <p:cNvSpPr txBox="1"/>
          <p:nvPr/>
        </p:nvSpPr>
        <p:spPr>
          <a:xfrm>
            <a:off x="928662" y="6000768"/>
            <a:ext cx="8496478" cy="646331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spAutoFit/>
          </a:bodyPr>
          <a:p>
            <a:pPr algn="l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cap="none" sz="1800" i="0" lang="en-AU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Lateral wall of the nose with conchae removed showing openings of various sinuses and nasolacrimal duct. </a:t>
            </a:r>
            <a:endParaRPr b="0" cap="none" sz="1800" i="0" strike="noStrike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730" name="Google Shape;248;p24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r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AU"/>
              <a:t>24</a:t>
            </a:fld>
          </a:p>
        </p:txBody>
      </p:sp>
      <p:sp>
        <p:nvSpPr>
          <p:cNvPr id="1048731" name="Google Shape;249;p24"/>
          <p:cNvSpPr txBox="1"/>
          <p:nvPr/>
        </p:nvSpPr>
        <p:spPr>
          <a:xfrm>
            <a:off x="3500430" y="357166"/>
            <a:ext cx="2151551" cy="955001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spAutoFit/>
          </a:bodyPr>
          <a:p>
            <a:pPr algn="l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cap="none" sz="4400" i="0" lang="en-AU" strike="noStrike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Cont’d</a:t>
            </a:r>
            <a:endParaRPr b="0" cap="none" sz="4400" i="0" strike="noStrike" u="none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algn="l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cap="none" sz="1800" i="0" strike="noStrike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2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4" name="Google Shape;254;p25"/>
          <p:cNvSpPr txBox="1"/>
          <p:nvPr>
            <p:ph type="title"/>
          </p:nvPr>
        </p:nvSpPr>
        <p:spPr>
          <a:xfrm>
            <a:off x="457200" y="0"/>
            <a:ext cx="8329642" cy="1000108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rmAutofit/>
          </a:bodyPr>
          <a:p>
            <a:pPr algn="ctr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 Black"/>
              <a:buNone/>
            </a:pPr>
            <a:r>
              <a:rPr lang="en-AU">
                <a:latin typeface="Arial Black"/>
                <a:ea typeface="Arial Black"/>
                <a:cs typeface="Arial Black"/>
                <a:sym typeface="Arial Black"/>
              </a:rPr>
              <a:t>The openings in the lateral wall of the nose</a:t>
            </a:r>
            <a:endParaRPr>
              <a:latin typeface="Arial Black"/>
              <a:ea typeface="Arial Black"/>
              <a:cs typeface="Arial Black"/>
              <a:sym typeface="Arial Black"/>
            </a:endParaRPr>
          </a:p>
        </p:txBody>
      </p:sp>
      <p:graphicFrame>
        <p:nvGraphicFramePr>
          <p:cNvPr id="4194304" name="Google Shape;255;p25"/>
          <p:cNvGraphicFramePr>
            <a:graphicFrameLocks/>
          </p:cNvGraphicFramePr>
          <p:nvPr/>
        </p:nvGraphicFramePr>
        <p:xfrm>
          <a:off x="142844" y="1071547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{71D96600-F101-4052-B59B-C13BEE91108C}</a:tableStyleId>
              </a:tblPr>
              <a:tblGrid>
                <a:gridCol w="3848800"/>
                <a:gridCol w="4938075"/>
              </a:tblGrid>
              <a:tr h="624150">
                <a:tc>
                  <a:txBody>
                    <a:bodyPr/>
                    <a:p>
                      <a:pPr algn="l" indent="0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cap="none" sz="1800" lang="en-AU" strike="noStrike" u="none"/>
                        <a:t>Sites</a:t>
                      </a:r>
                      <a:endParaRPr cap="none" sz="1400" strike="noStrike" u="none"/>
                    </a:p>
                    <a:p>
                      <a:pPr algn="l" indent="0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cap="none" sz="1800" strike="noStrike" u="none"/>
                    </a:p>
                  </a:txBody>
                  <a:tcPr marL="91450" marR="91450" marT="45725" marB="45725"/>
                </a:tc>
                <a:tc>
                  <a:txBody>
                    <a:bodyPr/>
                    <a:p>
                      <a:pPr algn="l" indent="0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cap="none" sz="1800" lang="en-AU" strike="noStrike" u="none"/>
                        <a:t>Openings</a:t>
                      </a:r>
                      <a:endParaRPr cap="none" sz="1800" strike="noStrike" u="none"/>
                    </a:p>
                  </a:txBody>
                  <a:tcPr marL="91450" marR="91450" marT="45725" marB="45725"/>
                </a:tc>
              </a:tr>
              <a:tr h="356650">
                <a:tc>
                  <a:txBody>
                    <a:bodyPr/>
                    <a:p>
                      <a:pPr algn="l" indent="0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cap="none" sz="1800" lang="en-AU" strike="noStrike" u="none"/>
                        <a:t>Sphenoethmoidal recess </a:t>
                      </a:r>
                      <a:endParaRPr cap="none" sz="1800" strike="noStrike" u="none"/>
                    </a:p>
                  </a:txBody>
                  <a:tcPr marL="91450" marR="91450" marT="45725" marB="45725"/>
                </a:tc>
                <a:tc>
                  <a:txBody>
                    <a:bodyPr/>
                    <a:p>
                      <a:pPr algn="l" indent="0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cap="none" sz="1800" lang="en-AU" strike="noStrike" u="none"/>
                        <a:t>Opening of the sphenoidal air sinus</a:t>
                      </a:r>
                      <a:endParaRPr cap="none" sz="1800" strike="noStrike" u="none"/>
                    </a:p>
                  </a:txBody>
                  <a:tcPr marL="91450" marR="91450" marT="45725" marB="45725"/>
                </a:tc>
              </a:tr>
              <a:tr h="436550">
                <a:tc>
                  <a:txBody>
                    <a:bodyPr/>
                    <a:p>
                      <a:pPr algn="l" indent="0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cap="none" sz="1800" lang="en-AU" strike="noStrike" u="none"/>
                        <a:t>Superior meatus </a:t>
                      </a:r>
                      <a:endParaRPr cap="none" sz="1800" strike="noStrike" u="none"/>
                    </a:p>
                  </a:txBody>
                  <a:tcPr marL="91450" marR="91450" marT="45725" marB="45725"/>
                </a:tc>
                <a:tc>
                  <a:txBody>
                    <a:bodyPr/>
                    <a:p>
                      <a:pPr algn="l" indent="0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cap="none" sz="1800" lang="en-AU" strike="noStrike" u="none"/>
                        <a:t>Opening of the posterior ethmoidal air sinuses</a:t>
                      </a:r>
                      <a:endParaRPr cap="none" sz="1800" strike="noStrike" u="none"/>
                    </a:p>
                  </a:txBody>
                  <a:tcPr marL="91450" marR="91450" marT="45725" marB="45725"/>
                </a:tc>
              </a:tr>
              <a:tr h="624150">
                <a:tc>
                  <a:txBody>
                    <a:bodyPr/>
                    <a:p>
                      <a:pPr algn="l" indent="0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cap="none" sz="1800" lang="en-AU" strike="noStrike" u="none"/>
                        <a:t>Middle meatus</a:t>
                      </a:r>
                      <a:endParaRPr cap="none" sz="1400" strike="noStrike" u="none"/>
                    </a:p>
                    <a:p>
                      <a:pPr algn="l" indent="0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cap="none" sz="1800" strike="noStrike" u="none"/>
                    </a:p>
                  </a:txBody>
                  <a:tcPr marL="91450" marR="91450" marT="45725" marB="45725"/>
                </a:tc>
                <a:tc>
                  <a:txBody>
                    <a:bodyPr/>
                    <a:p>
                      <a:pPr algn="l" indent="0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cap="none" sz="1800" strike="noStrike" u="none"/>
                    </a:p>
                  </a:txBody>
                  <a:tcPr marL="91450" marR="91450" marT="45725" marB="45725"/>
                </a:tc>
              </a:tr>
              <a:tr h="624150">
                <a:tc>
                  <a:txBody>
                    <a:bodyPr/>
                    <a:p>
                      <a:pPr algn="l" indent="0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cap="none" sz="1800" lang="en-AU" strike="noStrike" u="none"/>
                        <a:t>•On bulla</a:t>
                      </a:r>
                      <a:endParaRPr cap="none" sz="1400" strike="noStrike" u="none"/>
                    </a:p>
                    <a:p>
                      <a:pPr algn="l" indent="0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cap="none" sz="1800" strike="noStrike" u="none"/>
                    </a:p>
                  </a:txBody>
                  <a:tcPr marL="91450" marR="91450" marT="45725" marB="45725"/>
                </a:tc>
                <a:tc>
                  <a:txBody>
                    <a:bodyPr/>
                    <a:p>
                      <a:pPr algn="l" indent="0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cap="none" sz="1800" lang="en-AU" strike="noStrike" u="none"/>
                        <a:t>Opening of the middle ethmoidal air sinuses</a:t>
                      </a:r>
                      <a:endParaRPr cap="none" sz="1400" strike="noStrike" u="none"/>
                    </a:p>
                    <a:p>
                      <a:pPr algn="l" indent="0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cap="none" sz="1800" strike="noStrike" u="none"/>
                    </a:p>
                  </a:txBody>
                  <a:tcPr marL="91450" marR="91450" marT="45725" marB="45725"/>
                </a:tc>
              </a:tr>
              <a:tr h="624150">
                <a:tc>
                  <a:txBody>
                    <a:bodyPr/>
                    <a:p>
                      <a:pPr algn="l" indent="0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cap="none" sz="1800" lang="en-AU" strike="noStrike" u="none"/>
                        <a:t>• In hiatus semilunaris</a:t>
                      </a:r>
                      <a:endParaRPr cap="none" sz="1400" strike="noStrike" u="none"/>
                    </a:p>
                    <a:p>
                      <a:pPr algn="l" indent="0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cap="none" sz="1800" strike="noStrike" u="none"/>
                    </a:p>
                  </a:txBody>
                  <a:tcPr marL="91450" marR="91450" marT="45725" marB="45725"/>
                </a:tc>
                <a:tc>
                  <a:txBody>
                    <a:bodyPr/>
                    <a:p>
                      <a:pPr algn="l" indent="0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cap="none" sz="1800" lang="en-AU" strike="noStrike" u="none"/>
                        <a:t>Opening of the middle ethmoidal air sinuses</a:t>
                      </a:r>
                      <a:endParaRPr cap="none" sz="1400" strike="noStrike" u="none"/>
                    </a:p>
                    <a:p>
                      <a:pPr algn="l" indent="0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cap="none" sz="1800" strike="noStrike" u="none"/>
                    </a:p>
                  </a:txBody>
                  <a:tcPr marL="91450" marR="91450" marT="45725" marB="45725"/>
                </a:tc>
              </a:tr>
              <a:tr h="624150">
                <a:tc>
                  <a:txBody>
                    <a:bodyPr/>
                    <a:p>
                      <a:pPr algn="l" indent="0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cap="none" sz="1800" lang="en-AU" strike="noStrike" u="none"/>
                        <a:t>Anterior part</a:t>
                      </a:r>
                      <a:endParaRPr cap="none" sz="1800" strike="noStrike" u="none"/>
                    </a:p>
                  </a:txBody>
                  <a:tcPr marL="91450" marR="91450" marT="45725" marB="45725"/>
                </a:tc>
                <a:tc>
                  <a:txBody>
                    <a:bodyPr/>
                    <a:p>
                      <a:pPr algn="l" indent="0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cap="none" sz="1800" lang="en-AU" strike="noStrike" u="none"/>
                        <a:t>Opening of the frontal air sinus</a:t>
                      </a:r>
                      <a:endParaRPr cap="none" sz="1400" strike="noStrike" u="none"/>
                    </a:p>
                    <a:p>
                      <a:pPr algn="l" indent="0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cap="none" sz="1800" strike="noStrike" u="none"/>
                    </a:p>
                  </a:txBody>
                  <a:tcPr marL="91450" marR="91450" marT="45725" marB="45725"/>
                </a:tc>
              </a:tr>
              <a:tr h="624150">
                <a:tc>
                  <a:txBody>
                    <a:bodyPr/>
                    <a:p>
                      <a:pPr algn="l" indent="0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cap="none" sz="1800" lang="en-AU" strike="noStrike" u="none"/>
                        <a:t>Middle part</a:t>
                      </a:r>
                      <a:endParaRPr cap="none" sz="1800" strike="noStrike" u="none"/>
                    </a:p>
                  </a:txBody>
                  <a:tcPr marL="91450" marR="91450" marT="45725" marB="45725"/>
                </a:tc>
                <a:tc>
                  <a:txBody>
                    <a:bodyPr/>
                    <a:p>
                      <a:pPr algn="l" indent="0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cap="none" sz="1800" lang="en-AU" strike="noStrike" u="none"/>
                        <a:t>Opening of the anterior ethmoidal air sinuses</a:t>
                      </a:r>
                      <a:endParaRPr cap="none" sz="1400" strike="noStrike" u="none"/>
                    </a:p>
                    <a:p>
                      <a:pPr algn="l" indent="0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cap="none" sz="1800" strike="noStrike" u="none"/>
                    </a:p>
                  </a:txBody>
                  <a:tcPr marL="91450" marR="91450" marT="45725" marB="45725"/>
                </a:tc>
              </a:tr>
              <a:tr h="624150">
                <a:tc>
                  <a:txBody>
                    <a:bodyPr/>
                    <a:p>
                      <a:pPr algn="l" indent="0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cap="none" sz="1800" lang="en-AU" strike="noStrike" u="none"/>
                        <a:t>Posterior part</a:t>
                      </a:r>
                      <a:endParaRPr cap="none" sz="1800" strike="noStrike" u="none"/>
                    </a:p>
                  </a:txBody>
                  <a:tcPr marL="91450" marR="91450" marT="45725" marB="45725"/>
                </a:tc>
                <a:tc>
                  <a:txBody>
                    <a:bodyPr/>
                    <a:p>
                      <a:pPr algn="l" indent="0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cap="none" sz="1800" lang="en-AU" strike="noStrike" u="none"/>
                        <a:t>Opening of the maxillary air sinus</a:t>
                      </a:r>
                      <a:endParaRPr cap="none" sz="1400" strike="noStrike" u="none"/>
                    </a:p>
                    <a:p>
                      <a:pPr algn="l" indent="0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cap="none" sz="1800" strike="noStrike" u="none"/>
                    </a:p>
                  </a:txBody>
                  <a:tcPr marL="91450" marR="91450" marT="45725" marB="45725"/>
                </a:tc>
              </a:tr>
              <a:tr h="624150">
                <a:tc>
                  <a:txBody>
                    <a:bodyPr/>
                    <a:p>
                      <a:pPr algn="l" indent="0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cap="none" sz="1800" lang="en-AU" strike="noStrike" u="none"/>
                        <a:t>Inferior meatus </a:t>
                      </a:r>
                      <a:endParaRPr cap="none" sz="1800" strike="noStrike" u="none"/>
                    </a:p>
                  </a:txBody>
                  <a:tcPr marL="91450" marR="91450" marT="45725" marB="45725"/>
                </a:tc>
                <a:tc>
                  <a:txBody>
                    <a:bodyPr/>
                    <a:p>
                      <a:pPr algn="l" indent="0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cap="none" sz="1800" lang="en-AU" strike="noStrike" u="none"/>
                        <a:t>Opening of the nasolacrimal duct (in the anterior part of meatus)</a:t>
                      </a:r>
                      <a:endParaRPr cap="none" sz="1800" strike="noStrike" u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sp>
        <p:nvSpPr>
          <p:cNvPr id="1048735" name="Google Shape;256;p25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r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AU"/>
              <a:t>25</a:t>
            </a:fld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5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8" name="Google Shape;261;p26"/>
          <p:cNvSpPr txBox="1"/>
          <p:nvPr>
            <p:ph type="title"/>
          </p:nvPr>
        </p:nvSpPr>
        <p:spPr>
          <a:xfrm>
            <a:off x="457200" y="571480"/>
            <a:ext cx="8229600" cy="857256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rmAutofit/>
          </a:bodyPr>
          <a:p>
            <a:pPr algn="ctr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 Black"/>
              <a:buNone/>
            </a:pPr>
            <a:r>
              <a:rPr lang="en-AU">
                <a:latin typeface="Arial Black"/>
                <a:ea typeface="Arial Black"/>
                <a:cs typeface="Arial Black"/>
                <a:sym typeface="Arial Black"/>
              </a:rPr>
              <a:t>Lining of Nasal Cavity</a:t>
            </a:r>
            <a:br>
              <a:rPr lang="en-AU"/>
            </a:br>
          </a:p>
        </p:txBody>
      </p:sp>
      <p:sp>
        <p:nvSpPr>
          <p:cNvPr id="1048739" name="Google Shape;262;p26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/>
          </a:bodyPr>
          <a:p>
            <a:pPr algn="just" indent="-342900" lvl="0" marL="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⮚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The lining 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various regions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of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nasal cavity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are as follows:</a:t>
            </a:r>
          </a:p>
          <a:p>
            <a:pPr algn="just" indent="-342900" lvl="0" marL="34290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AU">
                <a:latin typeface="Arial"/>
                <a:ea typeface="Arial"/>
                <a:cs typeface="Arial"/>
                <a:sym typeface="Arial"/>
              </a:rPr>
              <a:t>Vestibule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: It is lined by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skin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containing a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large number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of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sebaceous glands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interlacing coarse hair-the vibrissae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 As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air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passes through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nostrils,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large particles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of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dust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in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air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are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trapped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by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vibrissae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8740" name="Google Shape;263;p26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r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AU"/>
              <a:t>26</a:t>
            </a:fld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8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9" name="Google Shape;268;p27"/>
          <p:cNvPicPr preferRelativeResize="0">
            <a:picLocks/>
          </p:cNvPicPr>
          <p:nvPr>
            <p:ph type="body" idx="1"/>
          </p:nvPr>
        </p:nvPicPr>
        <p:blipFill rotWithShape="1">
          <a:blip xmlns:r="http://schemas.openxmlformats.org/officeDocument/2006/relationships" r:embed="rId1">
            <a:alphaModFix/>
          </a:blip>
          <a:srcRect l="0" t="0" r="0" b="0"/>
          <a:stretch>
            <a:fillRect/>
          </a:stretch>
        </p:blipFill>
        <p:spPr>
          <a:xfrm>
            <a:off x="1500166" y="1928802"/>
            <a:ext cx="5929354" cy="3929089"/>
          </a:xfrm>
          <a:prstGeom prst="rect"/>
          <a:noFill/>
          <a:ln>
            <a:noFill/>
          </a:ln>
        </p:spPr>
      </p:pic>
      <p:sp>
        <p:nvSpPr>
          <p:cNvPr id="1048743" name="Google Shape;269;p27"/>
          <p:cNvSpPr txBox="1"/>
          <p:nvPr/>
        </p:nvSpPr>
        <p:spPr>
          <a:xfrm>
            <a:off x="2500298" y="5857892"/>
            <a:ext cx="2581028" cy="624799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spAutoFit/>
          </a:bodyPr>
          <a:p>
            <a:pPr algn="l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cap="none" sz="1800" i="0" lang="en-AU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Lining of the nasal cavity</a:t>
            </a:r>
            <a:endParaRPr b="0" cap="none" sz="1800" i="0" strike="noStrike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744" name="Google Shape;270;p27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r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AU"/>
              <a:t>27</a:t>
            </a:fld>
          </a:p>
        </p:txBody>
      </p:sp>
      <p:sp>
        <p:nvSpPr>
          <p:cNvPr id="1048745" name="Google Shape;271;p27"/>
          <p:cNvSpPr txBox="1"/>
          <p:nvPr/>
        </p:nvSpPr>
        <p:spPr>
          <a:xfrm>
            <a:off x="3428992" y="857232"/>
            <a:ext cx="2151551" cy="955001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spAutoFit/>
          </a:bodyPr>
          <a:p>
            <a:pPr algn="l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cap="none" sz="4400" i="0" lang="en-AU" strike="noStrike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Cont’d</a:t>
            </a:r>
            <a:endParaRPr b="0" cap="none" sz="4400" i="0" strike="noStrike" u="none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algn="l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cap="none" sz="1800" i="0" strike="noStrike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0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8" name="Google Shape;277;p28"/>
          <p:cNvSpPr txBox="1"/>
          <p:nvPr>
            <p:ph type="body" idx="1"/>
          </p:nvPr>
        </p:nvSpPr>
        <p:spPr>
          <a:xfrm>
            <a:off x="142844" y="0"/>
            <a:ext cx="8786874" cy="685800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algn="just" indent="-342900" lvl="0" marL="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sz="2800" lang="en-AU">
                <a:latin typeface="Arial"/>
                <a:ea typeface="Arial"/>
                <a:cs typeface="Arial"/>
                <a:sym typeface="Arial"/>
              </a:rPr>
              <a:t>Olfactory region</a:t>
            </a:r>
            <a:r>
              <a:rPr sz="2800" lang="en-AU">
                <a:latin typeface="Arial"/>
                <a:ea typeface="Arial"/>
                <a:cs typeface="Arial"/>
                <a:sym typeface="Arial"/>
              </a:rPr>
              <a:t>: The </a:t>
            </a:r>
            <a:r>
              <a:rPr b="1" sz="2800" lang="en-AU">
                <a:latin typeface="Arial"/>
                <a:ea typeface="Arial"/>
                <a:cs typeface="Arial"/>
                <a:sym typeface="Arial"/>
              </a:rPr>
              <a:t>upper third </a:t>
            </a:r>
            <a:r>
              <a:rPr sz="2800" lang="en-AU">
                <a:latin typeface="Arial"/>
                <a:ea typeface="Arial"/>
                <a:cs typeface="Arial"/>
                <a:sym typeface="Arial"/>
              </a:rPr>
              <a:t>of the nasal cavity bounded </a:t>
            </a:r>
            <a:r>
              <a:rPr b="1" sz="2800" lang="en-AU">
                <a:latin typeface="Arial"/>
                <a:ea typeface="Arial"/>
                <a:cs typeface="Arial"/>
                <a:sym typeface="Arial"/>
              </a:rPr>
              <a:t>above</a:t>
            </a:r>
            <a:r>
              <a:rPr sz="2800" lang="en-AU">
                <a:latin typeface="Arial"/>
                <a:ea typeface="Arial"/>
                <a:cs typeface="Arial"/>
                <a:sym typeface="Arial"/>
              </a:rPr>
              <a:t> by </a:t>
            </a:r>
            <a:r>
              <a:rPr b="1" sz="2800" lang="en-AU">
                <a:latin typeface="Arial"/>
                <a:ea typeface="Arial"/>
                <a:cs typeface="Arial"/>
                <a:sym typeface="Arial"/>
              </a:rPr>
              <a:t>cribriform plate of ethmoid</a:t>
            </a:r>
            <a:r>
              <a:rPr sz="2800" lang="en-AU">
                <a:latin typeface="Arial"/>
                <a:ea typeface="Arial"/>
                <a:cs typeface="Arial"/>
                <a:sym typeface="Arial"/>
              </a:rPr>
              <a:t>, laterally by </a:t>
            </a:r>
            <a:r>
              <a:rPr b="1" sz="2800" lang="en-AU">
                <a:latin typeface="Arial"/>
                <a:ea typeface="Arial"/>
                <a:cs typeface="Arial"/>
                <a:sym typeface="Arial"/>
              </a:rPr>
              <a:t>superior nasal concha </a:t>
            </a:r>
            <a:r>
              <a:rPr sz="2800" lang="en-AU">
                <a:latin typeface="Arial"/>
                <a:ea typeface="Arial"/>
                <a:cs typeface="Arial"/>
                <a:sym typeface="Arial"/>
              </a:rPr>
              <a:t>and medially by </a:t>
            </a:r>
            <a:r>
              <a:rPr b="1" sz="2800" lang="en-AU">
                <a:latin typeface="Arial"/>
                <a:ea typeface="Arial"/>
                <a:cs typeface="Arial"/>
                <a:sym typeface="Arial"/>
              </a:rPr>
              <a:t>upper one-third of the nasal septum </a:t>
            </a:r>
            <a:r>
              <a:rPr sz="2800" lang="en-AU">
                <a:latin typeface="Arial"/>
                <a:ea typeface="Arial"/>
                <a:cs typeface="Arial"/>
                <a:sym typeface="Arial"/>
              </a:rPr>
              <a:t>forms the </a:t>
            </a:r>
            <a:r>
              <a:rPr b="1" sz="2800" lang="en-AU">
                <a:latin typeface="Arial"/>
                <a:ea typeface="Arial"/>
                <a:cs typeface="Arial"/>
                <a:sym typeface="Arial"/>
              </a:rPr>
              <a:t>olfactory region</a:t>
            </a:r>
            <a:r>
              <a:rPr sz="2800" lang="en-AU">
                <a:latin typeface="Arial"/>
                <a:ea typeface="Arial"/>
                <a:cs typeface="Arial"/>
                <a:sym typeface="Arial"/>
              </a:rPr>
              <a:t>. It is lined by the </a:t>
            </a:r>
            <a:r>
              <a:rPr b="1" sz="2800" lang="en-AU">
                <a:latin typeface="Arial"/>
                <a:ea typeface="Arial"/>
                <a:cs typeface="Arial"/>
                <a:sym typeface="Arial"/>
              </a:rPr>
              <a:t>olfactory epithelium</a:t>
            </a:r>
            <a:r>
              <a:rPr sz="2800" lang="en-AU">
                <a:latin typeface="Arial"/>
                <a:ea typeface="Arial"/>
                <a:cs typeface="Arial"/>
                <a:sym typeface="Arial"/>
              </a:rPr>
              <a:t>, which contains </a:t>
            </a:r>
            <a:r>
              <a:rPr b="1" sz="2800" lang="en-AU">
                <a:latin typeface="Arial"/>
                <a:ea typeface="Arial"/>
                <a:cs typeface="Arial"/>
                <a:sym typeface="Arial"/>
              </a:rPr>
              <a:t>receptor cells </a:t>
            </a:r>
            <a:r>
              <a:rPr sz="2800" lang="en-AU">
                <a:latin typeface="Arial"/>
                <a:ea typeface="Arial"/>
                <a:cs typeface="Arial"/>
                <a:sym typeface="Arial"/>
              </a:rPr>
              <a:t>for </a:t>
            </a:r>
            <a:r>
              <a:rPr b="1" sz="2800" lang="en-AU">
                <a:latin typeface="Arial"/>
                <a:ea typeface="Arial"/>
                <a:cs typeface="Arial"/>
                <a:sym typeface="Arial"/>
              </a:rPr>
              <a:t>smell</a:t>
            </a:r>
            <a:r>
              <a:rPr sz="2800" lang="en-AU"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algn="just" indent="-342900" lvl="0" marL="342900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sz="2800" lang="en-AU">
                <a:latin typeface="Arial"/>
                <a:ea typeface="Arial"/>
                <a:cs typeface="Arial"/>
                <a:sym typeface="Arial"/>
              </a:rPr>
              <a:t>Respiratory region</a:t>
            </a:r>
            <a:r>
              <a:rPr sz="2800" lang="en-AU">
                <a:latin typeface="Arial"/>
                <a:ea typeface="Arial"/>
                <a:cs typeface="Arial"/>
                <a:sym typeface="Arial"/>
              </a:rPr>
              <a:t>: The </a:t>
            </a:r>
            <a:r>
              <a:rPr b="1" sz="2800" lang="en-AU">
                <a:latin typeface="Arial"/>
                <a:ea typeface="Arial"/>
                <a:cs typeface="Arial"/>
                <a:sym typeface="Arial"/>
              </a:rPr>
              <a:t>rest </a:t>
            </a:r>
            <a:r>
              <a:rPr sz="2800" lang="en-AU">
                <a:latin typeface="Arial"/>
                <a:ea typeface="Arial"/>
                <a:cs typeface="Arial"/>
                <a:sym typeface="Arial"/>
              </a:rPr>
              <a:t>of the </a:t>
            </a:r>
            <a:r>
              <a:rPr b="1" sz="2800" lang="en-AU">
                <a:latin typeface="Arial"/>
                <a:ea typeface="Arial"/>
                <a:cs typeface="Arial"/>
                <a:sym typeface="Arial"/>
              </a:rPr>
              <a:t>nasal cavity </a:t>
            </a:r>
            <a:r>
              <a:rPr sz="2800" lang="en-AU"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1" sz="2800" lang="en-AU">
                <a:latin typeface="Arial"/>
                <a:ea typeface="Arial"/>
                <a:cs typeface="Arial"/>
                <a:sym typeface="Arial"/>
              </a:rPr>
              <a:t>lower two-third</a:t>
            </a:r>
            <a:r>
              <a:rPr sz="2800" lang="en-AU">
                <a:latin typeface="Arial"/>
                <a:ea typeface="Arial"/>
                <a:cs typeface="Arial"/>
                <a:sym typeface="Arial"/>
              </a:rPr>
              <a:t>) is lined by the </a:t>
            </a:r>
            <a:r>
              <a:rPr b="1" sz="2800" lang="en-AU">
                <a:latin typeface="Arial"/>
                <a:ea typeface="Arial"/>
                <a:cs typeface="Arial"/>
                <a:sym typeface="Arial"/>
              </a:rPr>
              <a:t>respiratory epithelium</a:t>
            </a:r>
            <a:r>
              <a:rPr sz="2800" lang="en-AU">
                <a:latin typeface="Arial"/>
                <a:ea typeface="Arial"/>
                <a:cs typeface="Arial"/>
                <a:sym typeface="Arial"/>
              </a:rPr>
              <a:t>, i.e., </a:t>
            </a:r>
            <a:r>
              <a:rPr b="1" sz="2800" lang="en-AU">
                <a:latin typeface="Arial"/>
                <a:ea typeface="Arial"/>
                <a:cs typeface="Arial"/>
                <a:sym typeface="Arial"/>
              </a:rPr>
              <a:t>pseudostratified ciliated columnar epithelium with goblet cells</a:t>
            </a:r>
            <a:r>
              <a:rPr sz="2800" lang="en-AU">
                <a:latin typeface="Arial"/>
                <a:ea typeface="Arial"/>
                <a:cs typeface="Arial"/>
                <a:sym typeface="Arial"/>
              </a:rPr>
              <a:t>. The </a:t>
            </a:r>
            <a:r>
              <a:rPr b="1" sz="2800" lang="en-AU">
                <a:latin typeface="Arial"/>
                <a:ea typeface="Arial"/>
                <a:cs typeface="Arial"/>
                <a:sym typeface="Arial"/>
              </a:rPr>
              <a:t>respiratory mucosa </a:t>
            </a:r>
            <a:r>
              <a:rPr sz="2800" lang="en-AU">
                <a:latin typeface="Arial"/>
                <a:ea typeface="Arial"/>
                <a:cs typeface="Arial"/>
                <a:sym typeface="Arial"/>
              </a:rPr>
              <a:t>is </a:t>
            </a:r>
            <a:r>
              <a:rPr b="1" sz="2800" lang="en-AU">
                <a:latin typeface="Arial"/>
                <a:ea typeface="Arial"/>
                <a:cs typeface="Arial"/>
                <a:sym typeface="Arial"/>
              </a:rPr>
              <a:t>highly vascular </a:t>
            </a:r>
            <a:r>
              <a:rPr sz="2800" lang="en-AU">
                <a:latin typeface="Arial"/>
                <a:ea typeface="Arial"/>
                <a:cs typeface="Arial"/>
                <a:sym typeface="Arial"/>
              </a:rPr>
              <a:t>and contains a </a:t>
            </a:r>
            <a:r>
              <a:rPr b="1" sz="2800" lang="en-AU">
                <a:latin typeface="Arial"/>
                <a:ea typeface="Arial"/>
                <a:cs typeface="Arial"/>
                <a:sym typeface="Arial"/>
              </a:rPr>
              <a:t>large number </a:t>
            </a:r>
            <a:r>
              <a:rPr sz="2800" lang="en-AU">
                <a:latin typeface="Arial"/>
                <a:ea typeface="Arial"/>
                <a:cs typeface="Arial"/>
                <a:sym typeface="Arial"/>
              </a:rPr>
              <a:t>of </a:t>
            </a:r>
            <a:r>
              <a:rPr b="1" sz="2800" lang="en-AU">
                <a:latin typeface="Arial"/>
                <a:ea typeface="Arial"/>
                <a:cs typeface="Arial"/>
                <a:sym typeface="Arial"/>
              </a:rPr>
              <a:t>cavernous spaces and sinusoids </a:t>
            </a:r>
            <a:r>
              <a:rPr sz="2800" lang="en-AU">
                <a:latin typeface="Arial"/>
                <a:ea typeface="Arial"/>
                <a:cs typeface="Arial"/>
                <a:sym typeface="Arial"/>
              </a:rPr>
              <a:t>to warm the air. In addition, it contains a large number of </a:t>
            </a:r>
            <a:r>
              <a:rPr b="1" sz="2800" lang="en-AU">
                <a:latin typeface="Arial"/>
                <a:ea typeface="Arial"/>
                <a:cs typeface="Arial"/>
                <a:sym typeface="Arial"/>
              </a:rPr>
              <a:t>serous and mucous glands</a:t>
            </a:r>
            <a:r>
              <a:rPr sz="2800" lang="en-AU">
                <a:latin typeface="Arial"/>
                <a:ea typeface="Arial"/>
                <a:cs typeface="Arial"/>
                <a:sym typeface="Arial"/>
              </a:rPr>
              <a:t>.</a:t>
            </a:r>
            <a:endParaRPr sz="2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8749" name="Google Shape;278;p28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r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AU"/>
              <a:t>28</a:t>
            </a:fld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04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0" name="Google Shape;291;p30"/>
          <p:cNvPicPr preferRelativeResize="0">
            <a:picLocks/>
          </p:cNvPicPr>
          <p:nvPr>
            <p:ph type="body" idx="1"/>
          </p:nvPr>
        </p:nvPicPr>
        <p:blipFill rotWithShape="1">
          <a:blip xmlns:r="http://schemas.openxmlformats.org/officeDocument/2006/relationships" r:embed="rId1">
            <a:alphaModFix/>
          </a:blip>
          <a:srcRect l="0" t="0" r="0" b="0"/>
          <a:stretch>
            <a:fillRect/>
          </a:stretch>
        </p:blipFill>
        <p:spPr>
          <a:xfrm>
            <a:off x="1285852" y="1357298"/>
            <a:ext cx="5929354" cy="4500594"/>
          </a:xfrm>
          <a:prstGeom prst="rect"/>
          <a:noFill/>
          <a:ln>
            <a:noFill/>
          </a:ln>
        </p:spPr>
      </p:pic>
      <p:sp>
        <p:nvSpPr>
          <p:cNvPr id="1048753" name="Google Shape;292;p30"/>
          <p:cNvSpPr txBox="1"/>
          <p:nvPr/>
        </p:nvSpPr>
        <p:spPr>
          <a:xfrm>
            <a:off x="2071670" y="6000768"/>
            <a:ext cx="3714776" cy="369332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spAutoFit/>
          </a:bodyPr>
          <a:p>
            <a:pPr algn="l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cap="none" sz="1800" i="0" lang="en-AU" strike="noStrike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Arterial supply of the nasal septum</a:t>
            </a:r>
            <a:endParaRPr b="0" cap="none" sz="1800" i="0" strike="noStrike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8754" name="Google Shape;293;p30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r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AU"/>
              <a:t>29</a:t>
            </a:fld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07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8" name="Google Shape;283;p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rmAutofit/>
          </a:bodyPr>
          <a:p>
            <a:pPr algn="ctr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 Black"/>
              <a:buNone/>
            </a:pPr>
            <a:r>
              <a:rPr lang="en-AU">
                <a:latin typeface="Arial Black"/>
                <a:ea typeface="Arial Black"/>
                <a:cs typeface="Arial Black"/>
                <a:sym typeface="Arial Black"/>
              </a:rPr>
              <a:t>Arterial Supply of Nasal Septum</a:t>
            </a:r>
            <a:endParaRPr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048759" name="Google Shape;284;p29"/>
          <p:cNvSpPr txBox="1"/>
          <p:nvPr>
            <p:ph type="body" idx="1"/>
          </p:nvPr>
        </p:nvSpPr>
        <p:spPr>
          <a:xfrm>
            <a:off x="457200" y="1600200"/>
            <a:ext cx="8229600" cy="4757758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/>
          </a:bodyPr>
          <a:p>
            <a:pPr algn="just" indent="-342900" lvl="0" marL="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⮚"/>
            </a:pPr>
            <a:r>
              <a:rPr b="1" lang="en-AU">
                <a:latin typeface="Arial"/>
                <a:ea typeface="Arial"/>
                <a:cs typeface="Arial"/>
                <a:sym typeface="Arial"/>
              </a:rPr>
              <a:t>Septal branch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anterior ethmoidal artery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(a branch of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ophthalmic artery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).</a:t>
            </a:r>
          </a:p>
          <a:p>
            <a:pPr algn="just" indent="-342900" lvl="0" marL="342900" rtl="0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⮚"/>
            </a:pPr>
            <a:r>
              <a:rPr b="1" lang="en-AU">
                <a:latin typeface="Arial"/>
                <a:ea typeface="Arial"/>
                <a:cs typeface="Arial"/>
                <a:sym typeface="Arial"/>
              </a:rPr>
              <a:t>Septal branch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posterior ethmoidal artery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(a branch of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ophthalmic artery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).</a:t>
            </a:r>
          </a:p>
          <a:p>
            <a:pPr algn="just" indent="-342900" lvl="0" marL="342900" rtl="0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⮚"/>
            </a:pPr>
            <a:r>
              <a:rPr b="1" lang="en-AU">
                <a:latin typeface="Arial"/>
                <a:ea typeface="Arial"/>
                <a:cs typeface="Arial"/>
                <a:sym typeface="Arial"/>
              </a:rPr>
              <a:t>Septal branch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sphenopalatine artery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(a branch of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maxillary artery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).</a:t>
            </a:r>
          </a:p>
          <a:p>
            <a:pPr algn="just" indent="-342900" lvl="0" marL="342900" rtl="0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⮚"/>
            </a:pPr>
            <a:r>
              <a:rPr b="1" lang="en-AU">
                <a:latin typeface="Arial"/>
                <a:ea typeface="Arial"/>
                <a:cs typeface="Arial"/>
                <a:sym typeface="Arial"/>
              </a:rPr>
              <a:t>Septal branch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greater palatine artery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(a branch of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maxillary artery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).</a:t>
            </a:r>
          </a:p>
          <a:p>
            <a:pPr algn="just" indent="-342900" lvl="0" marL="342900" rtl="0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⮚"/>
            </a:pPr>
            <a:r>
              <a:rPr b="1" lang="en-AU">
                <a:latin typeface="Arial"/>
                <a:ea typeface="Arial"/>
                <a:cs typeface="Arial"/>
                <a:sym typeface="Arial"/>
              </a:rPr>
              <a:t>Septal branch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superior labial artery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(a branch of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facial artery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).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8760" name="Google Shape;285;p29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r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AU"/>
              <a:t>30</a:t>
            </a:fld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0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3" name="Google Shape;298;p31"/>
          <p:cNvSpPr txBox="1"/>
          <p:nvPr>
            <p:ph type="title"/>
          </p:nvPr>
        </p:nvSpPr>
        <p:spPr>
          <a:xfrm>
            <a:off x="457200" y="-357214"/>
            <a:ext cx="8229600" cy="1000132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rmAutofit/>
          </a:bodyPr>
          <a:p>
            <a:pPr algn="ctr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 Black"/>
              <a:buNone/>
            </a:pPr>
            <a:r>
              <a:rPr sz="3600" lang="en-AU">
                <a:latin typeface="Arial Black"/>
                <a:ea typeface="Arial Black"/>
                <a:cs typeface="Arial Black"/>
                <a:sym typeface="Arial Black"/>
              </a:rPr>
              <a:t>Nerve Supply of Nasal Septum </a:t>
            </a:r>
            <a:endParaRPr sz="36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048764" name="Google Shape;299;p31"/>
          <p:cNvSpPr txBox="1"/>
          <p:nvPr>
            <p:ph type="body" idx="1"/>
          </p:nvPr>
        </p:nvSpPr>
        <p:spPr>
          <a:xfrm>
            <a:off x="0" y="428604"/>
            <a:ext cx="9001156" cy="678661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algn="just" indent="-342900" lvl="0" marL="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sz="2800" lang="en-AU">
                <a:latin typeface="Arial"/>
                <a:ea typeface="Arial"/>
                <a:cs typeface="Arial"/>
                <a:sym typeface="Arial"/>
              </a:rPr>
              <a:t>Olfactory nerves </a:t>
            </a:r>
            <a:r>
              <a:rPr sz="2800" lang="en-AU">
                <a:latin typeface="Arial"/>
                <a:ea typeface="Arial"/>
                <a:cs typeface="Arial"/>
                <a:sym typeface="Arial"/>
              </a:rPr>
              <a:t>supply the </a:t>
            </a:r>
            <a:r>
              <a:rPr b="1" sz="2800" lang="en-AU">
                <a:latin typeface="Arial"/>
                <a:ea typeface="Arial"/>
                <a:cs typeface="Arial"/>
                <a:sym typeface="Arial"/>
              </a:rPr>
              <a:t>upper part </a:t>
            </a:r>
            <a:r>
              <a:rPr sz="2800" lang="en-AU">
                <a:latin typeface="Arial"/>
                <a:ea typeface="Arial"/>
                <a:cs typeface="Arial"/>
                <a:sym typeface="Arial"/>
              </a:rPr>
              <a:t>(one-third) just below the </a:t>
            </a:r>
            <a:r>
              <a:rPr b="1" sz="2800" lang="en-AU">
                <a:latin typeface="Arial"/>
                <a:ea typeface="Arial"/>
                <a:cs typeface="Arial"/>
                <a:sym typeface="Arial"/>
              </a:rPr>
              <a:t>cribriform plate</a:t>
            </a:r>
            <a:r>
              <a:rPr sz="2800" lang="en-AU"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algn="just" indent="-342900" lvl="0" marL="342900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sz="2800" lang="en-AU">
                <a:latin typeface="Arial"/>
                <a:ea typeface="Arial"/>
                <a:cs typeface="Arial"/>
                <a:sym typeface="Arial"/>
              </a:rPr>
              <a:t>Internal nasal branch </a:t>
            </a:r>
            <a:r>
              <a:rPr sz="2800" lang="en-AU">
                <a:latin typeface="Arial"/>
                <a:ea typeface="Arial"/>
                <a:cs typeface="Arial"/>
                <a:sym typeface="Arial"/>
              </a:rPr>
              <a:t>of the </a:t>
            </a:r>
            <a:r>
              <a:rPr b="1" sz="2800" lang="en-AU">
                <a:latin typeface="Arial"/>
                <a:ea typeface="Arial"/>
                <a:cs typeface="Arial"/>
                <a:sym typeface="Arial"/>
              </a:rPr>
              <a:t>anterior ethmoidal nerve</a:t>
            </a:r>
            <a:r>
              <a:rPr sz="2800" lang="en-AU">
                <a:latin typeface="Arial"/>
                <a:ea typeface="Arial"/>
                <a:cs typeface="Arial"/>
                <a:sym typeface="Arial"/>
              </a:rPr>
              <a:t>, a branch from </a:t>
            </a:r>
            <a:r>
              <a:rPr b="1" sz="2800" lang="en-AU">
                <a:latin typeface="Arial"/>
                <a:ea typeface="Arial"/>
                <a:cs typeface="Arial"/>
                <a:sym typeface="Arial"/>
              </a:rPr>
              <a:t>nasociliary nerve, </a:t>
            </a:r>
            <a:r>
              <a:rPr sz="2800" lang="en-AU">
                <a:latin typeface="Arial"/>
                <a:ea typeface="Arial"/>
                <a:cs typeface="Arial"/>
                <a:sym typeface="Arial"/>
              </a:rPr>
              <a:t>supplies the </a:t>
            </a:r>
            <a:r>
              <a:rPr b="1" sz="2800" lang="en-AU">
                <a:latin typeface="Arial"/>
                <a:ea typeface="Arial"/>
                <a:cs typeface="Arial"/>
                <a:sym typeface="Arial"/>
              </a:rPr>
              <a:t>anterosuperior part</a:t>
            </a:r>
            <a:r>
              <a:rPr sz="2800" lang="en-AU"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algn="just" indent="-342900" lvl="0" marL="342900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sz="2800" lang="en-AU">
                <a:latin typeface="Arial"/>
                <a:ea typeface="Arial"/>
                <a:cs typeface="Arial"/>
                <a:sym typeface="Arial"/>
              </a:rPr>
              <a:t>Anterior superior alveolar nerve</a:t>
            </a:r>
            <a:r>
              <a:rPr sz="2800" lang="en-AU">
                <a:latin typeface="Arial"/>
                <a:ea typeface="Arial"/>
                <a:cs typeface="Arial"/>
                <a:sym typeface="Arial"/>
              </a:rPr>
              <a:t>, a branch of </a:t>
            </a:r>
            <a:r>
              <a:rPr b="1" sz="2800" lang="en-AU">
                <a:latin typeface="Arial"/>
                <a:ea typeface="Arial"/>
                <a:cs typeface="Arial"/>
                <a:sym typeface="Arial"/>
              </a:rPr>
              <a:t>maxillary nerve </a:t>
            </a:r>
            <a:r>
              <a:rPr sz="2800" lang="en-AU">
                <a:latin typeface="Arial"/>
                <a:ea typeface="Arial"/>
                <a:cs typeface="Arial"/>
                <a:sym typeface="Arial"/>
              </a:rPr>
              <a:t>supplies the </a:t>
            </a:r>
            <a:r>
              <a:rPr b="1" sz="2800" lang="en-AU">
                <a:latin typeface="Arial"/>
                <a:ea typeface="Arial"/>
                <a:cs typeface="Arial"/>
                <a:sym typeface="Arial"/>
              </a:rPr>
              <a:t>anteroinferior part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algn="just" indent="-342900" lvl="0" marL="342900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sz="2800" lang="en-AU">
                <a:latin typeface="Arial"/>
                <a:ea typeface="Arial"/>
                <a:cs typeface="Arial"/>
                <a:sym typeface="Arial"/>
              </a:rPr>
              <a:t>Medial posterior superior nasal branches </a:t>
            </a:r>
            <a:r>
              <a:rPr sz="2800" lang="en-AU">
                <a:latin typeface="Arial"/>
                <a:ea typeface="Arial"/>
                <a:cs typeface="Arial"/>
                <a:sym typeface="Arial"/>
              </a:rPr>
              <a:t>of </a:t>
            </a:r>
            <a:r>
              <a:rPr b="1" sz="2800" lang="en-AU">
                <a:latin typeface="Arial"/>
                <a:ea typeface="Arial"/>
                <a:cs typeface="Arial"/>
                <a:sym typeface="Arial"/>
              </a:rPr>
              <a:t>pterygopalatine ganglion supply </a:t>
            </a:r>
            <a:r>
              <a:rPr sz="2800" lang="en-AU"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sz="2800" lang="en-AU">
                <a:latin typeface="Arial"/>
                <a:ea typeface="Arial"/>
                <a:cs typeface="Arial"/>
                <a:sym typeface="Arial"/>
              </a:rPr>
              <a:t>posterosuperior part</a:t>
            </a:r>
            <a:r>
              <a:rPr sz="2800" lang="en-AU"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algn="just" indent="-342900" lvl="0" marL="342900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sz="2800" lang="en-AU">
                <a:latin typeface="Arial"/>
                <a:ea typeface="Arial"/>
                <a:cs typeface="Arial"/>
                <a:sym typeface="Arial"/>
              </a:rPr>
              <a:t>Nasopalatine nerve</a:t>
            </a:r>
            <a:r>
              <a:rPr sz="2800" lang="en-AU">
                <a:latin typeface="Arial"/>
                <a:ea typeface="Arial"/>
                <a:cs typeface="Arial"/>
                <a:sym typeface="Arial"/>
              </a:rPr>
              <a:t>, a branch of </a:t>
            </a:r>
            <a:r>
              <a:rPr b="1" sz="2800" lang="en-AU">
                <a:latin typeface="Arial"/>
                <a:ea typeface="Arial"/>
                <a:cs typeface="Arial"/>
                <a:sym typeface="Arial"/>
              </a:rPr>
              <a:t>pterygopalatine ganglion supplies </a:t>
            </a:r>
            <a:r>
              <a:rPr sz="2800" lang="en-AU"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sz="2800" lang="en-AU">
                <a:latin typeface="Arial"/>
                <a:ea typeface="Arial"/>
                <a:cs typeface="Arial"/>
                <a:sym typeface="Arial"/>
              </a:rPr>
              <a:t>posteroinferior part</a:t>
            </a:r>
            <a:r>
              <a:rPr sz="2800" lang="en-AU">
                <a:latin typeface="Arial"/>
                <a:ea typeface="Arial"/>
                <a:cs typeface="Arial"/>
                <a:sym typeface="Arial"/>
              </a:rPr>
              <a:t>.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algn="just" indent="-342900" lvl="0" marL="342900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sz="2800" lang="en-AU">
                <a:latin typeface="Arial"/>
                <a:ea typeface="Arial"/>
                <a:cs typeface="Arial"/>
                <a:sym typeface="Arial"/>
              </a:rPr>
              <a:t>Nasal branch of greater palatine nerve </a:t>
            </a:r>
            <a:r>
              <a:rPr sz="2800" lang="en-AU">
                <a:latin typeface="Arial"/>
                <a:ea typeface="Arial"/>
                <a:cs typeface="Arial"/>
                <a:sym typeface="Arial"/>
              </a:rPr>
              <a:t>supplies the </a:t>
            </a:r>
            <a:r>
              <a:rPr b="1" sz="2800" lang="en-AU">
                <a:latin typeface="Arial"/>
                <a:ea typeface="Arial"/>
                <a:cs typeface="Arial"/>
                <a:sym typeface="Arial"/>
              </a:rPr>
              <a:t>posterior part</a:t>
            </a:r>
            <a:r>
              <a:rPr sz="2800" lang="en-AU">
                <a:latin typeface="Arial"/>
                <a:ea typeface="Arial"/>
                <a:cs typeface="Arial"/>
                <a:sym typeface="Arial"/>
              </a:rPr>
              <a:t>.</a:t>
            </a:r>
            <a:endParaRPr sz="2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8765" name="Google Shape;300;p31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r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AU"/>
              <a:t>31</a:t>
            </a:fld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3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1" name="Google Shape;305;p32"/>
          <p:cNvPicPr preferRelativeResize="0">
            <a:picLocks/>
          </p:cNvPicPr>
          <p:nvPr>
            <p:ph type="body" idx="1"/>
          </p:nvPr>
        </p:nvPicPr>
        <p:blipFill rotWithShape="1">
          <a:blip xmlns:r="http://schemas.openxmlformats.org/officeDocument/2006/relationships" r:embed="rId1">
            <a:alphaModFix/>
          </a:blip>
          <a:srcRect l="0" t="0" r="0" b="0"/>
          <a:stretch>
            <a:fillRect/>
          </a:stretch>
        </p:blipFill>
        <p:spPr>
          <a:xfrm>
            <a:off x="500034" y="1214422"/>
            <a:ext cx="8001056" cy="4786345"/>
          </a:xfrm>
          <a:prstGeom prst="rect"/>
          <a:noFill/>
          <a:ln>
            <a:noFill/>
          </a:ln>
        </p:spPr>
      </p:pic>
      <p:sp>
        <p:nvSpPr>
          <p:cNvPr id="1048768" name="Google Shape;306;p32"/>
          <p:cNvSpPr txBox="1"/>
          <p:nvPr/>
        </p:nvSpPr>
        <p:spPr>
          <a:xfrm>
            <a:off x="2285984" y="6000768"/>
            <a:ext cx="3786214" cy="369332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spAutoFit/>
          </a:bodyPr>
          <a:p>
            <a:pPr algn="l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cap="none" sz="1800" i="0" lang="en-AU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Nerve supply of the nasal septum</a:t>
            </a:r>
            <a:endParaRPr b="0" cap="none" sz="1800" i="0" strike="noStrike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769" name="Google Shape;307;p32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r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AU"/>
              <a:t>32</a:t>
            </a:fld>
          </a:p>
        </p:txBody>
      </p:sp>
      <p:sp>
        <p:nvSpPr>
          <p:cNvPr id="1048770" name="Google Shape;308;p32"/>
          <p:cNvSpPr txBox="1"/>
          <p:nvPr/>
        </p:nvSpPr>
        <p:spPr>
          <a:xfrm>
            <a:off x="3286116" y="357166"/>
            <a:ext cx="1857388" cy="584775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spAutoFit/>
          </a:bodyPr>
          <a:p>
            <a:pPr algn="l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cap="none" sz="3200" i="0" lang="en-AU" strike="noStrike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Cont’d</a:t>
            </a:r>
            <a:endParaRPr b="0" cap="none" sz="3200" i="0" strike="noStrike" u="none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6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3" name="Google Shape;313;p3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rmAutofit/>
          </a:bodyPr>
          <a:p>
            <a:pPr algn="ctr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 Black"/>
              <a:buNone/>
            </a:pPr>
            <a:r>
              <a:rPr lang="en-AU">
                <a:latin typeface="Arial Black"/>
                <a:ea typeface="Arial Black"/>
                <a:cs typeface="Arial Black"/>
                <a:sym typeface="Arial Black"/>
              </a:rPr>
              <a:t>Arterial Supply of Lateral Wall</a:t>
            </a:r>
            <a:endParaRPr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048774" name="Google Shape;314;p33"/>
          <p:cNvSpPr txBox="1"/>
          <p:nvPr>
            <p:ph type="body" idx="1"/>
          </p:nvPr>
        </p:nvSpPr>
        <p:spPr>
          <a:xfrm>
            <a:off x="428596" y="1428736"/>
            <a:ext cx="8229600" cy="5643602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/>
          </a:bodyPr>
          <a:p>
            <a:pPr algn="just" indent="-342931" lvl="0" marL="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⮚"/>
            </a:pPr>
            <a:r>
              <a:rPr sz="3300" lang="en-AU"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sz="3300" lang="en-AU">
                <a:latin typeface="Arial"/>
                <a:ea typeface="Arial"/>
                <a:cs typeface="Arial"/>
                <a:sym typeface="Arial"/>
              </a:rPr>
              <a:t>arterial supply </a:t>
            </a:r>
            <a:r>
              <a:rPr sz="3300" lang="en-AU">
                <a:latin typeface="Arial"/>
                <a:ea typeface="Arial"/>
                <a:cs typeface="Arial"/>
                <a:sym typeface="Arial"/>
              </a:rPr>
              <a:t>of the </a:t>
            </a:r>
            <a:r>
              <a:rPr b="1" sz="3300" lang="en-AU">
                <a:latin typeface="Arial"/>
                <a:ea typeface="Arial"/>
                <a:cs typeface="Arial"/>
                <a:sym typeface="Arial"/>
              </a:rPr>
              <a:t>various parts </a:t>
            </a:r>
            <a:r>
              <a:rPr sz="3300" lang="en-AU">
                <a:latin typeface="Arial"/>
                <a:ea typeface="Arial"/>
                <a:cs typeface="Arial"/>
                <a:sym typeface="Arial"/>
              </a:rPr>
              <a:t>of the </a:t>
            </a:r>
            <a:r>
              <a:rPr b="1" sz="3300" lang="en-AU">
                <a:latin typeface="Arial"/>
                <a:ea typeface="Arial"/>
                <a:cs typeface="Arial"/>
                <a:sym typeface="Arial"/>
              </a:rPr>
              <a:t>lateral wall </a:t>
            </a:r>
            <a:r>
              <a:rPr sz="3300" lang="en-AU">
                <a:latin typeface="Arial"/>
                <a:ea typeface="Arial"/>
                <a:cs typeface="Arial"/>
                <a:sym typeface="Arial"/>
              </a:rPr>
              <a:t>is as follows:</a:t>
            </a:r>
          </a:p>
          <a:p>
            <a:pPr algn="just" indent="-342931" lvl="0" marL="342900" rtl="0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sz="3300" lang="en-AU">
                <a:latin typeface="Arial"/>
                <a:ea typeface="Arial"/>
                <a:cs typeface="Arial"/>
                <a:sym typeface="Arial"/>
              </a:rPr>
              <a:t>Anterosuperior quadrant</a:t>
            </a:r>
            <a:r>
              <a:rPr sz="3300" lang="en-AU">
                <a:latin typeface="Arial"/>
                <a:ea typeface="Arial"/>
                <a:cs typeface="Arial"/>
                <a:sym typeface="Arial"/>
              </a:rPr>
              <a:t>, by the </a:t>
            </a:r>
            <a:r>
              <a:rPr b="1" sz="3300" lang="en-AU">
                <a:latin typeface="Arial"/>
                <a:ea typeface="Arial"/>
                <a:cs typeface="Arial"/>
                <a:sym typeface="Arial"/>
              </a:rPr>
              <a:t>anterior ethmoidal artery</a:t>
            </a:r>
            <a:r>
              <a:rPr sz="3300" lang="en-AU">
                <a:latin typeface="Arial"/>
                <a:ea typeface="Arial"/>
                <a:cs typeface="Arial"/>
                <a:sym typeface="Arial"/>
              </a:rPr>
              <a:t>, a branch of ophthalmic artery.</a:t>
            </a:r>
          </a:p>
          <a:p>
            <a:pPr algn="just" indent="-342931" lvl="0" marL="342900" rtl="0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sz="3300" lang="en-AU">
                <a:latin typeface="Arial"/>
                <a:ea typeface="Arial"/>
                <a:cs typeface="Arial"/>
                <a:sym typeface="Arial"/>
              </a:rPr>
              <a:t>Anteroinferior quadrant</a:t>
            </a:r>
            <a:r>
              <a:rPr sz="3300" lang="en-AU">
                <a:latin typeface="Arial"/>
                <a:ea typeface="Arial"/>
                <a:cs typeface="Arial"/>
                <a:sym typeface="Arial"/>
              </a:rPr>
              <a:t>, by branches of </a:t>
            </a:r>
            <a:r>
              <a:rPr b="1" sz="3300" lang="en-AU">
                <a:latin typeface="Arial"/>
                <a:ea typeface="Arial"/>
                <a:cs typeface="Arial"/>
                <a:sym typeface="Arial"/>
              </a:rPr>
              <a:t>facial</a:t>
            </a:r>
            <a:r>
              <a:rPr sz="3300" lang="en-AU"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sz="3300" lang="en-AU">
                <a:latin typeface="Arial"/>
                <a:ea typeface="Arial"/>
                <a:cs typeface="Arial"/>
                <a:sym typeface="Arial"/>
              </a:rPr>
              <a:t>greater palatine arteries</a:t>
            </a:r>
            <a:r>
              <a:rPr sz="3300" lang="en-AU"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algn="just" indent="-342931" lvl="0" marL="342900" rtl="0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sz="3300" lang="en-AU">
                <a:latin typeface="Arial"/>
                <a:ea typeface="Arial"/>
                <a:cs typeface="Arial"/>
                <a:sym typeface="Arial"/>
              </a:rPr>
              <a:t>Posterosuperior quadrant</a:t>
            </a:r>
            <a:r>
              <a:rPr sz="3300" lang="en-AU">
                <a:latin typeface="Arial"/>
                <a:ea typeface="Arial"/>
                <a:cs typeface="Arial"/>
                <a:sym typeface="Arial"/>
              </a:rPr>
              <a:t>, by </a:t>
            </a:r>
            <a:r>
              <a:rPr b="1" sz="3300" lang="en-AU">
                <a:latin typeface="Arial"/>
                <a:ea typeface="Arial"/>
                <a:cs typeface="Arial"/>
                <a:sym typeface="Arial"/>
              </a:rPr>
              <a:t>sphenopalatine artery</a:t>
            </a:r>
            <a:r>
              <a:rPr sz="3300" lang="en-AU">
                <a:latin typeface="Arial"/>
                <a:ea typeface="Arial"/>
                <a:cs typeface="Arial"/>
                <a:sym typeface="Arial"/>
              </a:rPr>
              <a:t>, a </a:t>
            </a:r>
            <a:r>
              <a:rPr b="1" sz="3300" lang="en-AU">
                <a:latin typeface="Arial"/>
                <a:ea typeface="Arial"/>
                <a:cs typeface="Arial"/>
                <a:sym typeface="Arial"/>
              </a:rPr>
              <a:t>branch of maxillary artery</a:t>
            </a:r>
            <a:r>
              <a:rPr sz="3300" lang="en-AU"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algn="just" indent="-342931" lvl="0" marL="342900" rtl="0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sz="3300" lang="en-AU">
                <a:latin typeface="Arial"/>
                <a:ea typeface="Arial"/>
                <a:cs typeface="Arial"/>
                <a:sym typeface="Arial"/>
              </a:rPr>
              <a:t>Posteroinferior quadrant</a:t>
            </a:r>
            <a:r>
              <a:rPr sz="3300" lang="en-AU">
                <a:latin typeface="Arial"/>
                <a:ea typeface="Arial"/>
                <a:cs typeface="Arial"/>
                <a:sym typeface="Arial"/>
              </a:rPr>
              <a:t>, by branches of </a:t>
            </a:r>
            <a:r>
              <a:rPr b="1" sz="3300" lang="en-AU">
                <a:latin typeface="Arial"/>
                <a:ea typeface="Arial"/>
                <a:cs typeface="Arial"/>
                <a:sym typeface="Arial"/>
              </a:rPr>
              <a:t>greater palatine artery</a:t>
            </a:r>
            <a:r>
              <a:rPr sz="3300" lang="en-AU">
                <a:latin typeface="Arial"/>
                <a:ea typeface="Arial"/>
                <a:cs typeface="Arial"/>
                <a:sym typeface="Arial"/>
              </a:rPr>
              <a:t>, which pierces the </a:t>
            </a:r>
            <a:r>
              <a:rPr b="1" sz="3300" lang="en-AU">
                <a:latin typeface="Arial"/>
                <a:ea typeface="Arial"/>
                <a:cs typeface="Arial"/>
                <a:sym typeface="Arial"/>
              </a:rPr>
              <a:t>perpendicular plate of palatine</a:t>
            </a:r>
            <a:r>
              <a:rPr sz="3300" lang="en-AU"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algn="just" indent="-154940" lvl="0" marL="342900" rtl="0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8775" name="Google Shape;315;p33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r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AU"/>
              <a:t>33</a:t>
            </a:fld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2" name="Google Shape;320;p34"/>
          <p:cNvPicPr preferRelativeResize="0">
            <a:picLocks/>
          </p:cNvPicPr>
          <p:nvPr>
            <p:ph type="body" idx="1"/>
          </p:nvPr>
        </p:nvPicPr>
        <p:blipFill rotWithShape="1">
          <a:blip xmlns:r="http://schemas.openxmlformats.org/officeDocument/2006/relationships" r:embed="rId1">
            <a:alphaModFix/>
          </a:blip>
          <a:srcRect l="0" t="0" r="0" b="0"/>
          <a:stretch>
            <a:fillRect/>
          </a:stretch>
        </p:blipFill>
        <p:spPr>
          <a:xfrm>
            <a:off x="1176337" y="1500174"/>
            <a:ext cx="7181877" cy="4572032"/>
          </a:xfrm>
          <a:prstGeom prst="rect"/>
          <a:noFill/>
          <a:ln>
            <a:noFill/>
          </a:ln>
        </p:spPr>
      </p:pic>
      <p:sp>
        <p:nvSpPr>
          <p:cNvPr id="1048778" name="Google Shape;321;p34"/>
          <p:cNvSpPr txBox="1"/>
          <p:nvPr/>
        </p:nvSpPr>
        <p:spPr>
          <a:xfrm>
            <a:off x="2214546" y="6143644"/>
            <a:ext cx="3643338" cy="624799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spAutoFit/>
          </a:bodyPr>
          <a:p>
            <a:pPr algn="l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cap="none" sz="1800" i="0" lang="en-AU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Arterial supply of the lateral wall</a:t>
            </a:r>
            <a:endParaRPr b="0" cap="none" sz="1800" i="0" strike="noStrike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779" name="Google Shape;322;p34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r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AU"/>
              <a:t>34</a:t>
            </a:fld>
          </a:p>
        </p:txBody>
      </p:sp>
      <p:sp>
        <p:nvSpPr>
          <p:cNvPr id="1048780" name="Google Shape;323;p34"/>
          <p:cNvSpPr txBox="1"/>
          <p:nvPr/>
        </p:nvSpPr>
        <p:spPr>
          <a:xfrm>
            <a:off x="3286116" y="642918"/>
            <a:ext cx="2151551" cy="955001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spAutoFit/>
          </a:bodyPr>
          <a:p>
            <a:pPr algn="l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cap="none" sz="4400" i="0" lang="en-AU" strike="noStrike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Cont’d</a:t>
            </a:r>
            <a:endParaRPr b="0" cap="none" sz="4400" i="0" strike="noStrike" u="none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algn="l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cap="none" sz="1800" i="0" strike="noStrike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2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3" name="Google Shape;328;p35"/>
          <p:cNvSpPr txBox="1"/>
          <p:nvPr>
            <p:ph type="title"/>
          </p:nvPr>
        </p:nvSpPr>
        <p:spPr>
          <a:xfrm>
            <a:off x="457200" y="0"/>
            <a:ext cx="8229600" cy="714356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rmAutofit fontScale="97727"/>
          </a:bodyPr>
          <a:p>
            <a:pPr algn="ctr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 Black"/>
              <a:buNone/>
            </a:pPr>
            <a:r>
              <a:rPr lang="en-AU">
                <a:latin typeface="Arial Black"/>
                <a:ea typeface="Arial Black"/>
                <a:cs typeface="Arial Black"/>
                <a:sym typeface="Arial Black"/>
              </a:rPr>
              <a:t>Nerve Supply of Lateral Wall</a:t>
            </a:r>
            <a:endParaRPr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048784" name="Google Shape;329;p35"/>
          <p:cNvSpPr txBox="1"/>
          <p:nvPr>
            <p:ph type="body" idx="1"/>
          </p:nvPr>
        </p:nvSpPr>
        <p:spPr>
          <a:xfrm>
            <a:off x="-314356" y="714355"/>
            <a:ext cx="9001156" cy="714380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algn="just" indent="-342900" lvl="0" marL="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sz="2600" lang="en-AU">
                <a:latin typeface="Arial"/>
                <a:ea typeface="Arial"/>
                <a:cs typeface="Arial"/>
                <a:sym typeface="Arial"/>
              </a:rPr>
              <a:t>The following nerves supply the different parts of the lateral wall:</a:t>
            </a:r>
          </a:p>
          <a:p>
            <a:pPr algn="just" indent="-342900" lvl="0" marL="342900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⮚"/>
            </a:pPr>
            <a:r>
              <a:rPr b="1" sz="2600" lang="en-AU">
                <a:latin typeface="Arial"/>
                <a:ea typeface="Arial"/>
                <a:cs typeface="Arial"/>
                <a:sym typeface="Arial"/>
              </a:rPr>
              <a:t>Olfactory nerves </a:t>
            </a:r>
            <a:r>
              <a:rPr sz="2600" lang="en-AU">
                <a:latin typeface="Arial"/>
                <a:ea typeface="Arial"/>
                <a:cs typeface="Arial"/>
                <a:sym typeface="Arial"/>
              </a:rPr>
              <a:t>supply the </a:t>
            </a:r>
            <a:r>
              <a:rPr b="1" sz="2600" lang="en-AU">
                <a:latin typeface="Arial"/>
                <a:ea typeface="Arial"/>
                <a:cs typeface="Arial"/>
                <a:sym typeface="Arial"/>
              </a:rPr>
              <a:t>upper part </a:t>
            </a:r>
            <a:r>
              <a:rPr sz="2600" lang="en-AU">
                <a:latin typeface="Arial"/>
                <a:ea typeface="Arial"/>
                <a:cs typeface="Arial"/>
                <a:sym typeface="Arial"/>
              </a:rPr>
              <a:t>(one-third) just below the </a:t>
            </a:r>
            <a:r>
              <a:rPr b="1" sz="2600" lang="en-AU">
                <a:latin typeface="Arial"/>
                <a:ea typeface="Arial"/>
                <a:cs typeface="Arial"/>
                <a:sym typeface="Arial"/>
              </a:rPr>
              <a:t>cribriform plate of ethmoid </a:t>
            </a:r>
            <a:r>
              <a:rPr sz="2600" lang="en-AU">
                <a:latin typeface="Arial"/>
                <a:ea typeface="Arial"/>
                <a:cs typeface="Arial"/>
                <a:sym typeface="Arial"/>
              </a:rPr>
              <a:t>up to the </a:t>
            </a:r>
            <a:r>
              <a:rPr b="1" sz="2600" lang="en-AU">
                <a:latin typeface="Arial"/>
                <a:ea typeface="Arial"/>
                <a:cs typeface="Arial"/>
                <a:sym typeface="Arial"/>
              </a:rPr>
              <a:t>superior concha</a:t>
            </a:r>
            <a:r>
              <a:rPr sz="2600" lang="en-AU"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algn="just" indent="-342900" lvl="0" marL="342900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⮚"/>
            </a:pPr>
            <a:r>
              <a:rPr b="1" sz="2600" lang="en-AU">
                <a:latin typeface="Arial"/>
                <a:ea typeface="Arial"/>
                <a:cs typeface="Arial"/>
                <a:sym typeface="Arial"/>
              </a:rPr>
              <a:t>Anterior ethmoidal nerve </a:t>
            </a:r>
            <a:r>
              <a:rPr sz="2600" lang="en-AU">
                <a:latin typeface="Arial"/>
                <a:ea typeface="Arial"/>
                <a:cs typeface="Arial"/>
                <a:sym typeface="Arial"/>
              </a:rPr>
              <a:t>(from ophthalmic) supplies the </a:t>
            </a:r>
            <a:r>
              <a:rPr b="1" sz="2600" lang="en-AU">
                <a:latin typeface="Arial"/>
                <a:ea typeface="Arial"/>
                <a:cs typeface="Arial"/>
                <a:sym typeface="Arial"/>
              </a:rPr>
              <a:t>anterosuperior quadrant</a:t>
            </a:r>
            <a:r>
              <a:rPr sz="2600" lang="en-AU"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algn="just" indent="-342900" lvl="0" marL="342900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⮚"/>
            </a:pPr>
            <a:r>
              <a:rPr b="1" sz="2600" lang="en-AU">
                <a:latin typeface="Arial"/>
                <a:ea typeface="Arial"/>
                <a:cs typeface="Arial"/>
                <a:sym typeface="Arial"/>
              </a:rPr>
              <a:t>Anterior superior alveolar nerve</a:t>
            </a:r>
            <a:r>
              <a:rPr sz="2600" lang="en-AU">
                <a:latin typeface="Arial"/>
                <a:ea typeface="Arial"/>
                <a:cs typeface="Arial"/>
                <a:sym typeface="Arial"/>
              </a:rPr>
              <a:t>, a branch of </a:t>
            </a:r>
            <a:r>
              <a:rPr b="1" sz="2600" lang="en-AU">
                <a:latin typeface="Arial"/>
                <a:ea typeface="Arial"/>
                <a:cs typeface="Arial"/>
                <a:sym typeface="Arial"/>
              </a:rPr>
              <a:t>infraorbital nerve </a:t>
            </a:r>
            <a:r>
              <a:rPr sz="2600" lang="en-AU">
                <a:latin typeface="Arial"/>
                <a:ea typeface="Arial"/>
                <a:cs typeface="Arial"/>
                <a:sym typeface="Arial"/>
              </a:rPr>
              <a:t>(from maxillary) supplies the </a:t>
            </a:r>
            <a:r>
              <a:rPr b="1" sz="2600" lang="en-AU">
                <a:latin typeface="Arial"/>
                <a:ea typeface="Arial"/>
                <a:cs typeface="Arial"/>
                <a:sym typeface="Arial"/>
              </a:rPr>
              <a:t>anteroinferior quadrant</a:t>
            </a:r>
            <a:r>
              <a:rPr sz="2600" lang="en-AU"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algn="just" indent="-342900" lvl="0" marL="342900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⮚"/>
            </a:pPr>
            <a:r>
              <a:rPr b="1" sz="2600" lang="en-AU">
                <a:latin typeface="Arial"/>
                <a:ea typeface="Arial"/>
                <a:cs typeface="Arial"/>
                <a:sym typeface="Arial"/>
              </a:rPr>
              <a:t>Posterior superior lateral branches</a:t>
            </a:r>
            <a:r>
              <a:rPr sz="2600" lang="en-AU">
                <a:latin typeface="Arial"/>
                <a:ea typeface="Arial"/>
                <a:cs typeface="Arial"/>
                <a:sym typeface="Arial"/>
              </a:rPr>
              <a:t>, of pterygopalatine ganglion supply </a:t>
            </a:r>
            <a:r>
              <a:rPr b="1" sz="2600" lang="en-AU">
                <a:latin typeface="Arial"/>
                <a:ea typeface="Arial"/>
                <a:cs typeface="Arial"/>
                <a:sym typeface="Arial"/>
              </a:rPr>
              <a:t>posterosuperior quadrant</a:t>
            </a:r>
            <a:r>
              <a:rPr sz="2600" lang="en-AU"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algn="just" indent="-342900" lvl="0" marL="342900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⮚"/>
            </a:pPr>
            <a:r>
              <a:rPr b="1" sz="2600" lang="en-AU">
                <a:latin typeface="Arial"/>
                <a:ea typeface="Arial"/>
                <a:cs typeface="Arial"/>
                <a:sym typeface="Arial"/>
              </a:rPr>
              <a:t>Nasal branches of greater palatine nerve</a:t>
            </a:r>
            <a:r>
              <a:rPr sz="2600" lang="en-AU">
                <a:latin typeface="Arial"/>
                <a:ea typeface="Arial"/>
                <a:cs typeface="Arial"/>
                <a:sym typeface="Arial"/>
              </a:rPr>
              <a:t>, (from pterygopalatine ganglion) supply </a:t>
            </a:r>
            <a:r>
              <a:rPr b="1" sz="2600" lang="en-AU">
                <a:latin typeface="Arial"/>
                <a:ea typeface="Arial"/>
                <a:cs typeface="Arial"/>
                <a:sym typeface="Arial"/>
              </a:rPr>
              <a:t>posteroinferior quadrant</a:t>
            </a:r>
            <a:r>
              <a:rPr sz="2600" lang="en-AU">
                <a:latin typeface="Arial"/>
                <a:ea typeface="Arial"/>
                <a:cs typeface="Arial"/>
                <a:sym typeface="Arial"/>
              </a:rPr>
              <a:t>.</a:t>
            </a:r>
            <a:endParaRPr sz="2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8785" name="Google Shape;330;p35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r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AU"/>
              <a:t>35</a:t>
            </a:fld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5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3" name="Google Shape;335;p36"/>
          <p:cNvPicPr preferRelativeResize="0">
            <a:picLocks/>
          </p:cNvPicPr>
          <p:nvPr>
            <p:ph type="body" idx="1"/>
          </p:nvPr>
        </p:nvPicPr>
        <p:blipFill rotWithShape="1">
          <a:blip xmlns:r="http://schemas.openxmlformats.org/officeDocument/2006/relationships" r:embed="rId1">
            <a:alphaModFix/>
          </a:blip>
          <a:srcRect l="0" t="0" r="0" b="0"/>
          <a:stretch>
            <a:fillRect/>
          </a:stretch>
        </p:blipFill>
        <p:spPr>
          <a:xfrm>
            <a:off x="1285852" y="1214422"/>
            <a:ext cx="6715172" cy="5000660"/>
          </a:xfrm>
          <a:prstGeom prst="rect"/>
          <a:noFill/>
          <a:ln>
            <a:noFill/>
          </a:ln>
        </p:spPr>
      </p:pic>
      <p:sp>
        <p:nvSpPr>
          <p:cNvPr id="1048788" name="Google Shape;336;p36"/>
          <p:cNvSpPr txBox="1"/>
          <p:nvPr/>
        </p:nvSpPr>
        <p:spPr>
          <a:xfrm>
            <a:off x="2357422" y="6072206"/>
            <a:ext cx="4714908" cy="369332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spAutoFit/>
          </a:bodyPr>
          <a:p>
            <a:pPr algn="l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cap="none" sz="1800" i="0" lang="en-AU" strike="noStrike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Nerve supply of the lateral wall of the nose</a:t>
            </a:r>
            <a:endParaRPr b="0" cap="none" sz="1800" i="0" strike="noStrike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8789" name="Google Shape;337;p36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r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AU"/>
              <a:t>36</a:t>
            </a:fld>
          </a:p>
        </p:txBody>
      </p:sp>
      <p:sp>
        <p:nvSpPr>
          <p:cNvPr id="1048790" name="Google Shape;338;p36"/>
          <p:cNvSpPr txBox="1"/>
          <p:nvPr/>
        </p:nvSpPr>
        <p:spPr>
          <a:xfrm>
            <a:off x="3357554" y="500042"/>
            <a:ext cx="2151551" cy="955001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spAutoFit/>
          </a:bodyPr>
          <a:p>
            <a:pPr algn="l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cap="none" sz="4400" i="0" lang="en-AU" strike="noStrike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Cont’d</a:t>
            </a:r>
            <a:endParaRPr b="0" cap="none" sz="4400" i="0" strike="noStrike" u="none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algn="l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cap="none" sz="1800" i="0" strike="noStrike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8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93" name="Google Shape;343;p3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rmAutofit/>
          </a:bodyPr>
          <a:p>
            <a:pPr algn="ctr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 Black"/>
              <a:buNone/>
            </a:pPr>
            <a:r>
              <a:rPr lang="en-AU">
                <a:latin typeface="Arial Black"/>
                <a:ea typeface="Arial Black"/>
                <a:cs typeface="Arial Black"/>
                <a:sym typeface="Arial Black"/>
              </a:rPr>
              <a:t>Venous Drainage of Nasal Cavity</a:t>
            </a:r>
            <a:endParaRPr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048794" name="Google Shape;344;p37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/>
          </a:bodyPr>
          <a:p>
            <a:pPr algn="just" indent="-342900" lvl="0" marL="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▪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veins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draining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nasal cavity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form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plexus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beneath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mucosa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in general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accompany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arteries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veins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of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nasal cavity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drain into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Facial vein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Ethmoidal veins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(and thus into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ophthalmic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dural veins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),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Sphenopalatine veins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(and thus into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pterygoid venous plexus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and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maxillary vein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).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8795" name="Google Shape;345;p37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r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AU"/>
              <a:t>37</a:t>
            </a:fld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6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3" name="Google Shape;350;p3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rmAutofit fontScale="93182"/>
          </a:bodyPr>
          <a:p>
            <a:pPr algn="ctr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 Black"/>
              <a:buNone/>
            </a:pPr>
            <a:r>
              <a:rPr lang="en-AU">
                <a:latin typeface="Arial Black"/>
                <a:ea typeface="Arial Black"/>
                <a:cs typeface="Arial Black"/>
                <a:sym typeface="Arial Black"/>
              </a:rPr>
              <a:t>Lymphatic Drainage of Nasal Cavity</a:t>
            </a:r>
            <a:endParaRPr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048614" name="Google Shape;351;p38"/>
          <p:cNvSpPr txBox="1"/>
          <p:nvPr>
            <p:ph type="body" idx="1"/>
          </p:nvPr>
        </p:nvSpPr>
        <p:spPr>
          <a:xfrm>
            <a:off x="457200" y="1714489"/>
            <a:ext cx="8229600" cy="464347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/>
          </a:bodyPr>
          <a:p>
            <a:pPr algn="just" indent="-342900" lvl="0" marL="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Lymph from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anterior part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nasal cavity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(both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medial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lateral walls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) is drained into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submandibular lymph nodes,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from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posterior part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into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retropharyngeal lymph nodes, and Upper deep cervical lymph nodes;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these, together with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retropharyngeal lymph nodes,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drain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larger part of nasal mucosa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algn="just" indent="-139700" lvl="0" marL="34290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8615" name="Google Shape;352;p38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r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AU"/>
              <a:t>38</a:t>
            </a:fld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0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4" name="Google Shape;357;p3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rmAutofit/>
          </a:bodyPr>
          <a:p>
            <a:pPr algn="ctr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 Black"/>
              <a:buNone/>
            </a:pPr>
            <a:r>
              <a:rPr lang="en-AU">
                <a:latin typeface="Arial Black"/>
                <a:ea typeface="Arial Black"/>
                <a:cs typeface="Arial Black"/>
                <a:sym typeface="Arial Black"/>
              </a:rPr>
              <a:t>Nerve Supply of Nasal Cavity</a:t>
            </a:r>
            <a:endParaRPr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048605" name="Google Shape;358;p39"/>
          <p:cNvSpPr txBox="1"/>
          <p:nvPr>
            <p:ph type="body" idx="1"/>
          </p:nvPr>
        </p:nvSpPr>
        <p:spPr>
          <a:xfrm>
            <a:off x="214282" y="1428736"/>
            <a:ext cx="8715436" cy="607223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algn="just" indent="-342900" lvl="0" marL="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AU">
                <a:latin typeface="Arial"/>
                <a:ea typeface="Arial"/>
                <a:cs typeface="Arial"/>
                <a:sym typeface="Arial"/>
              </a:rPr>
              <a:t>Olfactory nerves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: They carry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sense of smell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from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olfactory region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of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nasal cavity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algn="just" indent="-342900" lvl="0" marL="34290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AU">
                <a:latin typeface="Arial"/>
                <a:ea typeface="Arial"/>
                <a:cs typeface="Arial"/>
                <a:sym typeface="Arial"/>
              </a:rPr>
              <a:t>Nerves of general sensation: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These are:</a:t>
            </a:r>
          </a:p>
          <a:p>
            <a:pPr algn="just" indent="-342900" lvl="0" marL="34290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⮚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Anterior ethmoidal nerve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</a:t>
            </a:r>
          </a:p>
          <a:p>
            <a:pPr algn="just" indent="-342900" lvl="0" marL="34290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⮚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 branches of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sphenopalatine ganglion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and </a:t>
            </a:r>
          </a:p>
          <a:p>
            <a:pPr algn="just" indent="-342900" lvl="0" marL="34290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⮚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 branches of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infraorbital nerve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algn="just" indent="-342900" lvl="0" marL="34290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They carry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sensations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of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pain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touch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and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temperature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from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respiratory region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and vestibule of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nasal cavity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</a:p>
        </p:txBody>
      </p:sp>
      <p:sp>
        <p:nvSpPr>
          <p:cNvPr id="1048606" name="Google Shape;359;p39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r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AU"/>
              <a:t>39</a:t>
            </a:fld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4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4" name="Google Shape;364;p40"/>
          <p:cNvSpPr txBox="1"/>
          <p:nvPr>
            <p:ph type="body" idx="1"/>
          </p:nvPr>
        </p:nvSpPr>
        <p:spPr>
          <a:xfrm>
            <a:off x="457200" y="1142984"/>
            <a:ext cx="8229600" cy="535785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/>
          </a:bodyPr>
          <a:p>
            <a:pPr algn="just" indent="-342900" lvl="0" marL="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AU">
                <a:latin typeface="Arial"/>
                <a:ea typeface="Arial"/>
                <a:cs typeface="Arial"/>
                <a:sym typeface="Arial"/>
              </a:rPr>
              <a:t>Autonomic nerves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: Both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 parasympathetic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sympathetic fibres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supplying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nasal cavity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are derived from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Vidian’s nerve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nerve of pterygoid canal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) through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pterygopalatine ganglion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algn="just" indent="-342900" lvl="0" marL="34290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parasympathetic fibres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supply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nasal glands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and control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nasal secretion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algn="just" indent="-342900" lvl="0" marL="34290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sympathetic fibres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on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stimulation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cause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vasoconstriction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algn="l" indent="-139700" lvl="0" marL="34290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</a:p>
        </p:txBody>
      </p:sp>
      <p:sp>
        <p:nvSpPr>
          <p:cNvPr id="1048595" name="Google Shape;365;p40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r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AU"/>
              <a:t>40</a:t>
            </a:fld>
          </a:p>
        </p:txBody>
      </p:sp>
      <p:sp>
        <p:nvSpPr>
          <p:cNvPr id="1048596" name="Google Shape;366;p40"/>
          <p:cNvSpPr txBox="1"/>
          <p:nvPr/>
        </p:nvSpPr>
        <p:spPr>
          <a:xfrm>
            <a:off x="3571868" y="214290"/>
            <a:ext cx="2151551" cy="955001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spAutoFit/>
          </a:bodyPr>
          <a:p>
            <a:pPr algn="l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cap="none" sz="4400" i="0" lang="en-AU" strike="noStrike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Cont’d</a:t>
            </a:r>
            <a:endParaRPr b="0" cap="none" sz="4400" i="0" strike="noStrike" u="none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algn="l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cap="none" sz="1800" i="0" strike="noStrike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5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6" name="Google Shape;371;p41"/>
          <p:cNvSpPr txBox="1"/>
          <p:nvPr>
            <p:ph type="title"/>
          </p:nvPr>
        </p:nvSpPr>
        <p:spPr>
          <a:xfrm>
            <a:off x="457200" y="274638"/>
            <a:ext cx="8229600" cy="939784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rmAutofit/>
          </a:bodyPr>
          <a:p>
            <a:pPr algn="ctr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lang="en-AU">
                <a:latin typeface="Arial Black"/>
                <a:ea typeface="Arial Black"/>
                <a:cs typeface="Arial Black"/>
                <a:sym typeface="Arial Black"/>
              </a:rPr>
              <a:t>APPLIED ANATOMY</a:t>
            </a:r>
          </a:p>
        </p:txBody>
      </p:sp>
      <p:sp>
        <p:nvSpPr>
          <p:cNvPr id="1048587" name="Google Shape;372;p41"/>
          <p:cNvSpPr txBox="1"/>
          <p:nvPr>
            <p:ph type="body" idx="1"/>
          </p:nvPr>
        </p:nvSpPr>
        <p:spPr>
          <a:xfrm>
            <a:off x="214282" y="1071546"/>
            <a:ext cx="8643998" cy="5786454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/>
          </a:bodyPr>
          <a:p>
            <a:pPr algn="just" indent="-342900" lvl="0" marL="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AU">
                <a:latin typeface="Arial"/>
                <a:ea typeface="Arial"/>
                <a:cs typeface="Arial"/>
                <a:sym typeface="Arial"/>
              </a:rPr>
              <a:t>Facial deformity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may occur following fracture of nasal bones or injury to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nasal cartilages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e.g. in auto crash.</a:t>
            </a:r>
          </a:p>
          <a:p>
            <a:pPr algn="just" indent="-342900" lvl="0" marL="34290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In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head injury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cribriform plate of ethmoid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may be fractured; this tears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meninges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thereby causing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leakage of CSF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into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nasal cavity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-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CSF rhinorhoea.</a:t>
            </a:r>
          </a:p>
          <a:p>
            <a:pPr algn="just" indent="-342900" lvl="0" marL="34290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nasal septum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may deviate to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one side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rather than being in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median plane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; this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deformity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may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obstruct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nasal cavity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0" name="Google Shape;377;p42"/>
          <p:cNvSpPr txBox="1"/>
          <p:nvPr>
            <p:ph type="title"/>
          </p:nvPr>
        </p:nvSpPr>
        <p:spPr>
          <a:xfrm>
            <a:off x="457200" y="-214338"/>
            <a:ext cx="8229600" cy="1143008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rmAutofit/>
          </a:bodyPr>
          <a:p>
            <a:pPr algn="ctr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lang="en-AU">
                <a:latin typeface="Arial Black"/>
                <a:ea typeface="Arial Black"/>
                <a:cs typeface="Arial Black"/>
                <a:sym typeface="Arial Black"/>
              </a:rPr>
              <a:t>Cont’d</a:t>
            </a:r>
            <a:endParaRPr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048591" name="Google Shape;378;p42"/>
          <p:cNvSpPr txBox="1"/>
          <p:nvPr>
            <p:ph type="body" idx="1"/>
          </p:nvPr>
        </p:nvSpPr>
        <p:spPr>
          <a:xfrm>
            <a:off x="214282" y="642918"/>
            <a:ext cx="8643998" cy="6572296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/>
          </a:bodyPr>
          <a:p>
            <a:pPr algn="just" indent="-342900" lvl="0" marL="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AU">
                <a:latin typeface="Arial"/>
                <a:ea typeface="Arial"/>
                <a:cs typeface="Arial"/>
                <a:sym typeface="Arial"/>
              </a:rPr>
              <a:t>Epistaxis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(nose bleed) may occur; it usually occurs in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Kiesselbach’s area (anteroinferior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part 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nasal septum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just above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vestibule),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owing to the rich anastomoses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between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main vessels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of the nasal cavity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in the Kiesselbach’s area.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This area of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nasal septum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is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commonest site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of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epistaxis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(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nose bleeding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) in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children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young adults.</a:t>
            </a:r>
          </a:p>
          <a:p>
            <a:pPr algn="just" indent="-342900" lvl="0" marL="34290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AU">
                <a:latin typeface="Arial"/>
                <a:ea typeface="Arial"/>
                <a:cs typeface="Arial"/>
                <a:sym typeface="Arial"/>
              </a:rPr>
              <a:t>Epistaxis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may be indicative of certain clinical conditions, including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nasal infections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high blood pressure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algn="just" indent="-342900" lvl="0" marL="34290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algn="just" indent="-139700" lvl="0" marL="34290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7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9" name="Google Shape;383;p43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 lnSpcReduction="10000"/>
          </a:bodyPr>
          <a:p>
            <a:pPr algn="just" indent="-342900" lvl="0" marL="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AU">
                <a:latin typeface="Arial"/>
                <a:ea typeface="Arial"/>
                <a:cs typeface="Arial"/>
                <a:sym typeface="Arial"/>
              </a:rPr>
              <a:t>Rhinitis: when the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nasal cavity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is inflamed, the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nasal mucosa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swells readily, owing to its rich vascularity; this condition may also obstruct the nasal cavity.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hypertrophy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of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mucosa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over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inferior concha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is a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common feature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of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allergic rhinitis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 It presents clinically as: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nasal blockage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sneezing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and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water discharge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from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nose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(rhinorrhea).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8600" name="Google Shape;384;p43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r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AU"/>
              <a:t>43</a:t>
            </a:fld>
          </a:p>
        </p:txBody>
      </p:sp>
      <p:sp>
        <p:nvSpPr>
          <p:cNvPr id="1048601" name="Google Shape;385;p43"/>
          <p:cNvSpPr txBox="1"/>
          <p:nvPr/>
        </p:nvSpPr>
        <p:spPr>
          <a:xfrm>
            <a:off x="3143240" y="642918"/>
            <a:ext cx="2643206" cy="769441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spAutoFit/>
          </a:bodyPr>
          <a:p>
            <a:pPr algn="l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cap="none" sz="4400" i="0" lang="en-AU" strike="noStrike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Cont’d</a:t>
            </a:r>
            <a:endParaRPr b="0" cap="none" sz="4400" i="0" strike="noStrike" u="none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3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9" name="Google Shape;390;p44"/>
          <p:cNvSpPr txBox="1"/>
          <p:nvPr>
            <p:ph type="body" idx="1"/>
          </p:nvPr>
        </p:nvSpPr>
        <p:spPr>
          <a:xfrm>
            <a:off x="428596" y="214290"/>
            <a:ext cx="8429684" cy="7286676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 lnSpcReduction="10000"/>
          </a:bodyPr>
          <a:p>
            <a:pPr algn="just" indent="-342900" lvl="0" marL="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AU">
                <a:latin typeface="Arial"/>
                <a:ea typeface="Arial"/>
                <a:cs typeface="Arial"/>
                <a:sym typeface="Arial"/>
              </a:rPr>
              <a:t>Thrombophlebitis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of nasal veins may also spread to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facial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ophthalmic veins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cavernous sinus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medial pterygoid plexus.</a:t>
            </a:r>
          </a:p>
          <a:p>
            <a:pPr algn="just" indent="-342900" lvl="0" marL="34290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AU">
                <a:latin typeface="Arial"/>
                <a:ea typeface="Arial"/>
                <a:cs typeface="Arial"/>
                <a:sym typeface="Arial"/>
              </a:rPr>
              <a:t>Owing to the continuity of the nasal mucosa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with those of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adjacent regions, nasal infections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may spread to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(or from)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these regions; such regions or structures include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lacrimal sac and conjunctiva (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via the nasolacrimal duct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), cranial meninges (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via the foramina of the cribriform plate of ethmoid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), pharynx (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via the choana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), tympanic cavity, (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via the auditory tube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), and paranasal sinuses (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via the openings of these sinuses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).</a:t>
            </a:r>
          </a:p>
        </p:txBody>
      </p:sp>
      <p:sp>
        <p:nvSpPr>
          <p:cNvPr id="1048610" name="Google Shape;391;p44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r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AU"/>
              <a:t>44</a:t>
            </a:fld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3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98" name="Google Shape;396;p4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rmAutofit/>
          </a:bodyPr>
          <a:p>
            <a:pPr algn="ctr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</a:p>
        </p:txBody>
      </p:sp>
      <p:sp>
        <p:nvSpPr>
          <p:cNvPr id="1048799" name="Google Shape;397;p45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/>
          </a:bodyPr>
          <a:p>
            <a:pPr algn="l" indent="-139700" lvl="0" marL="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</a:p>
        </p:txBody>
      </p:sp>
      <p:pic>
        <p:nvPicPr>
          <p:cNvPr id="2097164" name="Google Shape;398;p45"/>
          <p:cNvPicPr preferRelativeResize="0">
            <a:picLocks/>
          </p:cNvPicPr>
          <p:nvPr/>
        </p:nvPicPr>
        <p:blipFill rotWithShape="1">
          <a:blip xmlns:r="http://schemas.openxmlformats.org/officeDocument/2006/relationships" r:embed="rId1">
            <a:alphaModFix/>
          </a:blip>
          <a:srcRect l="0" t="0" r="0" b="0"/>
          <a:stretch>
            <a:fillRect/>
          </a:stretch>
        </p:blipFill>
        <p:spPr>
          <a:xfrm>
            <a:off x="0" y="0"/>
            <a:ext cx="9169400" cy="6858000"/>
          </a:xfrm>
          <a:prstGeom prst="rect"/>
          <a:noFill/>
          <a:ln>
            <a:noFill/>
          </a:ln>
        </p:spPr>
      </p:pic>
      <p:sp>
        <p:nvSpPr>
          <p:cNvPr id="1048800" name="Google Shape;399;p45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r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AU"/>
              <a:t>45</a:t>
            </a:fld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34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3" name="Google Shape;404;p46"/>
          <p:cNvSpPr txBox="1"/>
          <p:nvPr>
            <p:ph type="ctrTitle"/>
          </p:nvPr>
        </p:nvSpPr>
        <p:spPr>
          <a:xfrm>
            <a:off x="285720" y="1142985"/>
            <a:ext cx="8643998" cy="1785949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rmAutofit/>
          </a:bodyPr>
          <a:p>
            <a:pPr algn="ctr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lang="en-AU">
                <a:latin typeface="Arial Black"/>
                <a:ea typeface="Arial Black"/>
                <a:cs typeface="Arial Black"/>
                <a:sym typeface="Arial Black"/>
              </a:rPr>
              <a:t>ANATOMY OF THE PARANASAL SINUSES</a:t>
            </a:r>
            <a:endParaRPr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048804" name="Google Shape;405;p46"/>
          <p:cNvSpPr txBox="1"/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/>
          </a:bodyPr>
          <a:p>
            <a:pPr algn="ctr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AU">
                <a:latin typeface="Arial Black"/>
                <a:ea typeface="Arial Black"/>
                <a:cs typeface="Arial Black"/>
                <a:sym typeface="Arial Black"/>
              </a:rPr>
              <a:t>BY</a:t>
            </a:r>
          </a:p>
          <a:p>
            <a:pPr algn="ctr" indent="0" lvl="0" marL="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latin typeface="Arial Black"/>
              <a:ea typeface="Arial Black"/>
              <a:cs typeface="Arial Black"/>
              <a:sym typeface="Arial Black"/>
            </a:endParaRPr>
          </a:p>
          <a:p>
            <a:pPr algn="ctr" indent="0" lvl="0" marL="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AU">
                <a:latin typeface="Arial Black"/>
                <a:ea typeface="Arial Black"/>
                <a:cs typeface="Arial Black"/>
                <a:sym typeface="Arial Black"/>
              </a:rPr>
              <a:t>DR.OJEWALE A.O</a:t>
            </a:r>
            <a:endParaRPr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048805" name="Google Shape;406;p46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r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AU"/>
              <a:t>46</a:t>
            </a:fld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37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8" name="Google Shape;411;p47"/>
          <p:cNvSpPr txBox="1"/>
          <p:nvPr>
            <p:ph type="title"/>
          </p:nvPr>
        </p:nvSpPr>
        <p:spPr>
          <a:xfrm>
            <a:off x="457200" y="274638"/>
            <a:ext cx="8229600" cy="1368412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rmAutofit/>
          </a:bodyPr>
          <a:p>
            <a:pPr algn="ctr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lang="en-AU">
                <a:latin typeface="Arial Black"/>
                <a:ea typeface="Arial Black"/>
                <a:cs typeface="Arial Black"/>
                <a:sym typeface="Arial Black"/>
              </a:rPr>
              <a:t>Outline</a:t>
            </a:r>
            <a:endParaRPr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048809" name="Google Shape;412;p47"/>
          <p:cNvSpPr txBox="1"/>
          <p:nvPr>
            <p:ph type="body" idx="1"/>
          </p:nvPr>
        </p:nvSpPr>
        <p:spPr>
          <a:xfrm>
            <a:off x="457200" y="1785926"/>
            <a:ext cx="8229600" cy="4340237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/>
          </a:bodyPr>
          <a:p>
            <a:pPr algn="l" indent="-342900" lvl="0" marL="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Intro’</a:t>
            </a:r>
          </a:p>
          <a:p>
            <a:pPr algn="l" indent="-342900" lvl="0" marL="34290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Relations</a:t>
            </a:r>
          </a:p>
          <a:p>
            <a:pPr algn="l" indent="-342900" lvl="0" marL="34290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Functions</a:t>
            </a:r>
          </a:p>
          <a:p>
            <a:pPr algn="l" indent="-342900" lvl="0" marL="34290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Classification</a:t>
            </a:r>
          </a:p>
          <a:p>
            <a:pPr algn="l" indent="-342900" lvl="0" marL="34290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Types</a:t>
            </a:r>
          </a:p>
          <a:p>
            <a:pPr algn="l" indent="-342900" lvl="0" marL="34290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Blood supplies</a:t>
            </a:r>
          </a:p>
          <a:p>
            <a:pPr algn="l" indent="-342900" lvl="0" marL="34290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Applied Anatomy</a:t>
            </a:r>
          </a:p>
          <a:p>
            <a:pPr algn="l" indent="-139700" lvl="0" marL="34290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</a:p>
        </p:txBody>
      </p:sp>
      <p:sp>
        <p:nvSpPr>
          <p:cNvPr id="1048810" name="Google Shape;413;p47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r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AU"/>
              <a:t>47</a:t>
            </a:fld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0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13" name="Google Shape;418;p48"/>
          <p:cNvSpPr txBox="1"/>
          <p:nvPr>
            <p:ph type="title"/>
          </p:nvPr>
        </p:nvSpPr>
        <p:spPr>
          <a:xfrm>
            <a:off x="457200" y="0"/>
            <a:ext cx="8229600" cy="928670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rmAutofit/>
          </a:bodyPr>
          <a:p>
            <a:pPr algn="ctr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lang="en-AU">
                <a:latin typeface="Arial Black"/>
                <a:ea typeface="Arial Black"/>
                <a:cs typeface="Arial Black"/>
                <a:sym typeface="Arial Black"/>
              </a:rPr>
              <a:t>PARANASAL SINUSES</a:t>
            </a:r>
            <a:endParaRPr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048814" name="Google Shape;419;p48"/>
          <p:cNvSpPr txBox="1"/>
          <p:nvPr>
            <p:ph type="body" idx="1"/>
          </p:nvPr>
        </p:nvSpPr>
        <p:spPr>
          <a:xfrm>
            <a:off x="214282" y="714356"/>
            <a:ext cx="8715436" cy="678661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/>
          </a:bodyPr>
          <a:p>
            <a:pPr algn="just" indent="-342900" lvl="0" marL="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They are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air-filled cavities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produced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by extension 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nasal mucuous membrane into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the bones around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nasal cavities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algn="just" indent="-342900" lvl="0" marL="34290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They vary in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size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shape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in different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subjects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 </a:t>
            </a:r>
          </a:p>
          <a:p>
            <a:pPr algn="just" indent="-342900" lvl="0" marL="34290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They develop as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mucosal diverticula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main nasal cavity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invading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adjacent bones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 </a:t>
            </a:r>
          </a:p>
          <a:p>
            <a:pPr algn="just" indent="-342900" lvl="0" marL="34290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They are lined by a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pseudostratified ciliated columnar epithelium;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their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 mucosa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is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 thinner and less vascularized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compared to that 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nasal cavity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algn="just" indent="-139700" lvl="0" marL="34290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8815" name="Google Shape;420;p48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r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AU"/>
              <a:t>48</a:t>
            </a:fld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3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18" name="Google Shape;425;p49"/>
          <p:cNvSpPr txBox="1"/>
          <p:nvPr>
            <p:ph type="title"/>
          </p:nvPr>
        </p:nvSpPr>
        <p:spPr>
          <a:xfrm>
            <a:off x="457200" y="214290"/>
            <a:ext cx="8229600" cy="1214446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rmAutofit/>
          </a:bodyPr>
          <a:p>
            <a:pPr algn="ctr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lang="en-AU">
                <a:latin typeface="Arial Black"/>
                <a:ea typeface="Arial Black"/>
                <a:cs typeface="Arial Black"/>
                <a:sym typeface="Arial Black"/>
              </a:rPr>
              <a:t>Cont’d</a:t>
            </a:r>
            <a:endParaRPr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048819" name="Google Shape;426;p49"/>
          <p:cNvSpPr txBox="1"/>
          <p:nvPr>
            <p:ph type="body" idx="1"/>
          </p:nvPr>
        </p:nvSpPr>
        <p:spPr>
          <a:xfrm>
            <a:off x="457200" y="1500174"/>
            <a:ext cx="8229600" cy="500066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/>
          </a:bodyPr>
          <a:p>
            <a:pPr algn="just" indent="-342900" lvl="0" marL="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They communicate with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nasal cavity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via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foramina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algn="just" indent="-342900" lvl="0" marL="34290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They are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absent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or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rudimentary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at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birth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algn="just" indent="-342900" lvl="0" marL="34290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They enlarge greatly during the formation of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permanent teeth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and after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puberty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algn="just" indent="-342900" lvl="0" marL="34290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They include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maxillary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frontal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sphenoidal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and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ethmoidal air sinuses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8820" name="Google Shape;427;p49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r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AU"/>
              <a:t>49</a:t>
            </a:fld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6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5" name="Google Shape;432;p50"/>
          <p:cNvPicPr preferRelativeResize="0">
            <a:picLocks/>
          </p:cNvPicPr>
          <p:nvPr>
            <p:ph type="body" idx="1"/>
          </p:nvPr>
        </p:nvPicPr>
        <p:blipFill rotWithShape="1">
          <a:blip xmlns:r="http://schemas.openxmlformats.org/officeDocument/2006/relationships" r:embed="rId1">
            <a:alphaModFix/>
          </a:blip>
          <a:srcRect l="0" t="0" r="0" b="0"/>
          <a:stretch>
            <a:fillRect/>
          </a:stretch>
        </p:blipFill>
        <p:spPr>
          <a:xfrm>
            <a:off x="2714612" y="1285860"/>
            <a:ext cx="4276741" cy="3419475"/>
          </a:xfrm>
          <a:prstGeom prst="rect"/>
          <a:noFill/>
          <a:ln>
            <a:noFill/>
          </a:ln>
        </p:spPr>
      </p:pic>
      <p:sp>
        <p:nvSpPr>
          <p:cNvPr id="1048823" name="Google Shape;433;p50"/>
          <p:cNvSpPr txBox="1"/>
          <p:nvPr/>
        </p:nvSpPr>
        <p:spPr>
          <a:xfrm>
            <a:off x="1643042" y="5357826"/>
            <a:ext cx="7547556" cy="369332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spAutoFit/>
          </a:bodyPr>
          <a:p>
            <a:pPr algn="l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cap="none" sz="1800" i="0" lang="en-AU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Positions of paranasal air sinuses on the surface: side view</a:t>
            </a:r>
            <a:endParaRPr b="0" cap="none" sz="1800" i="0" strike="noStrike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824" name="Google Shape;434;p50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r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AU"/>
              <a:t>50</a:t>
            </a:fld>
          </a:p>
        </p:txBody>
      </p:sp>
      <p:sp>
        <p:nvSpPr>
          <p:cNvPr id="1048825" name="Google Shape;435;p50"/>
          <p:cNvSpPr txBox="1"/>
          <p:nvPr/>
        </p:nvSpPr>
        <p:spPr>
          <a:xfrm>
            <a:off x="3286116" y="428604"/>
            <a:ext cx="2151551" cy="955001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spAutoFit/>
          </a:bodyPr>
          <a:p>
            <a:pPr algn="l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cap="none" sz="4400" i="0" lang="en-AU" strike="noStrike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Cont’d</a:t>
            </a:r>
            <a:endParaRPr b="0" cap="none" sz="4400" i="0" strike="noStrike" u="none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algn="l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cap="none" sz="1800" i="0" strike="noStrike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8" name="Google Shape;440;p51"/>
          <p:cNvSpPr txBox="1"/>
          <p:nvPr>
            <p:ph type="body" idx="1"/>
          </p:nvPr>
        </p:nvSpPr>
        <p:spPr>
          <a:xfrm>
            <a:off x="457200" y="1071546"/>
            <a:ext cx="8229600" cy="5429288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 lnSpcReduction="10000"/>
          </a:bodyPr>
          <a:p>
            <a:pPr algn="just" indent="-342900" lvl="0" marL="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There are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four paranasal air sinuses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on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each side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and are named after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bones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containing them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algn="just" indent="-342900" lvl="0" marL="34290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⮚"/>
            </a:pPr>
            <a:r>
              <a:rPr b="1" lang="en-AU">
                <a:latin typeface="Arial"/>
                <a:ea typeface="Arial"/>
                <a:cs typeface="Arial"/>
                <a:sym typeface="Arial"/>
              </a:rPr>
              <a:t>Frontal air sinuses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present in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frontal bone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algn="just" indent="-342900" lvl="0" marL="34290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⮚"/>
            </a:pPr>
            <a:r>
              <a:rPr b="1" lang="en-AU">
                <a:latin typeface="Arial"/>
                <a:ea typeface="Arial"/>
                <a:cs typeface="Arial"/>
                <a:sym typeface="Arial"/>
              </a:rPr>
              <a:t>Ethmoidal air sinuses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present in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ethmoid bone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algn="just" indent="-342900" lvl="0" marL="34290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⮚"/>
            </a:pPr>
            <a:r>
              <a:rPr b="1" lang="en-AU">
                <a:latin typeface="Arial"/>
                <a:ea typeface="Arial"/>
                <a:cs typeface="Arial"/>
                <a:sym typeface="Arial"/>
              </a:rPr>
              <a:t>Maxillary air sinuses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present in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maxilla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algn="just" indent="-342900" lvl="0" marL="34290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⮚"/>
            </a:pPr>
            <a:r>
              <a:rPr b="1" lang="en-AU">
                <a:latin typeface="Arial"/>
                <a:ea typeface="Arial"/>
                <a:cs typeface="Arial"/>
                <a:sym typeface="Arial"/>
              </a:rPr>
              <a:t>Sphenoidal air sinuses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present in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sphenoid bone</a:t>
            </a:r>
            <a:endParaRPr b="1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8829" name="Google Shape;441;p51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r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AU"/>
              <a:t>51</a:t>
            </a:fld>
          </a:p>
        </p:txBody>
      </p:sp>
      <p:sp>
        <p:nvSpPr>
          <p:cNvPr id="1048830" name="Google Shape;442;p51"/>
          <p:cNvSpPr txBox="1"/>
          <p:nvPr/>
        </p:nvSpPr>
        <p:spPr>
          <a:xfrm>
            <a:off x="3143240" y="500042"/>
            <a:ext cx="2151551" cy="955001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spAutoFit/>
          </a:bodyPr>
          <a:p>
            <a:pPr algn="l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cap="none" sz="4400" i="0" lang="en-AU" strike="noStrike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Cont’d</a:t>
            </a:r>
            <a:endParaRPr b="0" cap="none" sz="4400" i="0" strike="noStrike" u="none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algn="l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cap="none" sz="1800" i="0" strike="noStrike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2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33" name="Google Shape;447;p52"/>
          <p:cNvSpPr txBox="1"/>
          <p:nvPr>
            <p:ph type="body" idx="1"/>
          </p:nvPr>
        </p:nvSpPr>
        <p:spPr>
          <a:xfrm>
            <a:off x="457200" y="1643050"/>
            <a:ext cx="8229600" cy="500066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/>
          </a:bodyPr>
          <a:p>
            <a:pPr algn="just" indent="-342900" lvl="0" marL="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They are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arranged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in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pairs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except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ethmoidal air sinuses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which are arranged in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three groups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viz.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anterior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middle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and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posterior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on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each side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 </a:t>
            </a:r>
          </a:p>
          <a:p>
            <a:pPr algn="just" indent="-342900" lvl="0" marL="34290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orbit of eye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serves as a landmark to appreciate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location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of various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paranasal air sinuses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 </a:t>
            </a:r>
          </a:p>
        </p:txBody>
      </p:sp>
      <p:sp>
        <p:nvSpPr>
          <p:cNvPr id="1048834" name="Google Shape;448;p52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r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AU"/>
              <a:t>52</a:t>
            </a:fld>
          </a:p>
        </p:txBody>
      </p:sp>
      <p:sp>
        <p:nvSpPr>
          <p:cNvPr id="1048835" name="Google Shape;449;p52"/>
          <p:cNvSpPr txBox="1"/>
          <p:nvPr/>
        </p:nvSpPr>
        <p:spPr>
          <a:xfrm>
            <a:off x="3643306" y="571480"/>
            <a:ext cx="2151551" cy="955001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spAutoFit/>
          </a:bodyPr>
          <a:p>
            <a:pPr algn="l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cap="none" sz="4400" i="0" lang="en-AU" strike="noStrike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Cont’d</a:t>
            </a:r>
            <a:endParaRPr b="0" cap="none" sz="4400" i="0" strike="noStrike" u="none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algn="l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cap="none" sz="1800" i="0" strike="noStrike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5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38" name="Google Shape;454;p53"/>
          <p:cNvSpPr txBox="1"/>
          <p:nvPr>
            <p:ph type="body" idx="1"/>
          </p:nvPr>
        </p:nvSpPr>
        <p:spPr>
          <a:xfrm>
            <a:off x="457200" y="1500174"/>
            <a:ext cx="8229600" cy="4625989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/>
          </a:bodyPr>
          <a:p>
            <a:pPr algn="just" indent="-342900" lvl="0" marL="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⮚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relationship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paranasal sinuses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to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orbit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is as follows:</a:t>
            </a:r>
          </a:p>
          <a:p>
            <a:pPr algn="just" indent="-342900" lvl="0" marL="34290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frontal air sinus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above,</a:t>
            </a:r>
          </a:p>
          <a:p>
            <a:pPr algn="just" indent="-342900" lvl="0" marL="34290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maxillary air sinus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below,</a:t>
            </a:r>
          </a:p>
          <a:p>
            <a:pPr algn="just" indent="-342900" lvl="0" marL="34290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ethmoidal air sinus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medial to, and</a:t>
            </a:r>
          </a:p>
          <a:p>
            <a:pPr algn="just" indent="-342900" lvl="0" marL="34290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sphenoidal air sinus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behind the orbit.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8839" name="Google Shape;455;p53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r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AU"/>
              <a:t>53</a:t>
            </a:fld>
          </a:p>
        </p:txBody>
      </p:sp>
      <p:sp>
        <p:nvSpPr>
          <p:cNvPr id="1048840" name="Google Shape;456;p53"/>
          <p:cNvSpPr txBox="1"/>
          <p:nvPr/>
        </p:nvSpPr>
        <p:spPr>
          <a:xfrm>
            <a:off x="3357554" y="500042"/>
            <a:ext cx="2151551" cy="955001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spAutoFit/>
          </a:bodyPr>
          <a:p>
            <a:pPr algn="l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cap="none" sz="4400" i="0" lang="en-AU" strike="noStrike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Cont’d</a:t>
            </a:r>
            <a:endParaRPr b="0" cap="none" sz="4400" i="0" strike="noStrike" u="none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algn="l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cap="none" sz="1800" i="0" strike="noStrike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8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6" name="Google Shape;461;p54"/>
          <p:cNvPicPr preferRelativeResize="0">
            <a:picLocks/>
          </p:cNvPicPr>
          <p:nvPr>
            <p:ph type="body" idx="1"/>
          </p:nvPr>
        </p:nvPicPr>
        <p:blipFill rotWithShape="1">
          <a:blip xmlns:r="http://schemas.openxmlformats.org/officeDocument/2006/relationships" r:embed="rId1">
            <a:alphaModFix/>
          </a:blip>
          <a:srcRect l="0" t="0" r="0" b="0"/>
          <a:stretch>
            <a:fillRect/>
          </a:stretch>
        </p:blipFill>
        <p:spPr>
          <a:xfrm>
            <a:off x="1500166" y="2071678"/>
            <a:ext cx="6000792" cy="3786213"/>
          </a:xfrm>
          <a:prstGeom prst="rect"/>
          <a:noFill/>
          <a:ln>
            <a:noFill/>
          </a:ln>
        </p:spPr>
      </p:pic>
      <p:sp>
        <p:nvSpPr>
          <p:cNvPr id="1048843" name="Google Shape;462;p54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r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AU"/>
              <a:t>54</a:t>
            </a:fld>
          </a:p>
        </p:txBody>
      </p:sp>
      <p:sp>
        <p:nvSpPr>
          <p:cNvPr id="1048844" name="Google Shape;463;p54"/>
          <p:cNvSpPr txBox="1"/>
          <p:nvPr/>
        </p:nvSpPr>
        <p:spPr>
          <a:xfrm>
            <a:off x="3643306" y="1000108"/>
            <a:ext cx="2151551" cy="955001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spAutoFit/>
          </a:bodyPr>
          <a:p>
            <a:pPr algn="l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cap="none" sz="4400" i="0" lang="en-AU" strike="noStrike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Cont’d</a:t>
            </a:r>
            <a:endParaRPr b="0" cap="none" sz="4400" i="0" strike="noStrike" u="none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algn="l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cap="none" sz="1800" i="0" strike="noStrike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47" name="Google Shape;468;p55"/>
          <p:cNvSpPr txBox="1"/>
          <p:nvPr>
            <p:ph type="title"/>
          </p:nvPr>
        </p:nvSpPr>
        <p:spPr>
          <a:xfrm>
            <a:off x="457200" y="571480"/>
            <a:ext cx="8229600" cy="1071570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rmAutofit/>
          </a:bodyPr>
          <a:p>
            <a:pPr algn="ctr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lang="en-AU">
                <a:latin typeface="Arial Black"/>
                <a:ea typeface="Arial Black"/>
                <a:cs typeface="Arial Black"/>
                <a:sym typeface="Arial Black"/>
              </a:rPr>
              <a:t>FUNCTIONS</a:t>
            </a:r>
            <a:endParaRPr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048848" name="Google Shape;469;p55"/>
          <p:cNvSpPr txBox="1"/>
          <p:nvPr>
            <p:ph type="body" idx="1"/>
          </p:nvPr>
        </p:nvSpPr>
        <p:spPr>
          <a:xfrm>
            <a:off x="457200" y="1714488"/>
            <a:ext cx="8229600" cy="4857784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/>
          </a:bodyPr>
          <a:p>
            <a:pPr algn="just" indent="-342900" lvl="0" marL="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AU">
                <a:latin typeface="Arial"/>
                <a:ea typeface="Arial"/>
                <a:cs typeface="Arial"/>
                <a:sym typeface="Arial"/>
              </a:rPr>
              <a:t>Lighten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skull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algn="just" indent="-342900" lvl="0" marL="34290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Help by adding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resonance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to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voice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algn="just" indent="-342900" lvl="0" marL="34290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Act as an air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conditioning chambers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by adding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humidity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temperature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to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inspired air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algn="just" indent="-342900" lvl="0" marL="34290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Aid in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growth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of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facial skeleton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after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birth</a:t>
            </a:r>
            <a:r>
              <a:rPr lang="en-AU"/>
              <a:t>.</a:t>
            </a:r>
          </a:p>
        </p:txBody>
      </p:sp>
      <p:sp>
        <p:nvSpPr>
          <p:cNvPr id="1048849" name="Google Shape;470;p55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r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AU"/>
              <a:t>55</a:t>
            </a:fld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52" name="Google Shape;475;p56"/>
          <p:cNvSpPr txBox="1"/>
          <p:nvPr>
            <p:ph type="body" idx="1"/>
          </p:nvPr>
        </p:nvSpPr>
        <p:spPr>
          <a:xfrm>
            <a:off x="457200" y="1600200"/>
            <a:ext cx="8229600" cy="504351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 fontScale="96875" lnSpcReduction="10000"/>
          </a:bodyPr>
          <a:p>
            <a:pPr algn="just" indent="-342900" lvl="0" marL="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⮚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Clinically,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sinuses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are divided into the following two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main groups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:</a:t>
            </a:r>
          </a:p>
          <a:p>
            <a:pPr algn="just" indent="-342900" lvl="0" marL="34290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AU">
                <a:latin typeface="Arial"/>
                <a:ea typeface="Arial"/>
                <a:cs typeface="Arial"/>
                <a:sym typeface="Arial"/>
              </a:rPr>
              <a:t>Anterior group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: It includes those sinuses, which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drain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into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middle meatus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viz.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frontal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anterior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middle ethmoidal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and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maxillary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sinuses.</a:t>
            </a:r>
          </a:p>
          <a:p>
            <a:pPr algn="just" indent="-342900" lvl="0" marL="34290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AU">
                <a:latin typeface="Arial"/>
                <a:ea typeface="Arial"/>
                <a:cs typeface="Arial"/>
                <a:sym typeface="Arial"/>
              </a:rPr>
              <a:t>Posterior group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: It includes those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sinuses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which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do not drain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into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middle meatus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viz.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posterior ethmoidal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sphenoidal air sinuses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8853" name="Google Shape;476;p56"/>
          <p:cNvSpPr txBox="1"/>
          <p:nvPr/>
        </p:nvSpPr>
        <p:spPr>
          <a:xfrm>
            <a:off x="1928794" y="785794"/>
            <a:ext cx="5072098" cy="646331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spAutoFit/>
          </a:bodyPr>
          <a:p>
            <a:pPr algn="ctr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cap="none" sz="3600" i="0" lang="en-AU" strike="noStrike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CLASSIFICATION</a:t>
            </a:r>
            <a:endParaRPr b="0" cap="none" sz="3600" i="0" strike="noStrike" u="none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048854" name="Google Shape;477;p56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r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AU"/>
              <a:t>56</a:t>
            </a:fld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7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57" name="Google Shape;482;p57"/>
          <p:cNvSpPr txBox="1"/>
          <p:nvPr>
            <p:ph type="title"/>
          </p:nvPr>
        </p:nvSpPr>
        <p:spPr>
          <a:xfrm>
            <a:off x="457200" y="0"/>
            <a:ext cx="8229600" cy="1142984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rmAutofit/>
          </a:bodyPr>
          <a:p>
            <a:pPr algn="ctr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lang="en-AU">
                <a:latin typeface="Arial Black"/>
                <a:ea typeface="Arial Black"/>
                <a:cs typeface="Arial Black"/>
                <a:sym typeface="Arial Black"/>
              </a:rPr>
              <a:t>FRONTAL AIR SINUS</a:t>
            </a:r>
            <a:endParaRPr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048858" name="Google Shape;483;p57"/>
          <p:cNvSpPr txBox="1"/>
          <p:nvPr>
            <p:ph type="body" idx="1"/>
          </p:nvPr>
        </p:nvSpPr>
        <p:spPr>
          <a:xfrm>
            <a:off x="378803" y="940037"/>
            <a:ext cx="8229600" cy="6572296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 lnSpcReduction="10000"/>
          </a:bodyPr>
          <a:p>
            <a:pPr algn="just" indent="-342900" lvl="0" marL="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frontal air sinus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(two in number) lies between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inner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outer tables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frontal bone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above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 the superciliary arch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and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root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nose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 They are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triangular in shape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 </a:t>
            </a:r>
          </a:p>
          <a:p>
            <a:pPr algn="just" indent="-342900" lvl="0" marL="34290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right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left frontal air sinuses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are usually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unequal in size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rarely symmetrical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right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is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frequently larger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than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left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separated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from it by a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septum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 </a:t>
            </a:r>
          </a:p>
          <a:p>
            <a:pPr algn="just" indent="-342900" lvl="0" marL="34290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Each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sinus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drains into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anterior part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hiatus semilunaris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middle meatus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through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frontonasal duct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8859" name="Google Shape;484;p57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r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AU"/>
              <a:t>57</a:t>
            </a:fld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0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62" name="Google Shape;489;p5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rmAutofit/>
          </a:bodyPr>
          <a:p>
            <a:pPr algn="ctr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lang="en-AU">
                <a:latin typeface="Arial Black"/>
                <a:ea typeface="Arial Black"/>
                <a:cs typeface="Arial Black"/>
                <a:sym typeface="Arial Black"/>
              </a:rPr>
              <a:t>Cont’d</a:t>
            </a:r>
            <a:endParaRPr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048863" name="Google Shape;490;p58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/>
          </a:bodyPr>
          <a:p>
            <a:pPr algn="just" indent="-342900" lvl="0" marL="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It appears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rudimentary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(or absent) at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birth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; however, it is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well developed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by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7</a:t>
            </a:r>
            <a:r>
              <a:rPr baseline="30000" b="1" lang="en-AU">
                <a:latin typeface="Arial"/>
                <a:ea typeface="Arial"/>
                <a:cs typeface="Arial"/>
                <a:sym typeface="Arial"/>
              </a:rPr>
              <a:t>th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 year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of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life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and it reaches its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full size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after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puberty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8864" name="Google Shape;491;p58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r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AU"/>
              <a:t>58</a:t>
            </a:fld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3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67" name="Google Shape;496;p59"/>
          <p:cNvSpPr txBox="1"/>
          <p:nvPr>
            <p:ph type="title"/>
          </p:nvPr>
        </p:nvSpPr>
        <p:spPr>
          <a:xfrm>
            <a:off x="457200" y="857232"/>
            <a:ext cx="8229600" cy="1357322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rmAutofit fontScale="90909"/>
          </a:bodyPr>
          <a:p>
            <a:pPr algn="ctr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 Black"/>
              <a:buNone/>
            </a:pPr>
            <a:r>
              <a:rPr sz="4900" lang="en-AU">
                <a:latin typeface="Arial Black"/>
                <a:ea typeface="Arial Black"/>
                <a:cs typeface="Arial Black"/>
                <a:sym typeface="Arial Black"/>
              </a:rPr>
              <a:t>Relations</a:t>
            </a:r>
            <a:br>
              <a:rPr lang="en-AU"/>
            </a:br>
          </a:p>
        </p:txBody>
      </p:sp>
      <p:sp>
        <p:nvSpPr>
          <p:cNvPr id="1048868" name="Google Shape;497;p59"/>
          <p:cNvSpPr txBox="1"/>
          <p:nvPr>
            <p:ph type="body" idx="1"/>
          </p:nvPr>
        </p:nvSpPr>
        <p:spPr>
          <a:xfrm>
            <a:off x="457200" y="1714488"/>
            <a:ext cx="8229600" cy="4786346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/>
          </a:bodyPr>
          <a:p>
            <a:pPr algn="just" indent="-342900" lvl="0" marL="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AU">
                <a:latin typeface="Arial"/>
                <a:ea typeface="Arial"/>
                <a:cs typeface="Arial"/>
                <a:sym typeface="Arial"/>
              </a:rPr>
              <a:t>Anterior wall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is related to: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superciliary arch of forehead</a:t>
            </a:r>
          </a:p>
          <a:p>
            <a:pPr algn="just" indent="-342900" lvl="0" marL="34290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AU">
                <a:latin typeface="Arial"/>
                <a:ea typeface="Arial"/>
                <a:cs typeface="Arial"/>
                <a:sym typeface="Arial"/>
              </a:rPr>
              <a:t>Posterior wall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is related to: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meninges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frontal lobe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brain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algn="just" indent="-342900" lvl="0" marL="34290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AU">
                <a:latin typeface="Arial"/>
                <a:ea typeface="Arial"/>
                <a:cs typeface="Arial"/>
                <a:sym typeface="Arial"/>
              </a:rPr>
              <a:t>Inferior wall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is related to: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roof of nose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roof of orbit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medial part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), and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ethmoidal air cells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</a:p>
        </p:txBody>
      </p:sp>
      <p:sp>
        <p:nvSpPr>
          <p:cNvPr id="1048869" name="Google Shape;498;p59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r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AU"/>
              <a:t>59</a:t>
            </a:fld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6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72" name="Google Shape;503;p60"/>
          <p:cNvSpPr txBox="1"/>
          <p:nvPr>
            <p:ph type="title"/>
          </p:nvPr>
        </p:nvSpPr>
        <p:spPr>
          <a:xfrm>
            <a:off x="457200" y="0"/>
            <a:ext cx="8229600" cy="1071546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rmAutofit/>
          </a:bodyPr>
          <a:p>
            <a:pPr algn="ctr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lang="en-AU">
                <a:latin typeface="Arial Black"/>
                <a:ea typeface="Arial Black"/>
                <a:cs typeface="Arial Black"/>
                <a:sym typeface="Arial Black"/>
              </a:rPr>
              <a:t>Cont’d</a:t>
            </a:r>
            <a:endParaRPr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048873" name="Google Shape;504;p60"/>
          <p:cNvSpPr txBox="1"/>
          <p:nvPr>
            <p:ph type="body" idx="1"/>
          </p:nvPr>
        </p:nvSpPr>
        <p:spPr>
          <a:xfrm>
            <a:off x="457200" y="785794"/>
            <a:ext cx="8229600" cy="6572296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/>
          </a:bodyPr>
          <a:p>
            <a:pPr algn="just" indent="-342900" lvl="0" marL="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⮚"/>
            </a:pPr>
            <a:r>
              <a:rPr b="1" lang="en-AU">
                <a:latin typeface="Arial"/>
                <a:ea typeface="Arial"/>
                <a:cs typeface="Arial"/>
                <a:sym typeface="Arial"/>
              </a:rPr>
              <a:t>Arterial Supply</a:t>
            </a:r>
          </a:p>
          <a:p>
            <a:pPr algn="just" indent="-342900" lvl="0" marL="342900" rtl="0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It is by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anterior ethmoidal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and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supraorbital arteries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from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ophthalmic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artery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algn="just" indent="-342900" lvl="0" marL="342900" rtl="0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⮚"/>
            </a:pPr>
            <a:r>
              <a:rPr b="1" lang="en-AU">
                <a:latin typeface="Arial"/>
                <a:ea typeface="Arial"/>
                <a:cs typeface="Arial"/>
                <a:sym typeface="Arial"/>
              </a:rPr>
              <a:t>Venous drainage</a:t>
            </a:r>
          </a:p>
          <a:p>
            <a:pPr algn="just" indent="-342900" lvl="0" marL="342900" rtl="0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Its veins drain into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anastomotic vein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in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supraorbital notch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algn="just" indent="-342900" lvl="0" marL="342900" rtl="0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⮚"/>
            </a:pPr>
            <a:r>
              <a:rPr b="1" lang="en-AU">
                <a:latin typeface="Arial"/>
                <a:ea typeface="Arial"/>
                <a:cs typeface="Arial"/>
                <a:sym typeface="Arial"/>
              </a:rPr>
              <a:t>Nerve Supply</a:t>
            </a:r>
          </a:p>
          <a:p>
            <a:pPr algn="just" indent="-342900" lvl="0" marL="342900" rtl="0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It receives sensory fibres from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supraorbital nerve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algn="just" indent="-342900" lvl="0" marL="342900" rtl="0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⮚"/>
            </a:pPr>
            <a:r>
              <a:rPr b="1" lang="en-AU">
                <a:latin typeface="Arial"/>
                <a:ea typeface="Arial"/>
                <a:cs typeface="Arial"/>
                <a:sym typeface="Arial"/>
              </a:rPr>
              <a:t>Lymphatic Drainage</a:t>
            </a:r>
          </a:p>
          <a:p>
            <a:pPr algn="just" indent="-342900" lvl="0" marL="342900" rtl="0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The sinus drains into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submandibular lymph nodes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algn="l" indent="-154940" lvl="0" marL="342900" rtl="0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</a:p>
        </p:txBody>
      </p:sp>
      <p:sp>
        <p:nvSpPr>
          <p:cNvPr id="1048874" name="Google Shape;505;p60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r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AU"/>
              <a:t>60</a:t>
            </a:fld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77" name="Google Shape;510;p61"/>
          <p:cNvSpPr txBox="1"/>
          <p:nvPr>
            <p:ph type="title"/>
          </p:nvPr>
        </p:nvSpPr>
        <p:spPr>
          <a:xfrm>
            <a:off x="457200" y="0"/>
            <a:ext cx="8229600" cy="1214422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rmAutofit fontScale="90000"/>
          </a:bodyPr>
          <a:p>
            <a:pPr algn="ctr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 Black"/>
              <a:buNone/>
            </a:pPr>
            <a:r>
              <a:rPr lang="en-AU">
                <a:latin typeface="Arial Black"/>
                <a:ea typeface="Arial Black"/>
                <a:cs typeface="Arial Black"/>
                <a:sym typeface="Arial Black"/>
              </a:rPr>
              <a:t>MAXILLARY SINUS (ANTRUM OF HIGHMORE)</a:t>
            </a:r>
            <a:endParaRPr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048878" name="Google Shape;511;p61"/>
          <p:cNvSpPr txBox="1"/>
          <p:nvPr>
            <p:ph type="body" idx="1"/>
          </p:nvPr>
        </p:nvSpPr>
        <p:spPr>
          <a:xfrm>
            <a:off x="214282" y="1000108"/>
            <a:ext cx="8643998" cy="5857892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algn="just" indent="-342900" lvl="0" marL="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It is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large pyramidal cavity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located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in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body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maxilla;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It is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largest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paranasal air sinuses.</a:t>
            </a:r>
          </a:p>
          <a:p>
            <a:pPr algn="just" indent="-342900" lvl="0" marL="34290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It has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an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apex, a base, a roof,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a floor.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algn="just" indent="-342900" lvl="0" marL="34290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It drains into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hiatus semilunaris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posterior part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) 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middle meatus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algn="just" indent="-342900" lvl="0" marL="34290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⮚"/>
            </a:pPr>
            <a:r>
              <a:rPr b="1" lang="en-AU">
                <a:latin typeface="Arial"/>
                <a:ea typeface="Arial"/>
                <a:cs typeface="Arial"/>
                <a:sym typeface="Arial"/>
              </a:rPr>
              <a:t>Shape</a:t>
            </a:r>
          </a:p>
          <a:p>
            <a:pPr algn="just" indent="-342900" lvl="0" marL="34290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It is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pyramidal in shape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with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base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directed medially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towards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lateral wall of the nose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and its apex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laterally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towards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zygomatic bone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8879" name="Google Shape;512;p61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r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AU"/>
              <a:t>61</a:t>
            </a:fld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82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82" name="Google Shape;517;p6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rmAutofit/>
          </a:bodyPr>
          <a:p>
            <a:pPr algn="ctr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lang="en-AU">
                <a:latin typeface="Arial Black"/>
                <a:ea typeface="Arial Black"/>
                <a:cs typeface="Arial Black"/>
                <a:sym typeface="Arial Black"/>
              </a:rPr>
              <a:t>Cont’d</a:t>
            </a:r>
            <a:endParaRPr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048883" name="Google Shape;518;p62"/>
          <p:cNvSpPr txBox="1"/>
          <p:nvPr>
            <p:ph type="body" idx="1"/>
          </p:nvPr>
        </p:nvSpPr>
        <p:spPr>
          <a:xfrm>
            <a:off x="457200" y="1600200"/>
            <a:ext cx="8229600" cy="4829196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/>
          </a:bodyPr>
          <a:p>
            <a:pPr algn="just" indent="-342900" lvl="0" marL="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It appears as a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minute groove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on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medial aspect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maxilla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in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4</a:t>
            </a:r>
            <a:r>
              <a:rPr baseline="30000" b="1" lang="en-AU">
                <a:latin typeface="Arial"/>
                <a:ea typeface="Arial"/>
                <a:cs typeface="Arial"/>
                <a:sym typeface="Arial"/>
              </a:rPr>
              <a:t>th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 month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of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intrauterine life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algn="just" indent="-342900" lvl="0" marL="34290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It grows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slowly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prior to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puberty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; however, it enlarges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rapidly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in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postpubertal period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and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reaches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its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full size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after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eruption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of all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permanent teeth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algn="l" indent="-139700" lvl="0" marL="34290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</a:p>
        </p:txBody>
      </p:sp>
      <p:sp>
        <p:nvSpPr>
          <p:cNvPr id="1048884" name="Google Shape;519;p62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r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AU"/>
              <a:t>62</a:t>
            </a:fld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85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7" name="Google Shape;524;p63"/>
          <p:cNvPicPr preferRelativeResize="0">
            <a:picLocks/>
          </p:cNvPicPr>
          <p:nvPr>
            <p:ph type="body" idx="1"/>
          </p:nvPr>
        </p:nvPicPr>
        <p:blipFill rotWithShape="1">
          <a:blip xmlns:r="http://schemas.openxmlformats.org/officeDocument/2006/relationships" r:embed="rId1">
            <a:alphaModFix/>
          </a:blip>
          <a:srcRect l="0" t="0" r="0" b="0"/>
          <a:stretch>
            <a:fillRect/>
          </a:stretch>
        </p:blipFill>
        <p:spPr>
          <a:xfrm>
            <a:off x="2390775" y="1785926"/>
            <a:ext cx="4362450" cy="3786214"/>
          </a:xfrm>
          <a:prstGeom prst="rect"/>
          <a:noFill/>
          <a:ln>
            <a:noFill/>
          </a:ln>
        </p:spPr>
      </p:pic>
      <p:sp>
        <p:nvSpPr>
          <p:cNvPr id="1048887" name="Google Shape;525;p63"/>
          <p:cNvSpPr txBox="1"/>
          <p:nvPr/>
        </p:nvSpPr>
        <p:spPr>
          <a:xfrm>
            <a:off x="2786050" y="5929330"/>
            <a:ext cx="2772810" cy="624799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spAutoFit/>
          </a:bodyPr>
          <a:p>
            <a:pPr algn="l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cap="none" sz="1800" i="0" lang="en-AU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Relations of maxillary sinus</a:t>
            </a:r>
            <a:endParaRPr b="0" cap="none" sz="1800" i="0" strike="noStrike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888" name="Google Shape;526;p63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r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AU"/>
              <a:t>63</a:t>
            </a:fld>
          </a:p>
        </p:txBody>
      </p:sp>
      <p:sp>
        <p:nvSpPr>
          <p:cNvPr id="1048889" name="Google Shape;527;p63"/>
          <p:cNvSpPr txBox="1"/>
          <p:nvPr/>
        </p:nvSpPr>
        <p:spPr>
          <a:xfrm>
            <a:off x="3714744" y="714356"/>
            <a:ext cx="2151551" cy="955001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spAutoFit/>
          </a:bodyPr>
          <a:p>
            <a:pPr algn="l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cap="none" sz="4400" i="0" lang="en-AU" strike="noStrike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Cont’d</a:t>
            </a:r>
            <a:endParaRPr b="0" cap="none" sz="4400" i="0" strike="noStrike" u="none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algn="l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cap="none" sz="1800" i="0" strike="noStrike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88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92" name="Google Shape;532;p64"/>
          <p:cNvSpPr txBox="1"/>
          <p:nvPr>
            <p:ph type="body" idx="1"/>
          </p:nvPr>
        </p:nvSpPr>
        <p:spPr>
          <a:xfrm>
            <a:off x="457200" y="1600200"/>
            <a:ext cx="8229600" cy="4972072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/>
          </a:bodyPr>
          <a:p>
            <a:pPr algn="just" indent="-342900" lvl="0" marL="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AU">
                <a:latin typeface="Arial"/>
                <a:ea typeface="Arial"/>
                <a:cs typeface="Arial"/>
                <a:sym typeface="Arial"/>
              </a:rPr>
              <a:t>Apex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extends into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zygomatic process of the maxilla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algn="just" indent="-139700" lvl="0" marL="34290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algn="just" indent="-342900" lvl="0" marL="34290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AU">
                <a:latin typeface="Arial"/>
                <a:ea typeface="Arial"/>
                <a:cs typeface="Arial"/>
                <a:sym typeface="Arial"/>
              </a:rPr>
              <a:t>Base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is formed by the lower part 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lateral wall of the nose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 It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possesses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opening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or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ostium of the sinus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in its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upper part,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i.e.,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close to the roof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a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disadvantageous position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for natural drainage.</a:t>
            </a:r>
          </a:p>
        </p:txBody>
      </p:sp>
      <p:sp>
        <p:nvSpPr>
          <p:cNvPr id="1048893" name="Google Shape;533;p64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r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AU"/>
              <a:t>64</a:t>
            </a:fld>
          </a:p>
        </p:txBody>
      </p:sp>
      <p:sp>
        <p:nvSpPr>
          <p:cNvPr id="1048894" name="Google Shape;534;p64"/>
          <p:cNvSpPr txBox="1"/>
          <p:nvPr/>
        </p:nvSpPr>
        <p:spPr>
          <a:xfrm>
            <a:off x="3143240" y="785794"/>
            <a:ext cx="3429024" cy="769441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spAutoFit/>
          </a:bodyPr>
          <a:p>
            <a:pPr algn="ctr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cap="none" sz="4400" i="0" lang="en-AU" strike="noStrike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Relations</a:t>
            </a:r>
            <a:endParaRPr b="0" cap="none" sz="4400" i="0" strike="noStrike" u="none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1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97" name="Google Shape;539;p65"/>
          <p:cNvSpPr txBox="1"/>
          <p:nvPr>
            <p:ph type="title"/>
          </p:nvPr>
        </p:nvSpPr>
        <p:spPr>
          <a:xfrm>
            <a:off x="457200" y="-214338"/>
            <a:ext cx="8229600" cy="1143008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rmAutofit/>
          </a:bodyPr>
          <a:p>
            <a:pPr algn="ctr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lang="en-AU">
                <a:latin typeface="Arial Black"/>
                <a:ea typeface="Arial Black"/>
                <a:cs typeface="Arial Black"/>
                <a:sym typeface="Arial Black"/>
              </a:rPr>
              <a:t>Cont’d</a:t>
            </a:r>
            <a:endParaRPr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048898" name="Google Shape;540;p65"/>
          <p:cNvSpPr txBox="1"/>
          <p:nvPr>
            <p:ph type="body" idx="1"/>
          </p:nvPr>
        </p:nvSpPr>
        <p:spPr>
          <a:xfrm>
            <a:off x="0" y="500042"/>
            <a:ext cx="8929718" cy="6715172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algn="just" indent="-342900" lvl="0" marL="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AU">
                <a:latin typeface="Arial"/>
                <a:ea typeface="Arial"/>
                <a:cs typeface="Arial"/>
                <a:sym typeface="Arial"/>
              </a:rPr>
              <a:t>Roof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is formed by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floor of the orbit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infraorbital nerve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artery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traverse the roof in a bony canal.</a:t>
            </a:r>
          </a:p>
          <a:p>
            <a:pPr algn="just" indent="-342900" lvl="0" marL="34290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AU">
                <a:latin typeface="Arial"/>
                <a:ea typeface="Arial"/>
                <a:cs typeface="Arial"/>
                <a:sym typeface="Arial"/>
              </a:rPr>
              <a:t>Floor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(very small) is formed by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alveolar process of maxilla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and lies about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1.25 cm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below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floor of the nasal cavity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level of the floor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corresponds to the level 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ala of nose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 Normally,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roots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first and second molar teeth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project into the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 floor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producing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elevations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but sometimes roots 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first and second premolars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third molar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and rarely even that of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canine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may project into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floor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8899" name="Google Shape;541;p65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r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AU"/>
              <a:t>65</a:t>
            </a:fld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4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02" name="Google Shape;546;p66"/>
          <p:cNvSpPr txBox="1"/>
          <p:nvPr>
            <p:ph type="body" idx="1"/>
          </p:nvPr>
        </p:nvSpPr>
        <p:spPr>
          <a:xfrm>
            <a:off x="457200" y="1285860"/>
            <a:ext cx="8229600" cy="5929354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 fontScale="96875" lnSpcReduction="10000"/>
          </a:bodyPr>
          <a:p>
            <a:pPr algn="just" indent="-342900" lvl="0" marL="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AU">
                <a:latin typeface="Arial"/>
                <a:ea typeface="Arial"/>
                <a:cs typeface="Arial"/>
                <a:sym typeface="Arial"/>
              </a:rPr>
              <a:t>Anterior wall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is formed by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anterior surface of the body of maxilla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and is related to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infraorbital plexus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of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nerves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 Within this wall runs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anterior superior alveolar nerve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in a curved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bony canal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called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canalis sinusus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algn="just" indent="-342900" lvl="0" marL="34290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AU">
                <a:latin typeface="Arial"/>
                <a:ea typeface="Arial"/>
                <a:cs typeface="Arial"/>
                <a:sym typeface="Arial"/>
              </a:rPr>
              <a:t>Posterior wall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is formed by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infratemporal surface of the maxilla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separating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sinus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from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infratemporal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pterygopalatine fossae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 It is pierced by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posterior superior alveolar nerves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and vessels.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8903" name="Google Shape;547;p66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r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AU"/>
              <a:t>66</a:t>
            </a:fld>
          </a:p>
        </p:txBody>
      </p:sp>
      <p:sp>
        <p:nvSpPr>
          <p:cNvPr id="1048904" name="Google Shape;548;p66"/>
          <p:cNvSpPr txBox="1"/>
          <p:nvPr/>
        </p:nvSpPr>
        <p:spPr>
          <a:xfrm>
            <a:off x="3428992" y="571480"/>
            <a:ext cx="2857520" cy="769441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spAutoFit/>
          </a:bodyPr>
          <a:p>
            <a:pPr algn="l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cap="none" sz="4400" i="0" lang="en-AU" strike="noStrike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Cont’d</a:t>
            </a:r>
            <a:endParaRPr b="0" cap="none" sz="4400" i="0" strike="noStrike" u="none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7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07" name="Google Shape;553;p6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rmAutofit/>
          </a:bodyPr>
          <a:p>
            <a:pPr algn="ctr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lang="en-AU">
                <a:latin typeface="Arial Black"/>
                <a:ea typeface="Arial Black"/>
                <a:cs typeface="Arial Black"/>
                <a:sym typeface="Arial Black"/>
              </a:rPr>
              <a:t>Opening</a:t>
            </a:r>
            <a:endParaRPr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048908" name="Google Shape;554;p67"/>
          <p:cNvSpPr txBox="1"/>
          <p:nvPr>
            <p:ph type="body" idx="1"/>
          </p:nvPr>
        </p:nvSpPr>
        <p:spPr>
          <a:xfrm>
            <a:off x="457200" y="1600200"/>
            <a:ext cx="8229600" cy="4900634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/>
          </a:bodyPr>
          <a:p>
            <a:pPr algn="just" indent="-342900" lvl="0" marL="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AU">
                <a:latin typeface="Arial"/>
                <a:ea typeface="Arial"/>
                <a:cs typeface="Arial"/>
                <a:sym typeface="Arial"/>
              </a:rPr>
              <a:t>Maxillary sinuses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open in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hiatus semilunaris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of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middle meatus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near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roof of the sinus</a:t>
            </a:r>
            <a:r>
              <a:rPr lang="en-AU"/>
              <a:t>.</a:t>
            </a:r>
          </a:p>
          <a:p>
            <a:pPr algn="l" indent="-139700" lvl="0" marL="34290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</a:p>
          <a:p>
            <a:pPr algn="l" indent="-139700" lvl="0" marL="34290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</a:p>
        </p:txBody>
      </p:sp>
      <p:pic>
        <p:nvPicPr>
          <p:cNvPr id="2097168" name="Google Shape;555;p67"/>
          <p:cNvPicPr preferRelativeResize="0">
            <a:picLocks/>
          </p:cNvPicPr>
          <p:nvPr/>
        </p:nvPicPr>
        <p:blipFill rotWithShape="1">
          <a:blip xmlns:r="http://schemas.openxmlformats.org/officeDocument/2006/relationships" r:embed="rId1">
            <a:alphaModFix/>
          </a:blip>
          <a:srcRect l="0" t="0" r="0" b="0"/>
          <a:stretch>
            <a:fillRect/>
          </a:stretch>
        </p:blipFill>
        <p:spPr>
          <a:xfrm>
            <a:off x="2428860" y="3429000"/>
            <a:ext cx="4419600" cy="2743200"/>
          </a:xfrm>
          <a:prstGeom prst="rect"/>
          <a:noFill/>
          <a:ln>
            <a:noFill/>
          </a:ln>
        </p:spPr>
      </p:pic>
      <p:sp>
        <p:nvSpPr>
          <p:cNvPr id="1048909" name="Google Shape;556;p67"/>
          <p:cNvSpPr txBox="1"/>
          <p:nvPr/>
        </p:nvSpPr>
        <p:spPr>
          <a:xfrm>
            <a:off x="3714744" y="6072206"/>
            <a:ext cx="2928238" cy="62480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spAutoFit/>
          </a:bodyPr>
          <a:p>
            <a:pPr algn="l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cap="none" sz="1800" i="0" lang="en-AU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Antral puncture (antrostomy)</a:t>
            </a:r>
            <a:endParaRPr b="0" cap="none" sz="1800" i="0" strike="noStrike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910" name="Google Shape;557;p67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r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AU"/>
              <a:t>67</a:t>
            </a:fld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0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13" name="Google Shape;562;p68"/>
          <p:cNvSpPr txBox="1"/>
          <p:nvPr>
            <p:ph type="body" idx="1"/>
          </p:nvPr>
        </p:nvSpPr>
        <p:spPr>
          <a:xfrm>
            <a:off x="285720" y="214290"/>
            <a:ext cx="8643998" cy="642942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algn="just" indent="-342900" lvl="0" marL="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b="1" sz="2800" lang="en-AU">
                <a:latin typeface="Arial"/>
                <a:ea typeface="Arial"/>
                <a:cs typeface="Arial"/>
                <a:sym typeface="Arial"/>
              </a:rPr>
              <a:t>Arterial Supply</a:t>
            </a:r>
          </a:p>
          <a:p>
            <a:pPr algn="just" indent="-342900" lvl="0" marL="342900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sz="2800" lang="en-AU">
                <a:latin typeface="Arial"/>
                <a:ea typeface="Arial"/>
                <a:cs typeface="Arial"/>
                <a:sym typeface="Arial"/>
              </a:rPr>
              <a:t>It is by the </a:t>
            </a:r>
            <a:r>
              <a:rPr b="1" sz="2800" lang="en-AU">
                <a:latin typeface="Arial"/>
                <a:ea typeface="Arial"/>
                <a:cs typeface="Arial"/>
                <a:sym typeface="Arial"/>
              </a:rPr>
              <a:t>anterior</a:t>
            </a:r>
            <a:r>
              <a:rPr sz="2800" lang="en-AU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sz="2800" lang="en-AU">
                <a:latin typeface="Arial"/>
                <a:ea typeface="Arial"/>
                <a:cs typeface="Arial"/>
                <a:sym typeface="Arial"/>
              </a:rPr>
              <a:t>middle</a:t>
            </a:r>
            <a:r>
              <a:rPr sz="2800" lang="en-AU">
                <a:latin typeface="Arial"/>
                <a:ea typeface="Arial"/>
                <a:cs typeface="Arial"/>
                <a:sym typeface="Arial"/>
              </a:rPr>
              <a:t>, and </a:t>
            </a:r>
            <a:r>
              <a:rPr b="1" sz="2800" lang="en-AU">
                <a:latin typeface="Arial"/>
                <a:ea typeface="Arial"/>
                <a:cs typeface="Arial"/>
                <a:sym typeface="Arial"/>
              </a:rPr>
              <a:t>posterior</a:t>
            </a:r>
            <a:r>
              <a:rPr sz="2800" lang="en-AU"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sz="2800" lang="en-AU">
                <a:latin typeface="Arial"/>
                <a:ea typeface="Arial"/>
                <a:cs typeface="Arial"/>
                <a:sym typeface="Arial"/>
              </a:rPr>
              <a:t>superior alveolar arteries </a:t>
            </a:r>
            <a:r>
              <a:rPr sz="2800" lang="en-AU">
                <a:latin typeface="Arial"/>
                <a:ea typeface="Arial"/>
                <a:cs typeface="Arial"/>
                <a:sym typeface="Arial"/>
              </a:rPr>
              <a:t>from </a:t>
            </a:r>
            <a:r>
              <a:rPr b="1" sz="2800" lang="en-AU">
                <a:latin typeface="Arial"/>
                <a:ea typeface="Arial"/>
                <a:cs typeface="Arial"/>
                <a:sym typeface="Arial"/>
              </a:rPr>
              <a:t>maxillary</a:t>
            </a:r>
            <a:r>
              <a:rPr sz="2800" lang="en-AU"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sz="2800" lang="en-AU">
                <a:latin typeface="Arial"/>
                <a:ea typeface="Arial"/>
                <a:cs typeface="Arial"/>
                <a:sym typeface="Arial"/>
              </a:rPr>
              <a:t>infraorbital arteries</a:t>
            </a:r>
            <a:r>
              <a:rPr sz="2800" lang="en-AU"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algn="just" indent="-342900" lvl="0" marL="342900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b="1" sz="2800" lang="en-AU">
                <a:latin typeface="Arial"/>
                <a:ea typeface="Arial"/>
                <a:cs typeface="Arial"/>
                <a:sym typeface="Arial"/>
              </a:rPr>
              <a:t>Venous Drainage</a:t>
            </a:r>
          </a:p>
          <a:p>
            <a:pPr algn="just" indent="-342900" lvl="0" marL="342900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sz="2800" lang="en-AU">
                <a:latin typeface="Arial"/>
                <a:ea typeface="Arial"/>
                <a:cs typeface="Arial"/>
                <a:sym typeface="Arial"/>
              </a:rPr>
              <a:t>Veins which drain the </a:t>
            </a:r>
            <a:r>
              <a:rPr b="1" sz="2800" lang="en-AU">
                <a:latin typeface="Arial"/>
                <a:ea typeface="Arial"/>
                <a:cs typeface="Arial"/>
                <a:sym typeface="Arial"/>
              </a:rPr>
              <a:t>maxillary sinus </a:t>
            </a:r>
            <a:r>
              <a:rPr sz="2800" lang="en-AU">
                <a:latin typeface="Arial"/>
                <a:ea typeface="Arial"/>
                <a:cs typeface="Arial"/>
                <a:sym typeface="Arial"/>
              </a:rPr>
              <a:t>accompany the </a:t>
            </a:r>
            <a:r>
              <a:rPr b="1" sz="2800" lang="en-AU">
                <a:latin typeface="Arial"/>
                <a:ea typeface="Arial"/>
                <a:cs typeface="Arial"/>
                <a:sym typeface="Arial"/>
              </a:rPr>
              <a:t>corresponding arteries</a:t>
            </a:r>
            <a:r>
              <a:rPr sz="2800" lang="en-AU"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algn="just" indent="-342900" lvl="0" marL="342900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b="1" sz="2800" lang="en-AU">
                <a:latin typeface="Arial"/>
                <a:ea typeface="Arial"/>
                <a:cs typeface="Arial"/>
                <a:sym typeface="Arial"/>
              </a:rPr>
              <a:t>Nerve Supply</a:t>
            </a:r>
          </a:p>
          <a:p>
            <a:pPr algn="just" indent="-342900" lvl="0" marL="342900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sz="2800" lang="en-AU">
                <a:latin typeface="Arial"/>
                <a:ea typeface="Arial"/>
                <a:cs typeface="Arial"/>
                <a:sym typeface="Arial"/>
              </a:rPr>
              <a:t>Maxillary sinuses are supplied by the </a:t>
            </a:r>
            <a:r>
              <a:rPr b="1" sz="2800" lang="en-AU">
                <a:latin typeface="Arial"/>
                <a:ea typeface="Arial"/>
                <a:cs typeface="Arial"/>
                <a:sym typeface="Arial"/>
              </a:rPr>
              <a:t>anterior</a:t>
            </a:r>
            <a:r>
              <a:rPr sz="2800" lang="en-AU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sz="2800" lang="en-AU">
                <a:latin typeface="Arial"/>
                <a:ea typeface="Arial"/>
                <a:cs typeface="Arial"/>
                <a:sym typeface="Arial"/>
              </a:rPr>
              <a:t>middle</a:t>
            </a:r>
            <a:r>
              <a:rPr sz="2800" lang="en-AU">
                <a:latin typeface="Arial"/>
                <a:ea typeface="Arial"/>
                <a:cs typeface="Arial"/>
                <a:sym typeface="Arial"/>
              </a:rPr>
              <a:t>, and </a:t>
            </a:r>
            <a:r>
              <a:rPr b="1" sz="2800" lang="en-AU">
                <a:latin typeface="Arial"/>
                <a:ea typeface="Arial"/>
                <a:cs typeface="Arial"/>
                <a:sym typeface="Arial"/>
              </a:rPr>
              <a:t>posterior superior alveolar nerves </a:t>
            </a:r>
            <a:r>
              <a:rPr sz="2800" lang="en-AU">
                <a:latin typeface="Arial"/>
                <a:ea typeface="Arial"/>
                <a:cs typeface="Arial"/>
                <a:sym typeface="Arial"/>
              </a:rPr>
              <a:t>from the </a:t>
            </a:r>
            <a:r>
              <a:rPr b="1" sz="2800" lang="en-AU">
                <a:latin typeface="Arial"/>
                <a:ea typeface="Arial"/>
                <a:cs typeface="Arial"/>
                <a:sym typeface="Arial"/>
              </a:rPr>
              <a:t>maxillary and infraorbital nerves</a:t>
            </a:r>
            <a:r>
              <a:rPr sz="2800" lang="en-AU"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algn="just" indent="-342900" lvl="0" marL="342900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b="1" sz="2800" lang="en-AU">
                <a:latin typeface="Arial"/>
                <a:ea typeface="Arial"/>
                <a:cs typeface="Arial"/>
                <a:sym typeface="Arial"/>
              </a:rPr>
              <a:t>Lymphatic Drainage</a:t>
            </a:r>
          </a:p>
          <a:p>
            <a:pPr algn="just" indent="-342900" lvl="0" marL="342900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sz="2800" lang="en-AU">
                <a:latin typeface="Arial"/>
                <a:ea typeface="Arial"/>
                <a:cs typeface="Arial"/>
                <a:sym typeface="Arial"/>
              </a:rPr>
              <a:t>The sinus drains into </a:t>
            </a:r>
            <a:r>
              <a:rPr b="1" sz="2800" lang="en-AU">
                <a:latin typeface="Arial"/>
                <a:ea typeface="Arial"/>
                <a:cs typeface="Arial"/>
                <a:sym typeface="Arial"/>
              </a:rPr>
              <a:t>submandibular lymph nodes</a:t>
            </a:r>
            <a:r>
              <a:rPr sz="2800" lang="en-AU"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algn="just" indent="-165100" lvl="0" marL="342900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8914" name="Google Shape;563;p68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r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AU"/>
              <a:t>68</a:t>
            </a:fld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3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17" name="Google Shape;568;p69"/>
          <p:cNvSpPr txBox="1"/>
          <p:nvPr>
            <p:ph type="title"/>
          </p:nvPr>
        </p:nvSpPr>
        <p:spPr>
          <a:xfrm>
            <a:off x="457200" y="0"/>
            <a:ext cx="8229600" cy="1000108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rmAutofit/>
          </a:bodyPr>
          <a:p>
            <a:pPr algn="ctr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lang="en-AU">
                <a:latin typeface="Arial Black"/>
                <a:ea typeface="Arial Black"/>
                <a:cs typeface="Arial Black"/>
                <a:sym typeface="Arial Black"/>
              </a:rPr>
              <a:t>ETHMOIDAL SINUSES</a:t>
            </a:r>
            <a:endParaRPr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048918" name="Google Shape;569;p69"/>
          <p:cNvSpPr txBox="1"/>
          <p:nvPr>
            <p:ph type="body" idx="1"/>
          </p:nvPr>
        </p:nvSpPr>
        <p:spPr>
          <a:xfrm>
            <a:off x="285720" y="785794"/>
            <a:ext cx="8643998" cy="6072206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 lnSpcReduction="10000"/>
          </a:bodyPr>
          <a:p>
            <a:pPr algn="just" indent="-342900" lvl="0" marL="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ethmoidal air sinuses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are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thin-walled cavities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located in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labyrinth of ethmoidal bone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thus they are located between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upper part of the lateral nasal wall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and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orbit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algn="just" indent="-342900" lvl="0" marL="34290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They consist of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several minute intercommunicating cavities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- the ethmoidal air cells.</a:t>
            </a:r>
          </a:p>
          <a:p>
            <a:pPr algn="just" indent="-342900" lvl="0" marL="34290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They are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divided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into the following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three groups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Anterior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consisting of up to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11 cells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Middle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consisting of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1–3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usually three cells.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Posterior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consisting of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1–7 cells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8919" name="Google Shape;570;p69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r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AU"/>
              <a:t>69</a:t>
            </a:fld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6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22" name="Google Shape;575;p70"/>
          <p:cNvSpPr txBox="1"/>
          <p:nvPr>
            <p:ph type="body" idx="1"/>
          </p:nvPr>
        </p:nvSpPr>
        <p:spPr>
          <a:xfrm>
            <a:off x="457200" y="1785926"/>
            <a:ext cx="8229600" cy="4340237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 fontScale="96875" lnSpcReduction="10000"/>
          </a:bodyPr>
          <a:p>
            <a:pPr algn="just" indent="-342900" lvl="0" marL="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They extend variably into the adjoining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frontal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sphenoidal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maxillary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lacrimal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and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palatine bones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algn="just" indent="-342900" lvl="0" marL="34290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first two groups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-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anterior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middle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drain into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middle meatus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anterior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opens in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hiatus semilunaris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middle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on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surface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of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bull ethmoidalis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) and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posterior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into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posterior part of superior meatus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8923" name="Google Shape;576;p70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r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AU"/>
              <a:t>70</a:t>
            </a:fld>
          </a:p>
        </p:txBody>
      </p:sp>
      <p:sp>
        <p:nvSpPr>
          <p:cNvPr id="1048924" name="Google Shape;577;p70"/>
          <p:cNvSpPr txBox="1"/>
          <p:nvPr/>
        </p:nvSpPr>
        <p:spPr>
          <a:xfrm>
            <a:off x="3571868" y="857232"/>
            <a:ext cx="2151551" cy="769441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spAutoFit/>
          </a:bodyPr>
          <a:p>
            <a:pPr algn="ctr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cap="none" sz="4400" i="0" lang="en-AU" strike="noStrike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Cont’d</a:t>
            </a:r>
            <a:endParaRPr b="0" cap="none" sz="4400" i="0" strike="noStrike" u="none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9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27" name="Google Shape;582;p71"/>
          <p:cNvSpPr txBox="1"/>
          <p:nvPr>
            <p:ph type="body" idx="1"/>
          </p:nvPr>
        </p:nvSpPr>
        <p:spPr>
          <a:xfrm>
            <a:off x="214282" y="214290"/>
            <a:ext cx="8786874" cy="664371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algn="just" indent="-342900" lvl="0" marL="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AU">
                <a:latin typeface="Arial"/>
                <a:ea typeface="Arial"/>
                <a:cs typeface="Arial"/>
                <a:sym typeface="Arial"/>
              </a:rPr>
              <a:t>Ethmoidal sinuses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are supplied by branches 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anterior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posterior ethmoidal,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sphenopalatine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arteries.</a:t>
            </a:r>
          </a:p>
          <a:p>
            <a:pPr algn="just" indent="-342900" lvl="0" marL="34290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Veins which correspond to the above arteries drain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ethmoidal sinuses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algn="just" indent="-342900" lvl="0" marL="34290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AU">
                <a:latin typeface="Arial"/>
                <a:ea typeface="Arial"/>
                <a:cs typeface="Arial"/>
                <a:sym typeface="Arial"/>
              </a:rPr>
              <a:t>Ethmoidal sinuses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receive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sensory fibres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from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anterior and posterior ethmoidal nerve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(from the nasociliary branch of ophthalmic nerve).</a:t>
            </a:r>
          </a:p>
          <a:p>
            <a:pPr algn="just" indent="-342900" lvl="0" marL="34290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anterior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middle ethmoidal sinuses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are drained by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submandibular nodes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while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posterior ethmoidal sinus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is drained by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retropharyngeal nodes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8928" name="Google Shape;583;p71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r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AU"/>
              <a:t>71</a:t>
            </a:fld>
            <a:r>
              <a:rPr lang="en-AU"/>
              <a:t>Q4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2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31" name="Google Shape;588;p72"/>
          <p:cNvSpPr txBox="1"/>
          <p:nvPr>
            <p:ph type="title"/>
          </p:nvPr>
        </p:nvSpPr>
        <p:spPr>
          <a:xfrm>
            <a:off x="457200" y="-142900"/>
            <a:ext cx="8229600" cy="1214446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rmAutofit/>
          </a:bodyPr>
          <a:p>
            <a:pPr algn="ctr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lang="en-AU">
                <a:latin typeface="Arial Black"/>
                <a:ea typeface="Arial Black"/>
                <a:cs typeface="Arial Black"/>
                <a:sym typeface="Arial Black"/>
              </a:rPr>
              <a:t>SPHENOIDAL SINUS</a:t>
            </a:r>
            <a:endParaRPr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048932" name="Google Shape;589;p72"/>
          <p:cNvSpPr txBox="1"/>
          <p:nvPr>
            <p:ph type="body" idx="1"/>
          </p:nvPr>
        </p:nvSpPr>
        <p:spPr>
          <a:xfrm>
            <a:off x="457200" y="785794"/>
            <a:ext cx="8229600" cy="5857916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 lnSpcReduction="10000"/>
          </a:bodyPr>
          <a:p>
            <a:pPr algn="just" indent="-342900" lvl="0" marL="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It is located in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body of the sphenoid bone above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behind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nasal cavity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algn="just" indent="-342900" lvl="0" marL="34290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They are separated from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each other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by a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bony septum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 </a:t>
            </a:r>
          </a:p>
          <a:p>
            <a:pPr algn="just" indent="-342900" lvl="0" marL="34290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two sinuses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are usually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asymmetrical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 </a:t>
            </a:r>
          </a:p>
          <a:p>
            <a:pPr algn="just" indent="-342900" lvl="0" marL="34290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AU">
                <a:latin typeface="Arial"/>
                <a:ea typeface="Arial"/>
                <a:cs typeface="Arial"/>
                <a:sym typeface="Arial"/>
              </a:rPr>
              <a:t>Each sinus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drains into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sphenoethmoidal recess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nasal cavity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via an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aperture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algn="just" indent="-342900" lvl="0" marL="34290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It may be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replaced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to a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large extent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by an extension 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posterior ethmoidal sinus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into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sphenoidal bone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8933" name="Google Shape;590;p72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r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AU"/>
              <a:t>72</a:t>
            </a:fld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5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36" name="Google Shape;595;p7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rmAutofit/>
          </a:bodyPr>
          <a:p>
            <a:pPr algn="ctr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lang="en-AU">
                <a:latin typeface="Arial Black"/>
                <a:ea typeface="Arial Black"/>
                <a:cs typeface="Arial Black"/>
                <a:sym typeface="Arial Black"/>
              </a:rPr>
              <a:t>Cont’d</a:t>
            </a:r>
            <a:endParaRPr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048937" name="Google Shape;596;p73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/>
          </a:bodyPr>
          <a:p>
            <a:pPr algn="just" indent="-342900" lvl="0" marL="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It appears as a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small groove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by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5</a:t>
            </a:r>
            <a:r>
              <a:rPr baseline="30000" b="1" lang="en-AU">
                <a:latin typeface="Arial"/>
                <a:ea typeface="Arial"/>
                <a:cs typeface="Arial"/>
                <a:sym typeface="Arial"/>
              </a:rPr>
              <a:t>th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 month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of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intrauterine life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and as a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minute cavity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at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birth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algn="just" indent="-342900" lvl="0" marL="34290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It extends into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body of the sphenoid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by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7</a:t>
            </a:r>
            <a:r>
              <a:rPr baseline="30000" b="1" lang="en-AU">
                <a:latin typeface="Arial"/>
                <a:ea typeface="Arial"/>
                <a:cs typeface="Arial"/>
                <a:sym typeface="Arial"/>
              </a:rPr>
              <a:t>th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or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8</a:t>
            </a:r>
            <a:r>
              <a:rPr baseline="30000" b="1" lang="en-AU">
                <a:latin typeface="Arial"/>
                <a:ea typeface="Arial"/>
                <a:cs typeface="Arial"/>
                <a:sym typeface="Arial"/>
              </a:rPr>
              <a:t>th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 year of life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and it is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well developed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after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puberty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algn="l" indent="-139700" lvl="0" marL="34290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</a:p>
        </p:txBody>
      </p:sp>
      <p:sp>
        <p:nvSpPr>
          <p:cNvPr id="1048938" name="Google Shape;597;p73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r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AU"/>
              <a:t>73</a:t>
            </a:fld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8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41" name="Google Shape;602;p74"/>
          <p:cNvSpPr txBox="1"/>
          <p:nvPr>
            <p:ph type="title"/>
          </p:nvPr>
        </p:nvSpPr>
        <p:spPr>
          <a:xfrm>
            <a:off x="457200" y="642918"/>
            <a:ext cx="8229600" cy="774720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rmAutofit fontScale="90000"/>
          </a:bodyPr>
          <a:p>
            <a:pPr algn="just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 Black"/>
              <a:buNone/>
            </a:pPr>
            <a:r>
              <a:rPr lang="en-AU">
                <a:latin typeface="Arial Black"/>
                <a:ea typeface="Arial Black"/>
                <a:cs typeface="Arial Black"/>
                <a:sym typeface="Arial Black"/>
              </a:rPr>
              <a:t>Relations</a:t>
            </a:r>
            <a:br>
              <a:rPr lang="en-AU"/>
            </a:br>
          </a:p>
        </p:txBody>
      </p:sp>
      <p:sp>
        <p:nvSpPr>
          <p:cNvPr id="1048942" name="Google Shape;603;p74"/>
          <p:cNvSpPr txBox="1"/>
          <p:nvPr>
            <p:ph type="body" idx="1"/>
          </p:nvPr>
        </p:nvSpPr>
        <p:spPr>
          <a:xfrm>
            <a:off x="457200" y="1071546"/>
            <a:ext cx="8229600" cy="5429288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/>
          </a:bodyPr>
          <a:p>
            <a:pPr algn="just" indent="-342900" lvl="0" marL="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Above: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Pituitary gland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optic chiasma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and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olfactory tract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algn="just" indent="-342900" lvl="0" marL="34290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Below: 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Roof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nasopharynx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posterior part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nasal cavity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algn="just" indent="-342900" lvl="0" marL="34290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Lateral: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Cavernous sinus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internal carotid artery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(on each side), and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optic nerve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optic canal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).</a:t>
            </a:r>
          </a:p>
          <a:p>
            <a:pPr algn="just" indent="-342900" lvl="0" marL="34290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Behind: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Pons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medulla oblongata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algn="just" indent="-342900" lvl="0" marL="34290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In front: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Sphenoethmoidal recess</a:t>
            </a:r>
            <a:endParaRPr b="1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8943" name="Google Shape;604;p74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r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AU"/>
              <a:t>74</a:t>
            </a:fld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21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46" name="Google Shape;609;p7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rmAutofit/>
          </a:bodyPr>
          <a:p>
            <a:pPr algn="ctr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lang="en-AU">
                <a:latin typeface="Arial Black"/>
                <a:ea typeface="Arial Black"/>
                <a:cs typeface="Arial Black"/>
                <a:sym typeface="Arial Black"/>
              </a:rPr>
              <a:t>Cont’d</a:t>
            </a:r>
            <a:endParaRPr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048947" name="Google Shape;610;p75"/>
          <p:cNvSpPr txBox="1"/>
          <p:nvPr>
            <p:ph type="body" idx="1"/>
          </p:nvPr>
        </p:nvSpPr>
        <p:spPr>
          <a:xfrm>
            <a:off x="457200" y="1285860"/>
            <a:ext cx="8229600" cy="5143536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/>
          </a:bodyPr>
          <a:p>
            <a:pPr algn="just" indent="-342900" lvl="0" marL="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⮚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Regarding its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vasculature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lymphatics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and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innervation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sphenoidal sinus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is</a:t>
            </a:r>
          </a:p>
          <a:p>
            <a:pPr algn="just" indent="-342900" lvl="0" marL="34290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Supplied by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posterior ethmoidal arteries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algn="just" indent="-342900" lvl="0" marL="34290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Drained by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posterior ethmoidal veins</a:t>
            </a:r>
          </a:p>
          <a:p>
            <a:pPr algn="just" indent="-342900" lvl="0" marL="34290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Innervated by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posterior ethmoidal nerve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algn="just" indent="-342900" lvl="0" marL="34290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Drained by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lymph vessels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that end in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retropharyngeal lymph nodes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8948" name="Google Shape;611;p75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r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AU"/>
              <a:t>75</a:t>
            </a:fld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24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51" name="Google Shape;616;p7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rmAutofit/>
          </a:bodyPr>
          <a:p>
            <a:pPr algn="ctr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lang="en-AU">
                <a:latin typeface="Arial Black"/>
                <a:ea typeface="Arial Black"/>
                <a:cs typeface="Arial Black"/>
                <a:sym typeface="Arial Black"/>
              </a:rPr>
              <a:t>APPLIED ANATOMY</a:t>
            </a:r>
            <a:endParaRPr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048952" name="Google Shape;617;p76"/>
          <p:cNvSpPr txBox="1"/>
          <p:nvPr>
            <p:ph type="body" idx="1"/>
          </p:nvPr>
        </p:nvSpPr>
        <p:spPr>
          <a:xfrm>
            <a:off x="457200" y="1285860"/>
            <a:ext cx="8472518" cy="535785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algn="just" indent="-342900" lvl="0" marL="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AU">
                <a:latin typeface="Arial"/>
                <a:ea typeface="Arial"/>
                <a:cs typeface="Arial"/>
                <a:sym typeface="Arial"/>
              </a:rPr>
              <a:t>Sinusitis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: Is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inflammation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of one or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more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sinuses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; when this occurs,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mucosa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sinus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becomes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swollen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and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painful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and its opening may be blocked. </a:t>
            </a:r>
          </a:p>
          <a:p>
            <a:pPr algn="just" indent="-342900" lvl="0" marL="34290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maxillary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frontal sinuses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can be examined (for a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growing mass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or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presence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of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fluid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) by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transillumination.</a:t>
            </a:r>
          </a:p>
          <a:p>
            <a:pPr algn="just" indent="-342900" lvl="0" marL="34290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ethmoidal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sphenoidal sinuses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can not be examined by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 transillumination</a:t>
            </a:r>
            <a:r>
              <a:rPr b="1" sz="2800" lang="en-AU"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algn="just" indent="-165100" lvl="0" marL="342900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algn="just" indent="-165100" lvl="0" marL="342900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8953" name="Google Shape;618;p76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r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AU"/>
              <a:t>76</a:t>
            </a:fld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27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56" name="Google Shape;623;p77"/>
          <p:cNvSpPr txBox="1"/>
          <p:nvPr>
            <p:ph type="body" idx="1"/>
          </p:nvPr>
        </p:nvSpPr>
        <p:spPr>
          <a:xfrm>
            <a:off x="457200" y="928670"/>
            <a:ext cx="8229600" cy="5643602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/>
          </a:bodyPr>
          <a:p>
            <a:pPr algn="just" indent="-342900" lvl="0" marL="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Infections 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nasal cavity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could invade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paranasal sinuses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owing to the continuity of their mucosa; due to a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similar reason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infections 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conjuctival and lacrimal apparatus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could also affect these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sinuses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algn="just" indent="-342900" lvl="0" marL="34290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Owing to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proximity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posterior ethmoidal sinus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to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optic nerve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infections of this sinus may affect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nerve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causing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optic neuritis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this may result in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blindness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algn="just" indent="-139700" lvl="0" marL="34290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algn="just" indent="-139700" lvl="0" marL="34290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8957" name="Google Shape;624;p77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r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AU"/>
              <a:t>77</a:t>
            </a:fld>
          </a:p>
        </p:txBody>
      </p:sp>
      <p:sp>
        <p:nvSpPr>
          <p:cNvPr id="1048958" name="Google Shape;625;p77"/>
          <p:cNvSpPr txBox="1"/>
          <p:nvPr/>
        </p:nvSpPr>
        <p:spPr>
          <a:xfrm>
            <a:off x="3500430" y="357166"/>
            <a:ext cx="2151551" cy="769441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spAutoFit/>
          </a:bodyPr>
          <a:p>
            <a:pPr algn="ctr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cap="none" sz="4400" i="0" lang="en-AU" strike="noStrike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Cont’d</a:t>
            </a:r>
            <a:endParaRPr b="0" cap="none" sz="4400" i="0" strike="noStrike" u="none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30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61" name="Google Shape;630;p78"/>
          <p:cNvSpPr txBox="1"/>
          <p:nvPr>
            <p:ph type="body" idx="1"/>
          </p:nvPr>
        </p:nvSpPr>
        <p:spPr>
          <a:xfrm>
            <a:off x="214282" y="1000108"/>
            <a:ext cx="8786874" cy="5857892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 fontScale="25000" lnSpcReduction="20000"/>
          </a:bodyPr>
          <a:p>
            <a:pPr algn="just" indent="-342900" lvl="0" marL="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sz="12800" lang="en-AU">
                <a:latin typeface="Arial"/>
                <a:ea typeface="Arial"/>
                <a:cs typeface="Arial"/>
                <a:sym typeface="Arial"/>
              </a:rPr>
              <a:t>Pus</a:t>
            </a:r>
            <a:r>
              <a:rPr sz="12800" lang="en-AU">
                <a:latin typeface="Arial"/>
                <a:ea typeface="Arial"/>
                <a:cs typeface="Arial"/>
                <a:sym typeface="Arial"/>
              </a:rPr>
              <a:t> in the </a:t>
            </a:r>
            <a:r>
              <a:rPr b="1" sz="12800" lang="en-AU">
                <a:latin typeface="Arial"/>
                <a:ea typeface="Arial"/>
                <a:cs typeface="Arial"/>
                <a:sym typeface="Arial"/>
              </a:rPr>
              <a:t>frontal and anterior ethmoidal sinuses </a:t>
            </a:r>
            <a:r>
              <a:rPr sz="12800" lang="en-AU">
                <a:latin typeface="Arial"/>
                <a:ea typeface="Arial"/>
                <a:cs typeface="Arial"/>
                <a:sym typeface="Arial"/>
              </a:rPr>
              <a:t>could flow , via the </a:t>
            </a:r>
            <a:r>
              <a:rPr b="1" sz="12800" lang="en-AU">
                <a:latin typeface="Arial"/>
                <a:ea typeface="Arial"/>
                <a:cs typeface="Arial"/>
                <a:sym typeface="Arial"/>
              </a:rPr>
              <a:t>ethmoidal infundibulum</a:t>
            </a:r>
            <a:r>
              <a:rPr sz="12800" lang="en-AU">
                <a:latin typeface="Arial"/>
                <a:ea typeface="Arial"/>
                <a:cs typeface="Arial"/>
                <a:sym typeface="Arial"/>
              </a:rPr>
              <a:t>, into the </a:t>
            </a:r>
            <a:r>
              <a:rPr b="1" sz="12800" lang="en-AU">
                <a:latin typeface="Arial"/>
                <a:ea typeface="Arial"/>
                <a:cs typeface="Arial"/>
                <a:sym typeface="Arial"/>
              </a:rPr>
              <a:t>hiatus semilunaris</a:t>
            </a:r>
            <a:r>
              <a:rPr sz="12800" lang="en-AU">
                <a:latin typeface="Arial"/>
                <a:ea typeface="Arial"/>
                <a:cs typeface="Arial"/>
                <a:sym typeface="Arial"/>
              </a:rPr>
              <a:t>, and hence, into the </a:t>
            </a:r>
            <a:r>
              <a:rPr b="1" sz="12800" lang="en-AU">
                <a:latin typeface="Arial"/>
                <a:ea typeface="Arial"/>
                <a:cs typeface="Arial"/>
                <a:sym typeface="Arial"/>
              </a:rPr>
              <a:t>maxillary sinus</a:t>
            </a:r>
            <a:r>
              <a:rPr sz="12800" lang="en-AU">
                <a:latin typeface="Arial"/>
                <a:ea typeface="Arial"/>
                <a:cs typeface="Arial"/>
                <a:sym typeface="Arial"/>
              </a:rPr>
              <a:t>. When it accumulates in the </a:t>
            </a:r>
            <a:r>
              <a:rPr b="1" sz="12800" lang="en-AU">
                <a:latin typeface="Arial"/>
                <a:ea typeface="Arial"/>
                <a:cs typeface="Arial"/>
                <a:sym typeface="Arial"/>
              </a:rPr>
              <a:t>maxillary sinus </a:t>
            </a:r>
            <a:r>
              <a:rPr sz="12800" lang="en-AU">
                <a:latin typeface="Arial"/>
                <a:ea typeface="Arial"/>
                <a:cs typeface="Arial"/>
                <a:sym typeface="Arial"/>
              </a:rPr>
              <a:t>does not drain readily owing to the high position of the </a:t>
            </a:r>
            <a:r>
              <a:rPr b="1" sz="12800" lang="en-AU">
                <a:latin typeface="Arial"/>
                <a:ea typeface="Arial"/>
                <a:cs typeface="Arial"/>
                <a:sym typeface="Arial"/>
              </a:rPr>
              <a:t>ostium of the sinus</a:t>
            </a:r>
            <a:r>
              <a:rPr sz="12800" lang="en-AU">
                <a:latin typeface="Arial"/>
                <a:ea typeface="Arial"/>
                <a:cs typeface="Arial"/>
                <a:sym typeface="Arial"/>
              </a:rPr>
              <a:t>; drainage may however be effected by puncturing the </a:t>
            </a:r>
            <a:r>
              <a:rPr b="1" sz="12800" lang="en-AU">
                <a:latin typeface="Arial"/>
                <a:ea typeface="Arial"/>
                <a:cs typeface="Arial"/>
                <a:sym typeface="Arial"/>
              </a:rPr>
              <a:t>canine fossa </a:t>
            </a:r>
            <a:r>
              <a:rPr sz="12800" lang="en-AU">
                <a:latin typeface="Arial"/>
                <a:ea typeface="Arial"/>
                <a:cs typeface="Arial"/>
                <a:sym typeface="Arial"/>
              </a:rPr>
              <a:t>on the </a:t>
            </a:r>
            <a:r>
              <a:rPr b="1" sz="12800" lang="en-AU">
                <a:latin typeface="Arial"/>
                <a:ea typeface="Arial"/>
                <a:cs typeface="Arial"/>
                <a:sym typeface="Arial"/>
              </a:rPr>
              <a:t>anterior aspect of the maxilla</a:t>
            </a:r>
            <a:r>
              <a:rPr sz="12800" lang="en-AU"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algn="just" indent="-342900" lvl="0" marL="34290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sz="12800" lang="en-AU">
                <a:latin typeface="Arial"/>
                <a:ea typeface="Arial"/>
                <a:cs typeface="Arial"/>
                <a:sym typeface="Arial"/>
              </a:rPr>
              <a:t>Drainage of maxillary sinus</a:t>
            </a:r>
            <a:r>
              <a:rPr sz="12800" lang="en-AU">
                <a:latin typeface="Arial"/>
                <a:ea typeface="Arial"/>
                <a:cs typeface="Arial"/>
                <a:sym typeface="Arial"/>
              </a:rPr>
              <a:t>: The </a:t>
            </a:r>
            <a:r>
              <a:rPr b="1" sz="12800" lang="en-AU">
                <a:latin typeface="Arial"/>
                <a:ea typeface="Arial"/>
                <a:cs typeface="Arial"/>
                <a:sym typeface="Arial"/>
              </a:rPr>
              <a:t>opening</a:t>
            </a:r>
            <a:r>
              <a:rPr sz="12800" lang="en-AU">
                <a:latin typeface="Arial"/>
                <a:ea typeface="Arial"/>
                <a:cs typeface="Arial"/>
                <a:sym typeface="Arial"/>
              </a:rPr>
              <a:t> of this </a:t>
            </a:r>
            <a:r>
              <a:rPr b="1" sz="12800" lang="en-AU">
                <a:latin typeface="Arial"/>
                <a:ea typeface="Arial"/>
                <a:cs typeface="Arial"/>
                <a:sym typeface="Arial"/>
              </a:rPr>
              <a:t>sinus</a:t>
            </a:r>
            <a:r>
              <a:rPr sz="12800" lang="en-AU">
                <a:latin typeface="Arial"/>
                <a:ea typeface="Arial"/>
                <a:cs typeface="Arial"/>
                <a:sym typeface="Arial"/>
              </a:rPr>
              <a:t> is unfortunately located in the </a:t>
            </a:r>
            <a:r>
              <a:rPr b="1" sz="12800" lang="en-AU">
                <a:latin typeface="Arial"/>
                <a:ea typeface="Arial"/>
                <a:cs typeface="Arial"/>
                <a:sym typeface="Arial"/>
              </a:rPr>
              <a:t>upper part </a:t>
            </a:r>
            <a:r>
              <a:rPr sz="12800" lang="en-AU">
                <a:latin typeface="Arial"/>
                <a:ea typeface="Arial"/>
                <a:cs typeface="Arial"/>
                <a:sym typeface="Arial"/>
              </a:rPr>
              <a:t>of the </a:t>
            </a:r>
            <a:r>
              <a:rPr b="1" sz="12800" lang="en-AU">
                <a:latin typeface="Arial"/>
                <a:ea typeface="Arial"/>
                <a:cs typeface="Arial"/>
                <a:sym typeface="Arial"/>
              </a:rPr>
              <a:t>lateral wall </a:t>
            </a:r>
            <a:r>
              <a:rPr sz="12800" lang="en-AU">
                <a:latin typeface="Arial"/>
                <a:ea typeface="Arial"/>
                <a:cs typeface="Arial"/>
                <a:sym typeface="Arial"/>
              </a:rPr>
              <a:t>of </a:t>
            </a:r>
            <a:r>
              <a:rPr b="1" sz="12800" lang="en-AU">
                <a:latin typeface="Arial"/>
                <a:ea typeface="Arial"/>
                <a:cs typeface="Arial"/>
                <a:sym typeface="Arial"/>
              </a:rPr>
              <a:t>nose</a:t>
            </a:r>
            <a:r>
              <a:rPr sz="12800" lang="en-AU">
                <a:latin typeface="Arial"/>
                <a:ea typeface="Arial"/>
                <a:cs typeface="Arial"/>
                <a:sym typeface="Arial"/>
              </a:rPr>
              <a:t>, which is a disadvantageous site for </a:t>
            </a:r>
            <a:r>
              <a:rPr b="1" sz="12800" lang="en-AU">
                <a:latin typeface="Arial"/>
                <a:ea typeface="Arial"/>
                <a:cs typeface="Arial"/>
                <a:sym typeface="Arial"/>
              </a:rPr>
              <a:t>adequate natural drainage</a:t>
            </a:r>
            <a:r>
              <a:rPr sz="12800" lang="en-AU">
                <a:latin typeface="Arial"/>
                <a:ea typeface="Arial"/>
                <a:cs typeface="Arial"/>
                <a:sym typeface="Arial"/>
              </a:rPr>
              <a:t>.</a:t>
            </a:r>
            <a:endParaRPr sz="12800">
              <a:latin typeface="Arial"/>
              <a:ea typeface="Arial"/>
              <a:cs typeface="Arial"/>
              <a:sym typeface="Arial"/>
            </a:endParaRPr>
          </a:p>
          <a:p>
            <a:pPr algn="just" indent="-139700" lvl="0" marL="34290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12800">
              <a:latin typeface="Arial"/>
              <a:ea typeface="Arial"/>
              <a:cs typeface="Arial"/>
              <a:sym typeface="Arial"/>
            </a:endParaRPr>
          </a:p>
          <a:p>
            <a:pPr algn="just" indent="-292100" lvl="0" marL="342900" rtl="0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8962" name="Google Shape;631;p78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r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AU"/>
              <a:t>78</a:t>
            </a:fld>
          </a:p>
        </p:txBody>
      </p:sp>
      <p:sp>
        <p:nvSpPr>
          <p:cNvPr id="1048963" name="Google Shape;632;p78"/>
          <p:cNvSpPr txBox="1"/>
          <p:nvPr/>
        </p:nvSpPr>
        <p:spPr>
          <a:xfrm>
            <a:off x="3500430" y="214290"/>
            <a:ext cx="2437303" cy="769441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spAutoFit/>
          </a:bodyPr>
          <a:p>
            <a:pPr algn="l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cap="none" sz="4400" i="0" lang="en-AU" strike="noStrike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Cont’d</a:t>
            </a:r>
            <a:endParaRPr b="0" cap="none" sz="4400" i="0" strike="noStrike" u="none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33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66" name="Google Shape;637;p79"/>
          <p:cNvSpPr txBox="1"/>
          <p:nvPr>
            <p:ph type="body" idx="1"/>
          </p:nvPr>
        </p:nvSpPr>
        <p:spPr>
          <a:xfrm>
            <a:off x="142844" y="1000108"/>
            <a:ext cx="8858312" cy="5500726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algn="just" indent="-342900" lvl="0" marL="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AU">
                <a:latin typeface="Arial"/>
                <a:ea typeface="Arial"/>
                <a:cs typeface="Arial"/>
                <a:sym typeface="Arial"/>
              </a:rPr>
              <a:t>Maxillary sinusitis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Maxillary sinus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is most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commonly infected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of all the sinuses due to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following reasons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: Infection can reach into this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sinus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from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infected nose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(viral rhinitis), carious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upper premolar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molar teeth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especially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molars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and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infected frontal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anterior ethmoidal sinuses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algn="just" indent="-342900" lvl="0" marL="34290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AU">
                <a:latin typeface="Arial"/>
                <a:ea typeface="Arial"/>
                <a:cs typeface="Arial"/>
                <a:sym typeface="Arial"/>
              </a:rPr>
              <a:t>Carcinoma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of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maxillary sinus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: It arises from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mucous lining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sinus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 </a:t>
            </a:r>
          </a:p>
          <a:p>
            <a:pPr algn="just" indent="-165100" lvl="0" marL="342900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8967" name="Google Shape;638;p79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r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AU"/>
              <a:t>79</a:t>
            </a:fld>
          </a:p>
        </p:txBody>
      </p:sp>
      <p:sp>
        <p:nvSpPr>
          <p:cNvPr id="1048968" name="Google Shape;639;p79"/>
          <p:cNvSpPr txBox="1"/>
          <p:nvPr/>
        </p:nvSpPr>
        <p:spPr>
          <a:xfrm>
            <a:off x="3143240" y="214290"/>
            <a:ext cx="2714644" cy="769441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spAutoFit/>
          </a:bodyPr>
          <a:p>
            <a:pPr algn="ctr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cap="none" sz="4400" i="0" lang="en-AU" strike="noStrike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Cont’d</a:t>
            </a:r>
            <a:endParaRPr b="0" cap="none" sz="4400" i="0" strike="noStrike" u="none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36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71" name="Google Shape;644;p80"/>
          <p:cNvSpPr txBox="1"/>
          <p:nvPr>
            <p:ph type="body" idx="1"/>
          </p:nvPr>
        </p:nvSpPr>
        <p:spPr>
          <a:xfrm>
            <a:off x="457200" y="1428736"/>
            <a:ext cx="8401080" cy="5072098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 lnSpcReduction="10000"/>
          </a:bodyPr>
          <a:p>
            <a:pPr algn="just" indent="-342900" lvl="0" marL="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AU">
                <a:latin typeface="Arial"/>
                <a:ea typeface="Arial"/>
                <a:cs typeface="Arial"/>
                <a:sym typeface="Arial"/>
              </a:rPr>
              <a:t>Involvement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of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infraorbital nerve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produces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pain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anesthesia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in the skin over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face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below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orbit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algn="just" indent="-342900" lvl="0" marL="34290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upward invasion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into the orbit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displaces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eyeball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causing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proptosis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(protrusion of eyeball) and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diplopia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(double vision).</a:t>
            </a:r>
          </a:p>
          <a:p>
            <a:pPr algn="just" indent="-342900" lvl="0" marL="34290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downward invasion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into the floor produces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visible bulge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or even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ulceration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of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palatal roof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oral cavity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algn="just" indent="-139700" lvl="0" marL="34290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algn="just" indent="-139700" lvl="0" marL="34290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8972" name="Google Shape;645;p80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r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AU"/>
              <a:t>80</a:t>
            </a:fld>
          </a:p>
        </p:txBody>
      </p:sp>
      <p:sp>
        <p:nvSpPr>
          <p:cNvPr id="1048973" name="Google Shape;646;p80"/>
          <p:cNvSpPr txBox="1"/>
          <p:nvPr/>
        </p:nvSpPr>
        <p:spPr>
          <a:xfrm>
            <a:off x="3786182" y="714356"/>
            <a:ext cx="2151551" cy="955001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spAutoFit/>
          </a:bodyPr>
          <a:p>
            <a:pPr algn="l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cap="none" sz="4400" i="0" lang="en-AU" strike="noStrike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Cont’d</a:t>
            </a:r>
            <a:endParaRPr b="0" cap="none" sz="4400" i="0" strike="noStrike" u="none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algn="l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cap="none" sz="1800" i="0" strike="noStrike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39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76" name="Google Shape;651;p81"/>
          <p:cNvSpPr txBox="1"/>
          <p:nvPr>
            <p:ph type="body" idx="1"/>
          </p:nvPr>
        </p:nvSpPr>
        <p:spPr>
          <a:xfrm>
            <a:off x="457200" y="1357298"/>
            <a:ext cx="8229600" cy="5500702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/>
          </a:bodyPr>
          <a:p>
            <a:pPr algn="just" indent="-342900" lvl="0" marL="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medial invasion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encroaches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nasal cavity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causing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obstruction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epistaxis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obstruction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of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nasolacrimal duct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in this wall produces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epiphora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(overflow of tears).</a:t>
            </a:r>
          </a:p>
          <a:p>
            <a:pPr algn="just" indent="-342900" lvl="0" marL="34290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lateral invasion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produces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swelling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on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face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palpable mass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in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gingivolabial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fold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(groove).</a:t>
            </a:r>
          </a:p>
          <a:p>
            <a:pPr algn="just" indent="-139700" lvl="0" marL="34290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algn="just" indent="-139700" lvl="0" marL="34290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8977" name="Google Shape;652;p81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r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AU"/>
              <a:t>81</a:t>
            </a:fld>
          </a:p>
        </p:txBody>
      </p:sp>
      <p:sp>
        <p:nvSpPr>
          <p:cNvPr id="1048978" name="Google Shape;653;p81"/>
          <p:cNvSpPr txBox="1"/>
          <p:nvPr/>
        </p:nvSpPr>
        <p:spPr>
          <a:xfrm>
            <a:off x="3714744" y="428604"/>
            <a:ext cx="2357454" cy="769441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spAutoFit/>
          </a:bodyPr>
          <a:p>
            <a:pPr algn="ctr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cap="none" sz="4400" i="0" lang="en-AU" strike="noStrike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Cont’d</a:t>
            </a:r>
            <a:endParaRPr b="0" cap="none" sz="4400" i="0" strike="noStrike" u="none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42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81" name="Google Shape;658;p8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rmAutofit/>
          </a:bodyPr>
          <a:p>
            <a:pPr algn="ctr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</a:p>
        </p:txBody>
      </p:sp>
      <p:sp>
        <p:nvSpPr>
          <p:cNvPr id="1048982" name="Google Shape;659;p8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/>
          </a:bodyPr>
          <a:p>
            <a:pPr algn="l" indent="-139700" lvl="0" marL="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</a:p>
        </p:txBody>
      </p:sp>
      <p:pic>
        <p:nvPicPr>
          <p:cNvPr id="2097169" name="Google Shape;660;p82"/>
          <p:cNvPicPr preferRelativeResize="0">
            <a:picLocks/>
          </p:cNvPicPr>
          <p:nvPr/>
        </p:nvPicPr>
        <p:blipFill rotWithShape="1">
          <a:blip xmlns:r="http://schemas.openxmlformats.org/officeDocument/2006/relationships" r:embed="rId1">
            <a:alphaModFix/>
          </a:blip>
          <a:srcRect l="0" t="0" r="0" b="0"/>
          <a:stretch>
            <a:fillRect/>
          </a:stretch>
        </p:blipFill>
        <p:spPr>
          <a:xfrm>
            <a:off x="0" y="-33338"/>
            <a:ext cx="9085263" cy="6815138"/>
          </a:xfrm>
          <a:prstGeom prst="rect"/>
          <a:noFill/>
          <a:ln>
            <a:noFill/>
          </a:ln>
        </p:spPr>
      </p:pic>
      <p:sp>
        <p:nvSpPr>
          <p:cNvPr id="1048983" name="Google Shape;661;p82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r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AU"/>
              <a:t>82</a:t>
            </a:fld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4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86" name="Google Shape;666;p83"/>
          <p:cNvSpPr txBox="1"/>
          <p:nvPr>
            <p:ph type="body" idx="1"/>
          </p:nvPr>
        </p:nvSpPr>
        <p:spPr>
          <a:xfrm>
            <a:off x="457200" y="2214554"/>
            <a:ext cx="8229600" cy="3911609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/>
          </a:bodyPr>
          <a:p>
            <a:pPr algn="l" indent="-342900" lvl="0" marL="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</a:pPr>
            <a:r>
              <a:rPr sz="6000" lang="en-AU">
                <a:latin typeface="Arial Black"/>
                <a:ea typeface="Arial Black"/>
                <a:cs typeface="Arial Black"/>
                <a:sym typeface="Arial Black"/>
              </a:rPr>
              <a:t>THANK YOU, ALL FOR LISTENING.</a:t>
            </a:r>
            <a:endParaRPr sz="60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048987" name="Google Shape;667;p83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r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AU"/>
              <a:t>83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>
  <ScaleCrop>0</ScaleCrop>
  <LinksUpToDate>0</LinksUpToDate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Dr. Ojewale</dc:creator>
  <dcterms:created xsi:type="dcterms:W3CDTF">2022-02-11T08:44:53Z</dcterms:created>
  <dcterms:modified xsi:type="dcterms:W3CDTF">2026-04-14T11:52:39Z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19d55de540a342cdb023761b9c9fa7b6</vt:lpwstr>
  </property>
</Properties>
</file>