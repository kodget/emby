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5" r:id="rId2"/>
    <p:sldId id="296" r:id="rId3"/>
    <p:sldId id="298" r:id="rId4"/>
    <p:sldId id="301" r:id="rId5"/>
    <p:sldId id="29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303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2E9EF-01A7-D56D-FE95-B674DCA35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CERVICAL FASCIA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093A-9BA5-950A-ED6D-89BD52DB99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DR OSO O.A</a:t>
            </a:r>
          </a:p>
        </p:txBody>
      </p:sp>
    </p:spTree>
    <p:extLst>
      <p:ext uri="{BB962C8B-B14F-4D97-AF65-F5344CB8AC3E}">
        <p14:creationId xmlns:p14="http://schemas.microsoft.com/office/powerpoint/2010/main" val="298906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A624-5701-E15E-5F29-08C251ED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2496-D57C-6B39-7038-97141BEA3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INTRODUCTION</a:t>
            </a:r>
          </a:p>
          <a:p>
            <a:endParaRPr lang="en-GB" b="1" dirty="0"/>
          </a:p>
          <a:p>
            <a:r>
              <a:rPr lang="en-GB" b="1" dirty="0"/>
              <a:t>DEEP CERVICAL FASCIA OF THE NECK</a:t>
            </a:r>
          </a:p>
          <a:p>
            <a:endParaRPr lang="en-GB" b="1" dirty="0"/>
          </a:p>
          <a:p>
            <a:r>
              <a:rPr lang="en-GB" b="1" dirty="0"/>
              <a:t>SUBDIVISIONS </a:t>
            </a:r>
          </a:p>
          <a:p>
            <a:endParaRPr lang="en-GB" b="1" dirty="0"/>
          </a:p>
          <a:p>
            <a:r>
              <a:rPr lang="en-GB" b="1" dirty="0"/>
              <a:t>ATTACHMENT AND ORIENTATION OF THE SUBDIVISIONS</a:t>
            </a:r>
          </a:p>
          <a:p>
            <a:endParaRPr lang="en-GB" b="1" dirty="0"/>
          </a:p>
          <a:p>
            <a:r>
              <a:rPr lang="en-GB" b="1" dirty="0"/>
              <a:t>FASCIAL SPACES OF THE NECK</a:t>
            </a:r>
          </a:p>
          <a:p>
            <a:endParaRPr lang="en-GB" b="1" dirty="0"/>
          </a:p>
          <a:p>
            <a:r>
              <a:rPr lang="en-GB" b="1" dirty="0"/>
              <a:t>CLINICAL IMPORTANCE OF THE SPECIAL SPACES OF THE NECK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595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5910-7C10-14BD-C0E1-DAB4C1671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97972"/>
            <a:ext cx="8860971" cy="71845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BB613-8DDD-168D-5C82-A85774065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925286"/>
            <a:ext cx="8730343" cy="5747657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Skin of the neck: </a:t>
            </a:r>
            <a:r>
              <a:rPr lang="en-GB" dirty="0"/>
              <a:t>thin, Langers line is transverse in orientation</a:t>
            </a:r>
          </a:p>
          <a:p>
            <a:r>
              <a:rPr lang="en-GB" dirty="0"/>
              <a:t>Importance: a surgical incision parallel to these lines makes an invisible scar</a:t>
            </a:r>
          </a:p>
          <a:p>
            <a:endParaRPr lang="en-GB" dirty="0"/>
          </a:p>
          <a:p>
            <a:r>
              <a:rPr lang="en-GB" b="1" dirty="0"/>
              <a:t>Fascia: </a:t>
            </a:r>
            <a:r>
              <a:rPr lang="en-GB" dirty="0"/>
              <a:t>fibrous connective tissue that binds together various structures of the body. 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b="1" dirty="0"/>
              <a:t>Two types: </a:t>
            </a:r>
          </a:p>
          <a:p>
            <a:pPr lvl="1"/>
            <a:r>
              <a:rPr lang="en-GB" b="1" dirty="0"/>
              <a:t>Superficial</a:t>
            </a:r>
            <a:r>
              <a:rPr lang="en-GB" dirty="0"/>
              <a:t>, subcutaneous</a:t>
            </a:r>
          </a:p>
          <a:p>
            <a:pPr lvl="1"/>
            <a:r>
              <a:rPr lang="en-GB" b="1" dirty="0"/>
              <a:t>Deep fascia</a:t>
            </a:r>
            <a:r>
              <a:rPr lang="en-GB" dirty="0"/>
              <a:t>, surrounding muscles, organs of the neck, and blood vessels</a:t>
            </a:r>
          </a:p>
        </p:txBody>
      </p:sp>
    </p:spTree>
    <p:extLst>
      <p:ext uri="{BB962C8B-B14F-4D97-AF65-F5344CB8AC3E}">
        <p14:creationId xmlns:p14="http://schemas.microsoft.com/office/powerpoint/2010/main" val="340652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34E4-FD62-FA6E-8598-9976527A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988105"/>
          </a:xfrm>
        </p:spPr>
        <p:txBody>
          <a:bodyPr/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B15EA-575E-42CE-C55B-C5BAD4C2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62744"/>
            <a:ext cx="8458200" cy="5486400"/>
          </a:xfrm>
        </p:spPr>
        <p:txBody>
          <a:bodyPr>
            <a:normAutofit/>
          </a:bodyPr>
          <a:lstStyle/>
          <a:p>
            <a:r>
              <a:rPr lang="en-GB" b="1" dirty="0"/>
              <a:t>Superficial fascia: </a:t>
            </a:r>
            <a:r>
              <a:rPr lang="en-GB" dirty="0"/>
              <a:t>a thin lamina layer that lies between skin and deep cervical fascia, containing the platysma muscle. Contains a considerable amount of adipose tissues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Plastyma: </a:t>
            </a:r>
            <a:r>
              <a:rPr lang="en-GB" dirty="0"/>
              <a:t>it arises from the fascia covering pectoralis major, goes </a:t>
            </a:r>
            <a:r>
              <a:rPr lang="en-GB" dirty="0" err="1"/>
              <a:t>superomedially</a:t>
            </a:r>
            <a:r>
              <a:rPr lang="en-GB" dirty="0"/>
              <a:t> in the superficial fascia in the posterior triangle and then in the anterior triangle to the lower border of the mandible.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42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C790-4DAA-115C-BB38-D188055B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3" y="76200"/>
            <a:ext cx="8860971" cy="1045029"/>
          </a:xfrm>
        </p:spPr>
        <p:txBody>
          <a:bodyPr/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27535-5451-F9A0-BEC4-2C4058E04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14" y="1306286"/>
            <a:ext cx="4354286" cy="5475514"/>
          </a:xfrm>
        </p:spPr>
        <p:txBody>
          <a:bodyPr/>
          <a:lstStyle/>
          <a:p>
            <a:r>
              <a:rPr lang="en-GB" b="1" dirty="0"/>
              <a:t>Nerve supply: </a:t>
            </a:r>
            <a:r>
              <a:rPr lang="en-GB" dirty="0"/>
              <a:t>cervical branch of the facial nerve</a:t>
            </a:r>
          </a:p>
          <a:p>
            <a:endParaRPr lang="en-GB" dirty="0"/>
          </a:p>
          <a:p>
            <a:r>
              <a:rPr lang="en-GB" b="1" dirty="0"/>
              <a:t>Action: </a:t>
            </a:r>
            <a:r>
              <a:rPr lang="en-GB" dirty="0"/>
              <a:t>releases pressure of skin over underlying veins and helps in venous return</a:t>
            </a:r>
          </a:p>
          <a:p>
            <a:endParaRPr lang="en-GB" dirty="0"/>
          </a:p>
          <a:p>
            <a:r>
              <a:rPr lang="en-GB" b="1" dirty="0"/>
              <a:t>Injury: </a:t>
            </a:r>
            <a:r>
              <a:rPr lang="en-GB" dirty="0"/>
              <a:t>severe venous bleeding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49EDDC-C57A-3963-6D95-A3EB9D455C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19296" y="1600200"/>
            <a:ext cx="4183189" cy="512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9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ervical-fascia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ervical-fascia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ervical-fascia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ervical-fascia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ervical-fascia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ervical-fascia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ervical-fascia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ervical-fascia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ervical-fascia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ervical-fascia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ervical-fascia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ervical-fascia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cervical-fascia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ervical-fascia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ervical-fascia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ervical-fascia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ervical-fascia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ervical-fascia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ervical-fascia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cervical-fascia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ervical-fascia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cervical-fascia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cervical-fascia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cervical-fascia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cervical-fascia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cervical-fascia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cervical-fascia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cervical-fascia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cervical-fascia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cervical-fascia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cervical-fascia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cervical-fascia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cervical-fascia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cervical-fascia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cervical-fascia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0754-709D-57F0-357C-A034999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31751-50F4-AC78-4503-0585D12C8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627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193</Words>
  <Application>Microsoft Office PowerPoint</Application>
  <PresentationFormat>On-screen Show (4:3)</PresentationFormat>
  <Paragraphs>35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CERVICAL FASCIA</vt:lpstr>
      <vt:lpstr>OUTLINE</vt:lpstr>
      <vt:lpstr>INTRODUCTION</vt:lpstr>
      <vt:lpstr>INTRODUCTION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Rotimi Oso</cp:lastModifiedBy>
  <cp:revision>10</cp:revision>
  <dcterms:created xsi:type="dcterms:W3CDTF">2013-01-27T09:14:16Z</dcterms:created>
  <dcterms:modified xsi:type="dcterms:W3CDTF">2026-04-04T20:49:51Z</dcterms:modified>
  <cp:category/>
</cp:coreProperties>
</file>