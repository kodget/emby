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6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3" r:id="rId6"/>
    <p:sldMasterId id="2147483686" r:id="rId7"/>
    <p:sldMasterId id="2147483699" r:id="rId8"/>
    <p:sldMasterId id="2147483712" r:id="rId9"/>
    <p:sldMasterId id="2147483725" r:id="rId10"/>
    <p:sldMasterId id="2147483738" r:id="rId11"/>
    <p:sldMasterId id="2147483751" r:id="rId12"/>
    <p:sldMasterId id="2147483764" r:id="rId13"/>
    <p:sldMasterId id="2147483777" r:id="rId14"/>
    <p:sldMasterId id="2147483790" r:id="rId15"/>
    <p:sldMasterId id="2147483803" r:id="rId16"/>
    <p:sldMasterId id="2147483816" r:id="rId17"/>
    <p:sldMasterId id="2147483829" r:id="rId18"/>
  </p:sldMasterIdLst>
  <p:notesMasterIdLst>
    <p:notesMasterId r:id="rId19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77"/>
    <p:sldId id="314" r:id="rId78"/>
    <p:sldId id="315" r:id="rId79"/>
    <p:sldId id="316" r:id="rId80"/>
    <p:sldId id="317" r:id="rId81"/>
    <p:sldId id="318" r:id="rId82"/>
    <p:sldId id="319" r:id="rId83"/>
    <p:sldId id="320" r:id="rId84"/>
    <p:sldId id="321" r:id="rId85"/>
    <p:sldId id="322" r:id="rId86"/>
    <p:sldId id="323" r:id="rId87"/>
    <p:sldId id="324" r:id="rId88"/>
    <p:sldId id="325" r:id="rId89"/>
    <p:sldId id="326" r:id="rId90"/>
    <p:sldId id="327" r:id="rId91"/>
  </p:sldIdLst>
  <p:sldSz cy="6858000" cx="9144000"/>
  <p:notesSz cx="6858000" cy="9144000"/>
  <p:embeddedFontLst>
    <p:embeddedFont>
      <p:font typeface="Anton"/>
      <p:regular r:id="rId92"/>
    </p:embeddedFont>
    <p:embeddedFont>
      <p:font typeface="Bodoni"/>
      <p:bold r:id="rId93"/>
      <p:boldItalic r:id="rId94"/>
    </p:embeddedFont>
    <p:embeddedFont>
      <p:font typeface="Libre Baskerville"/>
      <p:regular r:id="rId95"/>
      <p:bold r:id="rId96"/>
      <p:italic r:id="rId97"/>
      <p:boldItalic r:id="rId98"/>
    </p:embeddedFont>
    <p:embeddedFont>
      <p:font typeface="Baumans"/>
      <p:regular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0" roundtripDataSignature="AMtx7mhOlzHLQR0mAdJ36KAbIPcJfOn9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1.xml"/><Relationship Id="rId42" Type="http://schemas.openxmlformats.org/officeDocument/2006/relationships/slide" Target="slides/slide23.xml"/><Relationship Id="rId41" Type="http://schemas.openxmlformats.org/officeDocument/2006/relationships/slide" Target="slides/slide22.xml"/><Relationship Id="rId44" Type="http://schemas.openxmlformats.org/officeDocument/2006/relationships/slide" Target="slides/slide25.xml"/><Relationship Id="rId43" Type="http://schemas.openxmlformats.org/officeDocument/2006/relationships/slide" Target="slides/slide24.xml"/><Relationship Id="rId46" Type="http://schemas.openxmlformats.org/officeDocument/2006/relationships/slide" Target="slides/slide27.xml"/><Relationship Id="rId45" Type="http://schemas.openxmlformats.org/officeDocument/2006/relationships/slide" Target="slides/slide26.xml"/><Relationship Id="rId48" Type="http://schemas.openxmlformats.org/officeDocument/2006/relationships/slide" Target="slides/slide29.xml"/><Relationship Id="rId47" Type="http://schemas.openxmlformats.org/officeDocument/2006/relationships/slide" Target="slides/slide28.xml"/><Relationship Id="rId49" Type="http://schemas.openxmlformats.org/officeDocument/2006/relationships/slide" Target="slides/slide30.xml"/><Relationship Id="rId100" Type="http://customschemas.google.com/relationships/presentationmetadata" Target="metadata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9" Type="http://schemas.openxmlformats.org/officeDocument/2006/relationships/slide" Target="slides/slide20.xml"/><Relationship Id="rId38" Type="http://schemas.openxmlformats.org/officeDocument/2006/relationships/slide" Target="slides/slide19.xml"/><Relationship Id="rId20" Type="http://schemas.openxmlformats.org/officeDocument/2006/relationships/slide" Target="slides/slide1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9" Type="http://schemas.openxmlformats.org/officeDocument/2006/relationships/slide" Target="slides/slide10.xml"/><Relationship Id="rId95" Type="http://schemas.openxmlformats.org/officeDocument/2006/relationships/font" Target="fonts/LibreBaskerville-regular.fntdata"/><Relationship Id="rId94" Type="http://schemas.openxmlformats.org/officeDocument/2006/relationships/font" Target="fonts/Bodoni-boldItalic.fntdata"/><Relationship Id="rId97" Type="http://schemas.openxmlformats.org/officeDocument/2006/relationships/font" Target="fonts/LibreBaskerville-italic.fntdata"/><Relationship Id="rId96" Type="http://schemas.openxmlformats.org/officeDocument/2006/relationships/font" Target="fonts/LibreBaskerville-bold.fntdata"/><Relationship Id="rId11" Type="http://schemas.openxmlformats.org/officeDocument/2006/relationships/slideMaster" Target="slideMasters/slideMaster8.xml"/><Relationship Id="rId99" Type="http://schemas.openxmlformats.org/officeDocument/2006/relationships/font" Target="fonts/Baumans-regular.fntdata"/><Relationship Id="rId10" Type="http://schemas.openxmlformats.org/officeDocument/2006/relationships/slideMaster" Target="slideMasters/slideMaster7.xml"/><Relationship Id="rId98" Type="http://schemas.openxmlformats.org/officeDocument/2006/relationships/font" Target="fonts/LibreBaskerville-boldItalic.fntdata"/><Relationship Id="rId13" Type="http://schemas.openxmlformats.org/officeDocument/2006/relationships/slideMaster" Target="slideMasters/slideMaster10.xml"/><Relationship Id="rId12" Type="http://schemas.openxmlformats.org/officeDocument/2006/relationships/slideMaster" Target="slideMasters/slideMaster9.xml"/><Relationship Id="rId91" Type="http://schemas.openxmlformats.org/officeDocument/2006/relationships/slide" Target="slides/slide72.xml"/><Relationship Id="rId90" Type="http://schemas.openxmlformats.org/officeDocument/2006/relationships/slide" Target="slides/slide71.xml"/><Relationship Id="rId93" Type="http://schemas.openxmlformats.org/officeDocument/2006/relationships/font" Target="fonts/Bodoni-bold.fntdata"/><Relationship Id="rId92" Type="http://schemas.openxmlformats.org/officeDocument/2006/relationships/font" Target="fonts/Anton-regular.fntdata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notesMaster" Target="notesMasters/notesMaster1.xml"/><Relationship Id="rId18" Type="http://schemas.openxmlformats.org/officeDocument/2006/relationships/slideMaster" Target="slideMasters/slideMaster15.xml"/><Relationship Id="rId84" Type="http://schemas.openxmlformats.org/officeDocument/2006/relationships/slide" Target="slides/slide65.xml"/><Relationship Id="rId83" Type="http://schemas.openxmlformats.org/officeDocument/2006/relationships/slide" Target="slides/slide64.xml"/><Relationship Id="rId86" Type="http://schemas.openxmlformats.org/officeDocument/2006/relationships/slide" Target="slides/slide67.xml"/><Relationship Id="rId85" Type="http://schemas.openxmlformats.org/officeDocument/2006/relationships/slide" Target="slides/slide66.xml"/><Relationship Id="rId88" Type="http://schemas.openxmlformats.org/officeDocument/2006/relationships/slide" Target="slides/slide69.xml"/><Relationship Id="rId87" Type="http://schemas.openxmlformats.org/officeDocument/2006/relationships/slide" Target="slides/slide68.xml"/><Relationship Id="rId89" Type="http://schemas.openxmlformats.org/officeDocument/2006/relationships/slide" Target="slides/slide70.xml"/><Relationship Id="rId80" Type="http://schemas.openxmlformats.org/officeDocument/2006/relationships/slide" Target="slides/slide61.xml"/><Relationship Id="rId82" Type="http://schemas.openxmlformats.org/officeDocument/2006/relationships/slide" Target="slides/slide63.xml"/><Relationship Id="rId81" Type="http://schemas.openxmlformats.org/officeDocument/2006/relationships/slide" Target="slides/slide62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73" Type="http://schemas.openxmlformats.org/officeDocument/2006/relationships/slide" Target="slides/slide54.xml"/><Relationship Id="rId72" Type="http://schemas.openxmlformats.org/officeDocument/2006/relationships/slide" Target="slides/slide53.xml"/><Relationship Id="rId75" Type="http://schemas.openxmlformats.org/officeDocument/2006/relationships/slide" Target="slides/slide56.xml"/><Relationship Id="rId74" Type="http://schemas.openxmlformats.org/officeDocument/2006/relationships/slide" Target="slides/slide55.xml"/><Relationship Id="rId77" Type="http://schemas.openxmlformats.org/officeDocument/2006/relationships/slide" Target="slides/slide58.xml"/><Relationship Id="rId76" Type="http://schemas.openxmlformats.org/officeDocument/2006/relationships/slide" Target="slides/slide57.xml"/><Relationship Id="rId79" Type="http://schemas.openxmlformats.org/officeDocument/2006/relationships/slide" Target="slides/slide60.xml"/><Relationship Id="rId78" Type="http://schemas.openxmlformats.org/officeDocument/2006/relationships/slide" Target="slides/slide59.xml"/><Relationship Id="rId71" Type="http://schemas.openxmlformats.org/officeDocument/2006/relationships/slide" Target="slides/slide52.xml"/><Relationship Id="rId70" Type="http://schemas.openxmlformats.org/officeDocument/2006/relationships/slide" Target="slides/slide51.xml"/><Relationship Id="rId62" Type="http://schemas.openxmlformats.org/officeDocument/2006/relationships/slide" Target="slides/slide43.xml"/><Relationship Id="rId61" Type="http://schemas.openxmlformats.org/officeDocument/2006/relationships/slide" Target="slides/slide42.xml"/><Relationship Id="rId64" Type="http://schemas.openxmlformats.org/officeDocument/2006/relationships/slide" Target="slides/slide45.xml"/><Relationship Id="rId63" Type="http://schemas.openxmlformats.org/officeDocument/2006/relationships/slide" Target="slides/slide44.xml"/><Relationship Id="rId66" Type="http://schemas.openxmlformats.org/officeDocument/2006/relationships/slide" Target="slides/slide47.xml"/><Relationship Id="rId65" Type="http://schemas.openxmlformats.org/officeDocument/2006/relationships/slide" Target="slides/slide46.xml"/><Relationship Id="rId68" Type="http://schemas.openxmlformats.org/officeDocument/2006/relationships/slide" Target="slides/slide49.xml"/><Relationship Id="rId67" Type="http://schemas.openxmlformats.org/officeDocument/2006/relationships/slide" Target="slides/slide48.xml"/><Relationship Id="rId60" Type="http://schemas.openxmlformats.org/officeDocument/2006/relationships/slide" Target="slides/slide41.xml"/><Relationship Id="rId69" Type="http://schemas.openxmlformats.org/officeDocument/2006/relationships/slide" Target="slides/slide50.xml"/><Relationship Id="rId51" Type="http://schemas.openxmlformats.org/officeDocument/2006/relationships/slide" Target="slides/slide32.xml"/><Relationship Id="rId50" Type="http://schemas.openxmlformats.org/officeDocument/2006/relationships/slide" Target="slides/slide31.xml"/><Relationship Id="rId53" Type="http://schemas.openxmlformats.org/officeDocument/2006/relationships/slide" Target="slides/slide34.xml"/><Relationship Id="rId52" Type="http://schemas.openxmlformats.org/officeDocument/2006/relationships/slide" Target="slides/slide33.xml"/><Relationship Id="rId55" Type="http://schemas.openxmlformats.org/officeDocument/2006/relationships/slide" Target="slides/slide36.xml"/><Relationship Id="rId54" Type="http://schemas.openxmlformats.org/officeDocument/2006/relationships/slide" Target="slides/slide35.xml"/><Relationship Id="rId57" Type="http://schemas.openxmlformats.org/officeDocument/2006/relationships/slide" Target="slides/slide38.xml"/><Relationship Id="rId56" Type="http://schemas.openxmlformats.org/officeDocument/2006/relationships/slide" Target="slides/slide37.xml"/><Relationship Id="rId59" Type="http://schemas.openxmlformats.org/officeDocument/2006/relationships/slide" Target="slides/slide40.xml"/><Relationship Id="rId58" Type="http://schemas.openxmlformats.org/officeDocument/2006/relationships/slide" Target="slides/slide3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26" name="Google Shape;172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32" name="Google Shape;173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45" name="Google Shape;1745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52" name="Google Shape;1752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59" name="Google Shape;175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67" name="Google Shape;176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5" name="Google Shape;177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83" name="Google Shape;1783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90" name="Google Shape;179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97" name="Google Shape;179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4" name="Google Shape;180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36" name="Google Shape;1836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3" name="Google Shape;184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50" name="Google Shape;1850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rt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rt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rt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rt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rt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rt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rt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rt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74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4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5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7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9" name="Google Shape;29;p76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6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5" name="Google Shape;35;p77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7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41" name="Google Shape;41;p108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8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10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8" name="Google Shape;48;p10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10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109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9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0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0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1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rtl="1" algn="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rtl="1" algn="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111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1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rtl="1" algn="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rtl="1" algn="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12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2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3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3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14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4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1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9" name="Google Shape;109;p1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1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11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1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11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21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121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1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1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1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1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1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8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8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8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8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2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1" name="Google Shape;181;p1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7" name="Google Shape;187;p1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1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1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2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2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2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2" name="Google Shape;202;p12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1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32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8" name="Google Shape;218;p132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1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3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13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6" name="Google Shape;226;p1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1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3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1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1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3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p1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1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8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8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8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8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3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3" name="Google Shape;263;p1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1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3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13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9" name="Google Shape;269;p1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1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13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1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1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1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1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0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140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140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p140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140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p1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1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1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14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1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1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14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00" name="Google Shape;300;p14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01" name="Google Shape;301;p1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14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144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144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08" name="Google Shape;308;p1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1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1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4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4" name="Google Shape;314;p1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1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p1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1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1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1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6" name="Google Shape;326;p1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7" name="Google Shape;327;p1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1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1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8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9" name="Google Shape;339;p8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8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8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4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5" name="Google Shape;345;p1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14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14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9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149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1" name="Google Shape;351;p1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14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14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1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7" name="Google Shape;357;p1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8" name="Google Shape;358;p15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15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5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1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151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4" name="Google Shape;364;p151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151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6" name="Google Shape;366;p151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p15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5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15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15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15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15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15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15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15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82" name="Google Shape;382;p15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3" name="Google Shape;383;p15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5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15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5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55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155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90" name="Google Shape;390;p15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15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15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6" name="Google Shape;396;p15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5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15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1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2" name="Google Shape;402;p15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15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15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15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15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9" name="Google Shape;409;p15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15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15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8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1" name="Google Shape;421;p8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2" name="Google Shape;422;p8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8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8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15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8" name="Google Shape;428;p15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15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15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1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4" name="Google Shape;434;p16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16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16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61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161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40" name="Google Shape;440;p16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16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16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16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6" name="Google Shape;446;p16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7" name="Google Shape;447;p16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16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16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3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163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3" name="Google Shape;453;p163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4" name="Google Shape;454;p163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5" name="Google Shape;455;p163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6" name="Google Shape;456;p16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16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16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16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16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6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6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6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6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166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71" name="Google Shape;471;p166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2" name="Google Shape;472;p16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16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16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167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167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9" name="Google Shape;479;p16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16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16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16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5" name="Google Shape;485;p16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16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16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1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1" name="Google Shape;491;p16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16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16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8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3" name="Google Shape;503;p8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4" name="Google Shape;504;p8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8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8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7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17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10" name="Google Shape;510;p17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17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17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17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6" name="Google Shape;516;p17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17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17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72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172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2" name="Google Shape;522;p17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17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17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17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8" name="Google Shape;528;p17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9" name="Google Shape;529;p17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17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17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74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174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5" name="Google Shape;535;p174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6" name="Google Shape;536;p174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7" name="Google Shape;537;p174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8" name="Google Shape;538;p17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17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17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17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17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17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7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17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17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7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177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3" name="Google Shape;553;p177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54" name="Google Shape;554;p17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17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17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7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178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178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1" name="Google Shape;561;p17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17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17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17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7" name="Google Shape;567;p17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17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17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8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18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3" name="Google Shape;573;p18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18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18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4" name="Google Shape;584;p9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5" name="Google Shape;585;p9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6" name="Google Shape;586;p9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9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p9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8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18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92" name="Google Shape;592;p18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8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8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8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8" name="Google Shape;598;p18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9" name="Google Shape;599;p18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p18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83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183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04" name="Google Shape;604;p18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18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8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18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0" name="Google Shape;610;p18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1" name="Google Shape;611;p18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18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18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8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18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7" name="Google Shape;617;p18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8" name="Google Shape;618;p18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9" name="Google Shape;619;p18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0" name="Google Shape;620;p18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18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18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18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6" name="Google Shape;626;p18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7" name="Google Shape;627;p18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8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18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18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8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188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5" name="Google Shape;635;p188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6" name="Google Shape;636;p18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18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18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8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18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18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3" name="Google Shape;643;p18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4" name="Google Shape;644;p18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18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8" name="Google Shape;648;p19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9" name="Google Shape;649;p19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19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1" name="Google Shape;651;p19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19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5" name="Google Shape;655;p19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p19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19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9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7" name="Google Shape;667;p9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9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9" name="Google Shape;669;p9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9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19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73" name="Google Shape;673;p19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19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5" name="Google Shape;675;p19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93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8" name="Google Shape;678;p193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79" name="Google Shape;679;p19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19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1" name="Google Shape;681;p19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19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5" name="Google Shape;685;p19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6" name="Google Shape;686;p19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19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8" name="Google Shape;688;p19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9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1" name="Google Shape;691;p19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2" name="Google Shape;692;p19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3" name="Google Shape;693;p19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4" name="Google Shape;694;p19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5" name="Google Shape;695;p19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6" name="Google Shape;696;p19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19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0" name="Google Shape;700;p19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19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p19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9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19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19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9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198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0" name="Google Shape;710;p198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1" name="Google Shape;711;p19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2" name="Google Shape;712;p19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19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9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6" name="Google Shape;716;p19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19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8" name="Google Shape;718;p19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19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0" name="Google Shape;720;p19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3" name="Google Shape;723;p20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4" name="Google Shape;724;p20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5" name="Google Shape;725;p20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6" name="Google Shape;726;p20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0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9" name="Google Shape;729;p20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0" name="Google Shape;730;p20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1" name="Google Shape;731;p20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2" name="Google Shape;732;p20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5" name="Google Shape;735;p20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6" name="Google Shape;736;p20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7" name="Google Shape;737;p20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p20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9" name="Google Shape;739;p20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8" name="Google Shape;748;p9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9" name="Google Shape;749;p9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9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9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0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p20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55" name="Google Shape;755;p20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20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7" name="Google Shape;757;p20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0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20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61" name="Google Shape;761;p20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20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3" name="Google Shape;763;p20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6" name="Google Shape;766;p20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7" name="Google Shape;767;p20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8" name="Google Shape;768;p20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9" name="Google Shape;769;p20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20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0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20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4" name="Google Shape;774;p20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5" name="Google Shape;775;p20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6" name="Google Shape;776;p20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7" name="Google Shape;777;p20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20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20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2" name="Google Shape;782;p20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3" name="Google Shape;783;p20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20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0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20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8" name="Google Shape;788;p20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0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1" name="Google Shape;791;p209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2" name="Google Shape;792;p209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3" name="Google Shape;793;p20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4" name="Google Shape;794;p20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5" name="Google Shape;795;p20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1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8" name="Google Shape;798;p210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9" name="Google Shape;799;p210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0" name="Google Shape;800;p2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1" name="Google Shape;801;p2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2" name="Google Shape;802;p2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2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5" name="Google Shape;805;p2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6" name="Google Shape;806;p2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2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8" name="Google Shape;808;p2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1" name="Google Shape;811;p2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2" name="Google Shape;812;p2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3" name="Google Shape;813;p2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2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7" name="Google Shape;817;p2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8" name="Google Shape;818;p2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9" name="Google Shape;819;p2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0" name="Google Shape;820;p2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1" name="Google Shape;821;p2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0" name="Google Shape;830;p9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1" name="Google Shape;831;p9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2" name="Google Shape;832;p9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3" name="Google Shape;833;p9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1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6" name="Google Shape;836;p21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7" name="Google Shape;837;p2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8" name="Google Shape;838;p2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9" name="Google Shape;839;p2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15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p215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43" name="Google Shape;843;p2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2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2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8" name="Google Shape;848;p2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9" name="Google Shape;849;p2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0" name="Google Shape;850;p2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1" name="Google Shape;851;p2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2" name="Google Shape;852;p2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17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217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6" name="Google Shape;856;p217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7" name="Google Shape;857;p217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8" name="Google Shape;858;p217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9" name="Google Shape;859;p2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0" name="Google Shape;860;p2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p2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p2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p2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6" name="Google Shape;866;p2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9" name="Google Shape;869;p2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0" name="Google Shape;870;p2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3" name="Google Shape;873;p2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74" name="Google Shape;874;p2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75" name="Google Shape;875;p2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2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2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2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221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1" name="Google Shape;881;p221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2" name="Google Shape;882;p2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3" name="Google Shape;883;p2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4" name="Google Shape;884;p2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7" name="Google Shape;887;p2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8" name="Google Shape;888;p2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9" name="Google Shape;889;p2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0" name="Google Shape;890;p2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3" name="Google Shape;893;p2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4" name="Google Shape;894;p2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5" name="Google Shape;895;p2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6" name="Google Shape;896;p2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9" name="Google Shape;899;p2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0" name="Google Shape;900;p2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1" name="Google Shape;901;p2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2" name="Google Shape;902;p2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3" name="Google Shape;903;p2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2" name="Google Shape;912;p9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3" name="Google Shape;913;p9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4" name="Google Shape;914;p9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5" name="Google Shape;915;p9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10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9" name="Google Shape;919;p10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0" name="Google Shape;920;p10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1" name="Google Shape;921;p10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2" name="Google Shape;922;p10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2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5" name="Google Shape;925;p22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26" name="Google Shape;926;p2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2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8" name="Google Shape;928;p2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2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1" name="Google Shape;931;p22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32" name="Google Shape;932;p2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2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4" name="Google Shape;934;p2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27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7" name="Google Shape;937;p227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38" name="Google Shape;938;p227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9" name="Google Shape;939;p227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40" name="Google Shape;940;p227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1" name="Google Shape;941;p2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2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3" name="Google Shape;943;p2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6" name="Google Shape;946;p2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p2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8" name="Google Shape;948;p2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1" name="Google Shape;951;p2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2" name="Google Shape;952;p2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3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5" name="Google Shape;955;p23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56" name="Google Shape;956;p23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7" name="Google Shape;957;p2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8" name="Google Shape;958;p2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9" name="Google Shape;959;p2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3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231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63" name="Google Shape;963;p231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64" name="Google Shape;964;p2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5" name="Google Shape;965;p2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6" name="Google Shape;966;p2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9" name="Google Shape;969;p2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0" name="Google Shape;970;p2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1" name="Google Shape;971;p2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2" name="Google Shape;972;p2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5" name="Google Shape;975;p2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6" name="Google Shape;976;p2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7" name="Google Shape;977;p2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8" name="Google Shape;978;p2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2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1" name="Google Shape;981;p23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2" name="Google Shape;982;p23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3" name="Google Shape;983;p23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4" name="Google Shape;984;p23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23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4" name="Google Shape;994;p10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5" name="Google Shape;995;p10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p10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p10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3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0" name="Google Shape;1000;p23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01" name="Google Shape;1001;p23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2" name="Google Shape;1002;p23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3" name="Google Shape;1003;p23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23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6" name="Google Shape;1006;p23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07" name="Google Shape;1007;p23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8" name="Google Shape;1008;p23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9" name="Google Shape;1009;p23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2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2" name="Google Shape;1012;p2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3" name="Google Shape;1013;p2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4" name="Google Shape;1014;p23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5" name="Google Shape;1015;p23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6" name="Google Shape;1016;p23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38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9" name="Google Shape;1019;p238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0" name="Google Shape;1020;p238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1" name="Google Shape;1021;p238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2" name="Google Shape;1022;p238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3" name="Google Shape;1023;p2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4" name="Google Shape;1024;p2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5" name="Google Shape;1025;p23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2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8" name="Google Shape;1028;p2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9" name="Google Shape;1029;p2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0" name="Google Shape;1030;p2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2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4" name="Google Shape;1034;p2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24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7" name="Google Shape;1037;p241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38" name="Google Shape;1038;p241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9" name="Google Shape;1039;p2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0" name="Google Shape;1040;p2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1" name="Google Shape;1041;p24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24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4" name="Google Shape;1044;p24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45" name="Google Shape;1045;p24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6" name="Google Shape;1046;p2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7" name="Google Shape;1047;p2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8" name="Google Shape;1048;p2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1" name="Google Shape;1051;p2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2" name="Google Shape;1052;p2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3" name="Google Shape;1053;p2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4" name="Google Shape;1054;p24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7" name="Google Shape;1057;p2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8" name="Google Shape;1058;p2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2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3" name="Google Shape;1063;p24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4" name="Google Shape;1064;p24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5" name="Google Shape;1065;p2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6" name="Google Shape;1066;p2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7" name="Google Shape;1067;p2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6" name="Google Shape;1076;p10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7" name="Google Shape;1077;p10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8" name="Google Shape;1078;p10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9" name="Google Shape;1079;p10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24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2" name="Google Shape;1082;p24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83" name="Google Shape;1083;p2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4" name="Google Shape;1084;p2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5" name="Google Shape;1085;p2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4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8" name="Google Shape;1088;p24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89" name="Google Shape;1089;p2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0" name="Google Shape;1090;p2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1" name="Google Shape;1091;p2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2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4" name="Google Shape;1094;p24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5" name="Google Shape;1095;p24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6" name="Google Shape;1096;p2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7" name="Google Shape;1097;p24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8" name="Google Shape;1098;p24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24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1" name="Google Shape;1101;p24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2" name="Google Shape;1102;p24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3" name="Google Shape;1103;p24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4" name="Google Shape;1104;p24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5" name="Google Shape;1105;p2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6" name="Google Shape;1106;p24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7" name="Google Shape;1107;p24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0" name="Google Shape;1110;p25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1" name="Google Shape;1111;p25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2" name="Google Shape;1112;p25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25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25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6" name="Google Shape;1116;p25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5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9" name="Google Shape;1119;p252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20" name="Google Shape;1120;p252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21" name="Google Shape;1121;p25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2" name="Google Shape;1122;p25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3" name="Google Shape;1123;p25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25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6" name="Google Shape;1126;p25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27" name="Google Shape;1127;p25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28" name="Google Shape;1128;p25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9" name="Google Shape;1129;p25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25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2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25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4" name="Google Shape;1134;p25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5" name="Google Shape;1135;p25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6" name="Google Shape;1136;p25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25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9" name="Google Shape;1139;p25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0" name="Google Shape;1140;p25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1" name="Google Shape;1141;p25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2" name="Google Shape;1142;p25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5" name="Google Shape;1145;p25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6" name="Google Shape;1146;p25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7" name="Google Shape;1147;p25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8" name="Google Shape;1148;p25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9" name="Google Shape;1149;p25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0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8" name="Google Shape;1158;p10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9" name="Google Shape;1159;p10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0" name="Google Shape;1160;p10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1" name="Google Shape;1161;p10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4" name="Google Shape;1164;p10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5" name="Google Shape;1165;p10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6" name="Google Shape;1166;p10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10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10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57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1" name="Google Shape;1171;p257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72" name="Google Shape;1172;p25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3" name="Google Shape;1173;p25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4" name="Google Shape;1174;p25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25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7" name="Google Shape;1177;p25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78" name="Google Shape;1178;p25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9" name="Google Shape;1179;p25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0" name="Google Shape;1180;p25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25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3" name="Google Shape;1183;p25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4" name="Google Shape;1184;p25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5" name="Google Shape;1185;p25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6" name="Google Shape;1186;p25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7" name="Google Shape;1187;p25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8" name="Google Shape;1188;p25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9" name="Google Shape;1189;p25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2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2" name="Google Shape;1192;p26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p26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4" name="Google Shape;1194;p26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26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7" name="Google Shape;1197;p26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8" name="Google Shape;1198;p26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26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1" name="Google Shape;1201;p262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02" name="Google Shape;1202;p262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03" name="Google Shape;1203;p26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4" name="Google Shape;1204;p26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5" name="Google Shape;1205;p26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6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8" name="Google Shape;1208;p26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09" name="Google Shape;1209;p26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0" name="Google Shape;1210;p26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1" name="Google Shape;1211;p26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2" name="Google Shape;1212;p26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2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5" name="Google Shape;1215;p26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6" name="Google Shape;1216;p26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7" name="Google Shape;1217;p26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26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26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6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2" name="Google Shape;1222;p26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3" name="Google Shape;1223;p26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4" name="Google Shape;1224;p26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2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6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8" name="Google Shape;1228;p26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9" name="Google Shape;1229;p26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6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1" name="Google Shape;1231;p26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1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7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5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8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3" Type="http://schemas.openxmlformats.org/officeDocument/2006/relationships/theme" Target="../theme/theme11.xml"/><Relationship Id="rId1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/Relationships>
</file>

<file path=ppt/slideMasters/_rels/slideMaster8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/Relationships>
</file>

<file path=ppt/slideMasters/_rels/slideMaster9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5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/Relationships>
</file>

<file path=ppt/slideMasters/_rels/slideMaster10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17.xml"/><Relationship Id="rId13" Type="http://schemas.openxmlformats.org/officeDocument/2006/relationships/theme" Target="../theme/theme16.xml"/><Relationship Id="rId1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/Relationships>
</file>

<file path=ppt/slideMasters/_rels/slideMaster1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3" Type="http://schemas.openxmlformats.org/officeDocument/2006/relationships/theme" Target="../theme/theme10.xml"/><Relationship Id="rId1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/Relationships>
</file>

<file path=ppt/slideMasters/_rels/slideMaster1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14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/Relationships>
</file>

<file path=ppt/slideMasters/_rels/slideMaster1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3" Type="http://schemas.openxmlformats.org/officeDocument/2006/relationships/theme" Target="../theme/theme12.xml"/><Relationship Id="rId1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/Relationships>
</file>

<file path=ppt/slideMasters/_rels/slideMaster1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5.xml"/><Relationship Id="rId13" Type="http://schemas.openxmlformats.org/officeDocument/2006/relationships/theme" Target="../theme/theme9.xml"/><Relationship Id="rId1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/Relationships>
</file>

<file path=ppt/slideMasters/_rels/slideMaster1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78.xml"/><Relationship Id="rId10" Type="http://schemas.openxmlformats.org/officeDocument/2006/relationships/slideLayout" Target="../slideLayouts/slideLayout177.xml"/><Relationship Id="rId13" Type="http://schemas.openxmlformats.org/officeDocument/2006/relationships/theme" Target="../theme/theme14.xml"/><Relationship Id="rId12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3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3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7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7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7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7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8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8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8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8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8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8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8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3" name="Google Shape;253;p8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2" name="Google Shape;332;p8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p8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4" name="Google Shape;334;p8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8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4" name="Google Shape;414;p8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" name="Google Shape;415;p8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6" name="Google Shape;416;p8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7" name="Google Shape;417;p8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6" name="Google Shape;496;p8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7" name="Google Shape;497;p8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8" name="Google Shape;498;p8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9" name="Google Shape;499;p8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8" name="Google Shape;578;p9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9" name="Google Shape;579;p9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0" name="Google Shape;580;p9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1" name="Google Shape;581;p9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0" name="Google Shape;660;p9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1" name="Google Shape;661;p9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2" name="Google Shape;662;p9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3" name="Google Shape;663;p9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2" name="Google Shape;742;p9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3" name="Google Shape;743;p9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4" name="Google Shape;744;p9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5" name="Google Shape;745;p9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4" name="Google Shape;824;p9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5" name="Google Shape;825;p9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6" name="Google Shape;826;p9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7" name="Google Shape;827;p9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6" name="Google Shape;906;p9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7" name="Google Shape;907;p9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8" name="Google Shape;908;p9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9" name="Google Shape;909;p9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8" name="Google Shape;988;p10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9" name="Google Shape;989;p10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0" name="Google Shape;990;p10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1" name="Google Shape;991;p10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0" name="Google Shape;1070;p10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1" name="Google Shape;1071;p10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2" name="Google Shape;1072;p10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3" name="Google Shape;1073;p10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99"/>
        </a:solidFill>
      </p:bgPr>
    </p:bg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2" name="Google Shape;1152;p10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3" name="Google Shape;1153;p10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4" name="Google Shape;1154;p10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5" name="Google Shape;1155;p10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1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gif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jpg"/><Relationship Id="rId4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Relationship Id="rId4" Type="http://schemas.openxmlformats.org/officeDocument/2006/relationships/image" Target="../media/image4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jpg"/><Relationship Id="rId4" Type="http://schemas.openxmlformats.org/officeDocument/2006/relationships/image" Target="../media/image3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9.gif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5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5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5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4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0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8.jpg"/><Relationship Id="rId4" Type="http://schemas.openxmlformats.org/officeDocument/2006/relationships/image" Target="../media/image56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4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7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0.gif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2.gif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6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9.gif"/><Relationship Id="rId4" Type="http://schemas.openxmlformats.org/officeDocument/2006/relationships/image" Target="../media/image5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"/>
          <p:cNvSpPr txBox="1"/>
          <p:nvPr>
            <p:ph type="ctrTitle"/>
          </p:nvPr>
        </p:nvSpPr>
        <p:spPr>
          <a:xfrm>
            <a:off x="250825" y="1196975"/>
            <a:ext cx="8893175" cy="2403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Bodoni"/>
                <a:ea typeface="Bodoni"/>
                <a:cs typeface="Bodoni"/>
                <a:sym typeface="Bodoni"/>
              </a:rPr>
              <a:t>ANATOMY OF THE FACE</a:t>
            </a:r>
            <a:endParaRPr sz="6000"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1237" name="Google Shape;1237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DR OMOTAYO H 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2"/>
          <p:cNvSpPr/>
          <p:nvPr/>
        </p:nvSpPr>
        <p:spPr>
          <a:xfrm>
            <a:off x="395288" y="620713"/>
            <a:ext cx="2160587" cy="100806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800"/>
              <a:buFont typeface="Anton"/>
              <a:buNone/>
            </a:pPr>
            <a:r>
              <a:rPr b="1" i="1" lang="en-US" sz="2800" u="sng" cap="none" strike="noStrike">
                <a:solidFill>
                  <a:srgbClr val="FF3399"/>
                </a:solidFill>
                <a:latin typeface="Anton"/>
                <a:ea typeface="Anton"/>
                <a:cs typeface="Anton"/>
                <a:sym typeface="Anton"/>
              </a:rPr>
              <a:t>Skin of the face</a:t>
            </a:r>
            <a:endParaRPr/>
          </a:p>
        </p:txBody>
      </p:sp>
      <p:sp>
        <p:nvSpPr>
          <p:cNvPr id="1243" name="Google Shape;1243;p2"/>
          <p:cNvSpPr txBox="1"/>
          <p:nvPr/>
        </p:nvSpPr>
        <p:spPr>
          <a:xfrm>
            <a:off x="3348038" y="549275"/>
            <a:ext cx="554513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Char char="•"/>
            </a:pPr>
            <a:r>
              <a:rPr b="1" i="1" lang="en-US" sz="32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Very vascular,rich in sweat&amp; sebaceous glands .</a:t>
            </a:r>
            <a:endParaRPr/>
          </a:p>
        </p:txBody>
      </p:sp>
      <p:sp>
        <p:nvSpPr>
          <p:cNvPr id="1244" name="Google Shape;1244;p2"/>
          <p:cNvSpPr txBox="1"/>
          <p:nvPr/>
        </p:nvSpPr>
        <p:spPr>
          <a:xfrm>
            <a:off x="3419475" y="1844675"/>
            <a:ext cx="5329238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Char char="•"/>
            </a:pPr>
            <a:r>
              <a:rPr b="1" i="1" lang="en-US" sz="32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Receives the  insertion of facial muscles . </a:t>
            </a:r>
            <a:endParaRPr/>
          </a:p>
        </p:txBody>
      </p:sp>
      <p:sp>
        <p:nvSpPr>
          <p:cNvPr id="1245" name="Google Shape;1245;p2"/>
          <p:cNvSpPr/>
          <p:nvPr/>
        </p:nvSpPr>
        <p:spPr>
          <a:xfrm>
            <a:off x="539750" y="3429000"/>
            <a:ext cx="2447925" cy="9366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800"/>
              <a:buFont typeface="Anton"/>
              <a:buNone/>
            </a:pPr>
            <a:r>
              <a:rPr b="1" i="1" lang="en-US" sz="2800" u="sng" cap="none" strike="noStrike">
                <a:solidFill>
                  <a:srgbClr val="FF3399"/>
                </a:solidFill>
                <a:latin typeface="Anton"/>
                <a:ea typeface="Anton"/>
                <a:cs typeface="Anton"/>
                <a:sym typeface="Anton"/>
              </a:rPr>
              <a:t>Superficial fascia</a:t>
            </a:r>
            <a:endParaRPr/>
          </a:p>
        </p:txBody>
      </p:sp>
      <p:sp>
        <p:nvSpPr>
          <p:cNvPr id="1246" name="Google Shape;1246;p2"/>
          <p:cNvSpPr txBox="1"/>
          <p:nvPr/>
        </p:nvSpPr>
        <p:spPr>
          <a:xfrm>
            <a:off x="2555875" y="2276475"/>
            <a:ext cx="4752975" cy="100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"/>
          <p:cNvSpPr txBox="1"/>
          <p:nvPr/>
        </p:nvSpPr>
        <p:spPr>
          <a:xfrm>
            <a:off x="3132138" y="3213100"/>
            <a:ext cx="5761037" cy="1798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 sz="3200" u="sng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Contains :-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Libre Baskerville"/>
              <a:buNone/>
            </a:pPr>
            <a:r>
              <a:rPr b="1" i="1" lang="en-US" sz="3200" u="none" cap="none" strike="noStrike">
                <a:solidFill>
                  <a:srgbClr val="FF33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muscles</a:t>
            </a:r>
            <a:r>
              <a:rPr b="1" i="1" lang="en-US" sz="32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,vessels &amp; nerves &amp; fat</a:t>
            </a:r>
            <a:r>
              <a:rPr b="1" i="1" lang="en-US" sz="32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/>
          </a:p>
        </p:txBody>
      </p:sp>
      <p:sp>
        <p:nvSpPr>
          <p:cNvPr id="1248" name="Google Shape;1248;p2"/>
          <p:cNvSpPr/>
          <p:nvPr/>
        </p:nvSpPr>
        <p:spPr>
          <a:xfrm>
            <a:off x="468313" y="5229225"/>
            <a:ext cx="2232025" cy="865188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3200"/>
              <a:buFont typeface="Anton"/>
              <a:buNone/>
            </a:pPr>
            <a:r>
              <a:rPr b="1" i="1" lang="en-US" sz="3200" u="sng" cap="none" strike="noStrike">
                <a:solidFill>
                  <a:srgbClr val="FF3399"/>
                </a:solidFill>
                <a:latin typeface="Anton"/>
                <a:ea typeface="Anton"/>
                <a:cs typeface="Anton"/>
                <a:sym typeface="Anton"/>
              </a:rPr>
              <a:t>Deep fascia</a:t>
            </a:r>
            <a:endParaRPr/>
          </a:p>
        </p:txBody>
      </p:sp>
      <p:sp>
        <p:nvSpPr>
          <p:cNvPr id="1249" name="Google Shape;1249;p2"/>
          <p:cNvSpPr txBox="1"/>
          <p:nvPr/>
        </p:nvSpPr>
        <p:spPr>
          <a:xfrm>
            <a:off x="3059113" y="5373688"/>
            <a:ext cx="49688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 sz="32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ABSENT except ………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Face </a:t>
            </a:r>
            <a:endParaRPr/>
          </a:p>
        </p:txBody>
      </p:sp>
      <p:sp>
        <p:nvSpPr>
          <p:cNvPr id="1255" name="Google Shape;1255;p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Sensory supply of face is trigeminal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5</a:t>
            </a:r>
            <a:r>
              <a:rPr baseline="30000" lang="en-US" sz="2400">
                <a:solidFill>
                  <a:srgbClr val="000000"/>
                </a:solidFill>
              </a:rPr>
              <a:t>th</a:t>
            </a:r>
            <a:r>
              <a:rPr lang="en-US" sz="2400">
                <a:solidFill>
                  <a:srgbClr val="000000"/>
                </a:solidFill>
              </a:rPr>
              <a:t> cranial nerve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C2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Motor supply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Muscles of facial expression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Facial nerve 7</a:t>
            </a:r>
            <a:r>
              <a:rPr baseline="30000" lang="en-US" sz="2400">
                <a:solidFill>
                  <a:srgbClr val="000000"/>
                </a:solidFill>
              </a:rPr>
              <a:t>th</a:t>
            </a:r>
            <a:r>
              <a:rPr lang="en-US" sz="2400">
                <a:solidFill>
                  <a:srgbClr val="000000"/>
                </a:solidFill>
              </a:rPr>
              <a:t> cranial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56" name="Google Shape;1256;p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Ant Face" id="1257" name="Google Shape;12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28775"/>
            <a:ext cx="4038600" cy="4497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Scalp </a:t>
            </a:r>
            <a:endParaRPr/>
          </a:p>
        </p:txBody>
      </p:sp>
      <p:sp>
        <p:nvSpPr>
          <p:cNvPr id="1263" name="Google Shape;1263;p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Skin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Subcutaneous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Epicranial aponeurosis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Three fused together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Loose areolar tissue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Periosteum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Occipito-frontalis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Attached posteriorly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No anterior attachment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64" name="Google Shape;1264;p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M Facial Exp" id="1265" name="Google Shape;12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417651"/>
            <a:ext cx="4038600" cy="454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5"/>
          <p:cNvSpPr txBox="1"/>
          <p:nvPr>
            <p:ph type="title"/>
          </p:nvPr>
        </p:nvSpPr>
        <p:spPr>
          <a:xfrm>
            <a:off x="457200" y="274638"/>
            <a:ext cx="8229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Scalp </a:t>
            </a:r>
            <a:endParaRPr/>
          </a:p>
        </p:txBody>
      </p:sp>
      <p:sp>
        <p:nvSpPr>
          <p:cNvPr id="1271" name="Google Shape;1271;p5"/>
          <p:cNvSpPr txBox="1"/>
          <p:nvPr>
            <p:ph idx="1" type="body"/>
          </p:nvPr>
        </p:nvSpPr>
        <p:spPr>
          <a:xfrm>
            <a:off x="457200" y="1196975"/>
            <a:ext cx="4038600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Occipital portion of occipito-frontals and epicranial aponeurosis attached to bone posterior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Frontal no bony attachment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Scalp wounds cause black eyes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Occipital belly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Posterior auricular of facial nerve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Frontal belly by temporal of facial nerve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72" name="Google Shape;127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Lat facial mus" id="1273" name="Google Shape;12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6100" y="1341438"/>
            <a:ext cx="4330700" cy="5183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6"/>
          <p:cNvSpPr txBox="1"/>
          <p:nvPr>
            <p:ph type="title"/>
          </p:nvPr>
        </p:nvSpPr>
        <p:spPr>
          <a:xfrm>
            <a:off x="457200" y="274638"/>
            <a:ext cx="85074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Blood and Nerve supply of scalp </a:t>
            </a:r>
            <a:endParaRPr/>
          </a:p>
        </p:txBody>
      </p:sp>
      <p:sp>
        <p:nvSpPr>
          <p:cNvPr id="1279" name="Google Shape;127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Supraorbital vessels and nerve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Scalp as far as vertex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Posterior scalp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Greater occipital C2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Occipital and posterior auricular vessels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Zygomatico temporal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Greater auricular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008C"/>
              </a:buClr>
              <a:buSzPts val="2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80" name="Google Shape;128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Vessels face" id="1281" name="Google Shape;12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2800" y="1600200"/>
            <a:ext cx="40640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Eyelid </a:t>
            </a:r>
            <a:endParaRPr/>
          </a:p>
        </p:txBody>
      </p:sp>
      <p:sp>
        <p:nvSpPr>
          <p:cNvPr id="1287" name="Google Shape;1287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Skin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Orbicularis oculi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Palpebral portion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Orbital septum and tarsal plates, mebonium glands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Medial palpebral ligament anchors tarsal plates to anterior lacrimal crest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Conjunctival sac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88" name="Google Shape;1288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Eyelids" id="1289" name="Google Shape;12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9788" y="1600200"/>
            <a:ext cx="4386262" cy="485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Levator Palpebrae Superioris</a:t>
            </a:r>
            <a:endParaRPr/>
          </a:p>
        </p:txBody>
      </p:sp>
      <p:sp>
        <p:nvSpPr>
          <p:cNvPr id="1295" name="Google Shape;129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Arises from back of roof of orbit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Inserted into skin of upper eyelid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The superior tarsal plate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Superior fornix of conjunctiva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6" name="Google Shape;129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Recti musc" id="1297" name="Google Shape;12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7725" y="1585913"/>
            <a:ext cx="4029075" cy="45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Levator Palpebrae Superioris</a:t>
            </a:r>
            <a:endParaRPr/>
          </a:p>
        </p:txBody>
      </p:sp>
      <p:sp>
        <p:nvSpPr>
          <p:cNvPr id="1303" name="Google Shape;1303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Elevates upper eyelid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Voluntary muscle supplied by 3</a:t>
            </a:r>
            <a:r>
              <a:rPr baseline="30000" lang="en-US" sz="2400">
                <a:solidFill>
                  <a:srgbClr val="000000"/>
                </a:solidFill>
              </a:rPr>
              <a:t>rd</a:t>
            </a:r>
            <a:r>
              <a:rPr lang="en-US" sz="2400">
                <a:solidFill>
                  <a:srgbClr val="000000"/>
                </a:solidFill>
              </a:rPr>
              <a:t> oculomotor nerve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Smooth muscle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Sympathetic T1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Superior cervical ganglion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4" name="Google Shape;1304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Recti musc" id="1305" name="Google Shape;13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5338" y="1600200"/>
            <a:ext cx="4081462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Lacrimal Apparatus</a:t>
            </a:r>
            <a:endParaRPr/>
          </a:p>
        </p:txBody>
      </p:sp>
      <p:sp>
        <p:nvSpPr>
          <p:cNvPr id="1311" name="Google Shape;131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Lacrimal gland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Conjunctival sac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Puncta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Cananiculi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Nasolacrimal sac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Nasolacrimal duct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Inferior meatus nose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12" name="Google Shape;131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Lacrimal appar" id="1313" name="Google Shape;13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Muscles of Facial Expression</a:t>
            </a:r>
            <a:endParaRPr/>
          </a:p>
        </p:txBody>
      </p:sp>
      <p:sp>
        <p:nvSpPr>
          <p:cNvPr id="1319" name="Google Shape;1319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Muscles of second branchial arch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Nerve second arch is facial nerve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Inserted into skin of face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Buccal pad of fat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No deep fascia in face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Except around parotid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Parotid duct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20" name="Google Shape;1320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Face &amp; scalp" id="1321" name="Google Shape;13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2963" y="1600200"/>
            <a:ext cx="4033837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Orbicularis Oculi</a:t>
            </a:r>
            <a:endParaRPr/>
          </a:p>
        </p:txBody>
      </p:sp>
      <p:sp>
        <p:nvSpPr>
          <p:cNvPr id="1327" name="Google Shape;1327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Orbital closes eyelid tightly, buries eyelashes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Makes conjunctival sac smaller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Finer palpebral portion in eyelid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Anterior to tarsal plate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Closes eye in blinking and sleep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No action on conjunctival sac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28" name="Google Shape;1328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Facial musc" id="1329" name="Google Shape;13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6613" y="1582738"/>
            <a:ext cx="4040187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Muscles of Facial Expression</a:t>
            </a:r>
            <a:endParaRPr/>
          </a:p>
        </p:txBody>
      </p:sp>
      <p:sp>
        <p:nvSpPr>
          <p:cNvPr id="1335" name="Google Shape;13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Occipito frontalis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Orbicularis oculi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Orbicularis oris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Buccinator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Platysma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Skin of face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Incisions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6" name="Google Shape;13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Facial musc" id="1337" name="Google Shape;13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175" y="1600200"/>
            <a:ext cx="4619625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Muscles of Facial Expression</a:t>
            </a:r>
            <a:endParaRPr/>
          </a:p>
        </p:txBody>
      </p:sp>
      <p:sp>
        <p:nvSpPr>
          <p:cNvPr id="1343" name="Google Shape;1343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Orbicularis oris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Intrinsic: origin and insertion inside, only alters shape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Extrinsic: origin outside, alters position 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44" name="Google Shape;1344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orbicularis oris" id="1345" name="Google Shape;13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Muscles of Facial Expression</a:t>
            </a:r>
            <a:endParaRPr/>
          </a:p>
        </p:txBody>
      </p:sp>
      <p:sp>
        <p:nvSpPr>
          <p:cNvPr id="1351" name="Google Shape;135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Incisions in the face evert edges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Platysma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Inserted into lower border of mandible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Posterior fibres form risorius</a:t>
            </a:r>
            <a:endParaRPr sz="2400">
              <a:solidFill>
                <a:srgbClr val="000000"/>
              </a:solidFill>
            </a:endParaRPr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52" name="Google Shape;135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M Facial Exp" id="1353" name="Google Shape;13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Buccinator</a:t>
            </a:r>
            <a:endParaRPr/>
          </a:p>
        </p:txBody>
      </p:sp>
      <p:sp>
        <p:nvSpPr>
          <p:cNvPr id="1359" name="Google Shape;1359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Buccinator 7</a:t>
            </a:r>
            <a:r>
              <a:rPr baseline="30000" lang="en-US" sz="2400">
                <a:solidFill>
                  <a:srgbClr val="000000"/>
                </a:solidFill>
              </a:rPr>
              <a:t>th</a:t>
            </a:r>
            <a:r>
              <a:rPr lang="en-US" sz="2400">
                <a:solidFill>
                  <a:srgbClr val="000000"/>
                </a:solidFill>
              </a:rPr>
              <a:t> nerve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Accessory muscle of mastication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Outer aspect of maxilla and mandible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Related to molar teeth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Pterygomandibular raphe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Action keeps food out of vestibule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Sucking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Blowing trumpet</a:t>
            </a:r>
            <a:endParaRPr/>
          </a:p>
          <a:p>
            <a:pPr indent="-165100" lvl="0" marL="3429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60" name="Google Shape;1360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Buccinator" id="1361" name="Google Shape;13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e veins" id="1366" name="Google Shape;1366;p17"/>
          <p:cNvPicPr preferRelativeResize="0"/>
          <p:nvPr/>
        </p:nvPicPr>
        <p:blipFill rotWithShape="1">
          <a:blip r:embed="rId3">
            <a:alphaModFix/>
          </a:blip>
          <a:srcRect b="23761" l="24722" r="34093" t="10342"/>
          <a:stretch/>
        </p:blipFill>
        <p:spPr>
          <a:xfrm>
            <a:off x="755650" y="0"/>
            <a:ext cx="5715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7"/>
          <p:cNvSpPr txBox="1"/>
          <p:nvPr/>
        </p:nvSpPr>
        <p:spPr>
          <a:xfrm>
            <a:off x="0" y="1412875"/>
            <a:ext cx="19081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17"/>
          <p:cNvSpPr txBox="1"/>
          <p:nvPr/>
        </p:nvSpPr>
        <p:spPr>
          <a:xfrm>
            <a:off x="0" y="1185863"/>
            <a:ext cx="21955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69" name="Google Shape;1369;p17"/>
          <p:cNvSpPr txBox="1"/>
          <p:nvPr/>
        </p:nvSpPr>
        <p:spPr>
          <a:xfrm>
            <a:off x="6877050" y="1412875"/>
            <a:ext cx="1798638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 sz="32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Auricle</a:t>
            </a:r>
            <a:endParaRPr/>
          </a:p>
        </p:txBody>
      </p:sp>
      <p:cxnSp>
        <p:nvCxnSpPr>
          <p:cNvPr id="1370" name="Google Shape;1370;p17"/>
          <p:cNvCxnSpPr/>
          <p:nvPr/>
        </p:nvCxnSpPr>
        <p:spPr>
          <a:xfrm flipH="1">
            <a:off x="4427538" y="1916113"/>
            <a:ext cx="2449512" cy="1728787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1" name="Google Shape;1371;p17"/>
          <p:cNvSpPr txBox="1"/>
          <p:nvPr/>
        </p:nvSpPr>
        <p:spPr>
          <a:xfrm>
            <a:off x="6588125" y="3141663"/>
            <a:ext cx="223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1" lang="en-US" sz="24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Parotid gland</a:t>
            </a:r>
            <a:endParaRPr/>
          </a:p>
        </p:txBody>
      </p:sp>
      <p:cxnSp>
        <p:nvCxnSpPr>
          <p:cNvPr id="1372" name="Google Shape;1372;p17"/>
          <p:cNvCxnSpPr/>
          <p:nvPr/>
        </p:nvCxnSpPr>
        <p:spPr>
          <a:xfrm flipH="1">
            <a:off x="3779838" y="3500438"/>
            <a:ext cx="2736850" cy="865187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3" name="Google Shape;1373;p17"/>
          <p:cNvSpPr txBox="1"/>
          <p:nvPr/>
        </p:nvSpPr>
        <p:spPr>
          <a:xfrm>
            <a:off x="6516688" y="4724400"/>
            <a:ext cx="2160587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 sz="32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Masseter</a:t>
            </a:r>
            <a:endParaRPr/>
          </a:p>
        </p:txBody>
      </p:sp>
      <p:cxnSp>
        <p:nvCxnSpPr>
          <p:cNvPr id="1374" name="Google Shape;1374;p17"/>
          <p:cNvCxnSpPr/>
          <p:nvPr/>
        </p:nvCxnSpPr>
        <p:spPr>
          <a:xfrm rot="10800000">
            <a:off x="3203575" y="4652963"/>
            <a:ext cx="3313113" cy="360362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5" name="Google Shape;1375;p17"/>
          <p:cNvSpPr txBox="1"/>
          <p:nvPr/>
        </p:nvSpPr>
        <p:spPr>
          <a:xfrm>
            <a:off x="250825" y="5084763"/>
            <a:ext cx="2305050" cy="5889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 sz="32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vessels</a:t>
            </a:r>
            <a:endParaRPr/>
          </a:p>
        </p:txBody>
      </p:sp>
      <p:cxnSp>
        <p:nvCxnSpPr>
          <p:cNvPr id="1376" name="Google Shape;1376;p17"/>
          <p:cNvCxnSpPr/>
          <p:nvPr/>
        </p:nvCxnSpPr>
        <p:spPr>
          <a:xfrm flipH="1" rot="10800000">
            <a:off x="1547813" y="4581525"/>
            <a:ext cx="792162" cy="503238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7" name="Google Shape;1377;p17"/>
          <p:cNvCxnSpPr/>
          <p:nvPr/>
        </p:nvCxnSpPr>
        <p:spPr>
          <a:xfrm flipH="1" rot="10800000">
            <a:off x="1547813" y="4652963"/>
            <a:ext cx="1368425" cy="431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8" name="Google Shape;1378;p17"/>
          <p:cNvCxnSpPr/>
          <p:nvPr/>
        </p:nvCxnSpPr>
        <p:spPr>
          <a:xfrm>
            <a:off x="3203575" y="3716338"/>
            <a:ext cx="73025" cy="360362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9" name="Google Shape;1379;p17"/>
          <p:cNvSpPr txBox="1"/>
          <p:nvPr/>
        </p:nvSpPr>
        <p:spPr>
          <a:xfrm>
            <a:off x="468313" y="2924175"/>
            <a:ext cx="1655762" cy="4667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1" lang="en-US" sz="24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Buccinator</a:t>
            </a:r>
            <a:endParaRPr/>
          </a:p>
        </p:txBody>
      </p:sp>
      <p:cxnSp>
        <p:nvCxnSpPr>
          <p:cNvPr id="1380" name="Google Shape;1380;p17"/>
          <p:cNvCxnSpPr/>
          <p:nvPr/>
        </p:nvCxnSpPr>
        <p:spPr>
          <a:xfrm>
            <a:off x="1547813" y="3429000"/>
            <a:ext cx="1008062" cy="863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miley-face" id="1385" name="Google Shape;13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260350"/>
            <a:ext cx="6337300" cy="63373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Narrow vertical" id="1386" name="Google Shape;1386;p18"/>
          <p:cNvSpPr/>
          <p:nvPr/>
        </p:nvSpPr>
        <p:spPr>
          <a:xfrm>
            <a:off x="684213" y="908050"/>
            <a:ext cx="8135937" cy="424973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 Black"/>
              </a:rPr>
              <a:t>Blood Supply of</a:t>
            </a:r>
            <a:br>
              <a:rPr b="0" i="0"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 Black"/>
              </a:rPr>
            </a:br>
            <a:r>
              <a:rPr b="0" i="0"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 Black"/>
              </a:rPr>
              <a:t>the Face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miley-face-wallpaper-006" id="1391" name="Google Shape;13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9"/>
          <p:cNvSpPr/>
          <p:nvPr/>
        </p:nvSpPr>
        <p:spPr>
          <a:xfrm>
            <a:off x="900113" y="1557338"/>
            <a:ext cx="4319587" cy="25193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2700">
                  <a:solidFill>
                    <a:srgbClr val="EAEAEA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0"/>
                </a:gradFill>
                <a:latin typeface="Arial Black"/>
              </a:rPr>
              <a:t>Arteries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e 2" id="1397" name="Google Shape;1397;p20"/>
          <p:cNvPicPr preferRelativeResize="0"/>
          <p:nvPr/>
        </p:nvPicPr>
        <p:blipFill rotWithShape="1">
          <a:blip r:embed="rId3">
            <a:alphaModFix/>
          </a:blip>
          <a:srcRect b="29529" l="27527" r="37952" t="11510"/>
          <a:stretch/>
        </p:blipFill>
        <p:spPr>
          <a:xfrm>
            <a:off x="1835150" y="0"/>
            <a:ext cx="53530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20"/>
          <p:cNvSpPr txBox="1"/>
          <p:nvPr/>
        </p:nvSpPr>
        <p:spPr>
          <a:xfrm>
            <a:off x="7308850" y="5445125"/>
            <a:ext cx="15113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0" lang="en-US" sz="28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A.</a:t>
            </a:r>
            <a:endParaRPr/>
          </a:p>
        </p:txBody>
      </p:sp>
      <p:cxnSp>
        <p:nvCxnSpPr>
          <p:cNvPr id="1399" name="Google Shape;1399;p20"/>
          <p:cNvCxnSpPr/>
          <p:nvPr/>
        </p:nvCxnSpPr>
        <p:spPr>
          <a:xfrm rot="10800000">
            <a:off x="5435600" y="5157788"/>
            <a:ext cx="1800225" cy="576262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0" name="Google Shape;1400;p20"/>
          <p:cNvSpPr txBox="1"/>
          <p:nvPr/>
        </p:nvSpPr>
        <p:spPr>
          <a:xfrm>
            <a:off x="6732588" y="549275"/>
            <a:ext cx="216058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Superficial temporal A.</a:t>
            </a:r>
            <a:endParaRPr/>
          </a:p>
        </p:txBody>
      </p:sp>
      <p:cxnSp>
        <p:nvCxnSpPr>
          <p:cNvPr id="1401" name="Google Shape;1401;p20"/>
          <p:cNvCxnSpPr/>
          <p:nvPr/>
        </p:nvCxnSpPr>
        <p:spPr>
          <a:xfrm flipH="1">
            <a:off x="6443663" y="1341438"/>
            <a:ext cx="1441450" cy="1800225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2" name="Google Shape;1402;p20"/>
          <p:cNvSpPr txBox="1"/>
          <p:nvPr/>
        </p:nvSpPr>
        <p:spPr>
          <a:xfrm>
            <a:off x="395288" y="476250"/>
            <a:ext cx="2520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Supraorbital A.</a:t>
            </a:r>
            <a:endParaRPr/>
          </a:p>
        </p:txBody>
      </p:sp>
      <p:cxnSp>
        <p:nvCxnSpPr>
          <p:cNvPr id="1403" name="Google Shape;1403;p20"/>
          <p:cNvCxnSpPr/>
          <p:nvPr/>
        </p:nvCxnSpPr>
        <p:spPr>
          <a:xfrm>
            <a:off x="1403350" y="836613"/>
            <a:ext cx="2592388" cy="1512887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4" name="Google Shape;1404;p20"/>
          <p:cNvSpPr txBox="1"/>
          <p:nvPr/>
        </p:nvSpPr>
        <p:spPr>
          <a:xfrm>
            <a:off x="323850" y="5373688"/>
            <a:ext cx="2519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Infraorbital A.</a:t>
            </a:r>
            <a:endParaRPr/>
          </a:p>
        </p:txBody>
      </p:sp>
      <p:cxnSp>
        <p:nvCxnSpPr>
          <p:cNvPr id="1405" name="Google Shape;1405;p20"/>
          <p:cNvCxnSpPr/>
          <p:nvPr/>
        </p:nvCxnSpPr>
        <p:spPr>
          <a:xfrm flipH="1" rot="10800000">
            <a:off x="2411413" y="3933825"/>
            <a:ext cx="1152525" cy="1655763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6" name="Google Shape;1406;p20"/>
          <p:cNvSpPr txBox="1"/>
          <p:nvPr/>
        </p:nvSpPr>
        <p:spPr>
          <a:xfrm>
            <a:off x="395288" y="3068638"/>
            <a:ext cx="216058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Supratrochlear A.</a:t>
            </a:r>
            <a:endParaRPr/>
          </a:p>
        </p:txBody>
      </p:sp>
      <p:cxnSp>
        <p:nvCxnSpPr>
          <p:cNvPr id="1407" name="Google Shape;1407;p20"/>
          <p:cNvCxnSpPr/>
          <p:nvPr/>
        </p:nvCxnSpPr>
        <p:spPr>
          <a:xfrm flipH="1" rot="10800000">
            <a:off x="2484438" y="2708275"/>
            <a:ext cx="1800225" cy="649288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8" name="Google Shape;1408;p20"/>
          <p:cNvSpPr/>
          <p:nvPr/>
        </p:nvSpPr>
        <p:spPr>
          <a:xfrm>
            <a:off x="4767263" y="6086475"/>
            <a:ext cx="314325" cy="239713"/>
          </a:xfrm>
          <a:custGeom>
            <a:rect b="b" l="l" r="r" t="t"/>
            <a:pathLst>
              <a:path extrusionOk="0" h="151" w="198">
                <a:moveTo>
                  <a:pt x="198" y="0"/>
                </a:moveTo>
                <a:cubicBezTo>
                  <a:pt x="142" y="18"/>
                  <a:pt x="139" y="84"/>
                  <a:pt x="94" y="122"/>
                </a:cubicBezTo>
                <a:cubicBezTo>
                  <a:pt x="85" y="129"/>
                  <a:pt x="77" y="138"/>
                  <a:pt x="66" y="141"/>
                </a:cubicBezTo>
                <a:cubicBezTo>
                  <a:pt x="45" y="148"/>
                  <a:pt x="0" y="151"/>
                  <a:pt x="0" y="151"/>
                </a:cubicBezTo>
              </a:path>
            </a:pathLst>
          </a:custGeom>
          <a:noFill/>
          <a:ln cap="flat" cmpd="sng" w="5715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20"/>
          <p:cNvSpPr/>
          <p:nvPr/>
        </p:nvSpPr>
        <p:spPr>
          <a:xfrm>
            <a:off x="4932363" y="6092825"/>
            <a:ext cx="44450" cy="165100"/>
          </a:xfrm>
          <a:custGeom>
            <a:rect b="b" l="l" r="r" t="t"/>
            <a:pathLst>
              <a:path extrusionOk="0" h="104" w="28">
                <a:moveTo>
                  <a:pt x="0" y="0"/>
                </a:moveTo>
                <a:cubicBezTo>
                  <a:pt x="23" y="34"/>
                  <a:pt x="28" y="63"/>
                  <a:pt x="28" y="104"/>
                </a:cubicBezTo>
              </a:path>
            </a:pathLst>
          </a:custGeom>
          <a:noFill/>
          <a:ln cap="flat" cmpd="sng" w="2857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20"/>
          <p:cNvSpPr/>
          <p:nvPr/>
        </p:nvSpPr>
        <p:spPr>
          <a:xfrm>
            <a:off x="5651500" y="4652963"/>
            <a:ext cx="314325" cy="239712"/>
          </a:xfrm>
          <a:custGeom>
            <a:rect b="b" l="l" r="r" t="t"/>
            <a:pathLst>
              <a:path extrusionOk="0" h="151" w="198">
                <a:moveTo>
                  <a:pt x="198" y="0"/>
                </a:moveTo>
                <a:cubicBezTo>
                  <a:pt x="142" y="18"/>
                  <a:pt x="139" y="84"/>
                  <a:pt x="94" y="122"/>
                </a:cubicBezTo>
                <a:cubicBezTo>
                  <a:pt x="85" y="129"/>
                  <a:pt x="77" y="138"/>
                  <a:pt x="66" y="141"/>
                </a:cubicBezTo>
                <a:cubicBezTo>
                  <a:pt x="45" y="148"/>
                  <a:pt x="0" y="151"/>
                  <a:pt x="0" y="151"/>
                </a:cubicBezTo>
              </a:path>
            </a:pathLst>
          </a:custGeom>
          <a:noFill/>
          <a:ln cap="flat" cmpd="sng" w="57150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20"/>
          <p:cNvSpPr/>
          <p:nvPr/>
        </p:nvSpPr>
        <p:spPr>
          <a:xfrm>
            <a:off x="5741988" y="4527550"/>
            <a:ext cx="119062" cy="239713"/>
          </a:xfrm>
          <a:custGeom>
            <a:rect b="b" l="l" r="r" t="t"/>
            <a:pathLst>
              <a:path extrusionOk="0" h="151" w="75">
                <a:moveTo>
                  <a:pt x="0" y="0"/>
                </a:moveTo>
                <a:cubicBezTo>
                  <a:pt x="6" y="19"/>
                  <a:pt x="14" y="37"/>
                  <a:pt x="18" y="56"/>
                </a:cubicBezTo>
                <a:cubicBezTo>
                  <a:pt x="21" y="72"/>
                  <a:pt x="20" y="90"/>
                  <a:pt x="28" y="104"/>
                </a:cubicBezTo>
                <a:cubicBezTo>
                  <a:pt x="34" y="114"/>
                  <a:pt x="47" y="116"/>
                  <a:pt x="56" y="122"/>
                </a:cubicBezTo>
                <a:cubicBezTo>
                  <a:pt x="62" y="132"/>
                  <a:pt x="75" y="151"/>
                  <a:pt x="75" y="151"/>
                </a:cubicBezTo>
              </a:path>
            </a:pathLst>
          </a:custGeom>
          <a:noFill/>
          <a:ln cap="flat" cmpd="sng" w="2857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20"/>
          <p:cNvSpPr txBox="1"/>
          <p:nvPr/>
        </p:nvSpPr>
        <p:spPr>
          <a:xfrm>
            <a:off x="7092950" y="4365625"/>
            <a:ext cx="151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 u="non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Buccal A.</a:t>
            </a:r>
            <a:endParaRPr/>
          </a:p>
        </p:txBody>
      </p:sp>
      <p:sp>
        <p:nvSpPr>
          <p:cNvPr id="1413" name="Google Shape;1413;p20"/>
          <p:cNvSpPr txBox="1"/>
          <p:nvPr/>
        </p:nvSpPr>
        <p:spPr>
          <a:xfrm>
            <a:off x="6443663" y="6021388"/>
            <a:ext cx="151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 u="none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Mental 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e veins" id="1418" name="Google Shape;1418;p21"/>
          <p:cNvPicPr preferRelativeResize="0"/>
          <p:nvPr/>
        </p:nvPicPr>
        <p:blipFill rotWithShape="1">
          <a:blip r:embed="rId3">
            <a:alphaModFix/>
          </a:blip>
          <a:srcRect b="23761" l="24722" r="34093" t="10342"/>
          <a:stretch/>
        </p:blipFill>
        <p:spPr>
          <a:xfrm>
            <a:off x="1331913" y="0"/>
            <a:ext cx="5715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9" name="Google Shape;1419;p21"/>
          <p:cNvCxnSpPr/>
          <p:nvPr/>
        </p:nvCxnSpPr>
        <p:spPr>
          <a:xfrm flipH="1" rot="10800000">
            <a:off x="3348038" y="5157788"/>
            <a:ext cx="287337" cy="358775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0" name="Google Shape;1420;p21"/>
          <p:cNvSpPr txBox="1"/>
          <p:nvPr/>
        </p:nvSpPr>
        <p:spPr>
          <a:xfrm>
            <a:off x="1692275" y="5445125"/>
            <a:ext cx="2376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Facial artery</a:t>
            </a:r>
            <a:endParaRPr/>
          </a:p>
        </p:txBody>
      </p:sp>
      <p:sp>
        <p:nvSpPr>
          <p:cNvPr id="1421" name="Google Shape;1421;p21"/>
          <p:cNvSpPr txBox="1"/>
          <p:nvPr/>
        </p:nvSpPr>
        <p:spPr>
          <a:xfrm>
            <a:off x="6300788" y="3644900"/>
            <a:ext cx="2160587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Masseter</a:t>
            </a:r>
            <a:endParaRPr/>
          </a:p>
        </p:txBody>
      </p:sp>
      <p:cxnSp>
        <p:nvCxnSpPr>
          <p:cNvPr id="1422" name="Google Shape;1422;p21"/>
          <p:cNvCxnSpPr/>
          <p:nvPr/>
        </p:nvCxnSpPr>
        <p:spPr>
          <a:xfrm flipH="1">
            <a:off x="3924300" y="4005263"/>
            <a:ext cx="2447925" cy="576262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3" name="Google Shape;1423;p21"/>
          <p:cNvSpPr txBox="1"/>
          <p:nvPr/>
        </p:nvSpPr>
        <p:spPr>
          <a:xfrm>
            <a:off x="3059113" y="2565400"/>
            <a:ext cx="1943100" cy="5794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vein</a:t>
            </a:r>
            <a:endParaRPr/>
          </a:p>
        </p:txBody>
      </p:sp>
      <p:cxnSp>
        <p:nvCxnSpPr>
          <p:cNvPr id="1424" name="Google Shape;1424;p21"/>
          <p:cNvCxnSpPr/>
          <p:nvPr/>
        </p:nvCxnSpPr>
        <p:spPr>
          <a:xfrm flipH="1">
            <a:off x="3132138" y="3213100"/>
            <a:ext cx="503237" cy="1079500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 18.2. Arrows indicate points of manual compression of the right superficial temporal and facial arteries." id="1429" name="Google Shape;14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3" y="549275"/>
            <a:ext cx="490220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22"/>
          <p:cNvSpPr/>
          <p:nvPr/>
        </p:nvSpPr>
        <p:spPr>
          <a:xfrm>
            <a:off x="5364163" y="3429000"/>
            <a:ext cx="2016125" cy="3587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Sup.labial A.</a:t>
            </a:r>
            <a:endParaRPr/>
          </a:p>
        </p:txBody>
      </p:sp>
      <p:sp>
        <p:nvSpPr>
          <p:cNvPr id="1431" name="Google Shape;1431;p22"/>
          <p:cNvSpPr/>
          <p:nvPr/>
        </p:nvSpPr>
        <p:spPr>
          <a:xfrm>
            <a:off x="5292725" y="4076700"/>
            <a:ext cx="1800225" cy="5032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Inf.labial A.</a:t>
            </a:r>
            <a:endParaRPr/>
          </a:p>
        </p:txBody>
      </p:sp>
      <p:cxnSp>
        <p:nvCxnSpPr>
          <p:cNvPr id="1432" name="Google Shape;1432;p22"/>
          <p:cNvCxnSpPr/>
          <p:nvPr/>
        </p:nvCxnSpPr>
        <p:spPr>
          <a:xfrm rot="10800000">
            <a:off x="4500563" y="4076700"/>
            <a:ext cx="792162" cy="2889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3" name="Google Shape;1433;p22"/>
          <p:cNvCxnSpPr/>
          <p:nvPr/>
        </p:nvCxnSpPr>
        <p:spPr>
          <a:xfrm rot="10800000">
            <a:off x="4572000" y="3644900"/>
            <a:ext cx="792163" cy="0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4" name="Google Shape;1434;p22"/>
          <p:cNvSpPr/>
          <p:nvPr/>
        </p:nvSpPr>
        <p:spPr>
          <a:xfrm>
            <a:off x="4500563" y="4941888"/>
            <a:ext cx="1800225" cy="5048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A.</a:t>
            </a:r>
            <a:endParaRPr/>
          </a:p>
        </p:txBody>
      </p:sp>
      <p:cxnSp>
        <p:nvCxnSpPr>
          <p:cNvPr id="1435" name="Google Shape;1435;p22"/>
          <p:cNvCxnSpPr/>
          <p:nvPr/>
        </p:nvCxnSpPr>
        <p:spPr>
          <a:xfrm rot="10800000">
            <a:off x="3708400" y="4437063"/>
            <a:ext cx="719138" cy="576262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22"/>
          <p:cNvSpPr/>
          <p:nvPr/>
        </p:nvSpPr>
        <p:spPr>
          <a:xfrm>
            <a:off x="5435600" y="2708275"/>
            <a:ext cx="1871663" cy="3603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Lat.nasal a.</a:t>
            </a:r>
            <a:endParaRPr/>
          </a:p>
        </p:txBody>
      </p:sp>
      <p:cxnSp>
        <p:nvCxnSpPr>
          <p:cNvPr id="1437" name="Google Shape;1437;p22"/>
          <p:cNvCxnSpPr/>
          <p:nvPr/>
        </p:nvCxnSpPr>
        <p:spPr>
          <a:xfrm flipH="1">
            <a:off x="4716463" y="2924175"/>
            <a:ext cx="719137" cy="730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descr="Narrow vertical" id="1438" name="Google Shape;1438;p22"/>
          <p:cNvSpPr/>
          <p:nvPr/>
        </p:nvSpPr>
        <p:spPr>
          <a:xfrm>
            <a:off x="827088" y="333375"/>
            <a:ext cx="2449512" cy="143986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 Black"/>
              </a:rPr>
              <a:t>Branches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e veins" id="1443" name="Google Shape;1443;p23"/>
          <p:cNvPicPr preferRelativeResize="0"/>
          <p:nvPr/>
        </p:nvPicPr>
        <p:blipFill rotWithShape="1">
          <a:blip r:embed="rId3">
            <a:alphaModFix/>
          </a:blip>
          <a:srcRect b="29039" l="24722" r="34093" t="10342"/>
          <a:stretch/>
        </p:blipFill>
        <p:spPr>
          <a:xfrm>
            <a:off x="1258888" y="0"/>
            <a:ext cx="5715000" cy="63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23"/>
          <p:cNvSpPr/>
          <p:nvPr/>
        </p:nvSpPr>
        <p:spPr>
          <a:xfrm>
            <a:off x="5003800" y="2997200"/>
            <a:ext cx="2016125" cy="64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Superficial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temporal</a:t>
            </a:r>
            <a:r>
              <a:rPr b="1" lang="en-US" sz="2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A.</a:t>
            </a:r>
            <a:endParaRPr/>
          </a:p>
        </p:txBody>
      </p:sp>
      <p:cxnSp>
        <p:nvCxnSpPr>
          <p:cNvPr id="1445" name="Google Shape;1445;p23"/>
          <p:cNvCxnSpPr/>
          <p:nvPr/>
        </p:nvCxnSpPr>
        <p:spPr>
          <a:xfrm flipH="1">
            <a:off x="4500563" y="3429000"/>
            <a:ext cx="431800" cy="144463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6" name="Google Shape;1446;p23"/>
          <p:cNvCxnSpPr/>
          <p:nvPr/>
        </p:nvCxnSpPr>
        <p:spPr>
          <a:xfrm flipH="1" rot="10800000">
            <a:off x="4211638" y="2852738"/>
            <a:ext cx="288925" cy="144462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7" name="Google Shape;1447;p23"/>
          <p:cNvSpPr/>
          <p:nvPr/>
        </p:nvSpPr>
        <p:spPr>
          <a:xfrm>
            <a:off x="1835150" y="4221163"/>
            <a:ext cx="1582738" cy="64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Transverse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A.</a:t>
            </a:r>
            <a:endParaRPr/>
          </a:p>
        </p:txBody>
      </p:sp>
      <p:cxnSp>
        <p:nvCxnSpPr>
          <p:cNvPr id="1448" name="Google Shape;1448;p23"/>
          <p:cNvCxnSpPr/>
          <p:nvPr/>
        </p:nvCxnSpPr>
        <p:spPr>
          <a:xfrm flipH="1" rot="10800000">
            <a:off x="2987675" y="3933825"/>
            <a:ext cx="504825" cy="358775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9" name="Google Shape;1449;p23"/>
          <p:cNvSpPr/>
          <p:nvPr/>
        </p:nvSpPr>
        <p:spPr>
          <a:xfrm>
            <a:off x="4500563" y="5229225"/>
            <a:ext cx="1582737" cy="3587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Parotid duct</a:t>
            </a:r>
            <a:endParaRPr/>
          </a:p>
        </p:txBody>
      </p:sp>
      <p:cxnSp>
        <p:nvCxnSpPr>
          <p:cNvPr id="1450" name="Google Shape;1450;p23"/>
          <p:cNvCxnSpPr/>
          <p:nvPr/>
        </p:nvCxnSpPr>
        <p:spPr>
          <a:xfrm rot="10800000">
            <a:off x="3635375" y="4221163"/>
            <a:ext cx="1584325" cy="936625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-5-Arteries-of-the-scalp" id="1455" name="Google Shape;1455;p24"/>
          <p:cNvPicPr preferRelativeResize="0"/>
          <p:nvPr/>
        </p:nvPicPr>
        <p:blipFill rotWithShape="1">
          <a:blip r:embed="rId3">
            <a:alphaModFix/>
          </a:blip>
          <a:srcRect b="3447" l="0" r="0" t="0"/>
          <a:stretch/>
        </p:blipFill>
        <p:spPr>
          <a:xfrm>
            <a:off x="250825" y="0"/>
            <a:ext cx="8569325" cy="66690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24"/>
          <p:cNvSpPr/>
          <p:nvPr/>
        </p:nvSpPr>
        <p:spPr>
          <a:xfrm>
            <a:off x="6877050" y="188913"/>
            <a:ext cx="1727200" cy="64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Superficial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temporal</a:t>
            </a:r>
            <a:r>
              <a:rPr b="1" lang="en-US" sz="2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A.</a:t>
            </a:r>
            <a:endParaRPr/>
          </a:p>
        </p:txBody>
      </p:sp>
      <p:sp>
        <p:nvSpPr>
          <p:cNvPr id="1457" name="Google Shape;1457;p24"/>
          <p:cNvSpPr/>
          <p:nvPr/>
        </p:nvSpPr>
        <p:spPr>
          <a:xfrm>
            <a:off x="755650" y="5445125"/>
            <a:ext cx="1800225" cy="5048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1" i="1"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Facial A.</a:t>
            </a:r>
            <a:endParaRPr/>
          </a:p>
        </p:txBody>
      </p:sp>
      <p:cxnSp>
        <p:nvCxnSpPr>
          <p:cNvPr id="1458" name="Google Shape;1458;p24"/>
          <p:cNvCxnSpPr/>
          <p:nvPr/>
        </p:nvCxnSpPr>
        <p:spPr>
          <a:xfrm flipH="1" rot="10800000">
            <a:off x="2555875" y="5300663"/>
            <a:ext cx="792163" cy="360362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9" name="Google Shape;1459;p24"/>
          <p:cNvCxnSpPr/>
          <p:nvPr/>
        </p:nvCxnSpPr>
        <p:spPr>
          <a:xfrm flipH="1">
            <a:off x="4140200" y="549275"/>
            <a:ext cx="2736850" cy="1728788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0" name="Google Shape;1460;p24"/>
          <p:cNvSpPr txBox="1"/>
          <p:nvPr/>
        </p:nvSpPr>
        <p:spPr>
          <a:xfrm>
            <a:off x="5940425" y="5084763"/>
            <a:ext cx="2663825" cy="5889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Pulsation sites</a:t>
            </a:r>
            <a:endParaRPr/>
          </a:p>
        </p:txBody>
      </p:sp>
      <p:sp>
        <p:nvSpPr>
          <p:cNvPr id="1461" name="Google Shape;1461;p24"/>
          <p:cNvSpPr/>
          <p:nvPr/>
        </p:nvSpPr>
        <p:spPr>
          <a:xfrm>
            <a:off x="3851275" y="2997200"/>
            <a:ext cx="504825" cy="627063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630" y="10800"/>
                </a:moveTo>
                <a:cubicBezTo>
                  <a:pt x="1630" y="15864"/>
                  <a:pt x="5736" y="19970"/>
                  <a:pt x="10800" y="19970"/>
                </a:cubicBezTo>
                <a:cubicBezTo>
                  <a:pt x="15864" y="19970"/>
                  <a:pt x="19970" y="15864"/>
                  <a:pt x="19970" y="10800"/>
                </a:cubicBezTo>
                <a:cubicBezTo>
                  <a:pt x="19970" y="5736"/>
                  <a:pt x="15864" y="1630"/>
                  <a:pt x="10800" y="1630"/>
                </a:cubicBezTo>
                <a:cubicBezTo>
                  <a:pt x="5736" y="1630"/>
                  <a:pt x="1630" y="5736"/>
                  <a:pt x="1630" y="10800"/>
                </a:cubicBezTo>
                <a:close/>
              </a:path>
            </a:pathLst>
          </a:custGeom>
          <a:solidFill>
            <a:srgbClr val="FF3399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24"/>
          <p:cNvSpPr/>
          <p:nvPr/>
        </p:nvSpPr>
        <p:spPr>
          <a:xfrm>
            <a:off x="3059113" y="4941888"/>
            <a:ext cx="504825" cy="627062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630" y="10800"/>
                </a:moveTo>
                <a:cubicBezTo>
                  <a:pt x="1630" y="15864"/>
                  <a:pt x="5736" y="19970"/>
                  <a:pt x="10800" y="19970"/>
                </a:cubicBezTo>
                <a:cubicBezTo>
                  <a:pt x="15864" y="19970"/>
                  <a:pt x="19970" y="15864"/>
                  <a:pt x="19970" y="10800"/>
                </a:cubicBezTo>
                <a:cubicBezTo>
                  <a:pt x="19970" y="5736"/>
                  <a:pt x="15864" y="1630"/>
                  <a:pt x="10800" y="1630"/>
                </a:cubicBezTo>
                <a:cubicBezTo>
                  <a:pt x="5736" y="1630"/>
                  <a:pt x="1630" y="5736"/>
                  <a:pt x="1630" y="10800"/>
                </a:cubicBezTo>
                <a:close/>
              </a:path>
            </a:pathLst>
          </a:custGeom>
          <a:solidFill>
            <a:srgbClr val="FF3399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25"/>
          <p:cNvPicPr preferRelativeResize="0"/>
          <p:nvPr/>
        </p:nvPicPr>
        <p:blipFill rotWithShape="1">
          <a:blip r:embed="rId3">
            <a:alphaModFix/>
          </a:blip>
          <a:srcRect b="4512" l="0" r="0" t="0"/>
          <a:stretch/>
        </p:blipFill>
        <p:spPr>
          <a:xfrm>
            <a:off x="323850" y="106363"/>
            <a:ext cx="8208963" cy="6650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25"/>
          <p:cNvSpPr/>
          <p:nvPr/>
        </p:nvSpPr>
        <p:spPr>
          <a:xfrm>
            <a:off x="1763713" y="5734050"/>
            <a:ext cx="1368425" cy="360363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Facial A.</a:t>
            </a:r>
            <a:endParaRPr/>
          </a:p>
        </p:txBody>
      </p:sp>
      <p:sp>
        <p:nvSpPr>
          <p:cNvPr id="1469" name="Google Shape;1469;p25"/>
          <p:cNvSpPr/>
          <p:nvPr/>
        </p:nvSpPr>
        <p:spPr>
          <a:xfrm>
            <a:off x="1476375" y="6165850"/>
            <a:ext cx="1582738" cy="358775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1" i="1"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Facial V.</a:t>
            </a:r>
            <a:endParaRPr/>
          </a:p>
        </p:txBody>
      </p:sp>
      <p:sp>
        <p:nvSpPr>
          <p:cNvPr id="1470" name="Google Shape;1470;p25"/>
          <p:cNvSpPr/>
          <p:nvPr/>
        </p:nvSpPr>
        <p:spPr>
          <a:xfrm>
            <a:off x="827088" y="5229225"/>
            <a:ext cx="1368425" cy="431800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Inf.Labial Vs.</a:t>
            </a:r>
            <a:endParaRPr/>
          </a:p>
        </p:txBody>
      </p:sp>
      <p:sp>
        <p:nvSpPr>
          <p:cNvPr id="1471" name="Google Shape;1471;p25"/>
          <p:cNvSpPr/>
          <p:nvPr/>
        </p:nvSpPr>
        <p:spPr>
          <a:xfrm>
            <a:off x="539750" y="3860800"/>
            <a:ext cx="1511300" cy="431800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Sup.Labial Vs.</a:t>
            </a:r>
            <a:endParaRPr/>
          </a:p>
        </p:txBody>
      </p:sp>
      <p:sp>
        <p:nvSpPr>
          <p:cNvPr id="1472" name="Google Shape;1472;p25"/>
          <p:cNvSpPr/>
          <p:nvPr/>
        </p:nvSpPr>
        <p:spPr>
          <a:xfrm>
            <a:off x="395288" y="2997200"/>
            <a:ext cx="1512887" cy="431800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Lat.Nasal Vs.</a:t>
            </a:r>
            <a:endParaRPr/>
          </a:p>
        </p:txBody>
      </p:sp>
      <p:sp>
        <p:nvSpPr>
          <p:cNvPr id="1473" name="Google Shape;1473;p25"/>
          <p:cNvSpPr/>
          <p:nvPr/>
        </p:nvSpPr>
        <p:spPr>
          <a:xfrm>
            <a:off x="5003800" y="765175"/>
            <a:ext cx="3097213" cy="431800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superficial temporal Vs.</a:t>
            </a:r>
            <a:endParaRPr/>
          </a:p>
        </p:txBody>
      </p:sp>
      <p:sp>
        <p:nvSpPr>
          <p:cNvPr id="1474" name="Google Shape;1474;p25"/>
          <p:cNvSpPr/>
          <p:nvPr/>
        </p:nvSpPr>
        <p:spPr>
          <a:xfrm>
            <a:off x="4572000" y="188913"/>
            <a:ext cx="2952750" cy="360362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Transverse facial Vs.</a:t>
            </a:r>
            <a:endParaRPr/>
          </a:p>
        </p:txBody>
      </p:sp>
      <p:sp>
        <p:nvSpPr>
          <p:cNvPr id="1475" name="Google Shape;1475;p25"/>
          <p:cNvSpPr/>
          <p:nvPr/>
        </p:nvSpPr>
        <p:spPr>
          <a:xfrm>
            <a:off x="7308850" y="2349500"/>
            <a:ext cx="1008063" cy="358775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Tragus</a:t>
            </a:r>
            <a:endParaRPr/>
          </a:p>
        </p:txBody>
      </p:sp>
      <p:cxnSp>
        <p:nvCxnSpPr>
          <p:cNvPr id="1476" name="Google Shape;1476;p25"/>
          <p:cNvCxnSpPr/>
          <p:nvPr/>
        </p:nvCxnSpPr>
        <p:spPr>
          <a:xfrm flipH="1">
            <a:off x="5508625" y="2492375"/>
            <a:ext cx="1800225" cy="504825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7" name="Google Shape;1477;p25"/>
          <p:cNvCxnSpPr/>
          <p:nvPr/>
        </p:nvCxnSpPr>
        <p:spPr>
          <a:xfrm>
            <a:off x="4643438" y="476250"/>
            <a:ext cx="0" cy="2160588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8" name="Google Shape;1478;p25"/>
          <p:cNvCxnSpPr/>
          <p:nvPr/>
        </p:nvCxnSpPr>
        <p:spPr>
          <a:xfrm>
            <a:off x="5076825" y="1196975"/>
            <a:ext cx="142875" cy="151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9" name="Google Shape;1479;p25"/>
          <p:cNvSpPr/>
          <p:nvPr/>
        </p:nvSpPr>
        <p:spPr>
          <a:xfrm>
            <a:off x="6804025" y="5589588"/>
            <a:ext cx="1368425" cy="3603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Masseter</a:t>
            </a:r>
            <a:endParaRPr/>
          </a:p>
        </p:txBody>
      </p:sp>
      <p:cxnSp>
        <p:nvCxnSpPr>
          <p:cNvPr id="1480" name="Google Shape;1480;p25"/>
          <p:cNvCxnSpPr/>
          <p:nvPr/>
        </p:nvCxnSpPr>
        <p:spPr>
          <a:xfrm rot="10800000">
            <a:off x="4356100" y="4365625"/>
            <a:ext cx="2447925" cy="13684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nnyFace" id="1485" name="Google Shape;14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3" y="1484313"/>
            <a:ext cx="7488237" cy="4173537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26"/>
          <p:cNvSpPr/>
          <p:nvPr/>
        </p:nvSpPr>
        <p:spPr>
          <a:xfrm>
            <a:off x="2339975" y="765175"/>
            <a:ext cx="4537075" cy="165576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2700">
                  <a:solidFill>
                    <a:srgbClr val="EAEAEA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0"/>
                </a:gradFill>
                <a:latin typeface="Arial Black"/>
              </a:rPr>
              <a:t>Facial Vein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002" id="1491" name="Google Shape;1491;p27"/>
          <p:cNvPicPr preferRelativeResize="0"/>
          <p:nvPr/>
        </p:nvPicPr>
        <p:blipFill rotWithShape="1">
          <a:blip r:embed="rId3">
            <a:alphaModFix/>
          </a:blip>
          <a:srcRect b="0" l="50836" r="0" t="0"/>
          <a:stretch/>
        </p:blipFill>
        <p:spPr>
          <a:xfrm>
            <a:off x="3624263" y="0"/>
            <a:ext cx="5519737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27"/>
          <p:cNvSpPr/>
          <p:nvPr/>
        </p:nvSpPr>
        <p:spPr>
          <a:xfrm>
            <a:off x="3348038" y="333375"/>
            <a:ext cx="2232025" cy="5032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Supratrochlear V.</a:t>
            </a:r>
            <a:endParaRPr/>
          </a:p>
        </p:txBody>
      </p:sp>
      <p:sp>
        <p:nvSpPr>
          <p:cNvPr id="1493" name="Google Shape;1493;p27"/>
          <p:cNvSpPr/>
          <p:nvPr/>
        </p:nvSpPr>
        <p:spPr>
          <a:xfrm>
            <a:off x="3348038" y="981075"/>
            <a:ext cx="2232025" cy="43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Supra-orbital V.</a:t>
            </a:r>
            <a:endParaRPr/>
          </a:p>
        </p:txBody>
      </p:sp>
      <p:sp>
        <p:nvSpPr>
          <p:cNvPr id="1494" name="Google Shape;1494;p27"/>
          <p:cNvSpPr/>
          <p:nvPr/>
        </p:nvSpPr>
        <p:spPr>
          <a:xfrm>
            <a:off x="3563938" y="3141663"/>
            <a:ext cx="1871662" cy="50323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vein</a:t>
            </a:r>
            <a:endParaRPr/>
          </a:p>
        </p:txBody>
      </p:sp>
      <p:cxnSp>
        <p:nvCxnSpPr>
          <p:cNvPr id="1495" name="Google Shape;1495;p27"/>
          <p:cNvCxnSpPr/>
          <p:nvPr/>
        </p:nvCxnSpPr>
        <p:spPr>
          <a:xfrm>
            <a:off x="5364163" y="3284538"/>
            <a:ext cx="1223962" cy="0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3" id="1500" name="Google Shape;150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8" y="333375"/>
            <a:ext cx="6840537" cy="606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28"/>
          <p:cNvSpPr/>
          <p:nvPr/>
        </p:nvSpPr>
        <p:spPr>
          <a:xfrm>
            <a:off x="7164388" y="2205038"/>
            <a:ext cx="1800225" cy="71913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Retro-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Mandibular V.</a:t>
            </a:r>
            <a:endParaRPr/>
          </a:p>
        </p:txBody>
      </p:sp>
      <p:sp>
        <p:nvSpPr>
          <p:cNvPr id="1502" name="Google Shape;1502;p28"/>
          <p:cNvSpPr/>
          <p:nvPr/>
        </p:nvSpPr>
        <p:spPr>
          <a:xfrm>
            <a:off x="6948488" y="4941888"/>
            <a:ext cx="1871662" cy="5048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Ext.jugular V.</a:t>
            </a:r>
            <a:endParaRPr/>
          </a:p>
        </p:txBody>
      </p:sp>
      <p:sp>
        <p:nvSpPr>
          <p:cNvPr id="1503" name="Google Shape;1503;p28"/>
          <p:cNvSpPr/>
          <p:nvPr/>
        </p:nvSpPr>
        <p:spPr>
          <a:xfrm>
            <a:off x="7092950" y="3716338"/>
            <a:ext cx="1800225" cy="5048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Post.auricular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i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V.</a:t>
            </a:r>
            <a:endParaRPr/>
          </a:p>
        </p:txBody>
      </p:sp>
      <p:cxnSp>
        <p:nvCxnSpPr>
          <p:cNvPr id="1504" name="Google Shape;1504;p28"/>
          <p:cNvCxnSpPr/>
          <p:nvPr/>
        </p:nvCxnSpPr>
        <p:spPr>
          <a:xfrm rot="10800000">
            <a:off x="6516688" y="3141663"/>
            <a:ext cx="647700" cy="57467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5" name="Google Shape;1505;p28"/>
          <p:cNvSpPr/>
          <p:nvPr/>
        </p:nvSpPr>
        <p:spPr>
          <a:xfrm>
            <a:off x="900113" y="5373688"/>
            <a:ext cx="1727200" cy="50323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C.Facial V.</a:t>
            </a:r>
            <a:endParaRPr/>
          </a:p>
        </p:txBody>
      </p:sp>
      <p:cxnSp>
        <p:nvCxnSpPr>
          <p:cNvPr id="1506" name="Google Shape;1506;p28"/>
          <p:cNvCxnSpPr/>
          <p:nvPr/>
        </p:nvCxnSpPr>
        <p:spPr>
          <a:xfrm flipH="1" rot="10800000">
            <a:off x="2627313" y="4724400"/>
            <a:ext cx="2881312" cy="865188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7" name="Google Shape;1507;p28"/>
          <p:cNvSpPr/>
          <p:nvPr/>
        </p:nvSpPr>
        <p:spPr>
          <a:xfrm>
            <a:off x="6732588" y="549275"/>
            <a:ext cx="1943100" cy="7191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Superficial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Temporal V.</a:t>
            </a:r>
            <a:endParaRPr/>
          </a:p>
        </p:txBody>
      </p:sp>
      <p:cxnSp>
        <p:nvCxnSpPr>
          <p:cNvPr id="1508" name="Google Shape;1508;p28"/>
          <p:cNvCxnSpPr/>
          <p:nvPr/>
        </p:nvCxnSpPr>
        <p:spPr>
          <a:xfrm rot="10800000">
            <a:off x="5724525" y="765175"/>
            <a:ext cx="1008063" cy="0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9" name="Google Shape;1509;p28"/>
          <p:cNvSpPr/>
          <p:nvPr/>
        </p:nvSpPr>
        <p:spPr>
          <a:xfrm>
            <a:off x="2700338" y="549275"/>
            <a:ext cx="1655762" cy="3587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Maxillary V.</a:t>
            </a:r>
            <a:endParaRPr/>
          </a:p>
        </p:txBody>
      </p:sp>
      <p:cxnSp>
        <p:nvCxnSpPr>
          <p:cNvPr id="1510" name="Google Shape;1510;p28"/>
          <p:cNvCxnSpPr/>
          <p:nvPr/>
        </p:nvCxnSpPr>
        <p:spPr>
          <a:xfrm>
            <a:off x="4284663" y="908050"/>
            <a:ext cx="792162" cy="144463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1" name="Google Shape;1511;p28"/>
          <p:cNvSpPr/>
          <p:nvPr/>
        </p:nvSpPr>
        <p:spPr>
          <a:xfrm>
            <a:off x="7092950" y="5516563"/>
            <a:ext cx="1800225" cy="5048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Int.jugular V.</a:t>
            </a:r>
            <a:endParaRPr/>
          </a:p>
        </p:txBody>
      </p:sp>
      <p:cxnSp>
        <p:nvCxnSpPr>
          <p:cNvPr id="1512" name="Google Shape;1512;p28"/>
          <p:cNvCxnSpPr/>
          <p:nvPr/>
        </p:nvCxnSpPr>
        <p:spPr>
          <a:xfrm flipH="1">
            <a:off x="5795963" y="5805488"/>
            <a:ext cx="1223962" cy="287337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3" name="Google Shape;1513;p28"/>
          <p:cNvSpPr/>
          <p:nvPr/>
        </p:nvSpPr>
        <p:spPr>
          <a:xfrm>
            <a:off x="2700338" y="3213100"/>
            <a:ext cx="1439862" cy="360363"/>
          </a:xfrm>
          <a:prstGeom prst="rect">
            <a:avLst/>
          </a:prstGeom>
          <a:solidFill>
            <a:srgbClr val="FFE7FF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Facial Vs.</a:t>
            </a:r>
            <a:endParaRPr/>
          </a:p>
        </p:txBody>
      </p:sp>
      <p:sp>
        <p:nvSpPr>
          <p:cNvPr id="1514" name="Google Shape;1514;p28"/>
          <p:cNvSpPr/>
          <p:nvPr/>
        </p:nvSpPr>
        <p:spPr>
          <a:xfrm>
            <a:off x="5508625" y="2924175"/>
            <a:ext cx="144463" cy="215900"/>
          </a:xfrm>
          <a:prstGeom prst="flowChartConnector">
            <a:avLst/>
          </a:prstGeom>
          <a:solidFill>
            <a:srgbClr val="FF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28"/>
          <p:cNvSpPr/>
          <p:nvPr/>
        </p:nvSpPr>
        <p:spPr>
          <a:xfrm>
            <a:off x="5867400" y="2997200"/>
            <a:ext cx="144463" cy="215900"/>
          </a:xfrm>
          <a:prstGeom prst="flowChartConnector">
            <a:avLst/>
          </a:prstGeom>
          <a:solidFill>
            <a:srgbClr val="FF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29"/>
          <p:cNvSpPr/>
          <p:nvPr/>
        </p:nvSpPr>
        <p:spPr>
          <a:xfrm>
            <a:off x="5508625" y="549275"/>
            <a:ext cx="1943100" cy="7191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Superficial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Temporal V.</a:t>
            </a:r>
            <a:endParaRPr/>
          </a:p>
        </p:txBody>
      </p:sp>
      <p:sp>
        <p:nvSpPr>
          <p:cNvPr id="1521" name="Google Shape;1521;p29"/>
          <p:cNvSpPr/>
          <p:nvPr/>
        </p:nvSpPr>
        <p:spPr>
          <a:xfrm>
            <a:off x="1619250" y="620713"/>
            <a:ext cx="1800225" cy="5746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Maxillary V.</a:t>
            </a:r>
            <a:endParaRPr/>
          </a:p>
        </p:txBody>
      </p:sp>
      <p:sp>
        <p:nvSpPr>
          <p:cNvPr id="1522" name="Google Shape;1522;p29"/>
          <p:cNvSpPr/>
          <p:nvPr/>
        </p:nvSpPr>
        <p:spPr>
          <a:xfrm>
            <a:off x="3492500" y="1844675"/>
            <a:ext cx="1800225" cy="7191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Retro-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Mandibular V.</a:t>
            </a:r>
            <a:endParaRPr/>
          </a:p>
        </p:txBody>
      </p:sp>
      <p:sp>
        <p:nvSpPr>
          <p:cNvPr id="1523" name="Google Shape;1523;p29"/>
          <p:cNvSpPr/>
          <p:nvPr/>
        </p:nvSpPr>
        <p:spPr>
          <a:xfrm>
            <a:off x="5292725" y="4365625"/>
            <a:ext cx="1800225" cy="5762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Post.auricular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V.</a:t>
            </a:r>
            <a:endParaRPr/>
          </a:p>
        </p:txBody>
      </p:sp>
      <p:sp>
        <p:nvSpPr>
          <p:cNvPr id="1524" name="Google Shape;1524;p29"/>
          <p:cNvSpPr/>
          <p:nvPr/>
        </p:nvSpPr>
        <p:spPr>
          <a:xfrm>
            <a:off x="1979613" y="4437063"/>
            <a:ext cx="1655762" cy="43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Facial vein</a:t>
            </a:r>
            <a:endParaRPr/>
          </a:p>
        </p:txBody>
      </p:sp>
      <p:cxnSp>
        <p:nvCxnSpPr>
          <p:cNvPr id="1525" name="Google Shape;1525;p29"/>
          <p:cNvCxnSpPr/>
          <p:nvPr/>
        </p:nvCxnSpPr>
        <p:spPr>
          <a:xfrm flipH="1">
            <a:off x="4500563" y="1268413"/>
            <a:ext cx="1008062" cy="576262"/>
          </a:xfrm>
          <a:prstGeom prst="straightConnector1">
            <a:avLst/>
          </a:prstGeom>
          <a:noFill/>
          <a:ln cap="flat" cmpd="sng" w="9525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6" name="Google Shape;1526;p29"/>
          <p:cNvCxnSpPr/>
          <p:nvPr/>
        </p:nvCxnSpPr>
        <p:spPr>
          <a:xfrm>
            <a:off x="3419475" y="1196975"/>
            <a:ext cx="1008063" cy="647700"/>
          </a:xfrm>
          <a:prstGeom prst="straightConnector1">
            <a:avLst/>
          </a:prstGeom>
          <a:noFill/>
          <a:ln cap="flat" cmpd="sng" w="9525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7" name="Google Shape;1527;p29"/>
          <p:cNvSpPr/>
          <p:nvPr/>
        </p:nvSpPr>
        <p:spPr>
          <a:xfrm>
            <a:off x="5435600" y="2997200"/>
            <a:ext cx="1512888" cy="64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Posterior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devision</a:t>
            </a:r>
            <a:endParaRPr/>
          </a:p>
        </p:txBody>
      </p:sp>
      <p:sp>
        <p:nvSpPr>
          <p:cNvPr id="1528" name="Google Shape;1528;p29"/>
          <p:cNvSpPr/>
          <p:nvPr/>
        </p:nvSpPr>
        <p:spPr>
          <a:xfrm>
            <a:off x="1979613" y="2924175"/>
            <a:ext cx="1512887" cy="64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Anterior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devision</a:t>
            </a:r>
            <a:endParaRPr/>
          </a:p>
        </p:txBody>
      </p:sp>
      <p:cxnSp>
        <p:nvCxnSpPr>
          <p:cNvPr id="1529" name="Google Shape;1529;p29"/>
          <p:cNvCxnSpPr/>
          <p:nvPr/>
        </p:nvCxnSpPr>
        <p:spPr>
          <a:xfrm flipH="1">
            <a:off x="3492500" y="2565400"/>
            <a:ext cx="863600" cy="431800"/>
          </a:xfrm>
          <a:prstGeom prst="straightConnector1">
            <a:avLst/>
          </a:prstGeom>
          <a:noFill/>
          <a:ln cap="flat" cmpd="sng" w="9525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0" name="Google Shape;1530;p29"/>
          <p:cNvCxnSpPr/>
          <p:nvPr/>
        </p:nvCxnSpPr>
        <p:spPr>
          <a:xfrm>
            <a:off x="4427538" y="2565400"/>
            <a:ext cx="1008062" cy="431800"/>
          </a:xfrm>
          <a:prstGeom prst="straightConnector1">
            <a:avLst/>
          </a:prstGeom>
          <a:noFill/>
          <a:ln cap="flat" cmpd="sng" w="9525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1" name="Google Shape;1531;p29"/>
          <p:cNvSpPr/>
          <p:nvPr/>
        </p:nvSpPr>
        <p:spPr>
          <a:xfrm>
            <a:off x="6011863" y="3860800"/>
            <a:ext cx="431800" cy="360363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1532" name="Google Shape;1532;p29"/>
          <p:cNvSpPr/>
          <p:nvPr/>
        </p:nvSpPr>
        <p:spPr>
          <a:xfrm>
            <a:off x="2555875" y="3789363"/>
            <a:ext cx="431800" cy="36036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1533" name="Google Shape;1533;p29"/>
          <p:cNvSpPr/>
          <p:nvPr/>
        </p:nvSpPr>
        <p:spPr>
          <a:xfrm>
            <a:off x="1835150" y="5661025"/>
            <a:ext cx="1943100" cy="7191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Common facial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vein</a:t>
            </a:r>
            <a:endParaRPr/>
          </a:p>
        </p:txBody>
      </p:sp>
      <p:sp>
        <p:nvSpPr>
          <p:cNvPr id="1534" name="Google Shape;1534;p29"/>
          <p:cNvSpPr/>
          <p:nvPr/>
        </p:nvSpPr>
        <p:spPr>
          <a:xfrm>
            <a:off x="2555875" y="5084763"/>
            <a:ext cx="431800" cy="36036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1535" name="Google Shape;1535;p29"/>
          <p:cNvSpPr/>
          <p:nvPr/>
        </p:nvSpPr>
        <p:spPr>
          <a:xfrm>
            <a:off x="5148263" y="5734050"/>
            <a:ext cx="1943100" cy="7191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External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Jugular vein</a:t>
            </a:r>
            <a:endParaRPr/>
          </a:p>
        </p:txBody>
      </p:sp>
      <p:sp>
        <p:nvSpPr>
          <p:cNvPr id="1536" name="Google Shape;1536;p29"/>
          <p:cNvSpPr/>
          <p:nvPr/>
        </p:nvSpPr>
        <p:spPr>
          <a:xfrm>
            <a:off x="5867400" y="5157788"/>
            <a:ext cx="431800" cy="36036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cxnSp>
        <p:nvCxnSpPr>
          <p:cNvPr id="1537" name="Google Shape;1537;p29"/>
          <p:cNvCxnSpPr/>
          <p:nvPr/>
        </p:nvCxnSpPr>
        <p:spPr>
          <a:xfrm rot="10800000">
            <a:off x="1547813" y="6021388"/>
            <a:ext cx="287337" cy="0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8" name="Google Shape;1538;p29"/>
          <p:cNvSpPr/>
          <p:nvPr/>
        </p:nvSpPr>
        <p:spPr>
          <a:xfrm>
            <a:off x="539750" y="5661025"/>
            <a:ext cx="1008063" cy="5762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I.J.V.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002" id="1543" name="Google Shape;1543;p30"/>
          <p:cNvPicPr preferRelativeResize="0"/>
          <p:nvPr/>
        </p:nvPicPr>
        <p:blipFill rotWithShape="1">
          <a:blip r:embed="rId3">
            <a:alphaModFix/>
          </a:blip>
          <a:srcRect b="0" l="50836" r="0" t="0"/>
          <a:stretch/>
        </p:blipFill>
        <p:spPr>
          <a:xfrm>
            <a:off x="3624263" y="0"/>
            <a:ext cx="5519737" cy="65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30"/>
          <p:cNvSpPr/>
          <p:nvPr/>
        </p:nvSpPr>
        <p:spPr>
          <a:xfrm>
            <a:off x="3708400" y="333375"/>
            <a:ext cx="1871663" cy="43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Libre Baskerville"/>
              <a:buNone/>
            </a:pPr>
            <a:r>
              <a:rPr b="1" lang="en-US" sz="2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Supratrochlear V.</a:t>
            </a:r>
            <a:endParaRPr/>
          </a:p>
        </p:txBody>
      </p:sp>
      <p:sp>
        <p:nvSpPr>
          <p:cNvPr id="1545" name="Google Shape;1545;p30"/>
          <p:cNvSpPr/>
          <p:nvPr/>
        </p:nvSpPr>
        <p:spPr>
          <a:xfrm>
            <a:off x="3779838" y="981075"/>
            <a:ext cx="1800225" cy="43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Libre Baskerville"/>
              <a:buNone/>
            </a:pPr>
            <a:r>
              <a:rPr b="1" lang="en-US" sz="2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Supraorbital V.</a:t>
            </a:r>
            <a:endParaRPr/>
          </a:p>
        </p:txBody>
      </p:sp>
      <p:sp>
        <p:nvSpPr>
          <p:cNvPr id="1546" name="Google Shape;1546;p30"/>
          <p:cNvSpPr/>
          <p:nvPr/>
        </p:nvSpPr>
        <p:spPr>
          <a:xfrm>
            <a:off x="3563938" y="3141663"/>
            <a:ext cx="1584325" cy="3587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V.</a:t>
            </a:r>
            <a:endParaRPr/>
          </a:p>
        </p:txBody>
      </p:sp>
      <p:cxnSp>
        <p:nvCxnSpPr>
          <p:cNvPr id="1547" name="Google Shape;1547;p30"/>
          <p:cNvCxnSpPr/>
          <p:nvPr/>
        </p:nvCxnSpPr>
        <p:spPr>
          <a:xfrm>
            <a:off x="5364163" y="3284538"/>
            <a:ext cx="1223962" cy="0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8" name="Google Shape;1548;p30"/>
          <p:cNvSpPr/>
          <p:nvPr/>
        </p:nvSpPr>
        <p:spPr>
          <a:xfrm>
            <a:off x="3059113" y="1989138"/>
            <a:ext cx="2665412" cy="50323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sup.ophthalmic V.</a:t>
            </a:r>
            <a:endParaRPr/>
          </a:p>
        </p:txBody>
      </p:sp>
      <p:sp>
        <p:nvSpPr>
          <p:cNvPr id="1549" name="Google Shape;1549;p30"/>
          <p:cNvSpPr/>
          <p:nvPr/>
        </p:nvSpPr>
        <p:spPr>
          <a:xfrm>
            <a:off x="539750" y="1268413"/>
            <a:ext cx="1800225" cy="7921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Cavernous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sinus</a:t>
            </a:r>
            <a:endParaRPr/>
          </a:p>
        </p:txBody>
      </p:sp>
      <p:sp>
        <p:nvSpPr>
          <p:cNvPr id="1550" name="Google Shape;1550;p30"/>
          <p:cNvSpPr/>
          <p:nvPr/>
        </p:nvSpPr>
        <p:spPr>
          <a:xfrm>
            <a:off x="3635375" y="3716338"/>
            <a:ext cx="1728788" cy="3603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Deep Facial V</a:t>
            </a:r>
            <a:r>
              <a:rPr b="1" i="1" lang="en-US" sz="2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  <a:endParaRPr/>
          </a:p>
        </p:txBody>
      </p:sp>
      <p:sp>
        <p:nvSpPr>
          <p:cNvPr id="1551" name="Google Shape;1551;p30"/>
          <p:cNvSpPr/>
          <p:nvPr/>
        </p:nvSpPr>
        <p:spPr>
          <a:xfrm>
            <a:off x="2700338" y="3716338"/>
            <a:ext cx="863600" cy="360362"/>
          </a:xfrm>
          <a:prstGeom prst="leftArrow">
            <a:avLst>
              <a:gd fmla="val 17185" name="adj1"/>
              <a:gd fmla="val 78718" name="adj2"/>
            </a:avLst>
          </a:prstGeom>
          <a:solidFill>
            <a:srgbClr val="0000FF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30"/>
          <p:cNvSpPr/>
          <p:nvPr/>
        </p:nvSpPr>
        <p:spPr>
          <a:xfrm>
            <a:off x="250825" y="3644900"/>
            <a:ext cx="2449513" cy="9366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Pterygoid venous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plexus</a:t>
            </a:r>
            <a:endParaRPr/>
          </a:p>
        </p:txBody>
      </p:sp>
      <p:cxnSp>
        <p:nvCxnSpPr>
          <p:cNvPr id="1553" name="Google Shape;1553;p30"/>
          <p:cNvCxnSpPr/>
          <p:nvPr/>
        </p:nvCxnSpPr>
        <p:spPr>
          <a:xfrm rot="10800000">
            <a:off x="2339975" y="1557338"/>
            <a:ext cx="719138" cy="719137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4" name="Google Shape;1554;p30"/>
          <p:cNvSpPr/>
          <p:nvPr/>
        </p:nvSpPr>
        <p:spPr>
          <a:xfrm>
            <a:off x="1187450" y="2060575"/>
            <a:ext cx="485775" cy="1584325"/>
          </a:xfrm>
          <a:prstGeom prst="upArrow">
            <a:avLst>
              <a:gd fmla="val 50000" name="adj1"/>
              <a:gd fmla="val 81536" name="adj2"/>
            </a:avLst>
          </a:prstGeom>
          <a:solidFill>
            <a:srgbClr val="FF3399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30"/>
          <p:cNvSpPr txBox="1"/>
          <p:nvPr/>
        </p:nvSpPr>
        <p:spPr>
          <a:xfrm rot="5400000">
            <a:off x="737195" y="2830314"/>
            <a:ext cx="1386284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Emissary Vs.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vp" id="1560" name="Google Shape;15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6238" y="0"/>
            <a:ext cx="4875212" cy="53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31"/>
          <p:cNvSpPr/>
          <p:nvPr/>
        </p:nvSpPr>
        <p:spPr>
          <a:xfrm>
            <a:off x="1187450" y="549275"/>
            <a:ext cx="1728788" cy="5762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Cavernous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Sinus</a:t>
            </a:r>
            <a:endParaRPr/>
          </a:p>
        </p:txBody>
      </p:sp>
      <p:cxnSp>
        <p:nvCxnSpPr>
          <p:cNvPr id="1562" name="Google Shape;1562;p31"/>
          <p:cNvCxnSpPr/>
          <p:nvPr/>
        </p:nvCxnSpPr>
        <p:spPr>
          <a:xfrm>
            <a:off x="2916238" y="1052513"/>
            <a:ext cx="792162" cy="7207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3" name="Google Shape;1563;p31"/>
          <p:cNvSpPr/>
          <p:nvPr/>
        </p:nvSpPr>
        <p:spPr>
          <a:xfrm>
            <a:off x="611188" y="2349500"/>
            <a:ext cx="2089150" cy="64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Pterygoid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Venous Plexus</a:t>
            </a:r>
            <a:endParaRPr/>
          </a:p>
        </p:txBody>
      </p:sp>
      <p:cxnSp>
        <p:nvCxnSpPr>
          <p:cNvPr id="1564" name="Google Shape;1564;p31"/>
          <p:cNvCxnSpPr/>
          <p:nvPr/>
        </p:nvCxnSpPr>
        <p:spPr>
          <a:xfrm flipH="1" rot="10800000">
            <a:off x="2700338" y="2565400"/>
            <a:ext cx="1655762" cy="71438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5" name="Google Shape;1565;p31"/>
          <p:cNvSpPr/>
          <p:nvPr/>
        </p:nvSpPr>
        <p:spPr>
          <a:xfrm>
            <a:off x="7235825" y="4508500"/>
            <a:ext cx="1223963" cy="5048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V.</a:t>
            </a:r>
            <a:endParaRPr/>
          </a:p>
        </p:txBody>
      </p:sp>
      <p:cxnSp>
        <p:nvCxnSpPr>
          <p:cNvPr id="1566" name="Google Shape;1566;p31"/>
          <p:cNvCxnSpPr/>
          <p:nvPr/>
        </p:nvCxnSpPr>
        <p:spPr>
          <a:xfrm rot="10800000">
            <a:off x="6227763" y="2708275"/>
            <a:ext cx="1512887" cy="1800225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7" name="Google Shape;1567;p31"/>
          <p:cNvSpPr/>
          <p:nvPr/>
        </p:nvSpPr>
        <p:spPr>
          <a:xfrm>
            <a:off x="6948488" y="1844675"/>
            <a:ext cx="1944687" cy="7207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Sup.Ophth.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V.</a:t>
            </a:r>
            <a:endParaRPr/>
          </a:p>
        </p:txBody>
      </p:sp>
      <p:cxnSp>
        <p:nvCxnSpPr>
          <p:cNvPr id="1568" name="Google Shape;1568;p31"/>
          <p:cNvCxnSpPr/>
          <p:nvPr/>
        </p:nvCxnSpPr>
        <p:spPr>
          <a:xfrm rot="10800000">
            <a:off x="5580063" y="836613"/>
            <a:ext cx="1800225" cy="1008062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32"/>
          <p:cNvSpPr/>
          <p:nvPr/>
        </p:nvSpPr>
        <p:spPr>
          <a:xfrm>
            <a:off x="2843213" y="333375"/>
            <a:ext cx="3095625" cy="620713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None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facial vein</a:t>
            </a:r>
            <a:endParaRPr/>
          </a:p>
        </p:txBody>
      </p:sp>
      <p:sp>
        <p:nvSpPr>
          <p:cNvPr id="1574" name="Google Shape;1574;p32"/>
          <p:cNvSpPr/>
          <p:nvPr/>
        </p:nvSpPr>
        <p:spPr>
          <a:xfrm>
            <a:off x="323850" y="4005263"/>
            <a:ext cx="3095625" cy="13684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Pterygoid venous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plexus</a:t>
            </a:r>
            <a:endParaRPr/>
          </a:p>
        </p:txBody>
      </p:sp>
      <p:sp>
        <p:nvSpPr>
          <p:cNvPr id="1575" name="Google Shape;1575;p32"/>
          <p:cNvSpPr/>
          <p:nvPr/>
        </p:nvSpPr>
        <p:spPr>
          <a:xfrm>
            <a:off x="5219700" y="3860800"/>
            <a:ext cx="3168650" cy="1368425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lang="en-US" sz="32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Cavernous sinus</a:t>
            </a:r>
            <a:endParaRPr/>
          </a:p>
        </p:txBody>
      </p:sp>
      <p:sp>
        <p:nvSpPr>
          <p:cNvPr id="1576" name="Google Shape;1576;p32"/>
          <p:cNvSpPr txBox="1"/>
          <p:nvPr/>
        </p:nvSpPr>
        <p:spPr>
          <a:xfrm>
            <a:off x="5651500" y="1628775"/>
            <a:ext cx="23034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32"/>
          <p:cNvSpPr txBox="1"/>
          <p:nvPr/>
        </p:nvSpPr>
        <p:spPr>
          <a:xfrm>
            <a:off x="2916238" y="5949950"/>
            <a:ext cx="33845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i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Emissary veins</a:t>
            </a:r>
            <a:endParaRPr/>
          </a:p>
        </p:txBody>
      </p:sp>
      <p:sp>
        <p:nvSpPr>
          <p:cNvPr id="1578" name="Google Shape;1578;p32"/>
          <p:cNvSpPr/>
          <p:nvPr/>
        </p:nvSpPr>
        <p:spPr>
          <a:xfrm>
            <a:off x="611188" y="692150"/>
            <a:ext cx="2089150" cy="3313113"/>
          </a:xfrm>
          <a:prstGeom prst="curvedRightArrow">
            <a:avLst>
              <a:gd fmla="val 31717" name="adj1"/>
              <a:gd fmla="val 63435" name="adj2"/>
              <a:gd fmla="val 33333" name="adj3"/>
            </a:avLst>
          </a:prstGeom>
          <a:solidFill>
            <a:srgbClr val="00FF00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Deep facial V.</a:t>
            </a:r>
            <a:endParaRPr/>
          </a:p>
        </p:txBody>
      </p:sp>
      <p:sp>
        <p:nvSpPr>
          <p:cNvPr id="1579" name="Google Shape;1579;p32"/>
          <p:cNvSpPr/>
          <p:nvPr/>
        </p:nvSpPr>
        <p:spPr>
          <a:xfrm>
            <a:off x="6011863" y="692150"/>
            <a:ext cx="1728787" cy="3241675"/>
          </a:xfrm>
          <a:prstGeom prst="curvedLeftArrow">
            <a:avLst>
              <a:gd fmla="val 37502" name="adj1"/>
              <a:gd fmla="val 75005" name="adj2"/>
              <a:gd fmla="val 33333" name="adj3"/>
            </a:avLst>
          </a:prstGeom>
          <a:solidFill>
            <a:srgbClr val="00FF00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Sup.oph.V.</a:t>
            </a:r>
            <a:endParaRPr/>
          </a:p>
        </p:txBody>
      </p:sp>
      <p:sp>
        <p:nvSpPr>
          <p:cNvPr id="1580" name="Google Shape;1580;p32"/>
          <p:cNvSpPr/>
          <p:nvPr/>
        </p:nvSpPr>
        <p:spPr>
          <a:xfrm>
            <a:off x="3059113" y="5157788"/>
            <a:ext cx="3384550" cy="806450"/>
          </a:xfrm>
          <a:prstGeom prst="curvedUpArrow">
            <a:avLst>
              <a:gd fmla="val 77972" name="adj1"/>
              <a:gd fmla="val 161909" name="adj2"/>
              <a:gd fmla="val 33333" name="adj3"/>
            </a:avLst>
          </a:prstGeom>
          <a:solidFill>
            <a:srgbClr val="00FF00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nnySmiley1" id="1585" name="Google Shape;15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Narrow vertical" id="1586" name="Google Shape;1586;p33"/>
          <p:cNvSpPr/>
          <p:nvPr/>
        </p:nvSpPr>
        <p:spPr>
          <a:xfrm>
            <a:off x="1692275" y="1628775"/>
            <a:ext cx="5832475" cy="331311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 Black"/>
              </a:rPr>
              <a:t>Dangerous area of</a:t>
            </a:r>
            <a:br>
              <a:rPr b="0" i="0"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 Black"/>
              </a:rPr>
            </a:br>
            <a:r>
              <a:rPr b="0" i="0"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 Black"/>
              </a:rPr>
              <a:t>the face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15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ngerousareaoftheface.gif" id="1591" name="Google Shape;1591;p34"/>
          <p:cNvPicPr preferRelativeResize="0"/>
          <p:nvPr/>
        </p:nvPicPr>
        <p:blipFill rotWithShape="1">
          <a:blip r:embed="rId3">
            <a:alphaModFix/>
          </a:blip>
          <a:srcRect b="22498" l="0" r="0" t="4030"/>
          <a:stretch/>
        </p:blipFill>
        <p:spPr>
          <a:xfrm>
            <a:off x="1116013" y="250825"/>
            <a:ext cx="6696075" cy="582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6104,xcitefun-face-6" id="1592" name="Google Shape;159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9975" y="620713"/>
            <a:ext cx="4764088" cy="59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1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ww" id="1597" name="Google Shape;15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5" y="260350"/>
            <a:ext cx="5976938" cy="5976938"/>
          </a:xfrm>
          <a:prstGeom prst="rect">
            <a:avLst/>
          </a:prstGeom>
          <a:noFill/>
          <a:ln>
            <a:noFill/>
          </a:ln>
        </p:spPr>
      </p:pic>
      <p:sp>
        <p:nvSpPr>
          <p:cNvPr descr="Narrow vertical" id="1598" name="Google Shape;1598;p35"/>
          <p:cNvSpPr/>
          <p:nvPr/>
        </p:nvSpPr>
        <p:spPr>
          <a:xfrm>
            <a:off x="1403350" y="1700213"/>
            <a:ext cx="6481763" cy="266541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00"/>
                </a:solidFill>
                <a:latin typeface="Arial Black"/>
              </a:rPr>
              <a:t>Lymph Drainage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ymph1" id="1603" name="Google Shape;1603;p36"/>
          <p:cNvPicPr preferRelativeResize="0"/>
          <p:nvPr/>
        </p:nvPicPr>
        <p:blipFill rotWithShape="1">
          <a:blip r:embed="rId3">
            <a:alphaModFix/>
          </a:blip>
          <a:srcRect b="14508" l="0" r="0" t="2460"/>
          <a:stretch/>
        </p:blipFill>
        <p:spPr>
          <a:xfrm>
            <a:off x="2051050" y="404813"/>
            <a:ext cx="6216650" cy="6453187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36"/>
          <p:cNvSpPr/>
          <p:nvPr/>
        </p:nvSpPr>
        <p:spPr>
          <a:xfrm>
            <a:off x="7019925" y="692150"/>
            <a:ext cx="1728788" cy="43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i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Parotid L.N</a:t>
            </a:r>
            <a:r>
              <a:rPr b="1" i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cxnSp>
        <p:nvCxnSpPr>
          <p:cNvPr id="1605" name="Google Shape;1605;p36"/>
          <p:cNvCxnSpPr/>
          <p:nvPr/>
        </p:nvCxnSpPr>
        <p:spPr>
          <a:xfrm flipH="1">
            <a:off x="5435600" y="1125538"/>
            <a:ext cx="1873250" cy="1439862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6" name="Google Shape;1606;p36"/>
          <p:cNvCxnSpPr/>
          <p:nvPr/>
        </p:nvCxnSpPr>
        <p:spPr>
          <a:xfrm flipH="1">
            <a:off x="5580063" y="1125538"/>
            <a:ext cx="1655762" cy="1727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7" name="Google Shape;1607;p36"/>
          <p:cNvSpPr/>
          <p:nvPr/>
        </p:nvSpPr>
        <p:spPr>
          <a:xfrm>
            <a:off x="395288" y="692150"/>
            <a:ext cx="4029075" cy="6477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Arial Black"/>
              </a:rPr>
              <a:t>Lymph Drainage</a:t>
            </a:r>
          </a:p>
        </p:txBody>
      </p:sp>
      <p:cxnSp>
        <p:nvCxnSpPr>
          <p:cNvPr id="1608" name="Google Shape;1608;p36"/>
          <p:cNvCxnSpPr/>
          <p:nvPr/>
        </p:nvCxnSpPr>
        <p:spPr>
          <a:xfrm rot="10800000">
            <a:off x="4067175" y="2133600"/>
            <a:ext cx="288925" cy="0"/>
          </a:xfrm>
          <a:prstGeom prst="straightConnector1">
            <a:avLst/>
          </a:prstGeom>
          <a:noFill/>
          <a:ln cap="flat" cmpd="sng" w="762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9" name="Google Shape;1609;p36"/>
          <p:cNvCxnSpPr/>
          <p:nvPr/>
        </p:nvCxnSpPr>
        <p:spPr>
          <a:xfrm>
            <a:off x="3421063" y="3141663"/>
            <a:ext cx="71437" cy="71437"/>
          </a:xfrm>
          <a:prstGeom prst="straightConnector1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0" name="Google Shape;1610;p36"/>
          <p:cNvCxnSpPr/>
          <p:nvPr/>
        </p:nvCxnSpPr>
        <p:spPr>
          <a:xfrm rot="10800000">
            <a:off x="3276600" y="3141663"/>
            <a:ext cx="0" cy="73025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u="sng">
                <a:solidFill>
                  <a:srgbClr val="FF3399"/>
                </a:solidFill>
                <a:latin typeface="Anton"/>
                <a:ea typeface="Anton"/>
                <a:cs typeface="Anton"/>
                <a:sym typeface="Anton"/>
              </a:rPr>
              <a:t>Lymph drainage of the face</a:t>
            </a:r>
            <a:endParaRPr/>
          </a:p>
        </p:txBody>
      </p:sp>
      <p:sp>
        <p:nvSpPr>
          <p:cNvPr id="1616" name="Google Shape;1616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Char char="•"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Lat.part of the face……..parotid lymph nodes .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Char char="•"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Medial part of the face…submandibular lymph nodes .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Char char="•"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Central part of lower lip &amp; chin…………submental lymph nodes 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nny_face_balloon_girl_md_wm" id="1621" name="Google Shape;16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3" y="0"/>
            <a:ext cx="4824412" cy="4824413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38"/>
          <p:cNvSpPr/>
          <p:nvPr/>
        </p:nvSpPr>
        <p:spPr>
          <a:xfrm>
            <a:off x="539750" y="2492375"/>
            <a:ext cx="7489825" cy="33845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Times New Roman"/>
              </a:rPr>
              <a:t>Nerve Supply of</a:t>
            </a:r>
            <a:b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Times New Roman"/>
              </a:rPr>
            </a:br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Times New Roman"/>
              </a:rPr>
              <a:t> the Face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39"/>
          <p:cNvSpPr/>
          <p:nvPr/>
        </p:nvSpPr>
        <p:spPr>
          <a:xfrm>
            <a:off x="1692275" y="549275"/>
            <a:ext cx="5832475" cy="1295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None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Nerve supply of the face</a:t>
            </a:r>
            <a:endParaRPr/>
          </a:p>
        </p:txBody>
      </p:sp>
      <p:sp>
        <p:nvSpPr>
          <p:cNvPr id="1628" name="Google Shape;1628;p39"/>
          <p:cNvSpPr/>
          <p:nvPr/>
        </p:nvSpPr>
        <p:spPr>
          <a:xfrm>
            <a:off x="1258888" y="3284538"/>
            <a:ext cx="2735262" cy="79216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Libre Baskerville"/>
              <a:buNone/>
            </a:pPr>
            <a:r>
              <a:rPr b="1" lang="en-US" sz="36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Sensory</a:t>
            </a:r>
            <a:endParaRPr/>
          </a:p>
        </p:txBody>
      </p:sp>
      <p:sp>
        <p:nvSpPr>
          <p:cNvPr id="1629" name="Google Shape;1629;p39"/>
          <p:cNvSpPr/>
          <p:nvPr/>
        </p:nvSpPr>
        <p:spPr>
          <a:xfrm>
            <a:off x="5292725" y="3357563"/>
            <a:ext cx="2806700" cy="722312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None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Motor</a:t>
            </a:r>
            <a:endParaRPr/>
          </a:p>
        </p:txBody>
      </p:sp>
      <p:cxnSp>
        <p:nvCxnSpPr>
          <p:cNvPr id="1630" name="Google Shape;1630;p39"/>
          <p:cNvCxnSpPr/>
          <p:nvPr/>
        </p:nvCxnSpPr>
        <p:spPr>
          <a:xfrm flipH="1">
            <a:off x="2555875" y="1844675"/>
            <a:ext cx="1871663" cy="1368425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1" name="Google Shape;1631;p39"/>
          <p:cNvCxnSpPr/>
          <p:nvPr/>
        </p:nvCxnSpPr>
        <p:spPr>
          <a:xfrm>
            <a:off x="4427538" y="1844675"/>
            <a:ext cx="1944687" cy="1439863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SUN_happy" id="1632" name="Google Shape;1632;p39"/>
          <p:cNvPicPr preferRelativeResize="0"/>
          <p:nvPr/>
        </p:nvPicPr>
        <p:blipFill rotWithShape="1">
          <a:blip r:embed="rId3">
            <a:alphaModFix/>
          </a:blip>
          <a:srcRect b="0" l="13393" r="25739" t="0"/>
          <a:stretch/>
        </p:blipFill>
        <p:spPr>
          <a:xfrm>
            <a:off x="2771775" y="3573463"/>
            <a:ext cx="3255963" cy="3284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es_65" id="1637" name="Google Shape;163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8" y="3644900"/>
            <a:ext cx="2435225" cy="2865438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40"/>
          <p:cNvSpPr/>
          <p:nvPr/>
        </p:nvSpPr>
        <p:spPr>
          <a:xfrm>
            <a:off x="2268538" y="1196975"/>
            <a:ext cx="5183187" cy="27368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2700">
                  <a:solidFill>
                    <a:srgbClr val="EAEAEA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0"/>
                </a:gradFill>
                <a:latin typeface="Arial Black"/>
              </a:rPr>
              <a:t>Facial Nerve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350px-Head_facial_nerve_branches" id="1643" name="Google Shape;16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738" y="0"/>
            <a:ext cx="5148262" cy="430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002" id="1644" name="Google Shape;1644;p41"/>
          <p:cNvPicPr preferRelativeResize="0"/>
          <p:nvPr/>
        </p:nvPicPr>
        <p:blipFill rotWithShape="1">
          <a:blip r:embed="rId4">
            <a:alphaModFix/>
          </a:blip>
          <a:srcRect b="0" l="0" r="45839" t="0"/>
          <a:stretch/>
        </p:blipFill>
        <p:spPr>
          <a:xfrm>
            <a:off x="0" y="1557338"/>
            <a:ext cx="4554538" cy="4941887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41"/>
          <p:cNvSpPr/>
          <p:nvPr/>
        </p:nvSpPr>
        <p:spPr>
          <a:xfrm>
            <a:off x="468313" y="836613"/>
            <a:ext cx="3816350" cy="122396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Arial Black"/>
              </a:rPr>
              <a:t>Facial Nerve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n_vii_branches" id="1650" name="Google Shape;165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7521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002" id="1651" name="Google Shape;1651;p42"/>
          <p:cNvPicPr preferRelativeResize="0"/>
          <p:nvPr/>
        </p:nvPicPr>
        <p:blipFill rotWithShape="1">
          <a:blip r:embed="rId4">
            <a:alphaModFix/>
          </a:blip>
          <a:srcRect b="8528" l="0" r="49294" t="7837"/>
          <a:stretch/>
        </p:blipFill>
        <p:spPr>
          <a:xfrm>
            <a:off x="4389438" y="908050"/>
            <a:ext cx="4754562" cy="4608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rtoon_tomato_with_a_funny_face_and_the_stem_and_leaves_as_hair_0515-1006-2505-3722_SMU" id="1656" name="Google Shape;16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738" y="2070100"/>
            <a:ext cx="4824412" cy="42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7" name="Google Shape;1657;p43"/>
          <p:cNvSpPr/>
          <p:nvPr/>
        </p:nvSpPr>
        <p:spPr>
          <a:xfrm>
            <a:off x="971550" y="620713"/>
            <a:ext cx="3771900" cy="198913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12700">
                  <a:solidFill>
                    <a:srgbClr val="EAEAEA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0"/>
                </a:gradFill>
                <a:latin typeface="Arial Black"/>
              </a:rPr>
              <a:t>Sensory supply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igeminal n" id="1662" name="Google Shape;1662;p44"/>
          <p:cNvPicPr preferRelativeResize="0"/>
          <p:nvPr/>
        </p:nvPicPr>
        <p:blipFill rotWithShape="1">
          <a:blip r:embed="rId3">
            <a:alphaModFix/>
          </a:blip>
          <a:srcRect b="26930" l="22873" r="31360" t="10614"/>
          <a:stretch/>
        </p:blipFill>
        <p:spPr>
          <a:xfrm>
            <a:off x="1403350" y="0"/>
            <a:ext cx="6626225" cy="67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44"/>
          <p:cNvSpPr txBox="1"/>
          <p:nvPr/>
        </p:nvSpPr>
        <p:spPr>
          <a:xfrm>
            <a:off x="395288" y="404813"/>
            <a:ext cx="21605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Ophthalmic n</a:t>
            </a:r>
            <a:endParaRPr/>
          </a:p>
        </p:txBody>
      </p:sp>
      <p:cxnSp>
        <p:nvCxnSpPr>
          <p:cNvPr id="1664" name="Google Shape;1664;p44"/>
          <p:cNvCxnSpPr/>
          <p:nvPr/>
        </p:nvCxnSpPr>
        <p:spPr>
          <a:xfrm>
            <a:off x="2268538" y="692150"/>
            <a:ext cx="1150937" cy="792163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5" name="Google Shape;1665;p44"/>
          <p:cNvSpPr txBox="1"/>
          <p:nvPr/>
        </p:nvSpPr>
        <p:spPr>
          <a:xfrm>
            <a:off x="0" y="2565400"/>
            <a:ext cx="212407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Maxillary n.</a:t>
            </a:r>
            <a:endParaRPr/>
          </a:p>
        </p:txBody>
      </p:sp>
      <p:cxnSp>
        <p:nvCxnSpPr>
          <p:cNvPr id="1666" name="Google Shape;1666;p44"/>
          <p:cNvCxnSpPr/>
          <p:nvPr/>
        </p:nvCxnSpPr>
        <p:spPr>
          <a:xfrm>
            <a:off x="1908175" y="2781300"/>
            <a:ext cx="1512888" cy="1008063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7" name="Google Shape;1667;p44"/>
          <p:cNvSpPr txBox="1"/>
          <p:nvPr/>
        </p:nvSpPr>
        <p:spPr>
          <a:xfrm>
            <a:off x="179388" y="5516563"/>
            <a:ext cx="2700337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Mandibular n.</a:t>
            </a:r>
            <a:endParaRPr/>
          </a:p>
        </p:txBody>
      </p:sp>
      <p:cxnSp>
        <p:nvCxnSpPr>
          <p:cNvPr id="1668" name="Google Shape;1668;p44"/>
          <p:cNvCxnSpPr/>
          <p:nvPr/>
        </p:nvCxnSpPr>
        <p:spPr>
          <a:xfrm flipH="1" rot="10800000">
            <a:off x="2484438" y="4724400"/>
            <a:ext cx="1582737" cy="1011238"/>
          </a:xfrm>
          <a:prstGeom prst="straightConnector1">
            <a:avLst/>
          </a:prstGeom>
          <a:noFill/>
          <a:ln cap="flat" cmpd="sng" w="3810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9" name="Google Shape;1669;p44"/>
          <p:cNvSpPr txBox="1"/>
          <p:nvPr/>
        </p:nvSpPr>
        <p:spPr>
          <a:xfrm>
            <a:off x="6804025" y="3573463"/>
            <a:ext cx="183515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ibre Baskerville"/>
              <a:buNone/>
            </a:pPr>
            <a:r>
              <a:rPr b="1" lang="en-US" sz="24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Great auricular n.</a:t>
            </a:r>
            <a:endParaRPr/>
          </a:p>
        </p:txBody>
      </p:sp>
      <p:cxnSp>
        <p:nvCxnSpPr>
          <p:cNvPr id="1670" name="Google Shape;1670;p44"/>
          <p:cNvCxnSpPr/>
          <p:nvPr/>
        </p:nvCxnSpPr>
        <p:spPr>
          <a:xfrm flipH="1">
            <a:off x="4859338" y="4365625"/>
            <a:ext cx="2592387" cy="358775"/>
          </a:xfrm>
          <a:prstGeom prst="straightConnector1">
            <a:avLst/>
          </a:prstGeom>
          <a:noFill/>
          <a:ln cap="flat" cmpd="sng" w="57150">
            <a:solidFill>
              <a:srgbClr val="FF33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igeminalDetail" id="1675" name="Google Shape;16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0263" y="1528763"/>
            <a:ext cx="4503737" cy="5329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igeminal_nerve" id="1676" name="Google Shape;1676;p45"/>
          <p:cNvPicPr preferRelativeResize="0"/>
          <p:nvPr/>
        </p:nvPicPr>
        <p:blipFill rotWithShape="1">
          <a:blip r:embed="rId4">
            <a:alphaModFix/>
          </a:blip>
          <a:srcRect b="0" l="9822" r="0" t="0"/>
          <a:stretch/>
        </p:blipFill>
        <p:spPr>
          <a:xfrm>
            <a:off x="0" y="0"/>
            <a:ext cx="5291138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1" name="Google Shape;1681;p46"/>
          <p:cNvPicPr preferRelativeResize="0"/>
          <p:nvPr/>
        </p:nvPicPr>
        <p:blipFill rotWithShape="1">
          <a:blip r:embed="rId3">
            <a:alphaModFix/>
          </a:blip>
          <a:srcRect b="3094" l="0" r="0" t="0"/>
          <a:stretch/>
        </p:blipFill>
        <p:spPr>
          <a:xfrm>
            <a:off x="900113" y="139700"/>
            <a:ext cx="7416800" cy="631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82" name="Google Shape;1682;p46"/>
          <p:cNvSpPr txBox="1"/>
          <p:nvPr/>
        </p:nvSpPr>
        <p:spPr>
          <a:xfrm>
            <a:off x="6551613" y="4508500"/>
            <a:ext cx="2592387" cy="40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Auriculotemporal n.</a:t>
            </a:r>
            <a:endParaRPr/>
          </a:p>
        </p:txBody>
      </p:sp>
      <p:sp>
        <p:nvSpPr>
          <p:cNvPr id="1683" name="Google Shape;1683;p46"/>
          <p:cNvSpPr txBox="1"/>
          <p:nvPr/>
        </p:nvSpPr>
        <p:spPr>
          <a:xfrm>
            <a:off x="684213" y="5805488"/>
            <a:ext cx="1584325" cy="4667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Mental n.</a:t>
            </a:r>
            <a:endParaRPr/>
          </a:p>
        </p:txBody>
      </p:sp>
      <p:sp>
        <p:nvSpPr>
          <p:cNvPr id="1684" name="Google Shape;1684;p46"/>
          <p:cNvSpPr txBox="1"/>
          <p:nvPr/>
        </p:nvSpPr>
        <p:spPr>
          <a:xfrm>
            <a:off x="5148263" y="5876925"/>
            <a:ext cx="2592387" cy="40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Zygomaticofacial n.</a:t>
            </a:r>
            <a:endParaRPr/>
          </a:p>
        </p:txBody>
      </p:sp>
      <p:sp>
        <p:nvSpPr>
          <p:cNvPr id="1685" name="Google Shape;1685;p46"/>
          <p:cNvSpPr txBox="1"/>
          <p:nvPr/>
        </p:nvSpPr>
        <p:spPr>
          <a:xfrm>
            <a:off x="611188" y="1700213"/>
            <a:ext cx="2089150" cy="40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Supra-orbital n.</a:t>
            </a:r>
            <a:endParaRPr/>
          </a:p>
        </p:txBody>
      </p:sp>
      <p:sp>
        <p:nvSpPr>
          <p:cNvPr id="1686" name="Google Shape;1686;p46"/>
          <p:cNvSpPr txBox="1"/>
          <p:nvPr/>
        </p:nvSpPr>
        <p:spPr>
          <a:xfrm>
            <a:off x="250825" y="2133600"/>
            <a:ext cx="2592388" cy="40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Supra trochlear n.</a:t>
            </a:r>
            <a:endParaRPr/>
          </a:p>
        </p:txBody>
      </p:sp>
      <p:sp>
        <p:nvSpPr>
          <p:cNvPr id="1687" name="Google Shape;1687;p46"/>
          <p:cNvSpPr txBox="1"/>
          <p:nvPr/>
        </p:nvSpPr>
        <p:spPr>
          <a:xfrm>
            <a:off x="755650" y="2708275"/>
            <a:ext cx="1657350" cy="40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Lacrimal n.</a:t>
            </a:r>
            <a:endParaRPr/>
          </a:p>
        </p:txBody>
      </p:sp>
      <p:sp>
        <p:nvSpPr>
          <p:cNvPr id="1688" name="Google Shape;1688;p46"/>
          <p:cNvSpPr txBox="1"/>
          <p:nvPr/>
        </p:nvSpPr>
        <p:spPr>
          <a:xfrm>
            <a:off x="827088" y="4724400"/>
            <a:ext cx="1584325" cy="4667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Buccal n.</a:t>
            </a:r>
            <a:endParaRPr/>
          </a:p>
        </p:txBody>
      </p:sp>
      <p:sp>
        <p:nvSpPr>
          <p:cNvPr id="1689" name="Google Shape;1689;p46"/>
          <p:cNvSpPr txBox="1"/>
          <p:nvPr/>
        </p:nvSpPr>
        <p:spPr>
          <a:xfrm>
            <a:off x="468313" y="3141663"/>
            <a:ext cx="2303462" cy="40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Infra trochlear n.</a:t>
            </a:r>
            <a:endParaRPr/>
          </a:p>
        </p:txBody>
      </p:sp>
      <p:sp>
        <p:nvSpPr>
          <p:cNvPr id="1690" name="Google Shape;1690;p46"/>
          <p:cNvSpPr txBox="1"/>
          <p:nvPr/>
        </p:nvSpPr>
        <p:spPr>
          <a:xfrm>
            <a:off x="539750" y="3644900"/>
            <a:ext cx="2087563" cy="40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External nasal</a:t>
            </a:r>
            <a:endParaRPr/>
          </a:p>
        </p:txBody>
      </p:sp>
      <p:sp>
        <p:nvSpPr>
          <p:cNvPr id="1691" name="Google Shape;1691;p46"/>
          <p:cNvSpPr txBox="1"/>
          <p:nvPr/>
        </p:nvSpPr>
        <p:spPr>
          <a:xfrm>
            <a:off x="611188" y="4292600"/>
            <a:ext cx="2087562" cy="40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Infra orbital n.</a:t>
            </a:r>
            <a:endParaRPr/>
          </a:p>
        </p:txBody>
      </p:sp>
      <p:sp>
        <p:nvSpPr>
          <p:cNvPr id="1692" name="Google Shape;1692;p46"/>
          <p:cNvSpPr txBox="1"/>
          <p:nvPr/>
        </p:nvSpPr>
        <p:spPr>
          <a:xfrm>
            <a:off x="468313" y="333375"/>
            <a:ext cx="2735262" cy="71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Zygomaticotemporal nerve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nsorynervesofface" id="1697" name="Google Shape;169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8325" y="0"/>
            <a:ext cx="4765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47"/>
          <p:cNvSpPr txBox="1"/>
          <p:nvPr/>
        </p:nvSpPr>
        <p:spPr>
          <a:xfrm>
            <a:off x="900113" y="836613"/>
            <a:ext cx="3167062" cy="5008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Supra-orbital nerve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Infra-orbital nerve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Libre Baskerville"/>
              <a:buNone/>
            </a:pPr>
            <a:r>
              <a:rPr b="1" lang="en-US" sz="28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Mental nerve</a:t>
            </a:r>
            <a:endParaRPr/>
          </a:p>
        </p:txBody>
      </p:sp>
      <p:cxnSp>
        <p:nvCxnSpPr>
          <p:cNvPr id="1699" name="Google Shape;1699;p47"/>
          <p:cNvCxnSpPr/>
          <p:nvPr/>
        </p:nvCxnSpPr>
        <p:spPr>
          <a:xfrm rot="10800000">
            <a:off x="6156325" y="6237288"/>
            <a:ext cx="360363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00" name="Google Shape;1700;p47"/>
          <p:cNvCxnSpPr/>
          <p:nvPr/>
        </p:nvCxnSpPr>
        <p:spPr>
          <a:xfrm rot="10800000">
            <a:off x="6011863" y="4005263"/>
            <a:ext cx="360362" cy="0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1701" name="Google Shape;1701;p47"/>
          <p:cNvCxnSpPr/>
          <p:nvPr/>
        </p:nvCxnSpPr>
        <p:spPr>
          <a:xfrm rot="10800000">
            <a:off x="6084888" y="2636838"/>
            <a:ext cx="360362" cy="0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u="sng">
                <a:solidFill>
                  <a:srgbClr val="FF3399"/>
                </a:solidFill>
                <a:latin typeface="Algerian"/>
                <a:ea typeface="Algerian"/>
                <a:cs typeface="Algerian"/>
                <a:sym typeface="Algerian"/>
              </a:rPr>
              <a:t>Ophthalmic nerve</a:t>
            </a:r>
            <a:endParaRPr/>
          </a:p>
        </p:txBody>
      </p:sp>
      <p:sp>
        <p:nvSpPr>
          <p:cNvPr id="1707" name="Google Shape;1707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Char char="•"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Supraorbital &amp; supratrochlear nerves…...forehead &amp; upper eyelid.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Char char="•"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Lacrimal nerve…lateral part of upper eyelid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Char char="•"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Infratrochlear nerve…lower eyelid .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4000"/>
              <a:buFont typeface="Libre Baskerville"/>
              <a:buChar char="•"/>
            </a:pPr>
            <a:r>
              <a:rPr b="1" lang="en-US" sz="40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External nasal…nose till the tip .</a:t>
            </a:r>
            <a:endParaRPr/>
          </a:p>
        </p:txBody>
      </p:sp>
      <p:pic>
        <p:nvPicPr>
          <p:cNvPr descr="smileytongue" id="1708" name="Google Shape;170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7988" y="5734050"/>
            <a:ext cx="895350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u="sng">
                <a:solidFill>
                  <a:srgbClr val="FF3399"/>
                </a:solidFill>
                <a:latin typeface="Baumans"/>
                <a:ea typeface="Baumans"/>
                <a:cs typeface="Baumans"/>
                <a:sym typeface="Baumans"/>
              </a:rPr>
              <a:t>Maxillary nerve</a:t>
            </a:r>
            <a:endParaRPr/>
          </a:p>
        </p:txBody>
      </p:sp>
      <p:sp>
        <p:nvSpPr>
          <p:cNvPr id="1714" name="Google Shape;1714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Libre Baskerville"/>
              <a:buChar char="•"/>
            </a:pPr>
            <a:r>
              <a:rPr b="1" lang="en-US" sz="36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Infraorbital….palpebral &amp; nasal &amp;labial .</a:t>
            </a:r>
            <a:endParaRPr/>
          </a:p>
          <a:p>
            <a:pPr indent="-114300" lvl="0" marL="3429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Libre Baskerville"/>
              <a:buChar char="•"/>
            </a:pPr>
            <a:r>
              <a:rPr b="1" lang="en-US" sz="36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Zygomaticofacial….skin over zygomatic bone .</a:t>
            </a:r>
            <a:endParaRPr/>
          </a:p>
          <a:p>
            <a:pPr indent="-114300" lvl="0" marL="3429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42900" lvl="0" marL="342900" rtl="0" algn="l">
              <a:spcBef>
                <a:spcPts val="72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Libre Baskerville"/>
              <a:buChar char="•"/>
            </a:pPr>
            <a:r>
              <a:rPr b="1" lang="en-US" sz="3600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Zygomaticotemporal….skin of temple.</a:t>
            </a:r>
            <a:endParaRPr/>
          </a:p>
        </p:txBody>
      </p:sp>
      <p:pic>
        <p:nvPicPr>
          <p:cNvPr descr="Animated-HappyFaceJumpingRope" id="1715" name="Google Shape;171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5113" y="5445125"/>
            <a:ext cx="96837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u="sng">
                <a:solidFill>
                  <a:srgbClr val="FF3399"/>
                </a:solidFill>
                <a:latin typeface="Anton"/>
                <a:ea typeface="Anton"/>
                <a:cs typeface="Anton"/>
                <a:sym typeface="Anton"/>
              </a:rPr>
              <a:t>Mandibular nerve</a:t>
            </a:r>
            <a:endParaRPr/>
          </a:p>
        </p:txBody>
      </p:sp>
      <p:sp>
        <p:nvSpPr>
          <p:cNvPr id="1721" name="Google Shape;1721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Char char="•"/>
            </a:pPr>
            <a:r>
              <a:rPr b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Mental……lower lip&amp;chin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Char char="•"/>
            </a:pPr>
            <a:r>
              <a:rPr b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Buccal….skin over buccinator 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Char char="•"/>
            </a:pPr>
            <a:r>
              <a:rPr b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Auriculotemporal…skin over auricle&amp;temple .</a:t>
            </a:r>
            <a:endParaRPr/>
          </a:p>
        </p:txBody>
      </p:sp>
      <p:pic>
        <p:nvPicPr>
          <p:cNvPr descr="funny_facescalvinanhobbsanimatedava" id="1722" name="Google Shape;172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850" y="4733925"/>
            <a:ext cx="1835150" cy="18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51"/>
          <p:cNvSpPr/>
          <p:nvPr/>
        </p:nvSpPr>
        <p:spPr>
          <a:xfrm>
            <a:off x="468313" y="3141663"/>
            <a:ext cx="8210550" cy="6477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27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66">
                    <a:alpha val="50196"/>
                  </a:srgbClr>
                </a:solidFill>
                <a:latin typeface="Arial Black"/>
              </a:rPr>
              <a:t>FACE: CLINICAL ANATOMY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FACIAL INFECTION</a:t>
            </a:r>
            <a:endParaRPr/>
          </a:p>
        </p:txBody>
      </p:sp>
      <p:sp>
        <p:nvSpPr>
          <p:cNvPr id="1735" name="Google Shape;1735;p52"/>
          <p:cNvSpPr txBox="1"/>
          <p:nvPr>
            <p:ph idx="1" type="body"/>
          </p:nvPr>
        </p:nvSpPr>
        <p:spPr>
          <a:xfrm>
            <a:off x="291018" y="176723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3300"/>
                </a:solidFill>
              </a:rPr>
              <a:t>DANGEROUS AREA OF FACE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66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66"/>
                </a:solidFill>
              </a:rPr>
              <a:t>A triangular area bounded with an apex opposite the medial angles of eyes &amp; nose and a base formed by the upper lip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66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66"/>
                </a:solidFill>
              </a:rPr>
              <a:t>It is drained by facial vein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66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66"/>
                </a:solidFill>
              </a:rPr>
              <a:t>It has important communications with cavernous sinus: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00066"/>
              </a:solidFill>
            </a:endParaRPr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00066"/>
                </a:solidFill>
              </a:rPr>
              <a:t>		supraorbital &amp; superior ophthalmic veins 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00066"/>
                </a:solidFill>
              </a:rPr>
              <a:t> 	 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0066"/>
                </a:solidFill>
              </a:rPr>
              <a:t>Facial vein</a:t>
            </a:r>
            <a:r>
              <a:rPr b="1" lang="en-US" sz="1600">
                <a:solidFill>
                  <a:srgbClr val="000066"/>
                </a:solidFill>
              </a:rPr>
              <a:t> 				</a:t>
            </a:r>
            <a:r>
              <a:rPr b="1" lang="en-US" sz="2400">
                <a:solidFill>
                  <a:srgbClr val="FF0066"/>
                </a:solidFill>
              </a:rPr>
              <a:t>Cavernous sinus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00066"/>
              </a:solidFill>
            </a:endParaRPr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00066"/>
                </a:solidFill>
              </a:rPr>
              <a:t>	deep facial vein 	pterygoid plexus of veins		emmissary veins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rgbClr val="000066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00066"/>
                </a:solidFill>
              </a:rPr>
              <a:t>			</a:t>
            </a:r>
            <a:endParaRPr/>
          </a:p>
        </p:txBody>
      </p:sp>
      <p:cxnSp>
        <p:nvCxnSpPr>
          <p:cNvPr id="1736" name="Google Shape;1736;p52"/>
          <p:cNvCxnSpPr/>
          <p:nvPr/>
        </p:nvCxnSpPr>
        <p:spPr>
          <a:xfrm flipH="1" rot="10800000">
            <a:off x="1403350" y="4581525"/>
            <a:ext cx="1512888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7" name="Google Shape;1737;p52"/>
          <p:cNvCxnSpPr/>
          <p:nvPr/>
        </p:nvCxnSpPr>
        <p:spPr>
          <a:xfrm>
            <a:off x="3276600" y="4581525"/>
            <a:ext cx="1800225" cy="3603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8" name="Google Shape;1738;p52"/>
          <p:cNvCxnSpPr/>
          <p:nvPr/>
        </p:nvCxnSpPr>
        <p:spPr>
          <a:xfrm>
            <a:off x="1476375" y="5157788"/>
            <a:ext cx="719138" cy="3587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9" name="Google Shape;1739;p52"/>
          <p:cNvCxnSpPr/>
          <p:nvPr/>
        </p:nvCxnSpPr>
        <p:spPr>
          <a:xfrm>
            <a:off x="2771775" y="5661025"/>
            <a:ext cx="5048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0" name="Google Shape;1740;p52"/>
          <p:cNvCxnSpPr/>
          <p:nvPr/>
        </p:nvCxnSpPr>
        <p:spPr>
          <a:xfrm>
            <a:off x="5867400" y="5661025"/>
            <a:ext cx="10096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1" name="Google Shape;1741;p52"/>
          <p:cNvCxnSpPr/>
          <p:nvPr/>
        </p:nvCxnSpPr>
        <p:spPr>
          <a:xfrm rot="10800000">
            <a:off x="7164388" y="5157788"/>
            <a:ext cx="647700" cy="3587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FACIAL INFECTION</a:t>
            </a:r>
            <a:endParaRPr/>
          </a:p>
        </p:txBody>
      </p:sp>
      <p:sp>
        <p:nvSpPr>
          <p:cNvPr id="1748" name="Google Shape;1748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Arial"/>
              <a:buChar char="•"/>
            </a:pPr>
            <a:r>
              <a:rPr b="1" lang="en-US">
                <a:solidFill>
                  <a:srgbClr val="003300"/>
                </a:solidFill>
              </a:rPr>
              <a:t>DANGEROUS AREA OF FACE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Clr>
                <a:srgbClr val="000066"/>
              </a:buClr>
              <a:buSzPts val="3200"/>
              <a:buFont typeface="Arial"/>
              <a:buChar char="•"/>
            </a:pPr>
            <a:r>
              <a:rPr b="1" lang="en-US">
                <a:solidFill>
                  <a:srgbClr val="000066"/>
                </a:solidFill>
              </a:rPr>
              <a:t>Infection of this area may lead to: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Clr>
                <a:srgbClr val="000066"/>
              </a:buClr>
              <a:buSzPts val="3200"/>
              <a:buFont typeface="Arial"/>
              <a:buAutoNum type="arabicPeriod"/>
            </a:pPr>
            <a:r>
              <a:rPr b="1" lang="en-US">
                <a:solidFill>
                  <a:srgbClr val="000066"/>
                </a:solidFill>
              </a:rPr>
              <a:t>Thrombosis of facial vein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Clr>
                <a:srgbClr val="000066"/>
              </a:buClr>
              <a:buSzPts val="3200"/>
              <a:buFont typeface="Arial"/>
              <a:buAutoNum type="arabicPeriod"/>
            </a:pPr>
            <a:r>
              <a:rPr b="1" lang="en-US">
                <a:solidFill>
                  <a:srgbClr val="000066"/>
                </a:solidFill>
              </a:rPr>
              <a:t>Infection may be transmitted to cavernous sinus leading to cavernous sinus thrombosis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TRIGEMINAL NERVE</a:t>
            </a:r>
            <a:endParaRPr/>
          </a:p>
        </p:txBody>
      </p:sp>
      <p:sp>
        <p:nvSpPr>
          <p:cNvPr id="1755" name="Google Shape;1755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Arial"/>
              <a:buChar char="•"/>
            </a:pPr>
            <a:r>
              <a:rPr b="1" lang="en-US">
                <a:solidFill>
                  <a:srgbClr val="003300"/>
                </a:solidFill>
              </a:rPr>
              <a:t>Supplies the skin of the face EXCEPT the area over the angle of mandible &amp; parotid gland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Clr>
                <a:srgbClr val="003300"/>
              </a:buClr>
              <a:buSzPts val="3200"/>
              <a:buFont typeface="Arial"/>
              <a:buChar char="•"/>
            </a:pPr>
            <a:r>
              <a:rPr b="1" lang="en-US">
                <a:solidFill>
                  <a:srgbClr val="003300"/>
                </a:solidFill>
              </a:rPr>
              <a:t>Is represented by 3 divisions: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AutoNum type="arabicPeriod"/>
            </a:pPr>
            <a:r>
              <a:rPr b="1" lang="en-US">
                <a:solidFill>
                  <a:srgbClr val="0000CC"/>
                </a:solidFill>
              </a:rPr>
              <a:t>Ophthalmic 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AutoNum type="arabicPeriod"/>
            </a:pPr>
            <a:r>
              <a:rPr b="1" lang="en-US">
                <a:solidFill>
                  <a:srgbClr val="0000CC"/>
                </a:solidFill>
              </a:rPr>
              <a:t>Maxillary</a:t>
            </a:r>
            <a:endParaRPr/>
          </a:p>
          <a:p>
            <a:pPr indent="-609600" lvl="0" marL="609600" rtl="0" algn="l">
              <a:spcBef>
                <a:spcPts val="64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Arial"/>
              <a:buAutoNum type="arabicPeriod"/>
            </a:pPr>
            <a:r>
              <a:rPr b="1" lang="en-US">
                <a:solidFill>
                  <a:srgbClr val="0000CC"/>
                </a:solidFill>
              </a:rPr>
              <a:t>Mandibular</a:t>
            </a:r>
            <a:endParaRPr b="1">
              <a:solidFill>
                <a:srgbClr val="FF006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TRIGEMINAL NERVE</a:t>
            </a:r>
            <a:endParaRPr/>
          </a:p>
        </p:txBody>
      </p:sp>
      <p:sp>
        <p:nvSpPr>
          <p:cNvPr id="1762" name="Google Shape;1762;p5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00CC"/>
                </a:solidFill>
              </a:rPr>
              <a:t>OPHTHALMIC: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Supratrochlear: </a:t>
            </a:r>
            <a:r>
              <a:rPr b="1" lang="en-US" sz="2400"/>
              <a:t>forehead + medial part of upper eyelid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Supraorbital: </a:t>
            </a:r>
            <a:r>
              <a:rPr b="1" lang="en-US" sz="2400"/>
              <a:t>same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Palpebral branch of lacrimal: </a:t>
            </a:r>
            <a:r>
              <a:rPr b="1" lang="en-US" sz="2400"/>
              <a:t>lateral part of upper eyelid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Infratrochlear: </a:t>
            </a:r>
            <a:r>
              <a:rPr b="1" lang="en-US" sz="2400"/>
              <a:t>upper part of nose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External nasal: </a:t>
            </a:r>
            <a:r>
              <a:rPr b="1" lang="en-US" sz="2400"/>
              <a:t>lower part of nose</a:t>
            </a:r>
            <a:endParaRPr/>
          </a:p>
        </p:txBody>
      </p:sp>
      <p:pic>
        <p:nvPicPr>
          <p:cNvPr descr="Face 001" id="1763" name="Google Shape;1763;p5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70050"/>
            <a:ext cx="4495800" cy="4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TRIGEMINAL NERVE</a:t>
            </a:r>
            <a:endParaRPr/>
          </a:p>
        </p:txBody>
      </p:sp>
      <p:sp>
        <p:nvSpPr>
          <p:cNvPr id="1770" name="Google Shape;1770;p5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3300"/>
                </a:solidFill>
              </a:rPr>
              <a:t>MAXILLARY:</a:t>
            </a:r>
            <a:endParaRPr/>
          </a:p>
          <a:p>
            <a:pPr indent="-533400" lvl="0" marL="533400" rtl="0" algn="l">
              <a:spcBef>
                <a:spcPts val="56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AutoNum type="arabicPeriod"/>
            </a:pPr>
            <a:r>
              <a:rPr b="1" lang="en-US" sz="2800" u="sng">
                <a:solidFill>
                  <a:srgbClr val="003300"/>
                </a:solidFill>
              </a:rPr>
              <a:t>Infraorbital</a:t>
            </a:r>
            <a:r>
              <a:rPr b="1" lang="en-US" sz="2800">
                <a:solidFill>
                  <a:srgbClr val="003300"/>
                </a:solidFill>
              </a:rPr>
              <a:t>: </a:t>
            </a:r>
            <a:r>
              <a:rPr b="1" lang="en-US" sz="2800"/>
              <a:t>divides into:</a:t>
            </a:r>
            <a:r>
              <a:rPr b="1" lang="en-US" sz="2800">
                <a:solidFill>
                  <a:srgbClr val="003300"/>
                </a:solidFill>
              </a:rPr>
              <a:t> a) palpebral </a:t>
            </a:r>
            <a:r>
              <a:rPr b="1" lang="en-US" sz="2800"/>
              <a:t>for lower eyelid,</a:t>
            </a:r>
            <a:r>
              <a:rPr b="1" lang="en-US" sz="2800">
                <a:solidFill>
                  <a:srgbClr val="003300"/>
                </a:solidFill>
              </a:rPr>
              <a:t>   b) nasal </a:t>
            </a:r>
            <a:r>
              <a:rPr b="1" lang="en-US" sz="2800"/>
              <a:t>for ala of nose,</a:t>
            </a:r>
            <a:r>
              <a:rPr b="1" lang="en-US" sz="2800">
                <a:solidFill>
                  <a:srgbClr val="003300"/>
                </a:solidFill>
              </a:rPr>
              <a:t> c) labial</a:t>
            </a:r>
            <a:r>
              <a:rPr b="1" lang="en-US" sz="2800">
                <a:solidFill>
                  <a:srgbClr val="FF0066"/>
                </a:solidFill>
              </a:rPr>
              <a:t> </a:t>
            </a:r>
            <a:r>
              <a:rPr b="1" lang="en-US" sz="2800"/>
              <a:t>for upper lip</a:t>
            </a:r>
            <a:endParaRPr/>
          </a:p>
          <a:p>
            <a:pPr indent="-533400" lvl="0" marL="533400" rtl="0" algn="l">
              <a:spcBef>
                <a:spcPts val="56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AutoNum type="arabicPeriod"/>
            </a:pPr>
            <a:r>
              <a:rPr b="1" lang="en-US" sz="2800" u="sng">
                <a:solidFill>
                  <a:srgbClr val="003300"/>
                </a:solidFill>
              </a:rPr>
              <a:t>Zygomaticofacial</a:t>
            </a:r>
            <a:r>
              <a:rPr b="1" lang="en-US" sz="2800">
                <a:solidFill>
                  <a:srgbClr val="003300"/>
                </a:solidFill>
              </a:rPr>
              <a:t>: </a:t>
            </a:r>
            <a:r>
              <a:rPr b="1" lang="en-US" sz="2800"/>
              <a:t>upper part of cheek</a:t>
            </a:r>
            <a:endParaRPr/>
          </a:p>
        </p:txBody>
      </p:sp>
      <p:pic>
        <p:nvPicPr>
          <p:cNvPr descr="Face 001" id="1771" name="Google Shape;1771;p5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70050"/>
            <a:ext cx="4495800" cy="4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TRIGEMINAL NERVE</a:t>
            </a:r>
            <a:endParaRPr/>
          </a:p>
        </p:txBody>
      </p:sp>
      <p:sp>
        <p:nvSpPr>
          <p:cNvPr id="1778" name="Google Shape;1778;p5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FF0066"/>
                </a:solidFill>
              </a:rPr>
              <a:t>MANDIBULAR:</a:t>
            </a:r>
            <a:endParaRPr/>
          </a:p>
          <a:p>
            <a:pPr indent="-533400" lvl="0" marL="533400" rtl="0" algn="l">
              <a:spcBef>
                <a:spcPts val="560"/>
              </a:spcBef>
              <a:spcAft>
                <a:spcPts val="0"/>
              </a:spcAft>
              <a:buClr>
                <a:srgbClr val="FF0066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FF0066"/>
                </a:solidFill>
              </a:rPr>
              <a:t>Buccal: </a:t>
            </a:r>
            <a:r>
              <a:rPr b="1" lang="en-US" sz="2800"/>
              <a:t>lower part of cheek</a:t>
            </a:r>
            <a:endParaRPr b="1" sz="2800">
              <a:solidFill>
                <a:srgbClr val="FF0066"/>
              </a:solidFill>
            </a:endParaRPr>
          </a:p>
          <a:p>
            <a:pPr indent="-533400" lvl="0" marL="533400" rtl="0" algn="l">
              <a:spcBef>
                <a:spcPts val="560"/>
              </a:spcBef>
              <a:spcAft>
                <a:spcPts val="0"/>
              </a:spcAft>
              <a:buClr>
                <a:srgbClr val="FF0066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FF0066"/>
                </a:solidFill>
              </a:rPr>
              <a:t>Mental: </a:t>
            </a:r>
            <a:r>
              <a:rPr b="1" lang="en-US" sz="2800"/>
              <a:t>lower lip &amp; chin</a:t>
            </a:r>
            <a:endParaRPr b="1" sz="2800">
              <a:solidFill>
                <a:srgbClr val="FF0066"/>
              </a:solidFill>
            </a:endParaRPr>
          </a:p>
        </p:txBody>
      </p:sp>
      <p:pic>
        <p:nvPicPr>
          <p:cNvPr descr="Face 001" id="1779" name="Google Shape;1779;p5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70050"/>
            <a:ext cx="4495800" cy="4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TRIGEMINAL NEURALGIA</a:t>
            </a:r>
            <a:endParaRPr/>
          </a:p>
        </p:txBody>
      </p:sp>
      <p:sp>
        <p:nvSpPr>
          <p:cNvPr id="1786" name="Google Shape;1786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FF0066"/>
                </a:solidFill>
              </a:rPr>
              <a:t>Inflammatory condition</a:t>
            </a:r>
            <a:r>
              <a:rPr b="1" lang="en-US" sz="2800">
                <a:solidFill>
                  <a:srgbClr val="003300"/>
                </a:solidFill>
              </a:rPr>
              <a:t> affecting one or more of the three divisions of trigeminal nerve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3300"/>
                </a:solidFill>
              </a:rPr>
              <a:t>Gives rise to </a:t>
            </a:r>
            <a:r>
              <a:rPr b="1" lang="en-US" sz="2800">
                <a:solidFill>
                  <a:srgbClr val="FF0066"/>
                </a:solidFill>
              </a:rPr>
              <a:t>severe pain</a:t>
            </a:r>
            <a:r>
              <a:rPr b="1" lang="en-US" sz="2800">
                <a:solidFill>
                  <a:srgbClr val="003300"/>
                </a:solidFill>
              </a:rPr>
              <a:t> in the area of distribution of the affected nerve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Clr>
                <a:srgbClr val="FF0066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FF0066"/>
                </a:solidFill>
              </a:rPr>
              <a:t>Surgical treatment</a:t>
            </a:r>
            <a:r>
              <a:rPr b="1" lang="en-US" sz="2800">
                <a:solidFill>
                  <a:srgbClr val="003300"/>
                </a:solidFill>
              </a:rPr>
              <a:t> may involve: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003300"/>
                </a:solidFill>
              </a:rPr>
              <a:t>Alcohol injection of the trigeminal ganglion</a:t>
            </a:r>
            <a:endParaRPr/>
          </a:p>
          <a:p>
            <a:pPr indent="-609600" lvl="0" marL="609600" rtl="0" algn="l">
              <a:spcBef>
                <a:spcPts val="56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003300"/>
                </a:solidFill>
              </a:rPr>
              <a:t>Section of the central root of the nerve or of the appropriate division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FACIAL NERVE</a:t>
            </a:r>
            <a:endParaRPr/>
          </a:p>
        </p:txBody>
      </p:sp>
      <p:pic>
        <p:nvPicPr>
          <p:cNvPr descr="Face 003" id="1793" name="Google Shape;1793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8" y="1412875"/>
            <a:ext cx="7993062" cy="54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FACIAL NERVE</a:t>
            </a:r>
            <a:endParaRPr/>
          </a:p>
        </p:txBody>
      </p:sp>
      <p:sp>
        <p:nvSpPr>
          <p:cNvPr id="1800" name="Google Shape;1800;p60"/>
          <p:cNvSpPr txBox="1"/>
          <p:nvPr>
            <p:ph idx="1" type="body"/>
          </p:nvPr>
        </p:nvSpPr>
        <p:spPr>
          <a:xfrm>
            <a:off x="457200" y="1268413"/>
            <a:ext cx="822960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3300"/>
                </a:solidFill>
              </a:rPr>
              <a:t>Extracranial course: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66"/>
                </a:solidFill>
              </a:rPr>
              <a:t>The nerve leaves the cranial cavity through stylomastoid foramen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66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66"/>
                </a:solidFill>
              </a:rPr>
              <a:t>The nerve enters the parotid gland &amp; divides into 5 terminal motor branches that emerge from the gland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33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3300"/>
                </a:solidFill>
              </a:rPr>
              <a:t>Extracranial distribution: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FF0066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FF0066"/>
                </a:solidFill>
              </a:rPr>
              <a:t>After emergence from stylomastoid foramen: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CC"/>
                </a:solidFill>
              </a:rPr>
              <a:t>Posterior auricular: to occipital belly of occipitofrontalis muscle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CC"/>
                </a:solidFill>
              </a:rPr>
              <a:t>Muscular branch to posterior belly of digastric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CC"/>
                </a:solidFill>
              </a:rPr>
              <a:t>Muscular branch to stylohyoid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FF0066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FF0066"/>
                </a:solidFill>
              </a:rPr>
              <a:t>After emergence from parotid gland: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CC"/>
                </a:solidFill>
              </a:rPr>
              <a:t>Temporal: to orbicularis oculi, frontal belly of occipitofrontalis muscles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CC"/>
                </a:solidFill>
              </a:rPr>
              <a:t>Zygomatic: to orbicularis oculi muscle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CC"/>
                </a:solidFill>
              </a:rPr>
              <a:t>Buccal: to buccinator, muscles of upper lip &amp; nose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CC"/>
                </a:solidFill>
              </a:rPr>
              <a:t>Mandibular: to muscles of lower lip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AutoNum type="arabicPeriod"/>
            </a:pPr>
            <a:r>
              <a:rPr b="1" lang="en-US" sz="2000">
                <a:solidFill>
                  <a:srgbClr val="0000CC"/>
                </a:solidFill>
              </a:rPr>
              <a:t>Cervical: to platysma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FACIAL NERVE INJURY</a:t>
            </a:r>
            <a:endParaRPr/>
          </a:p>
        </p:txBody>
      </p:sp>
      <p:sp>
        <p:nvSpPr>
          <p:cNvPr id="1807" name="Google Shape;1807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3300"/>
                </a:solidFill>
              </a:rPr>
              <a:t>UPPER MOTOR NEURONE LESION (SUPRANUCLEAR LESION): e.g. lesion in pyramidal tracts: </a:t>
            </a:r>
            <a:r>
              <a:rPr b="1" lang="en-US" sz="2800">
                <a:solidFill>
                  <a:srgbClr val="0000CC"/>
                </a:solidFill>
              </a:rPr>
              <a:t>paralysis of muscles on the lower quadrant of face opposite to the side of lesion </a:t>
            </a:r>
            <a:r>
              <a:rPr b="1" lang="en-US" sz="2800">
                <a:solidFill>
                  <a:srgbClr val="FF0066"/>
                </a:solidFill>
              </a:rPr>
              <a:t>(the patient can close his eye but cannot expose his teeth on the affected side)</a:t>
            </a:r>
            <a:r>
              <a:rPr b="1" lang="en-US" sz="2800">
                <a:solidFill>
                  <a:srgbClr val="000066"/>
                </a:solidFill>
              </a:rPr>
              <a:t> </a:t>
            </a:r>
            <a:endParaRPr b="1" sz="2800">
              <a:solidFill>
                <a:srgbClr val="003300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3300"/>
                </a:solidFill>
              </a:rPr>
              <a:t>LOWER MOTOR NEURONE LESION (NUCLEAR OR INFRANUCLEAR LESION): e.g. Bell’s palsy: </a:t>
            </a:r>
            <a:r>
              <a:rPr b="1" lang="en-US" sz="2800">
                <a:solidFill>
                  <a:srgbClr val="0000CC"/>
                </a:solidFill>
              </a:rPr>
              <a:t>paralysis of all muscles of face on same side of lesion </a:t>
            </a:r>
            <a:r>
              <a:rPr b="1" lang="en-US" sz="2800">
                <a:solidFill>
                  <a:srgbClr val="FF0066"/>
                </a:solidFill>
              </a:rPr>
              <a:t>(the patient cannot close his eye and cannot expose his teeth on the affected side)</a:t>
            </a:r>
            <a:r>
              <a:rPr b="1" lang="en-US" sz="2800">
                <a:solidFill>
                  <a:srgbClr val="000066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Bell’s Palsy</a:t>
            </a:r>
            <a:endParaRPr/>
          </a:p>
        </p:txBody>
      </p:sp>
      <p:sp>
        <p:nvSpPr>
          <p:cNvPr id="1813" name="Google Shape;1813;p62"/>
          <p:cNvSpPr txBox="1"/>
          <p:nvPr>
            <p:ph idx="1" type="body"/>
          </p:nvPr>
        </p:nvSpPr>
        <p:spPr>
          <a:xfrm>
            <a:off x="179388" y="1600200"/>
            <a:ext cx="431641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Lower motor neurone of facial nerve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Forehead and all the</a:t>
            </a:r>
            <a:br>
              <a:rPr lang="en-US" sz="2400">
                <a:solidFill>
                  <a:srgbClr val="000000"/>
                </a:solidFill>
              </a:rPr>
            </a:br>
            <a:r>
              <a:rPr lang="en-US" sz="2400">
                <a:solidFill>
                  <a:srgbClr val="000000"/>
                </a:solidFill>
              </a:rPr>
              <a:t>muscles on the side of lesion are affected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14" name="Google Shape;1814;p6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Bell's Palsy" id="1815" name="Google Shape;181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1638" y="1417638"/>
            <a:ext cx="4627562" cy="47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Facial Palsy</a:t>
            </a:r>
            <a:endParaRPr/>
          </a:p>
        </p:txBody>
      </p:sp>
      <p:sp>
        <p:nvSpPr>
          <p:cNvPr id="1821" name="Google Shape;1821;p6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22" name="Google Shape;1822;p6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C:\My Documents\Face\Facial Palsy.jpg" id="1823" name="Google Shape;182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325" y="1600200"/>
            <a:ext cx="4054475" cy="4421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My Documents\Face\Forceps 7th palsy.jpg" id="1824" name="Google Shape;182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600200"/>
            <a:ext cx="4071938" cy="442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Corneal Reflex</a:t>
            </a:r>
            <a:endParaRPr/>
          </a:p>
        </p:txBody>
      </p:sp>
      <p:sp>
        <p:nvSpPr>
          <p:cNvPr id="1830" name="Google Shape;1830;p6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Afferent (sensory) cilary branches nasocilary of ophthalmic of 5</a:t>
            </a:r>
            <a:r>
              <a:rPr baseline="30000" lang="en-US" sz="2400">
                <a:solidFill>
                  <a:srgbClr val="000000"/>
                </a:solidFill>
              </a:rPr>
              <a:t>th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Efferent (motor)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Zygomatic branch of facial 7</a:t>
            </a:r>
            <a:r>
              <a:rPr baseline="30000" lang="en-US" sz="2400">
                <a:solidFill>
                  <a:srgbClr val="000000"/>
                </a:solidFill>
              </a:rPr>
              <a:t>th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Last reflex to go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31" name="Google Shape;1831;p6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Herpes opth" id="1832" name="Google Shape;183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6100" y="1565275"/>
            <a:ext cx="4330700" cy="4560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ARTERIES OF FACE</a:t>
            </a:r>
            <a:endParaRPr/>
          </a:p>
        </p:txBody>
      </p:sp>
      <p:pic>
        <p:nvPicPr>
          <p:cNvPr descr="Face" id="1839" name="Google Shape;1839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1268413"/>
            <a:ext cx="6624638" cy="5589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</a:rPr>
              <a:t>FACIAL ARTERY</a:t>
            </a:r>
            <a:endParaRPr/>
          </a:p>
        </p:txBody>
      </p:sp>
      <p:sp>
        <p:nvSpPr>
          <p:cNvPr id="1846" name="Google Shape;1846;p6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3300"/>
                </a:solidFill>
              </a:rPr>
              <a:t>ORIGIN: </a:t>
            </a:r>
            <a:r>
              <a:rPr b="1" lang="en-US" sz="2400">
                <a:solidFill>
                  <a:srgbClr val="0000CC"/>
                </a:solidFill>
              </a:rPr>
              <a:t>A branch of external carotid in the neck</a:t>
            </a:r>
            <a:endParaRPr b="1" sz="2400">
              <a:solidFill>
                <a:srgbClr val="003300"/>
              </a:solidFill>
            </a:endParaRPr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3300"/>
                </a:solidFill>
              </a:rPr>
              <a:t>COURSE IN FACE: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Curves around the lower border of mandible </a:t>
            </a:r>
            <a:r>
              <a:rPr b="1" lang="en-US" sz="2400">
                <a:solidFill>
                  <a:srgbClr val="FF0066"/>
                </a:solidFill>
              </a:rPr>
              <a:t>(pulse can be felt)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Ascends: 	lateral to lips &amp; nose, 					anterior to facial vein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Runs a </a:t>
            </a:r>
            <a:r>
              <a:rPr b="1" lang="en-US" sz="2400">
                <a:solidFill>
                  <a:srgbClr val="FF0066"/>
                </a:solidFill>
              </a:rPr>
              <a:t>tortuous course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3300"/>
                </a:solidFill>
              </a:rPr>
              <a:t>TERMINATION: </a:t>
            </a:r>
            <a:r>
              <a:rPr b="1" lang="en-US" sz="2400">
                <a:solidFill>
                  <a:srgbClr val="0000CC"/>
                </a:solidFill>
              </a:rPr>
              <a:t>at the medial angle of eye, where it anastomoses with branches of ophthalmic artery</a:t>
            </a:r>
            <a:endParaRPr b="1" sz="2400">
              <a:solidFill>
                <a:srgbClr val="003300"/>
              </a:solidFill>
            </a:endParaRPr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33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3300"/>
                </a:solidFill>
              </a:rPr>
              <a:t>BRANCHES IN FACE: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Inferior labial 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Superior labial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AutoNum type="arabicPeriod"/>
            </a:pPr>
            <a:r>
              <a:rPr b="1" lang="en-US" sz="2400">
                <a:solidFill>
                  <a:srgbClr val="0000CC"/>
                </a:solidFill>
              </a:rPr>
              <a:t>Lateral nasal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0000"/>
                </a:solidFill>
              </a:rPr>
              <a:t>SUPERFICIAL TEMPORAL ARTERY</a:t>
            </a:r>
            <a:endParaRPr/>
          </a:p>
        </p:txBody>
      </p:sp>
      <p:sp>
        <p:nvSpPr>
          <p:cNvPr id="1853" name="Google Shape;1853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3300"/>
                </a:solidFill>
              </a:rPr>
              <a:t>ORIGIN: </a:t>
            </a:r>
            <a:r>
              <a:rPr b="1" lang="en-US" sz="2800">
                <a:solidFill>
                  <a:srgbClr val="0000CC"/>
                </a:solidFill>
              </a:rPr>
              <a:t>One of the 2 terminal branches of external carotid artery in the parotid gland</a:t>
            </a:r>
            <a:endParaRPr b="1" sz="2800">
              <a:solidFill>
                <a:srgbClr val="003300"/>
              </a:solidFill>
            </a:endParaRPr>
          </a:p>
          <a:p>
            <a:pPr indent="-609600" lvl="0" marL="6096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3300"/>
                </a:solidFill>
              </a:rPr>
              <a:t>COURSE: 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0000CC"/>
                </a:solidFill>
              </a:rPr>
              <a:t>Ascends in front of auricle </a:t>
            </a:r>
            <a:r>
              <a:rPr b="1" lang="en-US" sz="2800">
                <a:solidFill>
                  <a:srgbClr val="FF0066"/>
                </a:solidFill>
              </a:rPr>
              <a:t>(pulse can be felt)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0000CC"/>
                </a:solidFill>
              </a:rPr>
              <a:t>Accompanies the auriculotemporal nerve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330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3300"/>
                </a:solidFill>
              </a:rPr>
              <a:t>BRANCHES: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0000CC"/>
                </a:solidFill>
              </a:rPr>
              <a:t>Transverse facial: arises inside the parotid gland &amp; runs transversally above parotid duct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0000CC"/>
                </a:solidFill>
              </a:rPr>
              <a:t>anterior &amp; posterior branches: supply the scalp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68"/>
          <p:cNvSpPr txBox="1"/>
          <p:nvPr>
            <p:ph type="title"/>
          </p:nvPr>
        </p:nvSpPr>
        <p:spPr>
          <a:xfrm>
            <a:off x="457200" y="2555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B6E8F"/>
                </a:solidFill>
              </a:rPr>
              <a:t>Horner's Syndrome</a:t>
            </a:r>
            <a:endParaRPr/>
          </a:p>
        </p:txBody>
      </p:sp>
      <p:sp>
        <p:nvSpPr>
          <p:cNvPr id="1859" name="Google Shape;1859;p68"/>
          <p:cNvSpPr txBox="1"/>
          <p:nvPr>
            <p:ph idx="1" type="body"/>
          </p:nvPr>
        </p:nvSpPr>
        <p:spPr>
          <a:xfrm>
            <a:off x="0" y="1600200"/>
            <a:ext cx="449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Caused by brainstem stroke,brachial plexus trauma,tumour, neuronal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</a:rPr>
              <a:t>     lesion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</a:rPr>
              <a:t> signs include: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Ptosis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Drooping eyelid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Meiosis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Constricted pupil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Anhydrosis</a:t>
            </a:r>
            <a:endParaRPr sz="24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Lack of sweating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EC0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</a:rPr>
              <a:t>Enopthalmos</a:t>
            </a:r>
            <a:endParaRPr sz="2400">
              <a:solidFill>
                <a:srgbClr val="000000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60" name="Google Shape;1860;p6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Horners1" id="1861" name="Google Shape;186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6545" y="1600189"/>
            <a:ext cx="5041900" cy="47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ww" id="1866" name="Google Shape;186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713" y="158750"/>
            <a:ext cx="5832475" cy="58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69"/>
          <p:cNvSpPr txBox="1"/>
          <p:nvPr/>
        </p:nvSpPr>
        <p:spPr>
          <a:xfrm>
            <a:off x="2484438" y="5589588"/>
            <a:ext cx="4464050" cy="6508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</a:pPr>
            <a:r>
              <a:rPr b="1" lang="en-US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MCQ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70"/>
          <p:cNvSpPr txBox="1"/>
          <p:nvPr>
            <p:ph type="title"/>
          </p:nvPr>
        </p:nvSpPr>
        <p:spPr>
          <a:xfrm>
            <a:off x="323850" y="7651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>
                <a:solidFill>
                  <a:srgbClr val="FF33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MCQ.1-Pulse felt in front of auricle</a:t>
            </a:r>
            <a:br>
              <a:rPr b="1" i="1" lang="en-US" sz="3600">
                <a:solidFill>
                  <a:srgbClr val="FF33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b="1" i="1" lang="en-US" sz="3600">
                <a:solidFill>
                  <a:srgbClr val="FF33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against the zygomatic arch is that of:-</a:t>
            </a:r>
            <a:endParaRPr/>
          </a:p>
        </p:txBody>
      </p:sp>
      <p:sp>
        <p:nvSpPr>
          <p:cNvPr id="1873" name="Google Shape;1873;p70"/>
          <p:cNvSpPr txBox="1"/>
          <p:nvPr>
            <p:ph idx="1" type="body"/>
          </p:nvPr>
        </p:nvSpPr>
        <p:spPr>
          <a:xfrm>
            <a:off x="395288" y="206057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a.Facial 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b.Transverse facial 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c.Zygomatico facial 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d.Superficial temporal 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e.Infraorbital A.</a:t>
            </a:r>
            <a:endParaRPr/>
          </a:p>
        </p:txBody>
      </p:sp>
      <p:pic>
        <p:nvPicPr>
          <p:cNvPr descr="www" id="1874" name="Google Shape;187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4888" y="3500438"/>
            <a:ext cx="2768600" cy="2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>
                <a:solidFill>
                  <a:srgbClr val="FF33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MCQ.2.Nerve supply of skin of forehead includes:-</a:t>
            </a:r>
            <a:endParaRPr/>
          </a:p>
        </p:txBody>
      </p:sp>
      <p:sp>
        <p:nvSpPr>
          <p:cNvPr id="1880" name="Google Shape;1880;p7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a.Auriculotemporal nerve.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1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b.Infraorbital nerve.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1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c.Supra-orbital nerve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1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d.Supratrochlear nerve.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1">
              <a:solidFill>
                <a:srgbClr val="0000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Libre Baskerville"/>
              <a:buNone/>
            </a:pPr>
            <a:r>
              <a:rPr b="1" i="1" lang="en-US">
                <a:solidFill>
                  <a:srgbClr val="0000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e. © and (d)</a:t>
            </a:r>
            <a:endParaRPr/>
          </a:p>
        </p:txBody>
      </p:sp>
      <p:pic>
        <p:nvPicPr>
          <p:cNvPr descr="SadFace" id="1881" name="Google Shape;1881;p71"/>
          <p:cNvPicPr preferRelativeResize="0"/>
          <p:nvPr/>
        </p:nvPicPr>
        <p:blipFill rotWithShape="1">
          <a:blip r:embed="rId3">
            <a:alphaModFix/>
          </a:blip>
          <a:srcRect b="691" l="2515" r="5759" t="0"/>
          <a:stretch/>
        </p:blipFill>
        <p:spPr>
          <a:xfrm>
            <a:off x="5219700" y="2133600"/>
            <a:ext cx="3503613" cy="3598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ppy_face_outlaw_shooting_pistols_" id="1886" name="Google Shape;188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3" y="1412875"/>
            <a:ext cx="6059487" cy="43291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anx002.gif image by glittergn" id="1887" name="Google Shape;1887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3350" y="333375"/>
            <a:ext cx="6264275" cy="62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18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8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0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9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2007-11-11T18:31:00Z</dcterms:created>
  <dc:creator>Asam</dc:creator>
</cp:coreProperties>
</file>