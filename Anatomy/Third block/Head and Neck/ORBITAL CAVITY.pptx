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71" r:id="rId6"/>
    <p:sldId id="261" r:id="rId7"/>
    <p:sldId id="263" r:id="rId8"/>
    <p:sldId id="264" r:id="rId9"/>
    <p:sldId id="265" r:id="rId10"/>
    <p:sldId id="259" r:id="rId11"/>
    <p:sldId id="260" r:id="rId12"/>
    <p:sldId id="266" r:id="rId13"/>
    <p:sldId id="267" r:id="rId14"/>
    <p:sldId id="268"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21" autoAdjust="0"/>
    <p:restoredTop sz="94660"/>
  </p:normalViewPr>
  <p:slideViewPr>
    <p:cSldViewPr snapToGrid="0">
      <p:cViewPr varScale="1">
        <p:scale>
          <a:sx n="79" d="100"/>
          <a:sy n="79" d="100"/>
        </p:scale>
        <p:origin x="67"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endParaRPr lang="en-US" sz="8000" dirty="0">
              <a:solidFill>
                <a:schemeClr val="tx1"/>
              </a:solidFill>
              <a:effectLst/>
            </a:endParaRP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endParaRPr lang="en-US" sz="8000" dirty="0">
              <a:solidFill>
                <a:schemeClr val="tx1"/>
              </a:solidFill>
              <a:effectLst/>
            </a:endParaRP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endParaRPr lang="en-US" sz="8000" dirty="0">
              <a:solidFill>
                <a:schemeClr val="tx1"/>
              </a:solidFill>
              <a:effectLst/>
            </a:endParaRP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4.png"/><Relationship Id="rId18" Type="http://schemas.openxmlformats.org/officeDocument/2006/relationships/image" Target="../media/image3.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19">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19">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anatomy.co.uk/brain/" TargetMode="Externa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anatomy.co.uk/periosteum/" TargetMode="External"/><Relationship Id="rId2" Type="http://schemas.openxmlformats.org/officeDocument/2006/relationships/hyperlink" Target="https://anatomy.co.uk/oculomotor-nerve/" TargetMode="External"/><Relationship Id="rId1" Type="http://schemas.openxmlformats.org/officeDocument/2006/relationships/hyperlink" Target="https://anatomy.co.uk/optic-nerve/" TargetMode="Externa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teachmeanatomy.info/head/osteology/ethmoid-bone/" TargetMode="External"/><Relationship Id="rId2" Type="http://schemas.openxmlformats.org/officeDocument/2006/relationships/hyperlink" Target="https://teachmeanatomy.info/head/areas/cranial-fossa/anterior/" TargetMode="External"/><Relationship Id="rId1" Type="http://schemas.openxmlformats.org/officeDocument/2006/relationships/hyperlink" Target="https://teachmeanatomy.info/head/osteology/sphenoid-bone/" TargetMode="Externa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1.jpeg"/><Relationship Id="rId7" Type="http://schemas.openxmlformats.org/officeDocument/2006/relationships/hyperlink" Target="https://teachmeanatomy.info/wp-content/uploads/Contents-of-the-Bony-Orbit-Arteries-Optic-Nerve-and-Muscles.jpg" TargetMode="External"/><Relationship Id="rId6" Type="http://schemas.openxmlformats.org/officeDocument/2006/relationships/hyperlink" Target="https://teachmeanatomy.info/head/cranial-nerves/abducens-nerve/" TargetMode="External"/><Relationship Id="rId5" Type="http://schemas.openxmlformats.org/officeDocument/2006/relationships/hyperlink" Target="https://teachmeanatomy.info/head/cranial-nerves/trigeminal-nerve/" TargetMode="External"/><Relationship Id="rId4" Type="http://schemas.openxmlformats.org/officeDocument/2006/relationships/hyperlink" Target="https://teachmeanatomy.info/head/cranial-nerves/trochlear-nerve/" TargetMode="External"/><Relationship Id="rId3" Type="http://schemas.openxmlformats.org/officeDocument/2006/relationships/hyperlink" Target="https://teachmeanatomy.info/head/cranial-nerves/oculomotor/" TargetMode="External"/><Relationship Id="rId2" Type="http://schemas.openxmlformats.org/officeDocument/2006/relationships/hyperlink" Target="https://teachmeanatomy.info/head/cranial-nerves/optic-cnii/" TargetMode="External"/><Relationship Id="rId1" Type="http://schemas.openxmlformats.org/officeDocument/2006/relationships/hyperlink" Target="https://teachmeanatomy.info/head/organs/eye/extraocular-muscles/" TargetMode="Externa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hyperlink" Target="https://teachmeanatomy.info/head/cranial-nerves/oculomotor/" TargetMode="External"/><Relationship Id="rId3" Type="http://schemas.openxmlformats.org/officeDocument/2006/relationships/hyperlink" Target="https://teachmeanatomy.info/head/cranial-nerves/trochlear-nerve/" TargetMode="External"/><Relationship Id="rId2" Type="http://schemas.openxmlformats.org/officeDocument/2006/relationships/hyperlink" Target="https://teachmeanatomy.info/head/cranial-nerves/optic-cnii/" TargetMode="External"/><Relationship Id="rId1" Type="http://schemas.openxmlformats.org/officeDocument/2006/relationships/hyperlink" Target="https://teachmeanatomy.info/wp-content/uploads/Pathways-into-the-Orbit-Optic-Canal-and-Superior-Inferior-Orbital-Fissures.jp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smtClean="0">
                <a:solidFill>
                  <a:schemeClr val="tx1"/>
                </a:solidFill>
                <a:latin typeface="Times New Roman" panose="02020603050405020304" pitchFamily="18" charset="0"/>
                <a:cs typeface="Times New Roman" panose="02020603050405020304" pitchFamily="18" charset="0"/>
              </a:rPr>
              <a:t>ORBITAL CAVITY</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GB" dirty="0" smtClean="0"/>
              <a:t>BY </a:t>
            </a:r>
            <a:endParaRPr lang="en-GB" dirty="0" smtClean="0"/>
          </a:p>
          <a:p>
            <a:r>
              <a:rPr lang="en-GB" dirty="0" smtClean="0"/>
              <a:t>Dr. F.O. OPOOLA </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latin typeface="Times New Roman" panose="02020603050405020304" pitchFamily="18" charset="0"/>
                <a:cs typeface="Times New Roman" panose="02020603050405020304" pitchFamily="18" charset="0"/>
              </a:rPr>
              <a:t>LEARNING OBJECTIVES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v"/>
            </a:pPr>
            <a:r>
              <a:rPr lang="en-GB" dirty="0" smtClean="0"/>
              <a:t> </a:t>
            </a:r>
            <a:r>
              <a:rPr lang="en-GB" dirty="0" smtClean="0">
                <a:latin typeface="Times New Roman" panose="02020603050405020304" pitchFamily="18" charset="0"/>
                <a:cs typeface="Times New Roman" panose="02020603050405020304" pitchFamily="18" charset="0"/>
              </a:rPr>
              <a:t>INTRODUCTION</a:t>
            </a: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 LOCATIONS</a:t>
            </a: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 BORDERS AND ANATOMICAL RELATIONS</a:t>
            </a: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 BOUNDARIES</a:t>
            </a: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CONTENT</a:t>
            </a: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PATHWAY INTO THE ORBIT</a:t>
            </a: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FUNCTIONS</a:t>
            </a: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CLINICAL ANATOMY</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01196" cy="1303867"/>
          </a:xfrm>
        </p:spPr>
        <p:txBody>
          <a:bodyPr/>
          <a:lstStyle/>
          <a:p>
            <a:r>
              <a:rPr lang="en-GB" b="1" dirty="0" smtClean="0">
                <a:latin typeface="Times New Roman" panose="02020603050405020304" pitchFamily="18" charset="0"/>
                <a:cs typeface="Times New Roman" panose="02020603050405020304" pitchFamily="18" charset="0"/>
              </a:rPr>
              <a:t>INTRODUCTION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orbital cavity, also known as the orbit, is a bony socket located within the skull that houses and protects the eye and its associated structures.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an important and complex structure in the human body, playing a vital role in vision and eye </a:t>
            </a:r>
            <a:r>
              <a:rPr lang="en-US" dirty="0" smtClean="0">
                <a:latin typeface="Times New Roman" panose="02020603050405020304" pitchFamily="18" charset="0"/>
                <a:cs typeface="Times New Roman" panose="02020603050405020304" pitchFamily="18" charset="0"/>
              </a:rPr>
              <a:t>movement.</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bony orbits (or eye sockets) are bilateral and symmetrical </a:t>
            </a:r>
            <a:r>
              <a:rPr lang="en-US" b="1" dirty="0">
                <a:latin typeface="Times New Roman" panose="02020603050405020304" pitchFamily="18" charset="0"/>
                <a:cs typeface="Times New Roman" panose="02020603050405020304" pitchFamily="18" charset="0"/>
              </a:rPr>
              <a:t>cavities</a:t>
            </a:r>
            <a:r>
              <a:rPr lang="en-US" dirty="0">
                <a:latin typeface="Times New Roman" panose="02020603050405020304" pitchFamily="18" charset="0"/>
                <a:cs typeface="Times New Roman" panose="02020603050405020304" pitchFamily="18" charset="0"/>
              </a:rPr>
              <a:t> in the head. They enclose the eyeball and its associated structures.</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1025" y="506016"/>
            <a:ext cx="10925175" cy="6063198"/>
          </a:xfrm>
          <a:prstGeom prst="rect">
            <a:avLst/>
          </a:prstGeom>
        </p:spPr>
        <p:txBody>
          <a:bodyPr wrap="square">
            <a:spAutoFit/>
          </a:bodyPr>
          <a:lstStyle/>
          <a:p>
            <a:r>
              <a:rPr lang="en-US" sz="3200" b="1" dirty="0" smtClean="0">
                <a:latin typeface="Times New Roman" panose="02020603050405020304" pitchFamily="18" charset="0"/>
                <a:cs typeface="Times New Roman" panose="02020603050405020304" pitchFamily="18" charset="0"/>
              </a:rPr>
              <a:t>Location</a:t>
            </a:r>
            <a:endParaRPr lang="en-US" sz="3200" b="1" dirty="0" smtClean="0">
              <a:latin typeface="Times New Roman" panose="02020603050405020304" pitchFamily="18" charset="0"/>
              <a:cs typeface="Times New Roman" panose="02020603050405020304" pitchFamily="18" charset="0"/>
            </a:endParaRPr>
          </a:p>
          <a:p>
            <a:endParaRPr lang="en-GB" sz="3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smtClean="0">
                <a:solidFill>
                  <a:srgbClr val="222222"/>
                </a:solidFill>
                <a:latin typeface="Times New Roman" panose="02020603050405020304" pitchFamily="18" charset="0"/>
                <a:cs typeface="Times New Roman" panose="02020603050405020304" pitchFamily="18" charset="0"/>
              </a:rPr>
              <a:t>The </a:t>
            </a:r>
            <a:r>
              <a:rPr lang="en-US" sz="2400" dirty="0">
                <a:solidFill>
                  <a:srgbClr val="222222"/>
                </a:solidFill>
                <a:latin typeface="Times New Roman" panose="02020603050405020304" pitchFamily="18" charset="0"/>
                <a:cs typeface="Times New Roman" panose="02020603050405020304" pitchFamily="18" charset="0"/>
              </a:rPr>
              <a:t>orbital cavities are located within the skull, one on each side of the head. They are situated in the frontal bone, just above the nasal cavity and below the frontal lobe of the </a:t>
            </a:r>
            <a:r>
              <a:rPr lang="en-US" sz="2400" dirty="0">
                <a:solidFill>
                  <a:srgbClr val="187AAB"/>
                </a:solidFill>
                <a:latin typeface="Times New Roman" panose="02020603050405020304" pitchFamily="18" charset="0"/>
                <a:cs typeface="Times New Roman" panose="02020603050405020304" pitchFamily="18" charset="0"/>
                <a:hlinkClick r:id="rId1"/>
              </a:rPr>
              <a:t>brain</a:t>
            </a:r>
            <a:r>
              <a:rPr lang="en-US" sz="2400" dirty="0">
                <a:solidFill>
                  <a:srgbClr val="222222"/>
                </a:solidFill>
                <a:latin typeface="Times New Roman" panose="02020603050405020304" pitchFamily="18" charset="0"/>
                <a:cs typeface="Times New Roman" panose="02020603050405020304" pitchFamily="18" charset="0"/>
              </a:rPr>
              <a:t>. </a:t>
            </a:r>
            <a:endParaRPr lang="en-US" sz="2400" dirty="0" smtClean="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400" dirty="0" smtClean="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400" dirty="0" smtClean="0">
                <a:solidFill>
                  <a:srgbClr val="222222"/>
                </a:solidFill>
                <a:latin typeface="Times New Roman" panose="02020603050405020304" pitchFamily="18" charset="0"/>
                <a:cs typeface="Times New Roman" panose="02020603050405020304" pitchFamily="18" charset="0"/>
              </a:rPr>
              <a:t>The </a:t>
            </a:r>
            <a:r>
              <a:rPr lang="en-US" sz="2400" dirty="0">
                <a:solidFill>
                  <a:srgbClr val="222222"/>
                </a:solidFill>
                <a:latin typeface="Times New Roman" panose="02020603050405020304" pitchFamily="18" charset="0"/>
                <a:cs typeface="Times New Roman" panose="02020603050405020304" pitchFamily="18" charset="0"/>
              </a:rPr>
              <a:t>orbital cavities are separated by a thin partition of bone called the septum </a:t>
            </a:r>
            <a:r>
              <a:rPr lang="en-US" sz="2400" dirty="0" err="1" smtClean="0">
                <a:solidFill>
                  <a:srgbClr val="222222"/>
                </a:solidFill>
                <a:latin typeface="Times New Roman" panose="02020603050405020304" pitchFamily="18" charset="0"/>
                <a:cs typeface="Times New Roman" panose="02020603050405020304" pitchFamily="18" charset="0"/>
              </a:rPr>
              <a:t>orbitale</a:t>
            </a:r>
            <a:r>
              <a:rPr lang="en-US" sz="2400" dirty="0" smtClean="0">
                <a:solidFill>
                  <a:srgbClr val="222222"/>
                </a:solidFill>
                <a:latin typeface="Times New Roman" panose="02020603050405020304" pitchFamily="18" charset="0"/>
                <a:cs typeface="Times New Roman" panose="02020603050405020304" pitchFamily="18" charset="0"/>
              </a:rPr>
              <a:t>.</a:t>
            </a:r>
            <a:endParaRPr lang="en-US" sz="2400" dirty="0" smtClean="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400" dirty="0" smtClean="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400" dirty="0" smtClean="0">
                <a:solidFill>
                  <a:srgbClr val="222222"/>
                </a:solidFill>
                <a:latin typeface="Times New Roman" panose="02020603050405020304" pitchFamily="18" charset="0"/>
                <a:cs typeface="Times New Roman" panose="02020603050405020304" pitchFamily="18" charset="0"/>
              </a:rPr>
              <a:t>They </a:t>
            </a:r>
            <a:r>
              <a:rPr lang="en-US" sz="2400" dirty="0">
                <a:solidFill>
                  <a:srgbClr val="222222"/>
                </a:solidFill>
                <a:latin typeface="Times New Roman" panose="02020603050405020304" pitchFamily="18" charset="0"/>
                <a:cs typeface="Times New Roman" panose="02020603050405020304" pitchFamily="18" charset="0"/>
              </a:rPr>
              <a:t>are located in a strategic position within the skull, providing protection and support for the eye and its associated structures</a:t>
            </a:r>
            <a:r>
              <a:rPr lang="en-US" sz="2400" dirty="0" smtClean="0">
                <a:solidFill>
                  <a:srgbClr val="222222"/>
                </a:solidFill>
                <a:latin typeface="Times New Roman" panose="02020603050405020304" pitchFamily="18" charset="0"/>
                <a:cs typeface="Times New Roman" panose="02020603050405020304" pitchFamily="18" charset="0"/>
              </a:rPr>
              <a:t>.</a:t>
            </a:r>
            <a:endParaRPr lang="en-US" sz="2400" dirty="0" smtClean="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400" dirty="0" smtClean="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400" dirty="0" smtClean="0">
                <a:solidFill>
                  <a:srgbClr val="222222"/>
                </a:solidFill>
                <a:latin typeface="Times New Roman" panose="02020603050405020304" pitchFamily="18" charset="0"/>
                <a:cs typeface="Times New Roman" panose="02020603050405020304" pitchFamily="18" charset="0"/>
              </a:rPr>
              <a:t>The </a:t>
            </a:r>
            <a:r>
              <a:rPr lang="en-US" sz="2400" dirty="0">
                <a:solidFill>
                  <a:srgbClr val="222222"/>
                </a:solidFill>
                <a:latin typeface="Times New Roman" panose="02020603050405020304" pitchFamily="18" charset="0"/>
                <a:cs typeface="Times New Roman" panose="02020603050405020304" pitchFamily="18" charset="0"/>
              </a:rPr>
              <a:t>bones of the orbital cavity are thick and strong, helping to shield the eye from mechanical trauma and injury.</a:t>
            </a:r>
            <a:endParaRPr lang="en-US" sz="2400" dirty="0">
              <a:solidFill>
                <a:srgbClr val="222222"/>
              </a:solidFill>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1008802"/>
            <a:ext cx="9601196" cy="1303867"/>
          </a:xfrm>
        </p:spPr>
        <p:txBody>
          <a:bodyPr/>
          <a:lstStyle/>
          <a:p>
            <a:r>
              <a:rPr lang="en-GB" b="1" dirty="0" smtClean="0">
                <a:latin typeface="Times New Roman" panose="02020603050405020304" pitchFamily="18" charset="0"/>
                <a:cs typeface="Times New Roman" panose="02020603050405020304" pitchFamily="18" charset="0"/>
              </a:rPr>
              <a:t>DIVISION OF THE ORIBAL CAVITY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is divided into two parts: the anterior and posterior orbital cavities.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The anterior orbital cavity</a:t>
            </a:r>
            <a:r>
              <a:rPr lang="en-US" dirty="0">
                <a:latin typeface="Times New Roman" panose="02020603050405020304" pitchFamily="18" charset="0"/>
                <a:cs typeface="Times New Roman" panose="02020603050405020304" pitchFamily="18" charset="0"/>
              </a:rPr>
              <a:t> is the larger of the two and contains the eyeball, extrinsic eye muscles, and the lacrimal gland.</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The posterior orbital cavity</a:t>
            </a:r>
            <a:r>
              <a:rPr lang="en-US" dirty="0">
                <a:latin typeface="Times New Roman" panose="02020603050405020304" pitchFamily="18" charset="0"/>
                <a:cs typeface="Times New Roman" panose="02020603050405020304" pitchFamily="18" charset="0"/>
              </a:rPr>
              <a:t> is smaller and contains the </a:t>
            </a:r>
            <a:r>
              <a:rPr lang="en-US" dirty="0">
                <a:solidFill>
                  <a:srgbClr val="C00000"/>
                </a:solidFill>
                <a:latin typeface="Times New Roman" panose="02020603050405020304" pitchFamily="18" charset="0"/>
                <a:cs typeface="Times New Roman" panose="02020603050405020304" pitchFamily="18" charset="0"/>
                <a:hlinkClick r:id="rId1"/>
              </a:rPr>
              <a:t>optic nerve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hlinkClick r:id="rId2"/>
              </a:rPr>
              <a:t>oculomotor</a:t>
            </a:r>
            <a:r>
              <a:rPr lang="en-US" dirty="0">
                <a:latin typeface="Times New Roman" panose="02020603050405020304" pitchFamily="18" charset="0"/>
                <a:cs typeface="Times New Roman" panose="02020603050405020304" pitchFamily="18" charset="0"/>
                <a:hlinkClick r:id="rId2"/>
              </a:rPr>
              <a:t> nerve</a:t>
            </a:r>
            <a:r>
              <a:rPr lang="en-US" dirty="0">
                <a:latin typeface="Times New Roman" panose="02020603050405020304" pitchFamily="18" charset="0"/>
                <a:cs typeface="Times New Roman" panose="02020603050405020304" pitchFamily="18" charset="0"/>
              </a:rPr>
              <a:t>, and the </a:t>
            </a:r>
            <a:r>
              <a:rPr lang="en-US" dirty="0" err="1">
                <a:latin typeface="Times New Roman" panose="02020603050405020304" pitchFamily="18" charset="0"/>
                <a:cs typeface="Times New Roman" panose="02020603050405020304" pitchFamily="18" charset="0"/>
              </a:rPr>
              <a:t>levator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palpebrae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superioris</a:t>
            </a:r>
            <a:r>
              <a:rPr lang="en-US" dirty="0">
                <a:latin typeface="Times New Roman" panose="02020603050405020304" pitchFamily="18" charset="0"/>
                <a:cs typeface="Times New Roman" panose="02020603050405020304" pitchFamily="18" charset="0"/>
              </a:rPr>
              <a:t> muscle.</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orbital cavity is lined with a thin, vascular membrane called the orbital </a:t>
            </a:r>
            <a:r>
              <a:rPr lang="en-US" dirty="0" err="1">
                <a:latin typeface="Times New Roman" panose="02020603050405020304" pitchFamily="18" charset="0"/>
                <a:cs typeface="Times New Roman" panose="02020603050405020304" pitchFamily="18" charset="0"/>
                <a:hlinkClick r:id="rId3"/>
              </a:rPr>
              <a:t>periosteum</a:t>
            </a:r>
            <a:r>
              <a:rPr lang="en-US" dirty="0">
                <a:latin typeface="Times New Roman" panose="02020603050405020304" pitchFamily="18" charset="0"/>
                <a:cs typeface="Times New Roman" panose="02020603050405020304" pitchFamily="18" charset="0"/>
              </a:rPr>
              <a:t>, which helps to nourish the structures within the orbit and protect them from mechanical trauma.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orbital </a:t>
            </a:r>
            <a:r>
              <a:rPr lang="en-US" dirty="0" err="1">
                <a:latin typeface="Times New Roman" panose="02020603050405020304" pitchFamily="18" charset="0"/>
                <a:cs typeface="Times New Roman" panose="02020603050405020304" pitchFamily="18" charset="0"/>
              </a:rPr>
              <a:t>periosteum</a:t>
            </a:r>
            <a:r>
              <a:rPr lang="en-US" dirty="0">
                <a:latin typeface="Times New Roman" panose="02020603050405020304" pitchFamily="18" charset="0"/>
                <a:cs typeface="Times New Roman" panose="02020603050405020304" pitchFamily="18" charset="0"/>
              </a:rPr>
              <a:t> is richly supplied with blood vessels and nerve endings, making it highly sensitive to touch and pressure.</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9600" y="609600"/>
            <a:ext cx="10991850" cy="566737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0099" y="1028343"/>
            <a:ext cx="10658475" cy="4893647"/>
          </a:xfrm>
          <a:prstGeom prst="rect">
            <a:avLst/>
          </a:prstGeom>
        </p:spPr>
        <p:txBody>
          <a:bodyPr wrap="square">
            <a:spAutoFit/>
          </a:bodyPr>
          <a:lstStyle/>
          <a:p>
            <a:pPr algn="just"/>
            <a:r>
              <a:rPr lang="en-US" sz="2400" dirty="0">
                <a:solidFill>
                  <a:srgbClr val="32323C"/>
                </a:solidFill>
                <a:latin typeface="Times New Roman" panose="02020603050405020304" pitchFamily="18" charset="0"/>
                <a:cs typeface="Times New Roman" panose="02020603050405020304" pitchFamily="18" charset="0"/>
              </a:rPr>
              <a:t>The borders and anatomical relations of the bony orbit are as follows:</a:t>
            </a:r>
            <a:endParaRPr lang="en-US" sz="2400" dirty="0">
              <a:solidFill>
                <a:srgbClr val="32323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400" b="1" dirty="0">
                <a:solidFill>
                  <a:srgbClr val="32323C"/>
                </a:solidFill>
                <a:latin typeface="Times New Roman" panose="02020603050405020304" pitchFamily="18" charset="0"/>
                <a:cs typeface="Times New Roman" panose="02020603050405020304" pitchFamily="18" charset="0"/>
              </a:rPr>
              <a:t>Roof</a:t>
            </a:r>
            <a:r>
              <a:rPr lang="en-US" sz="2400" dirty="0">
                <a:solidFill>
                  <a:srgbClr val="32323C"/>
                </a:solidFill>
                <a:latin typeface="Times New Roman" panose="02020603050405020304" pitchFamily="18" charset="0"/>
                <a:cs typeface="Times New Roman" panose="02020603050405020304" pitchFamily="18" charset="0"/>
              </a:rPr>
              <a:t> (superior wall) – Formed by the frontal bone and the lesser wing of the </a:t>
            </a:r>
            <a:r>
              <a:rPr lang="en-US" sz="2400" dirty="0">
                <a:solidFill>
                  <a:srgbClr val="00A99D"/>
                </a:solidFill>
                <a:latin typeface="Times New Roman" panose="02020603050405020304" pitchFamily="18" charset="0"/>
                <a:cs typeface="Times New Roman" panose="02020603050405020304" pitchFamily="18" charset="0"/>
                <a:hlinkClick r:id="rId1"/>
              </a:rPr>
              <a:t>sphenoid</a:t>
            </a:r>
            <a:r>
              <a:rPr lang="en-US" sz="2400" dirty="0">
                <a:solidFill>
                  <a:srgbClr val="32323C"/>
                </a:solidFill>
                <a:latin typeface="Times New Roman" panose="02020603050405020304" pitchFamily="18" charset="0"/>
                <a:cs typeface="Times New Roman" panose="02020603050405020304" pitchFamily="18" charset="0"/>
              </a:rPr>
              <a:t>. The frontal bone separates the orbit from the </a:t>
            </a:r>
            <a:r>
              <a:rPr lang="en-US" sz="2400" dirty="0">
                <a:solidFill>
                  <a:srgbClr val="00A99D"/>
                </a:solidFill>
                <a:latin typeface="Times New Roman" panose="02020603050405020304" pitchFamily="18" charset="0"/>
                <a:cs typeface="Times New Roman" panose="02020603050405020304" pitchFamily="18" charset="0"/>
                <a:hlinkClick r:id="rId2"/>
              </a:rPr>
              <a:t>anterior cranial </a:t>
            </a:r>
            <a:r>
              <a:rPr lang="en-US" sz="2400" dirty="0" smtClean="0">
                <a:solidFill>
                  <a:srgbClr val="00A99D"/>
                </a:solidFill>
                <a:latin typeface="Times New Roman" panose="02020603050405020304" pitchFamily="18" charset="0"/>
                <a:cs typeface="Times New Roman" panose="02020603050405020304" pitchFamily="18" charset="0"/>
                <a:hlinkClick r:id="rId2"/>
              </a:rPr>
              <a:t>fossa</a:t>
            </a:r>
            <a:r>
              <a:rPr lang="en-US" sz="2400" dirty="0" smtClean="0">
                <a:solidFill>
                  <a:srgbClr val="32323C"/>
                </a:solidFill>
                <a:latin typeface="Times New Roman" panose="02020603050405020304" pitchFamily="18" charset="0"/>
                <a:cs typeface="Times New Roman" panose="02020603050405020304" pitchFamily="18" charset="0"/>
              </a:rPr>
              <a:t>.</a:t>
            </a:r>
            <a:endParaRPr lang="en-US" sz="2400" dirty="0" smtClean="0">
              <a:solidFill>
                <a:srgbClr val="32323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endParaRPr lang="en-US" sz="2400" dirty="0" smtClean="0">
              <a:solidFill>
                <a:srgbClr val="32323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400" b="1" dirty="0" smtClean="0">
                <a:solidFill>
                  <a:srgbClr val="32323C"/>
                </a:solidFill>
                <a:latin typeface="Times New Roman" panose="02020603050405020304" pitchFamily="18" charset="0"/>
                <a:cs typeface="Times New Roman" panose="02020603050405020304" pitchFamily="18" charset="0"/>
              </a:rPr>
              <a:t>Floor</a:t>
            </a:r>
            <a:r>
              <a:rPr lang="en-US" sz="2400" dirty="0">
                <a:solidFill>
                  <a:srgbClr val="32323C"/>
                </a:solidFill>
                <a:latin typeface="Times New Roman" panose="02020603050405020304" pitchFamily="18" charset="0"/>
                <a:cs typeface="Times New Roman" panose="02020603050405020304" pitchFamily="18" charset="0"/>
              </a:rPr>
              <a:t> (inferior wall) – Formed by the maxilla, palatine and </a:t>
            </a:r>
            <a:r>
              <a:rPr lang="en-US" sz="2400" dirty="0" err="1">
                <a:solidFill>
                  <a:srgbClr val="32323C"/>
                </a:solidFill>
                <a:latin typeface="Times New Roman" panose="02020603050405020304" pitchFamily="18" charset="0"/>
                <a:cs typeface="Times New Roman" panose="02020603050405020304" pitchFamily="18" charset="0"/>
              </a:rPr>
              <a:t>zygomatic</a:t>
            </a:r>
            <a:r>
              <a:rPr lang="en-US" sz="2400" dirty="0">
                <a:solidFill>
                  <a:srgbClr val="32323C"/>
                </a:solidFill>
                <a:latin typeface="Times New Roman" panose="02020603050405020304" pitchFamily="18" charset="0"/>
                <a:cs typeface="Times New Roman" panose="02020603050405020304" pitchFamily="18" charset="0"/>
              </a:rPr>
              <a:t> bones. The maxilla separates the orbit from the underlying maxillary </a:t>
            </a:r>
            <a:r>
              <a:rPr lang="en-US" sz="2400" dirty="0" smtClean="0">
                <a:solidFill>
                  <a:srgbClr val="32323C"/>
                </a:solidFill>
                <a:latin typeface="Times New Roman" panose="02020603050405020304" pitchFamily="18" charset="0"/>
                <a:cs typeface="Times New Roman" panose="02020603050405020304" pitchFamily="18" charset="0"/>
              </a:rPr>
              <a:t>sinus.</a:t>
            </a:r>
            <a:endParaRPr lang="en-US" sz="2400" dirty="0" smtClean="0">
              <a:solidFill>
                <a:srgbClr val="32323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endParaRPr lang="en-US" sz="2400" dirty="0" smtClean="0">
              <a:solidFill>
                <a:srgbClr val="32323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400" b="1" dirty="0" smtClean="0">
                <a:solidFill>
                  <a:srgbClr val="32323C"/>
                </a:solidFill>
                <a:latin typeface="Times New Roman" panose="02020603050405020304" pitchFamily="18" charset="0"/>
                <a:cs typeface="Times New Roman" panose="02020603050405020304" pitchFamily="18" charset="0"/>
              </a:rPr>
              <a:t>Medial </a:t>
            </a:r>
            <a:r>
              <a:rPr lang="en-US" sz="2400" b="1" dirty="0">
                <a:solidFill>
                  <a:srgbClr val="32323C"/>
                </a:solidFill>
                <a:latin typeface="Times New Roman" panose="02020603050405020304" pitchFamily="18" charset="0"/>
                <a:cs typeface="Times New Roman" panose="02020603050405020304" pitchFamily="18" charset="0"/>
              </a:rPr>
              <a:t>wall</a:t>
            </a:r>
            <a:r>
              <a:rPr lang="en-US" sz="2400" dirty="0">
                <a:solidFill>
                  <a:srgbClr val="32323C"/>
                </a:solidFill>
                <a:latin typeface="Times New Roman" panose="02020603050405020304" pitchFamily="18" charset="0"/>
                <a:cs typeface="Times New Roman" panose="02020603050405020304" pitchFamily="18" charset="0"/>
              </a:rPr>
              <a:t> – Formed by the </a:t>
            </a:r>
            <a:r>
              <a:rPr lang="en-US" sz="2400" dirty="0" err="1">
                <a:solidFill>
                  <a:srgbClr val="00A99D"/>
                </a:solidFill>
                <a:latin typeface="Times New Roman" panose="02020603050405020304" pitchFamily="18" charset="0"/>
                <a:cs typeface="Times New Roman" panose="02020603050405020304" pitchFamily="18" charset="0"/>
                <a:hlinkClick r:id="rId3"/>
              </a:rPr>
              <a:t>ethmoid</a:t>
            </a:r>
            <a:r>
              <a:rPr lang="en-US" sz="2400" dirty="0">
                <a:solidFill>
                  <a:srgbClr val="32323C"/>
                </a:solidFill>
                <a:latin typeface="Times New Roman" panose="02020603050405020304" pitchFamily="18" charset="0"/>
                <a:cs typeface="Times New Roman" panose="02020603050405020304" pitchFamily="18" charset="0"/>
              </a:rPr>
              <a:t>, maxilla, lacrimal and </a:t>
            </a:r>
            <a:r>
              <a:rPr lang="en-US" sz="2400" dirty="0">
                <a:solidFill>
                  <a:srgbClr val="00A99D"/>
                </a:solidFill>
                <a:latin typeface="Times New Roman" panose="02020603050405020304" pitchFamily="18" charset="0"/>
                <a:cs typeface="Times New Roman" panose="02020603050405020304" pitchFamily="18" charset="0"/>
                <a:hlinkClick r:id="rId1"/>
              </a:rPr>
              <a:t>sphenoid</a:t>
            </a:r>
            <a:r>
              <a:rPr lang="en-US" sz="2400" dirty="0">
                <a:solidFill>
                  <a:srgbClr val="32323C"/>
                </a:solidFill>
                <a:latin typeface="Times New Roman" panose="02020603050405020304" pitchFamily="18" charset="0"/>
                <a:cs typeface="Times New Roman" panose="02020603050405020304" pitchFamily="18" charset="0"/>
              </a:rPr>
              <a:t> bones. The </a:t>
            </a:r>
            <a:r>
              <a:rPr lang="en-US" sz="2400" dirty="0" err="1">
                <a:solidFill>
                  <a:srgbClr val="00A99D"/>
                </a:solidFill>
                <a:latin typeface="Times New Roman" panose="02020603050405020304" pitchFamily="18" charset="0"/>
                <a:cs typeface="Times New Roman" panose="02020603050405020304" pitchFamily="18" charset="0"/>
                <a:hlinkClick r:id="rId3"/>
              </a:rPr>
              <a:t>ethmoid</a:t>
            </a:r>
            <a:r>
              <a:rPr lang="en-US" sz="2400" dirty="0">
                <a:solidFill>
                  <a:srgbClr val="32323C"/>
                </a:solidFill>
                <a:latin typeface="Times New Roman" panose="02020603050405020304" pitchFamily="18" charset="0"/>
                <a:cs typeface="Times New Roman" panose="02020603050405020304" pitchFamily="18" charset="0"/>
              </a:rPr>
              <a:t> bone separates the orbit from the </a:t>
            </a:r>
            <a:r>
              <a:rPr lang="en-US" sz="2400" dirty="0" err="1">
                <a:solidFill>
                  <a:srgbClr val="32323C"/>
                </a:solidFill>
                <a:latin typeface="Times New Roman" panose="02020603050405020304" pitchFamily="18" charset="0"/>
                <a:cs typeface="Times New Roman" panose="02020603050405020304" pitchFamily="18" charset="0"/>
              </a:rPr>
              <a:t>ethmoid</a:t>
            </a:r>
            <a:r>
              <a:rPr lang="en-US" sz="2400" dirty="0">
                <a:solidFill>
                  <a:srgbClr val="32323C"/>
                </a:solidFill>
                <a:latin typeface="Times New Roman" panose="02020603050405020304" pitchFamily="18" charset="0"/>
                <a:cs typeface="Times New Roman" panose="02020603050405020304" pitchFamily="18" charset="0"/>
              </a:rPr>
              <a:t> </a:t>
            </a:r>
            <a:r>
              <a:rPr lang="en-US" sz="2400" dirty="0" smtClean="0">
                <a:solidFill>
                  <a:srgbClr val="32323C"/>
                </a:solidFill>
                <a:latin typeface="Times New Roman" panose="02020603050405020304" pitchFamily="18" charset="0"/>
                <a:cs typeface="Times New Roman" panose="02020603050405020304" pitchFamily="18" charset="0"/>
              </a:rPr>
              <a:t>sinus.</a:t>
            </a:r>
            <a:endParaRPr lang="en-US" sz="2400" dirty="0" smtClean="0">
              <a:solidFill>
                <a:srgbClr val="32323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400" b="1" dirty="0" smtClean="0">
                <a:solidFill>
                  <a:srgbClr val="32323C"/>
                </a:solidFill>
                <a:latin typeface="Times New Roman" panose="02020603050405020304" pitchFamily="18" charset="0"/>
                <a:cs typeface="Times New Roman" panose="02020603050405020304" pitchFamily="18" charset="0"/>
              </a:rPr>
              <a:t>Lateral </a:t>
            </a:r>
            <a:r>
              <a:rPr lang="en-US" sz="2400" b="1" dirty="0">
                <a:solidFill>
                  <a:srgbClr val="32323C"/>
                </a:solidFill>
                <a:latin typeface="Times New Roman" panose="02020603050405020304" pitchFamily="18" charset="0"/>
                <a:cs typeface="Times New Roman" panose="02020603050405020304" pitchFamily="18" charset="0"/>
              </a:rPr>
              <a:t>wall</a:t>
            </a:r>
            <a:r>
              <a:rPr lang="en-US" sz="2400" dirty="0">
                <a:solidFill>
                  <a:srgbClr val="32323C"/>
                </a:solidFill>
                <a:latin typeface="Times New Roman" panose="02020603050405020304" pitchFamily="18" charset="0"/>
                <a:cs typeface="Times New Roman" panose="02020603050405020304" pitchFamily="18" charset="0"/>
              </a:rPr>
              <a:t> – Formed by the </a:t>
            </a:r>
            <a:r>
              <a:rPr lang="en-US" sz="2400" dirty="0" err="1">
                <a:solidFill>
                  <a:srgbClr val="32323C"/>
                </a:solidFill>
                <a:latin typeface="Times New Roman" panose="02020603050405020304" pitchFamily="18" charset="0"/>
                <a:cs typeface="Times New Roman" panose="02020603050405020304" pitchFamily="18" charset="0"/>
              </a:rPr>
              <a:t>zygomatic</a:t>
            </a:r>
            <a:r>
              <a:rPr lang="en-US" sz="2400" dirty="0">
                <a:solidFill>
                  <a:srgbClr val="32323C"/>
                </a:solidFill>
                <a:latin typeface="Times New Roman" panose="02020603050405020304" pitchFamily="18" charset="0"/>
                <a:cs typeface="Times New Roman" panose="02020603050405020304" pitchFamily="18" charset="0"/>
              </a:rPr>
              <a:t> bone and greater wing of the </a:t>
            </a:r>
            <a:r>
              <a:rPr lang="en-US" sz="2400" dirty="0" smtClean="0">
                <a:solidFill>
                  <a:srgbClr val="00A99D"/>
                </a:solidFill>
                <a:latin typeface="Times New Roman" panose="02020603050405020304" pitchFamily="18" charset="0"/>
                <a:cs typeface="Times New Roman" panose="02020603050405020304" pitchFamily="18" charset="0"/>
                <a:hlinkClick r:id="rId1"/>
              </a:rPr>
              <a:t>sphenoid</a:t>
            </a:r>
            <a:r>
              <a:rPr lang="en-US" sz="2400" dirty="0" smtClean="0">
                <a:solidFill>
                  <a:srgbClr val="32323C"/>
                </a:solidFill>
                <a:latin typeface="Times New Roman" panose="02020603050405020304" pitchFamily="18" charset="0"/>
                <a:cs typeface="Times New Roman" panose="02020603050405020304" pitchFamily="18" charset="0"/>
              </a:rPr>
              <a:t>.</a:t>
            </a:r>
            <a:endParaRPr lang="en-US" sz="2400" dirty="0" smtClean="0">
              <a:solidFill>
                <a:srgbClr val="32323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400" b="1" dirty="0" smtClean="0">
                <a:solidFill>
                  <a:srgbClr val="32323C"/>
                </a:solidFill>
                <a:latin typeface="Times New Roman" panose="02020603050405020304" pitchFamily="18" charset="0"/>
                <a:cs typeface="Times New Roman" panose="02020603050405020304" pitchFamily="18" charset="0"/>
              </a:rPr>
              <a:t>Apex</a:t>
            </a:r>
            <a:r>
              <a:rPr lang="en-US" sz="2400" dirty="0">
                <a:solidFill>
                  <a:srgbClr val="32323C"/>
                </a:solidFill>
                <a:latin typeface="Times New Roman" panose="02020603050405020304" pitchFamily="18" charset="0"/>
                <a:cs typeface="Times New Roman" panose="02020603050405020304" pitchFamily="18" charset="0"/>
              </a:rPr>
              <a:t> – Located at the opening to the optic canal, the optic </a:t>
            </a:r>
            <a:r>
              <a:rPr lang="en-US" sz="2400" dirty="0" smtClean="0">
                <a:solidFill>
                  <a:srgbClr val="32323C"/>
                </a:solidFill>
                <a:latin typeface="Times New Roman" panose="02020603050405020304" pitchFamily="18" charset="0"/>
                <a:cs typeface="Times New Roman" panose="02020603050405020304" pitchFamily="18" charset="0"/>
              </a:rPr>
              <a:t>foramen.</a:t>
            </a:r>
            <a:endParaRPr lang="en-US" sz="2400" dirty="0" smtClean="0">
              <a:solidFill>
                <a:srgbClr val="32323C"/>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400" b="1" dirty="0" smtClean="0">
                <a:solidFill>
                  <a:srgbClr val="32323C"/>
                </a:solidFill>
                <a:latin typeface="Times New Roman" panose="02020603050405020304" pitchFamily="18" charset="0"/>
                <a:cs typeface="Times New Roman" panose="02020603050405020304" pitchFamily="18" charset="0"/>
              </a:rPr>
              <a:t>Base</a:t>
            </a:r>
            <a:r>
              <a:rPr lang="en-US" sz="2400" dirty="0">
                <a:solidFill>
                  <a:srgbClr val="32323C"/>
                </a:solidFill>
                <a:latin typeface="Times New Roman" panose="02020603050405020304" pitchFamily="18" charset="0"/>
                <a:cs typeface="Times New Roman" panose="02020603050405020304" pitchFamily="18" charset="0"/>
              </a:rPr>
              <a:t> – Opens out into the face, and is bounded by the eyelids. It is also known as the orbital rim.</a:t>
            </a:r>
            <a:endParaRPr lang="en-US" sz="2400" b="0" i="0" dirty="0">
              <a:solidFill>
                <a:srgbClr val="32323C"/>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219200" y="1057275"/>
            <a:ext cx="9753600" cy="474345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9126" y="561974"/>
            <a:ext cx="11001374" cy="597217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9308" y="104775"/>
            <a:ext cx="10851192" cy="685800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454693" y="442176"/>
            <a:ext cx="11271986" cy="10926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sz="2800" b="1"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GB" b="1" dirty="0" smtClean="0">
                <a:latin typeface="Times New Roman" panose="02020603050405020304" pitchFamily="18" charset="0"/>
                <a:cs typeface="Times New Roman" panose="02020603050405020304" pitchFamily="18" charset="0"/>
              </a:rPr>
              <a:t>				</a:t>
            </a:r>
            <a:r>
              <a:rPr lang="en-GB" sz="3200" b="1" dirty="0" smtClean="0">
                <a:latin typeface="Times New Roman" panose="02020603050405020304" pitchFamily="18" charset="0"/>
                <a:cs typeface="Times New Roman" panose="02020603050405020304" pitchFamily="18" charset="0"/>
              </a:rPr>
              <a:t>CONTENTS</a:t>
            </a:r>
            <a:endParaRPr kumimoji="0" lang="en-US" sz="3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695326" y="1401653"/>
            <a:ext cx="6783504" cy="417037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sz="1300" b="0" i="0" u="none" strike="noStrike" cap="none" normalizeH="0" baseline="0" dirty="0" smtClean="0">
                <a:ln>
                  <a:noFill/>
                </a:ln>
                <a:solidFill>
                  <a:srgbClr val="FFFFFF"/>
                </a:solidFill>
                <a:effectLst/>
                <a:latin typeface="acumin-pro"/>
              </a:rPr>
              <a:t> 2024)</a:t>
            </a:r>
            <a:endParaRPr kumimoji="0" lang="en-US" sz="1300" b="0" i="0" u="none" strike="noStrike" cap="none" normalizeH="0" baseline="0" dirty="0" smtClean="0">
              <a:ln>
                <a:noFill/>
              </a:ln>
              <a:solidFill>
                <a:srgbClr val="00A99D"/>
              </a:solidFill>
              <a:effectLst/>
              <a:latin typeface="acumin-pro"/>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1300" b="0" i="0" u="none" strike="noStrike" cap="none" normalizeH="0" baseline="0" dirty="0" smtClean="0">
                <a:ln>
                  <a:noFill/>
                </a:ln>
                <a:solidFill>
                  <a:srgbClr val="00A99D"/>
                </a:solidFill>
                <a:effectLst/>
                <a:latin typeface="acumin-pro"/>
              </a:rPr>
              <a:t>  </a:t>
            </a:r>
            <a:r>
              <a:rPr lang="en-US" dirty="0" smtClean="0">
                <a:latin typeface="Times New Roman" panose="02020603050405020304" pitchFamily="18" charset="0"/>
                <a:cs typeface="Times New Roman" panose="02020603050405020304" pitchFamily="18" charset="0"/>
              </a:rPr>
              <a:t>The </a:t>
            </a:r>
            <a:r>
              <a:rPr lang="en-US" dirty="0" err="1" smtClean="0">
                <a:latin typeface="Times New Roman" panose="02020603050405020304" pitchFamily="18" charset="0"/>
                <a:cs typeface="Times New Roman" panose="02020603050405020304" pitchFamily="18" charset="0"/>
              </a:rPr>
              <a:t>bonyorbit</a:t>
            </a:r>
            <a:r>
              <a:rPr lang="en-US" dirty="0" smtClean="0">
                <a:latin typeface="Times New Roman" panose="02020603050405020304" pitchFamily="18" charset="0"/>
                <a:cs typeface="Times New Roman" panose="02020603050405020304" pitchFamily="18" charset="0"/>
              </a:rPr>
              <a:t> contains the eyeballs and their associated structures</a:t>
            </a:r>
            <a:endParaRPr kumimoji="0" lang="en-US" b="0" i="0" u="none" strike="noStrike" cap="none" normalizeH="0" baseline="0" dirty="0" smtClean="0">
              <a:ln>
                <a:noFill/>
              </a:ln>
              <a:solidFill>
                <a:srgbClr val="32323C"/>
              </a:solidFill>
              <a:effectLst/>
              <a:latin typeface="acumin-pro"/>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b="1" i="0" u="none" strike="noStrike" cap="none" normalizeH="0" baseline="0" dirty="0" smtClean="0">
                <a:ln>
                  <a:noFill/>
                </a:ln>
                <a:solidFill>
                  <a:srgbClr val="00A99D"/>
                </a:solidFill>
                <a:effectLst/>
                <a:latin typeface="acumin-pro"/>
                <a:hlinkClick r:id="rId1" tooltip="The Extraocular Muscles"/>
              </a:rPr>
              <a:t>Extra-ocular muscles</a:t>
            </a:r>
            <a:r>
              <a:rPr kumimoji="0" lang="en-US" b="0" i="0" u="none" strike="noStrike" cap="none" normalizeH="0" baseline="0" dirty="0" smtClean="0">
                <a:ln>
                  <a:noFill/>
                </a:ln>
                <a:solidFill>
                  <a:srgbClr val="32323C"/>
                </a:solidFill>
                <a:effectLst/>
                <a:latin typeface="acumin-pro"/>
              </a:rPr>
              <a:t> – These muscles are separate from the eye. They are responsible for the movement of the eyeball and superior eyelid.</a:t>
            </a:r>
            <a:endParaRPr kumimoji="0" lang="en-US" b="0" i="0" u="none" strike="noStrike" cap="none" normalizeH="0" baseline="0" dirty="0" smtClean="0">
              <a:ln>
                <a:noFill/>
              </a:ln>
              <a:solidFill>
                <a:srgbClr val="32323C"/>
              </a:solidFill>
              <a:effectLst/>
              <a:latin typeface="acumin-pro"/>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b="1" i="0" u="none" strike="noStrike" cap="none" normalizeH="0" baseline="0" dirty="0" smtClean="0">
                <a:ln>
                  <a:noFill/>
                </a:ln>
                <a:solidFill>
                  <a:srgbClr val="32323C"/>
                </a:solidFill>
                <a:effectLst/>
                <a:latin typeface="acumin-pro"/>
              </a:rPr>
              <a:t>Eyelids</a:t>
            </a:r>
            <a:r>
              <a:rPr kumimoji="0" lang="en-US" b="0" i="0" u="none" strike="noStrike" cap="none" normalizeH="0" baseline="0" dirty="0" smtClean="0">
                <a:ln>
                  <a:noFill/>
                </a:ln>
                <a:solidFill>
                  <a:srgbClr val="32323C"/>
                </a:solidFill>
                <a:effectLst/>
                <a:latin typeface="acumin-pro"/>
              </a:rPr>
              <a:t> – These cover the orbits anteriorly.</a:t>
            </a:r>
            <a:endParaRPr kumimoji="0" lang="en-US" b="0" i="0" u="none" strike="noStrike" cap="none" normalizeH="0" baseline="0" dirty="0" smtClean="0">
              <a:ln>
                <a:noFill/>
              </a:ln>
              <a:solidFill>
                <a:srgbClr val="32323C"/>
              </a:solidFill>
              <a:effectLst/>
              <a:latin typeface="acumin-pro"/>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b="1" i="0" u="none" strike="noStrike" cap="none" normalizeH="0" baseline="0" dirty="0" smtClean="0">
                <a:ln>
                  <a:noFill/>
                </a:ln>
                <a:solidFill>
                  <a:srgbClr val="32323C"/>
                </a:solidFill>
                <a:effectLst/>
                <a:latin typeface="acumin-pro"/>
              </a:rPr>
              <a:t>Nerves</a:t>
            </a:r>
            <a:r>
              <a:rPr kumimoji="0" lang="en-US" b="0" i="0" u="none" strike="noStrike" cap="none" normalizeH="0" baseline="0" dirty="0" smtClean="0">
                <a:ln>
                  <a:noFill/>
                </a:ln>
                <a:solidFill>
                  <a:srgbClr val="32323C"/>
                </a:solidFill>
                <a:effectLst/>
                <a:latin typeface="acumin-pro"/>
              </a:rPr>
              <a:t>: Several cranial nerves supply the eye and its structures; </a:t>
            </a:r>
            <a:r>
              <a:rPr kumimoji="0" lang="en-US" b="0" i="0" u="none" strike="noStrike" cap="none" normalizeH="0" baseline="0" dirty="0" smtClean="0">
                <a:ln>
                  <a:noFill/>
                </a:ln>
                <a:solidFill>
                  <a:srgbClr val="00A99D"/>
                </a:solidFill>
                <a:effectLst/>
                <a:latin typeface="acumin-pro"/>
                <a:hlinkClick r:id="rId2"/>
              </a:rPr>
              <a:t>optic</a:t>
            </a:r>
            <a:r>
              <a:rPr kumimoji="0" lang="en-US" b="0" i="0" u="none" strike="noStrike" cap="none" normalizeH="0" baseline="0" dirty="0" smtClean="0">
                <a:ln>
                  <a:noFill/>
                </a:ln>
                <a:solidFill>
                  <a:srgbClr val="32323C"/>
                </a:solidFill>
                <a:effectLst/>
                <a:latin typeface="acumin-pro"/>
              </a:rPr>
              <a:t>, </a:t>
            </a:r>
            <a:r>
              <a:rPr kumimoji="0" lang="en-US" b="0" i="0" u="none" strike="noStrike" cap="none" normalizeH="0" baseline="0" dirty="0" err="1" smtClean="0">
                <a:ln>
                  <a:noFill/>
                </a:ln>
                <a:solidFill>
                  <a:srgbClr val="00A99D"/>
                </a:solidFill>
                <a:effectLst/>
                <a:latin typeface="acumin-pro"/>
                <a:hlinkClick r:id="rId3"/>
              </a:rPr>
              <a:t>oculomotor</a:t>
            </a:r>
            <a:r>
              <a:rPr kumimoji="0" lang="en-US" b="0" i="0" u="none" strike="noStrike" cap="none" normalizeH="0" baseline="0" dirty="0" smtClean="0">
                <a:ln>
                  <a:noFill/>
                </a:ln>
                <a:solidFill>
                  <a:srgbClr val="32323C"/>
                </a:solidFill>
                <a:effectLst/>
                <a:latin typeface="acumin-pro"/>
              </a:rPr>
              <a:t>, </a:t>
            </a:r>
            <a:r>
              <a:rPr kumimoji="0" lang="en-US" b="0" i="0" u="none" strike="noStrike" cap="none" normalizeH="0" baseline="0" dirty="0" smtClean="0">
                <a:ln>
                  <a:noFill/>
                </a:ln>
                <a:solidFill>
                  <a:srgbClr val="00A99D"/>
                </a:solidFill>
                <a:effectLst/>
                <a:latin typeface="acumin-pro"/>
                <a:hlinkClick r:id="rId4"/>
              </a:rPr>
              <a:t>trochlear</a:t>
            </a:r>
            <a:r>
              <a:rPr kumimoji="0" lang="en-US" b="0" i="0" u="none" strike="noStrike" cap="none" normalizeH="0" baseline="0" dirty="0" smtClean="0">
                <a:ln>
                  <a:noFill/>
                </a:ln>
                <a:solidFill>
                  <a:srgbClr val="32323C"/>
                </a:solidFill>
                <a:effectLst/>
                <a:latin typeface="acumin-pro"/>
              </a:rPr>
              <a:t>, </a:t>
            </a:r>
            <a:r>
              <a:rPr kumimoji="0" lang="en-US" b="0" i="0" u="none" strike="noStrike" cap="none" normalizeH="0" baseline="0" dirty="0" smtClean="0">
                <a:ln>
                  <a:noFill/>
                </a:ln>
                <a:solidFill>
                  <a:srgbClr val="00A99D"/>
                </a:solidFill>
                <a:effectLst/>
                <a:latin typeface="acumin-pro"/>
                <a:hlinkClick r:id="rId5"/>
              </a:rPr>
              <a:t>trigeminal</a:t>
            </a:r>
            <a:r>
              <a:rPr kumimoji="0" lang="en-US" b="0" i="0" u="none" strike="noStrike" cap="none" normalizeH="0" baseline="0" dirty="0" smtClean="0">
                <a:ln>
                  <a:noFill/>
                </a:ln>
                <a:solidFill>
                  <a:srgbClr val="32323C"/>
                </a:solidFill>
                <a:effectLst/>
                <a:latin typeface="acumin-pro"/>
              </a:rPr>
              <a:t> and </a:t>
            </a:r>
            <a:r>
              <a:rPr kumimoji="0" lang="en-US" b="0" i="0" u="none" strike="noStrike" cap="none" normalizeH="0" baseline="0" dirty="0" err="1" smtClean="0">
                <a:ln>
                  <a:noFill/>
                </a:ln>
                <a:solidFill>
                  <a:srgbClr val="00A99D"/>
                </a:solidFill>
                <a:effectLst/>
                <a:latin typeface="acumin-pro"/>
                <a:hlinkClick r:id="rId6"/>
              </a:rPr>
              <a:t>abducens</a:t>
            </a:r>
            <a:r>
              <a:rPr kumimoji="0" lang="en-US" b="0" i="0" u="none" strike="noStrike" cap="none" normalizeH="0" baseline="0" dirty="0" smtClean="0">
                <a:ln>
                  <a:noFill/>
                </a:ln>
                <a:solidFill>
                  <a:srgbClr val="32323C"/>
                </a:solidFill>
                <a:effectLst/>
                <a:latin typeface="acumin-pro"/>
              </a:rPr>
              <a:t> nerves.</a:t>
            </a:r>
            <a:endParaRPr kumimoji="0" lang="en-US" b="0" i="0" u="none" strike="noStrike" cap="none" normalizeH="0" baseline="0" dirty="0" smtClean="0">
              <a:ln>
                <a:noFill/>
              </a:ln>
              <a:solidFill>
                <a:srgbClr val="32323C"/>
              </a:solidFill>
              <a:effectLst/>
              <a:latin typeface="acumin-pro"/>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b="1" i="0" u="none" strike="noStrike" cap="none" normalizeH="0" baseline="0" dirty="0" smtClean="0">
                <a:ln>
                  <a:noFill/>
                </a:ln>
                <a:solidFill>
                  <a:srgbClr val="32323C"/>
                </a:solidFill>
                <a:effectLst/>
                <a:latin typeface="acumin-pro"/>
              </a:rPr>
              <a:t>Blood vessels</a:t>
            </a:r>
            <a:r>
              <a:rPr kumimoji="0" lang="en-US" b="0" i="0" u="none" strike="noStrike" cap="none" normalizeH="0" baseline="0" dirty="0" smtClean="0">
                <a:ln>
                  <a:noFill/>
                </a:ln>
                <a:solidFill>
                  <a:srgbClr val="32323C"/>
                </a:solidFill>
                <a:effectLst/>
                <a:latin typeface="acumin-pro"/>
              </a:rPr>
              <a:t>: The eye receives blood primarily from the ophthalmic artery. Venous drainage is via the superior and inferior ophthalmic veins.</a:t>
            </a:r>
            <a:endParaRPr kumimoji="0" lang="en-US" b="0" i="0" u="none" strike="noStrike" cap="none" normalizeH="0" baseline="0" dirty="0" smtClean="0">
              <a:ln>
                <a:noFill/>
              </a:ln>
              <a:solidFill>
                <a:srgbClr val="32323C"/>
              </a:solidFill>
              <a:effectLst/>
              <a:latin typeface="acumin-pro"/>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b="0" i="0" u="none" strike="noStrike" cap="none" normalizeH="0" baseline="0" dirty="0" smtClean="0">
                <a:ln>
                  <a:noFill/>
                </a:ln>
                <a:solidFill>
                  <a:srgbClr val="32323C"/>
                </a:solidFill>
                <a:effectLst/>
                <a:latin typeface="acumin-pro"/>
              </a:rPr>
              <a:t>Any space within the orbit that is not occupied is filled with </a:t>
            </a:r>
            <a:r>
              <a:rPr kumimoji="0" lang="en-US" b="1" i="0" u="none" strike="noStrike" cap="none" normalizeH="0" baseline="0" dirty="0" smtClean="0">
                <a:ln>
                  <a:noFill/>
                </a:ln>
                <a:solidFill>
                  <a:srgbClr val="32323C"/>
                </a:solidFill>
                <a:effectLst/>
                <a:latin typeface="acumin-pro"/>
              </a:rPr>
              <a:t>orbital fat</a:t>
            </a:r>
            <a:r>
              <a:rPr kumimoji="0" lang="en-US" b="0" i="0" u="none" strike="noStrike" cap="none" normalizeH="0" baseline="0" dirty="0" smtClean="0">
                <a:ln>
                  <a:noFill/>
                </a:ln>
                <a:solidFill>
                  <a:srgbClr val="32323C"/>
                </a:solidFill>
                <a:effectLst/>
                <a:latin typeface="acumin-pro"/>
              </a:rPr>
              <a:t>. This tissue cushions the eye, and </a:t>
            </a:r>
            <a:r>
              <a:rPr kumimoji="0" lang="en-US" b="0" i="0" u="none" strike="noStrike" cap="none" normalizeH="0" baseline="0" dirty="0" err="1" smtClean="0">
                <a:ln>
                  <a:noFill/>
                </a:ln>
                <a:solidFill>
                  <a:srgbClr val="32323C"/>
                </a:solidFill>
                <a:effectLst/>
                <a:latin typeface="acumin-pro"/>
              </a:rPr>
              <a:t>stabilises</a:t>
            </a:r>
            <a:r>
              <a:rPr kumimoji="0" lang="en-US" b="0" i="0" u="none" strike="noStrike" cap="none" normalizeH="0" baseline="0" dirty="0" smtClean="0">
                <a:ln>
                  <a:noFill/>
                </a:ln>
                <a:solidFill>
                  <a:srgbClr val="32323C"/>
                </a:solidFill>
                <a:effectLst/>
                <a:latin typeface="acumin-pro"/>
              </a:rPr>
              <a:t> the </a:t>
            </a:r>
            <a:r>
              <a:rPr kumimoji="0" lang="en-US" b="0" i="0" u="none" strike="noStrike" cap="none" normalizeH="0" baseline="0" dirty="0" err="1" smtClean="0">
                <a:ln>
                  <a:noFill/>
                </a:ln>
                <a:solidFill>
                  <a:srgbClr val="00A99D"/>
                </a:solidFill>
                <a:effectLst/>
                <a:latin typeface="acumin-pro"/>
                <a:hlinkClick r:id="rId1"/>
              </a:rPr>
              <a:t>extraocular</a:t>
            </a:r>
            <a:r>
              <a:rPr kumimoji="0" lang="en-US" b="0" i="0" u="none" strike="noStrike" cap="none" normalizeH="0" baseline="0" dirty="0" smtClean="0">
                <a:ln>
                  <a:noFill/>
                </a:ln>
                <a:solidFill>
                  <a:srgbClr val="00A99D"/>
                </a:solidFill>
                <a:effectLst/>
                <a:latin typeface="acumin-pro"/>
                <a:hlinkClick r:id="rId1"/>
              </a:rPr>
              <a:t> muscles</a:t>
            </a:r>
            <a:r>
              <a:rPr kumimoji="0" lang="en-US" b="0" i="0" u="none" strike="noStrike" cap="none" normalizeH="0" baseline="0" dirty="0" smtClean="0">
                <a:ln>
                  <a:noFill/>
                </a:ln>
                <a:solidFill>
                  <a:srgbClr val="32323C"/>
                </a:solidFill>
                <a:effectLst/>
                <a:latin typeface="acumin-pro"/>
              </a:rPr>
              <a:t>.</a:t>
            </a:r>
            <a:endParaRPr kumimoji="0" lang="en-US" b="0" i="0" u="none" strike="noStrike" cap="none" normalizeH="0" baseline="0" dirty="0" smtClean="0">
              <a:ln>
                <a:noFill/>
              </a:ln>
              <a:solidFill>
                <a:srgbClr val="00A99D"/>
              </a:solidFill>
              <a:effectLst/>
              <a:latin typeface="acumin-pro"/>
            </a:endParaRPr>
          </a:p>
        </p:txBody>
      </p:sp>
      <p:pic>
        <p:nvPicPr>
          <p:cNvPr id="1027" name="Picture 3" descr="Fig 1.1 - Diagram of the arterial supply to the eye.">
            <a:hlinkClick r:id="rId7" tooltip="Fig 1.1 – Diagram of the arterial supply to the eye."/>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78830" y="3443414"/>
            <a:ext cx="4247849" cy="27527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144165" y="5506271"/>
            <a:ext cx="4403770" cy="369332"/>
          </a:xfrm>
          <a:prstGeom prst="rect">
            <a:avLst/>
          </a:prstGeom>
        </p:spPr>
        <p:txBody>
          <a:bodyPr wrap="none">
            <a:spAutoFit/>
          </a:bodyPr>
          <a:lstStyle/>
          <a:p>
            <a:pPr lvl="0" algn="just" defTabSz="914400" eaLnBrk="0" fontAlgn="base" hangingPunct="0">
              <a:spcBef>
                <a:spcPct val="0"/>
              </a:spcBef>
              <a:spcAft>
                <a:spcPct val="0"/>
              </a:spcAft>
            </a:pPr>
            <a:r>
              <a:rPr lang="en-US" dirty="0" smtClean="0">
                <a:solidFill>
                  <a:srgbClr val="32323C"/>
                </a:solidFill>
                <a:latin typeface="acumin-pro"/>
              </a:rPr>
              <a:t> </a:t>
            </a:r>
            <a:r>
              <a:rPr lang="en-US" dirty="0">
                <a:solidFill>
                  <a:srgbClr val="32323C"/>
                </a:solidFill>
                <a:latin typeface="acumin-pro"/>
              </a:rPr>
              <a:t>Diagram of the arterial supply to the eye.</a:t>
            </a:r>
            <a:endParaRPr lang="en-US" dirty="0">
              <a:solidFill>
                <a:srgbClr val="32323C"/>
              </a:solidFill>
              <a:latin typeface="acumin-pro"/>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85751" y="734564"/>
            <a:ext cx="4387740" cy="584775"/>
          </a:xfrm>
          <a:prstGeom prst="rect">
            <a:avLst/>
          </a:prstGeom>
        </p:spPr>
        <p:txBody>
          <a:bodyPr wrap="none">
            <a:spAutoFit/>
          </a:bodyPr>
          <a:lstStyle/>
          <a:p>
            <a:r>
              <a:rPr lang="en-US" sz="3200" b="1" dirty="0">
                <a:solidFill>
                  <a:srgbClr val="32323C"/>
                </a:solidFill>
                <a:latin typeface="Times New Roman" panose="02020603050405020304" pitchFamily="18" charset="0"/>
                <a:cs typeface="Times New Roman" panose="02020603050405020304" pitchFamily="18" charset="0"/>
              </a:rPr>
              <a:t>Pathways into the Orbit</a:t>
            </a:r>
            <a:endParaRPr lang="en-US" sz="3200" b="1" i="0" dirty="0">
              <a:solidFill>
                <a:srgbClr val="32323C"/>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557873" y="1265478"/>
            <a:ext cx="8347798" cy="661720"/>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There are three main pathways by which structures can enter and leave the orbit:</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2"/>
          <p:cNvSpPr>
            <a:spLocks noChangeArrowheads="1"/>
          </p:cNvSpPr>
          <p:nvPr/>
        </p:nvSpPr>
        <p:spPr bwMode="auto">
          <a:xfrm>
            <a:off x="644501" y="1863581"/>
            <a:ext cx="11023624" cy="2354491"/>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sz="1300" b="0" i="0" u="none" strike="noStrike" cap="none" normalizeH="0" baseline="0" dirty="0" smtClean="0">
                <a:ln>
                  <a:noFill/>
                </a:ln>
                <a:solidFill>
                  <a:srgbClr val="FFFFFF"/>
                </a:solidFill>
                <a:effectLst/>
                <a:latin typeface="acumin-pro"/>
              </a:rPr>
              <a:t> </a:t>
            </a:r>
            <a:endParaRPr kumimoji="0" lang="en-US" sz="1300" b="0" i="0" u="none" strike="noStrike" cap="none" normalizeH="0" baseline="0" dirty="0" smtClean="0">
              <a:ln>
                <a:noFill/>
              </a:ln>
              <a:solidFill>
                <a:srgbClr val="00A99D"/>
              </a:solidFill>
              <a:effectLst/>
              <a:latin typeface="acumin-pro"/>
              <a:hlinkClick r:id="rId1" tooltip="Fig 1.2 – The major openings into the orbi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sz="1300" b="0" i="0" u="none" strike="noStrike" cap="none" normalizeH="0" baseline="0" dirty="0" smtClean="0">
                <a:ln>
                  <a:noFill/>
                </a:ln>
                <a:solidFill>
                  <a:srgbClr val="00A99D"/>
                </a:solidFill>
                <a:effectLst/>
                <a:latin typeface="acumin-pro"/>
                <a:hlinkClick r:id="rId1" tooltip="Fig 1.2 – The major openings into the orbit."/>
              </a:rPr>
              <a:t>  </a:t>
            </a:r>
            <a:endParaRPr kumimoji="0" lang="en-US" sz="13600" b="0" i="0" u="none" strike="noStrike" cap="none" normalizeH="0" baseline="0" dirty="0" smtClean="0">
              <a:ln>
                <a:noFill/>
              </a:ln>
              <a:solidFill>
                <a:srgbClr val="FFFFFF"/>
              </a:solidFill>
              <a:effectLst/>
              <a:latin typeface="acumin-pro"/>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300" b="0" i="0" u="none" strike="noStrike" cap="none" normalizeH="0" baseline="0" dirty="0" smtClean="0">
              <a:ln>
                <a:noFill/>
              </a:ln>
              <a:effectLst/>
              <a:latin typeface="acumin-pro"/>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b="1"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Optic canal</a:t>
            </a:r>
            <a:r>
              <a:rPr kumimoji="0" lang="en-US"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 – transmits the </a:t>
            </a:r>
            <a:r>
              <a:rPr kumimoji="0" lang="en-US" b="0" i="0" u="none" strike="noStrike" cap="none" normalizeH="0" baseline="0" dirty="0" smtClean="0">
                <a:ln>
                  <a:noFill/>
                </a:ln>
                <a:solidFill>
                  <a:srgbClr val="00A99D"/>
                </a:solidFill>
                <a:effectLst/>
                <a:latin typeface="Times New Roman" panose="02020603050405020304" pitchFamily="18" charset="0"/>
                <a:cs typeface="Times New Roman" panose="02020603050405020304" pitchFamily="18" charset="0"/>
                <a:hlinkClick r:id="rId2"/>
              </a:rPr>
              <a:t>optic nerve</a:t>
            </a:r>
            <a:r>
              <a:rPr kumimoji="0" lang="en-US"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 and ophthalmic artery.</a:t>
            </a:r>
            <a:endParaRPr kumimoji="0" lang="en-US"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b="1"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Superior orbital fissure – </a:t>
            </a:r>
            <a:r>
              <a:rPr kumimoji="0" lang="en-US"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transmits the lacrimal, frontal, </a:t>
            </a:r>
            <a:r>
              <a:rPr kumimoji="0" lang="en-US" b="0" i="0" u="none" strike="noStrike" cap="none" normalizeH="0" baseline="0" dirty="0" smtClean="0">
                <a:ln>
                  <a:noFill/>
                </a:ln>
                <a:solidFill>
                  <a:srgbClr val="00A99D"/>
                </a:solidFill>
                <a:effectLst/>
                <a:latin typeface="Times New Roman" panose="02020603050405020304" pitchFamily="18" charset="0"/>
                <a:cs typeface="Times New Roman" panose="02020603050405020304" pitchFamily="18" charset="0"/>
                <a:hlinkClick r:id="rId3"/>
              </a:rPr>
              <a:t>trochlear</a:t>
            </a:r>
            <a:r>
              <a:rPr kumimoji="0" lang="en-US"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 (CN IV), </a:t>
            </a:r>
            <a:r>
              <a:rPr kumimoji="0" lang="en-US" b="0" i="0" u="none" strike="noStrike" cap="none" normalizeH="0" baseline="0" dirty="0" err="1" smtClean="0">
                <a:ln>
                  <a:noFill/>
                </a:ln>
                <a:solidFill>
                  <a:srgbClr val="00A99D"/>
                </a:solidFill>
                <a:effectLst/>
                <a:latin typeface="Times New Roman" panose="02020603050405020304" pitchFamily="18" charset="0"/>
                <a:cs typeface="Times New Roman" panose="02020603050405020304" pitchFamily="18" charset="0"/>
                <a:hlinkClick r:id="rId4"/>
              </a:rPr>
              <a:t>oculomotor</a:t>
            </a:r>
            <a:r>
              <a:rPr kumimoji="0" lang="en-US"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 (CN III), </a:t>
            </a:r>
            <a:r>
              <a:rPr kumimoji="0" lang="en-US" b="0" i="0" u="none" strike="noStrike" cap="none" normalizeH="0" baseline="0" dirty="0" err="1" smtClean="0">
                <a:ln>
                  <a:noFill/>
                </a:ln>
                <a:solidFill>
                  <a:srgbClr val="32323C"/>
                </a:solidFill>
                <a:effectLst/>
                <a:latin typeface="Times New Roman" panose="02020603050405020304" pitchFamily="18" charset="0"/>
                <a:cs typeface="Times New Roman" panose="02020603050405020304" pitchFamily="18" charset="0"/>
              </a:rPr>
              <a:t>nasociliary</a:t>
            </a:r>
            <a:r>
              <a:rPr kumimoji="0" lang="en-US"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 and </a:t>
            </a:r>
            <a:r>
              <a:rPr kumimoji="0" lang="en-US" b="0" i="0" u="none" strike="noStrike" cap="none" normalizeH="0" baseline="0" dirty="0" err="1" smtClean="0">
                <a:ln>
                  <a:noFill/>
                </a:ln>
                <a:solidFill>
                  <a:srgbClr val="32323C"/>
                </a:solidFill>
                <a:effectLst/>
                <a:latin typeface="Times New Roman" panose="02020603050405020304" pitchFamily="18" charset="0"/>
                <a:cs typeface="Times New Roman" panose="02020603050405020304" pitchFamily="18" charset="0"/>
              </a:rPr>
              <a:t>abducens</a:t>
            </a:r>
            <a:r>
              <a:rPr kumimoji="0" lang="en-US"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 (CN VI) nerves. It also carries the superior ophthalmic vein.</a:t>
            </a:r>
            <a:endParaRPr kumimoji="0" lang="en-US"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b="1"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Inferior orbital fissure</a:t>
            </a:r>
            <a:r>
              <a:rPr kumimoji="0" lang="en-US"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 – transmits the </a:t>
            </a:r>
            <a:r>
              <a:rPr kumimoji="0" lang="en-US" b="0" i="0" u="none" strike="noStrike" cap="none" normalizeH="0" baseline="0" dirty="0" err="1" smtClean="0">
                <a:ln>
                  <a:noFill/>
                </a:ln>
                <a:solidFill>
                  <a:srgbClr val="32323C"/>
                </a:solidFill>
                <a:effectLst/>
                <a:latin typeface="Times New Roman" panose="02020603050405020304" pitchFamily="18" charset="0"/>
                <a:cs typeface="Times New Roman" panose="02020603050405020304" pitchFamily="18" charset="0"/>
              </a:rPr>
              <a:t>zygomatic</a:t>
            </a:r>
            <a:r>
              <a:rPr kumimoji="0" lang="en-US"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 branch of the maxillary nerve, the inferior ophthalmic vein, and sympathetic nerves.</a:t>
            </a:r>
            <a:endParaRPr kumimoji="0" lang="en-US"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rgbClr val="00A99D"/>
              </a:solidFill>
              <a:effectLst/>
              <a:latin typeface="Times New Roman" panose="02020603050405020304" pitchFamily="18" charset="0"/>
              <a:cs typeface="Times New Roman" panose="02020603050405020304" pitchFamily="18" charset="0"/>
            </a:endParaRPr>
          </a:p>
        </p:txBody>
      </p:sp>
      <p:pic>
        <p:nvPicPr>
          <p:cNvPr id="2051" name="Picture 3" descr="Fig 1.2 - The major openings into the orbit.">
            <a:hlinkClick r:id="rId1" tooltip="Fig 1.2 – The major openings into the orbi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1539" y="3804166"/>
            <a:ext cx="2295525" cy="21717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273155" y="5892567"/>
            <a:ext cx="3621504" cy="369332"/>
          </a:xfrm>
          <a:prstGeom prst="rect">
            <a:avLst/>
          </a:prstGeom>
        </p:spPr>
        <p:txBody>
          <a:bodyPr wrap="none">
            <a:spAutoFit/>
          </a:bodyPr>
          <a:lstStyle/>
          <a:p>
            <a:pPr lvl="0" defTabSz="914400" eaLnBrk="0" fontAlgn="base" hangingPunct="0">
              <a:spcBef>
                <a:spcPct val="0"/>
              </a:spcBef>
              <a:spcAft>
                <a:spcPct val="0"/>
              </a:spcAft>
            </a:pPr>
            <a:r>
              <a:rPr lang="en-US" dirty="0" smtClean="0">
                <a:latin typeface="acumin-pro"/>
              </a:rPr>
              <a:t>The </a:t>
            </a:r>
            <a:r>
              <a:rPr lang="en-US" dirty="0">
                <a:latin typeface="acumin-pro"/>
              </a:rPr>
              <a:t>major openings into the orbit.</a:t>
            </a:r>
            <a:endParaRPr lang="en-US" dirty="0">
              <a:latin typeface="acumin-pro"/>
            </a:endParaRPr>
          </a:p>
        </p:txBody>
      </p:sp>
      <p:sp>
        <p:nvSpPr>
          <p:cNvPr id="6" name="Rectangle 5"/>
          <p:cNvSpPr/>
          <p:nvPr/>
        </p:nvSpPr>
        <p:spPr>
          <a:xfrm>
            <a:off x="644501" y="4138241"/>
            <a:ext cx="7870849" cy="1477328"/>
          </a:xfrm>
          <a:prstGeom prst="rect">
            <a:avLst/>
          </a:prstGeom>
        </p:spPr>
        <p:txBody>
          <a:bodyPr wrap="square">
            <a:spAutoFit/>
          </a:bodyPr>
          <a:lstStyle/>
          <a:p>
            <a:pPr marL="285750" indent="-285750">
              <a:buFont typeface="Wingdings" panose="05000000000000000000" pitchFamily="2" charset="2"/>
              <a:buChar char="v"/>
            </a:pPr>
            <a:r>
              <a:rPr lang="en-US" dirty="0">
                <a:solidFill>
                  <a:srgbClr val="32323C"/>
                </a:solidFill>
                <a:latin typeface="acumin-pro"/>
              </a:rPr>
              <a:t>There are other minor openings into the orbital cavity. The </a:t>
            </a:r>
            <a:r>
              <a:rPr lang="en-US" b="1" dirty="0">
                <a:solidFill>
                  <a:srgbClr val="32323C"/>
                </a:solidFill>
                <a:latin typeface="acumin-pro"/>
              </a:rPr>
              <a:t>nasolacrimal canal</a:t>
            </a:r>
            <a:r>
              <a:rPr lang="en-US" dirty="0">
                <a:solidFill>
                  <a:srgbClr val="32323C"/>
                </a:solidFill>
                <a:latin typeface="acumin-pro"/>
              </a:rPr>
              <a:t>, which drains tears from the eye to the nasal cavity, is located on the medial wall of the orbit. Other small openings include the </a:t>
            </a:r>
            <a:r>
              <a:rPr lang="en-US" b="1" dirty="0">
                <a:solidFill>
                  <a:srgbClr val="32323C"/>
                </a:solidFill>
                <a:latin typeface="acumin-pro"/>
              </a:rPr>
              <a:t>supraorbital foramen</a:t>
            </a:r>
            <a:r>
              <a:rPr lang="en-US" dirty="0">
                <a:solidFill>
                  <a:srgbClr val="32323C"/>
                </a:solidFill>
                <a:latin typeface="acumin-pro"/>
              </a:rPr>
              <a:t> and </a:t>
            </a:r>
            <a:r>
              <a:rPr lang="en-US" b="1" dirty="0" err="1">
                <a:solidFill>
                  <a:srgbClr val="32323C"/>
                </a:solidFill>
                <a:latin typeface="acumin-pro"/>
              </a:rPr>
              <a:t>infraorbital</a:t>
            </a:r>
            <a:r>
              <a:rPr lang="en-US" b="1" dirty="0">
                <a:solidFill>
                  <a:srgbClr val="32323C"/>
                </a:solidFill>
                <a:latin typeface="acumin-pro"/>
              </a:rPr>
              <a:t> canal</a:t>
            </a:r>
            <a:r>
              <a:rPr lang="en-US" dirty="0">
                <a:solidFill>
                  <a:srgbClr val="32323C"/>
                </a:solidFill>
                <a:latin typeface="acumin-pro"/>
              </a:rPr>
              <a:t> – they carry small neurovascular structures</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772" y="745465"/>
            <a:ext cx="10424160" cy="5447645"/>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Function</a:t>
            </a:r>
            <a:endParaRPr lang="en-US" sz="28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main function of the orbital cavity is to house and protect the eye and its associated structures. </a:t>
            </a:r>
            <a:endParaRPr lang="en-US" sz="20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orbital cavity provides a stable and supportive environment for the eye, allowing it to move and function </a:t>
            </a:r>
            <a:r>
              <a:rPr lang="en-US" sz="2000" dirty="0" smtClean="0">
                <a:latin typeface="Times New Roman" panose="02020603050405020304" pitchFamily="18" charset="0"/>
                <a:cs typeface="Times New Roman" panose="02020603050405020304" pitchFamily="18" charset="0"/>
              </a:rPr>
              <a:t>properly.</a:t>
            </a:r>
            <a:endParaRPr lang="en-US" sz="20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0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orbital cavity also plays a vital role in vision. The eye is able to move within the orbital cavity, allowing it to focus on objects at different distances. </a:t>
            </a:r>
            <a:endParaRPr lang="en-US" sz="20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0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extrinsic eye muscles, which are located within the orbital cavity, are responsible for controlling the movement of the eye. These muscles are innervated by cranial nerves III, IV, and VI, which are responsible for controlling eye </a:t>
            </a:r>
            <a:r>
              <a:rPr lang="en-US" sz="2000" dirty="0" smtClean="0">
                <a:latin typeface="Times New Roman" panose="02020603050405020304" pitchFamily="18" charset="0"/>
                <a:cs typeface="Times New Roman" panose="02020603050405020304" pitchFamily="18" charset="0"/>
              </a:rPr>
              <a:t>movement.</a:t>
            </a:r>
            <a:endParaRPr lang="en-US" sz="20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0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orbital cavity is also home to the lacrimal gland, which is responsible for producing tears. Tears are necessary for maintaining the health of the eye, as they help to moisturize and protect the surface of the eye from debris and foreign particles.</a:t>
            </a:r>
            <a:endParaRPr lang="en-US" sz="2000" b="0" i="0" dirty="0">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8522" y="541020"/>
            <a:ext cx="10635915" cy="4401205"/>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Clinical Significance</a:t>
            </a:r>
            <a:endParaRPr lang="en-US" sz="2000" b="1" dirty="0">
              <a:latin typeface="Times New Roman" panose="02020603050405020304" pitchFamily="18" charset="0"/>
              <a:cs typeface="Times New Roman" panose="02020603050405020304" pitchFamily="18" charset="0"/>
            </a:endParaRPr>
          </a:p>
          <a:p>
            <a:r>
              <a:rPr lang="en-US" sz="2000" dirty="0">
                <a:solidFill>
                  <a:srgbClr val="222222"/>
                </a:solidFill>
                <a:latin typeface="Times New Roman" panose="02020603050405020304" pitchFamily="18" charset="0"/>
                <a:cs typeface="Times New Roman" panose="02020603050405020304" pitchFamily="18" charset="0"/>
              </a:rPr>
              <a:t>The orbital cavity is susceptible to a variety of disorders and conditions that can affect the eye and its associated structures. Some of the more common disorders that can affect the orbital cavity include orbital cellulitis, orbital fractures, and orbital tumors.</a:t>
            </a:r>
            <a:endParaRPr lang="en-US" sz="2000" dirty="0">
              <a:solidFill>
                <a:srgbClr val="222222"/>
              </a:solidFill>
              <a:latin typeface="Times New Roman" panose="02020603050405020304" pitchFamily="18" charset="0"/>
              <a:cs typeface="Times New Roman" panose="02020603050405020304" pitchFamily="18" charset="0"/>
            </a:endParaRPr>
          </a:p>
          <a:p>
            <a:r>
              <a:rPr lang="en-US" sz="2000" b="1" u="sng" dirty="0">
                <a:solidFill>
                  <a:srgbClr val="222222"/>
                </a:solidFill>
                <a:latin typeface="Times New Roman" panose="02020603050405020304" pitchFamily="18" charset="0"/>
                <a:cs typeface="Times New Roman" panose="02020603050405020304" pitchFamily="18" charset="0"/>
              </a:rPr>
              <a:t>Orbital cellulitis</a:t>
            </a:r>
            <a:endParaRPr lang="en-US" sz="2000" b="1" u="sng" dirty="0">
              <a:solidFill>
                <a:srgbClr val="222222"/>
              </a:solidFill>
              <a:latin typeface="Times New Roman" panose="02020603050405020304" pitchFamily="18" charset="0"/>
              <a:cs typeface="Times New Roman" panose="02020603050405020304" pitchFamily="18" charset="0"/>
            </a:endParaRPr>
          </a:p>
          <a:p>
            <a:r>
              <a:rPr lang="en-US" sz="2000" dirty="0">
                <a:solidFill>
                  <a:srgbClr val="222222"/>
                </a:solidFill>
                <a:latin typeface="Times New Roman" panose="02020603050405020304" pitchFamily="18" charset="0"/>
                <a:cs typeface="Times New Roman" panose="02020603050405020304" pitchFamily="18" charset="0"/>
              </a:rPr>
              <a:t>Orbital cellulitis is a serious infection that affects the tissues of the orbital cavity. It is typically caused by bacteria that enter the orbit through the sinuses or the eye. Symptoms of orbital cellulitis include redness and swelling of the eye, fever, and eye pain. Treatment usually involves antibiotics and, in severe cases, hospitalization.</a:t>
            </a:r>
            <a:endParaRPr lang="en-US" sz="2000" dirty="0">
              <a:solidFill>
                <a:srgbClr val="222222"/>
              </a:solidFill>
              <a:latin typeface="Times New Roman" panose="02020603050405020304" pitchFamily="18" charset="0"/>
              <a:cs typeface="Times New Roman" panose="02020603050405020304" pitchFamily="18" charset="0"/>
            </a:endParaRPr>
          </a:p>
          <a:p>
            <a:r>
              <a:rPr lang="en-US" sz="2000" b="1" u="sng" dirty="0">
                <a:solidFill>
                  <a:srgbClr val="222222"/>
                </a:solidFill>
                <a:latin typeface="Times New Roman" panose="02020603050405020304" pitchFamily="18" charset="0"/>
                <a:cs typeface="Times New Roman" panose="02020603050405020304" pitchFamily="18" charset="0"/>
              </a:rPr>
              <a:t>Orbital fractures</a:t>
            </a:r>
            <a:endParaRPr lang="en-US" sz="2000" b="1" u="sng" dirty="0">
              <a:solidFill>
                <a:srgbClr val="222222"/>
              </a:solidFill>
              <a:latin typeface="Times New Roman" panose="02020603050405020304" pitchFamily="18" charset="0"/>
              <a:cs typeface="Times New Roman" panose="02020603050405020304" pitchFamily="18" charset="0"/>
            </a:endParaRPr>
          </a:p>
          <a:p>
            <a:r>
              <a:rPr lang="en-US" sz="2000" dirty="0">
                <a:solidFill>
                  <a:srgbClr val="222222"/>
                </a:solidFill>
                <a:latin typeface="Times New Roman" panose="02020603050405020304" pitchFamily="18" charset="0"/>
                <a:cs typeface="Times New Roman" panose="02020603050405020304" pitchFamily="18" charset="0"/>
              </a:rPr>
              <a:t>Orbital fractures are breaks or cracks in the bones of the orbital cavity. They can be caused by trauma, such as a blow to the head or an automobile accident. Symptoms of an orbital fracture may include double vision, eye pain, and swelling around the eye. Treatment may involve the use of medications to control inflammation and swelling, and surgery may be necessary to repair the fracture.</a:t>
            </a:r>
            <a:endParaRPr lang="en-US" sz="2000" b="0" i="0" dirty="0">
              <a:solidFill>
                <a:srgbClr val="222222"/>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1895" y="795203"/>
            <a:ext cx="10597415" cy="5201424"/>
          </a:xfrm>
          <a:prstGeom prst="rect">
            <a:avLst/>
          </a:prstGeom>
        </p:spPr>
        <p:txBody>
          <a:bodyPr wrap="square">
            <a:spAutoFit/>
          </a:bodyPr>
          <a:lstStyle/>
          <a:p>
            <a:r>
              <a:rPr lang="en-US" sz="4000" b="1" dirty="0">
                <a:solidFill>
                  <a:srgbClr val="222222"/>
                </a:solidFill>
                <a:latin typeface="Times New Roman" panose="02020603050405020304" pitchFamily="18" charset="0"/>
                <a:cs typeface="Times New Roman" panose="02020603050405020304" pitchFamily="18" charset="0"/>
              </a:rPr>
              <a:t>Orbital </a:t>
            </a:r>
            <a:r>
              <a:rPr lang="en-US" sz="4000" b="1" dirty="0" smtClean="0">
                <a:solidFill>
                  <a:srgbClr val="222222"/>
                </a:solidFill>
                <a:latin typeface="Times New Roman" panose="02020603050405020304" pitchFamily="18" charset="0"/>
                <a:cs typeface="Times New Roman" panose="02020603050405020304" pitchFamily="18" charset="0"/>
              </a:rPr>
              <a:t>tumors</a:t>
            </a:r>
            <a:endParaRPr lang="en-US" sz="4000" b="1" dirty="0" smtClean="0">
              <a:solidFill>
                <a:srgbClr val="222222"/>
              </a:solidFill>
              <a:latin typeface="Times New Roman" panose="02020603050405020304" pitchFamily="18" charset="0"/>
              <a:cs typeface="Times New Roman" panose="02020603050405020304" pitchFamily="18" charset="0"/>
            </a:endParaRPr>
          </a:p>
          <a:p>
            <a:endParaRPr lang="en-US" sz="3200" b="1" u="sng" dirty="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rgbClr val="222222"/>
                </a:solidFill>
                <a:latin typeface="Times New Roman" panose="02020603050405020304" pitchFamily="18" charset="0"/>
                <a:cs typeface="Times New Roman" panose="02020603050405020304" pitchFamily="18" charset="0"/>
              </a:rPr>
              <a:t>Orbital tumors are abnormal growths that occur within the orbital cavity. These tumors can be benign (non-cancerous) or malignant (cancerous). </a:t>
            </a:r>
            <a:endParaRPr lang="en-US" sz="2000" dirty="0" smtClean="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000" dirty="0" smtClean="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smtClean="0">
                <a:solidFill>
                  <a:srgbClr val="222222"/>
                </a:solidFill>
                <a:latin typeface="Times New Roman" panose="02020603050405020304" pitchFamily="18" charset="0"/>
                <a:cs typeface="Times New Roman" panose="02020603050405020304" pitchFamily="18" charset="0"/>
              </a:rPr>
              <a:t>Symptoms </a:t>
            </a:r>
            <a:r>
              <a:rPr lang="en-US" sz="2000" dirty="0">
                <a:solidFill>
                  <a:srgbClr val="222222"/>
                </a:solidFill>
                <a:latin typeface="Times New Roman" panose="02020603050405020304" pitchFamily="18" charset="0"/>
                <a:cs typeface="Times New Roman" panose="02020603050405020304" pitchFamily="18" charset="0"/>
              </a:rPr>
              <a:t>of orbital tumors may include vision problems, double vision, swelling around the eye, and eye pain. </a:t>
            </a:r>
            <a:endParaRPr lang="en-US" sz="2000" dirty="0" smtClean="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000" dirty="0" smtClean="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smtClean="0">
                <a:solidFill>
                  <a:srgbClr val="222222"/>
                </a:solidFill>
                <a:latin typeface="Times New Roman" panose="02020603050405020304" pitchFamily="18" charset="0"/>
                <a:cs typeface="Times New Roman" panose="02020603050405020304" pitchFamily="18" charset="0"/>
              </a:rPr>
              <a:t>Treatment </a:t>
            </a:r>
            <a:r>
              <a:rPr lang="en-US" sz="2000" dirty="0">
                <a:solidFill>
                  <a:srgbClr val="222222"/>
                </a:solidFill>
                <a:latin typeface="Times New Roman" panose="02020603050405020304" pitchFamily="18" charset="0"/>
                <a:cs typeface="Times New Roman" panose="02020603050405020304" pitchFamily="18" charset="0"/>
              </a:rPr>
              <a:t>may involve surgery to remove the tumor, radiation therapy, or chemotherapy, depending on the type and stage of the </a:t>
            </a:r>
            <a:r>
              <a:rPr lang="en-US" sz="2000" dirty="0" smtClean="0">
                <a:solidFill>
                  <a:srgbClr val="222222"/>
                </a:solidFill>
                <a:latin typeface="Times New Roman" panose="02020603050405020304" pitchFamily="18" charset="0"/>
                <a:cs typeface="Times New Roman" panose="02020603050405020304" pitchFamily="18" charset="0"/>
              </a:rPr>
              <a:t>tumor.</a:t>
            </a:r>
            <a:endParaRPr lang="en-US" sz="2000" dirty="0" smtClean="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000" dirty="0" smtClean="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smtClean="0">
                <a:solidFill>
                  <a:srgbClr val="222222"/>
                </a:solidFill>
                <a:latin typeface="Times New Roman" panose="02020603050405020304" pitchFamily="18" charset="0"/>
                <a:cs typeface="Times New Roman" panose="02020603050405020304" pitchFamily="18" charset="0"/>
              </a:rPr>
              <a:t>In </a:t>
            </a:r>
            <a:r>
              <a:rPr lang="en-US" sz="2000" dirty="0">
                <a:solidFill>
                  <a:srgbClr val="222222"/>
                </a:solidFill>
                <a:latin typeface="Times New Roman" panose="02020603050405020304" pitchFamily="18" charset="0"/>
                <a:cs typeface="Times New Roman" panose="02020603050405020304" pitchFamily="18" charset="0"/>
              </a:rPr>
              <a:t>addition to these conditions, the orbital cavity can also be affected by other disorders such as orbital cysts, thyroid eye disease, and orbital </a:t>
            </a:r>
            <a:r>
              <a:rPr lang="en-US" sz="2000" dirty="0" err="1">
                <a:solidFill>
                  <a:srgbClr val="222222"/>
                </a:solidFill>
                <a:latin typeface="Times New Roman" panose="02020603050405020304" pitchFamily="18" charset="0"/>
                <a:cs typeface="Times New Roman" panose="02020603050405020304" pitchFamily="18" charset="0"/>
              </a:rPr>
              <a:t>pseudotumor</a:t>
            </a:r>
            <a:r>
              <a:rPr lang="en-US" sz="2000" dirty="0" smtClean="0">
                <a:solidFill>
                  <a:srgbClr val="222222"/>
                </a:solidFill>
                <a:latin typeface="Times New Roman" panose="02020603050405020304" pitchFamily="18" charset="0"/>
                <a:cs typeface="Times New Roman" panose="02020603050405020304" pitchFamily="18" charset="0"/>
              </a:rPr>
              <a:t>.</a:t>
            </a:r>
            <a:endParaRPr lang="en-US" sz="2000" dirty="0" smtClean="0">
              <a:solidFill>
                <a:srgbClr val="22222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smtClean="0">
                <a:solidFill>
                  <a:srgbClr val="222222"/>
                </a:solidFill>
                <a:latin typeface="Times New Roman" panose="02020603050405020304" pitchFamily="18" charset="0"/>
                <a:cs typeface="Times New Roman" panose="02020603050405020304" pitchFamily="18" charset="0"/>
              </a:rPr>
              <a:t> </a:t>
            </a:r>
            <a:r>
              <a:rPr lang="en-US" sz="2000" dirty="0">
                <a:solidFill>
                  <a:srgbClr val="222222"/>
                </a:solidFill>
                <a:latin typeface="Times New Roman" panose="02020603050405020304" pitchFamily="18" charset="0"/>
                <a:cs typeface="Times New Roman" panose="02020603050405020304" pitchFamily="18" charset="0"/>
              </a:rPr>
              <a:t>These conditions can lead to a variety of symptoms, including vision problems, double vision, and eye pain, and may require medical or surgical treatment.</a:t>
            </a:r>
            <a:endParaRPr lang="en-US" sz="2000" b="0" i="0" dirty="0">
              <a:solidFill>
                <a:srgbClr val="222222"/>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0</TotalTime>
  <Words>6753</Words>
  <Application>WPS Presentation</Application>
  <PresentationFormat>Widescreen</PresentationFormat>
  <Paragraphs>110</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Arial</vt:lpstr>
      <vt:lpstr>Times New Roman</vt:lpstr>
      <vt:lpstr>acumin-pro</vt:lpstr>
      <vt:lpstr>Liberation Mono</vt:lpstr>
      <vt:lpstr>Garamond</vt:lpstr>
      <vt:lpstr>Microsoft YaHei</vt:lpstr>
      <vt:lpstr>Arial Unicode MS</vt:lpstr>
      <vt:lpstr>Calibri</vt:lpstr>
      <vt:lpstr>Organic</vt:lpstr>
      <vt:lpstr>ORBITAL CAVITY</vt:lpstr>
      <vt:lpstr>LEARNING OBJECTIVES</vt:lpstr>
      <vt:lpstr>INTRODUCTION</vt:lpstr>
      <vt:lpstr>PowerPoint 演示文稿</vt:lpstr>
      <vt:lpstr>DIVISION OF THE ORIBAL CAVITY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ORBITAL CAVITY</dc:title>
  <dc:creator>HP</dc:creator>
  <cp:lastModifiedBy>HP</cp:lastModifiedBy>
  <cp:revision>70</cp:revision>
  <dcterms:created xsi:type="dcterms:W3CDTF">2024-01-18T18:51:00Z</dcterms:created>
  <dcterms:modified xsi:type="dcterms:W3CDTF">2024-09-16T21:23:37Z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897FCA47BBAA41E9B911B358C45D8EAA_12</vt:lpwstr>
  </property>
  <property fmtid="{D5CDD505-2E9C-101B-9397-08002B2CF9AE}" pid="3" name="KSOProductBuildVer">
    <vt:lpwstr>1033-12.2.0.17562</vt:lpwstr>
  </property>
</Properties>
</file>