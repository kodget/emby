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83" r:id="rId7"/>
    <p:sldId id="260" r:id="rId8"/>
    <p:sldId id="265" r:id="rId9"/>
    <p:sldId id="261" r:id="rId10"/>
    <p:sldId id="262" r:id="rId11"/>
    <p:sldId id="281" r:id="rId12"/>
    <p:sldId id="278" r:id="rId13"/>
    <p:sldId id="279" r:id="rId14"/>
    <p:sldId id="266" r:id="rId15"/>
    <p:sldId id="264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7" r:id="rId26"/>
    <p:sldId id="276" r:id="rId27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CC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113" d="100"/>
          <a:sy n="113" d="100"/>
        </p:scale>
        <p:origin x="-1584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Online Image Placeholder 3"/>
          <p:cNvSpPr>
            <a:spLocks noGrp="1"/>
          </p:cNvSpPr>
          <p:nvPr>
            <p:ph type="clipArt"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Online Image Placeholder 2"/>
          <p:cNvSpPr>
            <a:spLocks noGrp="1"/>
          </p:cNvSpPr>
          <p:nvPr>
            <p:ph type="clipArt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CCFFCC"/>
            </a:gs>
            <a:gs pos="100000">
              <a:srgbClr val="CCFFCC">
                <a:gamma/>
                <a:shade val="46275"/>
                <a:invGamma/>
              </a:srgb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dirty="0"/>
              <a:t>Click to edit Master title style</a:t>
            </a:r>
            <a:endParaRPr dirty="0"/>
          </a:p>
        </p:txBody>
      </p:sp>
      <p:sp>
        <p:nvSpPr>
          <p:cNvPr id="1027" name="Text Placeholder 1026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dirty="0"/>
              <a:t>Click to edit Master text styles</a:t>
            </a:r>
            <a:endParaRPr dirty="0"/>
          </a:p>
          <a:p>
            <a:pPr lvl="1"/>
            <a:r>
              <a:rPr dirty="0"/>
              <a:t>Second level</a:t>
            </a:r>
            <a:endParaRPr dirty="0"/>
          </a:p>
          <a:p>
            <a:pPr lvl="2"/>
            <a:r>
              <a:rPr dirty="0"/>
              <a:t>Third level</a:t>
            </a:r>
            <a:endParaRPr dirty="0"/>
          </a:p>
          <a:p>
            <a:pPr lvl="3"/>
            <a:r>
              <a:rPr dirty="0"/>
              <a:t>Fourth level</a:t>
            </a:r>
            <a:endParaRPr dirty="0"/>
          </a:p>
          <a:p>
            <a:pPr lvl="4"/>
            <a:r>
              <a:rPr dirty="0"/>
              <a:t>Fifth level</a:t>
            </a:r>
            <a:endParaRPr dirty="0"/>
          </a:p>
        </p:txBody>
      </p:sp>
      <p:sp>
        <p:nvSpPr>
          <p:cNvPr id="1028" name="Date Placeholder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/>
            <a:fld id="{BB962C8B-B14F-4D97-AF65-F5344CB8AC3E}" type="datetime1">
              <a:rPr lang="en-US" dirty="0"/>
            </a:fld>
            <a:endParaRPr lang="en-US" dirty="0"/>
          </a:p>
        </p:txBody>
      </p:sp>
      <p:sp>
        <p:nvSpPr>
          <p:cNvPr id="1029" name="Footer Placeholder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/>
            <a:endParaRPr lang="en-US" dirty="0"/>
          </a:p>
        </p:txBody>
      </p:sp>
      <p:sp>
        <p:nvSpPr>
          <p:cNvPr id="1030" name="Slide Number Placeholder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marL="0" lvl="0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jpeg"/><Relationship Id="rId2" Type="http://schemas.openxmlformats.org/officeDocument/2006/relationships/hyperlink" Target="http://www.learningradiology.com/caseofweek/caseoftheweekpix2007-1/cow269arr.jpg" TargetMode="External"/><Relationship Id="rId1" Type="http://schemas.openxmlformats.org/officeDocument/2006/relationships/image" Target="../media/image13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5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6.jpe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hyperlink" Target="http://www.mdconsult.com/das/book/body/0/0/1492/f4-u1.0-B978-1-4160-2805-5..50460-2..gr4.jpg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9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0" name="Title 2049"/>
          <p:cNvSpPr>
            <a:spLocks noGrp="1"/>
          </p:cNvSpPr>
          <p:nvPr>
            <p:ph type="title"/>
          </p:nvPr>
        </p:nvSpPr>
        <p:spPr>
          <a:ln/>
        </p:spPr>
        <p:txBody>
          <a:bodyPr anchor="ctr" anchorCtr="0"/>
          <a:p>
            <a:r>
              <a:rPr sz="9600">
                <a:latin typeface="Verdana" panose="020B0604030504040204" pitchFamily="34" charset="0"/>
              </a:rPr>
              <a:t>Tonsils </a:t>
            </a:r>
            <a:endParaRPr sz="9600">
              <a:latin typeface="Verdana" panose="020B0604030504040204" pitchFamily="34" charset="0"/>
            </a:endParaRPr>
          </a:p>
        </p:txBody>
      </p:sp>
      <p:pic>
        <p:nvPicPr>
          <p:cNvPr id="2057" name="Picture 2056" descr="tonsilliti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9400" y="1905000"/>
            <a:ext cx="3562350" cy="35623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7" name="Text Placeholder 3076"/>
          <p:cNvSpPr>
            <a:spLocks noGrp="1"/>
          </p:cNvSpPr>
          <p:nvPr>
            <p:ph type="body" sz="half" idx="1"/>
          </p:nvPr>
        </p:nvSpPr>
        <p:spPr>
          <a:xfrm>
            <a:off x="152400" y="304800"/>
            <a:ext cx="4191000" cy="6324600"/>
          </a:xfrm>
          <a:ln/>
        </p:spPr>
        <p:txBody>
          <a:bodyPr/>
          <a:p>
            <a:pPr>
              <a:buClrTx/>
              <a:buSzTx/>
              <a:buFontTx/>
            </a:pPr>
            <a:r>
              <a:rPr lang="en-US" altLang="ja-JP" sz="2800">
                <a:latin typeface="Verdana" panose="020B0604030504040204" pitchFamily="34" charset="0"/>
                <a:ea typeface="MS PGothic" panose="020B0600070205080204" charset="-128"/>
              </a:rPr>
              <a:t>Tonsils are large lymphoid tissue </a:t>
            </a:r>
            <a:r>
              <a:rPr lang="en-US" altLang="ja-JP" sz="2800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charset="-128"/>
              </a:rPr>
              <a:t>situated in the lateral wall of the oropharynx</a:t>
            </a:r>
            <a:r>
              <a:rPr lang="en-US" altLang="ja-JP" sz="2800">
                <a:latin typeface="Verdana" panose="020B0604030504040204" pitchFamily="34" charset="0"/>
                <a:ea typeface="MS PGothic" panose="020B0600070205080204" charset="-128"/>
              </a:rPr>
              <a:t>. </a:t>
            </a:r>
            <a:endParaRPr lang="en-US" altLang="ja-JP" sz="2800">
              <a:latin typeface="Verdana" panose="020B0604030504040204" pitchFamily="34" charset="0"/>
              <a:ea typeface="MS PGothic" panose="020B0600070205080204" charset="-128"/>
            </a:endParaRPr>
          </a:p>
          <a:p>
            <a:pPr>
              <a:buClrTx/>
              <a:buSzTx/>
              <a:buFontTx/>
            </a:pPr>
            <a:r>
              <a:rPr lang="en-US" altLang="ja-JP" sz="2800">
                <a:latin typeface="Verdana" panose="020B0604030504040204" pitchFamily="34" charset="0"/>
                <a:ea typeface="MS PGothic" panose="020B0600070205080204" charset="-128"/>
              </a:rPr>
              <a:t>They form lateral part of the </a:t>
            </a:r>
            <a:r>
              <a:rPr lang="en-US" altLang="ja-JP" sz="2800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charset="-128"/>
              </a:rPr>
              <a:t>Waldeyer's ring</a:t>
            </a:r>
            <a:r>
              <a:rPr lang="en-US" altLang="ja-JP" sz="2800">
                <a:latin typeface="Verdana" panose="020B0604030504040204" pitchFamily="34" charset="0"/>
                <a:ea typeface="MS PGothic" panose="020B0600070205080204" charset="-128"/>
              </a:rPr>
              <a:t>. </a:t>
            </a:r>
            <a:endParaRPr lang="en-US" altLang="ja-JP" sz="2800">
              <a:latin typeface="Verdana" panose="020B0604030504040204" pitchFamily="34" charset="0"/>
              <a:ea typeface="MS PGothic" panose="020B0600070205080204" charset="-128"/>
            </a:endParaRPr>
          </a:p>
          <a:p>
            <a:pPr>
              <a:buClrTx/>
              <a:buSzTx/>
              <a:buFontTx/>
            </a:pPr>
            <a:r>
              <a:rPr lang="en-US" altLang="ja-JP" sz="2800">
                <a:latin typeface="Verdana" panose="020B0604030504040204" pitchFamily="34" charset="0"/>
                <a:ea typeface="MS PGothic" panose="020B0600070205080204" charset="-128"/>
              </a:rPr>
              <a:t>Tonsil </a:t>
            </a:r>
            <a:r>
              <a:rPr lang="en-US" altLang="ja-JP" sz="2800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charset="-128"/>
              </a:rPr>
              <a:t>occupies</a:t>
            </a:r>
            <a:r>
              <a:rPr lang="en-US" altLang="ja-JP" sz="2800">
                <a:latin typeface="Verdana" panose="020B0604030504040204" pitchFamily="34" charset="0"/>
                <a:ea typeface="MS PGothic" panose="020B0600070205080204" charset="-128"/>
              </a:rPr>
              <a:t> the </a:t>
            </a:r>
            <a:r>
              <a:rPr lang="en-US" altLang="ja-JP" sz="2800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charset="-128"/>
              </a:rPr>
              <a:t>tonsillar fossa</a:t>
            </a:r>
            <a:r>
              <a:rPr lang="en-US" altLang="ja-JP" sz="2800">
                <a:latin typeface="Verdana" panose="020B0604030504040204" pitchFamily="34" charset="0"/>
                <a:ea typeface="MS PGothic" panose="020B0600070205080204" charset="-128"/>
              </a:rPr>
              <a:t> between diverging palato-pharyngeal and palatoglossal folds</a:t>
            </a:r>
            <a:r>
              <a:rPr lang="en-US" altLang="ja-JP" sz="2000">
                <a:ea typeface="MS PGothic" panose="020B0600070205080204" charset="-128"/>
              </a:rPr>
              <a:t> </a:t>
            </a:r>
            <a:endParaRPr sz="2000"/>
          </a:p>
        </p:txBody>
      </p:sp>
      <p:pic>
        <p:nvPicPr>
          <p:cNvPr id="3084" name="Content Placeholder 3083" descr="Fig-141-Lateral-view-of-the-faucial-tonsil-and-pharyngea"/>
          <p:cNvPicPr>
            <a:picLocks noGrp="1"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4191000" y="1447800"/>
            <a:ext cx="4648200" cy="3675063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9" name="Text Placeholder 6148"/>
          <p:cNvSpPr>
            <a:spLocks noGrp="1"/>
          </p:cNvSpPr>
          <p:nvPr>
            <p:ph type="body" idx="1"/>
          </p:nvPr>
        </p:nvSpPr>
        <p:spPr>
          <a:xfrm>
            <a:off x="457200" y="304800"/>
            <a:ext cx="8229600" cy="6248400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ja-JP" sz="3300">
                <a:latin typeface="Verdana" panose="020B0604030504040204" pitchFamily="34" charset="0"/>
                <a:ea typeface="MS PGothic" panose="020B0600070205080204" charset="-128"/>
              </a:rPr>
              <a:t>Tonsil has </a:t>
            </a:r>
            <a:r>
              <a:rPr lang="en-US" altLang="ja-JP" sz="3300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charset="-128"/>
              </a:rPr>
              <a:t>two surfaces</a:t>
            </a:r>
            <a:r>
              <a:rPr lang="en-US" altLang="ja-JP" sz="3300">
                <a:latin typeface="Verdana" panose="020B0604030504040204" pitchFamily="34" charset="0"/>
                <a:ea typeface="MS PGothic" panose="020B0600070205080204" charset="-128"/>
              </a:rPr>
              <a:t>, medial and lateral; </a:t>
            </a:r>
            <a:r>
              <a:rPr lang="en-US" altLang="ja-JP" sz="3300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charset="-128"/>
              </a:rPr>
              <a:t>two borders</a:t>
            </a:r>
            <a:r>
              <a:rPr lang="en-US" altLang="ja-JP" sz="3300">
                <a:latin typeface="Verdana" panose="020B0604030504040204" pitchFamily="34" charset="0"/>
                <a:ea typeface="MS PGothic" panose="020B0600070205080204" charset="-128"/>
              </a:rPr>
              <a:t> anterior and posterior; </a:t>
            </a:r>
            <a:r>
              <a:rPr lang="en-US" altLang="ja-JP" sz="3300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charset="-128"/>
              </a:rPr>
              <a:t>two poles</a:t>
            </a:r>
            <a:r>
              <a:rPr lang="en-US" altLang="ja-JP" sz="3300">
                <a:latin typeface="Verdana" panose="020B0604030504040204" pitchFamily="34" charset="0"/>
                <a:ea typeface="MS PGothic" panose="020B0600070205080204" charset="-128"/>
              </a:rPr>
              <a:t> upper and lower; </a:t>
            </a:r>
            <a:r>
              <a:rPr lang="en-US" altLang="ja-JP" sz="3300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charset="-128"/>
              </a:rPr>
              <a:t>two developmental folds</a:t>
            </a:r>
            <a:r>
              <a:rPr lang="en-US" altLang="ja-JP" sz="3300">
                <a:latin typeface="Verdana" panose="020B0604030504040204" pitchFamily="34" charset="0"/>
                <a:ea typeface="MS PGothic" panose="020B0600070205080204" charset="-128"/>
              </a:rPr>
              <a:t> plica triangulris and plica semilumris; and </a:t>
            </a:r>
            <a:r>
              <a:rPr lang="en-US" altLang="ja-JP" sz="3300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charset="-128"/>
              </a:rPr>
              <a:t>one cleft</a:t>
            </a:r>
            <a:r>
              <a:rPr lang="en-US" altLang="ja-JP" sz="3300">
                <a:latin typeface="Verdana" panose="020B0604030504040204" pitchFamily="34" charset="0"/>
                <a:ea typeface="MS PGothic" panose="020B0600070205080204" charset="-128"/>
              </a:rPr>
              <a:t> intratonsillar cleft.</a:t>
            </a:r>
            <a:endParaRPr lang="en-US" altLang="ja-JP" sz="3300">
              <a:latin typeface="Verdana" panose="020B0604030504040204" pitchFamily="34" charset="0"/>
              <a:ea typeface="MS PGothic" panose="020B0600070205080204" charset="-128"/>
            </a:endParaRPr>
          </a:p>
          <a:p>
            <a:r>
              <a:rPr lang="en-US" altLang="ja-JP" sz="3300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charset="-128"/>
              </a:rPr>
              <a:t>Medial surface</a:t>
            </a:r>
            <a:r>
              <a:rPr lang="en-US" altLang="ja-JP" sz="3300">
                <a:latin typeface="Verdana" panose="020B0604030504040204" pitchFamily="34" charset="0"/>
                <a:ea typeface="MS PGothic" panose="020B0600070205080204" charset="-128"/>
              </a:rPr>
              <a:t> is covered by squamous epithelium and </a:t>
            </a:r>
            <a:r>
              <a:rPr lang="en-US" altLang="ja-JP" sz="3300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charset="-128"/>
              </a:rPr>
              <a:t>presents 15-20 crypts</a:t>
            </a:r>
            <a:r>
              <a:rPr lang="en-US" altLang="ja-JP" sz="3300">
                <a:latin typeface="Verdana" panose="020B0604030504040204" pitchFamily="34" charset="0"/>
                <a:ea typeface="MS PGothic" panose="020B0600070205080204" charset="-128"/>
              </a:rPr>
              <a:t> usually plugged with epithelial and bacterial debris </a:t>
            </a:r>
            <a:endParaRPr sz="3300">
              <a:latin typeface="Verdana" panose="020B0604030504040204" pitchFamily="34" charset="0"/>
            </a:endParaRPr>
          </a:p>
        </p:txBody>
      </p:sp>
      <p:pic>
        <p:nvPicPr>
          <p:cNvPr id="6150" name="Picture 6149" descr="Normal+Tonsils+Label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4600" y="2359025"/>
            <a:ext cx="2514600" cy="17049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2" name="Text Placeholder 7171"/>
          <p:cNvSpPr>
            <a:spLocks noGrp="1"/>
          </p:cNvSpPr>
          <p:nvPr>
            <p:ph type="body" idx="1"/>
          </p:nvPr>
        </p:nvSpPr>
        <p:spPr>
          <a:xfrm>
            <a:off x="457200" y="381000"/>
            <a:ext cx="8229600" cy="6248400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ja-JP" sz="3300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charset="-128"/>
              </a:rPr>
              <a:t>Lateral surface</a:t>
            </a:r>
            <a:r>
              <a:rPr lang="en-US" altLang="ja-JP" sz="3300">
                <a:latin typeface="Verdana" panose="020B0604030504040204" pitchFamily="34" charset="0"/>
                <a:ea typeface="MS PGothic" panose="020B0600070205080204" charset="-128"/>
              </a:rPr>
              <a:t> extends deep to surrounding boundaries. It </a:t>
            </a:r>
            <a:r>
              <a:rPr lang="en-US" altLang="ja-JP" sz="3300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charset="-128"/>
              </a:rPr>
              <a:t>is coated with a fibrous sheet</a:t>
            </a:r>
            <a:r>
              <a:rPr lang="en-US" altLang="ja-JP" sz="3300">
                <a:latin typeface="Verdana" panose="020B0604030504040204" pitchFamily="34" charset="0"/>
                <a:ea typeface="MS PGothic" panose="020B0600070205080204" charset="-128"/>
              </a:rPr>
              <a:t>, an extension of pharyngobasilar fascia </a:t>
            </a:r>
            <a:r>
              <a:rPr lang="en-US" altLang="ja-JP" sz="3300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charset="-128"/>
              </a:rPr>
              <a:t>called capsule of the tonsil.</a:t>
            </a:r>
            <a:endParaRPr lang="en-US" altLang="ja-JP" sz="3300">
              <a:solidFill>
                <a:srgbClr val="FF0000"/>
              </a:solidFill>
              <a:latin typeface="Verdana" panose="020B0604030504040204" pitchFamily="34" charset="0"/>
              <a:ea typeface="MS PGothic" panose="020B0600070205080204" charset="-128"/>
            </a:endParaRPr>
          </a:p>
          <a:p>
            <a:r>
              <a:rPr lang="en-US" altLang="ja-JP" sz="3300">
                <a:latin typeface="Verdana" panose="020B0604030504040204" pitchFamily="34" charset="0"/>
                <a:ea typeface="MS PGothic" panose="020B0600070205080204" charset="-128"/>
              </a:rPr>
              <a:t>The </a:t>
            </a:r>
            <a:r>
              <a:rPr lang="en-US" altLang="ja-JP" sz="3300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charset="-128"/>
              </a:rPr>
              <a:t>capsule is loosely attached to the muscular wall</a:t>
            </a:r>
            <a:r>
              <a:rPr lang="en-US" altLang="ja-JP" sz="3300">
                <a:latin typeface="Verdana" panose="020B0604030504040204" pitchFamily="34" charset="0"/>
                <a:ea typeface="MS PGothic" panose="020B0600070205080204" charset="-128"/>
              </a:rPr>
              <a:t> but antero-inferiorly it is attached firmly to the side of the tongue just in front of insertion of palatoglossus and palatopharyngeus muscles</a:t>
            </a:r>
            <a:r>
              <a:rPr lang="en-US" altLang="ja-JP">
                <a:ea typeface="MS PGothic" panose="020B0600070205080204" charset="-128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Title 50177"/>
          <p:cNvSpPr>
            <a:spLocks noGrp="1"/>
          </p:cNvSpPr>
          <p:nvPr>
            <p:ph type="title"/>
          </p:nvPr>
        </p:nvSpPr>
        <p:spPr>
          <a:ln/>
        </p:spPr>
        <p:txBody>
          <a:bodyPr anchor="ctr" anchorCtr="0"/>
          <a:p>
            <a:r>
              <a:rPr>
                <a:solidFill>
                  <a:srgbClr val="FF0000"/>
                </a:solidFill>
                <a:latin typeface="Verdana" panose="020B0604030504040204" pitchFamily="34" charset="0"/>
              </a:rPr>
              <a:t>Tonsils-Gross &amp; Microscopic</a:t>
            </a:r>
            <a:endParaRPr>
              <a:solidFill>
                <a:srgbClr val="FF0000"/>
              </a:solidFill>
              <a:latin typeface="Verdana" panose="020B0604030504040204" pitchFamily="34" charset="0"/>
            </a:endParaRPr>
          </a:p>
        </p:txBody>
      </p:sp>
      <p:sp>
        <p:nvSpPr>
          <p:cNvPr id="50179" name="Text Placeholder 50178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ln/>
        </p:spPr>
        <p:txBody>
          <a:bodyPr/>
          <a:p>
            <a:pPr>
              <a:buClrTx/>
              <a:buSzTx/>
              <a:buFontTx/>
            </a:pPr>
            <a:endParaRPr sz="2800"/>
          </a:p>
        </p:txBody>
      </p:sp>
      <p:pic>
        <p:nvPicPr>
          <p:cNvPr id="50182" name="Content Placeholder 50181" descr="tns02he"/>
          <p:cNvPicPr>
            <a:picLocks noGrp="1"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4970463" y="1600200"/>
            <a:ext cx="3314700" cy="44196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</p:pic>
      <p:pic>
        <p:nvPicPr>
          <p:cNvPr id="50184" name="Picture 50183" descr="Histo_10_03_palatine%20tonsil-1_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676400"/>
            <a:ext cx="4114800" cy="34274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9" name="Text Placeholder 11268"/>
          <p:cNvSpPr>
            <a:spLocks noGrp="1"/>
          </p:cNvSpPr>
          <p:nvPr>
            <p:ph type="body" sz="half" idx="1"/>
          </p:nvPr>
        </p:nvSpPr>
        <p:spPr>
          <a:xfrm>
            <a:off x="0" y="304800"/>
            <a:ext cx="4038600" cy="6248400"/>
          </a:xfrm>
          <a:ln/>
        </p:spPr>
        <p:txBody>
          <a:bodyPr/>
          <a:p>
            <a:pPr algn="r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ja-JP" u="sng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charset="-128"/>
              </a:rPr>
              <a:t>Bed of the tonsil comprises of</a:t>
            </a:r>
            <a:endParaRPr lang="en-US" altLang="ja-JP">
              <a:solidFill>
                <a:srgbClr val="FF0000"/>
              </a:solidFill>
              <a:latin typeface="Verdana" panose="020B0604030504040204" pitchFamily="34" charset="0"/>
              <a:ea typeface="MS PGothic" panose="020B0600070205080204" charset="-128"/>
            </a:endParaRPr>
          </a:p>
          <a:p>
            <a:pPr algn="r">
              <a:lnSpc>
                <a:spcPct val="90000"/>
              </a:lnSpc>
              <a:buClrTx/>
              <a:buSzTx/>
              <a:buFontTx/>
              <a:buNone/>
            </a:pPr>
            <a:endParaRPr lang="en-US" altLang="ja-JP">
              <a:solidFill>
                <a:srgbClr val="FF0000"/>
              </a:solidFill>
              <a:ea typeface="MS PGothic" panose="020B0600070205080204" charset="-128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en-US" altLang="ja-JP" sz="3400">
                <a:latin typeface="Verdana" panose="020B0604030504040204" pitchFamily="34" charset="0"/>
                <a:ea typeface="MS PGothic" panose="020B0600070205080204" charset="-128"/>
              </a:rPr>
              <a:t>Loose aerolar tissue</a:t>
            </a:r>
            <a:endParaRPr lang="en-US" altLang="ja-JP" sz="3400">
              <a:latin typeface="Verdana" panose="020B0604030504040204" pitchFamily="34" charset="0"/>
              <a:ea typeface="MS PGothic" panose="020B0600070205080204" charset="-128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en-US" altLang="ja-JP" sz="3400">
                <a:latin typeface="Verdana" panose="020B0604030504040204" pitchFamily="34" charset="0"/>
                <a:ea typeface="MS PGothic" panose="020B0600070205080204" charset="-128"/>
              </a:rPr>
              <a:t>Pharyngobasilar fascia</a:t>
            </a:r>
            <a:endParaRPr lang="en-US" altLang="ja-JP" sz="3400">
              <a:latin typeface="Verdana" panose="020B0604030504040204" pitchFamily="34" charset="0"/>
              <a:ea typeface="MS PGothic" panose="020B0600070205080204" charset="-128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en-US" altLang="ja-JP" sz="3400">
                <a:latin typeface="Verdana" panose="020B0604030504040204" pitchFamily="34" charset="0"/>
                <a:ea typeface="MS PGothic" panose="020B0600070205080204" charset="-128"/>
              </a:rPr>
              <a:t>Superior constrictor muscle</a:t>
            </a:r>
            <a:endParaRPr sz="3400">
              <a:latin typeface="Verdana" panose="020B0604030504040204" pitchFamily="34" charset="0"/>
            </a:endParaRPr>
          </a:p>
        </p:txBody>
      </p:sp>
      <p:sp>
        <p:nvSpPr>
          <p:cNvPr id="11270" name="Text Placeholder 11269"/>
          <p:cNvSpPr>
            <a:spLocks noGrp="1"/>
          </p:cNvSpPr>
          <p:nvPr>
            <p:ph type="body" sz="half" idx="2"/>
          </p:nvPr>
        </p:nvSpPr>
        <p:spPr>
          <a:xfrm>
            <a:off x="4648200" y="304800"/>
            <a:ext cx="4038600" cy="6248400"/>
          </a:xfrm>
          <a:ln/>
        </p:spPr>
        <p:txBody>
          <a:bodyPr/>
          <a:p>
            <a:pPr algn="r">
              <a:buClrTx/>
              <a:buSzTx/>
              <a:buFontTx/>
              <a:buNone/>
            </a:pPr>
            <a:r>
              <a:rPr lang="en-US" altLang="ja-JP" u="sng">
                <a:ea typeface="MS PGothic" panose="020B0600070205080204" charset="-128"/>
              </a:rPr>
              <a:t>:</a:t>
            </a:r>
            <a:endParaRPr lang="en-US" altLang="ja-JP">
              <a:ea typeface="MS PGothic" panose="020B0600070205080204" charset="-128"/>
            </a:endParaRPr>
          </a:p>
          <a:p>
            <a:pPr algn="r">
              <a:buClrTx/>
              <a:buSzTx/>
              <a:buFontTx/>
              <a:buNone/>
            </a:pPr>
            <a:endParaRPr sz="2400"/>
          </a:p>
        </p:txBody>
      </p:sp>
      <p:pic>
        <p:nvPicPr>
          <p:cNvPr id="11272" name="Picture 11271" descr="Fig-144-Transverse-frozen-section-passing-through-the-f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2400" y="1295400"/>
            <a:ext cx="5181600" cy="4787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6" name="Title 18435"/>
          <p:cNvSpPr>
            <a:spLocks noGrp="1"/>
          </p:cNvSpPr>
          <p:nvPr>
            <p:ph type="title"/>
          </p:nvPr>
        </p:nvSpPr>
        <p:spPr>
          <a:ln/>
        </p:spPr>
        <p:txBody>
          <a:bodyPr anchor="ctr" anchorCtr="0"/>
          <a:p>
            <a:r>
              <a:rPr>
                <a:solidFill>
                  <a:srgbClr val="FF0000"/>
                </a:solidFill>
              </a:rPr>
              <a:t>Blood Supply of tonsil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8437" name="Text Placeholder 18436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ln/>
        </p:spPr>
        <p:txBody>
          <a:bodyPr/>
          <a:p>
            <a:pPr>
              <a:buClrTx/>
              <a:buSzTx/>
              <a:buFontTx/>
            </a:pPr>
            <a:r>
              <a:rPr lang="en-US" altLang="ja-JP" sz="2800">
                <a:latin typeface="Verdana" panose="020B0604030504040204" pitchFamily="34" charset="0"/>
                <a:ea typeface="MS PGothic" panose="020B0600070205080204" charset="-128"/>
              </a:rPr>
              <a:t>Tonsillar branch of the dorsal lingual</a:t>
            </a:r>
            <a:endParaRPr lang="en-US" altLang="ja-JP" sz="2800">
              <a:latin typeface="Verdana" panose="020B0604030504040204" pitchFamily="34" charset="0"/>
              <a:ea typeface="MS PGothic" panose="020B0600070205080204" charset="-128"/>
            </a:endParaRPr>
          </a:p>
          <a:p>
            <a:pPr>
              <a:buClrTx/>
              <a:buSzTx/>
              <a:buFontTx/>
            </a:pPr>
            <a:r>
              <a:rPr lang="en-US" altLang="ja-JP" sz="2800">
                <a:latin typeface="Verdana" panose="020B0604030504040204" pitchFamily="34" charset="0"/>
                <a:ea typeface="MS PGothic" panose="020B0600070205080204" charset="-128"/>
              </a:rPr>
              <a:t>Ascending palatine branch of facial artery</a:t>
            </a:r>
            <a:endParaRPr lang="en-US" altLang="ja-JP" sz="2800">
              <a:latin typeface="Verdana" panose="020B0604030504040204" pitchFamily="34" charset="0"/>
              <a:ea typeface="MS PGothic" panose="020B0600070205080204" charset="-128"/>
            </a:endParaRPr>
          </a:p>
          <a:p>
            <a:pPr>
              <a:buClrTx/>
              <a:buSzTx/>
              <a:buFontTx/>
            </a:pPr>
            <a:r>
              <a:rPr lang="en-US" altLang="ja-JP" sz="2800">
                <a:latin typeface="Verdana" panose="020B0604030504040204" pitchFamily="34" charset="0"/>
                <a:ea typeface="MS PGothic" panose="020B0600070205080204" charset="-128"/>
              </a:rPr>
              <a:t>Tonsillar branch of facial artery</a:t>
            </a:r>
            <a:endParaRPr lang="en-US" altLang="ja-JP" sz="2800">
              <a:latin typeface="Verdana" panose="020B0604030504040204" pitchFamily="34" charset="0"/>
              <a:ea typeface="MS PGothic" panose="020B0600070205080204" charset="-128"/>
            </a:endParaRPr>
          </a:p>
          <a:p>
            <a:pPr>
              <a:buClrTx/>
              <a:buSzTx/>
              <a:buFontTx/>
            </a:pPr>
            <a:r>
              <a:rPr lang="en-US" altLang="ja-JP" sz="2800">
                <a:latin typeface="Verdana" panose="020B0604030504040204" pitchFamily="34" charset="0"/>
                <a:ea typeface="MS PGothic" panose="020B0600070205080204" charset="-128"/>
              </a:rPr>
              <a:t>Ascending pharyngeal </a:t>
            </a:r>
            <a:endParaRPr lang="en-US" altLang="ja-JP" sz="2800">
              <a:latin typeface="Verdana" panose="020B0604030504040204" pitchFamily="34" charset="0"/>
              <a:ea typeface="MS PGothic" panose="020B0600070205080204" charset="-128"/>
            </a:endParaRPr>
          </a:p>
          <a:p>
            <a:pPr>
              <a:buClrTx/>
              <a:buSzTx/>
              <a:buFontTx/>
            </a:pPr>
            <a:r>
              <a:rPr sz="2800">
                <a:latin typeface="Verdana" panose="020B0604030504040204" pitchFamily="34" charset="0"/>
              </a:rPr>
              <a:t>Descending palatine</a:t>
            </a:r>
            <a:endParaRPr sz="2800">
              <a:latin typeface="Verdana" panose="020B0604030504040204" pitchFamily="34" charset="0"/>
            </a:endParaRPr>
          </a:p>
          <a:p>
            <a:pPr>
              <a:buClrTx/>
              <a:buSzTx/>
              <a:buFontTx/>
            </a:pPr>
            <a:endParaRPr sz="2800">
              <a:latin typeface="Verdana" panose="020B0604030504040204" pitchFamily="34" charset="0"/>
            </a:endParaRPr>
          </a:p>
        </p:txBody>
      </p:sp>
      <p:pic>
        <p:nvPicPr>
          <p:cNvPr id="18440" name="Content Placeholder 18439" descr="Fig-142-Diagram-illustrating-the-blood-supply-of-the-fau"/>
          <p:cNvPicPr>
            <a:picLocks noGrp="1"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4772025" y="1924050"/>
            <a:ext cx="3790950" cy="387667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6" name="Title 13315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487363"/>
          </a:xfrm>
          <a:ln/>
        </p:spPr>
        <p:txBody>
          <a:bodyPr anchor="ctr" anchorCtr="0"/>
          <a:p>
            <a:pPr algn="l"/>
            <a:r>
              <a:rPr lang="en-US" altLang="ja-JP" sz="4000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charset="-128"/>
              </a:rPr>
              <a:t>Acute tonsillitis</a:t>
            </a:r>
            <a:r>
              <a:rPr lang="en-US" altLang="ja-JP" sz="4000">
                <a:ea typeface="MS PGothic" panose="020B0600070205080204" charset="-128"/>
              </a:rPr>
              <a:t> </a:t>
            </a:r>
            <a:endParaRPr sz="4000"/>
          </a:p>
        </p:txBody>
      </p:sp>
      <p:sp>
        <p:nvSpPr>
          <p:cNvPr id="13317" name="Text Placeholder 13316"/>
          <p:cNvSpPr>
            <a:spLocks noGrp="1"/>
          </p:cNvSpPr>
          <p:nvPr>
            <p:ph type="body" sz="half" idx="1"/>
          </p:nvPr>
        </p:nvSpPr>
        <p:spPr>
          <a:xfrm>
            <a:off x="304800" y="609600"/>
            <a:ext cx="4191000" cy="6019800"/>
          </a:xfrm>
          <a:ln/>
        </p:spPr>
        <p:txBody>
          <a:bodyPr/>
          <a:p>
            <a:pPr>
              <a:lnSpc>
                <a:spcPct val="90000"/>
              </a:lnSpc>
              <a:buClrTx/>
              <a:buSzTx/>
              <a:buFontTx/>
            </a:pPr>
            <a:r>
              <a:rPr lang="en-US" altLang="ja-JP">
                <a:latin typeface="Verdana" panose="020B0604030504040204" pitchFamily="34" charset="0"/>
                <a:ea typeface="MS PGothic" panose="020B0600070205080204" charset="-128"/>
              </a:rPr>
              <a:t>Mainly </a:t>
            </a:r>
            <a:r>
              <a:rPr lang="en-US" altLang="ja-JP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charset="-128"/>
              </a:rPr>
              <a:t>a disease of childhood</a:t>
            </a:r>
            <a:r>
              <a:rPr lang="en-US" altLang="ja-JP">
                <a:latin typeface="Verdana" panose="020B0604030504040204" pitchFamily="34" charset="0"/>
                <a:ea typeface="MS PGothic" panose="020B0600070205080204" charset="-128"/>
              </a:rPr>
              <a:t> but is also seen in adults. </a:t>
            </a:r>
            <a:endParaRPr lang="en-US" altLang="ja-JP">
              <a:latin typeface="Verdana" panose="020B0604030504040204" pitchFamily="34" charset="0"/>
              <a:ea typeface="MS PGothic" panose="020B0600070205080204" charset="-128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en-US" altLang="ja-JP">
                <a:latin typeface="Verdana" panose="020B0604030504040204" pitchFamily="34" charset="0"/>
                <a:ea typeface="MS PGothic" panose="020B0600070205080204" charset="-128"/>
              </a:rPr>
              <a:t>May occur primarily as infection of the tonsils themselves or may secondarily occur as a result of URTI following viral infection</a:t>
            </a:r>
            <a:r>
              <a:rPr lang="en-US" altLang="ja-JP" sz="2400">
                <a:latin typeface="Verdana" panose="020B0604030504040204" pitchFamily="34" charset="0"/>
                <a:ea typeface="MS PGothic" panose="020B0600070205080204" charset="-128"/>
              </a:rPr>
              <a:t>.</a:t>
            </a:r>
            <a:endParaRPr sz="2400">
              <a:latin typeface="Verdana" panose="020B0604030504040204" pitchFamily="34" charset="0"/>
            </a:endParaRPr>
          </a:p>
        </p:txBody>
      </p:sp>
      <p:sp>
        <p:nvSpPr>
          <p:cNvPr id="13318" name="Text Placeholder 13317"/>
          <p:cNvSpPr>
            <a:spLocks noGrp="1"/>
          </p:cNvSpPr>
          <p:nvPr>
            <p:ph type="body" sz="half" idx="2"/>
          </p:nvPr>
        </p:nvSpPr>
        <p:spPr>
          <a:xfrm>
            <a:off x="4648200" y="609600"/>
            <a:ext cx="4038600" cy="5791200"/>
          </a:xfrm>
          <a:ln/>
        </p:spPr>
        <p:txBody>
          <a:bodyPr/>
          <a:p>
            <a:pPr algn="r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ja-JP" u="sng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charset="-128"/>
              </a:rPr>
              <a:t>Organisms</a:t>
            </a:r>
            <a:r>
              <a:rPr lang="en-US" altLang="ja-JP" u="sng">
                <a:latin typeface="Verdana" panose="020B0604030504040204" pitchFamily="34" charset="0"/>
                <a:ea typeface="MS PGothic" panose="020B0600070205080204" charset="-128"/>
              </a:rPr>
              <a:t>:</a:t>
            </a:r>
            <a:endParaRPr lang="en-US" altLang="ja-JP">
              <a:latin typeface="Verdana" panose="020B0604030504040204" pitchFamily="34" charset="0"/>
              <a:ea typeface="MS PGothic" panose="020B0600070205080204" charset="-128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en-US" altLang="ja-JP">
                <a:latin typeface="Verdana" panose="020B0604030504040204" pitchFamily="34" charset="0"/>
                <a:ea typeface="MS PGothic" panose="020B0600070205080204" charset="-128"/>
              </a:rPr>
              <a:t>Beta-haemolytic streptococcus</a:t>
            </a:r>
            <a:endParaRPr lang="en-US" altLang="ja-JP">
              <a:latin typeface="Verdana" panose="020B0604030504040204" pitchFamily="34" charset="0"/>
              <a:ea typeface="MS PGothic" panose="020B0600070205080204" charset="-128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en-US" altLang="ja-JP">
                <a:latin typeface="Verdana" panose="020B0604030504040204" pitchFamily="34" charset="0"/>
                <a:ea typeface="MS PGothic" panose="020B0600070205080204" charset="-128"/>
              </a:rPr>
              <a:t>Staphylococcus</a:t>
            </a:r>
            <a:endParaRPr lang="en-US" altLang="ja-JP">
              <a:latin typeface="Verdana" panose="020B0604030504040204" pitchFamily="34" charset="0"/>
              <a:ea typeface="MS PGothic" panose="020B0600070205080204" charset="-128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en-US" altLang="ja-JP">
                <a:latin typeface="Verdana" panose="020B0604030504040204" pitchFamily="34" charset="0"/>
                <a:ea typeface="MS PGothic" panose="020B0600070205080204" charset="-128"/>
              </a:rPr>
              <a:t>Haemophilus influenzae</a:t>
            </a:r>
            <a:endParaRPr lang="en-US" altLang="ja-JP">
              <a:latin typeface="Verdana" panose="020B0604030504040204" pitchFamily="34" charset="0"/>
              <a:ea typeface="MS PGothic" panose="020B0600070205080204" charset="-128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en-US" altLang="ja-JP">
                <a:latin typeface="Verdana" panose="020B0604030504040204" pitchFamily="34" charset="0"/>
                <a:ea typeface="MS PGothic" panose="020B0600070205080204" charset="-128"/>
              </a:rPr>
              <a:t>Pneumococcus</a:t>
            </a:r>
            <a:endParaRPr lang="en-US" altLang="ja-JP">
              <a:latin typeface="Verdana" panose="020B0604030504040204" pitchFamily="34" charset="0"/>
              <a:ea typeface="MS PGothic" panose="020B0600070205080204" charset="-128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en-US" altLang="ja-JP">
                <a:latin typeface="Verdana" panose="020B0604030504040204" pitchFamily="34" charset="0"/>
                <a:ea typeface="MS PGothic" panose="020B0600070205080204" charset="-128"/>
              </a:rPr>
              <a:t>The </a:t>
            </a:r>
            <a:r>
              <a:rPr lang="en-US" altLang="ja-JP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charset="-128"/>
              </a:rPr>
              <a:t>part played by viruses in acute tonsillitis is unknown</a:t>
            </a:r>
            <a:r>
              <a:rPr lang="en-US" altLang="ja-JP" sz="2400">
                <a:latin typeface="Verdana" panose="020B0604030504040204" pitchFamily="34" charset="0"/>
                <a:ea typeface="MS PGothic" panose="020B0600070205080204" charset="-128"/>
              </a:rPr>
              <a:t>. </a:t>
            </a:r>
            <a:endParaRPr sz="240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Title 1536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563563"/>
          </a:xfrm>
          <a:ln/>
        </p:spPr>
        <p:txBody>
          <a:bodyPr anchor="ctr" anchorCtr="0"/>
          <a:p>
            <a:pPr algn="l"/>
            <a:r>
              <a:rPr lang="en-US" altLang="ja-JP" sz="4000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charset="-128"/>
              </a:rPr>
              <a:t>Pathology-1</a:t>
            </a:r>
            <a:endParaRPr sz="4000">
              <a:solidFill>
                <a:srgbClr val="FF0000"/>
              </a:solidFill>
              <a:latin typeface="Verdana" panose="020B0604030504040204" pitchFamily="34" charset="0"/>
            </a:endParaRPr>
          </a:p>
        </p:txBody>
      </p:sp>
      <p:sp>
        <p:nvSpPr>
          <p:cNvPr id="15363" name="Text Placeholder 15362"/>
          <p:cNvSpPr>
            <a:spLocks noGrp="1"/>
          </p:cNvSpPr>
          <p:nvPr>
            <p:ph type="body" idx="1"/>
          </p:nvPr>
        </p:nvSpPr>
        <p:spPr>
          <a:xfrm>
            <a:off x="0" y="838200"/>
            <a:ext cx="6019800" cy="5715000"/>
          </a:xfrm>
          <a:ln/>
        </p:spPr>
        <p:txBody>
          <a:bodyPr/>
          <a:p>
            <a:pPr>
              <a:lnSpc>
                <a:spcPct val="90000"/>
              </a:lnSpc>
            </a:pPr>
            <a:r>
              <a:rPr lang="en-US" altLang="ja-JP" sz="2800">
                <a:latin typeface="Verdana" panose="020B0604030504040204" pitchFamily="34" charset="0"/>
                <a:ea typeface="MS PGothic" panose="020B0600070205080204" charset="-128"/>
              </a:rPr>
              <a:t>The process of inflammation originating within the tonsil is accompanied by </a:t>
            </a:r>
            <a:r>
              <a:rPr lang="en-US" altLang="ja-JP" sz="2800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charset="-128"/>
              </a:rPr>
              <a:t>hyperemia</a:t>
            </a:r>
            <a:r>
              <a:rPr lang="en-US" altLang="ja-JP" sz="2800">
                <a:latin typeface="Verdana" panose="020B0604030504040204" pitchFamily="34" charset="0"/>
                <a:ea typeface="MS PGothic" panose="020B0600070205080204" charset="-128"/>
              </a:rPr>
              <a:t> and </a:t>
            </a:r>
            <a:r>
              <a:rPr lang="en-US" altLang="ja-JP" sz="2800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charset="-128"/>
              </a:rPr>
              <a:t>oedema </a:t>
            </a:r>
            <a:r>
              <a:rPr lang="en-US" altLang="ja-JP" sz="2800">
                <a:latin typeface="Verdana" panose="020B0604030504040204" pitchFamily="34" charset="0"/>
                <a:ea typeface="MS PGothic" panose="020B0600070205080204" charset="-128"/>
              </a:rPr>
              <a:t>with conversion of lymphoid follicles in to </a:t>
            </a:r>
            <a:r>
              <a:rPr lang="en-US" altLang="ja-JP" sz="2800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charset="-128"/>
              </a:rPr>
              <a:t>small abscesses</a:t>
            </a:r>
            <a:r>
              <a:rPr lang="en-US" altLang="ja-JP" sz="2800">
                <a:latin typeface="Verdana" panose="020B0604030504040204" pitchFamily="34" charset="0"/>
                <a:ea typeface="MS PGothic" panose="020B0600070205080204" charset="-128"/>
              </a:rPr>
              <a:t> which discharge into crypts. </a:t>
            </a:r>
            <a:endParaRPr lang="en-US" altLang="ja-JP" sz="2800">
              <a:latin typeface="Verdana" panose="020B0604030504040204" pitchFamily="34" charset="0"/>
              <a:ea typeface="MS PGothic" panose="020B0600070205080204" charset="-128"/>
            </a:endParaRPr>
          </a:p>
          <a:p>
            <a:pPr>
              <a:lnSpc>
                <a:spcPct val="90000"/>
              </a:lnSpc>
            </a:pPr>
            <a:r>
              <a:rPr lang="en-US" altLang="ja-JP" sz="2800">
                <a:latin typeface="Verdana" panose="020B0604030504040204" pitchFamily="34" charset="0"/>
                <a:ea typeface="MS PGothic" panose="020B0600070205080204" charset="-128"/>
              </a:rPr>
              <a:t>When </a:t>
            </a:r>
            <a:r>
              <a:rPr lang="en-US" altLang="ja-JP" sz="2800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charset="-128"/>
              </a:rPr>
              <a:t>inflammatory exudate collects in tonsillar crypts</a:t>
            </a:r>
            <a:r>
              <a:rPr lang="en-US" altLang="ja-JP" sz="2800">
                <a:latin typeface="Verdana" panose="020B0604030504040204" pitchFamily="34" charset="0"/>
                <a:ea typeface="MS PGothic" panose="020B0600070205080204" charset="-128"/>
              </a:rPr>
              <a:t> these present as multiple white spots on inflamed tonsillar surface giving rise to clinical picture of follicular tonsillitis.</a:t>
            </a:r>
            <a:endParaRPr lang="en-US" altLang="ja-JP" sz="2800">
              <a:latin typeface="Verdana" panose="020B0604030504040204" pitchFamily="34" charset="0"/>
              <a:ea typeface="MS PGothic" panose="020B0600070205080204" charset="-128"/>
            </a:endParaRPr>
          </a:p>
        </p:txBody>
      </p:sp>
      <p:pic>
        <p:nvPicPr>
          <p:cNvPr id="15365" name="Picture 15364" descr="20050525-acute-tonsillitis-mononucleosis-12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8800" y="1828800"/>
            <a:ext cx="3505200" cy="26273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Title 48129"/>
          <p:cNvSpPr>
            <a:spLocks noGrp="1"/>
          </p:cNvSpPr>
          <p:nvPr>
            <p:ph type="title"/>
          </p:nvPr>
        </p:nvSpPr>
        <p:spPr>
          <a:ln/>
        </p:spPr>
        <p:txBody>
          <a:bodyPr anchor="ctr" anchorCtr="0"/>
          <a:p>
            <a:r>
              <a:rPr lang="en-US" altLang="ja-JP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charset="-128"/>
              </a:rPr>
              <a:t>Catarrhal tonsillitis</a:t>
            </a:r>
            <a:endParaRPr>
              <a:solidFill>
                <a:srgbClr val="FF0000"/>
              </a:solidFill>
              <a:latin typeface="Verdana" panose="020B0604030504040204" pitchFamily="34" charset="0"/>
            </a:endParaRPr>
          </a:p>
        </p:txBody>
      </p:sp>
      <p:sp>
        <p:nvSpPr>
          <p:cNvPr id="48131" name="Text Placeholder 48130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ln/>
        </p:spPr>
        <p:txBody>
          <a:bodyPr/>
          <a:p>
            <a:pPr>
              <a:buClrTx/>
              <a:buSzTx/>
              <a:buFontTx/>
            </a:pPr>
            <a:r>
              <a:rPr lang="en-US" altLang="ja-JP">
                <a:latin typeface="Verdana" panose="020B0604030504040204" pitchFamily="34" charset="0"/>
                <a:ea typeface="MS PGothic" panose="020B0600070205080204" charset="-128"/>
              </a:rPr>
              <a:t>When tonsils are inflamed as part of the generalised infection of the oropharyngeal mucosa it is called catarrhal tonsillitis</a:t>
            </a:r>
            <a:r>
              <a:rPr lang="en-US" altLang="ja-JP" sz="2400">
                <a:ea typeface="MS PGothic" panose="020B0600070205080204" charset="-128"/>
              </a:rPr>
              <a:t>.</a:t>
            </a:r>
            <a:endParaRPr sz="2400"/>
          </a:p>
        </p:txBody>
      </p:sp>
      <p:pic>
        <p:nvPicPr>
          <p:cNvPr id="48134" name="Content Placeholder 48133" descr="torkinca2"/>
          <p:cNvPicPr>
            <a:picLocks noGrp="1"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4762500" y="1957388"/>
            <a:ext cx="3810000" cy="38100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40" name="Title 39939"/>
          <p:cNvSpPr>
            <a:spLocks noGrp="1"/>
          </p:cNvSpPr>
          <p:nvPr>
            <p:ph type="title"/>
          </p:nvPr>
        </p:nvSpPr>
        <p:spPr>
          <a:ln/>
        </p:spPr>
        <p:txBody>
          <a:bodyPr anchor="ctr" anchorCtr="0"/>
          <a:p>
            <a:r>
              <a:rPr>
                <a:solidFill>
                  <a:srgbClr val="FF0000"/>
                </a:solidFill>
                <a:latin typeface="Verdana" panose="020B0604030504040204" pitchFamily="34" charset="0"/>
              </a:rPr>
              <a:t>Membranous tonsillitis</a:t>
            </a:r>
            <a:r>
              <a:rPr>
                <a:latin typeface="Verdana" panose="020B0604030504040204" pitchFamily="34" charset="0"/>
              </a:rPr>
              <a:t>.</a:t>
            </a:r>
            <a:endParaRPr>
              <a:latin typeface="Verdana" panose="020B0604030504040204" pitchFamily="34" charset="0"/>
            </a:endParaRPr>
          </a:p>
        </p:txBody>
      </p:sp>
      <p:sp>
        <p:nvSpPr>
          <p:cNvPr id="39941" name="Text Placeholder 39940"/>
          <p:cNvSpPr>
            <a:spLocks noGrp="1"/>
          </p:cNvSpPr>
          <p:nvPr>
            <p:ph type="body" sz="half" idx="1"/>
          </p:nvPr>
        </p:nvSpPr>
        <p:spPr>
          <a:xfrm>
            <a:off x="457200" y="1219200"/>
            <a:ext cx="4114800" cy="5410200"/>
          </a:xfrm>
          <a:ln/>
        </p:spPr>
        <p:txBody>
          <a:bodyPr/>
          <a:p>
            <a:pPr>
              <a:buClrTx/>
              <a:buSzTx/>
              <a:buFontTx/>
            </a:pPr>
            <a:r>
              <a:rPr>
                <a:latin typeface="Verdana" panose="020B0604030504040204" pitchFamily="34" charset="0"/>
              </a:rPr>
              <a:t>Some times exudation from crypts may coalesce to form a membrane over the surface of tonsil, giving rise to clinical picture of </a:t>
            </a:r>
            <a:r>
              <a:rPr>
                <a:solidFill>
                  <a:srgbClr val="FF0000"/>
                </a:solidFill>
                <a:latin typeface="Verdana" panose="020B0604030504040204" pitchFamily="34" charset="0"/>
              </a:rPr>
              <a:t>membranous tonsillitis</a:t>
            </a:r>
            <a:r>
              <a:rPr>
                <a:latin typeface="Verdana" panose="020B0604030504040204" pitchFamily="34" charset="0"/>
              </a:rPr>
              <a:t>.</a:t>
            </a:r>
            <a:endParaRPr>
              <a:latin typeface="Verdana" panose="020B0604030504040204" pitchFamily="34" charset="0"/>
            </a:endParaRPr>
          </a:p>
        </p:txBody>
      </p:sp>
      <p:pic>
        <p:nvPicPr>
          <p:cNvPr id="39944" name="Content Placeholder 39943" descr="prostom02"/>
          <p:cNvPicPr>
            <a:picLocks noGrp="1"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4648200" y="2286000"/>
            <a:ext cx="4495800" cy="3211513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8" name="Title 41987"/>
          <p:cNvSpPr>
            <a:spLocks noGrp="1"/>
          </p:cNvSpPr>
          <p:nvPr>
            <p:ph type="title"/>
          </p:nvPr>
        </p:nvSpPr>
        <p:spPr>
          <a:ln/>
        </p:spPr>
        <p:txBody>
          <a:bodyPr anchor="ctr" anchorCtr="0"/>
          <a:p>
            <a:r>
              <a:rPr sz="4000">
                <a:solidFill>
                  <a:srgbClr val="FF0000"/>
                </a:solidFill>
                <a:latin typeface="Verdana" panose="020B0604030504040204" pitchFamily="34" charset="0"/>
              </a:rPr>
              <a:t>Parenchymatous tonsillitis</a:t>
            </a:r>
            <a:br>
              <a:rPr sz="4000">
                <a:solidFill>
                  <a:srgbClr val="FF0000"/>
                </a:solidFill>
              </a:rPr>
            </a:br>
            <a:endParaRPr sz="4000">
              <a:solidFill>
                <a:srgbClr val="FF0000"/>
              </a:solidFill>
            </a:endParaRPr>
          </a:p>
        </p:txBody>
      </p:sp>
      <p:sp>
        <p:nvSpPr>
          <p:cNvPr id="41989" name="Text Placeholder 41988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ln/>
        </p:spPr>
        <p:txBody>
          <a:bodyPr/>
          <a:p>
            <a:pPr>
              <a:buClrTx/>
              <a:buSzTx/>
              <a:buFontTx/>
            </a:pPr>
            <a:r>
              <a:rPr>
                <a:latin typeface="Verdana" panose="020B0604030504040204" pitchFamily="34" charset="0"/>
              </a:rPr>
              <a:t>When the whole tonsil is uniformly congested and swollen it is called acute </a:t>
            </a:r>
            <a:r>
              <a:rPr>
                <a:solidFill>
                  <a:srgbClr val="FF0000"/>
                </a:solidFill>
                <a:latin typeface="Verdana" panose="020B0604030504040204" pitchFamily="34" charset="0"/>
              </a:rPr>
              <a:t>parenchymatous tonsillitis</a:t>
            </a:r>
            <a:endParaRPr>
              <a:solidFill>
                <a:srgbClr val="FF0000"/>
              </a:solidFill>
              <a:latin typeface="Verdana" panose="020B0604030504040204" pitchFamily="34" charset="0"/>
            </a:endParaRPr>
          </a:p>
          <a:p>
            <a:pPr>
              <a:buClrTx/>
              <a:buSzTx/>
              <a:buFontTx/>
            </a:pPr>
            <a:endParaRPr>
              <a:solidFill>
                <a:srgbClr val="FF0000"/>
              </a:solidFill>
              <a:latin typeface="Verdana" panose="020B0604030504040204" pitchFamily="34" charset="0"/>
            </a:endParaRPr>
          </a:p>
        </p:txBody>
      </p:sp>
      <p:sp>
        <p:nvSpPr>
          <p:cNvPr id="41990" name="Content Placeholder 41989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ln/>
        </p:spPr>
        <p:txBody>
          <a:bodyPr/>
          <a:p>
            <a:pPr>
              <a:buClrTx/>
              <a:buSzTx/>
              <a:buFontTx/>
            </a:pPr>
            <a:endParaRPr sz="2800"/>
          </a:p>
        </p:txBody>
      </p:sp>
      <p:pic>
        <p:nvPicPr>
          <p:cNvPr id="41994" name="Picture 41993" descr="prostom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2286000"/>
            <a:ext cx="3810000" cy="27193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6" name="Text Placeholder 20485"/>
          <p:cNvSpPr>
            <a:spLocks noGrp="1"/>
          </p:cNvSpPr>
          <p:nvPr>
            <p:ph type="body" sz="half" idx="2"/>
          </p:nvPr>
        </p:nvSpPr>
        <p:spPr>
          <a:xfrm>
            <a:off x="4648200" y="381000"/>
            <a:ext cx="4038600" cy="6172200"/>
          </a:xfrm>
          <a:ln/>
        </p:spPr>
        <p:txBody>
          <a:bodyPr/>
          <a:p>
            <a:pPr algn="r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ja-JP" sz="2800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charset="-128"/>
              </a:rPr>
              <a:t>Complications</a:t>
            </a:r>
            <a:endParaRPr lang="en-US" altLang="ja-JP" sz="2800">
              <a:latin typeface="Verdana" panose="020B0604030504040204" pitchFamily="34" charset="0"/>
              <a:ea typeface="MS PGothic" panose="020B0600070205080204" charset="-128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en-US" altLang="ja-JP" sz="2800">
                <a:latin typeface="Verdana" panose="020B0604030504040204" pitchFamily="34" charset="0"/>
                <a:ea typeface="MS PGothic" panose="020B0600070205080204" charset="-128"/>
              </a:rPr>
              <a:t>Chronic tonsillitis</a:t>
            </a:r>
            <a:endParaRPr lang="en-US" altLang="ja-JP" sz="2800">
              <a:latin typeface="Verdana" panose="020B0604030504040204" pitchFamily="34" charset="0"/>
              <a:ea typeface="MS PGothic" panose="020B0600070205080204" charset="-128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en-US" altLang="ja-JP" sz="2800">
                <a:latin typeface="Verdana" panose="020B0604030504040204" pitchFamily="34" charset="0"/>
                <a:ea typeface="MS PGothic" panose="020B0600070205080204" charset="-128"/>
              </a:rPr>
              <a:t>Peri tonsillar Abscess</a:t>
            </a:r>
            <a:endParaRPr lang="en-US" altLang="ja-JP" sz="2800">
              <a:latin typeface="Verdana" panose="020B0604030504040204" pitchFamily="34" charset="0"/>
              <a:ea typeface="MS PGothic" panose="020B0600070205080204" charset="-128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en-US" altLang="ja-JP" sz="2800">
                <a:latin typeface="Verdana" panose="020B0604030504040204" pitchFamily="34" charset="0"/>
                <a:ea typeface="MS PGothic" panose="020B0600070205080204" charset="-128"/>
              </a:rPr>
              <a:t>Para  Pharyngeal Space Abscess</a:t>
            </a:r>
            <a:endParaRPr lang="en-US" altLang="ja-JP" sz="2800">
              <a:latin typeface="Verdana" panose="020B0604030504040204" pitchFamily="34" charset="0"/>
              <a:ea typeface="MS PGothic" panose="020B0600070205080204" charset="-128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en-US" altLang="ja-JP" sz="2800">
                <a:latin typeface="Verdana" panose="020B0604030504040204" pitchFamily="34" charset="0"/>
                <a:ea typeface="MS PGothic" panose="020B0600070205080204" charset="-128"/>
              </a:rPr>
              <a:t>Acute SOM</a:t>
            </a:r>
            <a:endParaRPr lang="en-US" altLang="ja-JP" sz="2800">
              <a:latin typeface="Verdana" panose="020B0604030504040204" pitchFamily="34" charset="0"/>
              <a:ea typeface="MS PGothic" panose="020B0600070205080204" charset="-128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en-US" altLang="ja-JP" sz="2800">
                <a:latin typeface="Verdana" panose="020B0604030504040204" pitchFamily="34" charset="0"/>
                <a:ea typeface="MS PGothic" panose="020B0600070205080204" charset="-128"/>
              </a:rPr>
              <a:t>Acute nephritis</a:t>
            </a:r>
            <a:endParaRPr lang="en-US" altLang="ja-JP" sz="2800">
              <a:latin typeface="Verdana" panose="020B0604030504040204" pitchFamily="34" charset="0"/>
              <a:ea typeface="MS PGothic" panose="020B0600070205080204" charset="-128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en-US" altLang="ja-JP" sz="2800">
                <a:latin typeface="Verdana" panose="020B0604030504040204" pitchFamily="34" charset="0"/>
                <a:ea typeface="MS PGothic" panose="020B0600070205080204" charset="-128"/>
              </a:rPr>
              <a:t>RHEUMATIC Fever</a:t>
            </a:r>
            <a:endParaRPr lang="en-US" altLang="ja-JP" sz="2800">
              <a:latin typeface="Verdana" panose="020B0604030504040204" pitchFamily="34" charset="0"/>
              <a:ea typeface="MS PGothic" panose="020B0600070205080204" charset="-128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en-US" altLang="ja-JP" sz="2800">
                <a:latin typeface="Verdana" panose="020B0604030504040204" pitchFamily="34" charset="0"/>
                <a:ea typeface="MS PGothic" panose="020B0600070205080204" charset="-128"/>
              </a:rPr>
              <a:t>Laryngeal edema</a:t>
            </a:r>
            <a:endParaRPr lang="en-US" altLang="ja-JP" sz="2800">
              <a:latin typeface="Verdana" panose="020B0604030504040204" pitchFamily="34" charset="0"/>
              <a:ea typeface="MS PGothic" panose="020B0600070205080204" charset="-128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en-US" altLang="ja-JP" sz="2800">
                <a:latin typeface="Verdana" panose="020B0604030504040204" pitchFamily="34" charset="0"/>
                <a:ea typeface="MS PGothic" panose="020B0600070205080204" charset="-128"/>
              </a:rPr>
              <a:t>Septicemia</a:t>
            </a:r>
            <a:endParaRPr sz="2800">
              <a:latin typeface="Verdana" panose="020B0604030504040204" pitchFamily="34" charset="0"/>
            </a:endParaRPr>
          </a:p>
        </p:txBody>
      </p:sp>
      <p:sp>
        <p:nvSpPr>
          <p:cNvPr id="20487" name="Text Placeholder 20486"/>
          <p:cNvSpPr>
            <a:spLocks noGrp="1"/>
          </p:cNvSpPr>
          <p:nvPr>
            <p:ph type="body" sz="half" idx="1"/>
          </p:nvPr>
        </p:nvSpPr>
        <p:spPr>
          <a:xfrm>
            <a:off x="457200" y="381000"/>
            <a:ext cx="4038600" cy="4724400"/>
          </a:xfrm>
          <a:ln/>
        </p:spPr>
        <p:txBody>
          <a:bodyPr vert="horz" wrap="square" lIns="91440" tIns="45720" rIns="91440" bIns="45720" anchor="t" anchorCtr="0"/>
          <a:p>
            <a:pPr algn="r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ja-JP" sz="3400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charset="-128"/>
              </a:rPr>
              <a:t>Differential Diagnosis</a:t>
            </a:r>
            <a:endParaRPr lang="en-US" altLang="ja-JP" sz="3400">
              <a:solidFill>
                <a:srgbClr val="FF0000"/>
              </a:solidFill>
              <a:latin typeface="Verdana" panose="020B0604030504040204" pitchFamily="34" charset="0"/>
              <a:ea typeface="MS PGothic" panose="020B0600070205080204" charset="-128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en-US" altLang="ja-JP" sz="3400">
                <a:latin typeface="Verdana" panose="020B0604030504040204" pitchFamily="34" charset="0"/>
                <a:ea typeface="MS PGothic" panose="020B0600070205080204" charset="-128"/>
              </a:rPr>
              <a:t>Scarlet fever</a:t>
            </a:r>
            <a:endParaRPr lang="en-US" altLang="ja-JP" sz="3400">
              <a:latin typeface="Verdana" panose="020B0604030504040204" pitchFamily="34" charset="0"/>
              <a:ea typeface="MS PGothic" panose="020B0600070205080204" charset="-128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en-US" altLang="ja-JP" sz="3400">
                <a:latin typeface="Verdana" panose="020B0604030504040204" pitchFamily="34" charset="0"/>
                <a:ea typeface="MS PGothic" panose="020B0600070205080204" charset="-128"/>
              </a:rPr>
              <a:t>Diphtheria</a:t>
            </a:r>
            <a:endParaRPr lang="en-US" altLang="ja-JP" sz="3400">
              <a:latin typeface="Verdana" panose="020B0604030504040204" pitchFamily="34" charset="0"/>
              <a:ea typeface="MS PGothic" panose="020B0600070205080204" charset="-128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en-US" altLang="ja-JP" sz="3400">
                <a:latin typeface="Verdana" panose="020B0604030504040204" pitchFamily="34" charset="0"/>
                <a:ea typeface="MS PGothic" panose="020B0600070205080204" charset="-128"/>
              </a:rPr>
              <a:t>Vincent's infection</a:t>
            </a:r>
            <a:endParaRPr lang="en-US" altLang="ja-JP" sz="3400">
              <a:latin typeface="Verdana" panose="020B0604030504040204" pitchFamily="34" charset="0"/>
              <a:ea typeface="MS PGothic" panose="020B0600070205080204" charset="-128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en-US" altLang="ja-JP" sz="3400">
                <a:latin typeface="Verdana" panose="020B0604030504040204" pitchFamily="34" charset="0"/>
                <a:ea typeface="MS PGothic" panose="020B0600070205080204" charset="-128"/>
              </a:rPr>
              <a:t>Agranulocytosis</a:t>
            </a:r>
            <a:endParaRPr lang="en-US" altLang="ja-JP" sz="3400">
              <a:latin typeface="Verdana" panose="020B0604030504040204" pitchFamily="34" charset="0"/>
              <a:ea typeface="MS PGothic" panose="020B0600070205080204" charset="-128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en-US" altLang="ja-JP" sz="3400">
                <a:latin typeface="Verdana" panose="020B0604030504040204" pitchFamily="34" charset="0"/>
                <a:ea typeface="MS PGothic" panose="020B0600070205080204" charset="-128"/>
              </a:rPr>
              <a:t>Glandular fever</a:t>
            </a:r>
            <a:r>
              <a:rPr lang="en-US" altLang="ja-JP" sz="2800">
                <a:ea typeface="MS PGothic" panose="020B0600070205080204" charset="-128"/>
              </a:rPr>
              <a:t> </a:t>
            </a:r>
            <a:endParaRPr sz="2800"/>
          </a:p>
        </p:txBody>
      </p:sp>
      <p:pic>
        <p:nvPicPr>
          <p:cNvPr id="20489" name="Picture 20488" descr="prostom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5400" y="4800600"/>
            <a:ext cx="2514600" cy="17875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1" name="Text Placeholder 17410"/>
          <p:cNvSpPr>
            <a:spLocks noGrp="1"/>
          </p:cNvSpPr>
          <p:nvPr>
            <p:ph type="body" sz="half" idx="1"/>
          </p:nvPr>
        </p:nvSpPr>
        <p:spPr>
          <a:xfrm>
            <a:off x="228600" y="228600"/>
            <a:ext cx="4267200" cy="6324600"/>
          </a:xfrm>
          <a:ln/>
        </p:spPr>
        <p:txBody>
          <a:bodyPr/>
          <a:p>
            <a:pPr>
              <a:buClrTx/>
              <a:buSzTx/>
              <a:buFontTx/>
              <a:buNone/>
            </a:pPr>
            <a:r>
              <a:rPr lang="en-US" altLang="ja-JP" sz="2800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charset="-128"/>
              </a:rPr>
              <a:t>Symptoms</a:t>
            </a:r>
            <a:r>
              <a:rPr lang="en-US" altLang="ja-JP" sz="2800">
                <a:latin typeface="Verdana" panose="020B0604030504040204" pitchFamily="34" charset="0"/>
                <a:ea typeface="MS PGothic" panose="020B0600070205080204" charset="-128"/>
              </a:rPr>
              <a:t>:</a:t>
            </a:r>
            <a:endParaRPr lang="en-US" altLang="ja-JP" sz="2800">
              <a:latin typeface="Verdana" panose="020B0604030504040204" pitchFamily="34" charset="0"/>
              <a:ea typeface="MS PGothic" panose="020B0600070205080204" charset="-128"/>
            </a:endParaRPr>
          </a:p>
          <a:p>
            <a:pPr>
              <a:buClrTx/>
              <a:buSzTx/>
              <a:buFontTx/>
            </a:pPr>
            <a:r>
              <a:rPr lang="en-US" altLang="ja-JP" sz="3600">
                <a:latin typeface="Verdana" panose="020B0604030504040204" pitchFamily="34" charset="0"/>
                <a:ea typeface="MS PGothic" panose="020B0600070205080204" charset="-128"/>
              </a:rPr>
              <a:t>Discomfort in throat</a:t>
            </a:r>
            <a:endParaRPr lang="en-US" altLang="ja-JP" sz="3600">
              <a:latin typeface="Verdana" panose="020B0604030504040204" pitchFamily="34" charset="0"/>
              <a:ea typeface="MS PGothic" panose="020B0600070205080204" charset="-128"/>
            </a:endParaRPr>
          </a:p>
          <a:p>
            <a:pPr>
              <a:buClrTx/>
              <a:buSzTx/>
              <a:buFontTx/>
            </a:pPr>
            <a:r>
              <a:rPr lang="en-US" altLang="ja-JP" sz="3600">
                <a:latin typeface="Verdana" panose="020B0604030504040204" pitchFamily="34" charset="0"/>
                <a:ea typeface="MS PGothic" panose="020B0600070205080204" charset="-128"/>
              </a:rPr>
              <a:t>Difficulty in swallowing</a:t>
            </a:r>
            <a:endParaRPr lang="en-US" altLang="ja-JP" sz="3600">
              <a:latin typeface="Verdana" panose="020B0604030504040204" pitchFamily="34" charset="0"/>
              <a:ea typeface="MS PGothic" panose="020B0600070205080204" charset="-128"/>
            </a:endParaRPr>
          </a:p>
          <a:p>
            <a:pPr>
              <a:buClrTx/>
              <a:buSzTx/>
              <a:buFontTx/>
            </a:pPr>
            <a:r>
              <a:rPr lang="en-US" altLang="ja-JP" sz="3600">
                <a:latin typeface="Verdana" panose="020B0604030504040204" pitchFamily="34" charset="0"/>
                <a:ea typeface="MS PGothic" panose="020B0600070205080204" charset="-128"/>
              </a:rPr>
              <a:t>Generalised body ache</a:t>
            </a:r>
            <a:endParaRPr lang="en-US" altLang="ja-JP" sz="3600">
              <a:latin typeface="Verdana" panose="020B0604030504040204" pitchFamily="34" charset="0"/>
              <a:ea typeface="MS PGothic" panose="020B0600070205080204" charset="-128"/>
            </a:endParaRPr>
          </a:p>
          <a:p>
            <a:pPr>
              <a:buClrTx/>
              <a:buSzTx/>
              <a:buFontTx/>
            </a:pPr>
            <a:r>
              <a:rPr lang="en-US" altLang="ja-JP" sz="3600">
                <a:latin typeface="Verdana" panose="020B0604030504040204" pitchFamily="34" charset="0"/>
                <a:ea typeface="MS PGothic" panose="020B0600070205080204" charset="-128"/>
              </a:rPr>
              <a:t>Fever</a:t>
            </a:r>
            <a:endParaRPr lang="en-US" altLang="ja-JP" sz="3600">
              <a:latin typeface="Verdana" panose="020B0604030504040204" pitchFamily="34" charset="0"/>
              <a:ea typeface="MS PGothic" panose="020B0600070205080204" charset="-128"/>
            </a:endParaRPr>
          </a:p>
          <a:p>
            <a:pPr>
              <a:buClrTx/>
              <a:buSzTx/>
              <a:buFontTx/>
            </a:pPr>
            <a:r>
              <a:rPr lang="en-US" altLang="ja-JP" sz="3600">
                <a:latin typeface="Verdana" panose="020B0604030504040204" pitchFamily="34" charset="0"/>
                <a:ea typeface="MS PGothic" panose="020B0600070205080204" charset="-128"/>
              </a:rPr>
              <a:t>Earache and Thick speech</a:t>
            </a:r>
            <a:endParaRPr sz="3600">
              <a:latin typeface="Verdana" panose="020B0604030504040204" pitchFamily="34" charset="0"/>
            </a:endParaRPr>
          </a:p>
        </p:txBody>
      </p:sp>
      <p:sp>
        <p:nvSpPr>
          <p:cNvPr id="17412" name="Text Placeholder 17411"/>
          <p:cNvSpPr>
            <a:spLocks noGrp="1"/>
          </p:cNvSpPr>
          <p:nvPr>
            <p:ph type="body" sz="half" idx="2"/>
          </p:nvPr>
        </p:nvSpPr>
        <p:spPr>
          <a:xfrm>
            <a:off x="4648200" y="304800"/>
            <a:ext cx="4114800" cy="5745163"/>
          </a:xfrm>
          <a:ln/>
        </p:spPr>
        <p:txBody>
          <a:bodyPr/>
          <a:p>
            <a:pPr>
              <a:buClrTx/>
              <a:buSzTx/>
              <a:buFontTx/>
              <a:buNone/>
            </a:pPr>
            <a:r>
              <a:rPr lang="en-US" altLang="ja-JP" sz="2800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charset="-128"/>
              </a:rPr>
              <a:t>Signs</a:t>
            </a:r>
            <a:r>
              <a:rPr lang="en-US" altLang="ja-JP" sz="2800">
                <a:latin typeface="Verdana" panose="020B0604030504040204" pitchFamily="34" charset="0"/>
                <a:ea typeface="MS PGothic" panose="020B0600070205080204" charset="-128"/>
              </a:rPr>
              <a:t>:</a:t>
            </a:r>
            <a:endParaRPr lang="en-US" altLang="ja-JP" sz="2800">
              <a:latin typeface="Verdana" panose="020B0604030504040204" pitchFamily="34" charset="0"/>
              <a:ea typeface="MS PGothic" panose="020B0600070205080204" charset="-128"/>
            </a:endParaRPr>
          </a:p>
          <a:p>
            <a:pPr>
              <a:buClrTx/>
              <a:buSzTx/>
              <a:buFontTx/>
            </a:pPr>
            <a:r>
              <a:rPr lang="en-US" altLang="ja-JP">
                <a:latin typeface="Verdana" panose="020B0604030504040204" pitchFamily="34" charset="0"/>
                <a:ea typeface="MS PGothic" panose="020B0600070205080204" charset="-128"/>
              </a:rPr>
              <a:t>Swollen congested tonsils with exudates</a:t>
            </a:r>
            <a:endParaRPr lang="en-US" altLang="ja-JP">
              <a:latin typeface="Verdana" panose="020B0604030504040204" pitchFamily="34" charset="0"/>
              <a:ea typeface="MS PGothic" panose="020B0600070205080204" charset="-128"/>
            </a:endParaRPr>
          </a:p>
          <a:p>
            <a:pPr>
              <a:buClrTx/>
              <a:buSzTx/>
              <a:buFontTx/>
            </a:pPr>
            <a:r>
              <a:rPr lang="en-US" altLang="ja-JP">
                <a:latin typeface="Verdana" panose="020B0604030504040204" pitchFamily="34" charset="0"/>
                <a:ea typeface="MS PGothic" panose="020B0600070205080204" charset="-128"/>
              </a:rPr>
              <a:t>Enlarged tender Jugulo-diagastric lymph nodes</a:t>
            </a:r>
            <a:endParaRPr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Title 22529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  <a:ln/>
        </p:spPr>
        <p:txBody>
          <a:bodyPr anchor="ctr" anchorCtr="0"/>
          <a:p>
            <a:pPr algn="l"/>
            <a:r>
              <a:rPr sz="4000">
                <a:solidFill>
                  <a:srgbClr val="FF0000"/>
                </a:solidFill>
                <a:latin typeface="Verdana" panose="020B0604030504040204" pitchFamily="34" charset="0"/>
              </a:rPr>
              <a:t>Complications-1</a:t>
            </a:r>
            <a:endParaRPr sz="4000">
              <a:solidFill>
                <a:srgbClr val="FF0000"/>
              </a:solidFill>
              <a:latin typeface="Verdana" panose="020B0604030504040204" pitchFamily="34" charset="0"/>
            </a:endParaRPr>
          </a:p>
        </p:txBody>
      </p:sp>
      <p:sp>
        <p:nvSpPr>
          <p:cNvPr id="22531" name="Text Placeholder 22530"/>
          <p:cNvSpPr>
            <a:spLocks noGrp="1"/>
          </p:cNvSpPr>
          <p:nvPr>
            <p:ph type="body" idx="1"/>
          </p:nvPr>
        </p:nvSpPr>
        <p:spPr>
          <a:xfrm>
            <a:off x="228600" y="1371600"/>
            <a:ext cx="5181600" cy="5257800"/>
          </a:xfrm>
          <a:ln/>
        </p:spPr>
        <p:txBody>
          <a:bodyPr/>
          <a:p>
            <a:pPr>
              <a:lnSpc>
                <a:spcPct val="80000"/>
              </a:lnSpc>
            </a:pPr>
            <a:r>
              <a:rPr lang="en-US" altLang="ja-JP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charset="-128"/>
              </a:rPr>
              <a:t>Local:</a:t>
            </a:r>
            <a:r>
              <a:rPr lang="en-US" altLang="ja-JP">
                <a:latin typeface="Verdana" panose="020B0604030504040204" pitchFamily="34" charset="0"/>
                <a:ea typeface="MS PGothic" panose="020B0600070205080204" charset="-128"/>
              </a:rPr>
              <a:t> Severe swelling with spread of infection and inflammation to the hypopharynx and larynx may occasionally produce increasing respiratory obstruction, although it is very rare in uncomplicated acute tonsillitis. </a:t>
            </a:r>
            <a:endParaRPr>
              <a:latin typeface="Verdana" panose="020B0604030504040204" pitchFamily="34" charset="0"/>
            </a:endParaRPr>
          </a:p>
        </p:txBody>
      </p:sp>
      <p:pic>
        <p:nvPicPr>
          <p:cNvPr id="22533" name="Picture 22532" descr="756148-799743-801369-15802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0"/>
            <a:ext cx="3352800" cy="28051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535" name="Picture 22534" descr="cow269arr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895600"/>
            <a:ext cx="2849563" cy="3657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Title 2355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  <a:ln/>
        </p:spPr>
        <p:txBody>
          <a:bodyPr anchor="ctr" anchorCtr="0"/>
          <a:p>
            <a:pPr algn="l"/>
            <a:r>
              <a:rPr sz="4000">
                <a:solidFill>
                  <a:srgbClr val="FF0000"/>
                </a:solidFill>
                <a:latin typeface="Verdana" panose="020B0604030504040204" pitchFamily="34" charset="0"/>
              </a:rPr>
              <a:t>Complications-2</a:t>
            </a:r>
            <a:endParaRPr sz="4000">
              <a:solidFill>
                <a:srgbClr val="FF0000"/>
              </a:solidFill>
              <a:latin typeface="Verdana" panose="020B0604030504040204" pitchFamily="34" charset="0"/>
            </a:endParaRPr>
          </a:p>
        </p:txBody>
      </p:sp>
      <p:sp>
        <p:nvSpPr>
          <p:cNvPr id="23555" name="Text Placeholder 23554"/>
          <p:cNvSpPr>
            <a:spLocks noGrp="1"/>
          </p:cNvSpPr>
          <p:nvPr>
            <p:ph type="body" idx="1"/>
          </p:nvPr>
        </p:nvSpPr>
        <p:spPr>
          <a:xfrm>
            <a:off x="457200" y="914400"/>
            <a:ext cx="8229600" cy="5638800"/>
          </a:xfrm>
          <a:ln/>
        </p:spPr>
        <p:txBody>
          <a:bodyPr/>
          <a:p>
            <a:r>
              <a:rPr lang="en-US" altLang="ja-JP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charset="-128"/>
              </a:rPr>
              <a:t>Peritonsillar abscess</a:t>
            </a:r>
            <a:r>
              <a:rPr lang="en-US" altLang="ja-JP">
                <a:latin typeface="Verdana" panose="020B0604030504040204" pitchFamily="34" charset="0"/>
                <a:ea typeface="MS PGothic" panose="020B0600070205080204" charset="-128"/>
              </a:rPr>
              <a:t> is one of the complications of acute tonsillitis and its development means that infection has spread outside tonsillar capsule.</a:t>
            </a:r>
            <a:endParaRPr lang="en-US" altLang="ja-JP">
              <a:latin typeface="Verdana" panose="020B0604030504040204" pitchFamily="34" charset="0"/>
              <a:ea typeface="MS PGothic" panose="020B0600070205080204" charset="-128"/>
            </a:endParaRPr>
          </a:p>
          <a:p>
            <a:r>
              <a:rPr lang="en-US" altLang="ja-JP">
                <a:latin typeface="Verdana" panose="020B0604030504040204" pitchFamily="34" charset="0"/>
                <a:ea typeface="MS PGothic" panose="020B0600070205080204" charset="-128"/>
              </a:rPr>
              <a:t>Spread of infection from tonsil or more usually from a peritonsillar abscess through the superior constrictor muscle of the pharynx first results in cellulitis of the neck and later in </a:t>
            </a:r>
            <a:r>
              <a:rPr lang="en-US" altLang="ja-JP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charset="-128"/>
              </a:rPr>
              <a:t>parapharyngeal space abscess.</a:t>
            </a:r>
            <a:endParaRPr>
              <a:solidFill>
                <a:srgbClr val="FF0000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Title 24577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  <a:ln/>
        </p:spPr>
        <p:txBody>
          <a:bodyPr anchor="ctr" anchorCtr="0"/>
          <a:p>
            <a:pPr algn="l"/>
            <a:r>
              <a:rPr sz="4000">
                <a:solidFill>
                  <a:srgbClr val="FF0000"/>
                </a:solidFill>
                <a:latin typeface="Verdana" panose="020B0604030504040204" pitchFamily="34" charset="0"/>
              </a:rPr>
              <a:t>Complications-3</a:t>
            </a:r>
            <a:endParaRPr sz="4000">
              <a:solidFill>
                <a:srgbClr val="FF0000"/>
              </a:solidFill>
              <a:latin typeface="Verdana" panose="020B0604030504040204" pitchFamily="34" charset="0"/>
            </a:endParaRPr>
          </a:p>
        </p:txBody>
      </p:sp>
      <p:sp>
        <p:nvSpPr>
          <p:cNvPr id="24579" name="Text Placeholder 24578"/>
          <p:cNvSpPr>
            <a:spLocks noGrp="1"/>
          </p:cNvSpPr>
          <p:nvPr>
            <p:ph type="body" idx="1"/>
          </p:nvPr>
        </p:nvSpPr>
        <p:spPr>
          <a:xfrm>
            <a:off x="457200" y="838200"/>
            <a:ext cx="8229600" cy="5715000"/>
          </a:xfrm>
          <a:ln/>
        </p:spPr>
        <p:txBody>
          <a:bodyPr/>
          <a:p>
            <a:r>
              <a:rPr lang="en-US" altLang="ja-JP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charset="-128"/>
              </a:rPr>
              <a:t>The systemic or general complications</a:t>
            </a:r>
            <a:r>
              <a:rPr lang="en-US" altLang="ja-JP">
                <a:latin typeface="Verdana" panose="020B0604030504040204" pitchFamily="34" charset="0"/>
                <a:ea typeface="MS PGothic" panose="020B0600070205080204" charset="-128"/>
              </a:rPr>
              <a:t> of acute tonsillitis are rare and almost confined to childhood.</a:t>
            </a:r>
            <a:endParaRPr lang="en-US" altLang="ja-JP" u="sng">
              <a:latin typeface="Verdana" panose="020B0604030504040204" pitchFamily="34" charset="0"/>
              <a:ea typeface="MS PGothic" panose="020B0600070205080204" charset="-128"/>
            </a:endParaRPr>
          </a:p>
          <a:p>
            <a:r>
              <a:rPr lang="en-US" altLang="ja-JP" u="sng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charset="-128"/>
              </a:rPr>
              <a:t>Septicemia</a:t>
            </a:r>
            <a:r>
              <a:rPr lang="en-US" altLang="ja-JP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charset="-128"/>
              </a:rPr>
              <a:t>:</a:t>
            </a:r>
            <a:r>
              <a:rPr lang="en-US" altLang="ja-JP">
                <a:latin typeface="Verdana" panose="020B0604030504040204" pitchFamily="34" charset="0"/>
                <a:ea typeface="MS PGothic" panose="020B0600070205080204" charset="-128"/>
              </a:rPr>
              <a:t> Untreated acute tonsillitis can result in septicemia with septic abscesses, septic  arthritis and meningitis </a:t>
            </a:r>
            <a:endParaRPr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Title 2560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  <a:ln/>
        </p:spPr>
        <p:txBody>
          <a:bodyPr anchor="ctr" anchorCtr="0"/>
          <a:p>
            <a:pPr algn="l"/>
            <a:r>
              <a:rPr sz="4000">
                <a:solidFill>
                  <a:srgbClr val="FF0000"/>
                </a:solidFill>
                <a:latin typeface="Verdana" panose="020B0604030504040204" pitchFamily="34" charset="0"/>
              </a:rPr>
              <a:t>Complications-4</a:t>
            </a:r>
            <a:endParaRPr sz="4000">
              <a:solidFill>
                <a:srgbClr val="FF0000"/>
              </a:solidFill>
              <a:latin typeface="Verdana" panose="020B0604030504040204" pitchFamily="34" charset="0"/>
            </a:endParaRPr>
          </a:p>
        </p:txBody>
      </p:sp>
      <p:sp>
        <p:nvSpPr>
          <p:cNvPr id="25603" name="Text Placeholder 25602"/>
          <p:cNvSpPr>
            <a:spLocks noGrp="1"/>
          </p:cNvSpPr>
          <p:nvPr>
            <p:ph type="body" idx="1"/>
          </p:nvPr>
        </p:nvSpPr>
        <p:spPr>
          <a:xfrm>
            <a:off x="457200" y="990600"/>
            <a:ext cx="8229600" cy="5562600"/>
          </a:xfrm>
          <a:ln/>
        </p:spPr>
        <p:txBody>
          <a:bodyPr/>
          <a:p>
            <a:pPr algn="r">
              <a:lnSpc>
                <a:spcPct val="90000"/>
              </a:lnSpc>
              <a:buNone/>
            </a:pPr>
            <a:r>
              <a:rPr lang="en-US" altLang="ja-JP" sz="2800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charset="-128"/>
              </a:rPr>
              <a:t>Acute rheumatic fever and glomerulonephritis:</a:t>
            </a:r>
            <a:endParaRPr lang="en-US" altLang="ja-JP" sz="2800">
              <a:solidFill>
                <a:srgbClr val="FF0000"/>
              </a:solidFill>
              <a:latin typeface="Verdana" panose="020B0604030504040204" pitchFamily="34" charset="0"/>
              <a:ea typeface="MS PGothic" panose="020B0600070205080204" charset="-128"/>
            </a:endParaRPr>
          </a:p>
          <a:p>
            <a:pPr>
              <a:lnSpc>
                <a:spcPct val="90000"/>
              </a:lnSpc>
            </a:pPr>
            <a:r>
              <a:rPr lang="en-US" altLang="ja-JP" sz="2800">
                <a:latin typeface="Verdana" panose="020B0604030504040204" pitchFamily="34" charset="0"/>
                <a:ea typeface="MS PGothic" panose="020B0600070205080204" charset="-128"/>
              </a:rPr>
              <a:t>These diseases are of unknown aetiology and follow infection with Beta-haemolytic streptococcus. The current belief is that antibodies produced against the streptococcus may in some instances cross react with patient’s own tissue. </a:t>
            </a:r>
            <a:endParaRPr lang="en-US" altLang="ja-JP" sz="2800">
              <a:latin typeface="Verdana" panose="020B0604030504040204" pitchFamily="34" charset="0"/>
              <a:ea typeface="MS PGothic" panose="020B0600070205080204" charset="-128"/>
            </a:endParaRPr>
          </a:p>
          <a:p>
            <a:pPr>
              <a:lnSpc>
                <a:spcPct val="90000"/>
              </a:lnSpc>
            </a:pPr>
            <a:r>
              <a:rPr lang="en-US" altLang="ja-JP" sz="2800">
                <a:latin typeface="Verdana" panose="020B0604030504040204" pitchFamily="34" charset="0"/>
                <a:ea typeface="MS PGothic" panose="020B0600070205080204" charset="-128"/>
              </a:rPr>
              <a:t>Thus the effect on tissue may be an arthritis, endocarditis or myocarditis or a dermatitis or rheumatic chorea (inflammation of cerebral cortex and basal ganglia).</a:t>
            </a:r>
            <a:endParaRPr sz="280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2" name="Title 2765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ln/>
        </p:spPr>
        <p:txBody>
          <a:bodyPr anchor="ctr" anchorCtr="0"/>
          <a:p>
            <a:pPr algn="l"/>
            <a:r>
              <a:rPr lang="en-US" altLang="ja-JP" sz="4000" b="1">
                <a:solidFill>
                  <a:srgbClr val="FF0000"/>
                </a:solidFill>
                <a:ea typeface="MS PGothic" panose="020B0600070205080204" charset="-128"/>
              </a:rPr>
              <a:t>Peritonsillar Abscess or Quinsy</a:t>
            </a:r>
            <a:endParaRPr sz="4000" b="1">
              <a:solidFill>
                <a:srgbClr val="FF0000"/>
              </a:solidFill>
            </a:endParaRPr>
          </a:p>
        </p:txBody>
      </p:sp>
      <p:sp>
        <p:nvSpPr>
          <p:cNvPr id="27654" name="Text Placeholder 27653"/>
          <p:cNvSpPr>
            <a:spLocks noGrp="1"/>
          </p:cNvSpPr>
          <p:nvPr>
            <p:ph type="body" sz="half" idx="2"/>
          </p:nvPr>
        </p:nvSpPr>
        <p:spPr>
          <a:xfrm>
            <a:off x="4343400" y="990600"/>
            <a:ext cx="4800600" cy="5638800"/>
          </a:xfrm>
          <a:ln/>
        </p:spPr>
        <p:txBody>
          <a:bodyPr/>
          <a:p>
            <a:pPr>
              <a:lnSpc>
                <a:spcPct val="90000"/>
              </a:lnSpc>
              <a:buClrTx/>
              <a:buSzTx/>
              <a:buFontTx/>
            </a:pPr>
            <a:r>
              <a:rPr lang="en-US" altLang="ja-JP" sz="3000">
                <a:latin typeface="Verdana" panose="020B0604030504040204" pitchFamily="34" charset="0"/>
                <a:ea typeface="MS PGothic" panose="020B0600070205080204" charset="-128"/>
              </a:rPr>
              <a:t>It is a collection of pus between fibrous capsule of the tonsil usually at its upper pole and the superior constrictor muscle of pharynx. </a:t>
            </a:r>
            <a:endParaRPr lang="en-US" altLang="ja-JP" sz="3000">
              <a:latin typeface="Verdana" panose="020B0604030504040204" pitchFamily="34" charset="0"/>
              <a:ea typeface="MS PGothic" panose="020B0600070205080204" charset="-128"/>
            </a:endParaRPr>
          </a:p>
          <a:p>
            <a:pPr>
              <a:lnSpc>
                <a:spcPct val="90000"/>
              </a:lnSpc>
              <a:buClrTx/>
              <a:buSzTx/>
              <a:buFontTx/>
            </a:pPr>
            <a:r>
              <a:rPr lang="en-US" altLang="ja-JP" sz="3000">
                <a:latin typeface="Verdana" panose="020B0604030504040204" pitchFamily="34" charset="0"/>
                <a:ea typeface="MS PGothic" panose="020B0600070205080204" charset="-128"/>
              </a:rPr>
              <a:t>It usually occurs as a complication of the acute tonsillitis or it may apparently arise </a:t>
            </a:r>
            <a:r>
              <a:rPr lang="en-US" altLang="ja-JP" sz="3000" i="1">
                <a:latin typeface="Verdana" panose="020B0604030504040204" pitchFamily="34" charset="0"/>
                <a:ea typeface="MS PGothic" panose="020B0600070205080204" charset="-128"/>
              </a:rPr>
              <a:t>de novo</a:t>
            </a:r>
            <a:r>
              <a:rPr lang="en-US" altLang="ja-JP" sz="3000">
                <a:latin typeface="Verdana" panose="020B0604030504040204" pitchFamily="34" charset="0"/>
                <a:ea typeface="MS PGothic" panose="020B0600070205080204" charset="-128"/>
              </a:rPr>
              <a:t> with no preceding tonsillitis</a:t>
            </a:r>
            <a:r>
              <a:rPr lang="en-US" altLang="ja-JP" sz="3000">
                <a:ea typeface="MS PGothic" panose="020B0600070205080204" charset="-128"/>
              </a:rPr>
              <a:t>.</a:t>
            </a:r>
            <a:endParaRPr sz="3000"/>
          </a:p>
        </p:txBody>
      </p:sp>
      <p:pic>
        <p:nvPicPr>
          <p:cNvPr id="27657" name="Content Placeholder 27656" descr="Tonsillitis"/>
          <p:cNvPicPr>
            <a:picLocks noGrp="1"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0" y="2133600"/>
            <a:ext cx="4648200" cy="2909888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Title 29697"/>
          <p:cNvSpPr>
            <a:spLocks noGrp="1"/>
          </p:cNvSpPr>
          <p:nvPr>
            <p:ph type="title"/>
          </p:nvPr>
        </p:nvSpPr>
        <p:spPr>
          <a:ln/>
        </p:spPr>
        <p:txBody>
          <a:bodyPr anchor="ctr" anchorCtr="0"/>
          <a:p>
            <a:pPr algn="l"/>
            <a:r>
              <a:rPr lang="en-US" altLang="ja-JP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charset="-128"/>
              </a:rPr>
              <a:t>Bacteriology</a:t>
            </a:r>
            <a:endParaRPr>
              <a:solidFill>
                <a:srgbClr val="FF0000"/>
              </a:solidFill>
              <a:latin typeface="Verdana" panose="020B0604030504040204" pitchFamily="34" charset="0"/>
            </a:endParaRPr>
          </a:p>
        </p:txBody>
      </p:sp>
      <p:sp>
        <p:nvSpPr>
          <p:cNvPr id="29699" name="Text Placeholder 29698"/>
          <p:cNvSpPr>
            <a:spLocks noGrp="1"/>
          </p:cNvSpPr>
          <p:nvPr>
            <p:ph type="body" idx="1"/>
          </p:nvPr>
        </p:nvSpPr>
        <p:spPr>
          <a:xfrm>
            <a:off x="533400" y="1219200"/>
            <a:ext cx="8229600" cy="5135563"/>
          </a:xfrm>
          <a:ln/>
        </p:spPr>
        <p:txBody>
          <a:bodyPr/>
          <a:p>
            <a:r>
              <a:rPr lang="en-US" altLang="ja-JP" sz="3600">
                <a:latin typeface="Verdana" panose="020B0604030504040204" pitchFamily="34" charset="0"/>
                <a:ea typeface="MS PGothic" panose="020B0600070205080204" charset="-128"/>
              </a:rPr>
              <a:t>The bacteriology of acute tonsillitis and peritonsillar abscess is different although one is a complication of the other. </a:t>
            </a:r>
            <a:endParaRPr lang="en-US" altLang="ja-JP" sz="3600">
              <a:latin typeface="Verdana" panose="020B0604030504040204" pitchFamily="34" charset="0"/>
              <a:ea typeface="MS PGothic" panose="020B0600070205080204" charset="-128"/>
            </a:endParaRPr>
          </a:p>
          <a:p>
            <a:r>
              <a:rPr lang="en-US" altLang="ja-JP" sz="3600">
                <a:latin typeface="Verdana" panose="020B0604030504040204" pitchFamily="34" charset="0"/>
                <a:ea typeface="MS PGothic" panose="020B0600070205080204" charset="-128"/>
              </a:rPr>
              <a:t>The </a:t>
            </a:r>
            <a:r>
              <a:rPr lang="en-US" altLang="ja-JP" sz="3600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charset="-128"/>
              </a:rPr>
              <a:t>bacteriology of the quinsy is characterized by mixed flora with multiple organisms both aerobic and anaerobic</a:t>
            </a:r>
            <a:r>
              <a:rPr lang="en-US" altLang="ja-JP">
                <a:solidFill>
                  <a:srgbClr val="FF0000"/>
                </a:solidFill>
                <a:ea typeface="MS PGothic" panose="020B0600070205080204" charset="-128"/>
              </a:rPr>
              <a:t>. 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4" name="Title 30723"/>
          <p:cNvSpPr>
            <a:spLocks noGrp="1"/>
          </p:cNvSpPr>
          <p:nvPr>
            <p:ph type="title"/>
          </p:nvPr>
        </p:nvSpPr>
        <p:spPr>
          <a:xfrm>
            <a:off x="228600" y="152400"/>
            <a:ext cx="8229600" cy="563563"/>
          </a:xfrm>
          <a:ln/>
        </p:spPr>
        <p:txBody>
          <a:bodyPr anchor="ctr" anchorCtr="0"/>
          <a:p>
            <a:pPr algn="l"/>
            <a:r>
              <a:rPr lang="en-US" altLang="ja-JP" sz="4000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charset="-128"/>
              </a:rPr>
              <a:t>Clinical Features</a:t>
            </a:r>
            <a:r>
              <a:rPr lang="en-US" altLang="ja-JP" sz="4000">
                <a:solidFill>
                  <a:srgbClr val="FF0000"/>
                </a:solidFill>
                <a:ea typeface="MS PGothic" panose="020B0600070205080204" charset="-128"/>
              </a:rPr>
              <a:t> </a:t>
            </a:r>
            <a:endParaRPr sz="4000">
              <a:solidFill>
                <a:srgbClr val="FF0000"/>
              </a:solidFill>
            </a:endParaRPr>
          </a:p>
        </p:txBody>
      </p:sp>
      <p:sp>
        <p:nvSpPr>
          <p:cNvPr id="30725" name="Text Placeholder 30724"/>
          <p:cNvSpPr>
            <a:spLocks noGrp="1"/>
          </p:cNvSpPr>
          <p:nvPr>
            <p:ph type="body" sz="half" idx="1"/>
          </p:nvPr>
        </p:nvSpPr>
        <p:spPr>
          <a:xfrm>
            <a:off x="228600" y="685800"/>
            <a:ext cx="8686800" cy="5867400"/>
          </a:xfrm>
          <a:ln/>
        </p:spPr>
        <p:txBody>
          <a:bodyPr/>
          <a:p>
            <a:pPr>
              <a:buClrTx/>
              <a:buSzTx/>
              <a:buFontTx/>
            </a:pPr>
            <a:r>
              <a:rPr lang="en-US" altLang="ja-JP" sz="3000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charset="-128"/>
              </a:rPr>
              <a:t>Fit and young adult</a:t>
            </a:r>
            <a:r>
              <a:rPr lang="en-US" altLang="ja-JP" sz="3000">
                <a:latin typeface="Verdana" panose="020B0604030504040204" pitchFamily="34" charset="0"/>
                <a:ea typeface="MS PGothic" panose="020B0600070205080204" charset="-128"/>
              </a:rPr>
              <a:t> with a prior history of repeated attacks of acute tonsillitis.</a:t>
            </a:r>
            <a:endParaRPr lang="en-US" altLang="ja-JP" sz="3000">
              <a:latin typeface="Verdana" panose="020B0604030504040204" pitchFamily="34" charset="0"/>
              <a:ea typeface="MS PGothic" panose="020B0600070205080204" charset="-128"/>
            </a:endParaRPr>
          </a:p>
          <a:p>
            <a:pPr>
              <a:buClrTx/>
              <a:buSzTx/>
              <a:buFontTx/>
            </a:pPr>
            <a:r>
              <a:rPr lang="en-US" altLang="ja-JP" sz="3000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charset="-128"/>
              </a:rPr>
              <a:t>Preceded by a sore throat</a:t>
            </a:r>
            <a:r>
              <a:rPr lang="en-US" altLang="ja-JP" sz="3000">
                <a:latin typeface="Verdana" panose="020B0604030504040204" pitchFamily="34" charset="0"/>
                <a:ea typeface="MS PGothic" panose="020B0600070205080204" charset="-128"/>
              </a:rPr>
              <a:t> for 2-3 days which gradually becomes severe and unilateral.</a:t>
            </a:r>
            <a:r>
              <a:rPr lang="en-US" altLang="ja-JP" sz="3000">
                <a:ea typeface="MS PGothic" panose="020B0600070205080204" charset="-128"/>
              </a:rPr>
              <a:t> </a:t>
            </a:r>
            <a:endParaRPr lang="en-US" altLang="ja-JP" sz="3000">
              <a:ea typeface="MS PGothic" panose="020B0600070205080204" charset="-128"/>
            </a:endParaRPr>
          </a:p>
          <a:p>
            <a:pPr>
              <a:buClrTx/>
              <a:buSzTx/>
              <a:buFontTx/>
            </a:pPr>
            <a:r>
              <a:rPr lang="en-US" altLang="ja-JP" sz="3000">
                <a:latin typeface="Verdana" panose="020B0604030504040204" pitchFamily="34" charset="0"/>
                <a:ea typeface="MS PGothic" panose="020B0600070205080204" charset="-128"/>
              </a:rPr>
              <a:t>At this stage </a:t>
            </a:r>
            <a:r>
              <a:rPr lang="en-US" altLang="ja-JP" sz="3000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charset="-128"/>
              </a:rPr>
              <a:t>patient is ill with fever</a:t>
            </a:r>
            <a:r>
              <a:rPr lang="en-US" altLang="ja-JP" sz="3000">
                <a:latin typeface="Verdana" panose="020B0604030504040204" pitchFamily="34" charset="0"/>
                <a:ea typeface="MS PGothic" panose="020B0600070205080204" charset="-128"/>
              </a:rPr>
              <a:t>, often a headache and </a:t>
            </a:r>
            <a:r>
              <a:rPr lang="en-US" altLang="ja-JP" sz="3000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charset="-128"/>
              </a:rPr>
              <a:t>severe throat pain made worse by swallowing</a:t>
            </a:r>
            <a:r>
              <a:rPr lang="en-US" altLang="ja-JP" sz="3000">
                <a:latin typeface="Verdana" panose="020B0604030504040204" pitchFamily="34" charset="0"/>
                <a:ea typeface="MS PGothic" panose="020B0600070205080204" charset="-128"/>
              </a:rPr>
              <a:t>. </a:t>
            </a:r>
            <a:endParaRPr lang="en-US" altLang="ja-JP" sz="3000">
              <a:latin typeface="Verdana" panose="020B0604030504040204" pitchFamily="34" charset="0"/>
              <a:ea typeface="MS PGothic" panose="020B0600070205080204" charset="-128"/>
            </a:endParaRPr>
          </a:p>
          <a:p>
            <a:pPr>
              <a:buClrTx/>
              <a:buSzTx/>
              <a:buFontTx/>
            </a:pPr>
            <a:r>
              <a:rPr lang="en-US" altLang="ja-JP" sz="3000">
                <a:latin typeface="Verdana" panose="020B0604030504040204" pitchFamily="34" charset="0"/>
                <a:ea typeface="MS PGothic" panose="020B0600070205080204" charset="-128"/>
              </a:rPr>
              <a:t>There might be </a:t>
            </a:r>
            <a:r>
              <a:rPr lang="en-US" altLang="ja-JP" sz="3000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charset="-128"/>
              </a:rPr>
              <a:t>referred otalgia</a:t>
            </a:r>
            <a:r>
              <a:rPr lang="en-US" altLang="ja-JP" sz="3000">
                <a:latin typeface="Verdana" panose="020B0604030504040204" pitchFamily="34" charset="0"/>
                <a:ea typeface="MS PGothic" panose="020B0600070205080204" charset="-128"/>
              </a:rPr>
              <a:t>, pain and swelling in the neck due to infective lymphadenopathy. </a:t>
            </a:r>
            <a:r>
              <a:rPr lang="en-US" altLang="ja-JP" sz="3000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charset="-128"/>
              </a:rPr>
              <a:t>The patient’s voice</a:t>
            </a:r>
            <a:r>
              <a:rPr lang="en-US" altLang="ja-JP" sz="2800">
                <a:latin typeface="Verdana" panose="020B0604030504040204" pitchFamily="34" charset="0"/>
                <a:ea typeface="MS PGothic" panose="020B0600070205080204" charset="-128"/>
              </a:rPr>
              <a:t> develops a characteristic </a:t>
            </a:r>
            <a:r>
              <a:rPr lang="en-US" altLang="ja-JP" sz="2800" u="sng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charset="-128"/>
              </a:rPr>
              <a:t>‘plummy</a:t>
            </a:r>
            <a:r>
              <a:rPr lang="en-US" altLang="ja-JP" sz="2800">
                <a:latin typeface="Verdana" panose="020B0604030504040204" pitchFamily="34" charset="0"/>
                <a:ea typeface="MS PGothic" panose="020B0600070205080204" charset="-128"/>
              </a:rPr>
              <a:t>’ quality.</a:t>
            </a:r>
            <a:endParaRPr sz="280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Title 32769"/>
          <p:cNvSpPr>
            <a:spLocks noGrp="1"/>
          </p:cNvSpPr>
          <p:nvPr>
            <p:ph type="title"/>
          </p:nvPr>
        </p:nvSpPr>
        <p:spPr>
          <a:ln/>
        </p:spPr>
        <p:txBody>
          <a:bodyPr anchor="ctr" anchorCtr="0"/>
          <a:p>
            <a:pPr algn="l"/>
            <a:r>
              <a:rPr lang="en-US" altLang="ja-JP" sz="4000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charset="-128"/>
              </a:rPr>
              <a:t>Signs</a:t>
            </a:r>
            <a:r>
              <a:rPr lang="en-US" altLang="ja-JP" sz="4000">
                <a:latin typeface="Verdana" panose="020B0604030504040204" pitchFamily="34" charset="0"/>
                <a:ea typeface="MS PGothic" panose="020B0600070205080204" charset="-128"/>
              </a:rPr>
              <a:t> </a:t>
            </a:r>
            <a:br>
              <a:rPr lang="en-US" altLang="ja-JP" sz="4000">
                <a:ea typeface="MS PGothic" panose="020B0600070205080204" charset="-128"/>
              </a:rPr>
            </a:br>
            <a:endParaRPr sz="4000"/>
          </a:p>
        </p:txBody>
      </p:sp>
      <p:sp>
        <p:nvSpPr>
          <p:cNvPr id="32771" name="Text Placeholder 32770"/>
          <p:cNvSpPr>
            <a:spLocks noGrp="1"/>
          </p:cNvSpPr>
          <p:nvPr>
            <p:ph type="body" sz="half" idx="1"/>
          </p:nvPr>
        </p:nvSpPr>
        <p:spPr>
          <a:xfrm>
            <a:off x="457200" y="838200"/>
            <a:ext cx="4800600" cy="5791200"/>
          </a:xfrm>
          <a:ln/>
        </p:spPr>
        <p:txBody>
          <a:bodyPr/>
          <a:p>
            <a:pPr>
              <a:buClrTx/>
              <a:buSzTx/>
              <a:buFontTx/>
            </a:pPr>
            <a:r>
              <a:rPr lang="en-US" altLang="ja-JP" sz="2800">
                <a:latin typeface="Verdana" panose="020B0604030504040204" pitchFamily="34" charset="0"/>
                <a:ea typeface="MS PGothic" panose="020B0600070205080204" charset="-128"/>
              </a:rPr>
              <a:t>Ill looking patient</a:t>
            </a:r>
            <a:endParaRPr lang="en-US" altLang="ja-JP" sz="2800">
              <a:latin typeface="Verdana" panose="020B0604030504040204" pitchFamily="34" charset="0"/>
              <a:ea typeface="MS PGothic" panose="020B0600070205080204" charset="-128"/>
            </a:endParaRPr>
          </a:p>
          <a:p>
            <a:pPr>
              <a:buClrTx/>
              <a:buSzTx/>
              <a:buFontTx/>
            </a:pPr>
            <a:r>
              <a:rPr lang="en-US" altLang="ja-JP" sz="2800">
                <a:latin typeface="Verdana" panose="020B0604030504040204" pitchFamily="34" charset="0"/>
                <a:ea typeface="MS PGothic" panose="020B0600070205080204" charset="-128"/>
              </a:rPr>
              <a:t>Pyrexia</a:t>
            </a:r>
            <a:endParaRPr lang="en-US" altLang="ja-JP" sz="2800">
              <a:latin typeface="Verdana" panose="020B0604030504040204" pitchFamily="34" charset="0"/>
              <a:ea typeface="MS PGothic" panose="020B0600070205080204" charset="-128"/>
            </a:endParaRPr>
          </a:p>
          <a:p>
            <a:pPr>
              <a:buClrTx/>
              <a:buSzTx/>
              <a:buFontTx/>
            </a:pPr>
            <a:r>
              <a:rPr lang="en-US" altLang="ja-JP" sz="2800">
                <a:latin typeface="Verdana" panose="020B0604030504040204" pitchFamily="34" charset="0"/>
                <a:ea typeface="MS PGothic" panose="020B0600070205080204" charset="-128"/>
              </a:rPr>
              <a:t>Often with severe trismus</a:t>
            </a:r>
            <a:endParaRPr lang="en-US" altLang="ja-JP" sz="2800">
              <a:latin typeface="Verdana" panose="020B0604030504040204" pitchFamily="34" charset="0"/>
              <a:ea typeface="MS PGothic" panose="020B0600070205080204" charset="-128"/>
            </a:endParaRPr>
          </a:p>
          <a:p>
            <a:pPr>
              <a:buClrTx/>
              <a:buSzTx/>
              <a:buFontTx/>
            </a:pPr>
            <a:r>
              <a:rPr lang="en-US" altLang="ja-JP" sz="2800">
                <a:latin typeface="Verdana" panose="020B0604030504040204" pitchFamily="34" charset="0"/>
                <a:ea typeface="MS PGothic" panose="020B0600070205080204" charset="-128"/>
              </a:rPr>
              <a:t>Striking asymmetry with oedema and hyperaemia of the soft palate.</a:t>
            </a:r>
            <a:endParaRPr lang="en-US" altLang="ja-JP" sz="2800">
              <a:latin typeface="Verdana" panose="020B0604030504040204" pitchFamily="34" charset="0"/>
              <a:ea typeface="MS PGothic" panose="020B0600070205080204" charset="-128"/>
            </a:endParaRPr>
          </a:p>
          <a:p>
            <a:pPr>
              <a:buClrTx/>
              <a:buSzTx/>
              <a:buFontTx/>
            </a:pPr>
            <a:r>
              <a:rPr lang="en-US" altLang="ja-JP" sz="2800">
                <a:latin typeface="Verdana" panose="020B0604030504040204" pitchFamily="34" charset="0"/>
                <a:ea typeface="MS PGothic" panose="020B0600070205080204" charset="-128"/>
              </a:rPr>
              <a:t>Enlarged hyperaemic and displaced tonsil</a:t>
            </a:r>
            <a:endParaRPr lang="en-US" altLang="ja-JP" sz="2800">
              <a:latin typeface="Verdana" panose="020B0604030504040204" pitchFamily="34" charset="0"/>
              <a:ea typeface="MS PGothic" panose="020B0600070205080204" charset="-128"/>
            </a:endParaRPr>
          </a:p>
          <a:p>
            <a:pPr>
              <a:buClrTx/>
              <a:buSzTx/>
              <a:buFontTx/>
            </a:pPr>
            <a:r>
              <a:rPr lang="en-US" altLang="ja-JP" sz="2800">
                <a:latin typeface="Verdana" panose="020B0604030504040204" pitchFamily="34" charset="0"/>
                <a:ea typeface="MS PGothic" panose="020B0600070205080204" charset="-128"/>
              </a:rPr>
              <a:t>Usually enlarged lymph nodes in JD region.</a:t>
            </a:r>
            <a:endParaRPr sz="2800">
              <a:latin typeface="Verdana" panose="020B0604030504040204" pitchFamily="34" charset="0"/>
            </a:endParaRPr>
          </a:p>
        </p:txBody>
      </p:sp>
      <p:pic>
        <p:nvPicPr>
          <p:cNvPr id="32774" name="Content Placeholder 32773" descr="quinsy1"/>
          <p:cNvPicPr>
            <a:picLocks noGrp="1"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4953000" y="1828800"/>
            <a:ext cx="3886200" cy="3497263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Title 34817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563563"/>
          </a:xfrm>
          <a:ln/>
        </p:spPr>
        <p:txBody>
          <a:bodyPr anchor="ctr" anchorCtr="0"/>
          <a:p>
            <a:pPr algn="l"/>
            <a:r>
              <a:rPr lang="en-US" altLang="ja-JP" sz="4000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charset="-128"/>
              </a:rPr>
              <a:t>Treatment</a:t>
            </a:r>
            <a:endParaRPr sz="4000">
              <a:solidFill>
                <a:srgbClr val="FF0000"/>
              </a:solidFill>
              <a:latin typeface="Verdana" panose="020B0604030504040204" pitchFamily="34" charset="0"/>
            </a:endParaRPr>
          </a:p>
        </p:txBody>
      </p:sp>
      <p:sp>
        <p:nvSpPr>
          <p:cNvPr id="34819" name="Text Placeholder 34818"/>
          <p:cNvSpPr>
            <a:spLocks noGrp="1"/>
          </p:cNvSpPr>
          <p:nvPr>
            <p:ph type="body" idx="1"/>
          </p:nvPr>
        </p:nvSpPr>
        <p:spPr>
          <a:xfrm>
            <a:off x="457200" y="838200"/>
            <a:ext cx="8229600" cy="5638800"/>
          </a:xfrm>
          <a:ln/>
        </p:spPr>
        <p:txBody>
          <a:bodyPr/>
          <a:p>
            <a:r>
              <a:rPr lang="en-US" altLang="ja-JP">
                <a:ea typeface="MS PGothic" panose="020B0600070205080204" charset="-128"/>
              </a:rPr>
              <a:t>Preferably admitted to hospital and treated with analgesics and antibiotics. </a:t>
            </a:r>
            <a:endParaRPr lang="en-US" altLang="ja-JP">
              <a:ea typeface="MS PGothic" panose="020B0600070205080204" charset="-128"/>
            </a:endParaRPr>
          </a:p>
          <a:p>
            <a:r>
              <a:rPr lang="en-US" altLang="ja-JP">
                <a:ea typeface="MS PGothic" panose="020B0600070205080204" charset="-128"/>
              </a:rPr>
              <a:t>In a patient with an early peritonsillar abscess which is really a peritonsillar cellulitis incision and drainage are not recommended. </a:t>
            </a:r>
            <a:endParaRPr lang="en-US" altLang="ja-JP">
              <a:ea typeface="MS PGothic" panose="020B0600070205080204" charset="-128"/>
            </a:endParaRPr>
          </a:p>
        </p:txBody>
      </p:sp>
      <p:pic>
        <p:nvPicPr>
          <p:cNvPr id="34821" name="Picture 34820" descr="See full size image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886200"/>
            <a:ext cx="3505200" cy="24590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4823" name="Picture 34822" descr="188616-1366313-194863-13972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3886200"/>
            <a:ext cx="3314700" cy="24272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72" name="Text Placeholder 36871"/>
          <p:cNvSpPr>
            <a:spLocks noGrp="1"/>
          </p:cNvSpPr>
          <p:nvPr>
            <p:ph type="body" sz="half" idx="1"/>
          </p:nvPr>
        </p:nvSpPr>
        <p:spPr>
          <a:xfrm>
            <a:off x="457200" y="304800"/>
            <a:ext cx="4800600" cy="6172200"/>
          </a:xfrm>
          <a:ln/>
        </p:spPr>
        <p:txBody>
          <a:bodyPr/>
          <a:p>
            <a:pPr>
              <a:buClrTx/>
              <a:buSzTx/>
              <a:buFontTx/>
            </a:pPr>
            <a:r>
              <a:rPr lang="en-US" altLang="ja-JP" sz="3000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charset="-128"/>
              </a:rPr>
              <a:t>Indications for I/D include marked bulging of soft palate or failure of an assumed PTab to respond to adequate antibiotics. This is undertaken at the point of maximum bulge</a:t>
            </a:r>
            <a:r>
              <a:rPr lang="en-US" altLang="ja-JP" sz="3000">
                <a:latin typeface="Verdana" panose="020B0604030504040204" pitchFamily="34" charset="0"/>
                <a:ea typeface="MS PGothic" panose="020B0600070205080204" charset="-128"/>
              </a:rPr>
              <a:t>.  </a:t>
            </a:r>
            <a:endParaRPr lang="en-US" altLang="ja-JP" sz="3000">
              <a:latin typeface="Verdana" panose="020B0604030504040204" pitchFamily="34" charset="0"/>
              <a:ea typeface="MS PGothic" panose="020B0600070205080204" charset="-128"/>
            </a:endParaRPr>
          </a:p>
          <a:p>
            <a:pPr>
              <a:buClrTx/>
              <a:buSzTx/>
              <a:buFontTx/>
            </a:pPr>
            <a:r>
              <a:rPr lang="en-US" altLang="ja-JP" sz="3000">
                <a:latin typeface="Verdana" panose="020B0604030504040204" pitchFamily="34" charset="0"/>
                <a:ea typeface="MS PGothic" panose="020B0600070205080204" charset="-128"/>
              </a:rPr>
              <a:t>Interval tonsillectomy after 6 weeks.</a:t>
            </a:r>
            <a:endParaRPr lang="en-US" altLang="ja-JP" sz="3000">
              <a:latin typeface="Verdana" panose="020B0604030504040204" pitchFamily="34" charset="0"/>
              <a:ea typeface="MS PGothic" panose="020B0600070205080204" charset="-128"/>
            </a:endParaRPr>
          </a:p>
          <a:p>
            <a:pPr>
              <a:buClrTx/>
              <a:buSzTx/>
              <a:buFontTx/>
            </a:pPr>
            <a:r>
              <a:rPr lang="en-US" altLang="ja-JP" sz="3000">
                <a:latin typeface="Verdana" panose="020B0604030504040204" pitchFamily="34" charset="0"/>
                <a:ea typeface="MS PGothic" panose="020B0600070205080204" charset="-128"/>
              </a:rPr>
              <a:t>Abscess tonsillectomy.</a:t>
            </a:r>
            <a:endParaRPr sz="3000">
              <a:latin typeface="Verdana" panose="020B0604030504040204" pitchFamily="34" charset="0"/>
            </a:endParaRPr>
          </a:p>
          <a:p>
            <a:pPr>
              <a:buClrTx/>
              <a:buSzTx/>
              <a:buFontTx/>
            </a:pPr>
            <a:endParaRPr sz="3000">
              <a:latin typeface="Verdana" panose="020B0604030504040204" pitchFamily="34" charset="0"/>
            </a:endParaRPr>
          </a:p>
        </p:txBody>
      </p:sp>
      <p:pic>
        <p:nvPicPr>
          <p:cNvPr id="36875" name="Content Placeholder 36874" descr="Fig-143-Point-of-puncture-for-tonsillar-abscess"/>
          <p:cNvPicPr>
            <a:picLocks noGrp="1"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5562600" y="1219200"/>
            <a:ext cx="3241675" cy="41148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Title 35841"/>
          <p:cNvSpPr>
            <a:spLocks noGrp="1"/>
          </p:cNvSpPr>
          <p:nvPr>
            <p:ph type="title"/>
          </p:nvPr>
        </p:nvSpPr>
        <p:spPr>
          <a:ln/>
        </p:spPr>
        <p:txBody>
          <a:bodyPr anchor="ctr" anchorCtr="0"/>
          <a:p>
            <a:pPr algn="l"/>
            <a:r>
              <a:rPr lang="en-US" altLang="ja-JP" u="sng">
                <a:solidFill>
                  <a:srgbClr val="FF0000"/>
                </a:solidFill>
                <a:latin typeface="Verdana" panose="020B0604030504040204" pitchFamily="34" charset="0"/>
                <a:ea typeface="MS PGothic" panose="020B0600070205080204" charset="-128"/>
              </a:rPr>
              <a:t>Complications</a:t>
            </a:r>
            <a:endParaRPr u="sng">
              <a:solidFill>
                <a:srgbClr val="FF0000"/>
              </a:solidFill>
              <a:latin typeface="Verdana" panose="020B0604030504040204" pitchFamily="34" charset="0"/>
            </a:endParaRPr>
          </a:p>
        </p:txBody>
      </p:sp>
      <p:sp>
        <p:nvSpPr>
          <p:cNvPr id="35843" name="Text Placeholder 35842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4114800" cy="5029200"/>
          </a:xfrm>
          <a:ln/>
        </p:spPr>
        <p:txBody>
          <a:bodyPr/>
          <a:p>
            <a:pPr>
              <a:lnSpc>
                <a:spcPct val="90000"/>
              </a:lnSpc>
            </a:pPr>
            <a:endParaRPr lang="en-US" altLang="ja-JP">
              <a:ea typeface="MS PGothic" panose="020B0600070205080204" charset="-128"/>
            </a:endParaRPr>
          </a:p>
          <a:p>
            <a:pPr>
              <a:lnSpc>
                <a:spcPct val="90000"/>
              </a:lnSpc>
            </a:pPr>
            <a:r>
              <a:rPr lang="en-US" altLang="ja-JP">
                <a:latin typeface="Verdana" panose="020B0604030504040204" pitchFamily="34" charset="0"/>
                <a:ea typeface="MS PGothic" panose="020B0600070205080204" charset="-128"/>
              </a:rPr>
              <a:t>Quinsy is a potentially lethal condition</a:t>
            </a:r>
            <a:endParaRPr lang="en-US" altLang="ja-JP">
              <a:latin typeface="Verdana" panose="020B0604030504040204" pitchFamily="34" charset="0"/>
              <a:ea typeface="MS PGothic" panose="020B0600070205080204" charset="-128"/>
            </a:endParaRPr>
          </a:p>
          <a:p>
            <a:pPr>
              <a:lnSpc>
                <a:spcPct val="90000"/>
              </a:lnSpc>
            </a:pPr>
            <a:r>
              <a:rPr lang="en-US" altLang="ja-JP">
                <a:latin typeface="Verdana" panose="020B0604030504040204" pitchFamily="34" charset="0"/>
                <a:ea typeface="MS PGothic" panose="020B0600070205080204" charset="-128"/>
              </a:rPr>
              <a:t>Pharyngeal &amp; Laryngeal oedema</a:t>
            </a:r>
            <a:endParaRPr lang="en-US" altLang="ja-JP">
              <a:latin typeface="Verdana" panose="020B0604030504040204" pitchFamily="34" charset="0"/>
              <a:ea typeface="MS PGothic" panose="020B0600070205080204" charset="-128"/>
            </a:endParaRPr>
          </a:p>
          <a:p>
            <a:pPr>
              <a:lnSpc>
                <a:spcPct val="90000"/>
              </a:lnSpc>
            </a:pPr>
            <a:r>
              <a:rPr lang="en-US" altLang="ja-JP">
                <a:latin typeface="Verdana" panose="020B0604030504040204" pitchFamily="34" charset="0"/>
                <a:ea typeface="MS PGothic" panose="020B0600070205080204" charset="-128"/>
              </a:rPr>
              <a:t>Parapharyngeal space abscess</a:t>
            </a:r>
            <a:r>
              <a:rPr lang="en-US" altLang="ja-JP">
                <a:ea typeface="MS PGothic" panose="020B0600070205080204" charset="-128"/>
              </a:rPr>
              <a:t> </a:t>
            </a:r>
          </a:p>
        </p:txBody>
      </p:sp>
      <p:pic>
        <p:nvPicPr>
          <p:cNvPr id="35844" name="Picture 35843" descr="DX10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7588" y="1752600"/>
            <a:ext cx="3603625" cy="3962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5912</Words>
  <Application>WPS Presentation</Application>
  <PresentationFormat/>
  <Paragraphs>152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4" baseType="lpstr">
      <vt:lpstr>Arial</vt:lpstr>
      <vt:lpstr>SimSun</vt:lpstr>
      <vt:lpstr>Wingdings</vt:lpstr>
      <vt:lpstr>Verdana</vt:lpstr>
      <vt:lpstr>MS PGothic</vt:lpstr>
      <vt:lpstr>Microsoft YaHei</vt:lpstr>
      <vt:lpstr>Arial Unicode MS</vt:lpstr>
      <vt:lpstr>Calibri</vt:lpstr>
      <vt:lpstr>Default Design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Tonsils </dc:title>
  <dc:creator>Dinesh Sharma</dc:creator>
  <cp:lastModifiedBy>DURU</cp:lastModifiedBy>
  <cp:revision>21</cp:revision>
  <dcterms:created xsi:type="dcterms:W3CDTF">2010-03-02T13:00:09Z</dcterms:created>
  <dcterms:modified xsi:type="dcterms:W3CDTF">2026-04-16T18:56:25Z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61EFEAB649E546EFA5F5010902C3907E_13</vt:lpwstr>
  </property>
  <property fmtid="{D5CDD505-2E9C-101B-9397-08002B2CF9AE}" pid="3" name="KSOProductBuildVer">
    <vt:lpwstr>1033-12.2.0.23196</vt:lpwstr>
  </property>
</Properties>
</file>