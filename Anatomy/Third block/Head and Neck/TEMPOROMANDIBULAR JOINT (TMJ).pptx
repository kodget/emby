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73" r:id="rId8"/>
    <p:sldId id="261" r:id="rId9"/>
    <p:sldId id="272" r:id="rId10"/>
    <p:sldId id="262" r:id="rId11"/>
    <p:sldId id="274" r:id="rId12"/>
    <p:sldId id="264" r:id="rId13"/>
    <p:sldId id="275" r:id="rId14"/>
    <p:sldId id="265" r:id="rId15"/>
    <p:sldId id="266" r:id="rId16"/>
    <p:sldId id="276" r:id="rId17"/>
    <p:sldId id="267" r:id="rId18"/>
    <p:sldId id="289" r:id="rId19"/>
    <p:sldId id="268" r:id="rId20"/>
    <p:sldId id="269" r:id="rId21"/>
    <p:sldId id="270" r:id="rId22"/>
    <p:sldId id="271"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9" d="100"/>
          <a:sy n="89" d="100"/>
        </p:scale>
        <p:origin x="43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8027270-03C3-4DDC-99D9-CD4AD5FBB9A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C251DD-53D2-4DE0-9FCD-878EBED40BA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88027270-03C3-4DDC-99D9-CD4AD5FBB9A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C251DD-53D2-4DE0-9FCD-878EBED40BA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88027270-03C3-4DDC-99D9-CD4AD5FBB9A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C251DD-53D2-4DE0-9FCD-878EBED40BA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88027270-03C3-4DDC-99D9-CD4AD5FBB9A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C251DD-53D2-4DE0-9FCD-878EBED40BA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88027270-03C3-4DDC-99D9-CD4AD5FBB9A2}"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EC251DD-53D2-4DE0-9FCD-878EBED40BA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8027270-03C3-4DDC-99D9-CD4AD5FBB9A2}"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EC251DD-53D2-4DE0-9FCD-878EBED40BA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027270-03C3-4DDC-99D9-CD4AD5FBB9A2}"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EC251DD-53D2-4DE0-9FCD-878EBED40BA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88027270-03C3-4DDC-99D9-CD4AD5FBB9A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C251DD-53D2-4DE0-9FCD-878EBED40BA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88027270-03C3-4DDC-99D9-CD4AD5FBB9A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C251DD-53D2-4DE0-9FCD-878EBED40BA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88027270-03C3-4DDC-99D9-CD4AD5FBB9A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C251DD-53D2-4DE0-9FCD-878EBED40BA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88027270-03C3-4DDC-99D9-CD4AD5FBB9A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C251DD-53D2-4DE0-9FCD-878EBED40BAF}"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88027270-03C3-4DDC-99D9-CD4AD5FBB9A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C251DD-53D2-4DE0-9FCD-878EBED40BA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027270-03C3-4DDC-99D9-CD4AD5FBB9A2}"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C251DD-53D2-4DE0-9FCD-878EBED40BA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hyperlink" Target="https://www.kenhub.com/en/library/anatomy/suprahyoid-muscles" TargetMode="External"/><Relationship Id="rId6" Type="http://schemas.openxmlformats.org/officeDocument/2006/relationships/hyperlink" Target="https://www.kenhub.com/en/library/anatomy/infrahyoid-muscles" TargetMode="External"/><Relationship Id="rId5" Type="http://schemas.openxmlformats.org/officeDocument/2006/relationships/hyperlink" Target="https://www.kenhub.com/en/library/anatomy/medial-pterygoid-muscle" TargetMode="External"/><Relationship Id="rId4" Type="http://schemas.openxmlformats.org/officeDocument/2006/relationships/hyperlink" Target="https://www.kenhub.com/en/library/anatomy/lateral-pterygoid-muscle" TargetMode="External"/><Relationship Id="rId3" Type="http://schemas.openxmlformats.org/officeDocument/2006/relationships/hyperlink" Target="https://www.kenhub.com/en/library/anatomy/masseter-muscle" TargetMode="External"/><Relationship Id="rId2" Type="http://schemas.openxmlformats.org/officeDocument/2006/relationships/hyperlink" Target="https://www.kenhub.com/en/library/anatomy/temporal-muscle" TargetMode="External"/><Relationship Id="rId1" Type="http://schemas.openxmlformats.org/officeDocument/2006/relationships/hyperlink" Target="https://www.kenhub.com/en/library/anatomy/the-muscles-of-mastication" TargetMode="Externa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hyperlink" Target="https://www.kenhub.com/en/library/anatomy/mylohyoid-muscle" TargetMode="External"/><Relationship Id="rId2" Type="http://schemas.openxmlformats.org/officeDocument/2006/relationships/hyperlink" Target="https://www.kenhub.com/en/library/anatomy/geniohyoid-muscle" TargetMode="External"/><Relationship Id="rId1" Type="http://schemas.openxmlformats.org/officeDocument/2006/relationships/hyperlink" Target="https://www.kenhub.com/en/library/anatomy/digastric-muscle" TargetMode="Externa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https://www.kenhub.com/en/library/anatomy/auriculotemporal-nerve" TargetMode="Externa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9" Type="http://schemas.openxmlformats.org/officeDocument/2006/relationships/hyperlink" Target="https://my.clevelandclinic.org/health/diseases/22010-malocclusion" TargetMode="External"/><Relationship Id="rId8" Type="http://schemas.openxmlformats.org/officeDocument/2006/relationships/hyperlink" Target="https://my.clevelandclinic.org/health/diseases/14164-tinnitus" TargetMode="External"/><Relationship Id="rId7" Type="http://schemas.openxmlformats.org/officeDocument/2006/relationships/hyperlink" Target="https://my.clevelandclinic.org/health/diseases/10957-toothache" TargetMode="External"/><Relationship Id="rId6" Type="http://schemas.openxmlformats.org/officeDocument/2006/relationships/hyperlink" Target="https://my.clevelandclinic.org/health/diseases/22710-ear-ache-ear-pain" TargetMode="External"/><Relationship Id="rId5" Type="http://schemas.openxmlformats.org/officeDocument/2006/relationships/hyperlink" Target="https://my.clevelandclinic.org/health/diseases/5005-migraine-headaches" TargetMode="External"/><Relationship Id="rId4" Type="http://schemas.openxmlformats.org/officeDocument/2006/relationships/hyperlink" Target="https://my.clevelandclinic.org/health/diseases/9639-headaches" TargetMode="External"/><Relationship Id="rId3" Type="http://schemas.openxmlformats.org/officeDocument/2006/relationships/hyperlink" Target="https://my.clevelandclinic.org/health/symptoms/24665-jaw-popping" TargetMode="External"/><Relationship Id="rId2" Type="http://schemas.openxmlformats.org/officeDocument/2006/relationships/hyperlink" Target="https://my.clevelandclinic.org/health/symptoms/21179-neck-pain" TargetMode="External"/><Relationship Id="rId10" Type="http://schemas.openxmlformats.org/officeDocument/2006/relationships/slideLayout" Target="../slideLayouts/slideLayout7.xml"/><Relationship Id="rId1" Type="http://schemas.openxmlformats.org/officeDocument/2006/relationships/hyperlink" Target="https://my.clevelandclinic.org/health/symptoms/24447-jaw-pain"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3999" y="1122363"/>
            <a:ext cx="10072643" cy="2387600"/>
          </a:xfrm>
        </p:spPr>
        <p:txBody>
          <a:bodyPr/>
          <a:lstStyle/>
          <a:p>
            <a:r>
              <a:rPr lang="en-GB" b="1" dirty="0" smtClean="0">
                <a:solidFill>
                  <a:srgbClr val="C00000"/>
                </a:solidFill>
                <a:latin typeface="Times New Roman" panose="02020603050405020304" pitchFamily="18" charset="0"/>
                <a:cs typeface="Times New Roman" panose="02020603050405020304" pitchFamily="18" charset="0"/>
              </a:rPr>
              <a:t>TEMPOROMANDIBULAR JOINT (TMJ)</a:t>
            </a:r>
            <a:endParaRPr lang="en-US" b="1" dirty="0">
              <a:solidFill>
                <a:srgbClr val="C00000"/>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lstStyle/>
          <a:p>
            <a:r>
              <a:rPr lang="en-GB" dirty="0" smtClean="0">
                <a:latin typeface="Times New Roman" panose="02020603050405020304" pitchFamily="18" charset="0"/>
                <a:cs typeface="Times New Roman" panose="02020603050405020304" pitchFamily="18" charset="0"/>
              </a:rPr>
              <a:t>DR. F.O OPOOLA</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6000" b="1" dirty="0" smtClean="0">
                <a:solidFill>
                  <a:srgbClr val="C00000"/>
                </a:solidFill>
                <a:latin typeface="Times New Roman" panose="02020603050405020304" pitchFamily="18" charset="0"/>
                <a:cs typeface="Times New Roman" panose="02020603050405020304" pitchFamily="18" charset="0"/>
              </a:rPr>
              <a:t>INTRODUCTION</a:t>
            </a:r>
            <a:endParaRPr lang="en-US" sz="6000"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1825624"/>
            <a:ext cx="12192000" cy="5032375"/>
          </a:xfrm>
        </p:spPr>
        <p:txBody>
          <a:bodyPr>
            <a:normAutofit/>
          </a:bodyPr>
          <a:lstStyle/>
          <a:p>
            <a:pPr>
              <a:buFont typeface="Wingdings" panose="05000000000000000000" pitchFamily="2" charset="2"/>
              <a:buChar char="v"/>
            </a:pPr>
            <a:r>
              <a:rPr lang="en-US" sz="3200" dirty="0">
                <a:latin typeface="Times New Roman" panose="02020603050405020304" pitchFamily="18" charset="0"/>
                <a:cs typeface="Times New Roman" panose="02020603050405020304" pitchFamily="18" charset="0"/>
              </a:rPr>
              <a:t>The </a:t>
            </a:r>
            <a:r>
              <a:rPr lang="en-US" sz="3200" dirty="0" err="1">
                <a:latin typeface="Times New Roman" panose="02020603050405020304" pitchFamily="18" charset="0"/>
                <a:cs typeface="Times New Roman" panose="02020603050405020304" pitchFamily="18" charset="0"/>
              </a:rPr>
              <a:t>temporomandibular</a:t>
            </a:r>
            <a:r>
              <a:rPr lang="en-US" sz="3200" dirty="0">
                <a:latin typeface="Times New Roman" panose="02020603050405020304" pitchFamily="18" charset="0"/>
                <a:cs typeface="Times New Roman" panose="02020603050405020304" pitchFamily="18" charset="0"/>
              </a:rPr>
              <a:t> joint (TMJ) is a hinge type </a:t>
            </a:r>
            <a:r>
              <a:rPr lang="en-US" sz="3200" u="sng" dirty="0">
                <a:latin typeface="Times New Roman" panose="02020603050405020304" pitchFamily="18" charset="0"/>
                <a:cs typeface="Times New Roman" panose="02020603050405020304" pitchFamily="18" charset="0"/>
              </a:rPr>
              <a:t>synovial joint</a:t>
            </a:r>
            <a:r>
              <a:rPr lang="en-US" sz="3200" dirty="0">
                <a:latin typeface="Times New Roman" panose="02020603050405020304" pitchFamily="18" charset="0"/>
                <a:cs typeface="Times New Roman" panose="02020603050405020304" pitchFamily="18" charset="0"/>
              </a:rPr>
              <a:t> that connects the </a:t>
            </a:r>
            <a:r>
              <a:rPr lang="en-US" sz="3200" u="sng" dirty="0">
                <a:latin typeface="Times New Roman" panose="02020603050405020304" pitchFamily="18" charset="0"/>
                <a:cs typeface="Times New Roman" panose="02020603050405020304" pitchFamily="18" charset="0"/>
              </a:rPr>
              <a:t>mandible</a:t>
            </a:r>
            <a:r>
              <a:rPr lang="en-US" sz="3200" dirty="0">
                <a:latin typeface="Times New Roman" panose="02020603050405020304" pitchFamily="18" charset="0"/>
                <a:cs typeface="Times New Roman" panose="02020603050405020304" pitchFamily="18" charset="0"/>
              </a:rPr>
              <a:t> to the rest of the </a:t>
            </a:r>
            <a:r>
              <a:rPr lang="en-US" sz="3200" u="sng" dirty="0">
                <a:latin typeface="Times New Roman" panose="02020603050405020304" pitchFamily="18" charset="0"/>
                <a:cs typeface="Times New Roman" panose="02020603050405020304" pitchFamily="18" charset="0"/>
              </a:rPr>
              <a:t>skull</a:t>
            </a:r>
            <a:r>
              <a:rPr lang="en-US" sz="3200" dirty="0">
                <a:latin typeface="Times New Roman" panose="02020603050405020304" pitchFamily="18" charset="0"/>
                <a:cs typeface="Times New Roman" panose="02020603050405020304" pitchFamily="18" charset="0"/>
              </a:rPr>
              <a:t>. </a:t>
            </a:r>
            <a:endParaRPr lang="en-US" sz="3200" dirty="0" smtClean="0">
              <a:latin typeface="Times New Roman" panose="02020603050405020304" pitchFamily="18" charset="0"/>
              <a:cs typeface="Times New Roman" panose="02020603050405020304" pitchFamily="18" charset="0"/>
            </a:endParaRPr>
          </a:p>
          <a:p>
            <a:pPr marL="0" indent="0">
              <a:buNone/>
            </a:pPr>
            <a:endParaRPr lang="en-US" sz="32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3200" dirty="0" smtClean="0">
                <a:latin typeface="Times New Roman" panose="02020603050405020304" pitchFamily="18" charset="0"/>
                <a:cs typeface="Times New Roman" panose="02020603050405020304" pitchFamily="18" charset="0"/>
              </a:rPr>
              <a:t>More </a:t>
            </a:r>
            <a:r>
              <a:rPr lang="en-US" sz="3200" dirty="0">
                <a:latin typeface="Times New Roman" panose="02020603050405020304" pitchFamily="18" charset="0"/>
                <a:cs typeface="Times New Roman" panose="02020603050405020304" pitchFamily="18" charset="0"/>
              </a:rPr>
              <a:t>specifically, it is an articulation between the mandibular fossa and articular tubercle of the </a:t>
            </a:r>
            <a:r>
              <a:rPr lang="en-US" sz="3200" u="sng" dirty="0">
                <a:latin typeface="Times New Roman" panose="02020603050405020304" pitchFamily="18" charset="0"/>
                <a:cs typeface="Times New Roman" panose="02020603050405020304" pitchFamily="18" charset="0"/>
              </a:rPr>
              <a:t>temporal bone</a:t>
            </a:r>
            <a:r>
              <a:rPr lang="en-US" sz="3200" dirty="0">
                <a:latin typeface="Times New Roman" panose="02020603050405020304" pitchFamily="18" charset="0"/>
                <a:cs typeface="Times New Roman" panose="02020603050405020304" pitchFamily="18" charset="0"/>
              </a:rPr>
              <a:t>, and the condylar process of the mandible. </a:t>
            </a:r>
            <a:endParaRPr lang="en-US" sz="3200" dirty="0" smtClean="0">
              <a:latin typeface="Times New Roman" panose="02020603050405020304" pitchFamily="18" charset="0"/>
              <a:cs typeface="Times New Roman" panose="02020603050405020304" pitchFamily="18" charset="0"/>
            </a:endParaRPr>
          </a:p>
          <a:p>
            <a:pPr marL="0" indent="0">
              <a:buNone/>
            </a:pPr>
            <a:endParaRPr lang="en-US" sz="32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3200" dirty="0" smtClean="0">
                <a:latin typeface="Times New Roman" panose="02020603050405020304" pitchFamily="18" charset="0"/>
                <a:cs typeface="Times New Roman" panose="02020603050405020304" pitchFamily="18" charset="0"/>
              </a:rPr>
              <a:t>Even </a:t>
            </a:r>
            <a:r>
              <a:rPr lang="en-US" sz="3200" dirty="0">
                <a:latin typeface="Times New Roman" panose="02020603050405020304" pitchFamily="18" charset="0"/>
                <a:cs typeface="Times New Roman" panose="02020603050405020304" pitchFamily="18" charset="0"/>
              </a:rPr>
              <a:t>though the TMJ is classified as a synovial-type joint, it is atypical in that its articular surfaces are lined by </a:t>
            </a:r>
            <a:r>
              <a:rPr lang="en-US" sz="3200" b="1" dirty="0">
                <a:latin typeface="Times New Roman" panose="02020603050405020304" pitchFamily="18" charset="0"/>
                <a:cs typeface="Times New Roman" panose="02020603050405020304" pitchFamily="18" charset="0"/>
              </a:rPr>
              <a:t>fibrocartilage</a:t>
            </a:r>
            <a:r>
              <a:rPr lang="en-US" sz="3200" dirty="0">
                <a:latin typeface="Times New Roman" panose="02020603050405020304" pitchFamily="18" charset="0"/>
                <a:cs typeface="Times New Roman" panose="02020603050405020304" pitchFamily="18" charset="0"/>
              </a:rPr>
              <a:t> rather than </a:t>
            </a:r>
            <a:r>
              <a:rPr lang="en-US" sz="3200" b="1" u="sng" dirty="0">
                <a:latin typeface="Times New Roman" panose="02020603050405020304" pitchFamily="18" charset="0"/>
                <a:cs typeface="Times New Roman" panose="02020603050405020304" pitchFamily="18" charset="0"/>
              </a:rPr>
              <a:t>hyaline cartilage</a:t>
            </a:r>
            <a:r>
              <a:rPr lang="en-US" sz="3200" dirty="0">
                <a:latin typeface="Times New Roman" panose="02020603050405020304" pitchFamily="18" charset="0"/>
                <a:cs typeface="Times New Roman" panose="02020603050405020304" pitchFamily="18" charset="0"/>
              </a:rPr>
              <a:t>. </a:t>
            </a:r>
            <a:endParaRPr lang="en-US"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880217"/>
          </a:xfrm>
        </p:spPr>
        <p:txBody>
          <a:bodyPr>
            <a:noAutofit/>
          </a:bodyPr>
          <a:lstStyle/>
          <a:p>
            <a:r>
              <a:rPr lang="en-GB" sz="6000" dirty="0" smtClean="0"/>
              <a:t> </a:t>
            </a:r>
            <a:r>
              <a:rPr lang="en-US" sz="6000" b="1" dirty="0" err="1">
                <a:solidFill>
                  <a:srgbClr val="C00000"/>
                </a:solidFill>
                <a:latin typeface="Times New Roman" panose="02020603050405020304" pitchFamily="18" charset="0"/>
                <a:cs typeface="Times New Roman" panose="02020603050405020304" pitchFamily="18" charset="0"/>
              </a:rPr>
              <a:t>T</a:t>
            </a:r>
            <a:r>
              <a:rPr lang="en-US" sz="6000" b="1" dirty="0" err="1" smtClean="0">
                <a:solidFill>
                  <a:srgbClr val="C00000"/>
                </a:solidFill>
                <a:latin typeface="Times New Roman" panose="02020603050405020304" pitchFamily="18" charset="0"/>
                <a:cs typeface="Times New Roman" panose="02020603050405020304" pitchFamily="18" charset="0"/>
              </a:rPr>
              <a:t>emporomandibular</a:t>
            </a:r>
            <a:r>
              <a:rPr lang="en-US" sz="6000" b="1" dirty="0" smtClean="0">
                <a:solidFill>
                  <a:srgbClr val="C00000"/>
                </a:solidFill>
                <a:latin typeface="Times New Roman" panose="02020603050405020304" pitchFamily="18" charset="0"/>
                <a:cs typeface="Times New Roman" panose="02020603050405020304" pitchFamily="18" charset="0"/>
              </a:rPr>
              <a:t> joint (TMJ)</a:t>
            </a:r>
            <a:endParaRPr lang="en-US" sz="6000" b="1" dirty="0">
              <a:solidFill>
                <a:srgbClr val="C00000"/>
              </a:solidFill>
            </a:endParaRPr>
          </a:p>
        </p:txBody>
      </p:sp>
      <p:sp>
        <p:nvSpPr>
          <p:cNvPr id="3" name="Content Placeholder 2"/>
          <p:cNvSpPr>
            <a:spLocks noGrp="1"/>
          </p:cNvSpPr>
          <p:nvPr>
            <p:ph idx="1"/>
          </p:nvPr>
        </p:nvSpPr>
        <p:spPr>
          <a:xfrm>
            <a:off x="102549" y="1333144"/>
            <a:ext cx="12192000" cy="5794048"/>
          </a:xfrm>
        </p:spPr>
        <p:txBody>
          <a:bodyPr>
            <a:noAutofit/>
          </a:bodyPr>
          <a:lstStyle/>
          <a:p>
            <a:pPr marL="0" indent="0">
              <a:buNone/>
            </a:pPr>
            <a:r>
              <a:rPr lang="en-US" sz="3200" b="1" dirty="0" smtClean="0">
                <a:solidFill>
                  <a:srgbClr val="C00000"/>
                </a:solidFill>
                <a:latin typeface="Times New Roman" panose="02020603050405020304" pitchFamily="18" charset="0"/>
                <a:cs typeface="Times New Roman" panose="02020603050405020304" pitchFamily="18" charset="0"/>
              </a:rPr>
              <a:t>STRUCTURE</a:t>
            </a:r>
            <a:r>
              <a:rPr lang="en-US" sz="3200" dirty="0" smtClean="0">
                <a:latin typeface="Times New Roman" panose="02020603050405020304" pitchFamily="18" charset="0"/>
                <a:cs typeface="Times New Roman" panose="02020603050405020304" pitchFamily="18" charset="0"/>
              </a:rPr>
              <a:t>; The </a:t>
            </a:r>
            <a:r>
              <a:rPr lang="en-US" sz="3200" dirty="0">
                <a:latin typeface="Times New Roman" panose="02020603050405020304" pitchFamily="18" charset="0"/>
                <a:cs typeface="Times New Roman" panose="02020603050405020304" pitchFamily="18" charset="0"/>
              </a:rPr>
              <a:t>main components are the joint capsule, articular disc, mandibular condyles, articular surface of the temporal bone, </a:t>
            </a:r>
            <a:r>
              <a:rPr lang="en-US" sz="3200" dirty="0" err="1">
                <a:latin typeface="Times New Roman" panose="02020603050405020304" pitchFamily="18" charset="0"/>
                <a:cs typeface="Times New Roman" panose="02020603050405020304" pitchFamily="18" charset="0"/>
              </a:rPr>
              <a:t>temporomandibular</a:t>
            </a:r>
            <a:r>
              <a:rPr lang="en-US" sz="3200" dirty="0">
                <a:latin typeface="Times New Roman" panose="02020603050405020304" pitchFamily="18" charset="0"/>
                <a:cs typeface="Times New Roman" panose="02020603050405020304" pitchFamily="18" charset="0"/>
              </a:rPr>
              <a:t> ligament, </a:t>
            </a:r>
            <a:r>
              <a:rPr lang="en-US" sz="3200" dirty="0" err="1">
                <a:latin typeface="Times New Roman" panose="02020603050405020304" pitchFamily="18" charset="0"/>
                <a:cs typeface="Times New Roman" panose="02020603050405020304" pitchFamily="18" charset="0"/>
              </a:rPr>
              <a:t>stylomandibular</a:t>
            </a:r>
            <a:r>
              <a:rPr lang="en-US" sz="3200" dirty="0">
                <a:latin typeface="Times New Roman" panose="02020603050405020304" pitchFamily="18" charset="0"/>
                <a:cs typeface="Times New Roman" panose="02020603050405020304" pitchFamily="18" charset="0"/>
              </a:rPr>
              <a:t> ligament, </a:t>
            </a:r>
            <a:r>
              <a:rPr lang="en-US" sz="3200" dirty="0" err="1">
                <a:latin typeface="Times New Roman" panose="02020603050405020304" pitchFamily="18" charset="0"/>
                <a:cs typeface="Times New Roman" panose="02020603050405020304" pitchFamily="18" charset="0"/>
              </a:rPr>
              <a:t>sphenomandibular</a:t>
            </a:r>
            <a:r>
              <a:rPr lang="en-US" sz="3200" dirty="0">
                <a:latin typeface="Times New Roman" panose="02020603050405020304" pitchFamily="18" charset="0"/>
                <a:cs typeface="Times New Roman" panose="02020603050405020304" pitchFamily="18" charset="0"/>
              </a:rPr>
              <a:t> ligament, and lateral </a:t>
            </a:r>
            <a:r>
              <a:rPr lang="en-US" sz="3200" dirty="0" err="1">
                <a:latin typeface="Times New Roman" panose="02020603050405020304" pitchFamily="18" charset="0"/>
                <a:cs typeface="Times New Roman" panose="02020603050405020304" pitchFamily="18" charset="0"/>
              </a:rPr>
              <a:t>pterygoid</a:t>
            </a:r>
            <a:r>
              <a:rPr lang="en-US" sz="3200" dirty="0">
                <a:latin typeface="Times New Roman" panose="02020603050405020304" pitchFamily="18" charset="0"/>
                <a:cs typeface="Times New Roman" panose="02020603050405020304" pitchFamily="18" charset="0"/>
              </a:rPr>
              <a:t> muscle.</a:t>
            </a:r>
            <a:endParaRPr lang="en-US" sz="3200" dirty="0" smtClean="0">
              <a:latin typeface="Times New Roman" panose="02020603050405020304" pitchFamily="18" charset="0"/>
              <a:cs typeface="Times New Roman" panose="02020603050405020304" pitchFamily="18" charset="0"/>
            </a:endParaRPr>
          </a:p>
          <a:p>
            <a:endParaRPr lang="en-US" sz="3200" dirty="0">
              <a:latin typeface="Times New Roman" panose="02020603050405020304" pitchFamily="18" charset="0"/>
              <a:cs typeface="Times New Roman" panose="02020603050405020304" pitchFamily="18" charset="0"/>
            </a:endParaRPr>
          </a:p>
          <a:p>
            <a:pPr marL="0" indent="0">
              <a:buNone/>
            </a:pPr>
            <a:r>
              <a:rPr lang="en-US" sz="3200" b="1" dirty="0" err="1" smtClean="0">
                <a:solidFill>
                  <a:srgbClr val="C00000"/>
                </a:solidFill>
                <a:latin typeface="Times New Roman" panose="02020603050405020304" pitchFamily="18" charset="0"/>
                <a:cs typeface="Times New Roman" panose="02020603050405020304" pitchFamily="18" charset="0"/>
              </a:rPr>
              <a:t>FUNCTION</a:t>
            </a:r>
            <a:r>
              <a:rPr lang="en-US" sz="3200" dirty="0" err="1" smtClean="0">
                <a:latin typeface="Times New Roman" panose="02020603050405020304" pitchFamily="18" charset="0"/>
                <a:cs typeface="Times New Roman" panose="02020603050405020304" pitchFamily="18" charset="0"/>
              </a:rPr>
              <a:t>;The</a:t>
            </a:r>
            <a:r>
              <a:rPr lang="en-US" sz="3200" dirty="0" smtClean="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main function of the </a:t>
            </a:r>
            <a:r>
              <a:rPr lang="en-US" sz="3200" dirty="0" err="1">
                <a:latin typeface="Times New Roman" panose="02020603050405020304" pitchFamily="18" charset="0"/>
                <a:cs typeface="Times New Roman" panose="02020603050405020304" pitchFamily="18" charset="0"/>
              </a:rPr>
              <a:t>temporomandibular</a:t>
            </a:r>
            <a:r>
              <a:rPr lang="en-US" sz="3200" dirty="0">
                <a:latin typeface="Times New Roman" panose="02020603050405020304" pitchFamily="18" charset="0"/>
                <a:cs typeface="Times New Roman" panose="02020603050405020304" pitchFamily="18" charset="0"/>
              </a:rPr>
              <a:t> joint is to facilitate movements of the lower jaw. This joint allows a range of </a:t>
            </a:r>
            <a:r>
              <a:rPr lang="en-US" sz="3200" u="sng" dirty="0">
                <a:latin typeface="Times New Roman" panose="02020603050405020304" pitchFamily="18" charset="0"/>
                <a:cs typeface="Times New Roman" panose="02020603050405020304" pitchFamily="18" charset="0"/>
              </a:rPr>
              <a:t>movements</a:t>
            </a:r>
            <a:r>
              <a:rPr lang="en-US" sz="3200" dirty="0">
                <a:latin typeface="Times New Roman" panose="02020603050405020304" pitchFamily="18" charset="0"/>
                <a:cs typeface="Times New Roman" panose="02020603050405020304" pitchFamily="18" charset="0"/>
              </a:rPr>
              <a:t> of the lower jaw, namely translational movements (protrusion/retraction and lateral deviation) and rotational movements (elevation/depression)</a:t>
            </a:r>
            <a:endParaRPr lang="en-US"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0" y="512747"/>
          <a:ext cx="12192000" cy="6059158"/>
        </p:xfrm>
        <a:graphic>
          <a:graphicData uri="http://schemas.openxmlformats.org/drawingml/2006/table">
            <a:tbl>
              <a:tblPr/>
              <a:tblGrid>
                <a:gridCol w="3126154"/>
                <a:gridCol w="9065846"/>
              </a:tblGrid>
              <a:tr h="586585">
                <a:tc>
                  <a:txBody>
                    <a:bodyPr/>
                    <a:lstStyle/>
                    <a:p>
                      <a:pPr fontAlgn="t"/>
                      <a:r>
                        <a:rPr lang="en-US" sz="2000" b="0" dirty="0">
                          <a:solidFill>
                            <a:srgbClr val="495354"/>
                          </a:solidFill>
                          <a:effectLst/>
                          <a:latin typeface="Times New Roman" panose="02020603050405020304" pitchFamily="18" charset="0"/>
                          <a:cs typeface="Times New Roman" panose="02020603050405020304" pitchFamily="18" charset="0"/>
                        </a:rPr>
                        <a:t>Articular surfaces</a:t>
                      </a:r>
                      <a:endParaRPr lang="en-US" sz="2000" b="0" dirty="0">
                        <a:solidFill>
                          <a:srgbClr val="495354"/>
                        </a:solidFill>
                        <a:effectLst/>
                        <a:latin typeface="Times New Roman" panose="02020603050405020304" pitchFamily="18" charset="0"/>
                        <a:cs typeface="Times New Roman" panose="02020603050405020304" pitchFamily="18" charset="0"/>
                      </a:endParaRPr>
                    </a:p>
                  </a:txBody>
                  <a:tcPr marL="52808" marR="52808" marT="35205" marB="35205">
                    <a:lnL>
                      <a:noFill/>
                    </a:lnL>
                    <a:lnR w="7620" cap="flat" cmpd="sng" algn="ctr">
                      <a:solidFill>
                        <a:srgbClr val="D8D8D8"/>
                      </a:solidFill>
                      <a:prstDash val="solid"/>
                      <a:round/>
                      <a:headEnd type="none" w="med" len="med"/>
                      <a:tailEnd type="none" w="med" len="med"/>
                    </a:lnR>
                    <a:lnT w="7620" cap="flat" cmpd="sng" algn="ctr">
                      <a:solidFill>
                        <a:srgbClr val="D8D8D8"/>
                      </a:solidFill>
                      <a:prstDash val="solid"/>
                      <a:round/>
                      <a:headEnd type="none" w="med" len="med"/>
                      <a:tailEnd type="none" w="med" len="med"/>
                    </a:lnT>
                    <a:lnB w="7620" cap="flat" cmpd="sng" algn="ctr">
                      <a:solidFill>
                        <a:srgbClr val="D8D8D8"/>
                      </a:solidFill>
                      <a:prstDash val="solid"/>
                      <a:round/>
                      <a:headEnd type="none" w="med" len="med"/>
                      <a:tailEnd type="none" w="med" len="med"/>
                    </a:lnB>
                    <a:solidFill>
                      <a:srgbClr val="F7F7F7"/>
                    </a:solidFill>
                  </a:tcPr>
                </a:tc>
                <a:tc>
                  <a:txBody>
                    <a:bodyPr/>
                    <a:lstStyle/>
                    <a:p>
                      <a:pPr fontAlgn="t"/>
                      <a:r>
                        <a:rPr lang="en-US" sz="2000" b="0">
                          <a:solidFill>
                            <a:srgbClr val="495354"/>
                          </a:solidFill>
                          <a:effectLst/>
                          <a:latin typeface="Times New Roman" panose="02020603050405020304" pitchFamily="18" charset="0"/>
                          <a:cs typeface="Times New Roman" panose="02020603050405020304" pitchFamily="18" charset="0"/>
                        </a:rPr>
                        <a:t>Temporal bone:</a:t>
                      </a:r>
                      <a:r>
                        <a:rPr lang="en-US" sz="2000">
                          <a:solidFill>
                            <a:srgbClr val="495354"/>
                          </a:solidFill>
                          <a:effectLst/>
                          <a:latin typeface="Times New Roman" panose="02020603050405020304" pitchFamily="18" charset="0"/>
                          <a:cs typeface="Times New Roman" panose="02020603050405020304" pitchFamily="18" charset="0"/>
                        </a:rPr>
                        <a:t> Mandibular fossa and articular tubercle</a:t>
                      </a:r>
                      <a:br>
                        <a:rPr lang="en-US" sz="2000" b="0">
                          <a:solidFill>
                            <a:srgbClr val="495354"/>
                          </a:solidFill>
                          <a:effectLst/>
                          <a:latin typeface="Times New Roman" panose="02020603050405020304" pitchFamily="18" charset="0"/>
                          <a:cs typeface="Times New Roman" panose="02020603050405020304" pitchFamily="18" charset="0"/>
                        </a:rPr>
                      </a:br>
                      <a:r>
                        <a:rPr lang="en-US" sz="2000" b="0">
                          <a:solidFill>
                            <a:srgbClr val="495354"/>
                          </a:solidFill>
                          <a:effectLst/>
                          <a:latin typeface="Times New Roman" panose="02020603050405020304" pitchFamily="18" charset="0"/>
                          <a:cs typeface="Times New Roman" panose="02020603050405020304" pitchFamily="18" charset="0"/>
                        </a:rPr>
                        <a:t>Mandible</a:t>
                      </a:r>
                      <a:r>
                        <a:rPr lang="en-US" sz="2000">
                          <a:solidFill>
                            <a:srgbClr val="495354"/>
                          </a:solidFill>
                          <a:effectLst/>
                          <a:latin typeface="Times New Roman" panose="02020603050405020304" pitchFamily="18" charset="0"/>
                          <a:cs typeface="Times New Roman" panose="02020603050405020304" pitchFamily="18" charset="0"/>
                        </a:rPr>
                        <a:t>: Condylar process</a:t>
                      </a:r>
                      <a:endParaRPr lang="en-US" sz="2000">
                        <a:solidFill>
                          <a:srgbClr val="495354"/>
                        </a:solidFill>
                        <a:effectLst/>
                        <a:latin typeface="Times New Roman" panose="02020603050405020304" pitchFamily="18" charset="0"/>
                        <a:cs typeface="Times New Roman" panose="02020603050405020304" pitchFamily="18" charset="0"/>
                      </a:endParaRPr>
                    </a:p>
                  </a:txBody>
                  <a:tcPr marL="52808" marR="52808" marT="35205" marB="35205">
                    <a:lnL w="7620" cap="flat" cmpd="sng" algn="ctr">
                      <a:solidFill>
                        <a:srgbClr val="D8D8D8"/>
                      </a:solidFill>
                      <a:prstDash val="solid"/>
                      <a:round/>
                      <a:headEnd type="none" w="med" len="med"/>
                      <a:tailEnd type="none" w="med" len="med"/>
                    </a:lnL>
                    <a:lnR w="7620" cap="flat" cmpd="sng" algn="ctr">
                      <a:solidFill>
                        <a:srgbClr val="D8D8D8"/>
                      </a:solidFill>
                      <a:prstDash val="solid"/>
                      <a:round/>
                      <a:headEnd type="none" w="med" len="med"/>
                      <a:tailEnd type="none" w="med" len="med"/>
                    </a:lnR>
                    <a:lnT w="7620" cap="flat" cmpd="sng" algn="ctr">
                      <a:solidFill>
                        <a:srgbClr val="D8D8D8"/>
                      </a:solidFill>
                      <a:prstDash val="solid"/>
                      <a:round/>
                      <a:headEnd type="none" w="med" len="med"/>
                      <a:tailEnd type="none" w="med" len="med"/>
                    </a:lnT>
                    <a:lnB w="7620" cap="flat" cmpd="sng" algn="ctr">
                      <a:solidFill>
                        <a:srgbClr val="D8D8D8"/>
                      </a:solidFill>
                      <a:prstDash val="solid"/>
                      <a:round/>
                      <a:headEnd type="none" w="med" len="med"/>
                      <a:tailEnd type="none" w="med" len="med"/>
                    </a:lnB>
                    <a:solidFill>
                      <a:srgbClr val="F7F7F7"/>
                    </a:solidFill>
                  </a:tcPr>
                </a:tc>
              </a:tr>
              <a:tr h="751563">
                <a:tc>
                  <a:txBody>
                    <a:bodyPr/>
                    <a:lstStyle/>
                    <a:p>
                      <a:pPr fontAlgn="t"/>
                      <a:r>
                        <a:rPr lang="en-US" sz="2000" b="0">
                          <a:solidFill>
                            <a:srgbClr val="495354"/>
                          </a:solidFill>
                          <a:effectLst/>
                          <a:latin typeface="Times New Roman" panose="02020603050405020304" pitchFamily="18" charset="0"/>
                          <a:cs typeface="Times New Roman" panose="02020603050405020304" pitchFamily="18" charset="0"/>
                        </a:rPr>
                        <a:t>Main components</a:t>
                      </a:r>
                      <a:endParaRPr lang="en-US" sz="2000" b="0">
                        <a:solidFill>
                          <a:srgbClr val="495354"/>
                        </a:solidFill>
                        <a:effectLst/>
                        <a:latin typeface="Times New Roman" panose="02020603050405020304" pitchFamily="18" charset="0"/>
                        <a:cs typeface="Times New Roman" panose="02020603050405020304" pitchFamily="18" charset="0"/>
                      </a:endParaRPr>
                    </a:p>
                  </a:txBody>
                  <a:tcPr marL="52808" marR="52808" marT="35205" marB="35205">
                    <a:lnL>
                      <a:noFill/>
                    </a:lnL>
                    <a:lnR w="7620" cap="flat" cmpd="sng" algn="ctr">
                      <a:solidFill>
                        <a:srgbClr val="D8D8D8"/>
                      </a:solidFill>
                      <a:prstDash val="solid"/>
                      <a:round/>
                      <a:headEnd type="none" w="med" len="med"/>
                      <a:tailEnd type="none" w="med" len="med"/>
                    </a:lnR>
                    <a:lnT w="7620" cap="flat" cmpd="sng" algn="ctr">
                      <a:solidFill>
                        <a:srgbClr val="D8D8D8"/>
                      </a:solidFill>
                      <a:prstDash val="solid"/>
                      <a:round/>
                      <a:headEnd type="none" w="med" len="med"/>
                      <a:tailEnd type="none" w="med" len="med"/>
                    </a:lnT>
                    <a:lnB w="7620" cap="flat" cmpd="sng" algn="ctr">
                      <a:solidFill>
                        <a:srgbClr val="D8D8D8"/>
                      </a:solidFill>
                      <a:prstDash val="solid"/>
                      <a:round/>
                      <a:headEnd type="none" w="med" len="med"/>
                      <a:tailEnd type="none" w="med" len="med"/>
                    </a:lnB>
                    <a:solidFill>
                      <a:srgbClr val="F7F7F7"/>
                    </a:solidFill>
                  </a:tcPr>
                </a:tc>
                <a:tc>
                  <a:txBody>
                    <a:bodyPr/>
                    <a:lstStyle/>
                    <a:p>
                      <a:pPr fontAlgn="t"/>
                      <a:r>
                        <a:rPr lang="en-US" sz="2000">
                          <a:solidFill>
                            <a:srgbClr val="495354"/>
                          </a:solidFill>
                          <a:effectLst/>
                          <a:latin typeface="Times New Roman" panose="02020603050405020304" pitchFamily="18" charset="0"/>
                          <a:cs typeface="Times New Roman" panose="02020603050405020304" pitchFamily="18" charset="0"/>
                        </a:rPr>
                        <a:t>Joint capsule</a:t>
                      </a:r>
                      <a:br>
                        <a:rPr lang="en-US" sz="2000">
                          <a:solidFill>
                            <a:srgbClr val="495354"/>
                          </a:solidFill>
                          <a:effectLst/>
                          <a:latin typeface="Times New Roman" panose="02020603050405020304" pitchFamily="18" charset="0"/>
                          <a:cs typeface="Times New Roman" panose="02020603050405020304" pitchFamily="18" charset="0"/>
                        </a:rPr>
                      </a:br>
                      <a:r>
                        <a:rPr lang="en-US" sz="2000">
                          <a:solidFill>
                            <a:srgbClr val="495354"/>
                          </a:solidFill>
                          <a:effectLst/>
                          <a:latin typeface="Times New Roman" panose="02020603050405020304" pitchFamily="18" charset="0"/>
                          <a:cs typeface="Times New Roman" panose="02020603050405020304" pitchFamily="18" charset="0"/>
                        </a:rPr>
                        <a:t>Synovial membrane</a:t>
                      </a:r>
                      <a:br>
                        <a:rPr lang="en-US" sz="2000">
                          <a:solidFill>
                            <a:srgbClr val="495354"/>
                          </a:solidFill>
                          <a:effectLst/>
                          <a:latin typeface="Times New Roman" panose="02020603050405020304" pitchFamily="18" charset="0"/>
                          <a:cs typeface="Times New Roman" panose="02020603050405020304" pitchFamily="18" charset="0"/>
                        </a:rPr>
                      </a:br>
                      <a:r>
                        <a:rPr lang="en-US" sz="2000">
                          <a:solidFill>
                            <a:srgbClr val="495354"/>
                          </a:solidFill>
                          <a:effectLst/>
                          <a:latin typeface="Times New Roman" panose="02020603050405020304" pitchFamily="18" charset="0"/>
                          <a:cs typeface="Times New Roman" panose="02020603050405020304" pitchFamily="18" charset="0"/>
                        </a:rPr>
                        <a:t>Articular disc (anterior/posterior bands, intermediate zone)</a:t>
                      </a:r>
                      <a:endParaRPr lang="en-US" sz="2000">
                        <a:solidFill>
                          <a:srgbClr val="495354"/>
                        </a:solidFill>
                        <a:effectLst/>
                        <a:latin typeface="Times New Roman" panose="02020603050405020304" pitchFamily="18" charset="0"/>
                        <a:cs typeface="Times New Roman" panose="02020603050405020304" pitchFamily="18" charset="0"/>
                      </a:endParaRPr>
                    </a:p>
                  </a:txBody>
                  <a:tcPr marL="52808" marR="52808" marT="35205" marB="35205">
                    <a:lnL w="7620" cap="flat" cmpd="sng" algn="ctr">
                      <a:solidFill>
                        <a:srgbClr val="D8D8D8"/>
                      </a:solidFill>
                      <a:prstDash val="solid"/>
                      <a:round/>
                      <a:headEnd type="none" w="med" len="med"/>
                      <a:tailEnd type="none" w="med" len="med"/>
                    </a:lnL>
                    <a:lnR w="7620" cap="flat" cmpd="sng" algn="ctr">
                      <a:solidFill>
                        <a:srgbClr val="D8D8D8"/>
                      </a:solidFill>
                      <a:prstDash val="solid"/>
                      <a:round/>
                      <a:headEnd type="none" w="med" len="med"/>
                      <a:tailEnd type="none" w="med" len="med"/>
                    </a:lnR>
                    <a:lnT w="7620" cap="flat" cmpd="sng" algn="ctr">
                      <a:solidFill>
                        <a:srgbClr val="D8D8D8"/>
                      </a:solidFill>
                      <a:prstDash val="solid"/>
                      <a:round/>
                      <a:headEnd type="none" w="med" len="med"/>
                      <a:tailEnd type="none" w="med" len="med"/>
                    </a:lnT>
                    <a:lnB w="7620" cap="flat" cmpd="sng" algn="ctr">
                      <a:solidFill>
                        <a:srgbClr val="D8D8D8"/>
                      </a:solidFill>
                      <a:prstDash val="solid"/>
                      <a:round/>
                      <a:headEnd type="none" w="med" len="med"/>
                      <a:tailEnd type="none" w="med" len="med"/>
                    </a:lnB>
                    <a:solidFill>
                      <a:srgbClr val="F7F7F7"/>
                    </a:solidFill>
                  </a:tcPr>
                </a:tc>
              </a:tr>
              <a:tr h="916540">
                <a:tc>
                  <a:txBody>
                    <a:bodyPr/>
                    <a:lstStyle/>
                    <a:p>
                      <a:pPr fontAlgn="t"/>
                      <a:r>
                        <a:rPr lang="en-US" sz="2000" b="0">
                          <a:solidFill>
                            <a:srgbClr val="495354"/>
                          </a:solidFill>
                          <a:effectLst/>
                          <a:latin typeface="Times New Roman" panose="02020603050405020304" pitchFamily="18" charset="0"/>
                          <a:cs typeface="Times New Roman" panose="02020603050405020304" pitchFamily="18" charset="0"/>
                        </a:rPr>
                        <a:t>Ligaments</a:t>
                      </a:r>
                      <a:endParaRPr lang="en-US" sz="2000" b="0">
                        <a:solidFill>
                          <a:srgbClr val="495354"/>
                        </a:solidFill>
                        <a:effectLst/>
                        <a:latin typeface="Times New Roman" panose="02020603050405020304" pitchFamily="18" charset="0"/>
                        <a:cs typeface="Times New Roman" panose="02020603050405020304" pitchFamily="18" charset="0"/>
                      </a:endParaRPr>
                    </a:p>
                  </a:txBody>
                  <a:tcPr marL="52808" marR="52808" marT="35205" marB="35205">
                    <a:lnL>
                      <a:noFill/>
                    </a:lnL>
                    <a:lnR w="7620" cap="flat" cmpd="sng" algn="ctr">
                      <a:solidFill>
                        <a:srgbClr val="D8D8D8"/>
                      </a:solidFill>
                      <a:prstDash val="solid"/>
                      <a:round/>
                      <a:headEnd type="none" w="med" len="med"/>
                      <a:tailEnd type="none" w="med" len="med"/>
                    </a:lnR>
                    <a:lnT w="7620" cap="flat" cmpd="sng" algn="ctr">
                      <a:solidFill>
                        <a:srgbClr val="D8D8D8"/>
                      </a:solidFill>
                      <a:prstDash val="solid"/>
                      <a:round/>
                      <a:headEnd type="none" w="med" len="med"/>
                      <a:tailEnd type="none" w="med" len="med"/>
                    </a:lnT>
                    <a:lnB w="7620" cap="flat" cmpd="sng" algn="ctr">
                      <a:solidFill>
                        <a:srgbClr val="D8D8D8"/>
                      </a:solidFill>
                      <a:prstDash val="solid"/>
                      <a:round/>
                      <a:headEnd type="none" w="med" len="med"/>
                      <a:tailEnd type="none" w="med" len="med"/>
                    </a:lnB>
                    <a:solidFill>
                      <a:srgbClr val="F7F7F7"/>
                    </a:solidFill>
                  </a:tcPr>
                </a:tc>
                <a:tc>
                  <a:txBody>
                    <a:bodyPr/>
                    <a:lstStyle/>
                    <a:p>
                      <a:pPr fontAlgn="t"/>
                      <a:r>
                        <a:rPr lang="en-US" sz="2000" b="0">
                          <a:solidFill>
                            <a:srgbClr val="495354"/>
                          </a:solidFill>
                          <a:effectLst/>
                          <a:latin typeface="Times New Roman" panose="02020603050405020304" pitchFamily="18" charset="0"/>
                          <a:cs typeface="Times New Roman" panose="02020603050405020304" pitchFamily="18" charset="0"/>
                        </a:rPr>
                        <a:t>Major</a:t>
                      </a:r>
                      <a:r>
                        <a:rPr lang="en-US" sz="2000">
                          <a:solidFill>
                            <a:srgbClr val="495354"/>
                          </a:solidFill>
                          <a:effectLst/>
                          <a:latin typeface="Times New Roman" panose="02020603050405020304" pitchFamily="18" charset="0"/>
                          <a:cs typeface="Times New Roman" panose="02020603050405020304" pitchFamily="18" charset="0"/>
                        </a:rPr>
                        <a:t>: Lateral temporomandibular ligament (thickened lateral portion of capsule, strengthens TMJ laterally)</a:t>
                      </a:r>
                      <a:br>
                        <a:rPr lang="en-US" sz="2000" b="0">
                          <a:solidFill>
                            <a:srgbClr val="495354"/>
                          </a:solidFill>
                          <a:effectLst/>
                          <a:latin typeface="Times New Roman" panose="02020603050405020304" pitchFamily="18" charset="0"/>
                          <a:cs typeface="Times New Roman" panose="02020603050405020304" pitchFamily="18" charset="0"/>
                        </a:rPr>
                      </a:br>
                      <a:r>
                        <a:rPr lang="en-US" sz="2000" b="0">
                          <a:solidFill>
                            <a:srgbClr val="495354"/>
                          </a:solidFill>
                          <a:effectLst/>
                          <a:latin typeface="Times New Roman" panose="02020603050405020304" pitchFamily="18" charset="0"/>
                          <a:cs typeface="Times New Roman" panose="02020603050405020304" pitchFamily="18" charset="0"/>
                        </a:rPr>
                        <a:t>Minor</a:t>
                      </a:r>
                      <a:r>
                        <a:rPr lang="en-US" sz="2000">
                          <a:solidFill>
                            <a:srgbClr val="495354"/>
                          </a:solidFill>
                          <a:effectLst/>
                          <a:latin typeface="Times New Roman" panose="02020603050405020304" pitchFamily="18" charset="0"/>
                          <a:cs typeface="Times New Roman" panose="02020603050405020304" pitchFamily="18" charset="0"/>
                        </a:rPr>
                        <a:t>: Stylomandibular ligament, sphenomandibular ligament</a:t>
                      </a:r>
                      <a:endParaRPr lang="en-US" sz="2000">
                        <a:solidFill>
                          <a:srgbClr val="495354"/>
                        </a:solidFill>
                        <a:effectLst/>
                        <a:latin typeface="Times New Roman" panose="02020603050405020304" pitchFamily="18" charset="0"/>
                        <a:cs typeface="Times New Roman" panose="02020603050405020304" pitchFamily="18" charset="0"/>
                      </a:endParaRPr>
                    </a:p>
                  </a:txBody>
                  <a:tcPr marL="52808" marR="52808" marT="35205" marB="35205">
                    <a:lnL w="7620" cap="flat" cmpd="sng" algn="ctr">
                      <a:solidFill>
                        <a:srgbClr val="D8D8D8"/>
                      </a:solidFill>
                      <a:prstDash val="solid"/>
                      <a:round/>
                      <a:headEnd type="none" w="med" len="med"/>
                      <a:tailEnd type="none" w="med" len="med"/>
                    </a:lnL>
                    <a:lnR w="7620" cap="flat" cmpd="sng" algn="ctr">
                      <a:solidFill>
                        <a:srgbClr val="D8D8D8"/>
                      </a:solidFill>
                      <a:prstDash val="solid"/>
                      <a:round/>
                      <a:headEnd type="none" w="med" len="med"/>
                      <a:tailEnd type="none" w="med" len="med"/>
                    </a:lnR>
                    <a:lnT w="7620" cap="flat" cmpd="sng" algn="ctr">
                      <a:solidFill>
                        <a:srgbClr val="D8D8D8"/>
                      </a:solidFill>
                      <a:prstDash val="solid"/>
                      <a:round/>
                      <a:headEnd type="none" w="med" len="med"/>
                      <a:tailEnd type="none" w="med" len="med"/>
                    </a:lnT>
                    <a:lnB w="7620" cap="flat" cmpd="sng" algn="ctr">
                      <a:solidFill>
                        <a:srgbClr val="D8D8D8"/>
                      </a:solidFill>
                      <a:prstDash val="solid"/>
                      <a:round/>
                      <a:headEnd type="none" w="med" len="med"/>
                      <a:tailEnd type="none" w="med" len="med"/>
                    </a:lnB>
                    <a:solidFill>
                      <a:srgbClr val="F7F7F7"/>
                    </a:solidFill>
                  </a:tcPr>
                </a:tc>
              </a:tr>
              <a:tr h="751563">
                <a:tc>
                  <a:txBody>
                    <a:bodyPr/>
                    <a:lstStyle/>
                    <a:p>
                      <a:pPr fontAlgn="t"/>
                      <a:r>
                        <a:rPr lang="en-US" sz="2000" b="0">
                          <a:solidFill>
                            <a:srgbClr val="495354"/>
                          </a:solidFill>
                          <a:effectLst/>
                          <a:latin typeface="Times New Roman" panose="02020603050405020304" pitchFamily="18" charset="0"/>
                          <a:cs typeface="Times New Roman" panose="02020603050405020304" pitchFamily="18" charset="0"/>
                        </a:rPr>
                        <a:t>Cavities</a:t>
                      </a:r>
                      <a:endParaRPr lang="en-US" sz="2000" b="0">
                        <a:solidFill>
                          <a:srgbClr val="495354"/>
                        </a:solidFill>
                        <a:effectLst/>
                        <a:latin typeface="Times New Roman" panose="02020603050405020304" pitchFamily="18" charset="0"/>
                        <a:cs typeface="Times New Roman" panose="02020603050405020304" pitchFamily="18" charset="0"/>
                      </a:endParaRPr>
                    </a:p>
                  </a:txBody>
                  <a:tcPr marL="52808" marR="52808" marT="35205" marB="35205">
                    <a:lnL>
                      <a:noFill/>
                    </a:lnL>
                    <a:lnR w="7620" cap="flat" cmpd="sng" algn="ctr">
                      <a:solidFill>
                        <a:srgbClr val="D8D8D8"/>
                      </a:solidFill>
                      <a:prstDash val="solid"/>
                      <a:round/>
                      <a:headEnd type="none" w="med" len="med"/>
                      <a:tailEnd type="none" w="med" len="med"/>
                    </a:lnR>
                    <a:lnT w="7620" cap="flat" cmpd="sng" algn="ctr">
                      <a:solidFill>
                        <a:srgbClr val="D8D8D8"/>
                      </a:solidFill>
                      <a:prstDash val="solid"/>
                      <a:round/>
                      <a:headEnd type="none" w="med" len="med"/>
                      <a:tailEnd type="none" w="med" len="med"/>
                    </a:lnT>
                    <a:lnB w="7620" cap="flat" cmpd="sng" algn="ctr">
                      <a:solidFill>
                        <a:srgbClr val="D8D8D8"/>
                      </a:solidFill>
                      <a:prstDash val="solid"/>
                      <a:round/>
                      <a:headEnd type="none" w="med" len="med"/>
                      <a:tailEnd type="none" w="med" len="med"/>
                    </a:lnB>
                    <a:solidFill>
                      <a:srgbClr val="F7F7F7"/>
                    </a:solidFill>
                  </a:tcPr>
                </a:tc>
                <a:tc>
                  <a:txBody>
                    <a:bodyPr/>
                    <a:lstStyle/>
                    <a:p>
                      <a:pPr fontAlgn="t"/>
                      <a:r>
                        <a:rPr lang="en-US" sz="2000" b="0">
                          <a:solidFill>
                            <a:srgbClr val="495354"/>
                          </a:solidFill>
                          <a:effectLst/>
                          <a:latin typeface="Times New Roman" panose="02020603050405020304" pitchFamily="18" charset="0"/>
                          <a:cs typeface="Times New Roman" panose="02020603050405020304" pitchFamily="18" charset="0"/>
                        </a:rPr>
                        <a:t>Superior</a:t>
                      </a:r>
                      <a:r>
                        <a:rPr lang="en-US" sz="2000">
                          <a:solidFill>
                            <a:srgbClr val="495354"/>
                          </a:solidFill>
                          <a:effectLst/>
                          <a:latin typeface="Times New Roman" panose="02020603050405020304" pitchFamily="18" charset="0"/>
                          <a:cs typeface="Times New Roman" panose="02020603050405020304" pitchFamily="18" charset="0"/>
                        </a:rPr>
                        <a:t> (discotemporal) </a:t>
                      </a:r>
                      <a:r>
                        <a:rPr lang="en-US" sz="2000" b="0">
                          <a:solidFill>
                            <a:srgbClr val="495354"/>
                          </a:solidFill>
                          <a:effectLst/>
                          <a:latin typeface="Times New Roman" panose="02020603050405020304" pitchFamily="18" charset="0"/>
                          <a:cs typeface="Times New Roman" panose="02020603050405020304" pitchFamily="18" charset="0"/>
                        </a:rPr>
                        <a:t>cavity</a:t>
                      </a:r>
                      <a:r>
                        <a:rPr lang="en-US" sz="2000">
                          <a:solidFill>
                            <a:srgbClr val="495354"/>
                          </a:solidFill>
                          <a:effectLst/>
                          <a:latin typeface="Times New Roman" panose="02020603050405020304" pitchFamily="18" charset="0"/>
                          <a:cs typeface="Times New Roman" panose="02020603050405020304" pitchFamily="18" charset="0"/>
                        </a:rPr>
                        <a:t> (translational movement)</a:t>
                      </a:r>
                      <a:br>
                        <a:rPr lang="en-US" sz="2000" b="0">
                          <a:solidFill>
                            <a:srgbClr val="495354"/>
                          </a:solidFill>
                          <a:effectLst/>
                          <a:latin typeface="Times New Roman" panose="02020603050405020304" pitchFamily="18" charset="0"/>
                          <a:cs typeface="Times New Roman" panose="02020603050405020304" pitchFamily="18" charset="0"/>
                        </a:rPr>
                      </a:br>
                      <a:r>
                        <a:rPr lang="en-US" sz="2000" b="0">
                          <a:solidFill>
                            <a:srgbClr val="495354"/>
                          </a:solidFill>
                          <a:effectLst/>
                          <a:latin typeface="Times New Roman" panose="02020603050405020304" pitchFamily="18" charset="0"/>
                          <a:cs typeface="Times New Roman" panose="02020603050405020304" pitchFamily="18" charset="0"/>
                        </a:rPr>
                        <a:t>Inferior</a:t>
                      </a:r>
                      <a:r>
                        <a:rPr lang="en-US" sz="2000">
                          <a:solidFill>
                            <a:srgbClr val="495354"/>
                          </a:solidFill>
                          <a:effectLst/>
                          <a:latin typeface="Times New Roman" panose="02020603050405020304" pitchFamily="18" charset="0"/>
                          <a:cs typeface="Times New Roman" panose="02020603050405020304" pitchFamily="18" charset="0"/>
                        </a:rPr>
                        <a:t> (discomandibular) </a:t>
                      </a:r>
                      <a:r>
                        <a:rPr lang="en-US" sz="2000" b="0">
                          <a:solidFill>
                            <a:srgbClr val="495354"/>
                          </a:solidFill>
                          <a:effectLst/>
                          <a:latin typeface="Times New Roman" panose="02020603050405020304" pitchFamily="18" charset="0"/>
                          <a:cs typeface="Times New Roman" panose="02020603050405020304" pitchFamily="18" charset="0"/>
                        </a:rPr>
                        <a:t>cavity</a:t>
                      </a:r>
                      <a:r>
                        <a:rPr lang="en-US" sz="2000">
                          <a:solidFill>
                            <a:srgbClr val="495354"/>
                          </a:solidFill>
                          <a:effectLst/>
                          <a:latin typeface="Times New Roman" panose="02020603050405020304" pitchFamily="18" charset="0"/>
                          <a:cs typeface="Times New Roman" panose="02020603050405020304" pitchFamily="18" charset="0"/>
                        </a:rPr>
                        <a:t> (rotational movement)</a:t>
                      </a:r>
                      <a:endParaRPr lang="en-US" sz="2000">
                        <a:solidFill>
                          <a:srgbClr val="495354"/>
                        </a:solidFill>
                        <a:effectLst/>
                        <a:latin typeface="Times New Roman" panose="02020603050405020304" pitchFamily="18" charset="0"/>
                        <a:cs typeface="Times New Roman" panose="02020603050405020304" pitchFamily="18" charset="0"/>
                      </a:endParaRPr>
                    </a:p>
                  </a:txBody>
                  <a:tcPr marL="52808" marR="52808" marT="35205" marB="35205">
                    <a:lnL w="7620" cap="flat" cmpd="sng" algn="ctr">
                      <a:solidFill>
                        <a:srgbClr val="D8D8D8"/>
                      </a:solidFill>
                      <a:prstDash val="solid"/>
                      <a:round/>
                      <a:headEnd type="none" w="med" len="med"/>
                      <a:tailEnd type="none" w="med" len="med"/>
                    </a:lnL>
                    <a:lnR w="7620" cap="flat" cmpd="sng" algn="ctr">
                      <a:solidFill>
                        <a:srgbClr val="D8D8D8"/>
                      </a:solidFill>
                      <a:prstDash val="solid"/>
                      <a:round/>
                      <a:headEnd type="none" w="med" len="med"/>
                      <a:tailEnd type="none" w="med" len="med"/>
                    </a:lnR>
                    <a:lnT w="7620" cap="flat" cmpd="sng" algn="ctr">
                      <a:solidFill>
                        <a:srgbClr val="D8D8D8"/>
                      </a:solidFill>
                      <a:prstDash val="solid"/>
                      <a:round/>
                      <a:headEnd type="none" w="med" len="med"/>
                      <a:tailEnd type="none" w="med" len="med"/>
                    </a:lnT>
                    <a:lnB w="7620" cap="flat" cmpd="sng" algn="ctr">
                      <a:solidFill>
                        <a:srgbClr val="D8D8D8"/>
                      </a:solidFill>
                      <a:prstDash val="solid"/>
                      <a:round/>
                      <a:headEnd type="none" w="med" len="med"/>
                      <a:tailEnd type="none" w="med" len="med"/>
                    </a:lnB>
                    <a:solidFill>
                      <a:srgbClr val="F7F7F7"/>
                    </a:solidFill>
                  </a:tcPr>
                </a:tc>
              </a:tr>
              <a:tr h="916540">
                <a:tc>
                  <a:txBody>
                    <a:bodyPr/>
                    <a:lstStyle/>
                    <a:p>
                      <a:pPr fontAlgn="t"/>
                      <a:r>
                        <a:rPr lang="en-US" sz="2000" b="0">
                          <a:solidFill>
                            <a:srgbClr val="495354"/>
                          </a:solidFill>
                          <a:effectLst/>
                          <a:latin typeface="Times New Roman" panose="02020603050405020304" pitchFamily="18" charset="0"/>
                          <a:cs typeface="Times New Roman" panose="02020603050405020304" pitchFamily="18" charset="0"/>
                        </a:rPr>
                        <a:t>Rotational movements</a:t>
                      </a:r>
                      <a:endParaRPr lang="en-US" sz="2000" b="0">
                        <a:solidFill>
                          <a:srgbClr val="495354"/>
                        </a:solidFill>
                        <a:effectLst/>
                        <a:latin typeface="Times New Roman" panose="02020603050405020304" pitchFamily="18" charset="0"/>
                        <a:cs typeface="Times New Roman" panose="02020603050405020304" pitchFamily="18" charset="0"/>
                      </a:endParaRPr>
                    </a:p>
                  </a:txBody>
                  <a:tcPr marL="52808" marR="52808" marT="35205" marB="35205">
                    <a:lnL>
                      <a:noFill/>
                    </a:lnL>
                    <a:lnR w="7620" cap="flat" cmpd="sng" algn="ctr">
                      <a:solidFill>
                        <a:srgbClr val="D8D8D8"/>
                      </a:solidFill>
                      <a:prstDash val="solid"/>
                      <a:round/>
                      <a:headEnd type="none" w="med" len="med"/>
                      <a:tailEnd type="none" w="med" len="med"/>
                    </a:lnR>
                    <a:lnT w="7620" cap="flat" cmpd="sng" algn="ctr">
                      <a:solidFill>
                        <a:srgbClr val="D8D8D8"/>
                      </a:solidFill>
                      <a:prstDash val="solid"/>
                      <a:round/>
                      <a:headEnd type="none" w="med" len="med"/>
                      <a:tailEnd type="none" w="med" len="med"/>
                    </a:lnT>
                    <a:lnB w="7620" cap="flat" cmpd="sng" algn="ctr">
                      <a:solidFill>
                        <a:srgbClr val="D8D8D8"/>
                      </a:solidFill>
                      <a:prstDash val="solid"/>
                      <a:round/>
                      <a:headEnd type="none" w="med" len="med"/>
                      <a:tailEnd type="none" w="med" len="med"/>
                    </a:lnB>
                    <a:solidFill>
                      <a:srgbClr val="F7F7F7"/>
                    </a:solidFill>
                  </a:tcPr>
                </a:tc>
                <a:tc>
                  <a:txBody>
                    <a:bodyPr/>
                    <a:lstStyle/>
                    <a:p>
                      <a:pPr fontAlgn="t"/>
                      <a:r>
                        <a:rPr lang="en-US" sz="2000" b="0">
                          <a:solidFill>
                            <a:srgbClr val="495354"/>
                          </a:solidFill>
                          <a:effectLst/>
                          <a:latin typeface="Times New Roman" panose="02020603050405020304" pitchFamily="18" charset="0"/>
                          <a:cs typeface="Times New Roman" panose="02020603050405020304" pitchFamily="18" charset="0"/>
                        </a:rPr>
                        <a:t>Elevation</a:t>
                      </a:r>
                      <a:r>
                        <a:rPr lang="en-US" sz="2000">
                          <a:solidFill>
                            <a:srgbClr val="495354"/>
                          </a:solidFill>
                          <a:effectLst/>
                          <a:latin typeface="Times New Roman" panose="02020603050405020304" pitchFamily="18" charset="0"/>
                          <a:cs typeface="Times New Roman" panose="02020603050405020304" pitchFamily="18" charset="0"/>
                        </a:rPr>
                        <a:t>: Temporalis, masseter and medial pterygoid muscles</a:t>
                      </a:r>
                      <a:br>
                        <a:rPr lang="en-US" sz="2000" b="0">
                          <a:solidFill>
                            <a:srgbClr val="495354"/>
                          </a:solidFill>
                          <a:effectLst/>
                          <a:latin typeface="Times New Roman" panose="02020603050405020304" pitchFamily="18" charset="0"/>
                          <a:cs typeface="Times New Roman" panose="02020603050405020304" pitchFamily="18" charset="0"/>
                        </a:rPr>
                      </a:br>
                      <a:r>
                        <a:rPr lang="en-US" sz="2000" b="0">
                          <a:solidFill>
                            <a:srgbClr val="495354"/>
                          </a:solidFill>
                          <a:effectLst/>
                          <a:latin typeface="Times New Roman" panose="02020603050405020304" pitchFamily="18" charset="0"/>
                          <a:cs typeface="Times New Roman" panose="02020603050405020304" pitchFamily="18" charset="0"/>
                        </a:rPr>
                        <a:t>Depression</a:t>
                      </a:r>
                      <a:r>
                        <a:rPr lang="en-US" sz="2000">
                          <a:solidFill>
                            <a:srgbClr val="495354"/>
                          </a:solidFill>
                          <a:effectLst/>
                          <a:latin typeface="Times New Roman" panose="02020603050405020304" pitchFamily="18" charset="0"/>
                          <a:cs typeface="Times New Roman" panose="02020603050405020304" pitchFamily="18" charset="0"/>
                        </a:rPr>
                        <a:t>: Lateral pterygoid, digastric, geniohyoid and mylohyoid muscles</a:t>
                      </a:r>
                      <a:endParaRPr lang="en-US" sz="2000">
                        <a:solidFill>
                          <a:srgbClr val="495354"/>
                        </a:solidFill>
                        <a:effectLst/>
                        <a:latin typeface="Times New Roman" panose="02020603050405020304" pitchFamily="18" charset="0"/>
                        <a:cs typeface="Times New Roman" panose="02020603050405020304" pitchFamily="18" charset="0"/>
                      </a:endParaRPr>
                    </a:p>
                  </a:txBody>
                  <a:tcPr marL="52808" marR="52808" marT="35205" marB="35205">
                    <a:lnL w="7620" cap="flat" cmpd="sng" algn="ctr">
                      <a:solidFill>
                        <a:srgbClr val="D8D8D8"/>
                      </a:solidFill>
                      <a:prstDash val="solid"/>
                      <a:round/>
                      <a:headEnd type="none" w="med" len="med"/>
                      <a:tailEnd type="none" w="med" len="med"/>
                    </a:lnL>
                    <a:lnR w="7620" cap="flat" cmpd="sng" algn="ctr">
                      <a:solidFill>
                        <a:srgbClr val="D8D8D8"/>
                      </a:solidFill>
                      <a:prstDash val="solid"/>
                      <a:round/>
                      <a:headEnd type="none" w="med" len="med"/>
                      <a:tailEnd type="none" w="med" len="med"/>
                    </a:lnR>
                    <a:lnT w="7620" cap="flat" cmpd="sng" algn="ctr">
                      <a:solidFill>
                        <a:srgbClr val="D8D8D8"/>
                      </a:solidFill>
                      <a:prstDash val="solid"/>
                      <a:round/>
                      <a:headEnd type="none" w="med" len="med"/>
                      <a:tailEnd type="none" w="med" len="med"/>
                    </a:lnT>
                    <a:lnB w="7620" cap="flat" cmpd="sng" algn="ctr">
                      <a:solidFill>
                        <a:srgbClr val="D8D8D8"/>
                      </a:solidFill>
                      <a:prstDash val="solid"/>
                      <a:round/>
                      <a:headEnd type="none" w="med" len="med"/>
                      <a:tailEnd type="none" w="med" len="med"/>
                    </a:lnB>
                    <a:solidFill>
                      <a:srgbClr val="F7F7F7"/>
                    </a:solidFill>
                  </a:tcPr>
                </a:tc>
              </a:tr>
              <a:tr h="1741425">
                <a:tc>
                  <a:txBody>
                    <a:bodyPr/>
                    <a:lstStyle/>
                    <a:p>
                      <a:pPr fontAlgn="t"/>
                      <a:r>
                        <a:rPr lang="en-US" sz="2000" b="0">
                          <a:solidFill>
                            <a:srgbClr val="495354"/>
                          </a:solidFill>
                          <a:effectLst/>
                          <a:latin typeface="Times New Roman" panose="02020603050405020304" pitchFamily="18" charset="0"/>
                          <a:cs typeface="Times New Roman" panose="02020603050405020304" pitchFamily="18" charset="0"/>
                        </a:rPr>
                        <a:t>Translational movements</a:t>
                      </a:r>
                      <a:endParaRPr lang="en-US" sz="2000" b="0">
                        <a:solidFill>
                          <a:srgbClr val="495354"/>
                        </a:solidFill>
                        <a:effectLst/>
                        <a:latin typeface="Times New Roman" panose="02020603050405020304" pitchFamily="18" charset="0"/>
                        <a:cs typeface="Times New Roman" panose="02020603050405020304" pitchFamily="18" charset="0"/>
                      </a:endParaRPr>
                    </a:p>
                  </a:txBody>
                  <a:tcPr marL="52808" marR="52808" marT="35205" marB="35205">
                    <a:lnL>
                      <a:noFill/>
                    </a:lnL>
                    <a:lnR w="7620" cap="flat" cmpd="sng" algn="ctr">
                      <a:solidFill>
                        <a:srgbClr val="D8D8D8"/>
                      </a:solidFill>
                      <a:prstDash val="solid"/>
                      <a:round/>
                      <a:headEnd type="none" w="med" len="med"/>
                      <a:tailEnd type="none" w="med" len="med"/>
                    </a:lnR>
                    <a:lnT w="7620" cap="flat" cmpd="sng" algn="ctr">
                      <a:solidFill>
                        <a:srgbClr val="D8D8D8"/>
                      </a:solidFill>
                      <a:prstDash val="solid"/>
                      <a:round/>
                      <a:headEnd type="none" w="med" len="med"/>
                      <a:tailEnd type="none" w="med" len="med"/>
                    </a:lnT>
                    <a:lnB>
                      <a:noFill/>
                    </a:lnB>
                    <a:solidFill>
                      <a:srgbClr val="F7F7F7"/>
                    </a:solidFill>
                  </a:tcPr>
                </a:tc>
                <a:tc>
                  <a:txBody>
                    <a:bodyPr/>
                    <a:lstStyle/>
                    <a:p>
                      <a:pPr fontAlgn="t"/>
                      <a:r>
                        <a:rPr lang="en-US" sz="2000" b="0" dirty="0">
                          <a:solidFill>
                            <a:srgbClr val="495354"/>
                          </a:solidFill>
                          <a:effectLst/>
                          <a:latin typeface="Times New Roman" panose="02020603050405020304" pitchFamily="18" charset="0"/>
                          <a:cs typeface="Times New Roman" panose="02020603050405020304" pitchFamily="18" charset="0"/>
                        </a:rPr>
                        <a:t>Protrusion</a:t>
                      </a:r>
                      <a:r>
                        <a:rPr lang="en-US" sz="2000" dirty="0">
                          <a:solidFill>
                            <a:srgbClr val="495354"/>
                          </a:solidFill>
                          <a:effectLst/>
                          <a:latin typeface="Times New Roman" panose="02020603050405020304" pitchFamily="18" charset="0"/>
                          <a:cs typeface="Times New Roman" panose="02020603050405020304" pitchFamily="18" charset="0"/>
                        </a:rPr>
                        <a:t>: Lateral </a:t>
                      </a:r>
                      <a:r>
                        <a:rPr lang="en-US" sz="2000" dirty="0" err="1">
                          <a:solidFill>
                            <a:srgbClr val="495354"/>
                          </a:solidFill>
                          <a:effectLst/>
                          <a:latin typeface="Times New Roman" panose="02020603050405020304" pitchFamily="18" charset="0"/>
                          <a:cs typeface="Times New Roman" panose="02020603050405020304" pitchFamily="18" charset="0"/>
                        </a:rPr>
                        <a:t>pterygoid</a:t>
                      </a:r>
                      <a:r>
                        <a:rPr lang="en-US" sz="2000" dirty="0">
                          <a:solidFill>
                            <a:srgbClr val="495354"/>
                          </a:solidFill>
                          <a:effectLst/>
                          <a:latin typeface="Times New Roman" panose="02020603050405020304" pitchFamily="18" charset="0"/>
                          <a:cs typeface="Times New Roman" panose="02020603050405020304" pitchFamily="18" charset="0"/>
                        </a:rPr>
                        <a:t>, medial </a:t>
                      </a:r>
                      <a:r>
                        <a:rPr lang="en-US" sz="2000" dirty="0" err="1">
                          <a:solidFill>
                            <a:srgbClr val="495354"/>
                          </a:solidFill>
                          <a:effectLst/>
                          <a:latin typeface="Times New Roman" panose="02020603050405020304" pitchFamily="18" charset="0"/>
                          <a:cs typeface="Times New Roman" panose="02020603050405020304" pitchFamily="18" charset="0"/>
                        </a:rPr>
                        <a:t>pterygoid</a:t>
                      </a:r>
                      <a:r>
                        <a:rPr lang="en-US" sz="2000" dirty="0">
                          <a:solidFill>
                            <a:srgbClr val="495354"/>
                          </a:solidFill>
                          <a:effectLst/>
                          <a:latin typeface="Times New Roman" panose="02020603050405020304" pitchFamily="18" charset="0"/>
                          <a:cs typeface="Times New Roman" panose="02020603050405020304" pitchFamily="18" charset="0"/>
                        </a:rPr>
                        <a:t> muscle, masseter</a:t>
                      </a:r>
                      <a:br>
                        <a:rPr lang="en-US" sz="2000" b="0" dirty="0">
                          <a:solidFill>
                            <a:srgbClr val="495354"/>
                          </a:solidFill>
                          <a:effectLst/>
                          <a:latin typeface="Times New Roman" panose="02020603050405020304" pitchFamily="18" charset="0"/>
                          <a:cs typeface="Times New Roman" panose="02020603050405020304" pitchFamily="18" charset="0"/>
                        </a:rPr>
                      </a:br>
                      <a:r>
                        <a:rPr lang="en-US" sz="2000" b="0" dirty="0">
                          <a:solidFill>
                            <a:srgbClr val="495354"/>
                          </a:solidFill>
                          <a:effectLst/>
                          <a:latin typeface="Times New Roman" panose="02020603050405020304" pitchFamily="18" charset="0"/>
                          <a:cs typeface="Times New Roman" panose="02020603050405020304" pitchFamily="18" charset="0"/>
                        </a:rPr>
                        <a:t>Retraction</a:t>
                      </a:r>
                      <a:r>
                        <a:rPr lang="en-US" sz="2000" dirty="0">
                          <a:solidFill>
                            <a:srgbClr val="495354"/>
                          </a:solidFill>
                          <a:effectLst/>
                          <a:latin typeface="Times New Roman" panose="02020603050405020304" pitchFamily="18" charset="0"/>
                          <a:cs typeface="Times New Roman" panose="02020603050405020304" pitchFamily="18" charset="0"/>
                        </a:rPr>
                        <a:t>: Posterior fibers of temporalis, deep part of masseter</a:t>
                      </a:r>
                      <a:br>
                        <a:rPr lang="en-US" sz="2000" b="0" dirty="0">
                          <a:solidFill>
                            <a:srgbClr val="495354"/>
                          </a:solidFill>
                          <a:effectLst/>
                          <a:latin typeface="Times New Roman" panose="02020603050405020304" pitchFamily="18" charset="0"/>
                          <a:cs typeface="Times New Roman" panose="02020603050405020304" pitchFamily="18" charset="0"/>
                        </a:rPr>
                      </a:br>
                      <a:r>
                        <a:rPr lang="en-US" sz="2000" b="0" dirty="0">
                          <a:solidFill>
                            <a:srgbClr val="495354"/>
                          </a:solidFill>
                          <a:effectLst/>
                          <a:latin typeface="Times New Roman" panose="02020603050405020304" pitchFamily="18" charset="0"/>
                          <a:cs typeface="Times New Roman" panose="02020603050405020304" pitchFamily="18" charset="0"/>
                        </a:rPr>
                        <a:t>Lateral deviation (left or right)</a:t>
                      </a:r>
                      <a:r>
                        <a:rPr lang="en-US" sz="2000" dirty="0">
                          <a:solidFill>
                            <a:srgbClr val="495354"/>
                          </a:solidFill>
                          <a:effectLst/>
                          <a:latin typeface="Times New Roman" panose="02020603050405020304" pitchFamily="18" charset="0"/>
                          <a:cs typeface="Times New Roman" panose="02020603050405020304" pitchFamily="18" charset="0"/>
                        </a:rPr>
                        <a:t>: Posterior fibers of temporalis, digastric, </a:t>
                      </a:r>
                      <a:r>
                        <a:rPr lang="en-US" sz="2000" dirty="0" err="1">
                          <a:solidFill>
                            <a:srgbClr val="495354"/>
                          </a:solidFill>
                          <a:effectLst/>
                          <a:latin typeface="Times New Roman" panose="02020603050405020304" pitchFamily="18" charset="0"/>
                          <a:cs typeface="Times New Roman" panose="02020603050405020304" pitchFamily="18" charset="0"/>
                        </a:rPr>
                        <a:t>mylohyoid</a:t>
                      </a:r>
                      <a:r>
                        <a:rPr lang="en-US" sz="2000" dirty="0">
                          <a:solidFill>
                            <a:srgbClr val="495354"/>
                          </a:solidFill>
                          <a:effectLst/>
                          <a:latin typeface="Times New Roman" panose="02020603050405020304" pitchFamily="18" charset="0"/>
                          <a:cs typeface="Times New Roman" panose="02020603050405020304" pitchFamily="18" charset="0"/>
                        </a:rPr>
                        <a:t> and </a:t>
                      </a:r>
                      <a:r>
                        <a:rPr lang="en-US" sz="2000" dirty="0" err="1">
                          <a:solidFill>
                            <a:srgbClr val="495354"/>
                          </a:solidFill>
                          <a:effectLst/>
                          <a:latin typeface="Times New Roman" panose="02020603050405020304" pitchFamily="18" charset="0"/>
                          <a:cs typeface="Times New Roman" panose="02020603050405020304" pitchFamily="18" charset="0"/>
                        </a:rPr>
                        <a:t>geniohyoid</a:t>
                      </a:r>
                      <a:r>
                        <a:rPr lang="en-US" sz="2000" dirty="0">
                          <a:solidFill>
                            <a:srgbClr val="495354"/>
                          </a:solidFill>
                          <a:effectLst/>
                          <a:latin typeface="Times New Roman" panose="02020603050405020304" pitchFamily="18" charset="0"/>
                          <a:cs typeface="Times New Roman" panose="02020603050405020304" pitchFamily="18" charset="0"/>
                        </a:rPr>
                        <a:t> muscles (</a:t>
                      </a:r>
                      <a:r>
                        <a:rPr lang="en-US" sz="2000" dirty="0" err="1">
                          <a:solidFill>
                            <a:srgbClr val="495354"/>
                          </a:solidFill>
                          <a:effectLst/>
                          <a:latin typeface="Times New Roman" panose="02020603050405020304" pitchFamily="18" charset="0"/>
                          <a:cs typeface="Times New Roman" panose="02020603050405020304" pitchFamily="18" charset="0"/>
                        </a:rPr>
                        <a:t>ipsilateral</a:t>
                      </a:r>
                      <a:r>
                        <a:rPr lang="en-US" sz="2000" dirty="0">
                          <a:solidFill>
                            <a:srgbClr val="495354"/>
                          </a:solidFill>
                          <a:effectLst/>
                          <a:latin typeface="Times New Roman" panose="02020603050405020304" pitchFamily="18" charset="0"/>
                          <a:cs typeface="Times New Roman" panose="02020603050405020304" pitchFamily="18" charset="0"/>
                        </a:rPr>
                        <a:t> movement); lateral and medial </a:t>
                      </a:r>
                      <a:r>
                        <a:rPr lang="en-US" sz="2000" dirty="0" err="1">
                          <a:solidFill>
                            <a:srgbClr val="495354"/>
                          </a:solidFill>
                          <a:effectLst/>
                          <a:latin typeface="Times New Roman" panose="02020603050405020304" pitchFamily="18" charset="0"/>
                          <a:cs typeface="Times New Roman" panose="02020603050405020304" pitchFamily="18" charset="0"/>
                        </a:rPr>
                        <a:t>pterygoid</a:t>
                      </a:r>
                      <a:r>
                        <a:rPr lang="en-US" sz="2000" dirty="0">
                          <a:solidFill>
                            <a:srgbClr val="495354"/>
                          </a:solidFill>
                          <a:effectLst/>
                          <a:latin typeface="Times New Roman" panose="02020603050405020304" pitchFamily="18" charset="0"/>
                          <a:cs typeface="Times New Roman" panose="02020603050405020304" pitchFamily="18" charset="0"/>
                        </a:rPr>
                        <a:t> muscles (contralateral movement)</a:t>
                      </a:r>
                      <a:endParaRPr lang="en-US" sz="2000" dirty="0">
                        <a:solidFill>
                          <a:srgbClr val="495354"/>
                        </a:solidFill>
                        <a:effectLst/>
                        <a:latin typeface="Times New Roman" panose="02020603050405020304" pitchFamily="18" charset="0"/>
                        <a:cs typeface="Times New Roman" panose="02020603050405020304" pitchFamily="18" charset="0"/>
                      </a:endParaRPr>
                    </a:p>
                  </a:txBody>
                  <a:tcPr marL="52808" marR="52808" marT="35205" marB="35205">
                    <a:lnL w="7620" cap="flat" cmpd="sng" algn="ctr">
                      <a:solidFill>
                        <a:srgbClr val="D8D8D8"/>
                      </a:solidFill>
                      <a:prstDash val="solid"/>
                      <a:round/>
                      <a:headEnd type="none" w="med" len="med"/>
                      <a:tailEnd type="none" w="med" len="med"/>
                    </a:lnL>
                    <a:lnR w="7620" cap="flat" cmpd="sng" algn="ctr">
                      <a:solidFill>
                        <a:srgbClr val="D8D8D8"/>
                      </a:solidFill>
                      <a:prstDash val="solid"/>
                      <a:round/>
                      <a:headEnd type="none" w="med" len="med"/>
                      <a:tailEnd type="none" w="med" len="med"/>
                    </a:lnR>
                    <a:lnT w="7620" cap="flat" cmpd="sng" algn="ctr">
                      <a:solidFill>
                        <a:srgbClr val="D8D8D8"/>
                      </a:solidFill>
                      <a:prstDash val="solid"/>
                      <a:round/>
                      <a:headEnd type="none" w="med" len="med"/>
                      <a:tailEnd type="none" w="med" len="med"/>
                    </a:lnT>
                    <a:lnB>
                      <a:noFill/>
                    </a:lnB>
                    <a:solidFill>
                      <a:srgbClr val="F7F7F7"/>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794" y="69735"/>
            <a:ext cx="12075206" cy="6801862"/>
          </a:xfrm>
          <a:prstGeom prst="rect">
            <a:avLst/>
          </a:prstGeom>
        </p:spPr>
        <p:txBody>
          <a:bodyPr wrap="square">
            <a:spAutoFit/>
          </a:bodyPr>
          <a:lstStyle/>
          <a:p>
            <a:r>
              <a:rPr lang="en-US" sz="6000" b="1" i="0" dirty="0" smtClean="0">
                <a:solidFill>
                  <a:srgbClr val="C00000"/>
                </a:solidFill>
                <a:effectLst/>
                <a:latin typeface="Times New Roman" panose="02020603050405020304" pitchFamily="18" charset="0"/>
                <a:cs typeface="Times New Roman" panose="02020603050405020304" pitchFamily="18" charset="0"/>
              </a:rPr>
              <a:t>Articular surfaces</a:t>
            </a:r>
            <a:endParaRPr lang="en-US" sz="6000" b="1" i="0" dirty="0" smtClean="0">
              <a:solidFill>
                <a:srgbClr val="C00000"/>
              </a:solidFill>
              <a:effectLst/>
              <a:latin typeface="Times New Roman" panose="02020603050405020304" pitchFamily="18" charset="0"/>
              <a:cs typeface="Times New Roman" panose="02020603050405020304" pitchFamily="18" charset="0"/>
            </a:endParaRPr>
          </a:p>
          <a:p>
            <a:endParaRPr lang="en-US" sz="2400" b="0" i="0" dirty="0" smtClean="0">
              <a:solidFill>
                <a:srgbClr val="495354"/>
              </a:solidFill>
              <a:effectLst/>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3200" b="0" i="0" dirty="0" smtClean="0">
                <a:solidFill>
                  <a:srgbClr val="495354"/>
                </a:solidFill>
                <a:effectLst/>
                <a:latin typeface="Times New Roman" panose="02020603050405020304" pitchFamily="18" charset="0"/>
                <a:cs typeface="Times New Roman" panose="02020603050405020304" pitchFamily="18" charset="0"/>
              </a:rPr>
              <a:t>The two main bones involved in the formation of the </a:t>
            </a:r>
            <a:r>
              <a:rPr lang="en-US" sz="3200" b="0" i="0" dirty="0" err="1" smtClean="0">
                <a:solidFill>
                  <a:srgbClr val="495354"/>
                </a:solidFill>
                <a:effectLst/>
                <a:latin typeface="Times New Roman" panose="02020603050405020304" pitchFamily="18" charset="0"/>
                <a:cs typeface="Times New Roman" panose="02020603050405020304" pitchFamily="18" charset="0"/>
              </a:rPr>
              <a:t>temporomandibular</a:t>
            </a:r>
            <a:r>
              <a:rPr lang="en-US" sz="3200" b="0" i="0" dirty="0" smtClean="0">
                <a:solidFill>
                  <a:srgbClr val="495354"/>
                </a:solidFill>
                <a:effectLst/>
                <a:latin typeface="Times New Roman" panose="02020603050405020304" pitchFamily="18" charset="0"/>
                <a:cs typeface="Times New Roman" panose="02020603050405020304" pitchFamily="18" charset="0"/>
              </a:rPr>
              <a:t> joint are the mandible and the temporal bone.</a:t>
            </a:r>
            <a:endParaRPr lang="en-US" sz="3200" b="0" i="0" dirty="0" smtClean="0">
              <a:solidFill>
                <a:srgbClr val="495354"/>
              </a:solidFill>
              <a:effectLst/>
              <a:latin typeface="Times New Roman" panose="02020603050405020304" pitchFamily="18" charset="0"/>
              <a:cs typeface="Times New Roman" panose="02020603050405020304" pitchFamily="18" charset="0"/>
            </a:endParaRPr>
          </a:p>
          <a:p>
            <a:r>
              <a:rPr lang="en-US" sz="3200" b="0" i="0" dirty="0" smtClean="0">
                <a:solidFill>
                  <a:srgbClr val="495354"/>
                </a:solidFill>
                <a:effectLst/>
                <a:latin typeface="Times New Roman" panose="02020603050405020304" pitchFamily="18" charset="0"/>
                <a:cs typeface="Times New Roman" panose="02020603050405020304" pitchFamily="18" charset="0"/>
              </a:rPr>
              <a:t> </a:t>
            </a:r>
            <a:endParaRPr lang="en-US" sz="3200" b="0" i="0" dirty="0" smtClean="0">
              <a:solidFill>
                <a:srgbClr val="495354"/>
              </a:solidFill>
              <a:effectLst/>
              <a:latin typeface="Times New Roman" panose="02020603050405020304" pitchFamily="18" charset="0"/>
              <a:cs typeface="Times New Roman" panose="02020603050405020304" pitchFamily="18" charset="0"/>
            </a:endParaRPr>
          </a:p>
          <a:p>
            <a:endParaRPr lang="en-US" sz="3200" b="0" i="0" dirty="0" smtClean="0">
              <a:solidFill>
                <a:srgbClr val="495354"/>
              </a:solidFill>
              <a:effectLst/>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3200" b="0" i="0" dirty="0" smtClean="0">
                <a:solidFill>
                  <a:srgbClr val="495354"/>
                </a:solidFill>
                <a:effectLst/>
                <a:latin typeface="Times New Roman" panose="02020603050405020304" pitchFamily="18" charset="0"/>
                <a:cs typeface="Times New Roman" panose="02020603050405020304" pitchFamily="18" charset="0"/>
              </a:rPr>
              <a:t>The temporal bone forms the superior part of the joint with two components: mandibular fossa and articular tubercle. </a:t>
            </a:r>
            <a:endParaRPr lang="en-US" sz="3200" b="0" i="0" dirty="0" smtClean="0">
              <a:solidFill>
                <a:srgbClr val="495354"/>
              </a:solidFill>
              <a:effectLst/>
              <a:latin typeface="Times New Roman" panose="02020603050405020304" pitchFamily="18" charset="0"/>
              <a:cs typeface="Times New Roman" panose="02020603050405020304" pitchFamily="18" charset="0"/>
            </a:endParaRPr>
          </a:p>
          <a:p>
            <a:endParaRPr lang="en-GB" sz="3200" dirty="0">
              <a:solidFill>
                <a:srgbClr val="495354"/>
              </a:solidFill>
              <a:latin typeface="Times New Roman" panose="02020603050405020304" pitchFamily="18" charset="0"/>
              <a:cs typeface="Times New Roman" panose="02020603050405020304" pitchFamily="18" charset="0"/>
            </a:endParaRPr>
          </a:p>
          <a:p>
            <a:endParaRPr lang="en-US" sz="3200" b="0" i="0" dirty="0" smtClean="0">
              <a:solidFill>
                <a:srgbClr val="495354"/>
              </a:solidFill>
              <a:effectLst/>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3200" b="0" i="0" dirty="0" smtClean="0">
                <a:solidFill>
                  <a:srgbClr val="495354"/>
                </a:solidFill>
                <a:effectLst/>
                <a:latin typeface="Times New Roman" panose="02020603050405020304" pitchFamily="18" charset="0"/>
                <a:cs typeface="Times New Roman" panose="02020603050405020304" pitchFamily="18" charset="0"/>
              </a:rPr>
              <a:t>The inferior part of the joint is formed mainly by the head of the mandible. The head of the mandible, also known as the mandibular condyle, is the posterior end of the ramus of the mandible. </a:t>
            </a:r>
            <a:endParaRPr lang="en-US" sz="3200" b="0" i="0" dirty="0" smtClean="0">
              <a:solidFill>
                <a:srgbClr val="495354"/>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53715"/>
            <a:ext cx="12192000" cy="6432530"/>
          </a:xfrm>
          <a:prstGeom prst="rect">
            <a:avLst/>
          </a:prstGeom>
        </p:spPr>
        <p:txBody>
          <a:bodyPr wrap="square">
            <a:spAutoFit/>
          </a:bodyPr>
          <a:lstStyle/>
          <a:p>
            <a:r>
              <a:rPr lang="en-US" sz="6000" b="1" i="0" dirty="0" smtClean="0">
                <a:solidFill>
                  <a:srgbClr val="C00000"/>
                </a:solidFill>
                <a:effectLst/>
                <a:latin typeface="Times New Roman" panose="02020603050405020304" pitchFamily="18" charset="0"/>
                <a:cs typeface="Times New Roman" panose="02020603050405020304" pitchFamily="18" charset="0"/>
              </a:rPr>
              <a:t>Articular surfaces cont’d</a:t>
            </a:r>
            <a:endParaRPr lang="en-US" sz="6000" b="1" i="0" dirty="0" smtClean="0">
              <a:solidFill>
                <a:srgbClr val="C00000"/>
              </a:solidFill>
              <a:effectLst/>
              <a:latin typeface="Times New Roman" panose="02020603050405020304" pitchFamily="18" charset="0"/>
              <a:cs typeface="Times New Roman" panose="02020603050405020304" pitchFamily="18" charset="0"/>
            </a:endParaRPr>
          </a:p>
          <a:p>
            <a:endParaRPr lang="en-US" sz="3200"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3200" dirty="0" smtClean="0">
                <a:latin typeface="Times New Roman" panose="02020603050405020304" pitchFamily="18" charset="0"/>
                <a:cs typeface="Times New Roman" panose="02020603050405020304" pitchFamily="18" charset="0"/>
              </a:rPr>
              <a:t>Between these two articular surfaces, there is an interposed structure composed entirely of fibrocartilage, known as the articular disc of the </a:t>
            </a:r>
            <a:r>
              <a:rPr lang="en-US" sz="3200" dirty="0" err="1" smtClean="0">
                <a:latin typeface="Times New Roman" panose="02020603050405020304" pitchFamily="18" charset="0"/>
                <a:cs typeface="Times New Roman" panose="02020603050405020304" pitchFamily="18" charset="0"/>
              </a:rPr>
              <a:t>temporomandibular</a:t>
            </a:r>
            <a:r>
              <a:rPr lang="en-US" sz="3200" dirty="0" smtClean="0">
                <a:latin typeface="Times New Roman" panose="02020603050405020304" pitchFamily="18" charset="0"/>
                <a:cs typeface="Times New Roman" panose="02020603050405020304" pitchFamily="18" charset="0"/>
              </a:rPr>
              <a:t> joint.</a:t>
            </a:r>
            <a:endParaRPr lang="en-US" sz="3200" dirty="0" smtClean="0">
              <a:latin typeface="Times New Roman" panose="02020603050405020304" pitchFamily="18" charset="0"/>
              <a:cs typeface="Times New Roman" panose="02020603050405020304" pitchFamily="18" charset="0"/>
            </a:endParaRPr>
          </a:p>
          <a:p>
            <a:r>
              <a:rPr lang="en-US" sz="3200" dirty="0" smtClean="0">
                <a:latin typeface="Times New Roman" panose="02020603050405020304" pitchFamily="18" charset="0"/>
                <a:cs typeface="Times New Roman" panose="02020603050405020304" pitchFamily="18" charset="0"/>
              </a:rPr>
              <a:t> </a:t>
            </a:r>
            <a:endParaRPr lang="en-US" sz="3200"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3200" dirty="0" smtClean="0">
                <a:latin typeface="Times New Roman" panose="02020603050405020304" pitchFamily="18" charset="0"/>
                <a:cs typeface="Times New Roman" panose="02020603050405020304" pitchFamily="18" charset="0"/>
              </a:rPr>
              <a:t>This disc attaches to the internal aspects of the fibrous capsule and completely separates the articular surfaces of the TMJ. </a:t>
            </a:r>
            <a:endParaRPr lang="en-US" sz="3200" dirty="0" smtClean="0">
              <a:latin typeface="Times New Roman" panose="02020603050405020304" pitchFamily="18" charset="0"/>
              <a:cs typeface="Times New Roman" panose="02020603050405020304" pitchFamily="18" charset="0"/>
            </a:endParaRPr>
          </a:p>
          <a:p>
            <a:endParaRPr lang="en-US" sz="3200"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3200" dirty="0" smtClean="0">
                <a:latin typeface="Times New Roman" panose="02020603050405020304" pitchFamily="18" charset="0"/>
                <a:cs typeface="Times New Roman" panose="02020603050405020304" pitchFamily="18" charset="0"/>
              </a:rPr>
              <a:t>The disc stabilizes the condyle of the mandible within the joint, reduces frictional forces between the articular surfaces and may aid in lubrication of the joint.</a:t>
            </a:r>
            <a:endParaRPr lang="en-US" sz="3200" b="0" i="0" dirty="0">
              <a:solidFill>
                <a:srgbClr val="495354"/>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70230"/>
            <a:ext cx="12192000" cy="6432530"/>
          </a:xfrm>
          <a:prstGeom prst="rect">
            <a:avLst/>
          </a:prstGeom>
        </p:spPr>
        <p:txBody>
          <a:bodyPr wrap="square">
            <a:spAutoFit/>
          </a:bodyPr>
          <a:lstStyle/>
          <a:p>
            <a:r>
              <a:rPr lang="en-US" sz="6000" b="1" i="0" dirty="0" smtClean="0">
                <a:solidFill>
                  <a:srgbClr val="C00000"/>
                </a:solidFill>
                <a:effectLst/>
                <a:latin typeface="Times New Roman" panose="02020603050405020304" pitchFamily="18" charset="0"/>
                <a:cs typeface="Times New Roman" panose="02020603050405020304" pitchFamily="18" charset="0"/>
              </a:rPr>
              <a:t>Compartments (cavities)</a:t>
            </a:r>
            <a:endParaRPr lang="en-US" sz="6000" b="1" i="0" dirty="0" smtClean="0">
              <a:solidFill>
                <a:srgbClr val="C00000"/>
              </a:solidFill>
              <a:effectLst/>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endParaRPr lang="en-US" sz="3200" b="0" i="0" dirty="0" smtClean="0">
              <a:solidFill>
                <a:srgbClr val="495354"/>
              </a:solidFill>
              <a:effectLst/>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3200" b="0" i="0" dirty="0" smtClean="0">
                <a:solidFill>
                  <a:srgbClr val="495354"/>
                </a:solidFill>
                <a:effectLst/>
                <a:latin typeface="Times New Roman" panose="02020603050405020304" pitchFamily="18" charset="0"/>
                <a:cs typeface="Times New Roman" panose="02020603050405020304" pitchFamily="18" charset="0"/>
              </a:rPr>
              <a:t>The articular disc divides the joint into two anatomically and functionally separate compartments: the superior compartment and the inferior compartment. Each compartment is lined by its own corresponding </a:t>
            </a:r>
            <a:r>
              <a:rPr lang="en-US" sz="3200" b="0" i="0" u="sng" dirty="0" smtClean="0">
                <a:solidFill>
                  <a:srgbClr val="495354"/>
                </a:solidFill>
                <a:effectLst/>
                <a:latin typeface="Times New Roman" panose="02020603050405020304" pitchFamily="18" charset="0"/>
                <a:cs typeface="Times New Roman" panose="02020603050405020304" pitchFamily="18" charset="0"/>
              </a:rPr>
              <a:t>synovial membrane</a:t>
            </a:r>
            <a:r>
              <a:rPr lang="en-US" sz="3200" b="0" i="0" dirty="0" smtClean="0">
                <a:solidFill>
                  <a:srgbClr val="495354"/>
                </a:solidFill>
                <a:effectLst/>
                <a:latin typeface="Times New Roman" panose="02020603050405020304" pitchFamily="18" charset="0"/>
                <a:cs typeface="Times New Roman" panose="02020603050405020304" pitchFamily="18" charset="0"/>
              </a:rPr>
              <a:t>. </a:t>
            </a:r>
            <a:endParaRPr lang="en-US" sz="3200" b="0" i="0" dirty="0" smtClean="0">
              <a:solidFill>
                <a:srgbClr val="495354"/>
              </a:solidFill>
              <a:effectLst/>
              <a:latin typeface="Times New Roman" panose="02020603050405020304" pitchFamily="18" charset="0"/>
              <a:cs typeface="Times New Roman" panose="02020603050405020304" pitchFamily="18" charset="0"/>
            </a:endParaRPr>
          </a:p>
          <a:p>
            <a:endParaRPr lang="en-US" sz="3200" b="0" i="0" dirty="0" smtClean="0">
              <a:solidFill>
                <a:srgbClr val="495354"/>
              </a:solidFill>
              <a:effectLst/>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3200" b="0" i="0" dirty="0" smtClean="0">
                <a:solidFill>
                  <a:srgbClr val="495354"/>
                </a:solidFill>
                <a:effectLst/>
                <a:latin typeface="Times New Roman" panose="02020603050405020304" pitchFamily="18" charset="0"/>
                <a:cs typeface="Times New Roman" panose="02020603050405020304" pitchFamily="18" charset="0"/>
              </a:rPr>
              <a:t>The </a:t>
            </a:r>
            <a:r>
              <a:rPr lang="en-US" sz="3200" b="1" i="0" dirty="0" smtClean="0">
                <a:solidFill>
                  <a:srgbClr val="495354"/>
                </a:solidFill>
                <a:effectLst/>
                <a:latin typeface="Times New Roman" panose="02020603050405020304" pitchFamily="18" charset="0"/>
                <a:cs typeface="Times New Roman" panose="02020603050405020304" pitchFamily="18" charset="0"/>
              </a:rPr>
              <a:t>superior compartment</a:t>
            </a:r>
            <a:r>
              <a:rPr lang="en-US" sz="3200" b="0" i="0" dirty="0" smtClean="0">
                <a:solidFill>
                  <a:srgbClr val="495354"/>
                </a:solidFill>
                <a:effectLst/>
                <a:latin typeface="Times New Roman" panose="02020603050405020304" pitchFamily="18" charset="0"/>
                <a:cs typeface="Times New Roman" panose="02020603050405020304" pitchFamily="18" charset="0"/>
              </a:rPr>
              <a:t> is bordered superiorly by </a:t>
            </a:r>
            <a:r>
              <a:rPr lang="en-US" sz="3200" b="0" i="0" dirty="0" err="1" smtClean="0">
                <a:solidFill>
                  <a:srgbClr val="495354"/>
                </a:solidFill>
                <a:effectLst/>
                <a:latin typeface="Times New Roman" panose="02020603050405020304" pitchFamily="18" charset="0"/>
                <a:cs typeface="Times New Roman" panose="02020603050405020304" pitchFamily="18" charset="0"/>
              </a:rPr>
              <a:t>the</a:t>
            </a:r>
            <a:r>
              <a:rPr lang="en-US" sz="3200" b="1" i="0" dirty="0" err="1" smtClean="0">
                <a:solidFill>
                  <a:srgbClr val="495354"/>
                </a:solidFill>
                <a:effectLst/>
                <a:latin typeface="Times New Roman" panose="02020603050405020304" pitchFamily="18" charset="0"/>
                <a:cs typeface="Times New Roman" panose="02020603050405020304" pitchFamily="18" charset="0"/>
              </a:rPr>
              <a:t>mandibular</a:t>
            </a:r>
            <a:r>
              <a:rPr lang="en-US" sz="3200" b="0" i="0" dirty="0" smtClean="0">
                <a:solidFill>
                  <a:srgbClr val="495354"/>
                </a:solidFill>
                <a:effectLst/>
                <a:latin typeface="Times New Roman" panose="02020603050405020304" pitchFamily="18" charset="0"/>
                <a:cs typeface="Times New Roman" panose="02020603050405020304" pitchFamily="18" charset="0"/>
              </a:rPr>
              <a:t> </a:t>
            </a:r>
            <a:r>
              <a:rPr lang="en-US" sz="3200" b="1" i="0" dirty="0" smtClean="0">
                <a:solidFill>
                  <a:srgbClr val="495354"/>
                </a:solidFill>
                <a:effectLst/>
                <a:latin typeface="Times New Roman" panose="02020603050405020304" pitchFamily="18" charset="0"/>
                <a:cs typeface="Times New Roman" panose="02020603050405020304" pitchFamily="18" charset="0"/>
              </a:rPr>
              <a:t>fossa</a:t>
            </a:r>
            <a:r>
              <a:rPr lang="en-US" sz="3200" b="0" i="0" dirty="0" smtClean="0">
                <a:solidFill>
                  <a:srgbClr val="495354"/>
                </a:solidFill>
                <a:effectLst/>
                <a:latin typeface="Times New Roman" panose="02020603050405020304" pitchFamily="18" charset="0"/>
                <a:cs typeface="Times New Roman" panose="02020603050405020304" pitchFamily="18" charset="0"/>
              </a:rPr>
              <a:t> of the </a:t>
            </a:r>
            <a:r>
              <a:rPr lang="en-US" sz="3200" b="1" i="0" dirty="0" smtClean="0">
                <a:solidFill>
                  <a:srgbClr val="495354"/>
                </a:solidFill>
                <a:effectLst/>
                <a:latin typeface="Times New Roman" panose="02020603050405020304" pitchFamily="18" charset="0"/>
                <a:cs typeface="Times New Roman" panose="02020603050405020304" pitchFamily="18" charset="0"/>
              </a:rPr>
              <a:t>temporal bone </a:t>
            </a:r>
            <a:r>
              <a:rPr lang="en-US" sz="3200" b="0" i="0" dirty="0" smtClean="0">
                <a:solidFill>
                  <a:srgbClr val="495354"/>
                </a:solidFill>
                <a:effectLst/>
                <a:latin typeface="Times New Roman" panose="02020603050405020304" pitchFamily="18" charset="0"/>
                <a:cs typeface="Times New Roman" panose="02020603050405020304" pitchFamily="18" charset="0"/>
              </a:rPr>
              <a:t>and inferiorly by the articular disc itself. It is lined by the superior synovial membrane. It contains 1.2 mL of synovial fluid and is responsible for the translational movement of the joint.</a:t>
            </a:r>
            <a:endParaRPr lang="en-US" sz="3200" b="0" i="0" dirty="0" smtClean="0">
              <a:solidFill>
                <a:srgbClr val="495354"/>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8248" y="0"/>
            <a:ext cx="12083752" cy="4031873"/>
          </a:xfrm>
          <a:prstGeom prst="rect">
            <a:avLst/>
          </a:prstGeom>
        </p:spPr>
        <p:txBody>
          <a:bodyPr wrap="square">
            <a:spAutoFit/>
          </a:bodyPr>
          <a:lstStyle/>
          <a:p>
            <a:r>
              <a:rPr lang="en-US" sz="6000" b="1" i="0" dirty="0" smtClean="0">
                <a:solidFill>
                  <a:srgbClr val="C00000"/>
                </a:solidFill>
                <a:effectLst/>
                <a:latin typeface="Times New Roman" panose="02020603050405020304" pitchFamily="18" charset="0"/>
                <a:cs typeface="Times New Roman" panose="02020603050405020304" pitchFamily="18" charset="0"/>
              </a:rPr>
              <a:t>Compartments (cavities) Cont’d</a:t>
            </a:r>
            <a:endParaRPr lang="en-US" sz="6000" b="1" i="0" dirty="0" smtClean="0">
              <a:solidFill>
                <a:srgbClr val="C00000"/>
              </a:solidFill>
              <a:effectLst/>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endParaRPr lang="en-US" b="0" i="0" dirty="0" smtClean="0">
              <a:solidFill>
                <a:srgbClr val="495354"/>
              </a:solidFill>
              <a:effectLst/>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endParaRPr lang="en-US" dirty="0">
              <a:solidFill>
                <a:srgbClr val="495354"/>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3200" b="0" i="0" dirty="0" smtClean="0">
                <a:solidFill>
                  <a:srgbClr val="495354"/>
                </a:solidFill>
                <a:effectLst/>
                <a:latin typeface="Times New Roman" panose="02020603050405020304" pitchFamily="18" charset="0"/>
                <a:cs typeface="Times New Roman" panose="02020603050405020304" pitchFamily="18" charset="0"/>
              </a:rPr>
              <a:t>The </a:t>
            </a:r>
            <a:r>
              <a:rPr lang="en-US" sz="3200" b="1" i="0" dirty="0" smtClean="0">
                <a:solidFill>
                  <a:srgbClr val="495354"/>
                </a:solidFill>
                <a:effectLst/>
                <a:latin typeface="Times New Roman" panose="02020603050405020304" pitchFamily="18" charset="0"/>
                <a:cs typeface="Times New Roman" panose="02020603050405020304" pitchFamily="18" charset="0"/>
              </a:rPr>
              <a:t>inferior compartment</a:t>
            </a:r>
            <a:r>
              <a:rPr lang="en-US" sz="3200" b="0" i="0" dirty="0" smtClean="0">
                <a:solidFill>
                  <a:srgbClr val="495354"/>
                </a:solidFill>
                <a:effectLst/>
                <a:latin typeface="Times New Roman" panose="02020603050405020304" pitchFamily="18" charset="0"/>
                <a:cs typeface="Times New Roman" panose="02020603050405020304" pitchFamily="18" charset="0"/>
              </a:rPr>
              <a:t> is bounded superiorly by the articular disc and inferiorly by the condyle of the mandible. It is lined by the inferior synovial membrane. It is slightly </a:t>
            </a:r>
            <a:r>
              <a:rPr lang="en-US" sz="3200" dirty="0" smtClean="0">
                <a:latin typeface="Times New Roman" panose="02020603050405020304" pitchFamily="18" charset="0"/>
                <a:cs typeface="Times New Roman" panose="02020603050405020304" pitchFamily="18" charset="0"/>
              </a:rPr>
              <a:t>smaller with an average synovial fluid volume of 0.9 mL and allows rotational movements of the joint.</a:t>
            </a:r>
            <a:endParaRPr lang="en-US" sz="3200" b="0" i="0" dirty="0">
              <a:solidFill>
                <a:srgbClr val="495354"/>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912" y="0"/>
            <a:ext cx="12115088" cy="7200900"/>
          </a:xfrm>
          <a:prstGeom prst="rect">
            <a:avLst/>
          </a:prstGeom>
        </p:spPr>
        <p:txBody>
          <a:bodyPr wrap="square">
            <a:spAutoFit/>
          </a:bodyPr>
          <a:lstStyle/>
          <a:p>
            <a:r>
              <a:rPr lang="en-US" sz="6000" b="1" i="0" dirty="0" smtClean="0">
                <a:solidFill>
                  <a:srgbClr val="C00000"/>
                </a:solidFill>
                <a:effectLst/>
                <a:latin typeface="Times New Roman" panose="02020603050405020304" pitchFamily="18" charset="0"/>
                <a:cs typeface="Times New Roman" panose="02020603050405020304" pitchFamily="18" charset="0"/>
              </a:rPr>
              <a:t>Ligaments and joint capsule</a:t>
            </a:r>
            <a:endParaRPr lang="en-US" sz="6000" b="1" i="0" dirty="0" smtClean="0">
              <a:solidFill>
                <a:srgbClr val="C00000"/>
              </a:solidFill>
              <a:effectLst/>
              <a:latin typeface="Times New Roman" panose="02020603050405020304" pitchFamily="18" charset="0"/>
              <a:cs typeface="Times New Roman" panose="02020603050405020304" pitchFamily="18" charset="0"/>
            </a:endParaRPr>
          </a:p>
          <a:p>
            <a:endParaRPr lang="en-US" b="0" i="0" dirty="0" smtClean="0">
              <a:solidFill>
                <a:srgbClr val="CCCCCC"/>
              </a:solidFill>
              <a:effectLst/>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3200" b="1" i="0" dirty="0" smtClean="0">
                <a:solidFill>
                  <a:srgbClr val="495354"/>
                </a:solidFill>
                <a:effectLst/>
                <a:latin typeface="Times New Roman" panose="02020603050405020304" pitchFamily="18" charset="0"/>
                <a:cs typeface="Times New Roman" panose="02020603050405020304" pitchFamily="18" charset="0"/>
              </a:rPr>
              <a:t>The joint capsule </a:t>
            </a:r>
            <a:r>
              <a:rPr lang="en-US" sz="3200" b="0" i="0" dirty="0" smtClean="0">
                <a:solidFill>
                  <a:srgbClr val="495354"/>
                </a:solidFill>
                <a:effectLst/>
                <a:latin typeface="Times New Roman" panose="02020603050405020304" pitchFamily="18" charset="0"/>
                <a:cs typeface="Times New Roman" panose="02020603050405020304" pitchFamily="18" charset="0"/>
              </a:rPr>
              <a:t>originates from the borders of the mandibular fossa, encloses the articular tubercle of temporal bone and inserts at the neck of mandible above the </a:t>
            </a:r>
            <a:r>
              <a:rPr lang="en-US" sz="3200" b="0" i="0" dirty="0" err="1" smtClean="0">
                <a:solidFill>
                  <a:srgbClr val="495354"/>
                </a:solidFill>
                <a:effectLst/>
                <a:latin typeface="Times New Roman" panose="02020603050405020304" pitchFamily="18" charset="0"/>
                <a:cs typeface="Times New Roman" panose="02020603050405020304" pitchFamily="18" charset="0"/>
              </a:rPr>
              <a:t>pterygoid</a:t>
            </a:r>
            <a:r>
              <a:rPr lang="en-US" sz="3200" b="0" i="0" dirty="0" smtClean="0">
                <a:solidFill>
                  <a:srgbClr val="495354"/>
                </a:solidFill>
                <a:effectLst/>
                <a:latin typeface="Times New Roman" panose="02020603050405020304" pitchFamily="18" charset="0"/>
                <a:cs typeface="Times New Roman" panose="02020603050405020304" pitchFamily="18" charset="0"/>
              </a:rPr>
              <a:t> fovea, which is a depression on the anterior surface of the neck. </a:t>
            </a:r>
            <a:endParaRPr lang="en-US" sz="3200" b="0" i="0" dirty="0" smtClean="0">
              <a:solidFill>
                <a:srgbClr val="495354"/>
              </a:solidFill>
              <a:effectLst/>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3200" b="0" i="0" dirty="0" smtClean="0">
                <a:solidFill>
                  <a:srgbClr val="495354"/>
                </a:solidFill>
                <a:effectLst/>
                <a:latin typeface="Times New Roman" panose="02020603050405020304" pitchFamily="18" charset="0"/>
                <a:cs typeface="Times New Roman" panose="02020603050405020304" pitchFamily="18" charset="0"/>
              </a:rPr>
              <a:t>The joint capsule is so loose that the mandible can naturally dislocate anteriorly without damaging any fibers of the capsule.</a:t>
            </a:r>
            <a:endParaRPr lang="en-US" sz="3200" b="0" i="0" dirty="0" smtClean="0">
              <a:solidFill>
                <a:srgbClr val="495354"/>
              </a:solidFill>
              <a:effectLst/>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3200" b="0" i="0" dirty="0" smtClean="0">
                <a:solidFill>
                  <a:srgbClr val="495354"/>
                </a:solidFill>
                <a:effectLst/>
                <a:latin typeface="Times New Roman" panose="02020603050405020304" pitchFamily="18" charset="0"/>
                <a:cs typeface="Times New Roman" panose="02020603050405020304" pitchFamily="18" charset="0"/>
              </a:rPr>
              <a:t>The ligaments involved in the function of the </a:t>
            </a:r>
            <a:r>
              <a:rPr lang="en-US" sz="3200" b="0" i="0" dirty="0" err="1" smtClean="0">
                <a:solidFill>
                  <a:srgbClr val="495354"/>
                </a:solidFill>
                <a:effectLst/>
                <a:latin typeface="Times New Roman" panose="02020603050405020304" pitchFamily="18" charset="0"/>
                <a:cs typeface="Times New Roman" panose="02020603050405020304" pitchFamily="18" charset="0"/>
              </a:rPr>
              <a:t>temporomandibular</a:t>
            </a:r>
            <a:r>
              <a:rPr lang="en-US" sz="3200" b="0" i="0" dirty="0" smtClean="0">
                <a:solidFill>
                  <a:srgbClr val="495354"/>
                </a:solidFill>
                <a:effectLst/>
                <a:latin typeface="Times New Roman" panose="02020603050405020304" pitchFamily="18" charset="0"/>
                <a:cs typeface="Times New Roman" panose="02020603050405020304" pitchFamily="18" charset="0"/>
              </a:rPr>
              <a:t> joint can be divided into </a:t>
            </a:r>
            <a:r>
              <a:rPr lang="en-US" sz="3200" b="1" i="0" dirty="0" smtClean="0">
                <a:solidFill>
                  <a:srgbClr val="495354"/>
                </a:solidFill>
                <a:effectLst/>
                <a:latin typeface="Times New Roman" panose="02020603050405020304" pitchFamily="18" charset="0"/>
                <a:cs typeface="Times New Roman" panose="02020603050405020304" pitchFamily="18" charset="0"/>
              </a:rPr>
              <a:t>intrinsic </a:t>
            </a:r>
            <a:r>
              <a:rPr lang="en-US" sz="3200" b="0" i="0" dirty="0" smtClean="0">
                <a:solidFill>
                  <a:srgbClr val="495354"/>
                </a:solidFill>
                <a:effectLst/>
                <a:latin typeface="Times New Roman" panose="02020603050405020304" pitchFamily="18" charset="0"/>
                <a:cs typeface="Times New Roman" panose="02020603050405020304" pitchFamily="18" charset="0"/>
              </a:rPr>
              <a:t>and </a:t>
            </a:r>
            <a:r>
              <a:rPr lang="en-US" sz="3200" b="1" i="0" dirty="0" smtClean="0">
                <a:solidFill>
                  <a:srgbClr val="495354"/>
                </a:solidFill>
                <a:effectLst/>
                <a:latin typeface="Times New Roman" panose="02020603050405020304" pitchFamily="18" charset="0"/>
                <a:cs typeface="Times New Roman" panose="02020603050405020304" pitchFamily="18" charset="0"/>
              </a:rPr>
              <a:t>extrinsic </a:t>
            </a:r>
            <a:r>
              <a:rPr lang="en-US" sz="3200" b="0" i="0" dirty="0" smtClean="0">
                <a:solidFill>
                  <a:srgbClr val="495354"/>
                </a:solidFill>
                <a:effectLst/>
                <a:latin typeface="Times New Roman" panose="02020603050405020304" pitchFamily="18" charset="0"/>
                <a:cs typeface="Times New Roman" panose="02020603050405020304" pitchFamily="18" charset="0"/>
              </a:rPr>
              <a:t>ligaments.</a:t>
            </a:r>
            <a:endParaRPr lang="en-US" sz="3200" b="0" i="0" dirty="0" smtClean="0">
              <a:solidFill>
                <a:srgbClr val="495354"/>
              </a:solidFill>
              <a:effectLst/>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3200" b="0" i="0" dirty="0" smtClean="0">
                <a:solidFill>
                  <a:srgbClr val="495354"/>
                </a:solidFill>
                <a:effectLst/>
                <a:latin typeface="Times New Roman" panose="02020603050405020304" pitchFamily="18" charset="0"/>
                <a:cs typeface="Times New Roman" panose="02020603050405020304" pitchFamily="18" charset="0"/>
              </a:rPr>
              <a:t>The lateral ligament is an intrinsic ligament of the TMJ. This ligament represents the thickened part of the join</a:t>
            </a:r>
            <a:r>
              <a:rPr lang="en-GB" altLang="en-US" sz="3200" b="0" i="0" dirty="0" smtClean="0">
                <a:solidFill>
                  <a:srgbClr val="495354"/>
                </a:solidFill>
                <a:effectLst/>
                <a:latin typeface="Times New Roman" panose="02020603050405020304" pitchFamily="18" charset="0"/>
                <a:cs typeface="Times New Roman" panose="02020603050405020304" pitchFamily="18" charset="0"/>
              </a:rPr>
              <a:t>t</a:t>
            </a:r>
            <a:r>
              <a:rPr lang="en-US" sz="3200" b="0" i="0" dirty="0" smtClean="0">
                <a:solidFill>
                  <a:srgbClr val="495354"/>
                </a:solidFill>
                <a:effectLst/>
                <a:latin typeface="Times New Roman" panose="02020603050405020304" pitchFamily="18" charset="0"/>
                <a:cs typeface="Times New Roman" panose="02020603050405020304" pitchFamily="18" charset="0"/>
              </a:rPr>
              <a:t> capsule and strengthens the joint laterally.</a:t>
            </a:r>
            <a:endParaRPr lang="en-US" sz="3200" b="0" i="0" dirty="0" smtClean="0">
              <a:solidFill>
                <a:srgbClr val="495354"/>
              </a:solidFill>
              <a:effectLst/>
              <a:latin typeface="Times New Roman" panose="02020603050405020304" pitchFamily="18" charset="0"/>
              <a:cs typeface="Times New Roman" panose="02020603050405020304" pitchFamily="18" charset="0"/>
            </a:endParaRPr>
          </a:p>
          <a:p>
            <a:endParaRPr lang="en-US" sz="3200" b="0" i="0" dirty="0" smtClean="0">
              <a:solidFill>
                <a:srgbClr val="495354"/>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00961"/>
            <a:ext cx="12191999" cy="6924973"/>
          </a:xfrm>
          <a:prstGeom prst="rect">
            <a:avLst/>
          </a:prstGeom>
        </p:spPr>
        <p:txBody>
          <a:bodyPr wrap="square">
            <a:spAutoFit/>
          </a:bodyPr>
          <a:lstStyle/>
          <a:p>
            <a:r>
              <a:rPr lang="en-US" sz="6000" b="1" i="0" dirty="0" smtClean="0">
                <a:solidFill>
                  <a:srgbClr val="C00000"/>
                </a:solidFill>
                <a:effectLst/>
                <a:latin typeface="Times New Roman" panose="02020603050405020304" pitchFamily="18" charset="0"/>
                <a:cs typeface="Times New Roman" panose="02020603050405020304" pitchFamily="18" charset="0"/>
              </a:rPr>
              <a:t>Ligaments and joint capsule cont’d</a:t>
            </a:r>
            <a:endParaRPr lang="en-US" sz="6000" b="1" i="0" dirty="0" smtClean="0">
              <a:solidFill>
                <a:srgbClr val="C00000"/>
              </a:solidFill>
              <a:effectLst/>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3200" b="0" i="0" dirty="0" smtClean="0">
                <a:solidFill>
                  <a:srgbClr val="495354"/>
                </a:solidFill>
                <a:effectLst/>
                <a:latin typeface="Times New Roman" panose="02020603050405020304" pitchFamily="18" charset="0"/>
                <a:cs typeface="Times New Roman" panose="02020603050405020304" pitchFamily="18" charset="0"/>
              </a:rPr>
              <a:t>Together with the </a:t>
            </a:r>
            <a:r>
              <a:rPr lang="en-US" sz="3200" b="0" i="0" dirty="0" err="1" smtClean="0">
                <a:solidFill>
                  <a:srgbClr val="495354"/>
                </a:solidFill>
                <a:effectLst/>
                <a:latin typeface="Times New Roman" panose="02020603050405020304" pitchFamily="18" charset="0"/>
                <a:cs typeface="Times New Roman" panose="02020603050405020304" pitchFamily="18" charset="0"/>
              </a:rPr>
              <a:t>postglenoid</a:t>
            </a:r>
            <a:r>
              <a:rPr lang="en-US" sz="3200" b="0" i="0" dirty="0" smtClean="0">
                <a:solidFill>
                  <a:srgbClr val="495354"/>
                </a:solidFill>
                <a:effectLst/>
                <a:latin typeface="Times New Roman" panose="02020603050405020304" pitchFamily="18" charset="0"/>
                <a:cs typeface="Times New Roman" panose="02020603050405020304" pitchFamily="18" charset="0"/>
              </a:rPr>
              <a:t> tubercle, the intrinsic lateral </a:t>
            </a:r>
            <a:r>
              <a:rPr lang="en-US" sz="3200" dirty="0" smtClean="0">
                <a:latin typeface="Times New Roman" panose="02020603050405020304" pitchFamily="18" charset="0"/>
                <a:cs typeface="Times New Roman" panose="02020603050405020304" pitchFamily="18" charset="0"/>
              </a:rPr>
              <a:t>ligament acts to prevent posterior dislocation of the joint.</a:t>
            </a:r>
            <a:endParaRPr lang="en-US" sz="3200" dirty="0" smtClean="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3200" b="0" i="0" dirty="0" smtClean="0">
                <a:solidFill>
                  <a:srgbClr val="495354"/>
                </a:solidFill>
                <a:effectLst/>
                <a:latin typeface="Times New Roman" panose="02020603050405020304" pitchFamily="18" charset="0"/>
                <a:cs typeface="Times New Roman" panose="02020603050405020304" pitchFamily="18" charset="0"/>
              </a:rPr>
              <a:t>The two extrinsic ligaments of the TMJ are the </a:t>
            </a:r>
            <a:r>
              <a:rPr lang="en-US" sz="3200" b="1" i="0" dirty="0" err="1" smtClean="0">
                <a:solidFill>
                  <a:srgbClr val="495354"/>
                </a:solidFill>
                <a:effectLst/>
                <a:latin typeface="Times New Roman" panose="02020603050405020304" pitchFamily="18" charset="0"/>
                <a:cs typeface="Times New Roman" panose="02020603050405020304" pitchFamily="18" charset="0"/>
              </a:rPr>
              <a:t>stylomandibular</a:t>
            </a:r>
            <a:r>
              <a:rPr lang="en-US" sz="3200" b="0" i="0" dirty="0" smtClean="0">
                <a:solidFill>
                  <a:srgbClr val="495354"/>
                </a:solidFill>
                <a:effectLst/>
                <a:latin typeface="Times New Roman" panose="02020603050405020304" pitchFamily="18" charset="0"/>
                <a:cs typeface="Times New Roman" panose="02020603050405020304" pitchFamily="18" charset="0"/>
              </a:rPr>
              <a:t> and </a:t>
            </a:r>
            <a:r>
              <a:rPr lang="en-US" sz="3200" b="1" i="0" dirty="0" err="1" smtClean="0">
                <a:solidFill>
                  <a:srgbClr val="495354"/>
                </a:solidFill>
                <a:effectLst/>
                <a:latin typeface="Times New Roman" panose="02020603050405020304" pitchFamily="18" charset="0"/>
                <a:cs typeface="Times New Roman" panose="02020603050405020304" pitchFamily="18" charset="0"/>
              </a:rPr>
              <a:t>sphenomandibular</a:t>
            </a:r>
            <a:r>
              <a:rPr lang="en-US" sz="3200" b="1" i="0" dirty="0" smtClean="0">
                <a:solidFill>
                  <a:srgbClr val="495354"/>
                </a:solidFill>
                <a:effectLst/>
                <a:latin typeface="Times New Roman" panose="02020603050405020304" pitchFamily="18" charset="0"/>
                <a:cs typeface="Times New Roman" panose="02020603050405020304" pitchFamily="18" charset="0"/>
              </a:rPr>
              <a:t> ligaments</a:t>
            </a:r>
            <a:r>
              <a:rPr lang="en-US" sz="3200" b="0" i="0" dirty="0" smtClean="0">
                <a:solidFill>
                  <a:srgbClr val="495354"/>
                </a:solidFill>
                <a:effectLst/>
                <a:latin typeface="Times New Roman" panose="02020603050405020304" pitchFamily="18" charset="0"/>
                <a:cs typeface="Times New Roman" panose="02020603050405020304" pitchFamily="18" charset="0"/>
              </a:rPr>
              <a:t>. </a:t>
            </a:r>
            <a:endParaRPr lang="en-US" sz="3200" b="0" i="0" dirty="0" smtClean="0">
              <a:solidFill>
                <a:srgbClr val="495354"/>
              </a:solidFill>
              <a:effectLst/>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3200" b="0" i="0" dirty="0" smtClean="0">
                <a:solidFill>
                  <a:srgbClr val="495354"/>
                </a:solidFill>
                <a:effectLst/>
                <a:latin typeface="Times New Roman" panose="02020603050405020304" pitchFamily="18" charset="0"/>
                <a:cs typeface="Times New Roman" panose="02020603050405020304" pitchFamily="18" charset="0"/>
              </a:rPr>
              <a:t>The </a:t>
            </a:r>
            <a:r>
              <a:rPr lang="en-US" sz="3200" b="0" i="0" dirty="0" err="1" smtClean="0">
                <a:solidFill>
                  <a:srgbClr val="495354"/>
                </a:solidFill>
                <a:effectLst/>
                <a:latin typeface="Times New Roman" panose="02020603050405020304" pitchFamily="18" charset="0"/>
                <a:cs typeface="Times New Roman" panose="02020603050405020304" pitchFamily="18" charset="0"/>
              </a:rPr>
              <a:t>stylomandibular</a:t>
            </a:r>
            <a:r>
              <a:rPr lang="en-US" sz="3200" b="0" i="0" dirty="0" smtClean="0">
                <a:solidFill>
                  <a:srgbClr val="495354"/>
                </a:solidFill>
                <a:effectLst/>
                <a:latin typeface="Times New Roman" panose="02020603050405020304" pitchFamily="18" charset="0"/>
                <a:cs typeface="Times New Roman" panose="02020603050405020304" pitchFamily="18" charset="0"/>
              </a:rPr>
              <a:t> ligament runs from the </a:t>
            </a:r>
            <a:r>
              <a:rPr lang="en-US" sz="3200" b="0" i="0" dirty="0" err="1" smtClean="0">
                <a:solidFill>
                  <a:srgbClr val="495354"/>
                </a:solidFill>
                <a:effectLst/>
                <a:latin typeface="Times New Roman" panose="02020603050405020304" pitchFamily="18" charset="0"/>
                <a:cs typeface="Times New Roman" panose="02020603050405020304" pitchFamily="18" charset="0"/>
              </a:rPr>
              <a:t>styloid</a:t>
            </a:r>
            <a:r>
              <a:rPr lang="en-US" sz="3200" b="0" i="0" dirty="0" smtClean="0">
                <a:solidFill>
                  <a:srgbClr val="495354"/>
                </a:solidFill>
                <a:effectLst/>
                <a:latin typeface="Times New Roman" panose="02020603050405020304" pitchFamily="18" charset="0"/>
                <a:cs typeface="Times New Roman" panose="02020603050405020304" pitchFamily="18" charset="0"/>
              </a:rPr>
              <a:t> process to the </a:t>
            </a:r>
            <a:r>
              <a:rPr lang="en-US" sz="3200" b="0" i="0" u="sng" dirty="0" smtClean="0">
                <a:solidFill>
                  <a:srgbClr val="495354"/>
                </a:solidFill>
                <a:effectLst/>
                <a:latin typeface="Times New Roman" panose="02020603050405020304" pitchFamily="18" charset="0"/>
                <a:cs typeface="Times New Roman" panose="02020603050405020304" pitchFamily="18" charset="0"/>
              </a:rPr>
              <a:t>angle of the mandible</a:t>
            </a:r>
            <a:r>
              <a:rPr lang="en-US" sz="3200" b="0" i="0" dirty="0" smtClean="0">
                <a:solidFill>
                  <a:srgbClr val="495354"/>
                </a:solidFill>
                <a:effectLst/>
                <a:latin typeface="Times New Roman" panose="02020603050405020304" pitchFamily="18" charset="0"/>
                <a:cs typeface="Times New Roman" panose="02020603050405020304" pitchFamily="18" charset="0"/>
              </a:rPr>
              <a:t>, while the </a:t>
            </a:r>
            <a:r>
              <a:rPr lang="en-US" sz="3200" b="0" i="0" dirty="0" err="1" smtClean="0">
                <a:solidFill>
                  <a:srgbClr val="495354"/>
                </a:solidFill>
                <a:effectLst/>
                <a:latin typeface="Times New Roman" panose="02020603050405020304" pitchFamily="18" charset="0"/>
                <a:cs typeface="Times New Roman" panose="02020603050405020304" pitchFamily="18" charset="0"/>
              </a:rPr>
              <a:t>sphenomandibular</a:t>
            </a:r>
            <a:r>
              <a:rPr lang="en-US" sz="3200" b="0" i="0" dirty="0" smtClean="0">
                <a:solidFill>
                  <a:srgbClr val="495354"/>
                </a:solidFill>
                <a:effectLst/>
                <a:latin typeface="Times New Roman" panose="02020603050405020304" pitchFamily="18" charset="0"/>
                <a:cs typeface="Times New Roman" panose="02020603050405020304" pitchFamily="18" charset="0"/>
              </a:rPr>
              <a:t> ligament runs from the spine of the sphenoid to the </a:t>
            </a:r>
            <a:r>
              <a:rPr lang="en-US" sz="3200" b="0" i="0" dirty="0" err="1" smtClean="0">
                <a:solidFill>
                  <a:srgbClr val="495354"/>
                </a:solidFill>
                <a:effectLst/>
                <a:latin typeface="Times New Roman" panose="02020603050405020304" pitchFamily="18" charset="0"/>
                <a:cs typeface="Times New Roman" panose="02020603050405020304" pitchFamily="18" charset="0"/>
              </a:rPr>
              <a:t>lingula</a:t>
            </a:r>
            <a:r>
              <a:rPr lang="en-US" sz="3200" b="0" i="0" dirty="0" smtClean="0">
                <a:solidFill>
                  <a:srgbClr val="495354"/>
                </a:solidFill>
                <a:effectLst/>
                <a:latin typeface="Times New Roman" panose="02020603050405020304" pitchFamily="18" charset="0"/>
                <a:cs typeface="Times New Roman" panose="02020603050405020304" pitchFamily="18" charset="0"/>
              </a:rPr>
              <a:t> on the medial aspect of the ramus of the mandible.</a:t>
            </a:r>
            <a:endParaRPr lang="en-US" sz="3200" b="0" i="0" dirty="0" smtClean="0">
              <a:solidFill>
                <a:srgbClr val="495354"/>
              </a:solidFill>
              <a:effectLst/>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3200" b="0" i="0" dirty="0" smtClean="0">
                <a:solidFill>
                  <a:srgbClr val="495354"/>
                </a:solidFill>
                <a:effectLst/>
                <a:latin typeface="Times New Roman" panose="02020603050405020304" pitchFamily="18" charset="0"/>
                <a:cs typeface="Times New Roman" panose="02020603050405020304" pitchFamily="18" charset="0"/>
              </a:rPr>
              <a:t> These ligaments do not provide significant support for the joint, however, the </a:t>
            </a:r>
            <a:r>
              <a:rPr lang="en-US" sz="3200" b="0" i="0" dirty="0" err="1" smtClean="0">
                <a:solidFill>
                  <a:srgbClr val="495354"/>
                </a:solidFill>
                <a:effectLst/>
                <a:latin typeface="Times New Roman" panose="02020603050405020304" pitchFamily="18" charset="0"/>
                <a:cs typeface="Times New Roman" panose="02020603050405020304" pitchFamily="18" charset="0"/>
              </a:rPr>
              <a:t>sphenomandibular</a:t>
            </a:r>
            <a:r>
              <a:rPr lang="en-US" sz="3200" b="0" i="0" dirty="0" smtClean="0">
                <a:solidFill>
                  <a:srgbClr val="495354"/>
                </a:solidFill>
                <a:effectLst/>
                <a:latin typeface="Times New Roman" panose="02020603050405020304" pitchFamily="18" charset="0"/>
                <a:cs typeface="Times New Roman" panose="02020603050405020304" pitchFamily="18" charset="0"/>
              </a:rPr>
              <a:t> ligament serves as the “</a:t>
            </a:r>
            <a:r>
              <a:rPr lang="en-US" sz="3200" b="1" i="0" dirty="0" smtClean="0">
                <a:solidFill>
                  <a:srgbClr val="495354"/>
                </a:solidFill>
                <a:effectLst/>
                <a:latin typeface="Times New Roman" panose="02020603050405020304" pitchFamily="18" charset="0"/>
                <a:cs typeface="Times New Roman" panose="02020603050405020304" pitchFamily="18" charset="0"/>
              </a:rPr>
              <a:t>swinging</a:t>
            </a:r>
            <a:r>
              <a:rPr lang="en-US" sz="3200" b="0" i="0" dirty="0" smtClean="0">
                <a:solidFill>
                  <a:srgbClr val="495354"/>
                </a:solidFill>
                <a:effectLst/>
                <a:latin typeface="Times New Roman" panose="02020603050405020304" pitchFamily="18" charset="0"/>
                <a:cs typeface="Times New Roman" panose="02020603050405020304" pitchFamily="18" charset="0"/>
              </a:rPr>
              <a:t> </a:t>
            </a:r>
            <a:r>
              <a:rPr lang="en-US" sz="3200" b="1" i="0" dirty="0" smtClean="0">
                <a:solidFill>
                  <a:srgbClr val="495354"/>
                </a:solidFill>
                <a:effectLst/>
                <a:latin typeface="Times New Roman" panose="02020603050405020304" pitchFamily="18" charset="0"/>
                <a:cs typeface="Times New Roman" panose="02020603050405020304" pitchFamily="18" charset="0"/>
              </a:rPr>
              <a:t>hinge</a:t>
            </a:r>
            <a:r>
              <a:rPr lang="en-US" sz="3200" b="0" i="0" dirty="0" smtClean="0">
                <a:solidFill>
                  <a:srgbClr val="495354"/>
                </a:solidFill>
                <a:effectLst/>
                <a:latin typeface="Times New Roman" panose="02020603050405020304" pitchFamily="18" charset="0"/>
                <a:cs typeface="Times New Roman" panose="02020603050405020304" pitchFamily="18" charset="0"/>
              </a:rPr>
              <a:t>” for the movements of the mandible at the </a:t>
            </a:r>
            <a:r>
              <a:rPr lang="en-US" sz="3200" b="1" i="0" dirty="0" smtClean="0">
                <a:solidFill>
                  <a:srgbClr val="495354"/>
                </a:solidFill>
                <a:effectLst/>
                <a:latin typeface="Times New Roman" panose="02020603050405020304" pitchFamily="18" charset="0"/>
                <a:cs typeface="Times New Roman" panose="02020603050405020304" pitchFamily="18" charset="0"/>
              </a:rPr>
              <a:t>TMJs</a:t>
            </a:r>
            <a:r>
              <a:rPr lang="en-US" sz="3200" b="0" i="0" dirty="0" smtClean="0">
                <a:solidFill>
                  <a:srgbClr val="495354"/>
                </a:solidFill>
                <a:effectLst/>
                <a:latin typeface="Times New Roman" panose="02020603050405020304" pitchFamily="18" charset="0"/>
                <a:cs typeface="Times New Roman" panose="02020603050405020304" pitchFamily="18" charset="0"/>
              </a:rPr>
              <a:t>.</a:t>
            </a:r>
            <a:endParaRPr lang="en-US" sz="3200" b="0" i="0" dirty="0" smtClean="0">
              <a:solidFill>
                <a:srgbClr val="495354"/>
              </a:solidFill>
              <a:effectLst/>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endParaRPr lang="en-US" sz="3200" b="0" i="0" dirty="0">
              <a:solidFill>
                <a:srgbClr val="495354"/>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26482" cy="6924973"/>
          </a:xfrm>
          <a:prstGeom prst="rect">
            <a:avLst/>
          </a:prstGeom>
        </p:spPr>
        <p:txBody>
          <a:bodyPr wrap="square">
            <a:spAutoFit/>
          </a:bodyPr>
          <a:lstStyle/>
          <a:p>
            <a:r>
              <a:rPr lang="en-US" sz="6000" b="1" i="0" dirty="0" smtClean="0">
                <a:solidFill>
                  <a:srgbClr val="C00000"/>
                </a:solidFill>
                <a:effectLst/>
                <a:latin typeface="Times New Roman" panose="02020603050405020304" pitchFamily="18" charset="0"/>
                <a:cs typeface="Times New Roman" panose="02020603050405020304" pitchFamily="18" charset="0"/>
              </a:rPr>
              <a:t>Blood supply and innervation</a:t>
            </a:r>
            <a:endParaRPr lang="en-US" sz="6000" b="1" i="0" dirty="0" smtClean="0">
              <a:solidFill>
                <a:srgbClr val="C00000"/>
              </a:solidFill>
              <a:effectLst/>
              <a:latin typeface="Times New Roman" panose="02020603050405020304" pitchFamily="18" charset="0"/>
              <a:cs typeface="Times New Roman" panose="02020603050405020304" pitchFamily="18" charset="0"/>
            </a:endParaRPr>
          </a:p>
          <a:p>
            <a:endParaRPr lang="en-US" sz="3200" b="1" i="0" dirty="0" smtClean="0">
              <a:solidFill>
                <a:srgbClr val="C00000"/>
              </a:solidFill>
              <a:effectLst/>
              <a:latin typeface="Times New Roman" panose="02020603050405020304" pitchFamily="18" charset="0"/>
              <a:cs typeface="Times New Roman" panose="02020603050405020304" pitchFamily="18" charset="0"/>
            </a:endParaRPr>
          </a:p>
          <a:p>
            <a:r>
              <a:rPr lang="en-US" sz="3200" b="0" i="0" dirty="0" smtClean="0">
                <a:solidFill>
                  <a:srgbClr val="495354"/>
                </a:solidFill>
                <a:effectLst/>
                <a:latin typeface="Times New Roman" panose="02020603050405020304" pitchFamily="18" charset="0"/>
                <a:cs typeface="Times New Roman" panose="02020603050405020304" pitchFamily="18" charset="0"/>
              </a:rPr>
              <a:t>The TMJ is supplied mainly by three arteries. </a:t>
            </a:r>
            <a:endParaRPr lang="en-US" sz="3200" b="0" i="0" dirty="0" smtClean="0">
              <a:solidFill>
                <a:srgbClr val="495354"/>
              </a:solidFill>
              <a:effectLst/>
              <a:latin typeface="Times New Roman" panose="02020603050405020304" pitchFamily="18" charset="0"/>
              <a:cs typeface="Times New Roman" panose="02020603050405020304" pitchFamily="18" charset="0"/>
            </a:endParaRPr>
          </a:p>
          <a:p>
            <a:endParaRPr lang="en-US" sz="3200" b="0" i="0" dirty="0" smtClean="0">
              <a:solidFill>
                <a:srgbClr val="495354"/>
              </a:solidFill>
              <a:effectLst/>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3200" b="0" i="0" dirty="0" smtClean="0">
                <a:solidFill>
                  <a:srgbClr val="495354"/>
                </a:solidFill>
                <a:effectLst/>
                <a:latin typeface="Times New Roman" panose="02020603050405020304" pitchFamily="18" charset="0"/>
                <a:cs typeface="Times New Roman" panose="02020603050405020304" pitchFamily="18" charset="0"/>
              </a:rPr>
              <a:t>The main supply comes from the </a:t>
            </a:r>
            <a:r>
              <a:rPr lang="en-US" sz="3200" b="1" i="0" dirty="0" smtClean="0">
                <a:solidFill>
                  <a:srgbClr val="495354"/>
                </a:solidFill>
                <a:effectLst/>
                <a:latin typeface="Times New Roman" panose="02020603050405020304" pitchFamily="18" charset="0"/>
                <a:cs typeface="Times New Roman" panose="02020603050405020304" pitchFamily="18" charset="0"/>
              </a:rPr>
              <a:t>deep auricular artery</a:t>
            </a:r>
            <a:r>
              <a:rPr lang="en-US" sz="3200" b="0" i="0" dirty="0" smtClean="0">
                <a:solidFill>
                  <a:srgbClr val="495354"/>
                </a:solidFill>
                <a:effectLst/>
                <a:latin typeface="Times New Roman" panose="02020603050405020304" pitchFamily="18" charset="0"/>
                <a:cs typeface="Times New Roman" panose="02020603050405020304" pitchFamily="18" charset="0"/>
              </a:rPr>
              <a:t> (from the </a:t>
            </a:r>
            <a:r>
              <a:rPr lang="en-US" sz="3200" b="1" i="0" u="sng" dirty="0" smtClean="0">
                <a:solidFill>
                  <a:srgbClr val="495354"/>
                </a:solidFill>
                <a:effectLst/>
                <a:latin typeface="Times New Roman" panose="02020603050405020304" pitchFamily="18" charset="0"/>
                <a:cs typeface="Times New Roman" panose="02020603050405020304" pitchFamily="18" charset="0"/>
              </a:rPr>
              <a:t>maxillary artery</a:t>
            </a:r>
            <a:r>
              <a:rPr lang="en-US" sz="3200" b="0" i="0" dirty="0" smtClean="0">
                <a:solidFill>
                  <a:srgbClr val="495354"/>
                </a:solidFill>
                <a:effectLst/>
                <a:latin typeface="Times New Roman" panose="02020603050405020304" pitchFamily="18" charset="0"/>
                <a:cs typeface="Times New Roman" panose="02020603050405020304" pitchFamily="18" charset="0"/>
              </a:rPr>
              <a:t>) and the </a:t>
            </a:r>
            <a:r>
              <a:rPr lang="en-US" sz="3200" b="1" i="0" u="sng" dirty="0" smtClean="0">
                <a:solidFill>
                  <a:srgbClr val="495354"/>
                </a:solidFill>
                <a:effectLst/>
                <a:latin typeface="Times New Roman" panose="02020603050405020304" pitchFamily="18" charset="0"/>
                <a:cs typeface="Times New Roman" panose="02020603050405020304" pitchFamily="18" charset="0"/>
              </a:rPr>
              <a:t>superficial temporal artery</a:t>
            </a:r>
            <a:r>
              <a:rPr lang="en-US" sz="3200" b="0" i="0" dirty="0" smtClean="0">
                <a:solidFill>
                  <a:srgbClr val="495354"/>
                </a:solidFill>
                <a:effectLst/>
                <a:latin typeface="Times New Roman" panose="02020603050405020304" pitchFamily="18" charset="0"/>
                <a:cs typeface="Times New Roman" panose="02020603050405020304" pitchFamily="18" charset="0"/>
              </a:rPr>
              <a:t> (a terminal branch of the </a:t>
            </a:r>
            <a:r>
              <a:rPr lang="en-US" sz="3200" b="1" i="0" u="sng" dirty="0" smtClean="0">
                <a:solidFill>
                  <a:srgbClr val="495354"/>
                </a:solidFill>
                <a:effectLst/>
                <a:latin typeface="Times New Roman" panose="02020603050405020304" pitchFamily="18" charset="0"/>
                <a:cs typeface="Times New Roman" panose="02020603050405020304" pitchFamily="18" charset="0"/>
              </a:rPr>
              <a:t>external carotid artery</a:t>
            </a:r>
            <a:r>
              <a:rPr lang="en-US" sz="3200" b="1" i="0" dirty="0" smtClean="0">
                <a:solidFill>
                  <a:srgbClr val="495354"/>
                </a:solidFill>
                <a:effectLst/>
                <a:latin typeface="Times New Roman" panose="02020603050405020304" pitchFamily="18" charset="0"/>
                <a:cs typeface="Times New Roman" panose="02020603050405020304" pitchFamily="18" charset="0"/>
              </a:rPr>
              <a:t>).</a:t>
            </a:r>
            <a:endParaRPr lang="en-US" sz="3200" b="1" i="0" dirty="0" smtClean="0">
              <a:solidFill>
                <a:srgbClr val="495354"/>
              </a:solidFill>
              <a:effectLst/>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endParaRPr lang="en-US" sz="3200" b="0" i="0" dirty="0" smtClean="0">
              <a:solidFill>
                <a:srgbClr val="495354"/>
              </a:solidFill>
              <a:effectLst/>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3200" b="0" i="0" dirty="0" smtClean="0">
                <a:solidFill>
                  <a:srgbClr val="495354"/>
                </a:solidFill>
                <a:effectLst/>
                <a:latin typeface="Times New Roman" panose="02020603050405020304" pitchFamily="18" charset="0"/>
                <a:cs typeface="Times New Roman" panose="02020603050405020304" pitchFamily="18" charset="0"/>
              </a:rPr>
              <a:t> In addition, the joint is supplied by the </a:t>
            </a:r>
            <a:r>
              <a:rPr lang="en-US" sz="3200" b="1" i="0" dirty="0" smtClean="0">
                <a:solidFill>
                  <a:srgbClr val="495354"/>
                </a:solidFill>
                <a:effectLst/>
                <a:latin typeface="Times New Roman" panose="02020603050405020304" pitchFamily="18" charset="0"/>
                <a:cs typeface="Times New Roman" panose="02020603050405020304" pitchFamily="18" charset="0"/>
              </a:rPr>
              <a:t>anterior tympanic artery</a:t>
            </a:r>
            <a:r>
              <a:rPr lang="en-US" sz="3200" b="0" i="0" dirty="0" smtClean="0">
                <a:solidFill>
                  <a:srgbClr val="495354"/>
                </a:solidFill>
                <a:effectLst/>
                <a:latin typeface="Times New Roman" panose="02020603050405020304" pitchFamily="18" charset="0"/>
                <a:cs typeface="Times New Roman" panose="02020603050405020304" pitchFamily="18" charset="0"/>
              </a:rPr>
              <a:t> (also a branch of the maxillary artery). </a:t>
            </a:r>
            <a:endParaRPr lang="en-US" sz="3200" b="0" i="0" dirty="0" smtClean="0">
              <a:solidFill>
                <a:srgbClr val="495354"/>
              </a:solidFill>
              <a:effectLst/>
              <a:latin typeface="Times New Roman" panose="02020603050405020304" pitchFamily="18" charset="0"/>
              <a:cs typeface="Times New Roman" panose="02020603050405020304" pitchFamily="18" charset="0"/>
            </a:endParaRPr>
          </a:p>
          <a:p>
            <a:endParaRPr lang="en-US" sz="3200" b="0" i="0" dirty="0" smtClean="0">
              <a:solidFill>
                <a:srgbClr val="495354"/>
              </a:solidFill>
              <a:effectLst/>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3200" b="0" i="0" dirty="0" smtClean="0">
                <a:solidFill>
                  <a:srgbClr val="495354"/>
                </a:solidFill>
                <a:effectLst/>
                <a:latin typeface="Times New Roman" panose="02020603050405020304" pitchFamily="18" charset="0"/>
                <a:cs typeface="Times New Roman" panose="02020603050405020304" pitchFamily="18" charset="0"/>
              </a:rPr>
              <a:t>The venous drainage of the TMJ is via the </a:t>
            </a:r>
            <a:r>
              <a:rPr lang="en-US" sz="3200" b="1" i="0" dirty="0" smtClean="0">
                <a:solidFill>
                  <a:srgbClr val="495354"/>
                </a:solidFill>
                <a:effectLst/>
                <a:latin typeface="Times New Roman" panose="02020603050405020304" pitchFamily="18" charset="0"/>
                <a:cs typeface="Times New Roman" panose="02020603050405020304" pitchFamily="18" charset="0"/>
              </a:rPr>
              <a:t>superficial temporal vein </a:t>
            </a:r>
            <a:r>
              <a:rPr lang="en-US" sz="3200" b="0" i="0" dirty="0" smtClean="0">
                <a:solidFill>
                  <a:srgbClr val="495354"/>
                </a:solidFill>
                <a:effectLst/>
                <a:latin typeface="Times New Roman" panose="02020603050405020304" pitchFamily="18" charset="0"/>
                <a:cs typeface="Times New Roman" panose="02020603050405020304" pitchFamily="18" charset="0"/>
              </a:rPr>
              <a:t>and the </a:t>
            </a:r>
            <a:r>
              <a:rPr lang="en-US" sz="3200" b="1" i="0" dirty="0" smtClean="0">
                <a:solidFill>
                  <a:srgbClr val="495354"/>
                </a:solidFill>
                <a:effectLst/>
                <a:latin typeface="Times New Roman" panose="02020603050405020304" pitchFamily="18" charset="0"/>
                <a:cs typeface="Times New Roman" panose="02020603050405020304" pitchFamily="18" charset="0"/>
              </a:rPr>
              <a:t>maxillary vein</a:t>
            </a:r>
            <a:r>
              <a:rPr lang="en-US" sz="3200" b="0" i="0" dirty="0" smtClean="0">
                <a:solidFill>
                  <a:srgbClr val="495354"/>
                </a:solidFill>
                <a:effectLst/>
                <a:latin typeface="Times New Roman" panose="02020603050405020304" pitchFamily="18" charset="0"/>
                <a:cs typeface="Times New Roman" panose="02020603050405020304" pitchFamily="18" charset="0"/>
              </a:rPr>
              <a:t>.</a:t>
            </a:r>
            <a:endParaRPr lang="en-US" sz="3200" b="0" i="0" dirty="0" smtClean="0">
              <a:solidFill>
                <a:srgbClr val="495354"/>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3557"/>
            <a:ext cx="12191999" cy="5509200"/>
          </a:xfrm>
          <a:prstGeom prst="rect">
            <a:avLst/>
          </a:prstGeom>
        </p:spPr>
        <p:txBody>
          <a:bodyPr wrap="square">
            <a:spAutoFit/>
          </a:bodyPr>
          <a:lstStyle/>
          <a:p>
            <a:r>
              <a:rPr lang="en-US" sz="6000" b="1" i="0" dirty="0" smtClean="0">
                <a:solidFill>
                  <a:srgbClr val="C00000"/>
                </a:solidFill>
                <a:effectLst/>
                <a:latin typeface="Times New Roman" panose="02020603050405020304" pitchFamily="18" charset="0"/>
                <a:cs typeface="Times New Roman" panose="02020603050405020304" pitchFamily="18" charset="0"/>
              </a:rPr>
              <a:t>Blood supply and innervation cont’d</a:t>
            </a:r>
            <a:endParaRPr lang="en-US" sz="6000" b="1" i="0" dirty="0" smtClean="0">
              <a:solidFill>
                <a:srgbClr val="C00000"/>
              </a:solidFill>
              <a:effectLst/>
              <a:latin typeface="Times New Roman" panose="02020603050405020304" pitchFamily="18" charset="0"/>
              <a:cs typeface="Times New Roman" panose="02020603050405020304" pitchFamily="18" charset="0"/>
            </a:endParaRPr>
          </a:p>
          <a:p>
            <a:endParaRPr lang="en-US" b="0" i="0" dirty="0" smtClean="0">
              <a:solidFill>
                <a:srgbClr val="495354"/>
              </a:solidFill>
              <a:effectLst/>
              <a:latin typeface="Times New Roman" panose="02020603050405020304" pitchFamily="18" charset="0"/>
              <a:cs typeface="Times New Roman" panose="02020603050405020304" pitchFamily="18" charset="0"/>
            </a:endParaRPr>
          </a:p>
          <a:p>
            <a:endParaRPr lang="en-US" dirty="0">
              <a:solidFill>
                <a:srgbClr val="495354"/>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3200" b="0" i="0" dirty="0" smtClean="0">
                <a:solidFill>
                  <a:srgbClr val="495354"/>
                </a:solidFill>
                <a:effectLst/>
                <a:latin typeface="Times New Roman" panose="02020603050405020304" pitchFamily="18" charset="0"/>
                <a:cs typeface="Times New Roman" panose="02020603050405020304" pitchFamily="18" charset="0"/>
              </a:rPr>
              <a:t>The innervation to the </a:t>
            </a:r>
            <a:r>
              <a:rPr lang="en-US" sz="3200" b="0" i="0" dirty="0" err="1" smtClean="0">
                <a:solidFill>
                  <a:srgbClr val="495354"/>
                </a:solidFill>
                <a:effectLst/>
                <a:latin typeface="Times New Roman" panose="02020603050405020304" pitchFamily="18" charset="0"/>
                <a:cs typeface="Times New Roman" panose="02020603050405020304" pitchFamily="18" charset="0"/>
              </a:rPr>
              <a:t>temporomandibular</a:t>
            </a:r>
            <a:r>
              <a:rPr lang="en-US" sz="3200" b="0" i="0" dirty="0" smtClean="0">
                <a:solidFill>
                  <a:srgbClr val="495354"/>
                </a:solidFill>
                <a:effectLst/>
                <a:latin typeface="Times New Roman" panose="02020603050405020304" pitchFamily="18" charset="0"/>
                <a:cs typeface="Times New Roman" panose="02020603050405020304" pitchFamily="18" charset="0"/>
              </a:rPr>
              <a:t> joint is by branches from the </a:t>
            </a:r>
            <a:r>
              <a:rPr lang="en-US" sz="3200" b="1" i="0" u="sng" dirty="0" smtClean="0">
                <a:solidFill>
                  <a:srgbClr val="495354"/>
                </a:solidFill>
                <a:effectLst/>
                <a:latin typeface="Times New Roman" panose="02020603050405020304" pitchFamily="18" charset="0"/>
                <a:cs typeface="Times New Roman" panose="02020603050405020304" pitchFamily="18" charset="0"/>
              </a:rPr>
              <a:t>mandibular division</a:t>
            </a:r>
            <a:r>
              <a:rPr lang="en-US" sz="3200" b="0" i="0" dirty="0" smtClean="0">
                <a:solidFill>
                  <a:srgbClr val="495354"/>
                </a:solidFill>
                <a:effectLst/>
                <a:latin typeface="Times New Roman" panose="02020603050405020304" pitchFamily="18" charset="0"/>
                <a:cs typeface="Times New Roman" panose="02020603050405020304" pitchFamily="18" charset="0"/>
              </a:rPr>
              <a:t> of the </a:t>
            </a:r>
            <a:r>
              <a:rPr lang="en-US" sz="3200" b="1" i="0" u="sng" dirty="0" smtClean="0">
                <a:solidFill>
                  <a:srgbClr val="495354"/>
                </a:solidFill>
                <a:effectLst/>
                <a:latin typeface="Times New Roman" panose="02020603050405020304" pitchFamily="18" charset="0"/>
                <a:cs typeface="Times New Roman" panose="02020603050405020304" pitchFamily="18" charset="0"/>
              </a:rPr>
              <a:t>trigeminal nerve</a:t>
            </a:r>
            <a:r>
              <a:rPr lang="en-US" sz="3200" b="0" i="0" dirty="0" smtClean="0">
                <a:solidFill>
                  <a:srgbClr val="495354"/>
                </a:solidFill>
                <a:effectLst/>
                <a:latin typeface="Times New Roman" panose="02020603050405020304" pitchFamily="18" charset="0"/>
                <a:cs typeface="Times New Roman" panose="02020603050405020304" pitchFamily="18" charset="0"/>
              </a:rPr>
              <a:t> (CN V3), mostly through the </a:t>
            </a:r>
            <a:r>
              <a:rPr lang="en-US" sz="3200" b="1" i="0" dirty="0" err="1" smtClean="0">
                <a:solidFill>
                  <a:srgbClr val="495354"/>
                </a:solidFill>
                <a:effectLst/>
                <a:latin typeface="Times New Roman" panose="02020603050405020304" pitchFamily="18" charset="0"/>
                <a:cs typeface="Times New Roman" panose="02020603050405020304" pitchFamily="18" charset="0"/>
              </a:rPr>
              <a:t>auriculotemporal</a:t>
            </a:r>
            <a:r>
              <a:rPr lang="en-US" sz="3200" b="1" i="0" dirty="0" smtClean="0">
                <a:solidFill>
                  <a:srgbClr val="495354"/>
                </a:solidFill>
                <a:effectLst/>
                <a:latin typeface="Times New Roman" panose="02020603050405020304" pitchFamily="18" charset="0"/>
                <a:cs typeface="Times New Roman" panose="02020603050405020304" pitchFamily="18" charset="0"/>
              </a:rPr>
              <a:t> branch</a:t>
            </a:r>
            <a:r>
              <a:rPr lang="en-US" sz="3200" b="0" i="0" dirty="0" smtClean="0">
                <a:solidFill>
                  <a:srgbClr val="495354"/>
                </a:solidFill>
                <a:effectLst/>
                <a:latin typeface="Times New Roman" panose="02020603050405020304" pitchFamily="18" charset="0"/>
                <a:cs typeface="Times New Roman" panose="02020603050405020304" pitchFamily="18" charset="0"/>
              </a:rPr>
              <a:t>, along with branches from the </a:t>
            </a:r>
            <a:r>
              <a:rPr lang="en-US" sz="3200" b="1" i="0" dirty="0" err="1" smtClean="0">
                <a:solidFill>
                  <a:srgbClr val="495354"/>
                </a:solidFill>
                <a:effectLst/>
                <a:latin typeface="Times New Roman" panose="02020603050405020304" pitchFamily="18" charset="0"/>
                <a:cs typeface="Times New Roman" panose="02020603050405020304" pitchFamily="18" charset="0"/>
              </a:rPr>
              <a:t>masseteric</a:t>
            </a:r>
            <a:r>
              <a:rPr lang="en-US" sz="3200" b="0" i="0" dirty="0" smtClean="0">
                <a:solidFill>
                  <a:srgbClr val="495354"/>
                </a:solidFill>
                <a:effectLst/>
                <a:latin typeface="Times New Roman" panose="02020603050405020304" pitchFamily="18" charset="0"/>
                <a:cs typeface="Times New Roman" panose="02020603050405020304" pitchFamily="18" charset="0"/>
              </a:rPr>
              <a:t> and </a:t>
            </a:r>
            <a:r>
              <a:rPr lang="en-US" sz="3200" b="1" i="0" dirty="0" smtClean="0">
                <a:solidFill>
                  <a:srgbClr val="495354"/>
                </a:solidFill>
                <a:effectLst/>
                <a:latin typeface="Times New Roman" panose="02020603050405020304" pitchFamily="18" charset="0"/>
                <a:cs typeface="Times New Roman" panose="02020603050405020304" pitchFamily="18" charset="0"/>
              </a:rPr>
              <a:t>deep temporal nerves</a:t>
            </a:r>
            <a:r>
              <a:rPr lang="en-US" sz="3200" b="0" i="0" dirty="0" smtClean="0">
                <a:solidFill>
                  <a:srgbClr val="495354"/>
                </a:solidFill>
                <a:effectLst/>
                <a:latin typeface="Times New Roman" panose="02020603050405020304" pitchFamily="18" charset="0"/>
                <a:cs typeface="Times New Roman" panose="02020603050405020304" pitchFamily="18" charset="0"/>
              </a:rPr>
              <a:t>. </a:t>
            </a:r>
            <a:endParaRPr lang="en-US" sz="3200" b="0" i="0" dirty="0" smtClean="0">
              <a:solidFill>
                <a:srgbClr val="495354"/>
              </a:solidFill>
              <a:effectLst/>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endParaRPr lang="en-US" sz="3200" dirty="0">
              <a:solidFill>
                <a:srgbClr val="495354"/>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endParaRPr lang="en-US" sz="3200" b="0" i="0" dirty="0" smtClean="0">
              <a:solidFill>
                <a:srgbClr val="495354"/>
              </a:solidFill>
              <a:effectLst/>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3200" b="0" i="0" dirty="0" smtClean="0">
                <a:solidFill>
                  <a:srgbClr val="495354"/>
                </a:solidFill>
                <a:effectLst/>
                <a:latin typeface="Times New Roman" panose="02020603050405020304" pitchFamily="18" charset="0"/>
                <a:cs typeface="Times New Roman" panose="02020603050405020304" pitchFamily="18" charset="0"/>
              </a:rPr>
              <a:t>The </a:t>
            </a:r>
            <a:r>
              <a:rPr lang="en-US" sz="3200" b="1" i="0" dirty="0" smtClean="0">
                <a:solidFill>
                  <a:srgbClr val="495354"/>
                </a:solidFill>
                <a:effectLst/>
                <a:latin typeface="Times New Roman" panose="02020603050405020304" pitchFamily="18" charset="0"/>
                <a:cs typeface="Times New Roman" panose="02020603050405020304" pitchFamily="18" charset="0"/>
              </a:rPr>
              <a:t>articular tissues </a:t>
            </a:r>
            <a:r>
              <a:rPr lang="en-US" sz="3200" b="0" i="0" dirty="0" smtClean="0">
                <a:solidFill>
                  <a:srgbClr val="495354"/>
                </a:solidFill>
                <a:effectLst/>
                <a:latin typeface="Times New Roman" panose="02020603050405020304" pitchFamily="18" charset="0"/>
                <a:cs typeface="Times New Roman" panose="02020603050405020304" pitchFamily="18" charset="0"/>
              </a:rPr>
              <a:t>and the </a:t>
            </a:r>
            <a:r>
              <a:rPr lang="en-US" sz="3200" b="1" i="0" dirty="0" smtClean="0">
                <a:solidFill>
                  <a:srgbClr val="495354"/>
                </a:solidFill>
                <a:effectLst/>
                <a:latin typeface="Times New Roman" panose="02020603050405020304" pitchFamily="18" charset="0"/>
                <a:cs typeface="Times New Roman" panose="02020603050405020304" pitchFamily="18" charset="0"/>
              </a:rPr>
              <a:t>dense part of the articular disc </a:t>
            </a:r>
            <a:r>
              <a:rPr lang="en-US" sz="3200" b="0" i="0" dirty="0" smtClean="0">
                <a:solidFill>
                  <a:srgbClr val="495354"/>
                </a:solidFill>
                <a:effectLst/>
                <a:latin typeface="Times New Roman" panose="02020603050405020304" pitchFamily="18" charset="0"/>
                <a:cs typeface="Times New Roman" panose="02020603050405020304" pitchFamily="18" charset="0"/>
              </a:rPr>
              <a:t>have no nerve supply.</a:t>
            </a:r>
            <a:endParaRPr lang="en-US" sz="3200" b="0" i="0" dirty="0">
              <a:solidFill>
                <a:srgbClr val="495354"/>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83006"/>
            <a:ext cx="12191999" cy="5447645"/>
          </a:xfrm>
          <a:prstGeom prst="rect">
            <a:avLst/>
          </a:prstGeom>
        </p:spPr>
        <p:txBody>
          <a:bodyPr wrap="square">
            <a:spAutoFit/>
          </a:bodyPr>
          <a:lstStyle/>
          <a:p>
            <a:r>
              <a:rPr lang="en-US" sz="6000" b="1" i="0" dirty="0" smtClean="0">
                <a:solidFill>
                  <a:srgbClr val="C00000"/>
                </a:solidFill>
                <a:effectLst/>
                <a:latin typeface="Times New Roman" panose="02020603050405020304" pitchFamily="18" charset="0"/>
                <a:cs typeface="Times New Roman" panose="02020603050405020304" pitchFamily="18" charset="0"/>
              </a:rPr>
              <a:t>Movements</a:t>
            </a:r>
            <a:endParaRPr lang="en-US" sz="6000" b="1" i="0" dirty="0" smtClean="0">
              <a:solidFill>
                <a:srgbClr val="C00000"/>
              </a:solidFill>
              <a:effectLst/>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3200" b="0" i="0" dirty="0" smtClean="0">
                <a:solidFill>
                  <a:srgbClr val="495354"/>
                </a:solidFill>
                <a:effectLst/>
                <a:latin typeface="Times New Roman" panose="02020603050405020304" pitchFamily="18" charset="0"/>
                <a:cs typeface="Times New Roman" panose="02020603050405020304" pitchFamily="18" charset="0"/>
              </a:rPr>
              <a:t>The </a:t>
            </a:r>
            <a:r>
              <a:rPr lang="en-US" sz="3200" b="0" i="0" dirty="0" err="1" smtClean="0">
                <a:solidFill>
                  <a:srgbClr val="495354"/>
                </a:solidFill>
                <a:effectLst/>
                <a:latin typeface="Times New Roman" panose="02020603050405020304" pitchFamily="18" charset="0"/>
                <a:cs typeface="Times New Roman" panose="02020603050405020304" pitchFamily="18" charset="0"/>
              </a:rPr>
              <a:t>temporomandibular</a:t>
            </a:r>
            <a:r>
              <a:rPr lang="en-US" sz="3200" b="0" i="0" dirty="0" smtClean="0">
                <a:solidFill>
                  <a:srgbClr val="495354"/>
                </a:solidFill>
                <a:effectLst/>
                <a:latin typeface="Times New Roman" panose="02020603050405020304" pitchFamily="18" charset="0"/>
                <a:cs typeface="Times New Roman" panose="02020603050405020304" pitchFamily="18" charset="0"/>
              </a:rPr>
              <a:t> joint is a hinge type of synovial joint that allows for a wide range of movements to occur. The two compartments of the TMJ have different functions in terms of movements. </a:t>
            </a:r>
            <a:endParaRPr lang="en-US" sz="3200" b="0" i="0" dirty="0" smtClean="0">
              <a:solidFill>
                <a:srgbClr val="495354"/>
              </a:solidFill>
              <a:effectLst/>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3200" b="0" i="0" dirty="0" smtClean="0">
                <a:solidFill>
                  <a:srgbClr val="495354"/>
                </a:solidFill>
                <a:effectLst/>
                <a:latin typeface="Times New Roman" panose="02020603050405020304" pitchFamily="18" charset="0"/>
                <a:cs typeface="Times New Roman" panose="02020603050405020304" pitchFamily="18" charset="0"/>
              </a:rPr>
              <a:t>The superior compartment allows translational movements to occur at the joint. Translation (sliding) can be described as a movement in which every point of the moving object simultaneously has the same direction and velocity.</a:t>
            </a:r>
            <a:endParaRPr lang="en-US" sz="3200" b="0" i="0" dirty="0" smtClean="0">
              <a:solidFill>
                <a:srgbClr val="495354"/>
              </a:solidFill>
              <a:effectLst/>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3200" b="0" i="0" dirty="0" smtClean="0">
                <a:solidFill>
                  <a:srgbClr val="495354"/>
                </a:solidFill>
                <a:effectLst/>
                <a:latin typeface="Times New Roman" panose="02020603050405020304" pitchFamily="18" charset="0"/>
                <a:cs typeface="Times New Roman" panose="02020603050405020304" pitchFamily="18" charset="0"/>
              </a:rPr>
              <a:t> </a:t>
            </a:r>
            <a:endParaRPr lang="en-US" sz="3200" b="0" i="0" dirty="0">
              <a:solidFill>
                <a:srgbClr val="495354"/>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23634" cy="6739255"/>
          </a:xfrm>
          <a:prstGeom prst="rect">
            <a:avLst/>
          </a:prstGeom>
        </p:spPr>
        <p:txBody>
          <a:bodyPr wrap="square">
            <a:spAutoFit/>
          </a:bodyPr>
          <a:lstStyle/>
          <a:p>
            <a:r>
              <a:rPr lang="en-US" sz="6000" b="1" i="0" dirty="0" smtClean="0">
                <a:solidFill>
                  <a:srgbClr val="C00000"/>
                </a:solidFill>
                <a:effectLst/>
                <a:latin typeface="Times New Roman" panose="02020603050405020304" pitchFamily="18" charset="0"/>
                <a:cs typeface="Times New Roman" panose="02020603050405020304" pitchFamily="18" charset="0"/>
              </a:rPr>
              <a:t>Movements cont’d</a:t>
            </a:r>
            <a:endParaRPr lang="en-US" sz="6000" b="1" i="0" dirty="0" smtClean="0">
              <a:solidFill>
                <a:srgbClr val="C00000"/>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b="0" i="0" dirty="0" smtClean="0">
              <a:solidFill>
                <a:srgbClr val="495354"/>
              </a:solidFill>
              <a:effectLst/>
              <a:latin typeface="var(--medium)"/>
            </a:endParaRPr>
          </a:p>
          <a:p>
            <a:pPr indent="0">
              <a:buFont typeface="Wingdings" panose="05000000000000000000" pitchFamily="2" charset="2"/>
              <a:buNone/>
            </a:pPr>
            <a:r>
              <a:rPr lang="en-US" sz="2800" dirty="0">
                <a:solidFill>
                  <a:srgbClr val="495354"/>
                </a:solidFill>
                <a:latin typeface="Times New Roman" panose="02020603050405020304" pitchFamily="18" charset="0"/>
                <a:cs typeface="Times New Roman" panose="02020603050405020304" pitchFamily="18" charset="0"/>
              </a:rPr>
              <a:t>E</a:t>
            </a:r>
            <a:r>
              <a:rPr lang="en-US" sz="2800" b="0" i="0" dirty="0" smtClean="0">
                <a:solidFill>
                  <a:srgbClr val="495354"/>
                </a:solidFill>
                <a:effectLst/>
                <a:latin typeface="Times New Roman" panose="02020603050405020304" pitchFamily="18" charset="0"/>
                <a:cs typeface="Times New Roman" panose="02020603050405020304" pitchFamily="18" charset="0"/>
              </a:rPr>
              <a:t>xample of translation at the TMJ  occurs when the mandible moves forward causing the teeth, condyles, and rami to all move in the same direction and to the same degree. This movement occurs between the superior surface of the articular disc and the inferior surface of the articular fossa. These movements include the:</a:t>
            </a:r>
            <a:r>
              <a:rPr lang="en-US" b="0" i="0" dirty="0" smtClean="0">
                <a:solidFill>
                  <a:srgbClr val="495354"/>
                </a:solidFill>
                <a:effectLst/>
                <a:latin typeface="Times New Roman" panose="02020603050405020304" pitchFamily="18" charset="0"/>
                <a:cs typeface="Times New Roman" panose="02020603050405020304" pitchFamily="18" charset="0"/>
              </a:rPr>
              <a:t> </a:t>
            </a:r>
            <a:endParaRPr lang="en-US" b="0" i="0" dirty="0" smtClean="0">
              <a:solidFill>
                <a:srgbClr val="495354"/>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dirty="0">
              <a:solidFill>
                <a:srgbClr val="495354"/>
              </a:solidFill>
              <a:latin typeface="var(--medium)"/>
            </a:endParaRPr>
          </a:p>
          <a:p>
            <a:pPr marL="285750" indent="-285750">
              <a:buFont typeface="Wingdings" panose="05000000000000000000" pitchFamily="2" charset="2"/>
              <a:buChar char="v"/>
            </a:pPr>
            <a:r>
              <a:rPr lang="en-US" sz="2800" b="0" i="0" dirty="0" smtClean="0">
                <a:solidFill>
                  <a:srgbClr val="495354"/>
                </a:solidFill>
                <a:effectLst/>
                <a:latin typeface="Times New Roman" panose="02020603050405020304" pitchFamily="18" charset="0"/>
                <a:cs typeface="Times New Roman" panose="02020603050405020304" pitchFamily="18" charset="0"/>
              </a:rPr>
              <a:t>Protrusion - the anterior movement of the mandible. </a:t>
            </a:r>
            <a:endParaRPr lang="en-US" sz="2800" b="0" i="0" dirty="0" smtClean="0">
              <a:solidFill>
                <a:srgbClr val="495354"/>
              </a:solidFill>
              <a:effectLst/>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800" b="0" i="0" dirty="0" smtClean="0">
                <a:solidFill>
                  <a:srgbClr val="495354"/>
                </a:solidFill>
                <a:effectLst/>
                <a:latin typeface="Times New Roman" panose="02020603050405020304" pitchFamily="18" charset="0"/>
                <a:cs typeface="Times New Roman" panose="02020603050405020304" pitchFamily="18" charset="0"/>
              </a:rPr>
              <a:t>Retraction - the posterior movement of the mandible. </a:t>
            </a:r>
            <a:endParaRPr lang="en-US" sz="2800" b="0" i="0" dirty="0" smtClean="0">
              <a:solidFill>
                <a:srgbClr val="495354"/>
              </a:solidFill>
              <a:effectLst/>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endParaRPr lang="en-US" sz="2800" b="0" i="0" dirty="0" smtClean="0">
              <a:solidFill>
                <a:srgbClr val="495354"/>
              </a:solidFill>
              <a:effectLst/>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800" b="0" i="0" dirty="0" smtClean="0">
                <a:solidFill>
                  <a:srgbClr val="495354"/>
                </a:solidFill>
                <a:effectLst/>
                <a:latin typeface="Times New Roman" panose="02020603050405020304" pitchFamily="18" charset="0"/>
                <a:cs typeface="Times New Roman" panose="02020603050405020304" pitchFamily="18" charset="0"/>
              </a:rPr>
              <a:t>Left and right lateral deviation of the mandible - this usually refers to the acts of grinding and chewing. </a:t>
            </a:r>
            <a:endParaRPr lang="en-US" sz="2800" b="0" i="0" dirty="0" smtClean="0">
              <a:solidFill>
                <a:srgbClr val="495354"/>
              </a:solidFill>
              <a:effectLst/>
              <a:latin typeface="Times New Roman" panose="02020603050405020304" pitchFamily="18" charset="0"/>
              <a:cs typeface="Times New Roman" panose="02020603050405020304" pitchFamily="18" charset="0"/>
            </a:endParaRPr>
          </a:p>
          <a:p>
            <a:r>
              <a:rPr lang="en-US" sz="2800" b="0" i="0" dirty="0" smtClean="0">
                <a:solidFill>
                  <a:srgbClr val="495354"/>
                </a:solidFill>
                <a:effectLst/>
                <a:latin typeface="Times New Roman" panose="02020603050405020304" pitchFamily="18" charset="0"/>
                <a:cs typeface="Times New Roman" panose="02020603050405020304" pitchFamily="18" charset="0"/>
              </a:rPr>
              <a:t>The inferior compartment allows rotational movements. More specifically, rotation occurs between the superior surface of the condyle and the inferior surface of the articular disc. </a:t>
            </a:r>
            <a:endParaRPr lang="en-US" sz="2800" b="0" i="0" dirty="0" smtClean="0">
              <a:solidFill>
                <a:srgbClr val="495354"/>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8585" y="62230"/>
            <a:ext cx="12021185" cy="4936490"/>
          </a:xfrm>
          <a:prstGeom prst="rect">
            <a:avLst/>
          </a:prstGeom>
        </p:spPr>
        <p:txBody>
          <a:bodyPr>
            <a:noAutofit/>
          </a:bodyPr>
          <a:lstStyle/>
          <a:p>
            <a:pPr marL="285750" indent="-285750">
              <a:buFont typeface="Wingdings" panose="05000000000000000000" pitchFamily="2" charset="2"/>
              <a:buChar char="v"/>
            </a:pPr>
            <a:r>
              <a:rPr lang="en-US" sz="3600" b="0" i="0" dirty="0" smtClean="0">
                <a:solidFill>
                  <a:srgbClr val="495354"/>
                </a:solidFill>
                <a:effectLst/>
                <a:latin typeface="Times New Roman" panose="02020603050405020304" pitchFamily="18" charset="0"/>
                <a:cs typeface="Times New Roman" panose="02020603050405020304" pitchFamily="18" charset="0"/>
              </a:rPr>
              <a:t>Rotational movement of the mandible can occur in all three planes: </a:t>
            </a:r>
            <a:r>
              <a:rPr lang="en-US" sz="3600" b="1" i="0" dirty="0" smtClean="0">
                <a:solidFill>
                  <a:srgbClr val="495354"/>
                </a:solidFill>
                <a:effectLst/>
                <a:latin typeface="Times New Roman" panose="02020603050405020304" pitchFamily="18" charset="0"/>
                <a:cs typeface="Times New Roman" panose="02020603050405020304" pitchFamily="18" charset="0"/>
              </a:rPr>
              <a:t>horizontal</a:t>
            </a:r>
            <a:r>
              <a:rPr lang="en-US" sz="3600" b="0" i="0" dirty="0" smtClean="0">
                <a:solidFill>
                  <a:srgbClr val="495354"/>
                </a:solidFill>
                <a:effectLst/>
                <a:latin typeface="Times New Roman" panose="02020603050405020304" pitchFamily="18" charset="0"/>
                <a:cs typeface="Times New Roman" panose="02020603050405020304" pitchFamily="18" charset="0"/>
              </a:rPr>
              <a:t>, </a:t>
            </a:r>
            <a:r>
              <a:rPr lang="en-US" sz="3600" b="1" i="0" dirty="0" smtClean="0">
                <a:solidFill>
                  <a:srgbClr val="495354"/>
                </a:solidFill>
                <a:effectLst/>
                <a:latin typeface="Times New Roman" panose="02020603050405020304" pitchFamily="18" charset="0"/>
                <a:cs typeface="Times New Roman" panose="02020603050405020304" pitchFamily="18" charset="0"/>
              </a:rPr>
              <a:t>frontal (vertical)</a:t>
            </a:r>
            <a:r>
              <a:rPr lang="en-US" sz="3600" b="0" i="0" dirty="0" smtClean="0">
                <a:solidFill>
                  <a:srgbClr val="495354"/>
                </a:solidFill>
                <a:effectLst/>
                <a:latin typeface="Times New Roman" panose="02020603050405020304" pitchFamily="18" charset="0"/>
                <a:cs typeface="Times New Roman" panose="02020603050405020304" pitchFamily="18" charset="0"/>
              </a:rPr>
              <a:t>, and </a:t>
            </a:r>
            <a:r>
              <a:rPr lang="en-US" sz="3600" b="1" i="0" dirty="0" smtClean="0">
                <a:solidFill>
                  <a:srgbClr val="495354"/>
                </a:solidFill>
                <a:effectLst/>
                <a:latin typeface="Times New Roman" panose="02020603050405020304" pitchFamily="18" charset="0"/>
                <a:cs typeface="Times New Roman" panose="02020603050405020304" pitchFamily="18" charset="0"/>
              </a:rPr>
              <a:t>sagittal.</a:t>
            </a:r>
            <a:r>
              <a:rPr lang="en-US" sz="3600" b="0" i="0" dirty="0" smtClean="0">
                <a:solidFill>
                  <a:srgbClr val="495354"/>
                </a:solidFill>
                <a:effectLst/>
                <a:latin typeface="Times New Roman" panose="02020603050405020304" pitchFamily="18" charset="0"/>
                <a:cs typeface="Times New Roman" panose="02020603050405020304" pitchFamily="18" charset="0"/>
              </a:rPr>
              <a:t> These movements include the:</a:t>
            </a:r>
            <a:endParaRPr lang="en-US" sz="3600" b="0" i="0" dirty="0" smtClean="0">
              <a:solidFill>
                <a:srgbClr val="495354"/>
              </a:solidFill>
              <a:effectLst/>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3600" b="1" i="0" dirty="0" smtClean="0">
                <a:solidFill>
                  <a:srgbClr val="495354"/>
                </a:solidFill>
                <a:effectLst/>
                <a:latin typeface="Times New Roman" panose="02020603050405020304" pitchFamily="18" charset="0"/>
                <a:cs typeface="Times New Roman" panose="02020603050405020304" pitchFamily="18" charset="0"/>
              </a:rPr>
              <a:t>Depression</a:t>
            </a:r>
            <a:r>
              <a:rPr lang="en-US" sz="3600" b="0" i="0" dirty="0" smtClean="0">
                <a:solidFill>
                  <a:srgbClr val="495354"/>
                </a:solidFill>
                <a:effectLst/>
                <a:latin typeface="Times New Roman" panose="02020603050405020304" pitchFamily="18" charset="0"/>
                <a:cs typeface="Times New Roman" panose="02020603050405020304" pitchFamily="18" charset="0"/>
              </a:rPr>
              <a:t> - a movement of opening the mouth. This movement is mostly caused by gravity, however, if there is resistance, then muscles facilitate this movement.</a:t>
            </a:r>
            <a:endParaRPr lang="en-US" sz="3600" b="0" i="0" dirty="0" smtClean="0">
              <a:solidFill>
                <a:srgbClr val="495354"/>
              </a:solidFill>
              <a:effectLst/>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3600" b="1" i="0" dirty="0" smtClean="0">
                <a:solidFill>
                  <a:srgbClr val="495354"/>
                </a:solidFill>
                <a:effectLst/>
                <a:latin typeface="Times New Roman" panose="02020603050405020304" pitchFamily="18" charset="0"/>
                <a:cs typeface="Times New Roman" panose="02020603050405020304" pitchFamily="18" charset="0"/>
              </a:rPr>
              <a:t>Elevation</a:t>
            </a:r>
            <a:r>
              <a:rPr lang="en-US" sz="3600" b="0" i="0" dirty="0" smtClean="0">
                <a:solidFill>
                  <a:srgbClr val="495354"/>
                </a:solidFill>
                <a:effectLst/>
                <a:latin typeface="Times New Roman" panose="02020603050405020304" pitchFamily="18" charset="0"/>
                <a:cs typeface="Times New Roman" panose="02020603050405020304" pitchFamily="18" charset="0"/>
              </a:rPr>
              <a:t> - a strong movement of closing the mouth. </a:t>
            </a:r>
            <a:endParaRPr lang="en-US" sz="3600" b="0" i="0" dirty="0" smtClean="0">
              <a:solidFill>
                <a:srgbClr val="495354"/>
              </a:solidFill>
              <a:effectLst/>
              <a:latin typeface="Times New Roman" panose="02020603050405020304" pitchFamily="18" charset="0"/>
              <a:cs typeface="Times New Roman" panose="02020603050405020304" pitchFamily="18" charset="0"/>
            </a:endParaRPr>
          </a:p>
          <a:p>
            <a:r>
              <a:rPr lang="en-US" sz="3600" b="0" i="0" dirty="0" smtClean="0">
                <a:solidFill>
                  <a:srgbClr val="495354"/>
                </a:solidFill>
                <a:effectLst/>
                <a:latin typeface="Times New Roman" panose="02020603050405020304" pitchFamily="18" charset="0"/>
                <a:cs typeface="Times New Roman" panose="02020603050405020304" pitchFamily="18" charset="0"/>
              </a:rPr>
              <a:t>In most cases, both rotation and translation occur simultaneously. </a:t>
            </a:r>
            <a:endParaRPr lang="en-US" sz="3600" b="0" i="0" dirty="0" smtClean="0">
              <a:solidFill>
                <a:srgbClr val="495354"/>
              </a:solidFill>
              <a:effectLst/>
              <a:latin typeface="Times New Roman" panose="02020603050405020304" pitchFamily="18" charset="0"/>
              <a:cs typeface="Times New Roman" panose="02020603050405020304" pitchFamily="18" charset="0"/>
            </a:endParaRPr>
          </a:p>
          <a:p>
            <a:r>
              <a:rPr lang="en-US" sz="3600" b="0" i="0" dirty="0" smtClean="0">
                <a:solidFill>
                  <a:srgbClr val="495354"/>
                </a:solidFill>
                <a:effectLst/>
                <a:latin typeface="Times New Roman" panose="02020603050405020304" pitchFamily="18" charset="0"/>
                <a:cs typeface="Times New Roman" panose="02020603050405020304" pitchFamily="18" charset="0"/>
              </a:rPr>
              <a:t>This results in complex movements that allow people to chew and talk.</a:t>
            </a:r>
            <a:endParaRPr lang="en-US" sz="3600" b="0" i="0" dirty="0">
              <a:solidFill>
                <a:srgbClr val="495354"/>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35" y="161925"/>
            <a:ext cx="12192000" cy="6563360"/>
          </a:xfrm>
          <a:prstGeom prst="rect">
            <a:avLst/>
          </a:prstGeom>
        </p:spPr>
        <p:txBody>
          <a:bodyPr wrap="square">
            <a:noAutofit/>
          </a:bodyPr>
          <a:lstStyle/>
          <a:p>
            <a:r>
              <a:rPr lang="en-US" sz="4800" b="1" i="0" dirty="0" smtClean="0">
                <a:solidFill>
                  <a:srgbClr val="C00000"/>
                </a:solidFill>
                <a:effectLst/>
                <a:latin typeface="Times New Roman" panose="02020603050405020304" pitchFamily="18" charset="0"/>
                <a:cs typeface="Times New Roman" panose="02020603050405020304" pitchFamily="18" charset="0"/>
              </a:rPr>
              <a:t>Muscles acting on the </a:t>
            </a:r>
            <a:r>
              <a:rPr lang="en-US" sz="4800" b="1" i="0" dirty="0" err="1" smtClean="0">
                <a:solidFill>
                  <a:srgbClr val="C00000"/>
                </a:solidFill>
                <a:effectLst/>
                <a:latin typeface="Times New Roman" panose="02020603050405020304" pitchFamily="18" charset="0"/>
                <a:cs typeface="Times New Roman" panose="02020603050405020304" pitchFamily="18" charset="0"/>
              </a:rPr>
              <a:t>temporomandibular</a:t>
            </a:r>
            <a:r>
              <a:rPr lang="en-US" sz="4800" b="1" i="0" dirty="0" smtClean="0">
                <a:solidFill>
                  <a:srgbClr val="C00000"/>
                </a:solidFill>
                <a:effectLst/>
                <a:latin typeface="Times New Roman" panose="02020603050405020304" pitchFamily="18" charset="0"/>
                <a:cs typeface="Times New Roman" panose="02020603050405020304" pitchFamily="18" charset="0"/>
              </a:rPr>
              <a:t> joint</a:t>
            </a:r>
            <a:endParaRPr lang="en-US" sz="4800" b="1" i="0" dirty="0" smtClean="0">
              <a:solidFill>
                <a:srgbClr val="C00000"/>
              </a:solidFill>
              <a:effectLst/>
              <a:latin typeface="Times New Roman" panose="02020603050405020304" pitchFamily="18" charset="0"/>
              <a:cs typeface="Times New Roman" panose="02020603050405020304" pitchFamily="18" charset="0"/>
            </a:endParaRPr>
          </a:p>
          <a:p>
            <a:endParaRPr lang="en-US" sz="3200" b="0" i="0" dirty="0" smtClean="0">
              <a:solidFill>
                <a:srgbClr val="495354"/>
              </a:solidFill>
              <a:effectLst/>
              <a:latin typeface="Times New Roman" panose="02020603050405020304" pitchFamily="18" charset="0"/>
              <a:cs typeface="Times New Roman" panose="02020603050405020304" pitchFamily="18" charset="0"/>
            </a:endParaRPr>
          </a:p>
          <a:p>
            <a:pPr marL="457200" indent="-457200">
              <a:buFont typeface="Wingdings" panose="05000000000000000000" charset="0"/>
              <a:buChar char="v"/>
            </a:pPr>
            <a:r>
              <a:rPr lang="en-US" sz="3200" b="0" i="0" dirty="0" smtClean="0">
                <a:solidFill>
                  <a:srgbClr val="495354"/>
                </a:solidFill>
                <a:effectLst/>
                <a:latin typeface="Times New Roman" panose="02020603050405020304" pitchFamily="18" charset="0"/>
                <a:cs typeface="Times New Roman" panose="02020603050405020304" pitchFamily="18" charset="0"/>
              </a:rPr>
              <a:t>Medial </a:t>
            </a:r>
            <a:r>
              <a:rPr lang="en-US" sz="3200" b="0" i="0" dirty="0" err="1" smtClean="0">
                <a:solidFill>
                  <a:srgbClr val="495354"/>
                </a:solidFill>
                <a:effectLst/>
                <a:latin typeface="Times New Roman" panose="02020603050405020304" pitchFamily="18" charset="0"/>
                <a:cs typeface="Times New Roman" panose="02020603050405020304" pitchFamily="18" charset="0"/>
              </a:rPr>
              <a:t>pterygoid</a:t>
            </a:r>
            <a:r>
              <a:rPr lang="en-US" sz="3200" b="0" i="0" dirty="0" smtClean="0">
                <a:solidFill>
                  <a:srgbClr val="495354"/>
                </a:solidFill>
                <a:effectLst/>
                <a:latin typeface="Times New Roman" panose="02020603050405020304" pitchFamily="18" charset="0"/>
                <a:cs typeface="Times New Roman" panose="02020603050405020304" pitchFamily="18" charset="0"/>
              </a:rPr>
              <a:t> muscle﻿</a:t>
            </a:r>
            <a:endParaRPr lang="en-US" sz="3200" b="0" i="0" dirty="0" smtClean="0">
              <a:solidFill>
                <a:srgbClr val="495354"/>
              </a:solidFill>
              <a:effectLst/>
              <a:latin typeface="Times New Roman" panose="02020603050405020304" pitchFamily="18" charset="0"/>
              <a:cs typeface="Times New Roman" panose="02020603050405020304" pitchFamily="18" charset="0"/>
            </a:endParaRPr>
          </a:p>
          <a:p>
            <a:pPr marL="457200" indent="-457200">
              <a:buFont typeface="Wingdings" panose="05000000000000000000" charset="0"/>
              <a:buChar char="v"/>
            </a:pPr>
            <a:r>
              <a:rPr lang="en-US" sz="3200" b="0" i="0" dirty="0" err="1" smtClean="0">
                <a:solidFill>
                  <a:srgbClr val="495354"/>
                </a:solidFill>
                <a:effectLst/>
                <a:latin typeface="Times New Roman" panose="02020603050405020304" pitchFamily="18" charset="0"/>
                <a:cs typeface="Times New Roman" panose="02020603050405020304" pitchFamily="18" charset="0"/>
              </a:rPr>
              <a:t>Musculus</a:t>
            </a:r>
            <a:r>
              <a:rPr lang="en-US" sz="3200" b="0" i="0" dirty="0" smtClean="0">
                <a:solidFill>
                  <a:srgbClr val="495354"/>
                </a:solidFill>
                <a:effectLst/>
                <a:latin typeface="Times New Roman" panose="02020603050405020304" pitchFamily="18" charset="0"/>
                <a:cs typeface="Times New Roman" panose="02020603050405020304" pitchFamily="18" charset="0"/>
              </a:rPr>
              <a:t> </a:t>
            </a:r>
            <a:r>
              <a:rPr lang="en-US" sz="3200" b="0" i="0" dirty="0" err="1" smtClean="0">
                <a:solidFill>
                  <a:srgbClr val="495354"/>
                </a:solidFill>
                <a:effectLst/>
                <a:latin typeface="Times New Roman" panose="02020603050405020304" pitchFamily="18" charset="0"/>
                <a:cs typeface="Times New Roman" panose="02020603050405020304" pitchFamily="18" charset="0"/>
              </a:rPr>
              <a:t>pterygoideus</a:t>
            </a:r>
            <a:r>
              <a:rPr lang="en-US" sz="3200" b="0" i="0" dirty="0" smtClean="0">
                <a:solidFill>
                  <a:srgbClr val="495354"/>
                </a:solidFill>
                <a:effectLst/>
                <a:latin typeface="Times New Roman" panose="02020603050405020304" pitchFamily="18" charset="0"/>
                <a:cs typeface="Times New Roman" panose="02020603050405020304" pitchFamily="18" charset="0"/>
              </a:rPr>
              <a:t> </a:t>
            </a:r>
            <a:r>
              <a:rPr lang="en-US" sz="3200" b="0" i="0" dirty="0" err="1" smtClean="0">
                <a:solidFill>
                  <a:srgbClr val="495354"/>
                </a:solidFill>
                <a:effectLst/>
                <a:latin typeface="Times New Roman" panose="02020603050405020304" pitchFamily="18" charset="0"/>
                <a:cs typeface="Times New Roman" panose="02020603050405020304" pitchFamily="18" charset="0"/>
              </a:rPr>
              <a:t>medialis</a:t>
            </a:r>
            <a:r>
              <a:rPr lang="en-US" sz="3200" b="0" i="0" dirty="0" smtClean="0">
                <a:solidFill>
                  <a:srgbClr val="495354"/>
                </a:solidFill>
                <a:effectLst/>
                <a:latin typeface="Times New Roman" panose="02020603050405020304" pitchFamily="18" charset="0"/>
                <a:cs typeface="Times New Roman" panose="02020603050405020304" pitchFamily="18" charset="0"/>
              </a:rPr>
              <a:t>﻿</a:t>
            </a:r>
            <a:endParaRPr lang="en-US" sz="3200" b="0" i="0" dirty="0" smtClean="0">
              <a:solidFill>
                <a:srgbClr val="495354"/>
              </a:solidFill>
              <a:effectLst/>
              <a:latin typeface="Times New Roman" panose="02020603050405020304" pitchFamily="18" charset="0"/>
              <a:cs typeface="Times New Roman" panose="02020603050405020304" pitchFamily="18" charset="0"/>
            </a:endParaRPr>
          </a:p>
          <a:p>
            <a:pPr marL="457200" indent="-457200">
              <a:buFont typeface="Wingdings" panose="05000000000000000000" charset="0"/>
              <a:buChar char="v"/>
            </a:pPr>
            <a:r>
              <a:rPr lang="en-US" sz="3200" b="0" i="0" dirty="0" smtClean="0">
                <a:solidFill>
                  <a:srgbClr val="495354"/>
                </a:solidFill>
                <a:effectLst/>
                <a:latin typeface="Times New Roman" panose="02020603050405020304" pitchFamily="18" charset="0"/>
                <a:cs typeface="Times New Roman" panose="02020603050405020304" pitchFamily="18" charset="0"/>
              </a:rPr>
              <a:t>There are four main </a:t>
            </a:r>
            <a:r>
              <a:rPr lang="en-US" sz="3200" b="0" i="0" u="sng" dirty="0" smtClean="0">
                <a:solidFill>
                  <a:schemeClr val="tx1"/>
                </a:solidFill>
                <a:effectLst/>
                <a:latin typeface="Times New Roman" panose="02020603050405020304" pitchFamily="18" charset="0"/>
                <a:cs typeface="Times New Roman" panose="02020603050405020304" pitchFamily="18" charset="0"/>
                <a:hlinkClick r:id="rId1"/>
              </a:rPr>
              <a:t>muscles of masticatio</a:t>
            </a:r>
            <a:r>
              <a:rPr lang="en-GB" altLang="en-US" sz="3200" b="0" i="0" u="sng" dirty="0" smtClean="0">
                <a:solidFill>
                  <a:schemeClr val="tx1"/>
                </a:solidFill>
                <a:effectLst/>
                <a:latin typeface="Times New Roman" panose="02020603050405020304" pitchFamily="18" charset="0"/>
                <a:cs typeface="Times New Roman" panose="02020603050405020304" pitchFamily="18" charset="0"/>
                <a:hlinkClick r:id="rId1"/>
              </a:rPr>
              <a:t>n</a:t>
            </a:r>
            <a:r>
              <a:rPr lang="en-US" sz="3200" b="0" i="0" dirty="0" smtClean="0">
                <a:solidFill>
                  <a:srgbClr val="495354"/>
                </a:solidFill>
                <a:effectLst/>
                <a:latin typeface="Times New Roman" panose="02020603050405020304" pitchFamily="18" charset="0"/>
                <a:cs typeface="Times New Roman" panose="02020603050405020304" pitchFamily="18" charset="0"/>
              </a:rPr>
              <a:t> including the </a:t>
            </a:r>
            <a:r>
              <a:rPr lang="en-US" sz="3200" b="0" i="0" u="sng" dirty="0" smtClean="0">
                <a:solidFill>
                  <a:srgbClr val="495354"/>
                </a:solidFill>
                <a:effectLst/>
                <a:latin typeface="Times New Roman" panose="02020603050405020304" pitchFamily="18" charset="0"/>
                <a:cs typeface="Times New Roman" panose="02020603050405020304" pitchFamily="18" charset="0"/>
                <a:hlinkClick r:id="rId2"/>
              </a:rPr>
              <a:t>temporalis</a:t>
            </a:r>
            <a:r>
              <a:rPr lang="en-US" sz="3200" b="0" i="0" dirty="0" smtClean="0">
                <a:solidFill>
                  <a:srgbClr val="495354"/>
                </a:solidFill>
                <a:effectLst/>
                <a:latin typeface="Times New Roman" panose="02020603050405020304" pitchFamily="18" charset="0"/>
                <a:cs typeface="Times New Roman" panose="02020603050405020304" pitchFamily="18" charset="0"/>
              </a:rPr>
              <a:t>, </a:t>
            </a:r>
            <a:r>
              <a:rPr lang="en-US" sz="3200" b="0" i="0" u="sng" dirty="0" smtClean="0">
                <a:solidFill>
                  <a:srgbClr val="495354"/>
                </a:solidFill>
                <a:effectLst/>
                <a:latin typeface="Times New Roman" panose="02020603050405020304" pitchFamily="18" charset="0"/>
                <a:cs typeface="Times New Roman" panose="02020603050405020304" pitchFamily="18" charset="0"/>
                <a:hlinkClick r:id="rId3"/>
              </a:rPr>
              <a:t>masseter</a:t>
            </a:r>
            <a:r>
              <a:rPr lang="en-US" sz="3200" b="0" i="0" dirty="0" smtClean="0">
                <a:solidFill>
                  <a:srgbClr val="495354"/>
                </a:solidFill>
                <a:effectLst/>
                <a:latin typeface="Times New Roman" panose="02020603050405020304" pitchFamily="18" charset="0"/>
                <a:cs typeface="Times New Roman" panose="02020603050405020304" pitchFamily="18" charset="0"/>
              </a:rPr>
              <a:t>, </a:t>
            </a:r>
            <a:r>
              <a:rPr lang="en-US" sz="3200" b="0" i="0" u="sng" dirty="0" smtClean="0">
                <a:solidFill>
                  <a:srgbClr val="495354"/>
                </a:solidFill>
                <a:effectLst/>
                <a:latin typeface="Times New Roman" panose="02020603050405020304" pitchFamily="18" charset="0"/>
                <a:cs typeface="Times New Roman" panose="02020603050405020304" pitchFamily="18" charset="0"/>
                <a:hlinkClick r:id="rId4"/>
              </a:rPr>
              <a:t>lateral </a:t>
            </a:r>
            <a:r>
              <a:rPr lang="en-US" sz="3200" b="0" i="0" u="sng" dirty="0" err="1" smtClean="0">
                <a:solidFill>
                  <a:srgbClr val="495354"/>
                </a:solidFill>
                <a:effectLst/>
                <a:latin typeface="Times New Roman" panose="02020603050405020304" pitchFamily="18" charset="0"/>
                <a:cs typeface="Times New Roman" panose="02020603050405020304" pitchFamily="18" charset="0"/>
                <a:hlinkClick r:id="rId4"/>
              </a:rPr>
              <a:t>pterygoid</a:t>
            </a:r>
            <a:r>
              <a:rPr lang="en-US" sz="3200" b="0" i="0" dirty="0" smtClean="0">
                <a:solidFill>
                  <a:srgbClr val="495354"/>
                </a:solidFill>
                <a:effectLst/>
                <a:latin typeface="Times New Roman" panose="02020603050405020304" pitchFamily="18" charset="0"/>
                <a:cs typeface="Times New Roman" panose="02020603050405020304" pitchFamily="18" charset="0"/>
              </a:rPr>
              <a:t> and </a:t>
            </a:r>
            <a:r>
              <a:rPr lang="en-US" sz="3200" b="0" i="0" u="sng" dirty="0" smtClean="0">
                <a:solidFill>
                  <a:srgbClr val="495354"/>
                </a:solidFill>
                <a:effectLst/>
                <a:latin typeface="Times New Roman" panose="02020603050405020304" pitchFamily="18" charset="0"/>
                <a:cs typeface="Times New Roman" panose="02020603050405020304" pitchFamily="18" charset="0"/>
                <a:hlinkClick r:id="rId5"/>
              </a:rPr>
              <a:t>medial </a:t>
            </a:r>
            <a:r>
              <a:rPr lang="en-US" sz="3200" b="0" i="0" u="sng" dirty="0" err="1" smtClean="0">
                <a:solidFill>
                  <a:srgbClr val="495354"/>
                </a:solidFill>
                <a:effectLst/>
                <a:latin typeface="Times New Roman" panose="02020603050405020304" pitchFamily="18" charset="0"/>
                <a:cs typeface="Times New Roman" panose="02020603050405020304" pitchFamily="18" charset="0"/>
                <a:hlinkClick r:id="rId5"/>
              </a:rPr>
              <a:t>pterygoid</a:t>
            </a:r>
            <a:r>
              <a:rPr lang="en-US" sz="3200" b="0" i="0" dirty="0" smtClean="0">
                <a:solidFill>
                  <a:srgbClr val="495354"/>
                </a:solidFill>
                <a:effectLst/>
                <a:latin typeface="Times New Roman" panose="02020603050405020304" pitchFamily="18" charset="0"/>
                <a:cs typeface="Times New Roman" panose="02020603050405020304" pitchFamily="18" charset="0"/>
              </a:rPr>
              <a:t> muscles. </a:t>
            </a:r>
            <a:endParaRPr lang="en-US" sz="3200" b="0" i="0" dirty="0" smtClean="0">
              <a:solidFill>
                <a:srgbClr val="495354"/>
              </a:solidFill>
              <a:effectLst/>
              <a:latin typeface="Times New Roman" panose="02020603050405020304" pitchFamily="18" charset="0"/>
              <a:cs typeface="Times New Roman" panose="02020603050405020304" pitchFamily="18" charset="0"/>
            </a:endParaRPr>
          </a:p>
          <a:p>
            <a:pPr marL="457200" indent="-457200">
              <a:buFont typeface="Wingdings" panose="05000000000000000000" charset="0"/>
              <a:buChar char="v"/>
            </a:pPr>
            <a:r>
              <a:rPr lang="en-US" sz="3200" b="0" i="0" dirty="0" smtClean="0">
                <a:solidFill>
                  <a:srgbClr val="495354"/>
                </a:solidFill>
                <a:effectLst/>
                <a:latin typeface="Times New Roman" panose="02020603050405020304" pitchFamily="18" charset="0"/>
                <a:cs typeface="Times New Roman" panose="02020603050405020304" pitchFamily="18" charset="0"/>
              </a:rPr>
              <a:t>Mastication is also facilitated  by the </a:t>
            </a:r>
            <a:r>
              <a:rPr lang="en-US" sz="3200" b="0" i="0" u="sng" dirty="0" err="1" smtClean="0">
                <a:solidFill>
                  <a:srgbClr val="495354"/>
                </a:solidFill>
                <a:effectLst/>
                <a:latin typeface="Times New Roman" panose="02020603050405020304" pitchFamily="18" charset="0"/>
                <a:cs typeface="Times New Roman" panose="02020603050405020304" pitchFamily="18" charset="0"/>
                <a:hlinkClick r:id="rId6"/>
              </a:rPr>
              <a:t>infrahyoid</a:t>
            </a:r>
            <a:r>
              <a:rPr lang="en-US" sz="3200" b="0" i="0" dirty="0" smtClean="0">
                <a:solidFill>
                  <a:srgbClr val="495354"/>
                </a:solidFill>
                <a:effectLst/>
                <a:latin typeface="Times New Roman" panose="02020603050405020304" pitchFamily="18" charset="0"/>
                <a:cs typeface="Times New Roman" panose="02020603050405020304" pitchFamily="18" charset="0"/>
              </a:rPr>
              <a:t> and </a:t>
            </a:r>
            <a:r>
              <a:rPr lang="en-US" sz="3200" b="0" i="0" u="sng" dirty="0" err="1" smtClean="0">
                <a:solidFill>
                  <a:srgbClr val="495354"/>
                </a:solidFill>
                <a:effectLst/>
                <a:latin typeface="Times New Roman" panose="02020603050405020304" pitchFamily="18" charset="0"/>
                <a:cs typeface="Times New Roman" panose="02020603050405020304" pitchFamily="18" charset="0"/>
                <a:hlinkClick r:id="rId7"/>
              </a:rPr>
              <a:t>suprahyoid</a:t>
            </a:r>
            <a:r>
              <a:rPr lang="en-US" sz="3200" b="0" i="0" dirty="0" smtClean="0">
                <a:solidFill>
                  <a:srgbClr val="495354"/>
                </a:solidFill>
                <a:effectLst/>
                <a:latin typeface="Times New Roman" panose="02020603050405020304" pitchFamily="18" charset="0"/>
                <a:cs typeface="Times New Roman" panose="02020603050405020304" pitchFamily="18" charset="0"/>
              </a:rPr>
              <a:t> muscles. </a:t>
            </a:r>
            <a:endParaRPr lang="en-US" sz="3200" b="0" i="0" dirty="0">
              <a:solidFill>
                <a:srgbClr val="495354"/>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70815" y="0"/>
            <a:ext cx="11916410" cy="6679565"/>
          </a:xfrm>
          <a:prstGeom prst="rect">
            <a:avLst/>
          </a:prstGeom>
          <a:noFill/>
        </p:spPr>
        <p:txBody>
          <a:bodyPr wrap="square" rtlCol="0" anchor="t">
            <a:noAutofit/>
          </a:bodyPr>
          <a:p>
            <a:pPr marL="457200" indent="-457200">
              <a:buFont typeface="Wingdings" panose="05000000000000000000" charset="0"/>
              <a:buChar char="v"/>
            </a:pPr>
            <a:r>
              <a:rPr lang="en-US" sz="3200" dirty="0" smtClean="0">
                <a:solidFill>
                  <a:srgbClr val="495354"/>
                </a:solidFill>
                <a:effectLst/>
                <a:latin typeface="Times New Roman" panose="02020603050405020304" pitchFamily="18" charset="0"/>
                <a:cs typeface="Times New Roman" panose="02020603050405020304" pitchFamily="18" charset="0"/>
                <a:sym typeface="+mn-ea"/>
              </a:rPr>
              <a:t>Each movement in the TMJ activates a certain group of muscles:</a:t>
            </a:r>
            <a:endParaRPr lang="en-US" sz="3200" b="0" i="0" dirty="0" smtClean="0">
              <a:solidFill>
                <a:srgbClr val="495354"/>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3200" b="1" dirty="0" smtClean="0">
                <a:solidFill>
                  <a:srgbClr val="495354"/>
                </a:solidFill>
                <a:effectLst/>
                <a:latin typeface="Times New Roman" panose="02020603050405020304" pitchFamily="18" charset="0"/>
                <a:cs typeface="Times New Roman" panose="02020603050405020304" pitchFamily="18" charset="0"/>
                <a:sym typeface="+mn-ea"/>
              </a:rPr>
              <a:t>Elevation</a:t>
            </a:r>
            <a:r>
              <a:rPr lang="en-US" sz="3200" dirty="0" smtClean="0">
                <a:solidFill>
                  <a:srgbClr val="495354"/>
                </a:solidFill>
                <a:effectLst/>
                <a:latin typeface="Times New Roman" panose="02020603050405020304" pitchFamily="18" charset="0"/>
                <a:cs typeface="Times New Roman" panose="02020603050405020304" pitchFamily="18" charset="0"/>
                <a:sym typeface="+mn-ea"/>
              </a:rPr>
              <a:t>: Temporalis, masseter and medial </a:t>
            </a:r>
            <a:r>
              <a:rPr lang="en-US" sz="3200" dirty="0" err="1" smtClean="0">
                <a:solidFill>
                  <a:srgbClr val="495354"/>
                </a:solidFill>
                <a:effectLst/>
                <a:latin typeface="Times New Roman" panose="02020603050405020304" pitchFamily="18" charset="0"/>
                <a:cs typeface="Times New Roman" panose="02020603050405020304" pitchFamily="18" charset="0"/>
                <a:sym typeface="+mn-ea"/>
              </a:rPr>
              <a:t>pterygoid</a:t>
            </a:r>
            <a:r>
              <a:rPr lang="en-US" sz="3200" dirty="0" smtClean="0">
                <a:solidFill>
                  <a:srgbClr val="495354"/>
                </a:solidFill>
                <a:effectLst/>
                <a:latin typeface="Times New Roman" panose="02020603050405020304" pitchFamily="18" charset="0"/>
                <a:cs typeface="Times New Roman" panose="02020603050405020304" pitchFamily="18" charset="0"/>
                <a:sym typeface="+mn-ea"/>
              </a:rPr>
              <a:t> muscles</a:t>
            </a:r>
            <a:r>
              <a:rPr lang="en-GB" altLang="en-US" sz="3200" dirty="0" smtClean="0">
                <a:solidFill>
                  <a:srgbClr val="495354"/>
                </a:solidFill>
                <a:effectLst/>
                <a:latin typeface="Times New Roman" panose="02020603050405020304" pitchFamily="18" charset="0"/>
                <a:cs typeface="Times New Roman" panose="02020603050405020304" pitchFamily="18" charset="0"/>
                <a:sym typeface="+mn-ea"/>
              </a:rPr>
              <a:t>;</a:t>
            </a:r>
            <a:endParaRPr lang="en-GB" altLang="en-US" sz="3200" dirty="0" smtClean="0">
              <a:solidFill>
                <a:srgbClr val="495354"/>
              </a:solidFill>
              <a:effectLst/>
              <a:latin typeface="Times New Roman" panose="02020603050405020304" pitchFamily="18" charset="0"/>
              <a:cs typeface="Times New Roman" panose="02020603050405020304" pitchFamily="18" charset="0"/>
              <a:sym typeface="+mn-ea"/>
            </a:endParaRPr>
          </a:p>
          <a:p>
            <a:pPr>
              <a:buFont typeface="Arial" panose="020B0604020202020204" pitchFamily="34" charset="0"/>
              <a:buChar char="•"/>
            </a:pPr>
            <a:endParaRPr lang="en-US" sz="3200" b="0" i="0" dirty="0" smtClean="0">
              <a:solidFill>
                <a:srgbClr val="495354"/>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3200" b="1" dirty="0" smtClean="0">
                <a:solidFill>
                  <a:srgbClr val="495354"/>
                </a:solidFill>
                <a:effectLst/>
                <a:latin typeface="Times New Roman" panose="02020603050405020304" pitchFamily="18" charset="0"/>
                <a:cs typeface="Times New Roman" panose="02020603050405020304" pitchFamily="18" charset="0"/>
                <a:sym typeface="+mn-ea"/>
              </a:rPr>
              <a:t>Depression</a:t>
            </a:r>
            <a:r>
              <a:rPr lang="en-US" sz="3200" dirty="0" smtClean="0">
                <a:solidFill>
                  <a:srgbClr val="495354"/>
                </a:solidFill>
                <a:effectLst/>
                <a:latin typeface="Times New Roman" panose="02020603050405020304" pitchFamily="18" charset="0"/>
                <a:cs typeface="Times New Roman" panose="02020603050405020304" pitchFamily="18" charset="0"/>
                <a:sym typeface="+mn-ea"/>
              </a:rPr>
              <a:t>: Lateral</a:t>
            </a:r>
            <a:r>
              <a:rPr lang="en-US" sz="3200" dirty="0" err="1" smtClean="0">
                <a:solidFill>
                  <a:srgbClr val="495354"/>
                </a:solidFill>
                <a:effectLst/>
                <a:latin typeface="Times New Roman" panose="02020603050405020304" pitchFamily="18" charset="0"/>
                <a:cs typeface="Times New Roman" panose="02020603050405020304" pitchFamily="18" charset="0"/>
                <a:sym typeface="+mn-ea"/>
              </a:rPr>
              <a:t>pterygoid</a:t>
            </a:r>
            <a:r>
              <a:rPr lang="en-US" sz="3200" dirty="0" smtClean="0">
                <a:solidFill>
                  <a:srgbClr val="495354"/>
                </a:solidFill>
                <a:effectLst/>
                <a:latin typeface="Times New Roman" panose="02020603050405020304" pitchFamily="18" charset="0"/>
                <a:cs typeface="Times New Roman" panose="02020603050405020304" pitchFamily="18" charset="0"/>
                <a:sym typeface="+mn-ea"/>
              </a:rPr>
              <a:t>, </a:t>
            </a:r>
            <a:r>
              <a:rPr lang="en-US" sz="3200" u="sng" dirty="0" smtClean="0">
                <a:solidFill>
                  <a:srgbClr val="495354"/>
                </a:solidFill>
                <a:effectLst/>
                <a:latin typeface="Times New Roman" panose="02020603050405020304" pitchFamily="18" charset="0"/>
                <a:cs typeface="Times New Roman" panose="02020603050405020304" pitchFamily="18" charset="0"/>
                <a:sym typeface="+mn-ea"/>
                <a:hlinkClick r:id="rId1"/>
              </a:rPr>
              <a:t>digastric</a:t>
            </a:r>
            <a:r>
              <a:rPr lang="en-US" sz="3200" dirty="0" smtClean="0">
                <a:solidFill>
                  <a:srgbClr val="495354"/>
                </a:solidFill>
                <a:effectLst/>
                <a:latin typeface="Times New Roman" panose="02020603050405020304" pitchFamily="18" charset="0"/>
                <a:cs typeface="Times New Roman" panose="02020603050405020304" pitchFamily="18" charset="0"/>
                <a:sym typeface="+mn-ea"/>
              </a:rPr>
              <a:t>, </a:t>
            </a:r>
            <a:r>
              <a:rPr lang="en-US" sz="3200" u="sng" dirty="0" err="1" smtClean="0">
                <a:solidFill>
                  <a:srgbClr val="495354"/>
                </a:solidFill>
                <a:effectLst/>
                <a:latin typeface="Times New Roman" panose="02020603050405020304" pitchFamily="18" charset="0"/>
                <a:cs typeface="Times New Roman" panose="02020603050405020304" pitchFamily="18" charset="0"/>
                <a:sym typeface="+mn-ea"/>
                <a:hlinkClick r:id="rId2"/>
              </a:rPr>
              <a:t>geniohyoid</a:t>
            </a:r>
            <a:r>
              <a:rPr lang="en-US" sz="3200" dirty="0" smtClean="0">
                <a:solidFill>
                  <a:srgbClr val="495354"/>
                </a:solidFill>
                <a:effectLst/>
                <a:latin typeface="Times New Roman" panose="02020603050405020304" pitchFamily="18" charset="0"/>
                <a:cs typeface="Times New Roman" panose="02020603050405020304" pitchFamily="18" charset="0"/>
                <a:sym typeface="+mn-ea"/>
              </a:rPr>
              <a:t> and </a:t>
            </a:r>
            <a:r>
              <a:rPr lang="en-US" sz="3200" u="sng" dirty="0" err="1" smtClean="0">
                <a:solidFill>
                  <a:srgbClr val="495354"/>
                </a:solidFill>
                <a:effectLst/>
                <a:latin typeface="Times New Roman" panose="02020603050405020304" pitchFamily="18" charset="0"/>
                <a:cs typeface="Times New Roman" panose="02020603050405020304" pitchFamily="18" charset="0"/>
                <a:sym typeface="+mn-ea"/>
                <a:hlinkClick r:id="rId3"/>
              </a:rPr>
              <a:t>mylohyoid</a:t>
            </a:r>
            <a:r>
              <a:rPr lang="en-US" sz="3200" dirty="0" smtClean="0">
                <a:solidFill>
                  <a:srgbClr val="495354"/>
                </a:solidFill>
                <a:effectLst/>
                <a:latin typeface="Times New Roman" panose="02020603050405020304" pitchFamily="18" charset="0"/>
                <a:cs typeface="Times New Roman" panose="02020603050405020304" pitchFamily="18" charset="0"/>
                <a:sym typeface="+mn-ea"/>
              </a:rPr>
              <a:t> </a:t>
            </a:r>
            <a:r>
              <a:rPr lang="en-GB" altLang="en-US" sz="3200" dirty="0" smtClean="0">
                <a:solidFill>
                  <a:srgbClr val="495354"/>
                </a:solidFill>
                <a:effectLst/>
                <a:latin typeface="Times New Roman" panose="02020603050405020304" pitchFamily="18" charset="0"/>
                <a:cs typeface="Times New Roman" panose="02020603050405020304" pitchFamily="18" charset="0"/>
                <a:sym typeface="+mn-ea"/>
              </a:rPr>
              <a:t> m</a:t>
            </a:r>
            <a:r>
              <a:rPr lang="en-US" sz="3200" dirty="0" smtClean="0">
                <a:solidFill>
                  <a:srgbClr val="495354"/>
                </a:solidFill>
                <a:effectLst/>
                <a:latin typeface="Times New Roman" panose="02020603050405020304" pitchFamily="18" charset="0"/>
                <a:cs typeface="Times New Roman" panose="02020603050405020304" pitchFamily="18" charset="0"/>
                <a:sym typeface="+mn-ea"/>
              </a:rPr>
              <a:t>uscles;</a:t>
            </a:r>
            <a:endParaRPr lang="en-US" sz="3200" dirty="0" smtClean="0">
              <a:solidFill>
                <a:srgbClr val="495354"/>
              </a:solidFill>
              <a:effectLst/>
              <a:latin typeface="Times New Roman" panose="02020603050405020304" pitchFamily="18" charset="0"/>
              <a:cs typeface="Times New Roman" panose="02020603050405020304" pitchFamily="18" charset="0"/>
              <a:sym typeface="+mn-ea"/>
            </a:endParaRPr>
          </a:p>
          <a:p>
            <a:pPr>
              <a:buFont typeface="Arial" panose="020B0604020202020204" pitchFamily="34" charset="0"/>
              <a:buChar char="•"/>
            </a:pPr>
            <a:endParaRPr lang="en-US" sz="3200" b="0" i="0" dirty="0" smtClean="0">
              <a:solidFill>
                <a:srgbClr val="495354"/>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3200" b="1" dirty="0" smtClean="0">
                <a:solidFill>
                  <a:srgbClr val="495354"/>
                </a:solidFill>
                <a:effectLst/>
                <a:latin typeface="Times New Roman" panose="02020603050405020304" pitchFamily="18" charset="0"/>
                <a:cs typeface="Times New Roman" panose="02020603050405020304" pitchFamily="18" charset="0"/>
                <a:sym typeface="+mn-ea"/>
              </a:rPr>
              <a:t>Protrusion</a:t>
            </a:r>
            <a:r>
              <a:rPr lang="en-US" sz="3200" dirty="0" smtClean="0">
                <a:solidFill>
                  <a:srgbClr val="495354"/>
                </a:solidFill>
                <a:effectLst/>
                <a:latin typeface="Times New Roman" panose="02020603050405020304" pitchFamily="18" charset="0"/>
                <a:cs typeface="Times New Roman" panose="02020603050405020304" pitchFamily="18" charset="0"/>
                <a:sym typeface="+mn-ea"/>
              </a:rPr>
              <a:t>: Lateral </a:t>
            </a:r>
            <a:r>
              <a:rPr lang="en-US" sz="3200" dirty="0" err="1" smtClean="0">
                <a:solidFill>
                  <a:srgbClr val="495354"/>
                </a:solidFill>
                <a:effectLst/>
                <a:latin typeface="Times New Roman" panose="02020603050405020304" pitchFamily="18" charset="0"/>
                <a:cs typeface="Times New Roman" panose="02020603050405020304" pitchFamily="18" charset="0"/>
                <a:sym typeface="+mn-ea"/>
              </a:rPr>
              <a:t>pterygoid</a:t>
            </a:r>
            <a:r>
              <a:rPr lang="en-US" sz="3200" dirty="0" smtClean="0">
                <a:solidFill>
                  <a:srgbClr val="495354"/>
                </a:solidFill>
                <a:effectLst/>
                <a:latin typeface="Times New Roman" panose="02020603050405020304" pitchFamily="18" charset="0"/>
                <a:cs typeface="Times New Roman" panose="02020603050405020304" pitchFamily="18" charset="0"/>
                <a:sym typeface="+mn-ea"/>
              </a:rPr>
              <a:t> and medial </a:t>
            </a:r>
            <a:r>
              <a:rPr lang="en-US" sz="3200" dirty="0" err="1" smtClean="0">
                <a:solidFill>
                  <a:srgbClr val="495354"/>
                </a:solidFill>
                <a:effectLst/>
                <a:latin typeface="Times New Roman" panose="02020603050405020304" pitchFamily="18" charset="0"/>
                <a:cs typeface="Times New Roman" panose="02020603050405020304" pitchFamily="18" charset="0"/>
                <a:sym typeface="+mn-ea"/>
              </a:rPr>
              <a:t>pterygoid</a:t>
            </a:r>
            <a:r>
              <a:rPr lang="en-US" sz="3200" dirty="0" smtClean="0">
                <a:solidFill>
                  <a:srgbClr val="495354"/>
                </a:solidFill>
                <a:effectLst/>
                <a:latin typeface="Times New Roman" panose="02020603050405020304" pitchFamily="18" charset="0"/>
                <a:cs typeface="Times New Roman" panose="02020603050405020304" pitchFamily="18" charset="0"/>
                <a:sym typeface="+mn-ea"/>
              </a:rPr>
              <a:t> muscles</a:t>
            </a:r>
            <a:r>
              <a:rPr lang="en-GB" altLang="en-US" sz="3200" dirty="0" smtClean="0">
                <a:solidFill>
                  <a:srgbClr val="495354"/>
                </a:solidFill>
                <a:effectLst/>
                <a:latin typeface="Times New Roman" panose="02020603050405020304" pitchFamily="18" charset="0"/>
                <a:cs typeface="Times New Roman" panose="02020603050405020304" pitchFamily="18" charset="0"/>
                <a:sym typeface="+mn-ea"/>
              </a:rPr>
              <a:t>.</a:t>
            </a:r>
            <a:endParaRPr lang="en-GB" altLang="en-US" sz="3200" dirty="0" smtClean="0">
              <a:solidFill>
                <a:srgbClr val="495354"/>
              </a:solidFill>
              <a:effectLst/>
              <a:latin typeface="Times New Roman" panose="02020603050405020304" pitchFamily="18" charset="0"/>
              <a:cs typeface="Times New Roman" panose="02020603050405020304" pitchFamily="18" charset="0"/>
              <a:sym typeface="+mn-ea"/>
            </a:endParaRPr>
          </a:p>
          <a:p>
            <a:pPr>
              <a:buFont typeface="Arial" panose="020B0604020202020204" pitchFamily="34" charset="0"/>
              <a:buChar char="•"/>
            </a:pPr>
            <a:endParaRPr lang="en-US" sz="3200" b="0" i="0" dirty="0" smtClean="0">
              <a:solidFill>
                <a:srgbClr val="495354"/>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3200" b="1" dirty="0" smtClean="0">
                <a:solidFill>
                  <a:srgbClr val="495354"/>
                </a:solidFill>
                <a:effectLst/>
                <a:latin typeface="Times New Roman" panose="02020603050405020304" pitchFamily="18" charset="0"/>
                <a:cs typeface="Times New Roman" panose="02020603050405020304" pitchFamily="18" charset="0"/>
                <a:sym typeface="+mn-ea"/>
              </a:rPr>
              <a:t>Retraction</a:t>
            </a:r>
            <a:r>
              <a:rPr lang="en-US" sz="3200" dirty="0" smtClean="0">
                <a:solidFill>
                  <a:srgbClr val="495354"/>
                </a:solidFill>
                <a:effectLst/>
                <a:latin typeface="Times New Roman" panose="02020603050405020304" pitchFamily="18" charset="0"/>
                <a:cs typeface="Times New Roman" panose="02020603050405020304" pitchFamily="18" charset="0"/>
                <a:sym typeface="+mn-ea"/>
              </a:rPr>
              <a:t>: Posterior fibers of temporalis, deep part of masseter, </a:t>
            </a:r>
            <a:r>
              <a:rPr lang="en-US" sz="3200" dirty="0" err="1" smtClean="0">
                <a:solidFill>
                  <a:srgbClr val="495354"/>
                </a:solidFill>
                <a:effectLst/>
                <a:latin typeface="Times New Roman" panose="02020603050405020304" pitchFamily="18" charset="0"/>
                <a:cs typeface="Times New Roman" panose="02020603050405020304" pitchFamily="18" charset="0"/>
                <a:sym typeface="+mn-ea"/>
              </a:rPr>
              <a:t>geniohyoid</a:t>
            </a:r>
            <a:r>
              <a:rPr lang="en-US" sz="3200" dirty="0" smtClean="0">
                <a:solidFill>
                  <a:srgbClr val="495354"/>
                </a:solidFill>
                <a:effectLst/>
                <a:latin typeface="Times New Roman" panose="02020603050405020304" pitchFamily="18" charset="0"/>
                <a:cs typeface="Times New Roman" panose="02020603050405020304" pitchFamily="18" charset="0"/>
                <a:sym typeface="+mn-ea"/>
              </a:rPr>
              <a:t> and digastric muscles; </a:t>
            </a:r>
            <a:r>
              <a:rPr lang="en-US" sz="3200" dirty="0">
                <a:latin typeface="Times New Roman" panose="02020603050405020304" pitchFamily="18" charset="0"/>
                <a:cs typeface="Times New Roman" panose="02020603050405020304" pitchFamily="18" charset="0"/>
                <a:sym typeface="+mn-ea"/>
              </a:rPr>
              <a:t>Lateral deviation: Posterior fibers of temporalis, digastric, </a:t>
            </a:r>
            <a:r>
              <a:rPr lang="en-US" sz="3200" dirty="0" err="1">
                <a:latin typeface="Times New Roman" panose="02020603050405020304" pitchFamily="18" charset="0"/>
                <a:cs typeface="Times New Roman" panose="02020603050405020304" pitchFamily="18" charset="0"/>
                <a:sym typeface="+mn-ea"/>
              </a:rPr>
              <a:t>mylohyoid</a:t>
            </a:r>
            <a:r>
              <a:rPr lang="en-US" sz="3200" dirty="0">
                <a:latin typeface="Times New Roman" panose="02020603050405020304" pitchFamily="18" charset="0"/>
                <a:cs typeface="Times New Roman" panose="02020603050405020304" pitchFamily="18" charset="0"/>
                <a:sym typeface="+mn-ea"/>
              </a:rPr>
              <a:t> and </a:t>
            </a:r>
            <a:r>
              <a:rPr lang="en-US" sz="3200" dirty="0" err="1">
                <a:latin typeface="Times New Roman" panose="02020603050405020304" pitchFamily="18" charset="0"/>
                <a:cs typeface="Times New Roman" panose="02020603050405020304" pitchFamily="18" charset="0"/>
                <a:sym typeface="+mn-ea"/>
              </a:rPr>
              <a:t>geniohyoid</a:t>
            </a:r>
            <a:r>
              <a:rPr lang="en-US" sz="3200" dirty="0">
                <a:latin typeface="Times New Roman" panose="02020603050405020304" pitchFamily="18" charset="0"/>
                <a:cs typeface="Times New Roman" panose="02020603050405020304" pitchFamily="18" charset="0"/>
                <a:sym typeface="+mn-ea"/>
              </a:rPr>
              <a:t> muscles (</a:t>
            </a:r>
            <a:r>
              <a:rPr lang="en-US" sz="3200" dirty="0" err="1">
                <a:latin typeface="Times New Roman" panose="02020603050405020304" pitchFamily="18" charset="0"/>
                <a:cs typeface="Times New Roman" panose="02020603050405020304" pitchFamily="18" charset="0"/>
                <a:sym typeface="+mn-ea"/>
              </a:rPr>
              <a:t>ipsilateral</a:t>
            </a:r>
            <a:r>
              <a:rPr lang="en-US" sz="3200" dirty="0">
                <a:latin typeface="Times New Roman" panose="02020603050405020304" pitchFamily="18" charset="0"/>
                <a:cs typeface="Times New Roman" panose="02020603050405020304" pitchFamily="18" charset="0"/>
                <a:sym typeface="+mn-ea"/>
              </a:rPr>
              <a:t> movement); lateral and medial </a:t>
            </a:r>
            <a:r>
              <a:rPr lang="en-US" sz="3200" dirty="0" err="1">
                <a:latin typeface="Times New Roman" panose="02020603050405020304" pitchFamily="18" charset="0"/>
                <a:cs typeface="Times New Roman" panose="02020603050405020304" pitchFamily="18" charset="0"/>
                <a:sym typeface="+mn-ea"/>
              </a:rPr>
              <a:t>pterygoid</a:t>
            </a:r>
            <a:r>
              <a:rPr lang="en-US" sz="3200" dirty="0">
                <a:latin typeface="Times New Roman" panose="02020603050405020304" pitchFamily="18" charset="0"/>
                <a:cs typeface="Times New Roman" panose="02020603050405020304" pitchFamily="18" charset="0"/>
                <a:sym typeface="+mn-ea"/>
              </a:rPr>
              <a:t> muscles (contralateral movement).</a:t>
            </a:r>
            <a:endParaRPr lang="en-US" sz="3200"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0490" y="635"/>
            <a:ext cx="11885930" cy="4998085"/>
          </a:xfrm>
          <a:prstGeom prst="rect">
            <a:avLst/>
          </a:prstGeom>
        </p:spPr>
        <p:txBody>
          <a:bodyPr>
            <a:noAutofit/>
          </a:bodyPr>
          <a:lstStyle/>
          <a:p>
            <a:r>
              <a:rPr lang="en-US" sz="3600" b="1" i="0" dirty="0" smtClean="0">
                <a:solidFill>
                  <a:srgbClr val="C00000"/>
                </a:solidFill>
                <a:effectLst/>
                <a:latin typeface="Times New Roman" panose="02020603050405020304" pitchFamily="18" charset="0"/>
                <a:cs typeface="Times New Roman" panose="02020603050405020304" pitchFamily="18" charset="0"/>
              </a:rPr>
              <a:t>Clinical relations</a:t>
            </a:r>
            <a:endParaRPr lang="en-US" sz="3600" b="0" i="0" dirty="0" smtClean="0">
              <a:effectLst/>
              <a:latin typeface="Times New Roman" panose="02020603050405020304" pitchFamily="18" charset="0"/>
              <a:cs typeface="Times New Roman" panose="02020603050405020304" pitchFamily="18" charset="0"/>
            </a:endParaRPr>
          </a:p>
          <a:p>
            <a:r>
              <a:rPr lang="en-US" sz="3600" b="0" dirty="0" smtClean="0">
                <a:effectLst/>
                <a:latin typeface="Times New Roman" panose="02020603050405020304" pitchFamily="18" charset="0"/>
                <a:cs typeface="Times New Roman" panose="02020603050405020304" pitchFamily="18" charset="0"/>
              </a:rPr>
              <a:t>Dislocation of the </a:t>
            </a:r>
            <a:r>
              <a:rPr lang="en-US" sz="3600" b="0" dirty="0" err="1" smtClean="0">
                <a:effectLst/>
                <a:latin typeface="Times New Roman" panose="02020603050405020304" pitchFamily="18" charset="0"/>
                <a:cs typeface="Times New Roman" panose="02020603050405020304" pitchFamily="18" charset="0"/>
              </a:rPr>
              <a:t>temporomandibular</a:t>
            </a:r>
            <a:r>
              <a:rPr lang="en-US" sz="3600" b="0" dirty="0" smtClean="0">
                <a:effectLst/>
                <a:latin typeface="Times New Roman" panose="02020603050405020304" pitchFamily="18" charset="0"/>
                <a:cs typeface="Times New Roman" panose="02020603050405020304" pitchFamily="18" charset="0"/>
              </a:rPr>
              <a:t> joint </a:t>
            </a:r>
            <a:endParaRPr lang="en-US" sz="3600" b="0" dirty="0" smtClean="0">
              <a:effectLst/>
              <a:latin typeface="Times New Roman" panose="02020603050405020304" pitchFamily="18" charset="0"/>
              <a:cs typeface="Times New Roman" panose="02020603050405020304" pitchFamily="18" charset="0"/>
            </a:endParaRPr>
          </a:p>
          <a:p>
            <a:pPr marL="571500" indent="-571500">
              <a:buFont typeface="Wingdings" panose="05000000000000000000" charset="0"/>
              <a:buChar char="v"/>
            </a:pPr>
            <a:r>
              <a:rPr lang="en-US" sz="3600" dirty="0" smtClean="0">
                <a:effectLst/>
                <a:latin typeface="Times New Roman" panose="02020603050405020304" pitchFamily="18" charset="0"/>
                <a:cs typeface="Times New Roman" panose="02020603050405020304" pitchFamily="18" charset="0"/>
              </a:rPr>
              <a:t>The most common injury of the TMJ is </a:t>
            </a:r>
            <a:r>
              <a:rPr lang="en-US" sz="3600" b="1" dirty="0" smtClean="0">
                <a:solidFill>
                  <a:srgbClr val="C00000"/>
                </a:solidFill>
                <a:effectLst/>
                <a:latin typeface="Times New Roman" panose="02020603050405020304" pitchFamily="18" charset="0"/>
                <a:cs typeface="Times New Roman" panose="02020603050405020304" pitchFamily="18" charset="0"/>
              </a:rPr>
              <a:t>its anterior dislocation</a:t>
            </a:r>
            <a:r>
              <a:rPr lang="en-US" sz="3600" dirty="0" smtClean="0">
                <a:effectLst/>
                <a:latin typeface="Times New Roman" panose="02020603050405020304" pitchFamily="18" charset="0"/>
                <a:cs typeface="Times New Roman" panose="02020603050405020304" pitchFamily="18" charset="0"/>
              </a:rPr>
              <a:t>. </a:t>
            </a:r>
            <a:endParaRPr lang="en-US" sz="3600" dirty="0" smtClean="0">
              <a:effectLst/>
              <a:latin typeface="Times New Roman" panose="02020603050405020304" pitchFamily="18" charset="0"/>
              <a:cs typeface="Times New Roman" panose="02020603050405020304" pitchFamily="18" charset="0"/>
            </a:endParaRPr>
          </a:p>
          <a:p>
            <a:pPr marL="571500" indent="-571500">
              <a:buFont typeface="Wingdings" panose="05000000000000000000" charset="0"/>
              <a:buChar char="v"/>
            </a:pPr>
            <a:r>
              <a:rPr lang="en-US" sz="3600" dirty="0" smtClean="0">
                <a:effectLst/>
                <a:latin typeface="Times New Roman" panose="02020603050405020304" pitchFamily="18" charset="0"/>
                <a:cs typeface="Times New Roman" panose="02020603050405020304" pitchFamily="18" charset="0"/>
              </a:rPr>
              <a:t>This injury can occur while yawning, taking a large bite, or by a physical force to one side of the face. </a:t>
            </a:r>
            <a:endParaRPr lang="en-US" sz="3600" dirty="0" smtClean="0">
              <a:effectLst/>
              <a:latin typeface="Times New Roman" panose="02020603050405020304" pitchFamily="18" charset="0"/>
              <a:cs typeface="Times New Roman" panose="02020603050405020304" pitchFamily="18" charset="0"/>
            </a:endParaRPr>
          </a:p>
          <a:p>
            <a:pPr marL="571500" indent="-571500">
              <a:buFont typeface="Wingdings" panose="05000000000000000000" charset="0"/>
              <a:buChar char="v"/>
            </a:pPr>
            <a:r>
              <a:rPr lang="en-US" sz="3600" dirty="0" smtClean="0">
                <a:effectLst/>
                <a:latin typeface="Times New Roman" panose="02020603050405020304" pitchFamily="18" charset="0"/>
                <a:cs typeface="Times New Roman" panose="02020603050405020304" pitchFamily="18" charset="0"/>
              </a:rPr>
              <a:t>In this case, the head of the mandible slides out of the mandibular fossa and gets pulled anteriorly. </a:t>
            </a:r>
            <a:endParaRPr lang="en-US" sz="3600" dirty="0" smtClean="0">
              <a:effectLst/>
              <a:latin typeface="Times New Roman" panose="02020603050405020304" pitchFamily="18" charset="0"/>
              <a:cs typeface="Times New Roman" panose="02020603050405020304" pitchFamily="18" charset="0"/>
            </a:endParaRPr>
          </a:p>
          <a:p>
            <a:pPr marL="571500" indent="-571500">
              <a:buFont typeface="Wingdings" panose="05000000000000000000" charset="0"/>
              <a:buChar char="v"/>
            </a:pPr>
            <a:r>
              <a:rPr lang="en-US" sz="3600" dirty="0" smtClean="0">
                <a:effectLst/>
                <a:latin typeface="Times New Roman" panose="02020603050405020304" pitchFamily="18" charset="0"/>
                <a:cs typeface="Times New Roman" panose="02020603050405020304" pitchFamily="18" charset="0"/>
              </a:rPr>
              <a:t>This results in the inability to close the mouth. </a:t>
            </a:r>
            <a:endParaRPr lang="en-US" sz="3600" dirty="0" smtClean="0">
              <a:effectLst/>
              <a:latin typeface="Times New Roman" panose="02020603050405020304" pitchFamily="18" charset="0"/>
              <a:cs typeface="Times New Roman" panose="02020603050405020304" pitchFamily="18" charset="0"/>
            </a:endParaRPr>
          </a:p>
          <a:p>
            <a:pPr marL="571500" indent="-571500">
              <a:buFont typeface="Wingdings" panose="05000000000000000000" charset="0"/>
              <a:buChar char="v"/>
            </a:pPr>
            <a:r>
              <a:rPr lang="en-US" sz="3600" dirty="0" smtClean="0">
                <a:effectLst/>
                <a:latin typeface="Times New Roman" panose="02020603050405020304" pitchFamily="18" charset="0"/>
                <a:cs typeface="Times New Roman" panose="02020603050405020304" pitchFamily="18" charset="0"/>
              </a:rPr>
              <a:t>The commonest complication of this injury is the damage to the </a:t>
            </a:r>
            <a:r>
              <a:rPr lang="en-US" sz="3600" u="sng" dirty="0" err="1" smtClean="0">
                <a:effectLst/>
                <a:latin typeface="Times New Roman" panose="02020603050405020304" pitchFamily="18" charset="0"/>
                <a:cs typeface="Times New Roman" panose="02020603050405020304" pitchFamily="18" charset="0"/>
                <a:hlinkClick r:id="rId1"/>
              </a:rPr>
              <a:t>auriculotemporal</a:t>
            </a:r>
            <a:r>
              <a:rPr lang="en-US" sz="3600" u="sng" dirty="0" smtClean="0">
                <a:effectLst/>
                <a:latin typeface="Times New Roman" panose="02020603050405020304" pitchFamily="18" charset="0"/>
                <a:cs typeface="Times New Roman" panose="02020603050405020304" pitchFamily="18" charset="0"/>
                <a:hlinkClick r:id="rId1"/>
              </a:rPr>
              <a:t> nerves</a:t>
            </a:r>
            <a:r>
              <a:rPr lang="en-US" sz="3600" dirty="0" smtClean="0">
                <a:effectLst/>
                <a:latin typeface="Times New Roman" panose="02020603050405020304" pitchFamily="18" charset="0"/>
                <a:cs typeface="Times New Roman" panose="02020603050405020304" pitchFamily="18" charset="0"/>
              </a:rPr>
              <a:t> that run in close proximity to the joint.</a:t>
            </a:r>
            <a:endParaRPr lang="en-US" sz="3600" dirty="0">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6489700" y="0"/>
            <a:ext cx="5702300" cy="6858000"/>
          </a:xfrm>
          <a:prstGeom prst="rect">
            <a:avLst/>
          </a:prstGeom>
        </p:spPr>
      </p:pic>
      <p:sp>
        <p:nvSpPr>
          <p:cNvPr id="3" name="Rectangle 2"/>
          <p:cNvSpPr/>
          <p:nvPr/>
        </p:nvSpPr>
        <p:spPr>
          <a:xfrm>
            <a:off x="63025" y="162"/>
            <a:ext cx="6096000" cy="7477760"/>
          </a:xfrm>
          <a:prstGeom prst="rect">
            <a:avLst/>
          </a:prstGeom>
        </p:spPr>
        <p:txBody>
          <a:bodyPr>
            <a:spAutoFit/>
          </a:bodyPr>
          <a:lstStyle/>
          <a:p>
            <a:pPr indent="0">
              <a:buFont typeface="Wingdings" panose="05000000000000000000" charset="0"/>
              <a:buNone/>
            </a:pPr>
            <a:r>
              <a:rPr lang="en-US" sz="3200" b="0" i="0" dirty="0" smtClean="0">
                <a:solidFill>
                  <a:srgbClr val="555555"/>
                </a:solidFill>
                <a:effectLst/>
                <a:latin typeface="Times New Roman" panose="02020603050405020304" pitchFamily="18" charset="0"/>
                <a:cs typeface="Times New Roman" panose="02020603050405020304" pitchFamily="18" charset="0"/>
              </a:rPr>
              <a:t>TMJ dysfunctions are conditions</a:t>
            </a:r>
            <a:r>
              <a:rPr lang="en-GB" altLang="en-US" sz="3200" b="0" i="0" dirty="0" smtClean="0">
                <a:solidFill>
                  <a:srgbClr val="555555"/>
                </a:solidFill>
                <a:effectLst/>
                <a:latin typeface="Times New Roman" panose="02020603050405020304" pitchFamily="18" charset="0"/>
                <a:cs typeface="Times New Roman" panose="02020603050405020304" pitchFamily="18" charset="0"/>
              </a:rPr>
              <a:t> </a:t>
            </a:r>
            <a:r>
              <a:rPr lang="en-US" sz="3200" b="0" i="0" dirty="0" smtClean="0">
                <a:solidFill>
                  <a:srgbClr val="555555"/>
                </a:solidFill>
                <a:effectLst/>
                <a:latin typeface="Times New Roman" panose="02020603050405020304" pitchFamily="18" charset="0"/>
                <a:cs typeface="Times New Roman" panose="02020603050405020304" pitchFamily="18" charset="0"/>
              </a:rPr>
              <a:t>affecting your jaw joints and surrounding muscles and ligaments. These conditions can cause several issues, including jaw pain, headaches and difficulty opening and closing your mouth.</a:t>
            </a:r>
            <a:endParaRPr lang="en-US" sz="3200" b="0" i="0" dirty="0" smtClean="0">
              <a:solidFill>
                <a:srgbClr val="555555"/>
              </a:solidFill>
              <a:effectLst/>
              <a:latin typeface="Times New Roman" panose="02020603050405020304" pitchFamily="18" charset="0"/>
              <a:cs typeface="Times New Roman" panose="02020603050405020304" pitchFamily="18" charset="0"/>
            </a:endParaRPr>
          </a:p>
          <a:p>
            <a:r>
              <a:rPr lang="en-US" sz="3200" b="0" i="0" dirty="0" smtClean="0">
                <a:solidFill>
                  <a:srgbClr val="555555"/>
                </a:solidFill>
                <a:effectLst/>
                <a:latin typeface="Times New Roman" panose="02020603050405020304" pitchFamily="18" charset="0"/>
                <a:cs typeface="Times New Roman" panose="02020603050405020304" pitchFamily="18" charset="0"/>
              </a:rPr>
              <a:t>You might hear people call these conditions TMJ. But “TMJ” refers to your actual jaw joint, while “TMD” stands for </a:t>
            </a:r>
            <a:r>
              <a:rPr lang="en-US" sz="3200" b="0" i="0" dirty="0" err="1" smtClean="0">
                <a:solidFill>
                  <a:srgbClr val="555555"/>
                </a:solidFill>
                <a:effectLst/>
                <a:latin typeface="Times New Roman" panose="02020603050405020304" pitchFamily="18" charset="0"/>
                <a:cs typeface="Times New Roman" panose="02020603050405020304" pitchFamily="18" charset="0"/>
              </a:rPr>
              <a:t>temporomandibular</a:t>
            </a:r>
            <a:r>
              <a:rPr lang="en-US" sz="3200" b="0" i="0" dirty="0" smtClean="0">
                <a:solidFill>
                  <a:srgbClr val="555555"/>
                </a:solidFill>
                <a:effectLst/>
                <a:latin typeface="Times New Roman" panose="02020603050405020304" pitchFamily="18" charset="0"/>
                <a:cs typeface="Times New Roman" panose="02020603050405020304" pitchFamily="18" charset="0"/>
              </a:rPr>
              <a:t> joint dysfunction. Another name is </a:t>
            </a:r>
            <a:r>
              <a:rPr lang="en-US" sz="3200" b="0" i="0" dirty="0" err="1" smtClean="0">
                <a:solidFill>
                  <a:srgbClr val="555555"/>
                </a:solidFill>
                <a:effectLst/>
                <a:latin typeface="Times New Roman" panose="02020603050405020304" pitchFamily="18" charset="0"/>
                <a:cs typeface="Times New Roman" panose="02020603050405020304" pitchFamily="18" charset="0"/>
              </a:rPr>
              <a:t>temporomandibular</a:t>
            </a:r>
            <a:r>
              <a:rPr lang="en-US" sz="3200" b="0" i="0" dirty="0" smtClean="0">
                <a:solidFill>
                  <a:srgbClr val="555555"/>
                </a:solidFill>
                <a:effectLst/>
                <a:latin typeface="Times New Roman" panose="02020603050405020304" pitchFamily="18" charset="0"/>
                <a:cs typeface="Times New Roman" panose="02020603050405020304" pitchFamily="18" charset="0"/>
              </a:rPr>
              <a:t> joint disorder.</a:t>
            </a:r>
            <a:endParaRPr lang="en-US" sz="3200" b="0" i="0" dirty="0" smtClean="0">
              <a:solidFill>
                <a:srgbClr val="555555"/>
              </a:solidFill>
              <a:effectLst/>
              <a:latin typeface="Times New Roman" panose="02020603050405020304" pitchFamily="18" charset="0"/>
              <a:cs typeface="Times New Roman" panose="02020603050405020304" pitchFamily="18" charset="0"/>
            </a:endParaRPr>
          </a:p>
          <a:p>
            <a:endParaRPr lang="en-US"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5885" y="0"/>
            <a:ext cx="12096115" cy="6858000"/>
          </a:xfrm>
          <a:prstGeom prst="rect">
            <a:avLst/>
          </a:prstGeom>
        </p:spPr>
        <p:txBody>
          <a:bodyPr wrap="square">
            <a:noAutofit/>
          </a:bodyPr>
          <a:lstStyle/>
          <a:p>
            <a:r>
              <a:rPr lang="en-US" sz="4800" b="1" i="0" dirty="0" smtClean="0">
                <a:solidFill>
                  <a:srgbClr val="C00000"/>
                </a:solidFill>
                <a:effectLst/>
                <a:latin typeface="Times New Roman" panose="02020603050405020304" pitchFamily="18" charset="0"/>
                <a:cs typeface="Times New Roman" panose="02020603050405020304" pitchFamily="18" charset="0"/>
              </a:rPr>
              <a:t>Types of TMD (</a:t>
            </a:r>
            <a:r>
              <a:rPr lang="en-US" sz="4800" b="1" i="0" dirty="0" err="1" smtClean="0">
                <a:solidFill>
                  <a:srgbClr val="C00000"/>
                </a:solidFill>
                <a:effectLst/>
                <a:latin typeface="Times New Roman" panose="02020603050405020304" pitchFamily="18" charset="0"/>
                <a:cs typeface="Times New Roman" panose="02020603050405020304" pitchFamily="18" charset="0"/>
              </a:rPr>
              <a:t>temporomandibular</a:t>
            </a:r>
            <a:r>
              <a:rPr lang="en-US" sz="4800" b="1" i="0" dirty="0" smtClean="0">
                <a:solidFill>
                  <a:srgbClr val="C00000"/>
                </a:solidFill>
                <a:effectLst/>
                <a:latin typeface="Times New Roman" panose="02020603050405020304" pitchFamily="18" charset="0"/>
                <a:cs typeface="Times New Roman" panose="02020603050405020304" pitchFamily="18" charset="0"/>
              </a:rPr>
              <a:t> joint dysfunction)</a:t>
            </a:r>
            <a:endParaRPr lang="en-US" sz="4800" b="1" i="0" dirty="0" smtClean="0">
              <a:solidFill>
                <a:srgbClr val="C00000"/>
              </a:solidFill>
              <a:effectLst/>
              <a:latin typeface="Times New Roman" panose="02020603050405020304" pitchFamily="18" charset="0"/>
              <a:cs typeface="Times New Roman" panose="02020603050405020304" pitchFamily="18" charset="0"/>
            </a:endParaRPr>
          </a:p>
          <a:p>
            <a:endParaRPr lang="en-US" sz="2800" b="1" i="0" dirty="0" smtClean="0">
              <a:solidFill>
                <a:srgbClr val="C00000"/>
              </a:solidFill>
              <a:effectLst/>
              <a:latin typeface="Times New Roman" panose="02020603050405020304" pitchFamily="18" charset="0"/>
              <a:cs typeface="Times New Roman" panose="02020603050405020304" pitchFamily="18" charset="0"/>
            </a:endParaRPr>
          </a:p>
          <a:p>
            <a:pPr>
              <a:buFont typeface="+mj-lt"/>
              <a:buAutoNum type="arabicPeriod"/>
            </a:pPr>
            <a:r>
              <a:rPr lang="en-US" sz="3200" dirty="0" smtClean="0">
                <a:solidFill>
                  <a:srgbClr val="555555"/>
                </a:solidFill>
                <a:effectLst/>
                <a:latin typeface="Times New Roman" panose="02020603050405020304" pitchFamily="18" charset="0"/>
                <a:cs typeface="Times New Roman" panose="02020603050405020304" pitchFamily="18" charset="0"/>
                <a:sym typeface="+mn-ea"/>
              </a:rPr>
              <a:t>Disorders of your jaw joints</a:t>
            </a:r>
            <a:r>
              <a:rPr lang="en-GB" altLang="en-US" sz="3200" dirty="0" smtClean="0">
                <a:solidFill>
                  <a:srgbClr val="555555"/>
                </a:solidFill>
                <a:effectLst/>
                <a:latin typeface="Times New Roman" panose="02020603050405020304" pitchFamily="18" charset="0"/>
                <a:cs typeface="Times New Roman" panose="02020603050405020304" pitchFamily="18" charset="0"/>
                <a:sym typeface="+mn-ea"/>
              </a:rPr>
              <a:t>, 2. </a:t>
            </a:r>
            <a:r>
              <a:rPr lang="en-US" sz="3200" dirty="0" smtClean="0">
                <a:solidFill>
                  <a:srgbClr val="555555"/>
                </a:solidFill>
                <a:effectLst/>
                <a:latin typeface="Times New Roman" panose="02020603050405020304" pitchFamily="18" charset="0"/>
                <a:cs typeface="Times New Roman" panose="02020603050405020304" pitchFamily="18" charset="0"/>
                <a:sym typeface="+mn-ea"/>
              </a:rPr>
              <a:t>Disorders of your chewing muscles.</a:t>
            </a:r>
            <a:endParaRPr lang="en-US" sz="3200" b="0" i="0" dirty="0" smtClean="0">
              <a:solidFill>
                <a:srgbClr val="555555"/>
              </a:solidFill>
              <a:effectLst/>
              <a:latin typeface="Times New Roman" panose="02020603050405020304" pitchFamily="18" charset="0"/>
              <a:cs typeface="Times New Roman" panose="02020603050405020304" pitchFamily="18" charset="0"/>
            </a:endParaRPr>
          </a:p>
          <a:p>
            <a:pPr indent="0">
              <a:buFont typeface="+mj-lt"/>
              <a:buNone/>
            </a:pPr>
            <a:r>
              <a:rPr lang="en-GB" altLang="en-US" sz="3200" dirty="0" smtClean="0">
                <a:solidFill>
                  <a:srgbClr val="555555"/>
                </a:solidFill>
                <a:effectLst/>
                <a:latin typeface="Times New Roman" panose="02020603050405020304" pitchFamily="18" charset="0"/>
                <a:cs typeface="Times New Roman" panose="02020603050405020304" pitchFamily="18" charset="0"/>
                <a:sym typeface="+mn-ea"/>
              </a:rPr>
              <a:t>3. </a:t>
            </a:r>
            <a:r>
              <a:rPr lang="en-US" sz="3200" dirty="0" smtClean="0">
                <a:solidFill>
                  <a:srgbClr val="555555"/>
                </a:solidFill>
                <a:effectLst/>
                <a:latin typeface="Times New Roman" panose="02020603050405020304" pitchFamily="18" charset="0"/>
                <a:cs typeface="Times New Roman" panose="02020603050405020304" pitchFamily="18" charset="0"/>
                <a:sym typeface="+mn-ea"/>
              </a:rPr>
              <a:t>Headaches that result from TMD.</a:t>
            </a:r>
            <a:endParaRPr lang="en-US" sz="3200" b="0" i="0" dirty="0" smtClean="0">
              <a:solidFill>
                <a:srgbClr val="C00000"/>
              </a:solidFill>
              <a:effectLst/>
              <a:latin typeface="Times New Roman" panose="02020603050405020304" pitchFamily="18" charset="0"/>
              <a:cs typeface="Times New Roman" panose="02020603050405020304" pitchFamily="18" charset="0"/>
            </a:endParaRPr>
          </a:p>
          <a:p>
            <a:r>
              <a:rPr lang="en-US" sz="3200" b="1" i="0" dirty="0" smtClean="0">
                <a:solidFill>
                  <a:srgbClr val="363636"/>
                </a:solidFill>
                <a:effectLst/>
                <a:latin typeface="Times New Roman" panose="02020603050405020304" pitchFamily="18" charset="0"/>
                <a:cs typeface="Times New Roman" panose="02020603050405020304" pitchFamily="18" charset="0"/>
              </a:rPr>
              <a:t>symptoms of TMJ dysfunction</a:t>
            </a:r>
            <a:r>
              <a:rPr lang="en-GB" altLang="en-US" sz="3200" b="1" i="0" dirty="0" smtClean="0">
                <a:solidFill>
                  <a:srgbClr val="363636"/>
                </a:solidFill>
                <a:effectLst/>
                <a:latin typeface="Times New Roman" panose="02020603050405020304" pitchFamily="18" charset="0"/>
                <a:cs typeface="Times New Roman" panose="02020603050405020304" pitchFamily="18" charset="0"/>
              </a:rPr>
              <a:t>;</a:t>
            </a:r>
            <a:endParaRPr lang="en-US" sz="3200" b="0" i="0" dirty="0" smtClean="0">
              <a:solidFill>
                <a:srgbClr val="555555"/>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3200" b="0" i="0" dirty="0" smtClean="0">
                <a:solidFill>
                  <a:srgbClr val="007BC2"/>
                </a:solidFill>
                <a:effectLst/>
                <a:latin typeface="Times New Roman" panose="02020603050405020304" pitchFamily="18" charset="0"/>
                <a:cs typeface="Times New Roman" panose="02020603050405020304" pitchFamily="18" charset="0"/>
                <a:hlinkClick r:id="rId1"/>
              </a:rPr>
              <a:t>Jaw pain</a:t>
            </a:r>
            <a:r>
              <a:rPr lang="en-GB" altLang="en-US" sz="3200" b="0" i="0" dirty="0" smtClean="0">
                <a:solidFill>
                  <a:srgbClr val="007BC2"/>
                </a:solidFill>
                <a:effectLst/>
                <a:latin typeface="Times New Roman" panose="02020603050405020304" pitchFamily="18" charset="0"/>
                <a:cs typeface="Times New Roman" panose="02020603050405020304" pitchFamily="18" charset="0"/>
                <a:hlinkClick r:id="rId1"/>
              </a:rPr>
              <a:t>,</a:t>
            </a:r>
            <a:r>
              <a:rPr lang="en-GB" altLang="en-US" sz="3200" b="0" i="0" dirty="0" smtClean="0">
                <a:solidFill>
                  <a:srgbClr val="007BC2"/>
                </a:solidFill>
                <a:effectLst/>
                <a:latin typeface="Times New Roman" panose="02020603050405020304" pitchFamily="18" charset="0"/>
                <a:cs typeface="Times New Roman" panose="02020603050405020304" pitchFamily="18" charset="0"/>
              </a:rPr>
              <a:t> </a:t>
            </a:r>
            <a:r>
              <a:rPr lang="en-US" sz="3200" b="0" i="0" dirty="0" smtClean="0">
                <a:solidFill>
                  <a:srgbClr val="555555"/>
                </a:solidFill>
                <a:effectLst/>
                <a:latin typeface="Times New Roman" panose="02020603050405020304" pitchFamily="18" charset="0"/>
                <a:cs typeface="Times New Roman" panose="02020603050405020304" pitchFamily="18" charset="0"/>
              </a:rPr>
              <a:t>Facial pain</a:t>
            </a:r>
            <a:r>
              <a:rPr lang="en-GB" altLang="en-US" sz="3200" b="0" i="0" dirty="0" smtClean="0">
                <a:solidFill>
                  <a:srgbClr val="555555"/>
                </a:solidFill>
                <a:effectLst/>
                <a:latin typeface="Times New Roman" panose="02020603050405020304" pitchFamily="18" charset="0"/>
                <a:cs typeface="Times New Roman" panose="02020603050405020304" pitchFamily="18" charset="0"/>
              </a:rPr>
              <a:t>, </a:t>
            </a:r>
            <a:r>
              <a:rPr lang="en-US" sz="3200" b="0" i="0" dirty="0" smtClean="0">
                <a:solidFill>
                  <a:srgbClr val="555555"/>
                </a:solidFill>
                <a:effectLst/>
                <a:latin typeface="Times New Roman" panose="02020603050405020304" pitchFamily="18" charset="0"/>
                <a:cs typeface="Times New Roman" panose="02020603050405020304" pitchFamily="18" charset="0"/>
              </a:rPr>
              <a:t>Shoulder or </a:t>
            </a:r>
            <a:r>
              <a:rPr lang="en-US" sz="3200" b="0" i="0" dirty="0" smtClean="0">
                <a:solidFill>
                  <a:srgbClr val="007BC2"/>
                </a:solidFill>
                <a:effectLst/>
                <a:latin typeface="Times New Roman" panose="02020603050405020304" pitchFamily="18" charset="0"/>
                <a:cs typeface="Times New Roman" panose="02020603050405020304" pitchFamily="18" charset="0"/>
                <a:hlinkClick r:id="rId2"/>
              </a:rPr>
              <a:t>neck pain</a:t>
            </a:r>
            <a:r>
              <a:rPr lang="en-GB" altLang="en-US" sz="3200" b="0" i="0" dirty="0" smtClean="0">
                <a:solidFill>
                  <a:srgbClr val="007BC2"/>
                </a:solidFill>
                <a:effectLst/>
                <a:latin typeface="Times New Roman" panose="02020603050405020304" pitchFamily="18" charset="0"/>
                <a:cs typeface="Times New Roman" panose="02020603050405020304" pitchFamily="18" charset="0"/>
                <a:hlinkClick r:id="rId2"/>
              </a:rPr>
              <a:t>,</a:t>
            </a:r>
            <a:r>
              <a:rPr lang="en-GB" altLang="en-US" sz="3200" b="0" i="0" dirty="0" smtClean="0">
                <a:solidFill>
                  <a:srgbClr val="007BC2"/>
                </a:solidFill>
                <a:effectLst/>
                <a:latin typeface="Times New Roman" panose="02020603050405020304" pitchFamily="18" charset="0"/>
                <a:cs typeface="Times New Roman" panose="02020603050405020304" pitchFamily="18" charset="0"/>
              </a:rPr>
              <a:t> </a:t>
            </a:r>
            <a:r>
              <a:rPr lang="en-US" sz="3200" b="0" i="0" dirty="0" smtClean="0">
                <a:solidFill>
                  <a:srgbClr val="555555"/>
                </a:solidFill>
                <a:effectLst/>
                <a:latin typeface="Times New Roman" panose="02020603050405020304" pitchFamily="18" charset="0"/>
                <a:cs typeface="Times New Roman" panose="02020603050405020304" pitchFamily="18" charset="0"/>
              </a:rPr>
              <a:t>Stiffness in your jaw</a:t>
            </a:r>
            <a:r>
              <a:rPr lang="en-GB" altLang="en-US" sz="3200" b="0" i="0" dirty="0" smtClean="0">
                <a:solidFill>
                  <a:srgbClr val="555555"/>
                </a:solidFill>
                <a:effectLst/>
                <a:latin typeface="Times New Roman" panose="02020603050405020304" pitchFamily="18" charset="0"/>
                <a:cs typeface="Times New Roman" panose="02020603050405020304" pitchFamily="18" charset="0"/>
              </a:rPr>
              <a:t>, </a:t>
            </a:r>
            <a:r>
              <a:rPr lang="en-US" sz="3200" b="0" i="0" dirty="0" smtClean="0">
                <a:solidFill>
                  <a:srgbClr val="555555"/>
                </a:solidFill>
                <a:effectLst/>
                <a:latin typeface="Times New Roman" panose="02020603050405020304" pitchFamily="18" charset="0"/>
                <a:cs typeface="Times New Roman" panose="02020603050405020304" pitchFamily="18" charset="0"/>
              </a:rPr>
              <a:t>Difficulty opening or closing your mouth</a:t>
            </a:r>
            <a:r>
              <a:rPr lang="en-GB" altLang="en-US" sz="3200" b="0" i="0" dirty="0" smtClean="0">
                <a:solidFill>
                  <a:srgbClr val="555555"/>
                </a:solidFill>
                <a:effectLst/>
                <a:latin typeface="Times New Roman" panose="02020603050405020304" pitchFamily="18" charset="0"/>
                <a:cs typeface="Times New Roman" panose="02020603050405020304" pitchFamily="18" charset="0"/>
              </a:rPr>
              <a:t>, </a:t>
            </a:r>
            <a:r>
              <a:rPr lang="en-US" sz="3200" b="0" i="0" dirty="0" smtClean="0">
                <a:solidFill>
                  <a:srgbClr val="007BC2"/>
                </a:solidFill>
                <a:effectLst/>
                <a:latin typeface="Times New Roman" panose="02020603050405020304" pitchFamily="18" charset="0"/>
                <a:cs typeface="Times New Roman" panose="02020603050405020304" pitchFamily="18" charset="0"/>
                <a:hlinkClick r:id="rId3"/>
              </a:rPr>
              <a:t>Jaw popping</a:t>
            </a:r>
            <a:r>
              <a:rPr lang="en-US" sz="3200" b="0" i="0" dirty="0" smtClean="0">
                <a:solidFill>
                  <a:srgbClr val="555555"/>
                </a:solidFill>
                <a:effectLst/>
                <a:latin typeface="Times New Roman" panose="02020603050405020304" pitchFamily="18" charset="0"/>
                <a:cs typeface="Times New Roman" panose="02020603050405020304" pitchFamily="18" charset="0"/>
              </a:rPr>
              <a:t> or clicking</a:t>
            </a:r>
            <a:r>
              <a:rPr lang="en-GB" altLang="en-US" sz="3200" b="0" i="0" dirty="0" smtClean="0">
                <a:solidFill>
                  <a:srgbClr val="555555"/>
                </a:solidFill>
                <a:effectLst/>
                <a:latin typeface="Times New Roman" panose="02020603050405020304" pitchFamily="18" charset="0"/>
                <a:cs typeface="Times New Roman" panose="02020603050405020304" pitchFamily="18" charset="0"/>
              </a:rPr>
              <a:t>, </a:t>
            </a:r>
            <a:r>
              <a:rPr lang="en-US" sz="3200" b="0" i="0" dirty="0" smtClean="0">
                <a:solidFill>
                  <a:srgbClr val="007BC2"/>
                </a:solidFill>
                <a:effectLst/>
                <a:latin typeface="Times New Roman" panose="02020603050405020304" pitchFamily="18" charset="0"/>
                <a:cs typeface="Times New Roman" panose="02020603050405020304" pitchFamily="18" charset="0"/>
                <a:hlinkClick r:id="rId4"/>
              </a:rPr>
              <a:t>Headaches</a:t>
            </a:r>
            <a:r>
              <a:rPr lang="en-GB" altLang="en-US" sz="3200" b="0" i="0" dirty="0" smtClean="0">
                <a:solidFill>
                  <a:srgbClr val="007BC2"/>
                </a:solidFill>
                <a:effectLst/>
                <a:latin typeface="Times New Roman" panose="02020603050405020304" pitchFamily="18" charset="0"/>
                <a:cs typeface="Times New Roman" panose="02020603050405020304" pitchFamily="18" charset="0"/>
                <a:hlinkClick r:id="rId4"/>
              </a:rPr>
              <a:t>,</a:t>
            </a:r>
            <a:r>
              <a:rPr lang="en-GB" altLang="en-US" sz="3200" b="0" i="0" dirty="0" smtClean="0">
                <a:solidFill>
                  <a:srgbClr val="007BC2"/>
                </a:solidFill>
                <a:effectLst/>
                <a:latin typeface="Times New Roman" panose="02020603050405020304" pitchFamily="18" charset="0"/>
                <a:cs typeface="Times New Roman" panose="02020603050405020304" pitchFamily="18" charset="0"/>
              </a:rPr>
              <a:t> </a:t>
            </a:r>
            <a:r>
              <a:rPr lang="en-US" sz="3200" b="0" i="0" dirty="0" smtClean="0">
                <a:solidFill>
                  <a:srgbClr val="007BC2"/>
                </a:solidFill>
                <a:effectLst/>
                <a:latin typeface="Times New Roman" panose="02020603050405020304" pitchFamily="18" charset="0"/>
                <a:cs typeface="Times New Roman" panose="02020603050405020304" pitchFamily="18" charset="0"/>
                <a:hlinkClick r:id="rId5"/>
              </a:rPr>
              <a:t>Migraines</a:t>
            </a:r>
            <a:r>
              <a:rPr lang="en-US" sz="3200" b="0" i="0" dirty="0" smtClean="0">
                <a:solidFill>
                  <a:srgbClr val="555555"/>
                </a:solidFill>
                <a:effectLst/>
                <a:latin typeface="Times New Roman" panose="02020603050405020304" pitchFamily="18" charset="0"/>
                <a:cs typeface="Times New Roman" panose="02020603050405020304" pitchFamily="18" charset="0"/>
              </a:rPr>
              <a:t>.</a:t>
            </a:r>
            <a:endParaRPr lang="en-US" sz="3200" b="0" i="0" dirty="0" smtClean="0">
              <a:solidFill>
                <a:srgbClr val="555555"/>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3200" b="0" i="0" dirty="0" smtClean="0">
                <a:solidFill>
                  <a:srgbClr val="007BC2"/>
                </a:solidFill>
                <a:effectLst/>
                <a:latin typeface="Times New Roman" panose="02020603050405020304" pitchFamily="18" charset="0"/>
                <a:cs typeface="Times New Roman" panose="02020603050405020304" pitchFamily="18" charset="0"/>
                <a:hlinkClick r:id="rId6"/>
              </a:rPr>
              <a:t>Earaches</a:t>
            </a:r>
            <a:r>
              <a:rPr lang="en-GB" altLang="en-US" sz="3200" b="0" i="0" dirty="0" smtClean="0">
                <a:solidFill>
                  <a:srgbClr val="007BC2"/>
                </a:solidFill>
                <a:effectLst/>
                <a:latin typeface="Times New Roman" panose="02020603050405020304" pitchFamily="18" charset="0"/>
                <a:cs typeface="Times New Roman" panose="02020603050405020304" pitchFamily="18" charset="0"/>
                <a:hlinkClick r:id="rId6"/>
              </a:rPr>
              <a:t>,</a:t>
            </a:r>
            <a:r>
              <a:rPr lang="en-GB" altLang="en-US" sz="3200" b="0" i="0" dirty="0" smtClean="0">
                <a:solidFill>
                  <a:srgbClr val="007BC2"/>
                </a:solidFill>
                <a:effectLst/>
                <a:latin typeface="Times New Roman" panose="02020603050405020304" pitchFamily="18" charset="0"/>
                <a:cs typeface="Times New Roman" panose="02020603050405020304" pitchFamily="18" charset="0"/>
              </a:rPr>
              <a:t> </a:t>
            </a:r>
            <a:r>
              <a:rPr lang="en-US" sz="3200" b="0" i="0" dirty="0" smtClean="0">
                <a:solidFill>
                  <a:srgbClr val="007BC2"/>
                </a:solidFill>
                <a:effectLst/>
                <a:latin typeface="Times New Roman" panose="02020603050405020304" pitchFamily="18" charset="0"/>
                <a:cs typeface="Times New Roman" panose="02020603050405020304" pitchFamily="18" charset="0"/>
                <a:hlinkClick r:id="rId7"/>
              </a:rPr>
              <a:t>Toothache</a:t>
            </a:r>
            <a:r>
              <a:rPr lang="en-GB" altLang="en-US" sz="3200" b="0" i="0" dirty="0" smtClean="0">
                <a:solidFill>
                  <a:srgbClr val="007BC2"/>
                </a:solidFill>
                <a:effectLst/>
                <a:latin typeface="Times New Roman" panose="02020603050405020304" pitchFamily="18" charset="0"/>
                <a:cs typeface="Times New Roman" panose="02020603050405020304" pitchFamily="18" charset="0"/>
                <a:hlinkClick r:id="rId7"/>
              </a:rPr>
              <a:t>,</a:t>
            </a:r>
            <a:r>
              <a:rPr lang="en-GB" altLang="en-US" sz="3200" b="0" i="0" dirty="0" smtClean="0">
                <a:solidFill>
                  <a:srgbClr val="007BC2"/>
                </a:solidFill>
                <a:effectLst/>
                <a:latin typeface="Times New Roman" panose="02020603050405020304" pitchFamily="18" charset="0"/>
                <a:cs typeface="Times New Roman" panose="02020603050405020304" pitchFamily="18" charset="0"/>
              </a:rPr>
              <a:t> </a:t>
            </a:r>
            <a:r>
              <a:rPr lang="en-US" sz="3200" b="0" i="0" dirty="0" smtClean="0">
                <a:solidFill>
                  <a:srgbClr val="007BC2"/>
                </a:solidFill>
                <a:effectLst/>
                <a:latin typeface="Times New Roman" panose="02020603050405020304" pitchFamily="18" charset="0"/>
                <a:cs typeface="Times New Roman" panose="02020603050405020304" pitchFamily="18" charset="0"/>
                <a:hlinkClick r:id="rId8"/>
              </a:rPr>
              <a:t>Tinnitus</a:t>
            </a:r>
            <a:r>
              <a:rPr lang="en-US" sz="3200" b="0" i="0" dirty="0" smtClean="0">
                <a:solidFill>
                  <a:srgbClr val="555555"/>
                </a:solidFill>
                <a:effectLst/>
                <a:latin typeface="Times New Roman" panose="02020603050405020304" pitchFamily="18" charset="0"/>
                <a:cs typeface="Times New Roman" panose="02020603050405020304" pitchFamily="18" charset="0"/>
              </a:rPr>
              <a:t> (ringing in your ears).</a:t>
            </a:r>
            <a:endParaRPr lang="en-US" sz="3200" b="0" i="0" dirty="0" smtClean="0">
              <a:solidFill>
                <a:srgbClr val="555555"/>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3200" b="0" i="0" dirty="0" smtClean="0">
                <a:solidFill>
                  <a:srgbClr val="555555"/>
                </a:solidFill>
                <a:effectLst/>
                <a:latin typeface="Times New Roman" panose="02020603050405020304" pitchFamily="18" charset="0"/>
                <a:cs typeface="Times New Roman" panose="02020603050405020304" pitchFamily="18" charset="0"/>
              </a:rPr>
              <a:t>A change in the way your teeth fit together (</a:t>
            </a:r>
            <a:r>
              <a:rPr lang="en-US" sz="3200" b="0" i="0" dirty="0" smtClean="0">
                <a:solidFill>
                  <a:srgbClr val="007BC2"/>
                </a:solidFill>
                <a:effectLst/>
                <a:latin typeface="Times New Roman" panose="02020603050405020304" pitchFamily="18" charset="0"/>
                <a:cs typeface="Times New Roman" panose="02020603050405020304" pitchFamily="18" charset="0"/>
                <a:hlinkClick r:id="rId9"/>
              </a:rPr>
              <a:t>malocclusion</a:t>
            </a:r>
            <a:r>
              <a:rPr lang="en-US" sz="3200" b="0" i="0" dirty="0" smtClean="0">
                <a:solidFill>
                  <a:srgbClr val="555555"/>
                </a:solidFill>
                <a:effectLst/>
                <a:latin typeface="Times New Roman" panose="02020603050405020304" pitchFamily="18" charset="0"/>
                <a:cs typeface="Times New Roman" panose="02020603050405020304" pitchFamily="18" charset="0"/>
              </a:rPr>
              <a:t>).</a:t>
            </a:r>
            <a:endParaRPr lang="en-US" sz="3200" b="0" i="0" dirty="0" smtClean="0">
              <a:solidFill>
                <a:srgbClr val="555555"/>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GB" sz="3200" dirty="0" smtClean="0">
                <a:solidFill>
                  <a:srgbClr val="555555"/>
                </a:solidFill>
                <a:latin typeface="Times New Roman" panose="02020603050405020304" pitchFamily="18" charset="0"/>
                <a:cs typeface="Times New Roman" panose="02020603050405020304" pitchFamily="18" charset="0"/>
              </a:rPr>
              <a:t>stress</a:t>
            </a:r>
            <a:endParaRPr lang="en-US" sz="3200" b="0" i="0" dirty="0">
              <a:solidFill>
                <a:srgbClr val="555555"/>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35" y="0"/>
            <a:ext cx="12191365" cy="6677660"/>
          </a:xfrm>
          <a:prstGeom prst="rect">
            <a:avLst/>
          </a:prstGeom>
        </p:spPr>
        <p:txBody>
          <a:bodyPr wrap="square">
            <a:spAutoFit/>
          </a:bodyPr>
          <a:lstStyle/>
          <a:p>
            <a:r>
              <a:rPr lang="en-US" sz="4400" b="1" i="0" dirty="0" smtClean="0">
                <a:solidFill>
                  <a:srgbClr val="C00000"/>
                </a:solidFill>
                <a:effectLst/>
                <a:latin typeface="Times New Roman" panose="02020603050405020304" pitchFamily="18" charset="0"/>
                <a:cs typeface="Times New Roman" panose="02020603050405020304" pitchFamily="18" charset="0"/>
              </a:rPr>
              <a:t>Things that make TMJ dysfunction worse</a:t>
            </a:r>
            <a:endParaRPr lang="en-US" sz="4400" b="1" i="0" dirty="0" smtClean="0">
              <a:solidFill>
                <a:srgbClr val="C00000"/>
              </a:solidFill>
              <a:effectLst/>
              <a:latin typeface="Times New Roman" panose="02020603050405020304" pitchFamily="18" charset="0"/>
              <a:cs typeface="Times New Roman" panose="02020603050405020304" pitchFamily="18" charset="0"/>
            </a:endParaRPr>
          </a:p>
          <a:p>
            <a:endParaRPr lang="en-US" sz="3200" b="0" i="0" dirty="0" smtClean="0">
              <a:solidFill>
                <a:srgbClr val="555555"/>
              </a:solidFill>
              <a:effectLst/>
              <a:latin typeface="Times New Roman" panose="02020603050405020304" pitchFamily="18" charset="0"/>
              <a:cs typeface="Times New Roman" panose="02020603050405020304" pitchFamily="18" charset="0"/>
            </a:endParaRPr>
          </a:p>
          <a:p>
            <a:r>
              <a:rPr lang="en-US" sz="3200" b="0" i="0" dirty="0" smtClean="0">
                <a:solidFill>
                  <a:srgbClr val="555555"/>
                </a:solidFill>
                <a:effectLst/>
                <a:latin typeface="Times New Roman" panose="02020603050405020304" pitchFamily="18" charset="0"/>
                <a:cs typeface="Times New Roman" panose="02020603050405020304" pitchFamily="18" charset="0"/>
              </a:rPr>
              <a:t>You can’t always control factors that cause TMJ dysfunction. But certain habits can make TMD worse, including:</a:t>
            </a:r>
            <a:endParaRPr lang="en-US" sz="3200" b="0" i="0" dirty="0" smtClean="0">
              <a:solidFill>
                <a:srgbClr val="555555"/>
              </a:solidFill>
              <a:effectLst/>
              <a:latin typeface="Times New Roman" panose="02020603050405020304" pitchFamily="18" charset="0"/>
              <a:cs typeface="Times New Roman" panose="02020603050405020304" pitchFamily="18" charset="0"/>
            </a:endParaRPr>
          </a:p>
          <a:p>
            <a:pPr marL="457200" indent="-457200">
              <a:buFont typeface="Wingdings" panose="05000000000000000000" charset="0"/>
              <a:buChar char="v"/>
            </a:pPr>
            <a:r>
              <a:rPr lang="en-US" sz="3200" b="0" i="0" dirty="0" smtClean="0">
                <a:solidFill>
                  <a:srgbClr val="555555"/>
                </a:solidFill>
                <a:effectLst/>
                <a:latin typeface="Times New Roman" panose="02020603050405020304" pitchFamily="18" charset="0"/>
                <a:cs typeface="Times New Roman" panose="02020603050405020304" pitchFamily="18" charset="0"/>
              </a:rPr>
              <a:t>Using your teeth as tools (like tearing off clothing tags).</a:t>
            </a:r>
            <a:endParaRPr lang="en-US" sz="3200" b="0" i="0" dirty="0" smtClean="0">
              <a:solidFill>
                <a:srgbClr val="555555"/>
              </a:solidFill>
              <a:effectLst/>
              <a:latin typeface="Times New Roman" panose="02020603050405020304" pitchFamily="18" charset="0"/>
              <a:cs typeface="Times New Roman" panose="02020603050405020304" pitchFamily="18" charset="0"/>
            </a:endParaRPr>
          </a:p>
          <a:p>
            <a:pPr marL="457200" indent="-457200">
              <a:buFont typeface="Wingdings" panose="05000000000000000000" charset="0"/>
              <a:buChar char="v"/>
            </a:pPr>
            <a:r>
              <a:rPr lang="en-US" sz="3200" b="0" i="0" dirty="0" smtClean="0">
                <a:solidFill>
                  <a:srgbClr val="555555"/>
                </a:solidFill>
                <a:effectLst/>
                <a:latin typeface="Times New Roman" panose="02020603050405020304" pitchFamily="18" charset="0"/>
                <a:cs typeface="Times New Roman" panose="02020603050405020304" pitchFamily="18" charset="0"/>
              </a:rPr>
              <a:t>Poor posture. (This can place excess pressure on your neck, shoulder and facial muscles.)</a:t>
            </a:r>
            <a:endParaRPr lang="en-US" sz="3200" b="0" i="0" dirty="0" smtClean="0">
              <a:solidFill>
                <a:srgbClr val="555555"/>
              </a:solidFill>
              <a:effectLst/>
              <a:latin typeface="Times New Roman" panose="02020603050405020304" pitchFamily="18" charset="0"/>
              <a:cs typeface="Times New Roman" panose="02020603050405020304" pitchFamily="18" charset="0"/>
            </a:endParaRPr>
          </a:p>
          <a:p>
            <a:pPr marL="457200" indent="-457200">
              <a:buFont typeface="Wingdings" panose="05000000000000000000" charset="0"/>
              <a:buChar char="v"/>
            </a:pPr>
            <a:r>
              <a:rPr lang="en-US" sz="3200" b="0" i="0" dirty="0" smtClean="0">
                <a:solidFill>
                  <a:srgbClr val="555555"/>
                </a:solidFill>
                <a:effectLst/>
                <a:latin typeface="Times New Roman" panose="02020603050405020304" pitchFamily="18" charset="0"/>
                <a:cs typeface="Times New Roman" panose="02020603050405020304" pitchFamily="18" charset="0"/>
              </a:rPr>
              <a:t>Chewing on pens, pencils or other items (a common “nervous habit” behavior).</a:t>
            </a:r>
            <a:endParaRPr lang="en-US" sz="3200" b="0" i="0" dirty="0" smtClean="0">
              <a:solidFill>
                <a:srgbClr val="555555"/>
              </a:solidFill>
              <a:effectLst/>
              <a:latin typeface="Times New Roman" panose="02020603050405020304" pitchFamily="18" charset="0"/>
              <a:cs typeface="Times New Roman" panose="02020603050405020304" pitchFamily="18" charset="0"/>
            </a:endParaRPr>
          </a:p>
          <a:p>
            <a:pPr marL="457200" indent="-457200">
              <a:buFont typeface="Wingdings" panose="05000000000000000000" charset="0"/>
              <a:buChar char="v"/>
            </a:pPr>
            <a:r>
              <a:rPr lang="en-US" sz="3200" b="0" i="0" dirty="0" smtClean="0">
                <a:solidFill>
                  <a:srgbClr val="555555"/>
                </a:solidFill>
                <a:effectLst/>
                <a:latin typeface="Times New Roman" panose="02020603050405020304" pitchFamily="18" charset="0"/>
                <a:cs typeface="Times New Roman" panose="02020603050405020304" pitchFamily="18" charset="0"/>
              </a:rPr>
              <a:t>Chewing on ice or excessively chewing gum.</a:t>
            </a:r>
            <a:endParaRPr lang="en-US" sz="3200" b="0" i="0" dirty="0" smtClean="0">
              <a:solidFill>
                <a:srgbClr val="555555"/>
              </a:solidFill>
              <a:effectLst/>
              <a:latin typeface="Times New Roman" panose="02020603050405020304" pitchFamily="18" charset="0"/>
              <a:cs typeface="Times New Roman" panose="02020603050405020304" pitchFamily="18" charset="0"/>
            </a:endParaRPr>
          </a:p>
          <a:p>
            <a:pPr marL="457200" indent="-457200">
              <a:buFont typeface="Wingdings" panose="05000000000000000000" charset="0"/>
              <a:buChar char="v"/>
            </a:pPr>
            <a:r>
              <a:rPr lang="en-US" sz="3200" b="0" i="0" dirty="0" smtClean="0">
                <a:solidFill>
                  <a:srgbClr val="555555"/>
                </a:solidFill>
                <a:effectLst/>
                <a:latin typeface="Times New Roman" panose="02020603050405020304" pitchFamily="18" charset="0"/>
                <a:cs typeface="Times New Roman" panose="02020603050405020304" pitchFamily="18" charset="0"/>
              </a:rPr>
              <a:t>Taking big bites of food. (This can overwork your jaw muscles.)</a:t>
            </a:r>
            <a:endParaRPr lang="en-US" sz="3200" b="0" i="0" dirty="0" smtClean="0">
              <a:solidFill>
                <a:srgbClr val="555555"/>
              </a:solidFill>
              <a:effectLst/>
              <a:latin typeface="Times New Roman" panose="02020603050405020304" pitchFamily="18" charset="0"/>
              <a:cs typeface="Times New Roman" panose="02020603050405020304" pitchFamily="18" charset="0"/>
            </a:endParaRPr>
          </a:p>
          <a:p>
            <a:pPr marL="457200" indent="-457200">
              <a:buFont typeface="Wingdings" panose="05000000000000000000" charset="0"/>
              <a:buChar char="v"/>
            </a:pPr>
            <a:r>
              <a:rPr lang="en-US" sz="3200" b="0" i="0" dirty="0" smtClean="0">
                <a:solidFill>
                  <a:srgbClr val="555555"/>
                </a:solidFill>
                <a:effectLst/>
                <a:latin typeface="Times New Roman" panose="02020603050405020304" pitchFamily="18" charset="0"/>
                <a:cs typeface="Times New Roman" panose="02020603050405020304" pitchFamily="18" charset="0"/>
              </a:rPr>
              <a:t>Daytime teeth clenching or grinding.</a:t>
            </a:r>
            <a:endParaRPr lang="en-US" sz="3200" b="0" i="0" dirty="0" smtClean="0">
              <a:solidFill>
                <a:srgbClr val="555555"/>
              </a:solidFill>
              <a:effectLst/>
              <a:latin typeface="Times New Roman" panose="02020603050405020304" pitchFamily="18" charset="0"/>
              <a:cs typeface="Times New Roman" panose="02020603050405020304" pitchFamily="18" charset="0"/>
            </a:endParaRPr>
          </a:p>
          <a:p>
            <a:pPr marL="457200" indent="-457200">
              <a:buFont typeface="Wingdings" panose="05000000000000000000" charset="0"/>
              <a:buChar char="v"/>
            </a:pPr>
            <a:r>
              <a:rPr lang="en-US" sz="3200" b="0" i="0" dirty="0" smtClean="0">
                <a:solidFill>
                  <a:srgbClr val="555555"/>
                </a:solidFill>
                <a:effectLst/>
                <a:latin typeface="Times New Roman" panose="02020603050405020304" pitchFamily="18" charset="0"/>
                <a:cs typeface="Times New Roman" panose="02020603050405020304" pitchFamily="18" charset="0"/>
              </a:rPr>
              <a:t>Sleeping on your stomach.</a:t>
            </a:r>
            <a:endParaRPr lang="en-US" sz="3200" b="0" i="0" dirty="0">
              <a:solidFill>
                <a:srgbClr val="555555"/>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10362</Words>
  <Application>WPS Presentation</Application>
  <PresentationFormat>Widescreen</PresentationFormat>
  <Paragraphs>174</Paragraphs>
  <Slides>21</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21</vt:i4>
      </vt:variant>
    </vt:vector>
  </HeadingPairs>
  <TitlesOfParts>
    <vt:vector size="37" baseType="lpstr">
      <vt:lpstr>Arial</vt:lpstr>
      <vt:lpstr>SimSun</vt:lpstr>
      <vt:lpstr>Wingdings</vt:lpstr>
      <vt:lpstr>Times New Roman</vt:lpstr>
      <vt:lpstr>Microsoft YaHei</vt:lpstr>
      <vt:lpstr>Arial Unicode MS</vt:lpstr>
      <vt:lpstr>Calibri Light</vt:lpstr>
      <vt:lpstr>Calibri</vt:lpstr>
      <vt:lpstr>var(--medium)</vt:lpstr>
      <vt:lpstr>PlutoSansLight</vt:lpstr>
      <vt:lpstr>Liberation Mono</vt:lpstr>
      <vt:lpstr>var(--light)</vt:lpstr>
      <vt:lpstr>var(--regular)</vt:lpstr>
      <vt:lpstr>__Roboto_44e537</vt:lpstr>
      <vt:lpstr>Wingdings</vt:lpstr>
      <vt:lpstr>Office Theme</vt:lpstr>
      <vt:lpstr>TEMPOROMANDIBULAR JOINT (TMJ)</vt:lpstr>
      <vt:lpstr>INTRODUCTION</vt:lpstr>
      <vt:lpstr> Temporomandibular joint (TMJ)</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HP</cp:lastModifiedBy>
  <cp:revision>87</cp:revision>
  <dcterms:created xsi:type="dcterms:W3CDTF">2024-09-13T14:39:00Z</dcterms:created>
  <dcterms:modified xsi:type="dcterms:W3CDTF">2024-10-22T12:52:01Z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7391DCF4B420428EB4F92AAB994D8D4B_12</vt:lpwstr>
  </property>
  <property fmtid="{D5CDD505-2E9C-101B-9397-08002B2CF9AE}" pid="3" name="KSOProductBuildVer">
    <vt:lpwstr>1033-12.2.0.17562</vt:lpwstr>
  </property>
</Properties>
</file>