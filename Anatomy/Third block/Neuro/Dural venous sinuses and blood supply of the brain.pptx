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y="6858000" cx="9144000"/>
  <p:notesSz cx="6858000" cy="9144000"/>
  <p:embeddedFontLst>
    <p:embeddedFont>
      <p:font typeface="Arial Black"/>
      <p:regular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8" roundtripDataSignature="AMtx7mjzrm7CKjP4itOUgBGDHdNVwUFi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8AC55B-8389-4220-9944-8EC3B252D6A1}">
  <a:tblStyle styleId="{488AC55B-8389-4220-9944-8EC3B252D6A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customschemas.google.com/relationships/presentationmetadata" Target="metadata"/><Relationship Id="rId43" Type="http://schemas.openxmlformats.org/officeDocument/2006/relationships/slide" Target="slides/slide37.xml"/><Relationship Id="rId87" Type="http://schemas.openxmlformats.org/officeDocument/2006/relationships/font" Target="fonts/ArialBlack-regular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A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8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428596" y="928671"/>
            <a:ext cx="8358246" cy="1785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DURAL VENOUS SINUSES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785786" y="4143380"/>
            <a:ext cx="7429552" cy="1495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BY</a:t>
            </a:r>
            <a:endParaRPr/>
          </a:p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592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DR. OJEWALE A.O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Outline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57200" y="2071678"/>
            <a:ext cx="8229600" cy="405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Characteristics &amp; Functions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Classification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Applied anatomy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Intro’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457200" y="928670"/>
            <a:ext cx="8229600" cy="571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endothelium-lined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venous channels formed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endosteal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meningeal layers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dura mater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possess neither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valves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nor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muscular tissue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receive blood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this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jugular veins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IJV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numerous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commonly found where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dural processes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attached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Characteristics &amp; Functions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285720" y="857232"/>
            <a:ext cx="8401080" cy="6000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They are lined with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endothelium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Devoid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muscular coat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valves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Projection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arachnoid granulation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it for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cerebrospinal fluid (CSF) absorption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Connected to valveless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emissary veins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maintain an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equilibrium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external venous pressure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Drain the blood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meninges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ear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bones of skull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veins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CSF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subarachnoid space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arachnoid villa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457200" y="-142900"/>
            <a:ext cx="8229600" cy="107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Classification of DVS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457200" y="571480"/>
            <a:ext cx="8229600" cy="62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31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Unpaired dural venous sinuses include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Superior sagittal sinus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Inferior sagittal sinus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Straight sinus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Occipital sinus, and basilar sinus.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Paired dural venous sinuses include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Transverse sinuses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Sigmoid sinuses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Cavernous sinuses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Sphenoparietal sinuses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Superior petrosal sinuses</a:t>
            </a:r>
            <a:endParaRPr/>
          </a:p>
          <a:p>
            <a:pPr indent="-342931" lvl="0" marL="342900" rtl="0" algn="l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Inferior petrosal sinuses, and intercavernous sinuses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descr="C:\Users\olakunle\Desktop\images.jpg"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8" y="3643314"/>
            <a:ext cx="3143272" cy="2428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Classification of DVS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/>
              <a:t>                                 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3000364" y="1285860"/>
            <a:ext cx="2928958" cy="642942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PAIRED DVS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286248" y="2000240"/>
            <a:ext cx="285752" cy="50006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500298" y="2571744"/>
            <a:ext cx="2000264" cy="4286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SUP. &amp; INF. PETROSAL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85720" y="2571744"/>
            <a:ext cx="2143140" cy="4286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CAVERNOUS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572000" y="2571744"/>
            <a:ext cx="2000264" cy="4286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TRANSVERSE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643702" y="2571744"/>
            <a:ext cx="2500298" cy="4286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SIGMOID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071802" y="3571876"/>
            <a:ext cx="2928958" cy="71438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UNPAIRED DVS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357686" y="4500570"/>
            <a:ext cx="285752" cy="50006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14348" y="5429264"/>
            <a:ext cx="2143140" cy="4286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SUP. &amp; INF. SAGGITAL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857488" y="5429264"/>
            <a:ext cx="2214578" cy="4286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STRAIGHT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072066" y="5429264"/>
            <a:ext cx="2214578" cy="4286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AU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OCCIPITAL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le:///C:/Users/olakunle/Desktop/paired-dural-venous-sinuses.webp" id="137" name="Google Shape;137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le:///C:/Users/olakunle/Desktop/paired-dural-venous-sinuses.webp" id="138" name="Google Shape;138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7358082" y="5429264"/>
            <a:ext cx="1785918" cy="428628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BASILAR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The superior sagittal sinus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457200" y="857232"/>
            <a:ext cx="8329642" cy="571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occupies the attached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convex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falx cerebri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begins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crista galli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cecum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confluence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(near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occipital protuberance).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Here, it usually deviates  to the right, to continue as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sinus.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cerebral veins,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numerous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arachnoid granulations. CSF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drains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subarachnoid space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venous channels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/>
          </a:p>
        </p:txBody>
      </p:sp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457200" y="1214422"/>
            <a:ext cx="8229600" cy="564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also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parietal emissary 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connect it with the veins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pericranium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calvaria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When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cecum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patent, this sinus also receives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communicates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venous lacunae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via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minute orifices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These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lacunae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about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three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each side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sagittal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expansion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sagittal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457200" y="0"/>
            <a:ext cx="8229600" cy="13572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Confluence of sinuses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457200" y="1071546"/>
            <a:ext cx="8401080" cy="5786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Confluence of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dilated posterior end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sagittal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usually located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occipital protuberance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straight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occipital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However, variations do occur in this respect as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some of the above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may not join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confluence of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type="title"/>
          </p:nvPr>
        </p:nvSpPr>
        <p:spPr>
          <a:xfrm>
            <a:off x="457200" y="0"/>
            <a:ext cx="8229600" cy="857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Inferior sagittal sinus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7" name="Google Shape;167;p10"/>
          <p:cNvSpPr txBox="1"/>
          <p:nvPr>
            <p:ph idx="1" type="body"/>
          </p:nvPr>
        </p:nvSpPr>
        <p:spPr>
          <a:xfrm>
            <a:off x="285720" y="785794"/>
            <a:ext cx="8643998" cy="6429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occupies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two-third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concave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falx cerebri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ends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uniting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great cerebral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form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straight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receives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falx cerebri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occasionally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cerebral surfaces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than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sagittal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increases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size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posteriorly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>
            <p:ph type="title"/>
          </p:nvPr>
        </p:nvSpPr>
        <p:spPr>
          <a:xfrm>
            <a:off x="457200" y="0"/>
            <a:ext cx="8229600" cy="92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Straight sinus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4" name="Google Shape;174;p11"/>
          <p:cNvSpPr txBox="1"/>
          <p:nvPr>
            <p:ph idx="1" type="body"/>
          </p:nvPr>
        </p:nvSpPr>
        <p:spPr>
          <a:xfrm>
            <a:off x="285720" y="642918"/>
            <a:ext cx="8572560" cy="5929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located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tentorium cerebelli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junction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tentorium cerebelli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falx cerebri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); thus,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sagittally disposed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(in the median plane).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commences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union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great cerebral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Galen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sagittal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passes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postero-inferiorly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(in the median plane) from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commencement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may terminate behind 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confluence of the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However, it usually continues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directly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(behind).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descr="C:\Users\olakunle\Desktop\Dural-Venous-S pix.jpg" id="181" name="Google Shape;18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24" y="1214422"/>
            <a:ext cx="7215238" cy="4911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7" name="Google Shape;187;p13"/>
          <p:cNvSpPr txBox="1"/>
          <p:nvPr>
            <p:ph idx="1" type="body"/>
          </p:nvPr>
        </p:nvSpPr>
        <p:spPr>
          <a:xfrm>
            <a:off x="457200" y="1428736"/>
            <a:ext cx="8229600" cy="4697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great cerebral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some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cerebellar veins.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>
            <p:ph type="title"/>
          </p:nvPr>
        </p:nvSpPr>
        <p:spPr>
          <a:xfrm>
            <a:off x="457200" y="-214338"/>
            <a:ext cx="8229600" cy="107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Occipital sinus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4" name="Google Shape;194;p14"/>
          <p:cNvSpPr txBox="1"/>
          <p:nvPr>
            <p:ph idx="1" type="body"/>
          </p:nvPr>
        </p:nvSpPr>
        <p:spPr>
          <a:xfrm>
            <a:off x="214282" y="571480"/>
            <a:ext cx="8929718" cy="6786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smallest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dural venous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occupies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attached margin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falx cerebelli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cranial fossa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commences near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magnum below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union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some minute vessels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linked, near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commencement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sigmoid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ascends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falx cerebelli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terminates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confluence of the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communicates below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vertebral venous plexuses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(located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spinal epidural space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), and it may be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paired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95" name="Google Shape;19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Basilar sinus (Basilar venous plexus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1" name="Google Shape;201;p15"/>
          <p:cNvSpPr txBox="1"/>
          <p:nvPr>
            <p:ph idx="1" type="body"/>
          </p:nvPr>
        </p:nvSpPr>
        <p:spPr>
          <a:xfrm>
            <a:off x="457200" y="1142984"/>
            <a:ext cx="8229600" cy="542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consists of numerous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interconnecting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various channels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located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dura matter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that overlies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clivus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interconnects the two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petrosal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communicates below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vertebral venous plexus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 canal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may also communicate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petrosal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at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end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type="title"/>
          </p:nvPr>
        </p:nvSpPr>
        <p:spPr>
          <a:xfrm>
            <a:off x="457200" y="285728"/>
            <a:ext cx="8229600" cy="1000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Transverse sinuses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8" name="Google Shape;208;p16"/>
          <p:cNvSpPr txBox="1"/>
          <p:nvPr>
            <p:ph idx="1" type="body"/>
          </p:nvPr>
        </p:nvSpPr>
        <p:spPr>
          <a:xfrm>
            <a:off x="214282" y="1142984"/>
            <a:ext cx="8715436" cy="635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commences 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confluence of the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near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occipital protuberance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usually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direct continuation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sagittal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right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straight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curves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anterolaterally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its origin, along the attached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posterolateral margin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tentorium cerebelli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to the posterior end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petrous temporal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where it turns down as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sigmoid sinus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>
            <p:ph type="title"/>
          </p:nvPr>
        </p:nvSpPr>
        <p:spPr>
          <a:xfrm>
            <a:off x="457200" y="-285776"/>
            <a:ext cx="8229600" cy="1214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/>
          </a:p>
        </p:txBody>
      </p:sp>
      <p:sp>
        <p:nvSpPr>
          <p:cNvPr id="215" name="Google Shape;215;p17"/>
          <p:cNvSpPr txBox="1"/>
          <p:nvPr>
            <p:ph idx="1" type="body"/>
          </p:nvPr>
        </p:nvSpPr>
        <p:spPr>
          <a:xfrm>
            <a:off x="285720" y="500042"/>
            <a:ext cx="8715436" cy="71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grooves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squamous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occipital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mastoid angle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parietal bone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as it turns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proximodistally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cerebellar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cerebral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diploic 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communicates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petrosal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where it becomes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sigmoid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on the side where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it is continuous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directly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sagittal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(usually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side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); it also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increase in size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proximal distally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>
            <p:ph type="title"/>
          </p:nvPr>
        </p:nvSpPr>
        <p:spPr>
          <a:xfrm>
            <a:off x="457200" y="-357214"/>
            <a:ext cx="8229600" cy="1357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Sigmoid Sinuses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2" name="Google Shape;222;p18"/>
          <p:cNvSpPr txBox="1"/>
          <p:nvPr>
            <p:ph idx="1" type="body"/>
          </p:nvPr>
        </p:nvSpPr>
        <p:spPr>
          <a:xfrm>
            <a:off x="0" y="500042"/>
            <a:ext cx="9001156" cy="6786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sigmoid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continuation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leaves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attachment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tentorium cerebelli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describes an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S-shaped course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as it runs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inferomedially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groove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mastoid temporal bone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cranial fossa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 Then,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finally turns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forwards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becomes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jugular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descending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jugular foramen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communicates, 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mastoid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condylar emissary 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pericranial 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Sphenoparietal Sinuses</a:t>
            </a:r>
            <a:endParaRPr/>
          </a:p>
        </p:txBody>
      </p:sp>
      <p:sp>
        <p:nvSpPr>
          <p:cNvPr id="229" name="Google Shape;229;p19"/>
          <p:cNvSpPr txBox="1"/>
          <p:nvPr>
            <p:ph idx="1" type="body"/>
          </p:nvPr>
        </p:nvSpPr>
        <p:spPr>
          <a:xfrm>
            <a:off x="457200" y="1285860"/>
            <a:ext cx="8229600" cy="5214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sphenoparietal sinus 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 venous channel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that runs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close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margin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lesser wing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ends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receives tributaries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adjacent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dura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Occasionally, it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 branch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meningeal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>
            <p:ph type="title"/>
          </p:nvPr>
        </p:nvSpPr>
        <p:spPr>
          <a:xfrm>
            <a:off x="457200" y="0"/>
            <a:ext cx="8229600" cy="1071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Superior Petrosal Sinuses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6" name="Google Shape;236;p20"/>
          <p:cNvSpPr txBox="1"/>
          <p:nvPr>
            <p:ph idx="1" type="body"/>
          </p:nvPr>
        </p:nvSpPr>
        <p:spPr>
          <a:xfrm>
            <a:off x="457200" y="857232"/>
            <a:ext cx="8229600" cy="5643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petrosal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lies along the attached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anterolateral margin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tentorium cerebelli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petrous temporal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extends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posterolaterally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petrous temporal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posterosuperior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terminal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(where the latter continues as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sigmoid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lies above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trigeminal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(near its commencement 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/>
          </a:p>
        </p:txBody>
      </p:sp>
      <p:sp>
        <p:nvSpPr>
          <p:cNvPr id="243" name="Google Shape;24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drains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sigmoid sinus.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cerebral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cerebellar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tympanic 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communicates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petrosal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basilar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>
            <p:ph type="title"/>
          </p:nvPr>
        </p:nvSpPr>
        <p:spPr>
          <a:xfrm>
            <a:off x="457200" y="0"/>
            <a:ext cx="8229600" cy="114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Inferior Petrosal Sinuses</a:t>
            </a:r>
            <a:endParaRPr/>
          </a:p>
        </p:txBody>
      </p:sp>
      <p:sp>
        <p:nvSpPr>
          <p:cNvPr id="250" name="Google Shape;250;p22"/>
          <p:cNvSpPr txBox="1"/>
          <p:nvPr>
            <p:ph idx="1" type="body"/>
          </p:nvPr>
        </p:nvSpPr>
        <p:spPr>
          <a:xfrm>
            <a:off x="457200" y="1071546"/>
            <a:ext cx="8401080" cy="5786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petrosal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commences 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posteroinferior end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passes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backwards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downwards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groove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petrous temporal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basilar occipital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traverses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jugular foramen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terminate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jugular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It 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labyrinthine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pontine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cerebellar 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descr="C:\Users\olakunle\Desktop\Dural-sinuses-and-encephalic-veins-anatomy-70.ppm.png" id="257" name="Google Shape;257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48" y="785794"/>
            <a:ext cx="7858179" cy="5340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/>
          <p:nvPr>
            <p:ph type="title"/>
          </p:nvPr>
        </p:nvSpPr>
        <p:spPr>
          <a:xfrm>
            <a:off x="457200" y="0"/>
            <a:ext cx="8229600" cy="1214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Intercavernous Sinuses</a:t>
            </a:r>
            <a:endParaRPr/>
          </a:p>
        </p:txBody>
      </p:sp>
      <p:sp>
        <p:nvSpPr>
          <p:cNvPr id="263" name="Google Shape;263;p24"/>
          <p:cNvSpPr txBox="1"/>
          <p:nvPr>
            <p:ph idx="1" type="body"/>
          </p:nvPr>
        </p:nvSpPr>
        <p:spPr>
          <a:xfrm>
            <a:off x="214282" y="1071546"/>
            <a:ext cx="8715436" cy="635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intercavernous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include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anterior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intercavernous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they are located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attached margins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diaphragma sellae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respectively.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Interconnect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 cavernous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Receive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intercavernous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(located deep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hypophysis cerebri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floor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hypophyseal fossa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descr="C:\Users\olakunle\Desktop\3OVhhMf7uWw1llLTgoLhA_dural-veno.jpg" id="270" name="Google Shape;270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976" y="928670"/>
            <a:ext cx="7572428" cy="5197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>
            <p:ph type="title"/>
          </p:nvPr>
        </p:nvSpPr>
        <p:spPr>
          <a:xfrm>
            <a:off x="457200" y="0"/>
            <a:ext cx="8229600" cy="857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Cavernous sinuses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76" name="Google Shape;276;p26"/>
          <p:cNvSpPr txBox="1"/>
          <p:nvPr>
            <p:ph idx="1" type="body"/>
          </p:nvPr>
        </p:nvSpPr>
        <p:spPr>
          <a:xfrm>
            <a:off x="457200" y="785794"/>
            <a:ext cx="8229600" cy="5857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Each cavernous sinus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is located on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each side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Consists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several minute veins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interconnected with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one another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These give the sinus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reticulated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plexiform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labyrinthine appearance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Extends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orbital fissure anteriorly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apex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petrous temporal bone posteriorly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Measures about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2 cm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length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1 cm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width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/>
          </a:p>
        </p:txBody>
      </p:sp>
      <p:sp>
        <p:nvSpPr>
          <p:cNvPr id="283" name="Google Shape;283;p27"/>
          <p:cNvSpPr txBox="1"/>
          <p:nvPr>
            <p:ph idx="1" type="body"/>
          </p:nvPr>
        </p:nvSpPr>
        <p:spPr>
          <a:xfrm>
            <a:off x="457200" y="928670"/>
            <a:ext cx="8401080" cy="592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Is joined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opposite 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intercavernous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Transmits some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vital structures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(nerves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through it, and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its lateral wall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Receives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ophthalmic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cerebral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superficial middle cerebral 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sphenoparietal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own side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also joins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>
            <p:ph type="title"/>
          </p:nvPr>
        </p:nvSpPr>
        <p:spPr>
          <a:xfrm>
            <a:off x="457200" y="0"/>
            <a:ext cx="8229600" cy="1142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AU" sz="3200">
                <a:latin typeface="Arial Black"/>
                <a:ea typeface="Arial Black"/>
                <a:cs typeface="Arial Black"/>
                <a:sym typeface="Arial Black"/>
              </a:rPr>
              <a:t>The cavernous sinus drains into the</a:t>
            </a:r>
            <a:endParaRPr sz="32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0" name="Google Shape;290;p28"/>
          <p:cNvSpPr txBox="1"/>
          <p:nvPr>
            <p:ph idx="1" type="body"/>
          </p:nvPr>
        </p:nvSpPr>
        <p:spPr>
          <a:xfrm>
            <a:off x="214282" y="1142984"/>
            <a:ext cx="8643998" cy="5715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jugular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petrosal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Transverse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petrosal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Facial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ophthalmic vein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Pterygoid plexus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veins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via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emissary veins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that traverse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foramina ovale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lacerum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sphenoidal foramen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Opposite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intercavernous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91" name="Google Shape;29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457200" y="571480"/>
            <a:ext cx="8229600" cy="142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AU" sz="3600">
                <a:latin typeface="Arial Black"/>
                <a:ea typeface="Arial Black"/>
                <a:cs typeface="Arial Black"/>
                <a:sym typeface="Arial Black"/>
              </a:rPr>
              <a:t>Structures that pass through the cavernous sinus include</a:t>
            </a:r>
            <a:endParaRPr sz="36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7" name="Google Shape;297;p29"/>
          <p:cNvSpPr txBox="1"/>
          <p:nvPr>
            <p:ph idx="1" type="body"/>
          </p:nvPr>
        </p:nvSpPr>
        <p:spPr>
          <a:xfrm>
            <a:off x="457200" y="2071678"/>
            <a:ext cx="8229600" cy="405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plexus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(of sympathetic nerves).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Abducent nerve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 txBox="1"/>
          <p:nvPr>
            <p:ph type="title"/>
          </p:nvPr>
        </p:nvSpPr>
        <p:spPr>
          <a:xfrm>
            <a:off x="214282" y="500042"/>
            <a:ext cx="8643998" cy="1357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AU" sz="3200">
                <a:latin typeface="Arial Black"/>
                <a:ea typeface="Arial Black"/>
                <a:cs typeface="Arial Black"/>
                <a:sym typeface="Arial Black"/>
              </a:rPr>
              <a:t>Structures that traverse the lateral wall of the cavernous sinus include, from above downwards;</a:t>
            </a:r>
            <a:endParaRPr sz="32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4" name="Google Shape;304;p30"/>
          <p:cNvSpPr txBox="1"/>
          <p:nvPr>
            <p:ph idx="1" type="body"/>
          </p:nvPr>
        </p:nvSpPr>
        <p:spPr>
          <a:xfrm>
            <a:off x="457200" y="2285992"/>
            <a:ext cx="8229600" cy="4071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Oculomotor motor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Trochlear nerve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Ophthalmic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(1</a:t>
            </a:r>
            <a:r>
              <a:rPr baseline="30000" lang="en-AU">
                <a:latin typeface="Arial"/>
                <a:ea typeface="Arial"/>
                <a:cs typeface="Arial"/>
                <a:sym typeface="Arial"/>
              </a:rPr>
              <a:t>st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division of trigeminal nerve).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(2</a:t>
            </a:r>
            <a:r>
              <a:rPr baseline="30000" lang="en-AU">
                <a:latin typeface="Arial"/>
                <a:ea typeface="Arial"/>
                <a:cs typeface="Arial"/>
                <a:sym typeface="Arial"/>
              </a:rPr>
              <a:t>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division of trigeminal nerve).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>
            <p:ph type="title"/>
          </p:nvPr>
        </p:nvSpPr>
        <p:spPr>
          <a:xfrm>
            <a:off x="457200" y="0"/>
            <a:ext cx="8229600" cy="141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The flowing of the blood in dural sinus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2" name="Google Shape;312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AU"/>
              <a:t>                                 </a:t>
            </a: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214282" y="1428736"/>
            <a:ext cx="2357454" cy="642942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Sup. Sagittal sinus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5357818" y="2071678"/>
            <a:ext cx="285752" cy="50006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2500298" y="2571744"/>
            <a:ext cx="2000264" cy="57150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Straight sinus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285720" y="2571744"/>
            <a:ext cx="2143140" cy="57150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Inf. Sagittal sinus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4572000" y="2571744"/>
            <a:ext cx="2000264" cy="571504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Confluence of sinuses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6643702" y="2500306"/>
            <a:ext cx="2500298" cy="71438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Transverse sinus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3357554" y="3571876"/>
            <a:ext cx="2000264" cy="71438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Sup. petrosal sinus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4357686" y="4500570"/>
            <a:ext cx="285752" cy="50006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3428992" y="5214950"/>
            <a:ext cx="2000264" cy="71438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Inf. Petrosal sinus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6715140" y="5214950"/>
            <a:ext cx="2000264" cy="642942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Internal jugular vein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6643702" y="4143380"/>
            <a:ext cx="2000264" cy="500066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Sigmoid sinus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428596" y="4429132"/>
            <a:ext cx="2500298" cy="71438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Cavernous sinus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2071670" y="2714620"/>
            <a:ext cx="692656" cy="28575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4214810" y="2714620"/>
            <a:ext cx="692656" cy="28575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6357950" y="2714620"/>
            <a:ext cx="692656" cy="28575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7500958" y="4714884"/>
            <a:ext cx="285752" cy="50006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7572396" y="3286124"/>
            <a:ext cx="285752" cy="78581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31"/>
          <p:cNvCxnSpPr/>
          <p:nvPr/>
        </p:nvCxnSpPr>
        <p:spPr>
          <a:xfrm>
            <a:off x="2714612" y="1785926"/>
            <a:ext cx="2571900" cy="3573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1" name="Google Shape;331;p31"/>
          <p:cNvSpPr/>
          <p:nvPr/>
        </p:nvSpPr>
        <p:spPr>
          <a:xfrm>
            <a:off x="2928926" y="4214818"/>
            <a:ext cx="798390" cy="1143008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31"/>
          <p:cNvCxnSpPr/>
          <p:nvPr/>
        </p:nvCxnSpPr>
        <p:spPr>
          <a:xfrm flipH="1" rot="10800000">
            <a:off x="5286380" y="3214542"/>
            <a:ext cx="1928700" cy="8574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3" name="Google Shape;33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34" name="Google Shape;334;p31"/>
          <p:cNvSpPr/>
          <p:nvPr/>
        </p:nvSpPr>
        <p:spPr>
          <a:xfrm>
            <a:off x="5786446" y="5429264"/>
            <a:ext cx="692656" cy="28575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Applied Anatomy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0" name="Google Shape;340;p32"/>
          <p:cNvSpPr txBox="1"/>
          <p:nvPr>
            <p:ph idx="1" type="body"/>
          </p:nvPr>
        </p:nvSpPr>
        <p:spPr>
          <a:xfrm>
            <a:off x="457200" y="1214422"/>
            <a:ext cx="8229600" cy="564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pulsating orbital swelling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(pulsating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exophthalmos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may suggest leakage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(e.g. following an accident).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Thrombophlebitis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facial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may give rise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thrombophlebitis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owing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communication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between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facial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ophthalmic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pterygoid plexus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47" name="Google Shape;347;p33"/>
          <p:cNvSpPr txBox="1"/>
          <p:nvPr>
            <p:ph idx="1" type="body"/>
          </p:nvPr>
        </p:nvSpPr>
        <p:spPr>
          <a:xfrm>
            <a:off x="457200" y="1214422"/>
            <a:ext cx="8229600" cy="5857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Thrombophlebitis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dural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may also arise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infections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scalp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Suppuration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danger triangle of the 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paranasal sinuses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parts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nasal cavities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may produce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septic thrombosis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Septic thrombosis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may result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inflammation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meninges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acute meningitis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48" name="Google Shape;3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"/>
          <p:cNvSpPr txBox="1"/>
          <p:nvPr>
            <p:ph type="title"/>
          </p:nvPr>
        </p:nvSpPr>
        <p:spPr>
          <a:xfrm>
            <a:off x="457200" y="0"/>
            <a:ext cx="8229600" cy="714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/>
          </a:p>
        </p:txBody>
      </p:sp>
      <p:sp>
        <p:nvSpPr>
          <p:cNvPr id="354" name="Google Shape;354;p34"/>
          <p:cNvSpPr txBox="1"/>
          <p:nvPr>
            <p:ph idx="1" type="body"/>
          </p:nvPr>
        </p:nvSpPr>
        <p:spPr>
          <a:xfrm>
            <a:off x="142844" y="714356"/>
            <a:ext cx="8786874" cy="6143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Infections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cancer cells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from certain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pelvic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abdominal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thoracic organs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(e.g.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prostate gland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may spread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meninges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via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vertebral venous plexuses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vertebral venous plexuses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communicate with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basilar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occipital venous sinuses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magnum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oculomotor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trochlear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ophthalmic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maxillary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abducent nerves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at risk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injuries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that involve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1" name="Google Shape;361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362" name="Google Shape;3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3338"/>
            <a:ext cx="9085263" cy="681513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 txBox="1"/>
          <p:nvPr>
            <p:ph type="ctrTitle"/>
          </p:nvPr>
        </p:nvSpPr>
        <p:spPr>
          <a:xfrm>
            <a:off x="685800" y="857233"/>
            <a:ext cx="7772400" cy="18573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BLOOD SUPPLY OF THE BRAIN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69" name="Google Shape;369;p36"/>
          <p:cNvSpPr txBox="1"/>
          <p:nvPr>
            <p:ph idx="1" type="subTitle"/>
          </p:nvPr>
        </p:nvSpPr>
        <p:spPr>
          <a:xfrm>
            <a:off x="1000100" y="3143248"/>
            <a:ext cx="7500990" cy="3000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BY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DR OJEWALE A.O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0" name="Google Shape;37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Outline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76" name="Google Shape;376;p37"/>
          <p:cNvSpPr txBox="1"/>
          <p:nvPr>
            <p:ph idx="1" type="body"/>
          </p:nvPr>
        </p:nvSpPr>
        <p:spPr>
          <a:xfrm>
            <a:off x="457200" y="1571612"/>
            <a:ext cx="8229600" cy="528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Intro’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Vertebral artery &amp; Its branches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Internal carotid artery &amp; Its branches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Basilar artery &amp; Its branches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Branches of the main arteries of the brain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Arterial circle of Willis &amp; Its formation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Applied Anatomy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INTRO’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82" name="Google Shape;382;p38"/>
          <p:cNvSpPr txBox="1"/>
          <p:nvPr>
            <p:ph idx="1" type="body"/>
          </p:nvPr>
        </p:nvSpPr>
        <p:spPr>
          <a:xfrm>
            <a:off x="285720" y="1357298"/>
            <a:ext cx="8572560" cy="5143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31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blood supply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brain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is provided by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four arteries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: two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vertebral arteries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and two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internal carotid arteries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31" lvl="0" marL="342900" rtl="0" algn="just">
              <a:spcBef>
                <a:spcPts val="64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 sz="3500">
                <a:latin typeface="Arial"/>
                <a:ea typeface="Arial"/>
                <a:cs typeface="Arial"/>
                <a:sym typeface="Arial"/>
              </a:rPr>
              <a:t>The two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vertebral arteries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enter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skull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 through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foramen magnum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and unite at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lower border of the pons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to form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basilar artery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, which ascends in the midline on the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ventral surface of the pons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and at its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upper border 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terminates by dividing into </a:t>
            </a:r>
            <a:r>
              <a:rPr b="1" lang="en-AU" sz="3500">
                <a:latin typeface="Arial"/>
                <a:ea typeface="Arial"/>
                <a:cs typeface="Arial"/>
                <a:sym typeface="Arial"/>
              </a:rPr>
              <a:t>right and left posterior cerebral arteries</a:t>
            </a:r>
            <a:r>
              <a:rPr lang="en-AU" sz="35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5494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24" y="785794"/>
            <a:ext cx="7572428" cy="534036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9"/>
          <p:cNvSpPr txBox="1"/>
          <p:nvPr/>
        </p:nvSpPr>
        <p:spPr>
          <a:xfrm>
            <a:off x="2214546" y="6215082"/>
            <a:ext cx="44291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Four arteries supplying the brain</a:t>
            </a:r>
            <a:endParaRPr sz="1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0" name="Google Shape;39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0"/>
          <p:cNvSpPr txBox="1"/>
          <p:nvPr>
            <p:ph type="title"/>
          </p:nvPr>
        </p:nvSpPr>
        <p:spPr>
          <a:xfrm>
            <a:off x="457200" y="-285776"/>
            <a:ext cx="8229600" cy="9286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AU" sz="4000">
                <a:latin typeface="Arial Black"/>
                <a:ea typeface="Arial Black"/>
                <a:cs typeface="Arial Black"/>
                <a:sym typeface="Arial Black"/>
              </a:rPr>
              <a:t>Vertebral Artery</a:t>
            </a:r>
            <a:endParaRPr sz="40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96" name="Google Shape;396;p40"/>
          <p:cNvSpPr txBox="1"/>
          <p:nvPr>
            <p:ph idx="1" type="body"/>
          </p:nvPr>
        </p:nvSpPr>
        <p:spPr>
          <a:xfrm>
            <a:off x="0" y="357166"/>
            <a:ext cx="8858280" cy="6143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one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principal arteries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supplies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largest branch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first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subclavian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arises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aspect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first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subclavian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runs vertically upwards to enter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transversarium of the transverse process of C6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After emerging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transversarium of C1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it winds backwards around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mass of the atlas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enters the cranial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through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magnum.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0"/>
          <p:cNvSpPr txBox="1"/>
          <p:nvPr>
            <p:ph idx="12" type="sldNum"/>
          </p:nvPr>
        </p:nvSpPr>
        <p:spPr>
          <a:xfrm>
            <a:off x="6553200" y="642146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96" y="357166"/>
            <a:ext cx="8429684" cy="578647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1"/>
          <p:cNvSpPr txBox="1"/>
          <p:nvPr/>
        </p:nvSpPr>
        <p:spPr>
          <a:xfrm>
            <a:off x="1785918" y="6215082"/>
            <a:ext cx="47251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Branches of the right and left subclavian arteries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2"/>
          <p:cNvSpPr txBox="1"/>
          <p:nvPr>
            <p:ph idx="1" type="body"/>
          </p:nvPr>
        </p:nvSpPr>
        <p:spPr>
          <a:xfrm>
            <a:off x="142844" y="0"/>
            <a:ext cx="8786874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AU" sz="3000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cranial cavity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 unites with the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vertebral artery 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opposite side 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at the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 lower border of the pons 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to form the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basilar artery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lang="en-AU" sz="30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vertebral artery 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is divided into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four parts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42900" lvl="0" marL="34290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First 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(cervical)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: It extends from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origin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foramen transversarium of C6 vertebra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. This part lies in the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scalenovertebral triangle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Second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 (vertebral)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: It lies within the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foramen transversaria 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upper six cervical vertebrae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Third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 (suboccipital)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: It extends from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foramen transversarium of C1 vertebra 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foramen magnum of skull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. This part lies within the </a:t>
            </a:r>
            <a:r>
              <a:rPr b="1" lang="en-AU" sz="3000">
                <a:latin typeface="Arial"/>
                <a:ea typeface="Arial"/>
                <a:cs typeface="Arial"/>
                <a:sym typeface="Arial"/>
              </a:rPr>
              <a:t>suboccipital triangle</a:t>
            </a:r>
            <a:r>
              <a:rPr lang="en-AU" sz="3000">
                <a:latin typeface="Arial"/>
                <a:ea typeface="Arial"/>
                <a:cs typeface="Arial"/>
                <a:sym typeface="Arial"/>
              </a:rPr>
              <a:t>.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3"/>
          <p:cNvSpPr txBox="1"/>
          <p:nvPr>
            <p:ph idx="1" type="body"/>
          </p:nvPr>
        </p:nvSpPr>
        <p:spPr>
          <a:xfrm>
            <a:off x="457200" y="500042"/>
            <a:ext cx="8229600" cy="6357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Fourth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(intracranial)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It extends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magnum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65100" lvl="0" marL="3429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3174" y="1500174"/>
            <a:ext cx="5929354" cy="500066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3"/>
          <p:cNvSpPr txBox="1"/>
          <p:nvPr/>
        </p:nvSpPr>
        <p:spPr>
          <a:xfrm>
            <a:off x="2285984" y="6357958"/>
            <a:ext cx="39048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and parts of the vertebral artery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419" name="Google Shape;419;p43"/>
          <p:cNvSpPr txBox="1"/>
          <p:nvPr/>
        </p:nvSpPr>
        <p:spPr>
          <a:xfrm>
            <a:off x="4000496" y="0"/>
            <a:ext cx="242889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/>
          <p:cNvSpPr txBox="1"/>
          <p:nvPr>
            <p:ph type="title"/>
          </p:nvPr>
        </p:nvSpPr>
        <p:spPr>
          <a:xfrm>
            <a:off x="457200" y="-142900"/>
            <a:ext cx="8229600" cy="107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Black"/>
              <a:buNone/>
            </a:pPr>
            <a:r>
              <a:rPr lang="en-AU" sz="4000">
                <a:latin typeface="Arial Black"/>
                <a:ea typeface="Arial Black"/>
                <a:cs typeface="Arial Black"/>
                <a:sym typeface="Arial Black"/>
              </a:rPr>
              <a:t>Branches</a:t>
            </a:r>
            <a:endParaRPr sz="40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5" name="Google Shape;425;p44"/>
          <p:cNvSpPr txBox="1"/>
          <p:nvPr>
            <p:ph idx="1" type="body"/>
          </p:nvPr>
        </p:nvSpPr>
        <p:spPr>
          <a:xfrm>
            <a:off x="214282" y="642918"/>
            <a:ext cx="8715436" cy="6215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In the neck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(cervical branches)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Spinal branches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They arise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second (vertebral)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 canal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through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intervertebral foramina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supply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five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six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cervical segments of the spinal cord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Muscular branches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They arise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first and third parts of the vertebral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Those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first 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supply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deep muscles of the neck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those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third 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supply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muscles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suboccipital triangle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 txBox="1"/>
          <p:nvPr>
            <p:ph idx="1" type="body"/>
          </p:nvPr>
        </p:nvSpPr>
        <p:spPr>
          <a:xfrm>
            <a:off x="457200" y="1071546"/>
            <a:ext cx="8229600" cy="542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cranial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(cranial branches): They arise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4th 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These are: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Meningeal branches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spinal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spinal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inferior cerebellar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Medullary branches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433" name="Google Shape;433;p45"/>
          <p:cNvSpPr txBox="1"/>
          <p:nvPr/>
        </p:nvSpPr>
        <p:spPr>
          <a:xfrm>
            <a:off x="3428992" y="357166"/>
            <a:ext cx="2151551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6"/>
          <p:cNvSpPr txBox="1"/>
          <p:nvPr>
            <p:ph type="title"/>
          </p:nvPr>
        </p:nvSpPr>
        <p:spPr>
          <a:xfrm>
            <a:off x="457200" y="0"/>
            <a:ext cx="8229600" cy="1285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AU" sz="3200">
                <a:latin typeface="Arial Black"/>
                <a:ea typeface="Arial Black"/>
                <a:cs typeface="Arial Black"/>
                <a:sym typeface="Arial Black"/>
              </a:rPr>
              <a:t>In the cranial cavity, each vertebral artery gives rise to:</a:t>
            </a:r>
            <a:endParaRPr sz="32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9" name="Google Shape;439;p46"/>
          <p:cNvSpPr txBox="1"/>
          <p:nvPr>
            <p:ph idx="1" type="body"/>
          </p:nvPr>
        </p:nvSpPr>
        <p:spPr>
          <a:xfrm>
            <a:off x="142844" y="1142984"/>
            <a:ext cx="8786874" cy="5715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Meningeal branches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supply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dura matter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cranial fossa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(cerebellar fossa) including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the falx cerebelli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spinal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descends 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magnum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spinal cord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 anterior spinal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unites with its fellow,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medulla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to form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single trunk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that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descends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magnum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40" name="Google Shape;44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 posterior inferior cerebellar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runs onto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cerebellar surface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to supply it; it also supplies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medulla oblongata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choroid plexus of the 4</a:t>
            </a:r>
            <a:r>
              <a:rPr b="1" baseline="30000" lang="en-AU"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ventricle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Medullary arteries,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several minute branches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supply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medulla oblongata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446" name="Google Shape;446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447" name="Google Shape;447;p47"/>
          <p:cNvSpPr txBox="1"/>
          <p:nvPr/>
        </p:nvSpPr>
        <p:spPr>
          <a:xfrm>
            <a:off x="3500430" y="785794"/>
            <a:ext cx="2151551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"/>
          <p:cNvSpPr txBox="1"/>
          <p:nvPr>
            <p:ph type="title"/>
          </p:nvPr>
        </p:nvSpPr>
        <p:spPr>
          <a:xfrm>
            <a:off x="457200" y="1285860"/>
            <a:ext cx="8229600" cy="4000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Internal Carotid Artery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Internal Carotid Artery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58" name="Google Shape;458;p49"/>
          <p:cNvSpPr txBox="1"/>
          <p:nvPr>
            <p:ph idx="1" type="body"/>
          </p:nvPr>
        </p:nvSpPr>
        <p:spPr>
          <a:xfrm>
            <a:off x="214282" y="1285860"/>
            <a:ext cx="8643998" cy="535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enters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cranial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through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carotid canal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lacerum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then takes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sinuous course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pierces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dural roof of the sinus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immediately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optic chiasma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region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perforated substance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dividing into a larger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a smaller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cerebral artery.</a:t>
            </a:r>
            <a:endParaRPr/>
          </a:p>
        </p:txBody>
      </p:sp>
      <p:sp>
        <p:nvSpPr>
          <p:cNvPr id="459" name="Google Shape;459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0"/>
          <p:cNvSpPr txBox="1"/>
          <p:nvPr>
            <p:ph idx="1" type="body"/>
          </p:nvPr>
        </p:nvSpPr>
        <p:spPr>
          <a:xfrm>
            <a:off x="457200" y="785794"/>
            <a:ext cx="8401080" cy="5857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course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divisible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four parts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(1) cervical, (2) petrous, (3) cavernous and (4) cerebral.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Cervical part,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ascends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neck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jugular vein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carotid sheath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vagus nerve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Petrous part,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traverses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carotid canal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petrous temporal bone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to enter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cranial cavity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(by passing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superomedially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above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cartilage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that covers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lacerum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466" name="Google Shape;466;p50"/>
          <p:cNvSpPr txBox="1"/>
          <p:nvPr/>
        </p:nvSpPr>
        <p:spPr>
          <a:xfrm>
            <a:off x="3714744" y="214290"/>
            <a:ext cx="215155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1"/>
          <p:cNvSpPr txBox="1"/>
          <p:nvPr>
            <p:ph idx="1" type="body"/>
          </p:nvPr>
        </p:nvSpPr>
        <p:spPr>
          <a:xfrm>
            <a:off x="457200" y="1357298"/>
            <a:ext cx="8229600" cy="5143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carotid canal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enters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foramen lacerum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Here,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has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sinuous course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is separated from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blood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endothelium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is also called as the “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carotid siphon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”.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abducent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related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closely in this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course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473" name="Google Shape;473;p51"/>
          <p:cNvSpPr txBox="1"/>
          <p:nvPr/>
        </p:nvSpPr>
        <p:spPr>
          <a:xfrm>
            <a:off x="3571868" y="357166"/>
            <a:ext cx="2151551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part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: which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passes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region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perforated substance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where it divides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the former is involved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formation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arterial circle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Willis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480" name="Google Shape;480;p52"/>
          <p:cNvSpPr txBox="1"/>
          <p:nvPr/>
        </p:nvSpPr>
        <p:spPr>
          <a:xfrm>
            <a:off x="3714744" y="857232"/>
            <a:ext cx="161557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32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"/>
          <p:cNvSpPr txBox="1"/>
          <p:nvPr>
            <p:ph type="title"/>
          </p:nvPr>
        </p:nvSpPr>
        <p:spPr>
          <a:xfrm>
            <a:off x="0" y="274638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Branches of the Cerebral Part of Internal Carotid Artery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86" name="Google Shape;486;p53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Ophthalmic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arises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immediately after it comes out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cavernous sinus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makes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U-shaped bend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ophthalmic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enters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orbit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through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optic canal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supply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structures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orbit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including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eyeball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communicating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arises close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termination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/>
          <p:nvPr>
            <p:ph idx="1" type="body"/>
          </p:nvPr>
        </p:nvSpPr>
        <p:spPr>
          <a:xfrm>
            <a:off x="457200" y="785818"/>
            <a:ext cx="8401080" cy="6143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communicating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runs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backwards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anastomoses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proximal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cerebral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choroidal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long slender branch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arises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just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distal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origin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communicating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courses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backwards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above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along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optic tract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enter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horn of the lateral ventricle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through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choroid fissure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end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choroid plexus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493" name="Google Shape;493;p54"/>
          <p:cNvSpPr txBox="1"/>
          <p:nvPr/>
        </p:nvSpPr>
        <p:spPr>
          <a:xfrm>
            <a:off x="4000496" y="214290"/>
            <a:ext cx="2151551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5"/>
          <p:cNvSpPr txBox="1"/>
          <p:nvPr>
            <p:ph idx="1" type="body"/>
          </p:nvPr>
        </p:nvSpPr>
        <p:spPr>
          <a:xfrm>
            <a:off x="457200" y="1214422"/>
            <a:ext cx="8229600" cy="535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smaller terminal branch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runs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forwards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above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optic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the commencement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longitudinal cerebral fissure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where it comes very close to its fellow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opposite side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gets joined with it by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short transverse  anterior communicating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5"/>
          <p:cNvSpPr txBox="1"/>
          <p:nvPr/>
        </p:nvSpPr>
        <p:spPr>
          <a:xfrm>
            <a:off x="4000496" y="285728"/>
            <a:ext cx="2151551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6"/>
          <p:cNvSpPr txBox="1"/>
          <p:nvPr>
            <p:ph idx="1" type="body"/>
          </p:nvPr>
        </p:nvSpPr>
        <p:spPr>
          <a:xfrm>
            <a:off x="457200" y="928670"/>
            <a:ext cx="8229600" cy="557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then curves around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genu of corpus callosum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 artery continues along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corpus callosum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gives branches which supply the whole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surfaces of the cerebral hemisphere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above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corpus callosum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as far back as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parieto-occipital sulcus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Middle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larger terminal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branch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appears to be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direct continuation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artery.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6"/>
          <p:cNvSpPr txBox="1"/>
          <p:nvPr/>
        </p:nvSpPr>
        <p:spPr>
          <a:xfrm>
            <a:off x="4143372" y="285728"/>
            <a:ext cx="2365865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first runs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stem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sulcus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then turns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backwards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upwards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ramus of the lateral sulcus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where it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breaks up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frontal, parietal, and temporal branches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emerge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sulcus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run towards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areas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their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supply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7"/>
          <p:cNvSpPr txBox="1"/>
          <p:nvPr/>
        </p:nvSpPr>
        <p:spPr>
          <a:xfrm>
            <a:off x="3714744" y="714356"/>
            <a:ext cx="2151551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8"/>
          <p:cNvSpPr txBox="1"/>
          <p:nvPr>
            <p:ph type="title"/>
          </p:nvPr>
        </p:nvSpPr>
        <p:spPr>
          <a:xfrm>
            <a:off x="457200" y="1571612"/>
            <a:ext cx="8229600" cy="3143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lang="en-AU">
                <a:latin typeface="Arial Black"/>
                <a:ea typeface="Arial Black"/>
                <a:cs typeface="Arial Black"/>
                <a:sym typeface="Arial Black"/>
              </a:rPr>
              <a:t>Basilar Artery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9"/>
          <p:cNvSpPr txBox="1"/>
          <p:nvPr>
            <p:ph type="title"/>
          </p:nvPr>
        </p:nvSpPr>
        <p:spPr>
          <a:xfrm>
            <a:off x="457200" y="500042"/>
            <a:ext cx="8229600" cy="1143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b="1" lang="en-AU">
                <a:latin typeface="Arial Black"/>
                <a:ea typeface="Arial Black"/>
                <a:cs typeface="Arial Black"/>
                <a:sym typeface="Arial Black"/>
              </a:rPr>
              <a:t>Basilar Artery</a:t>
            </a:r>
            <a:endParaRPr b="1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2" name="Google Shape;522;p59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Is formed 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 pontine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by the union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two vertebral 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Ascends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median basilar sulcus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located on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ventral pontine surface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here it is surrounded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pontine cistern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Ends above 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upper pontine border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where it divides into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and left posterior cerebral 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0"/>
          <p:cNvSpPr txBox="1"/>
          <p:nvPr>
            <p:ph type="title"/>
          </p:nvPr>
        </p:nvSpPr>
        <p:spPr>
          <a:xfrm>
            <a:off x="214282" y="-214338"/>
            <a:ext cx="8472518" cy="1071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 Black"/>
              <a:buNone/>
            </a:pPr>
            <a:r>
              <a:rPr lang="en-AU" sz="3600">
                <a:latin typeface="Arial Black"/>
                <a:ea typeface="Arial Black"/>
                <a:cs typeface="Arial Black"/>
                <a:sym typeface="Arial Black"/>
              </a:rPr>
              <a:t>Branches of the Basilar Artery</a:t>
            </a:r>
            <a:endParaRPr sz="3600"/>
          </a:p>
        </p:txBody>
      </p:sp>
      <p:sp>
        <p:nvSpPr>
          <p:cNvPr id="529" name="Google Shape;529;p60"/>
          <p:cNvSpPr txBox="1"/>
          <p:nvPr>
            <p:ph idx="1" type="body"/>
          </p:nvPr>
        </p:nvSpPr>
        <p:spPr>
          <a:xfrm>
            <a:off x="285720" y="500042"/>
            <a:ext cx="8572560" cy="7500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Labyrinthine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a long slender branch which arises from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anterior-inferior cerebellar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accompanies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vestibulocochlear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enters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auditory meatus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supply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ear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It 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 end artery.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Then, it forms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over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flocculus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cerebellum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peeps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acoustic meatus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variable distance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lying below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7th and 8th cranial nerves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After exit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meatus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it supplies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anterolateral portion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cerebellum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530" name="Google Shape;530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1"/>
          <p:cNvSpPr txBox="1"/>
          <p:nvPr>
            <p:ph idx="1" type="body"/>
          </p:nvPr>
        </p:nvSpPr>
        <p:spPr>
          <a:xfrm>
            <a:off x="214282" y="571480"/>
            <a:ext cx="8715436" cy="6072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inferior cerebellar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anastomoses 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inferior cerebellar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 branch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 After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exits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meatus,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supplies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anterolateral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inferior surface of the cerebellum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passes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along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parallel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cerebellar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curves around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midbrain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reach 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hemisphere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beneath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splenium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corpus callosum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397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537" name="Google Shape;537;p61"/>
          <p:cNvSpPr txBox="1"/>
          <p:nvPr/>
        </p:nvSpPr>
        <p:spPr>
          <a:xfrm>
            <a:off x="3786182" y="0"/>
            <a:ext cx="250033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2"/>
          <p:cNvSpPr txBox="1"/>
          <p:nvPr>
            <p:ph idx="1" type="body"/>
          </p:nvPr>
        </p:nvSpPr>
        <p:spPr>
          <a:xfrm>
            <a:off x="457200" y="1071546"/>
            <a:ext cx="8229600" cy="5429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artery gives off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central branches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ventral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midbrain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temporal lobe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corresponding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hemisphere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Then it passes towards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occipital pole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giving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cortical branches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544" name="Google Shape;544;p62"/>
          <p:cNvSpPr txBox="1"/>
          <p:nvPr/>
        </p:nvSpPr>
        <p:spPr>
          <a:xfrm>
            <a:off x="3786182" y="357166"/>
            <a:ext cx="221457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3"/>
          <p:cNvSpPr txBox="1"/>
          <p:nvPr>
            <p:ph type="title"/>
          </p:nvPr>
        </p:nvSpPr>
        <p:spPr>
          <a:xfrm>
            <a:off x="457200" y="2143116"/>
            <a:ext cx="8229600" cy="2214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Branches of the main arteries of the brain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4" name="Google Shape;554;p64"/>
          <p:cNvGraphicFramePr/>
          <p:nvPr/>
        </p:nvGraphicFramePr>
        <p:xfrm>
          <a:off x="214281" y="500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{488AC55B-8389-4220-9944-8EC3B252D6A1}</a:tableStyleId>
              </a:tblPr>
              <a:tblGrid>
                <a:gridCol w="2881325"/>
                <a:gridCol w="2881325"/>
                <a:gridCol w="2881325"/>
              </a:tblGrid>
              <a:tr h="96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 u="none" cap="none" strike="noStrike"/>
                        <a:t>Cerebral part of internal carotid artery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Cranial (fourth) part of vertebral artery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/>
                        <a:t>Basilar artery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96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Ophthalmic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Meningeal arteries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Anterior inferior cerebellar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6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Anterior cerebral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Anterior spinal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Labyrinthine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6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Middle cerebral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Posterior spinal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Pontine arteries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6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Posterior communicating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Posterior inferior cerebellar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Superior cerebellar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64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Anterior choroidal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Medullary arteries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AU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Posterior cerebral artery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5"/>
          <p:cNvSpPr txBox="1"/>
          <p:nvPr>
            <p:ph type="title"/>
          </p:nvPr>
        </p:nvSpPr>
        <p:spPr>
          <a:xfrm>
            <a:off x="457200" y="1571612"/>
            <a:ext cx="8229600" cy="278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Arterial Circle of Willis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6"/>
          <p:cNvSpPr txBox="1"/>
          <p:nvPr>
            <p:ph type="title"/>
          </p:nvPr>
        </p:nvSpPr>
        <p:spPr>
          <a:xfrm>
            <a:off x="457200" y="500042"/>
            <a:ext cx="8229600" cy="1143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Arterial Circle of Willis</a:t>
            </a:r>
            <a:endParaRPr/>
          </a:p>
        </p:txBody>
      </p:sp>
      <p:sp>
        <p:nvSpPr>
          <p:cNvPr id="565" name="Google Shape;565;p66"/>
          <p:cNvSpPr txBox="1"/>
          <p:nvPr>
            <p:ph idx="1" type="body"/>
          </p:nvPr>
        </p:nvSpPr>
        <p:spPr>
          <a:xfrm>
            <a:off x="457200" y="1643050"/>
            <a:ext cx="8472518" cy="5000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Is located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interpeduncular cistern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base of the brain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Surrounds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optic chiasma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tuber cinereum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mamillary bodies, posterior perforated substance,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infundibular stalk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Provides a form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central anastomoses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which ensures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adequate supply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blood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Formation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72" name="Google Shape;572;p67"/>
          <p:cNvSpPr txBox="1"/>
          <p:nvPr>
            <p:ph idx="1" type="body"/>
          </p:nvPr>
        </p:nvSpPr>
        <p:spPr>
          <a:xfrm>
            <a:off x="457200" y="1600200"/>
            <a:ext cx="8229600" cy="4900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circle of Willis is formed: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communicating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and left anterior cerebral 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basilar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dividing into two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cerebral 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Posterolaterally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on each side,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communicating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connecting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with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cerebral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8"/>
          <p:cNvSpPr txBox="1"/>
          <p:nvPr>
            <p:ph idx="1" type="body"/>
          </p:nvPr>
        </p:nvSpPr>
        <p:spPr>
          <a:xfrm>
            <a:off x="457200" y="1428736"/>
            <a:ext cx="8229600" cy="5000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forms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anterolateral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each side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part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formed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termination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each side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circle is completed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posteriorly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by the bifurcation 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basilar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and left posterior cerebral arteries.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580" name="Google Shape;580;p68"/>
          <p:cNvSpPr txBox="1"/>
          <p:nvPr/>
        </p:nvSpPr>
        <p:spPr>
          <a:xfrm>
            <a:off x="3786182" y="500042"/>
            <a:ext cx="215155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96" y="571480"/>
            <a:ext cx="8215370" cy="5143536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9"/>
          <p:cNvSpPr txBox="1"/>
          <p:nvPr/>
        </p:nvSpPr>
        <p:spPr>
          <a:xfrm>
            <a:off x="571472" y="5643578"/>
            <a:ext cx="821537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Circle of Willis (AS = anterior spinal artery, LS = lateral striate artery, M  =  medullary branches, MN  =  meningeal branches, MS = medial striate arteries, P = pontine branches, PC  =  posterior choroidal artery, PS  =  posterior spinal artery, R = recurrent artery of Heubner, AC = anterior choroidal artery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0"/>
          <p:cNvSpPr txBox="1"/>
          <p:nvPr>
            <p:ph type="title"/>
          </p:nvPr>
        </p:nvSpPr>
        <p:spPr>
          <a:xfrm>
            <a:off x="457200" y="0"/>
            <a:ext cx="8229600" cy="1000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APPLIED ANATOMY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93" name="Google Shape;593;p70"/>
          <p:cNvSpPr txBox="1"/>
          <p:nvPr>
            <p:ph idx="1" type="body"/>
          </p:nvPr>
        </p:nvSpPr>
        <p:spPr>
          <a:xfrm>
            <a:off x="285720" y="1071546"/>
            <a:ext cx="8572560" cy="5786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charcot’s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haemorrhage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especially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susceptible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haemorrhage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Bleeding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charcot’s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(and other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striate 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will damage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corpus striatum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capsule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this will produce severe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motor dysfunctions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Damage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capsule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(following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cerebro-vascular accident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will produce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spastic paralysis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contralateral limbs- contralateral hemiplegia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1"/>
          <p:cNvSpPr txBox="1"/>
          <p:nvPr>
            <p:ph idx="1" type="body"/>
          </p:nvPr>
        </p:nvSpPr>
        <p:spPr>
          <a:xfrm>
            <a:off x="214282" y="571480"/>
            <a:ext cx="8643998" cy="6572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Thromboses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arteries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would also produce devastating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sensory deficits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Thromboses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would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adversely affect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visual cortex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(except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macular area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that is supplied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cerebral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 This would result 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homonymous hemianopsia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Thromboses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would produce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bilateral deafness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(owing to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lesions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auditory area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01" name="Google Shape;601;p71"/>
          <p:cNvSpPr txBox="1"/>
          <p:nvPr/>
        </p:nvSpPr>
        <p:spPr>
          <a:xfrm>
            <a:off x="4000496" y="0"/>
            <a:ext cx="215155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2"/>
          <p:cNvSpPr txBox="1"/>
          <p:nvPr>
            <p:ph idx="1" type="body"/>
          </p:nvPr>
        </p:nvSpPr>
        <p:spPr>
          <a:xfrm>
            <a:off x="457200" y="1285860"/>
            <a:ext cx="8229600" cy="528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Contralateral hemiplegia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hemianaesthesia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could also arise from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thromboses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(as the motor and somatosensory cortices are adversely affected).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thromboses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cerebral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lower limb loci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somatosensory cortices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spared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(as these are supplied by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cerebral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sp>
        <p:nvSpPr>
          <p:cNvPr id="607" name="Google Shape;607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08" name="Google Shape;608;p72"/>
          <p:cNvSpPr txBox="1"/>
          <p:nvPr/>
        </p:nvSpPr>
        <p:spPr>
          <a:xfrm>
            <a:off x="3357554" y="571480"/>
            <a:ext cx="215155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3"/>
          <p:cNvSpPr txBox="1"/>
          <p:nvPr>
            <p:ph idx="1" type="body"/>
          </p:nvPr>
        </p:nvSpPr>
        <p:spPr>
          <a:xfrm>
            <a:off x="457200" y="1600200"/>
            <a:ext cx="8229600" cy="4972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Thrombosis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inferior cerebellar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branch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will produce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lateral medullary syndrome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lateral medullary syndrome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vestibular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cochlear nuclei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are damaged;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nuclei solitarius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ambigus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are also affected, which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attendant loss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sensory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motor functions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614" name="Google Shape;614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15" name="Google Shape;615;p73"/>
          <p:cNvSpPr txBox="1"/>
          <p:nvPr/>
        </p:nvSpPr>
        <p:spPr>
          <a:xfrm>
            <a:off x="3000364" y="857232"/>
            <a:ext cx="257176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cerebellar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arises close to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border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pons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runs laterally below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oculomotor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(which is interposed between this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cerebral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) and winds round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peduncle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below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trochlear nerve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to reach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superior surface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cerebellum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which it supplies.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22" name="Google Shape;622;p74"/>
          <p:cNvSpPr txBox="1"/>
          <p:nvPr/>
        </p:nvSpPr>
        <p:spPr>
          <a:xfrm>
            <a:off x="3786182" y="1000108"/>
            <a:ext cx="215155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5"/>
          <p:cNvSpPr txBox="1"/>
          <p:nvPr>
            <p:ph idx="1" type="body"/>
          </p:nvPr>
        </p:nvSpPr>
        <p:spPr>
          <a:xfrm>
            <a:off x="457200" y="642918"/>
            <a:ext cx="8401080" cy="6429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Thrombosis of the anterior spinal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will adversely affect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corticospinal tracts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hypoglossal nuclei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nerves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lemniscus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; the clinical features presented in this condition are collectively termed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medial medullary syndrome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just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Cerebral thrombosis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most commonly affects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middle cerebral artery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or its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main branches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because it is a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direct continuation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628" name="Google Shape;628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29" name="Google Shape;629;p75"/>
          <p:cNvSpPr txBox="1"/>
          <p:nvPr/>
        </p:nvSpPr>
        <p:spPr>
          <a:xfrm>
            <a:off x="3643306" y="0"/>
            <a:ext cx="2214578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cerebral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this takes part 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formation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arterial circle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Willis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at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base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brain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635" name="Google Shape;635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36" name="Google Shape;636;p76"/>
          <p:cNvSpPr txBox="1"/>
          <p:nvPr/>
        </p:nvSpPr>
        <p:spPr>
          <a:xfrm>
            <a:off x="3714744" y="1000108"/>
            <a:ext cx="2151551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 Black"/>
              <a:buNone/>
            </a:pPr>
            <a:r>
              <a:rPr lang="en-AU">
                <a:latin typeface="Arial Black"/>
                <a:ea typeface="Arial Black"/>
                <a:cs typeface="Arial Black"/>
                <a:sym typeface="Arial Black"/>
              </a:rPr>
              <a:t>Clinical  significance of the Circle of Willis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42" name="Google Shape;642;p77"/>
          <p:cNvSpPr txBox="1"/>
          <p:nvPr>
            <p:ph idx="1" type="body"/>
          </p:nvPr>
        </p:nvSpPr>
        <p:spPr>
          <a:xfrm>
            <a:off x="214282" y="1428736"/>
            <a:ext cx="8715436" cy="5429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Normally, there is little or no mixing of blood streams of (a) two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 arteries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basilar artery, (b) two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cerebral arteries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anterior communicating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, and (c)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internal carotid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posterior cerebral arteries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in the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posterior communicating artery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 Therefore, right half of the brain is supplied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vertebral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right internal carotid arteries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and left half of the brain is supplied by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vertebral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and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 left internal carotid arteries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AU">
                <a:latin typeface="Arial"/>
                <a:ea typeface="Arial"/>
                <a:cs typeface="Arial"/>
                <a:sym typeface="Arial"/>
              </a:rPr>
              <a:t>In addition, if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major arteries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forming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circle of Willis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is blocked, the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circle of Willis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provides the various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alternative routes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collateral circulation 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like an </a:t>
            </a:r>
            <a:r>
              <a:rPr b="1" lang="en-AU">
                <a:latin typeface="Arial"/>
                <a:ea typeface="Arial"/>
                <a:cs typeface="Arial"/>
                <a:sym typeface="Arial"/>
              </a:rPr>
              <a:t>arterial traffic circle</a:t>
            </a:r>
            <a:r>
              <a:rPr lang="en-AU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650" name="Google Shape;650;p78"/>
          <p:cNvSpPr txBox="1"/>
          <p:nvPr/>
        </p:nvSpPr>
        <p:spPr>
          <a:xfrm>
            <a:off x="3428992" y="857232"/>
            <a:ext cx="2151551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Cont’d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56" name="Google Shape;656;p7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657" name="Google Shape;65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3338"/>
            <a:ext cx="9085263" cy="6815138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0"/>
          <p:cNvSpPr txBox="1"/>
          <p:nvPr>
            <p:ph idx="1" type="body"/>
          </p:nvPr>
        </p:nvSpPr>
        <p:spPr>
          <a:xfrm>
            <a:off x="457200" y="2214554"/>
            <a:ext cx="8229600" cy="3911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</a:pPr>
            <a:r>
              <a:rPr lang="en-AU" sz="6000">
                <a:latin typeface="Arial Black"/>
                <a:ea typeface="Arial Black"/>
                <a:cs typeface="Arial Black"/>
                <a:sym typeface="Arial Black"/>
              </a:rPr>
              <a:t>THANK YOU, ALL FOR LISTENING.</a:t>
            </a:r>
            <a:endParaRPr sz="6000"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64" name="Google Shape;664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2024-08-05T08:52:56Z</dcterms:created>
  <dc:creator>Dr. Ojewale</dc:creator>
</cp:coreProperties>
</file>