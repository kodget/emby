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486" r:id="rId3"/>
    <p:sldId id="487" r:id="rId4"/>
    <p:sldId id="258" r:id="rId5"/>
    <p:sldId id="485" r:id="rId6"/>
    <p:sldId id="257" r:id="rId7"/>
    <p:sldId id="490" r:id="rId8"/>
    <p:sldId id="259" r:id="rId9"/>
    <p:sldId id="260" r:id="rId10"/>
    <p:sldId id="261" r:id="rId11"/>
    <p:sldId id="503" r:id="rId12"/>
    <p:sldId id="509" r:id="rId13"/>
    <p:sldId id="264" r:id="rId14"/>
    <p:sldId id="263" r:id="rId15"/>
    <p:sldId id="265" r:id="rId16"/>
    <p:sldId id="266" r:id="rId17"/>
    <p:sldId id="267" r:id="rId18"/>
    <p:sldId id="268" r:id="rId19"/>
    <p:sldId id="269" r:id="rId20"/>
    <p:sldId id="520" r:id="rId21"/>
    <p:sldId id="505" r:id="rId22"/>
    <p:sldId id="519" r:id="rId23"/>
    <p:sldId id="510" r:id="rId24"/>
    <p:sldId id="270" r:id="rId25"/>
    <p:sldId id="506" r:id="rId26"/>
    <p:sldId id="507" r:id="rId27"/>
    <p:sldId id="271" r:id="rId28"/>
    <p:sldId id="521" r:id="rId29"/>
    <p:sldId id="272" r:id="rId30"/>
    <p:sldId id="470" r:id="rId31"/>
    <p:sldId id="262" r:id="rId32"/>
    <p:sldId id="508" r:id="rId33"/>
    <p:sldId id="473" r:id="rId34"/>
    <p:sldId id="273" r:id="rId35"/>
    <p:sldId id="474" r:id="rId36"/>
    <p:sldId id="274" r:id="rId37"/>
    <p:sldId id="518" r:id="rId38"/>
    <p:sldId id="275" r:id="rId39"/>
    <p:sldId id="512" r:id="rId40"/>
    <p:sldId id="513" r:id="rId41"/>
    <p:sldId id="514" r:id="rId42"/>
    <p:sldId id="515" r:id="rId43"/>
    <p:sldId id="276" r:id="rId44"/>
    <p:sldId id="516" r:id="rId45"/>
    <p:sldId id="50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78A0B-5985-46EF-9920-CF947F61F437}" type="datetimeFigureOut">
              <a:rPr lang="en-GB" smtClean="0"/>
              <a:t>24/10/2025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C6E83-DEC1-411D-A501-8F9E64AE4A41}" type="slidenum">
              <a:rPr lang="en-GB" smtClean="0"/>
              <a:t>‹#›</a:t>
            </a:fld>
            <a:endParaRPr lang="en-GB"/>
          </a:p>
        </p:txBody>
      </p:sp>
    </p:spTree>
    <p:extLst>
      <p:ext uri="{BB962C8B-B14F-4D97-AF65-F5344CB8AC3E}">
        <p14:creationId xmlns:p14="http://schemas.microsoft.com/office/powerpoint/2010/main" val="81996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1953B2D6-5F12-4D00-2EBD-95BCAB241C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ECA562-9853-4D44-B7AD-F172252C19B7}" type="slidenum">
              <a:rPr lang="en-US" altLang="en-US"/>
              <a:pPr eaLnBrk="1" hangingPunct="1"/>
              <a:t>21</a:t>
            </a:fld>
            <a:endParaRPr lang="en-US" altLang="en-US"/>
          </a:p>
        </p:txBody>
      </p:sp>
      <p:sp>
        <p:nvSpPr>
          <p:cNvPr id="22531" name="Rectangle 2">
            <a:extLst>
              <a:ext uri="{FF2B5EF4-FFF2-40B4-BE49-F238E27FC236}">
                <a16:creationId xmlns:a16="http://schemas.microsoft.com/office/drawing/2014/main" id="{2D9E2429-9885-6EB5-7138-0A2AE7C529CE}"/>
              </a:ext>
            </a:extLst>
          </p:cNvPr>
          <p:cNvSpPr>
            <a:spLocks noGrp="1" noRot="1" noChangeAspect="1" noChangeArrowheads="1" noTextEdit="1"/>
          </p:cNvSpPr>
          <p:nvPr>
            <p:ph type="sldImg"/>
          </p:nvPr>
        </p:nvSpPr>
        <p:spPr>
          <a:ln/>
        </p:spPr>
        <p:txBody>
          <a:bodyPr/>
          <a:lstStyle/>
          <a:p>
            <a:endParaRPr lang="en-GB"/>
          </a:p>
        </p:txBody>
      </p:sp>
      <p:sp>
        <p:nvSpPr>
          <p:cNvPr id="22532" name="Rectangle 3">
            <a:extLst>
              <a:ext uri="{FF2B5EF4-FFF2-40B4-BE49-F238E27FC236}">
                <a16:creationId xmlns:a16="http://schemas.microsoft.com/office/drawing/2014/main" id="{260D4B0F-5E68-89EC-2E4C-FDE57C6177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CDEF2B6E-35F0-FFE5-E645-498D8C7AAA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74F88B3-3B2A-4E53-BA73-F3ED74418D99}" type="slidenum">
              <a:rPr lang="en-US" altLang="en-US"/>
              <a:pPr eaLnBrk="1" hangingPunct="1"/>
              <a:t>25</a:t>
            </a:fld>
            <a:endParaRPr lang="en-US" altLang="en-US"/>
          </a:p>
        </p:txBody>
      </p:sp>
      <p:sp>
        <p:nvSpPr>
          <p:cNvPr id="24579" name="Rectangle 2">
            <a:extLst>
              <a:ext uri="{FF2B5EF4-FFF2-40B4-BE49-F238E27FC236}">
                <a16:creationId xmlns:a16="http://schemas.microsoft.com/office/drawing/2014/main" id="{CABA5365-AA35-AE4F-40BD-532BB7B619FC}"/>
              </a:ext>
            </a:extLst>
          </p:cNvPr>
          <p:cNvSpPr>
            <a:spLocks noGrp="1" noRot="1" noChangeAspect="1" noChangeArrowheads="1" noTextEdit="1"/>
          </p:cNvSpPr>
          <p:nvPr>
            <p:ph type="sldImg"/>
          </p:nvPr>
        </p:nvSpPr>
        <p:spPr>
          <a:ln/>
        </p:spPr>
        <p:txBody>
          <a:bodyPr/>
          <a:lstStyle/>
          <a:p>
            <a:endParaRPr lang="en-GB"/>
          </a:p>
        </p:txBody>
      </p:sp>
      <p:sp>
        <p:nvSpPr>
          <p:cNvPr id="24580" name="Rectangle 3">
            <a:extLst>
              <a:ext uri="{FF2B5EF4-FFF2-40B4-BE49-F238E27FC236}">
                <a16:creationId xmlns:a16="http://schemas.microsoft.com/office/drawing/2014/main" id="{A5153840-5A9A-69D5-8AC5-6E4D8BACB6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41209BC0-3785-6AFC-CE16-1D640A48DC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D576517-1235-4BBC-B37E-06BCFB17165D}" type="slidenum">
              <a:rPr lang="en-US" altLang="en-US"/>
              <a:pPr eaLnBrk="1" hangingPunct="1"/>
              <a:t>26</a:t>
            </a:fld>
            <a:endParaRPr lang="en-US" altLang="en-US"/>
          </a:p>
        </p:txBody>
      </p:sp>
      <p:sp>
        <p:nvSpPr>
          <p:cNvPr id="25603" name="Rectangle 2">
            <a:extLst>
              <a:ext uri="{FF2B5EF4-FFF2-40B4-BE49-F238E27FC236}">
                <a16:creationId xmlns:a16="http://schemas.microsoft.com/office/drawing/2014/main" id="{A4D57DDB-A621-7CB7-B123-6D2D1A69C873}"/>
              </a:ext>
            </a:extLst>
          </p:cNvPr>
          <p:cNvSpPr>
            <a:spLocks noGrp="1" noRot="1" noChangeAspect="1" noChangeArrowheads="1" noTextEdit="1"/>
          </p:cNvSpPr>
          <p:nvPr>
            <p:ph type="sldImg"/>
          </p:nvPr>
        </p:nvSpPr>
        <p:spPr>
          <a:ln/>
        </p:spPr>
        <p:txBody>
          <a:bodyPr/>
          <a:lstStyle/>
          <a:p>
            <a:endParaRPr lang="en-GB"/>
          </a:p>
        </p:txBody>
      </p:sp>
      <p:sp>
        <p:nvSpPr>
          <p:cNvPr id="25604" name="Rectangle 3">
            <a:extLst>
              <a:ext uri="{FF2B5EF4-FFF2-40B4-BE49-F238E27FC236}">
                <a16:creationId xmlns:a16="http://schemas.microsoft.com/office/drawing/2014/main" id="{2A8DBBE1-955C-047C-61C4-E1C2BB0667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42053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8EA43B02-D5C7-88D4-3F01-0FD5DC558A66}"/>
              </a:ext>
            </a:extLst>
          </p:cNvPr>
          <p:cNvSpPr>
            <a:spLocks noGrp="1" noRot="1" noChangeAspect="1" noTextEdit="1"/>
          </p:cNvSpPr>
          <p:nvPr>
            <p:ph type="sldImg"/>
          </p:nvPr>
        </p:nvSpPr>
        <p:spPr>
          <a:ln/>
        </p:spPr>
        <p:txBody>
          <a:bodyPr/>
          <a:lstStyle/>
          <a:p>
            <a:endParaRPr lang="en-GB"/>
          </a:p>
        </p:txBody>
      </p:sp>
      <p:sp>
        <p:nvSpPr>
          <p:cNvPr id="26627" name="Notes Placeholder 2">
            <a:extLst>
              <a:ext uri="{FF2B5EF4-FFF2-40B4-BE49-F238E27FC236}">
                <a16:creationId xmlns:a16="http://schemas.microsoft.com/office/drawing/2014/main" id="{362F6DE7-C881-824D-D80B-146BAFB0DFA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6628" name="Slide Number Placeholder 3">
            <a:extLst>
              <a:ext uri="{FF2B5EF4-FFF2-40B4-BE49-F238E27FC236}">
                <a16:creationId xmlns:a16="http://schemas.microsoft.com/office/drawing/2014/main" id="{EA6F6072-ED8B-FE5F-F34A-B63EB8BEA2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871FFAE-82B7-4CC6-B403-5E5CB9FD5A80}" type="slidenum">
              <a:rPr lang="en-US" altLang="en-US"/>
              <a:pPr eaLnBrk="1" hangingPunct="1"/>
              <a:t>30</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5004C309-DE0D-5550-1B0D-A230381C9D74}"/>
              </a:ext>
            </a:extLst>
          </p:cNvPr>
          <p:cNvSpPr>
            <a:spLocks noGrp="1" noRot="1" noChangeAspect="1" noTextEdit="1"/>
          </p:cNvSpPr>
          <p:nvPr>
            <p:ph type="sldImg"/>
          </p:nvPr>
        </p:nvSpPr>
        <p:spPr>
          <a:ln/>
        </p:spPr>
        <p:txBody>
          <a:bodyPr/>
          <a:lstStyle/>
          <a:p>
            <a:endParaRPr lang="en-GB"/>
          </a:p>
        </p:txBody>
      </p:sp>
      <p:sp>
        <p:nvSpPr>
          <p:cNvPr id="29699" name="Notes Placeholder 2">
            <a:extLst>
              <a:ext uri="{FF2B5EF4-FFF2-40B4-BE49-F238E27FC236}">
                <a16:creationId xmlns:a16="http://schemas.microsoft.com/office/drawing/2014/main" id="{B47C8D9C-7BC4-06F2-1B6E-63B14B114FF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9700" name="Slide Number Placeholder 3">
            <a:extLst>
              <a:ext uri="{FF2B5EF4-FFF2-40B4-BE49-F238E27FC236}">
                <a16:creationId xmlns:a16="http://schemas.microsoft.com/office/drawing/2014/main" id="{A9EB6C53-89E1-AF73-B90A-ACB6ABC03F1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2355D9B-3FCD-434B-BC76-0CA271284D0A}" type="slidenum">
              <a:rPr lang="en-US" altLang="en-US"/>
              <a:pPr eaLnBrk="1" hangingPunct="1"/>
              <a:t>33</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3612A52F-8DE4-BE1D-01E8-2EB19A07D6FA}"/>
              </a:ext>
            </a:extLst>
          </p:cNvPr>
          <p:cNvSpPr>
            <a:spLocks noGrp="1" noRot="1" noChangeAspect="1" noTextEdit="1"/>
          </p:cNvSpPr>
          <p:nvPr>
            <p:ph type="sldImg"/>
          </p:nvPr>
        </p:nvSpPr>
        <p:spPr>
          <a:ln/>
        </p:spPr>
        <p:txBody>
          <a:bodyPr/>
          <a:lstStyle/>
          <a:p>
            <a:endParaRPr lang="en-GB"/>
          </a:p>
        </p:txBody>
      </p:sp>
      <p:sp>
        <p:nvSpPr>
          <p:cNvPr id="31747" name="Notes Placeholder 2">
            <a:extLst>
              <a:ext uri="{FF2B5EF4-FFF2-40B4-BE49-F238E27FC236}">
                <a16:creationId xmlns:a16="http://schemas.microsoft.com/office/drawing/2014/main" id="{F6B08346-71FC-4E90-8812-D7AF5827D82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1748" name="Slide Number Placeholder 3">
            <a:extLst>
              <a:ext uri="{FF2B5EF4-FFF2-40B4-BE49-F238E27FC236}">
                <a16:creationId xmlns:a16="http://schemas.microsoft.com/office/drawing/2014/main" id="{4578304C-9EFC-5071-C762-3D842DB7D8B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BB51E46-D2CF-4DEF-B316-722BB5EBEE87}" type="slidenum">
              <a:rPr lang="en-US" altLang="en-US"/>
              <a:pPr eaLnBrk="1" hangingPunct="1"/>
              <a:t>35</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7BC27-6347-6F26-6394-C24B047A63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EDE8950-717E-B52D-4A40-0E52BAFB4C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8EA06F2-ED8E-F00C-90E5-E0B19866CDBE}"/>
              </a:ext>
            </a:extLst>
          </p:cNvPr>
          <p:cNvSpPr>
            <a:spLocks noGrp="1"/>
          </p:cNvSpPr>
          <p:nvPr>
            <p:ph type="dt" sz="half" idx="10"/>
          </p:nvPr>
        </p:nvSpPr>
        <p:spPr/>
        <p:txBody>
          <a:bodyPr/>
          <a:lstStyle/>
          <a:p>
            <a:fld id="{B73C0364-6CF5-4F23-A130-246F9EFB669B}" type="datetimeFigureOut">
              <a:rPr lang="en-GB" smtClean="0"/>
              <a:t>24/10/2025</a:t>
            </a:fld>
            <a:endParaRPr lang="en-GB"/>
          </a:p>
        </p:txBody>
      </p:sp>
      <p:sp>
        <p:nvSpPr>
          <p:cNvPr id="5" name="Footer Placeholder 4">
            <a:extLst>
              <a:ext uri="{FF2B5EF4-FFF2-40B4-BE49-F238E27FC236}">
                <a16:creationId xmlns:a16="http://schemas.microsoft.com/office/drawing/2014/main" id="{83C8B3AE-21EB-5DD4-CBEA-600E5629744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24ED8-1FC8-79ED-3CE1-3E99F36C4410}"/>
              </a:ext>
            </a:extLst>
          </p:cNvPr>
          <p:cNvSpPr>
            <a:spLocks noGrp="1"/>
          </p:cNvSpPr>
          <p:nvPr>
            <p:ph type="sldNum" sz="quarter" idx="12"/>
          </p:nvPr>
        </p:nvSpPr>
        <p:spPr/>
        <p:txBody>
          <a:bodyPr/>
          <a:lstStyle/>
          <a:p>
            <a:fld id="{1B665BE1-246C-4289-A691-E1534874B164}" type="slidenum">
              <a:rPr lang="en-GB" smtClean="0"/>
              <a:t>‹#›</a:t>
            </a:fld>
            <a:endParaRPr lang="en-GB"/>
          </a:p>
        </p:txBody>
      </p:sp>
    </p:spTree>
    <p:extLst>
      <p:ext uri="{BB962C8B-B14F-4D97-AF65-F5344CB8AC3E}">
        <p14:creationId xmlns:p14="http://schemas.microsoft.com/office/powerpoint/2010/main" val="2462837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7A611-F336-04BD-A1E1-3B471864039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6E2D537-0A47-2950-C58A-C49796EB61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66C08A-92B7-1422-4949-4CDF25A21E75}"/>
              </a:ext>
            </a:extLst>
          </p:cNvPr>
          <p:cNvSpPr>
            <a:spLocks noGrp="1"/>
          </p:cNvSpPr>
          <p:nvPr>
            <p:ph type="dt" sz="half" idx="10"/>
          </p:nvPr>
        </p:nvSpPr>
        <p:spPr/>
        <p:txBody>
          <a:bodyPr/>
          <a:lstStyle/>
          <a:p>
            <a:fld id="{B73C0364-6CF5-4F23-A130-246F9EFB669B}" type="datetimeFigureOut">
              <a:rPr lang="en-GB" smtClean="0"/>
              <a:t>24/10/2025</a:t>
            </a:fld>
            <a:endParaRPr lang="en-GB"/>
          </a:p>
        </p:txBody>
      </p:sp>
      <p:sp>
        <p:nvSpPr>
          <p:cNvPr id="5" name="Footer Placeholder 4">
            <a:extLst>
              <a:ext uri="{FF2B5EF4-FFF2-40B4-BE49-F238E27FC236}">
                <a16:creationId xmlns:a16="http://schemas.microsoft.com/office/drawing/2014/main" id="{9C252A66-0AD2-B6ED-9484-5EDE229DED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DBF94C-D4CD-D47F-E9F6-37CE0CC19800}"/>
              </a:ext>
            </a:extLst>
          </p:cNvPr>
          <p:cNvSpPr>
            <a:spLocks noGrp="1"/>
          </p:cNvSpPr>
          <p:nvPr>
            <p:ph type="sldNum" sz="quarter" idx="12"/>
          </p:nvPr>
        </p:nvSpPr>
        <p:spPr/>
        <p:txBody>
          <a:bodyPr/>
          <a:lstStyle/>
          <a:p>
            <a:fld id="{1B665BE1-246C-4289-A691-E1534874B164}" type="slidenum">
              <a:rPr lang="en-GB" smtClean="0"/>
              <a:t>‹#›</a:t>
            </a:fld>
            <a:endParaRPr lang="en-GB"/>
          </a:p>
        </p:txBody>
      </p:sp>
    </p:spTree>
    <p:extLst>
      <p:ext uri="{BB962C8B-B14F-4D97-AF65-F5344CB8AC3E}">
        <p14:creationId xmlns:p14="http://schemas.microsoft.com/office/powerpoint/2010/main" val="1073254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9C70A-4075-F783-1401-1862D3BE45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7C45F9E-13E2-F68C-70A7-73B3FCDED8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8537B5-4021-B7E9-A57E-D2889F44F4FB}"/>
              </a:ext>
            </a:extLst>
          </p:cNvPr>
          <p:cNvSpPr>
            <a:spLocks noGrp="1"/>
          </p:cNvSpPr>
          <p:nvPr>
            <p:ph type="dt" sz="half" idx="10"/>
          </p:nvPr>
        </p:nvSpPr>
        <p:spPr/>
        <p:txBody>
          <a:bodyPr/>
          <a:lstStyle/>
          <a:p>
            <a:fld id="{B73C0364-6CF5-4F23-A130-246F9EFB669B}" type="datetimeFigureOut">
              <a:rPr lang="en-GB" smtClean="0"/>
              <a:t>24/10/2025</a:t>
            </a:fld>
            <a:endParaRPr lang="en-GB"/>
          </a:p>
        </p:txBody>
      </p:sp>
      <p:sp>
        <p:nvSpPr>
          <p:cNvPr id="5" name="Footer Placeholder 4">
            <a:extLst>
              <a:ext uri="{FF2B5EF4-FFF2-40B4-BE49-F238E27FC236}">
                <a16:creationId xmlns:a16="http://schemas.microsoft.com/office/drawing/2014/main" id="{EFEE6D6E-EC5F-D617-A611-F4AD3C7A9F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3C16AC-9029-5AE9-388E-35F8B1BC2FEF}"/>
              </a:ext>
            </a:extLst>
          </p:cNvPr>
          <p:cNvSpPr>
            <a:spLocks noGrp="1"/>
          </p:cNvSpPr>
          <p:nvPr>
            <p:ph type="sldNum" sz="quarter" idx="12"/>
          </p:nvPr>
        </p:nvSpPr>
        <p:spPr/>
        <p:txBody>
          <a:bodyPr/>
          <a:lstStyle/>
          <a:p>
            <a:fld id="{1B665BE1-246C-4289-A691-E1534874B164}" type="slidenum">
              <a:rPr lang="en-GB" smtClean="0"/>
              <a:t>‹#›</a:t>
            </a:fld>
            <a:endParaRPr lang="en-GB"/>
          </a:p>
        </p:txBody>
      </p:sp>
    </p:spTree>
    <p:extLst>
      <p:ext uri="{BB962C8B-B14F-4D97-AF65-F5344CB8AC3E}">
        <p14:creationId xmlns:p14="http://schemas.microsoft.com/office/powerpoint/2010/main" val="3278958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AC776-4BC2-0468-6A13-54ED5BAB3CE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C1B3A8-FA4D-BBF3-5F5C-B306FA3606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18516A9-85F2-5883-91EC-DF7A7786D2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A6D6A88-5112-04BD-5180-954B77F7A1E6}"/>
              </a:ext>
            </a:extLst>
          </p:cNvPr>
          <p:cNvSpPr>
            <a:spLocks noGrp="1"/>
          </p:cNvSpPr>
          <p:nvPr>
            <p:ph type="dt" sz="half" idx="10"/>
          </p:nvPr>
        </p:nvSpPr>
        <p:spPr/>
        <p:txBody>
          <a:bodyPr/>
          <a:lstStyle/>
          <a:p>
            <a:fld id="{B73C0364-6CF5-4F23-A130-246F9EFB669B}" type="datetimeFigureOut">
              <a:rPr lang="en-GB" smtClean="0"/>
              <a:t>24/10/2025</a:t>
            </a:fld>
            <a:endParaRPr lang="en-GB"/>
          </a:p>
        </p:txBody>
      </p:sp>
      <p:sp>
        <p:nvSpPr>
          <p:cNvPr id="6" name="Footer Placeholder 5">
            <a:extLst>
              <a:ext uri="{FF2B5EF4-FFF2-40B4-BE49-F238E27FC236}">
                <a16:creationId xmlns:a16="http://schemas.microsoft.com/office/drawing/2014/main" id="{A8AA2FF8-F35C-5D8D-A3ED-4A003B9B8B0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2EB6265-5558-CBDF-B1B1-8084FE358422}"/>
              </a:ext>
            </a:extLst>
          </p:cNvPr>
          <p:cNvSpPr>
            <a:spLocks noGrp="1"/>
          </p:cNvSpPr>
          <p:nvPr>
            <p:ph type="sldNum" sz="quarter" idx="12"/>
          </p:nvPr>
        </p:nvSpPr>
        <p:spPr/>
        <p:txBody>
          <a:bodyPr/>
          <a:lstStyle/>
          <a:p>
            <a:fld id="{1B665BE1-246C-4289-A691-E1534874B164}" type="slidenum">
              <a:rPr lang="en-GB" smtClean="0"/>
              <a:t>‹#›</a:t>
            </a:fld>
            <a:endParaRPr lang="en-GB"/>
          </a:p>
        </p:txBody>
      </p:sp>
    </p:spTree>
    <p:extLst>
      <p:ext uri="{BB962C8B-B14F-4D97-AF65-F5344CB8AC3E}">
        <p14:creationId xmlns:p14="http://schemas.microsoft.com/office/powerpoint/2010/main" val="574356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59212-EAF7-1DB3-3BA9-E401770F502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0CC0F96-1004-157C-3C14-9F546FDE4F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15CAA2-FAE3-4E17-FB8C-66A3C843F0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61CDF36-8CFE-9D12-E0A3-000EC141DC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DA9A26-C624-9D4E-D742-E5F396CC7E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2692C96-E791-532A-21CA-242CF111C7F8}"/>
              </a:ext>
            </a:extLst>
          </p:cNvPr>
          <p:cNvSpPr>
            <a:spLocks noGrp="1"/>
          </p:cNvSpPr>
          <p:nvPr>
            <p:ph type="dt" sz="half" idx="10"/>
          </p:nvPr>
        </p:nvSpPr>
        <p:spPr/>
        <p:txBody>
          <a:bodyPr/>
          <a:lstStyle/>
          <a:p>
            <a:fld id="{B73C0364-6CF5-4F23-A130-246F9EFB669B}" type="datetimeFigureOut">
              <a:rPr lang="en-GB" smtClean="0"/>
              <a:t>24/10/2025</a:t>
            </a:fld>
            <a:endParaRPr lang="en-GB"/>
          </a:p>
        </p:txBody>
      </p:sp>
      <p:sp>
        <p:nvSpPr>
          <p:cNvPr id="8" name="Footer Placeholder 7">
            <a:extLst>
              <a:ext uri="{FF2B5EF4-FFF2-40B4-BE49-F238E27FC236}">
                <a16:creationId xmlns:a16="http://schemas.microsoft.com/office/drawing/2014/main" id="{FF76DCAA-5B97-AF82-DE91-2564CBD435A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46C1C1B-0ADB-6126-5CCF-4D69C4E9AAB5}"/>
              </a:ext>
            </a:extLst>
          </p:cNvPr>
          <p:cNvSpPr>
            <a:spLocks noGrp="1"/>
          </p:cNvSpPr>
          <p:nvPr>
            <p:ph type="sldNum" sz="quarter" idx="12"/>
          </p:nvPr>
        </p:nvSpPr>
        <p:spPr/>
        <p:txBody>
          <a:bodyPr/>
          <a:lstStyle/>
          <a:p>
            <a:fld id="{1B665BE1-246C-4289-A691-E1534874B164}" type="slidenum">
              <a:rPr lang="en-GB" smtClean="0"/>
              <a:t>‹#›</a:t>
            </a:fld>
            <a:endParaRPr lang="en-GB"/>
          </a:p>
        </p:txBody>
      </p:sp>
    </p:spTree>
    <p:extLst>
      <p:ext uri="{BB962C8B-B14F-4D97-AF65-F5344CB8AC3E}">
        <p14:creationId xmlns:p14="http://schemas.microsoft.com/office/powerpoint/2010/main" val="2266671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0DB12-A62F-F770-B648-A11304AB73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7D44688-8C7B-CC32-1E70-F07419B206F0}"/>
              </a:ext>
            </a:extLst>
          </p:cNvPr>
          <p:cNvSpPr>
            <a:spLocks noGrp="1"/>
          </p:cNvSpPr>
          <p:nvPr>
            <p:ph type="dt" sz="half" idx="10"/>
          </p:nvPr>
        </p:nvSpPr>
        <p:spPr/>
        <p:txBody>
          <a:bodyPr/>
          <a:lstStyle/>
          <a:p>
            <a:fld id="{B73C0364-6CF5-4F23-A130-246F9EFB669B}" type="datetimeFigureOut">
              <a:rPr lang="en-GB" smtClean="0"/>
              <a:t>24/10/2025</a:t>
            </a:fld>
            <a:endParaRPr lang="en-GB"/>
          </a:p>
        </p:txBody>
      </p:sp>
      <p:sp>
        <p:nvSpPr>
          <p:cNvPr id="4" name="Footer Placeholder 3">
            <a:extLst>
              <a:ext uri="{FF2B5EF4-FFF2-40B4-BE49-F238E27FC236}">
                <a16:creationId xmlns:a16="http://schemas.microsoft.com/office/drawing/2014/main" id="{5D55028C-7DBC-683B-B9FE-F3CA5785C0F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358D85C-67AE-1832-1DB5-9E14F556C15F}"/>
              </a:ext>
            </a:extLst>
          </p:cNvPr>
          <p:cNvSpPr>
            <a:spLocks noGrp="1"/>
          </p:cNvSpPr>
          <p:nvPr>
            <p:ph type="sldNum" sz="quarter" idx="12"/>
          </p:nvPr>
        </p:nvSpPr>
        <p:spPr/>
        <p:txBody>
          <a:bodyPr/>
          <a:lstStyle/>
          <a:p>
            <a:fld id="{1B665BE1-246C-4289-A691-E1534874B164}" type="slidenum">
              <a:rPr lang="en-GB" smtClean="0"/>
              <a:t>‹#›</a:t>
            </a:fld>
            <a:endParaRPr lang="en-GB"/>
          </a:p>
        </p:txBody>
      </p:sp>
    </p:spTree>
    <p:extLst>
      <p:ext uri="{BB962C8B-B14F-4D97-AF65-F5344CB8AC3E}">
        <p14:creationId xmlns:p14="http://schemas.microsoft.com/office/powerpoint/2010/main" val="776545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026A05-18E1-F2E5-61E5-E7810DF81F11}"/>
              </a:ext>
            </a:extLst>
          </p:cNvPr>
          <p:cNvSpPr>
            <a:spLocks noGrp="1"/>
          </p:cNvSpPr>
          <p:nvPr>
            <p:ph type="dt" sz="half" idx="10"/>
          </p:nvPr>
        </p:nvSpPr>
        <p:spPr/>
        <p:txBody>
          <a:bodyPr/>
          <a:lstStyle/>
          <a:p>
            <a:fld id="{B73C0364-6CF5-4F23-A130-246F9EFB669B}" type="datetimeFigureOut">
              <a:rPr lang="en-GB" smtClean="0"/>
              <a:t>24/10/2025</a:t>
            </a:fld>
            <a:endParaRPr lang="en-GB"/>
          </a:p>
        </p:txBody>
      </p:sp>
      <p:sp>
        <p:nvSpPr>
          <p:cNvPr id="3" name="Footer Placeholder 2">
            <a:extLst>
              <a:ext uri="{FF2B5EF4-FFF2-40B4-BE49-F238E27FC236}">
                <a16:creationId xmlns:a16="http://schemas.microsoft.com/office/drawing/2014/main" id="{1CFD9DA0-48A7-8E58-4365-9FE7AAC46D9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068028B-0E80-0D8C-99B6-B717B5E1D568}"/>
              </a:ext>
            </a:extLst>
          </p:cNvPr>
          <p:cNvSpPr>
            <a:spLocks noGrp="1"/>
          </p:cNvSpPr>
          <p:nvPr>
            <p:ph type="sldNum" sz="quarter" idx="12"/>
          </p:nvPr>
        </p:nvSpPr>
        <p:spPr/>
        <p:txBody>
          <a:bodyPr/>
          <a:lstStyle/>
          <a:p>
            <a:fld id="{1B665BE1-246C-4289-A691-E1534874B164}" type="slidenum">
              <a:rPr lang="en-GB" smtClean="0"/>
              <a:t>‹#›</a:t>
            </a:fld>
            <a:endParaRPr lang="en-GB"/>
          </a:p>
        </p:txBody>
      </p:sp>
    </p:spTree>
    <p:extLst>
      <p:ext uri="{BB962C8B-B14F-4D97-AF65-F5344CB8AC3E}">
        <p14:creationId xmlns:p14="http://schemas.microsoft.com/office/powerpoint/2010/main" val="603597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B7376-FFE1-BED4-BE19-A62AB32E45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CCC1C24-5C6B-96F7-241C-A264E665B6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CAC8328-D0C1-271B-95A5-CC137A613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A8F9C7-677F-DC35-B6EA-64A7D3C53216}"/>
              </a:ext>
            </a:extLst>
          </p:cNvPr>
          <p:cNvSpPr>
            <a:spLocks noGrp="1"/>
          </p:cNvSpPr>
          <p:nvPr>
            <p:ph type="dt" sz="half" idx="10"/>
          </p:nvPr>
        </p:nvSpPr>
        <p:spPr/>
        <p:txBody>
          <a:bodyPr/>
          <a:lstStyle/>
          <a:p>
            <a:fld id="{B73C0364-6CF5-4F23-A130-246F9EFB669B}" type="datetimeFigureOut">
              <a:rPr lang="en-GB" smtClean="0"/>
              <a:t>24/10/2025</a:t>
            </a:fld>
            <a:endParaRPr lang="en-GB"/>
          </a:p>
        </p:txBody>
      </p:sp>
      <p:sp>
        <p:nvSpPr>
          <p:cNvPr id="6" name="Footer Placeholder 5">
            <a:extLst>
              <a:ext uri="{FF2B5EF4-FFF2-40B4-BE49-F238E27FC236}">
                <a16:creationId xmlns:a16="http://schemas.microsoft.com/office/drawing/2014/main" id="{47787A3B-1A46-58EC-FEF7-5B62009E895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D65380A-00A5-87D0-ADF4-3D562D618A52}"/>
              </a:ext>
            </a:extLst>
          </p:cNvPr>
          <p:cNvSpPr>
            <a:spLocks noGrp="1"/>
          </p:cNvSpPr>
          <p:nvPr>
            <p:ph type="sldNum" sz="quarter" idx="12"/>
          </p:nvPr>
        </p:nvSpPr>
        <p:spPr/>
        <p:txBody>
          <a:bodyPr/>
          <a:lstStyle/>
          <a:p>
            <a:fld id="{1B665BE1-246C-4289-A691-E1534874B164}" type="slidenum">
              <a:rPr lang="en-GB" smtClean="0"/>
              <a:t>‹#›</a:t>
            </a:fld>
            <a:endParaRPr lang="en-GB"/>
          </a:p>
        </p:txBody>
      </p:sp>
    </p:spTree>
    <p:extLst>
      <p:ext uri="{BB962C8B-B14F-4D97-AF65-F5344CB8AC3E}">
        <p14:creationId xmlns:p14="http://schemas.microsoft.com/office/powerpoint/2010/main" val="2286568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ACBAF-BBAA-85B6-C104-174183BEFA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89BADF0-5B8C-AB38-E928-8328F1392A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2BBFA8D-0C4F-58C7-07EA-51400DFFED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6B4A78-25E3-4DE6-890D-ACD23E4A9B70}"/>
              </a:ext>
            </a:extLst>
          </p:cNvPr>
          <p:cNvSpPr>
            <a:spLocks noGrp="1"/>
          </p:cNvSpPr>
          <p:nvPr>
            <p:ph type="dt" sz="half" idx="10"/>
          </p:nvPr>
        </p:nvSpPr>
        <p:spPr/>
        <p:txBody>
          <a:bodyPr/>
          <a:lstStyle/>
          <a:p>
            <a:fld id="{B73C0364-6CF5-4F23-A130-246F9EFB669B}" type="datetimeFigureOut">
              <a:rPr lang="en-GB" smtClean="0"/>
              <a:t>24/10/2025</a:t>
            </a:fld>
            <a:endParaRPr lang="en-GB"/>
          </a:p>
        </p:txBody>
      </p:sp>
      <p:sp>
        <p:nvSpPr>
          <p:cNvPr id="6" name="Footer Placeholder 5">
            <a:extLst>
              <a:ext uri="{FF2B5EF4-FFF2-40B4-BE49-F238E27FC236}">
                <a16:creationId xmlns:a16="http://schemas.microsoft.com/office/drawing/2014/main" id="{80A63587-C434-0248-EA0E-80340C476EF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C40B71E-E213-B1C2-A84C-9C65FF3D1BA1}"/>
              </a:ext>
            </a:extLst>
          </p:cNvPr>
          <p:cNvSpPr>
            <a:spLocks noGrp="1"/>
          </p:cNvSpPr>
          <p:nvPr>
            <p:ph type="sldNum" sz="quarter" idx="12"/>
          </p:nvPr>
        </p:nvSpPr>
        <p:spPr/>
        <p:txBody>
          <a:bodyPr/>
          <a:lstStyle/>
          <a:p>
            <a:fld id="{1B665BE1-246C-4289-A691-E1534874B164}" type="slidenum">
              <a:rPr lang="en-GB" smtClean="0"/>
              <a:t>‹#›</a:t>
            </a:fld>
            <a:endParaRPr lang="en-GB"/>
          </a:p>
        </p:txBody>
      </p:sp>
    </p:spTree>
    <p:extLst>
      <p:ext uri="{BB962C8B-B14F-4D97-AF65-F5344CB8AC3E}">
        <p14:creationId xmlns:p14="http://schemas.microsoft.com/office/powerpoint/2010/main" val="651982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52749-745F-D325-720D-F4F07E5F193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6F557BB-B82F-B038-3016-3FDF7CD6A0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1C3D4C0-4D87-FBB3-DFD0-C8F99F6F698E}"/>
              </a:ext>
            </a:extLst>
          </p:cNvPr>
          <p:cNvSpPr>
            <a:spLocks noGrp="1"/>
          </p:cNvSpPr>
          <p:nvPr>
            <p:ph type="dt" sz="half" idx="10"/>
          </p:nvPr>
        </p:nvSpPr>
        <p:spPr/>
        <p:txBody>
          <a:bodyPr/>
          <a:lstStyle/>
          <a:p>
            <a:fld id="{B73C0364-6CF5-4F23-A130-246F9EFB669B}" type="datetimeFigureOut">
              <a:rPr lang="en-GB" smtClean="0"/>
              <a:t>24/10/2025</a:t>
            </a:fld>
            <a:endParaRPr lang="en-GB"/>
          </a:p>
        </p:txBody>
      </p:sp>
      <p:sp>
        <p:nvSpPr>
          <p:cNvPr id="5" name="Footer Placeholder 4">
            <a:extLst>
              <a:ext uri="{FF2B5EF4-FFF2-40B4-BE49-F238E27FC236}">
                <a16:creationId xmlns:a16="http://schemas.microsoft.com/office/drawing/2014/main" id="{BB9FEC9D-EC1B-56E2-2A28-2857918807D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9888604-E6FE-1E50-1554-8F9331FC3B17}"/>
              </a:ext>
            </a:extLst>
          </p:cNvPr>
          <p:cNvSpPr>
            <a:spLocks noGrp="1"/>
          </p:cNvSpPr>
          <p:nvPr>
            <p:ph type="sldNum" sz="quarter" idx="12"/>
          </p:nvPr>
        </p:nvSpPr>
        <p:spPr/>
        <p:txBody>
          <a:bodyPr/>
          <a:lstStyle/>
          <a:p>
            <a:fld id="{1B665BE1-246C-4289-A691-E1534874B164}" type="slidenum">
              <a:rPr lang="en-GB" smtClean="0"/>
              <a:t>‹#›</a:t>
            </a:fld>
            <a:endParaRPr lang="en-GB"/>
          </a:p>
        </p:txBody>
      </p:sp>
    </p:spTree>
    <p:extLst>
      <p:ext uri="{BB962C8B-B14F-4D97-AF65-F5344CB8AC3E}">
        <p14:creationId xmlns:p14="http://schemas.microsoft.com/office/powerpoint/2010/main" val="811444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7971A4-E15E-ED6E-3BE7-2D727F6EA23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ABFD1AD-C1F7-734E-D62A-FC4629B014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7581131-2A20-1581-99C5-605B1A70CF3E}"/>
              </a:ext>
            </a:extLst>
          </p:cNvPr>
          <p:cNvSpPr>
            <a:spLocks noGrp="1"/>
          </p:cNvSpPr>
          <p:nvPr>
            <p:ph type="dt" sz="half" idx="10"/>
          </p:nvPr>
        </p:nvSpPr>
        <p:spPr/>
        <p:txBody>
          <a:bodyPr/>
          <a:lstStyle/>
          <a:p>
            <a:fld id="{B73C0364-6CF5-4F23-A130-246F9EFB669B}" type="datetimeFigureOut">
              <a:rPr lang="en-GB" smtClean="0"/>
              <a:t>24/10/2025</a:t>
            </a:fld>
            <a:endParaRPr lang="en-GB"/>
          </a:p>
        </p:txBody>
      </p:sp>
      <p:sp>
        <p:nvSpPr>
          <p:cNvPr id="5" name="Footer Placeholder 4">
            <a:extLst>
              <a:ext uri="{FF2B5EF4-FFF2-40B4-BE49-F238E27FC236}">
                <a16:creationId xmlns:a16="http://schemas.microsoft.com/office/drawing/2014/main" id="{3D3459E9-BE02-D980-F5A8-8C0D6933D98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5914CB-F0C9-F806-52CB-D230465C4036}"/>
              </a:ext>
            </a:extLst>
          </p:cNvPr>
          <p:cNvSpPr>
            <a:spLocks noGrp="1"/>
          </p:cNvSpPr>
          <p:nvPr>
            <p:ph type="sldNum" sz="quarter" idx="12"/>
          </p:nvPr>
        </p:nvSpPr>
        <p:spPr/>
        <p:txBody>
          <a:bodyPr/>
          <a:lstStyle/>
          <a:p>
            <a:fld id="{1B665BE1-246C-4289-A691-E1534874B164}" type="slidenum">
              <a:rPr lang="en-GB" smtClean="0"/>
              <a:t>‹#›</a:t>
            </a:fld>
            <a:endParaRPr lang="en-GB"/>
          </a:p>
        </p:txBody>
      </p:sp>
    </p:spTree>
    <p:extLst>
      <p:ext uri="{BB962C8B-B14F-4D97-AF65-F5344CB8AC3E}">
        <p14:creationId xmlns:p14="http://schemas.microsoft.com/office/powerpoint/2010/main" val="2838203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74D91C-1B53-DF63-1255-978007F7A5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B5A14B2-AC23-2CA0-8F3C-578524C392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5498A5-5C18-E460-BD71-22270A457D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3C0364-6CF5-4F23-A130-246F9EFB669B}" type="datetimeFigureOut">
              <a:rPr lang="en-GB" smtClean="0"/>
              <a:t>24/10/2025</a:t>
            </a:fld>
            <a:endParaRPr lang="en-GB"/>
          </a:p>
        </p:txBody>
      </p:sp>
      <p:sp>
        <p:nvSpPr>
          <p:cNvPr id="5" name="Footer Placeholder 4">
            <a:extLst>
              <a:ext uri="{FF2B5EF4-FFF2-40B4-BE49-F238E27FC236}">
                <a16:creationId xmlns:a16="http://schemas.microsoft.com/office/drawing/2014/main" id="{2A479B34-D265-7C2F-FD7A-16F25124E6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EE2E591-A396-B047-E38A-3641B9DDD7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665BE1-246C-4289-A691-E1534874B164}" type="slidenum">
              <a:rPr lang="en-GB" smtClean="0"/>
              <a:t>‹#›</a:t>
            </a:fld>
            <a:endParaRPr lang="en-GB"/>
          </a:p>
        </p:txBody>
      </p:sp>
    </p:spTree>
    <p:extLst>
      <p:ext uri="{BB962C8B-B14F-4D97-AF65-F5344CB8AC3E}">
        <p14:creationId xmlns:p14="http://schemas.microsoft.com/office/powerpoint/2010/main" val="3281100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kenhub.com/en/library/anatomy/white-matter" TargetMode="External"/><Relationship Id="rId2" Type="http://schemas.openxmlformats.org/officeDocument/2006/relationships/hyperlink" Target="https://www.kenhub.com/en/library/anatomy/midbrain-pons-gross-anatomy"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883E-C269-107F-6947-AA42C76B561A}"/>
              </a:ext>
            </a:extLst>
          </p:cNvPr>
          <p:cNvSpPr>
            <a:spLocks noGrp="1"/>
          </p:cNvSpPr>
          <p:nvPr>
            <p:ph type="ctrTitle"/>
          </p:nvPr>
        </p:nvSpPr>
        <p:spPr/>
        <p:txBody>
          <a:bodyPr/>
          <a:lstStyle/>
          <a:p>
            <a:r>
              <a:rPr lang="en-GB" dirty="0"/>
              <a:t>DIENCEPHALON</a:t>
            </a:r>
          </a:p>
        </p:txBody>
      </p:sp>
      <p:sp>
        <p:nvSpPr>
          <p:cNvPr id="3" name="Subtitle 2">
            <a:extLst>
              <a:ext uri="{FF2B5EF4-FFF2-40B4-BE49-F238E27FC236}">
                <a16:creationId xmlns:a16="http://schemas.microsoft.com/office/drawing/2014/main" id="{B3E4AA21-A657-80A9-0581-0417D9984472}"/>
              </a:ext>
            </a:extLst>
          </p:cNvPr>
          <p:cNvSpPr>
            <a:spLocks noGrp="1"/>
          </p:cNvSpPr>
          <p:nvPr>
            <p:ph type="subTitle" idx="1"/>
          </p:nvPr>
        </p:nvSpPr>
        <p:spPr/>
        <p:txBody>
          <a:bodyPr/>
          <a:lstStyle/>
          <a:p>
            <a:endParaRPr lang="en-GB" dirty="0"/>
          </a:p>
          <a:p>
            <a:endParaRPr lang="en-GB" dirty="0"/>
          </a:p>
          <a:p>
            <a:r>
              <a:rPr lang="en-GB" dirty="0"/>
              <a:t>DR OSO O.A</a:t>
            </a:r>
          </a:p>
        </p:txBody>
      </p:sp>
    </p:spTree>
    <p:extLst>
      <p:ext uri="{BB962C8B-B14F-4D97-AF65-F5344CB8AC3E}">
        <p14:creationId xmlns:p14="http://schemas.microsoft.com/office/powerpoint/2010/main" val="2108908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8FE4A-5FD5-7725-C917-10A68758CF41}"/>
              </a:ext>
            </a:extLst>
          </p:cNvPr>
          <p:cNvSpPr>
            <a:spLocks noGrp="1"/>
          </p:cNvSpPr>
          <p:nvPr>
            <p:ph type="title"/>
          </p:nvPr>
        </p:nvSpPr>
        <p:spPr>
          <a:xfrm>
            <a:off x="185057" y="147411"/>
            <a:ext cx="11038114" cy="766989"/>
          </a:xfrm>
        </p:spPr>
        <p:txBody>
          <a:bodyPr/>
          <a:lstStyle/>
          <a:p>
            <a:r>
              <a:rPr lang="en-GB" b="1" dirty="0"/>
              <a:t>OUTLINE</a:t>
            </a:r>
          </a:p>
        </p:txBody>
      </p:sp>
      <p:sp>
        <p:nvSpPr>
          <p:cNvPr id="3" name="Content Placeholder 2">
            <a:extLst>
              <a:ext uri="{FF2B5EF4-FFF2-40B4-BE49-F238E27FC236}">
                <a16:creationId xmlns:a16="http://schemas.microsoft.com/office/drawing/2014/main" id="{278B4057-F884-843E-6DDE-325731D64768}"/>
              </a:ext>
            </a:extLst>
          </p:cNvPr>
          <p:cNvSpPr>
            <a:spLocks noGrp="1"/>
          </p:cNvSpPr>
          <p:nvPr>
            <p:ph idx="1"/>
          </p:nvPr>
        </p:nvSpPr>
        <p:spPr>
          <a:xfrm>
            <a:off x="272143" y="914400"/>
            <a:ext cx="11734799" cy="5796189"/>
          </a:xfrm>
        </p:spPr>
        <p:txBody>
          <a:bodyPr>
            <a:normAutofit fontScale="92500" lnSpcReduction="10000"/>
          </a:bodyPr>
          <a:lstStyle/>
          <a:p>
            <a:r>
              <a:rPr lang="en-GB" dirty="0"/>
              <a:t>Introduction </a:t>
            </a:r>
          </a:p>
          <a:p>
            <a:endParaRPr lang="en-GB" dirty="0"/>
          </a:p>
          <a:p>
            <a:r>
              <a:rPr lang="en-GB" dirty="0"/>
              <a:t>Anatomical location</a:t>
            </a:r>
          </a:p>
          <a:p>
            <a:endParaRPr lang="en-GB" dirty="0"/>
          </a:p>
          <a:p>
            <a:r>
              <a:rPr lang="en-GB" dirty="0"/>
              <a:t>Thalamus </a:t>
            </a:r>
          </a:p>
          <a:p>
            <a:endParaRPr lang="en-GB" dirty="0"/>
          </a:p>
          <a:p>
            <a:r>
              <a:rPr lang="en-GB" dirty="0"/>
              <a:t>Hypothalamus </a:t>
            </a:r>
          </a:p>
          <a:p>
            <a:endParaRPr lang="en-GB" dirty="0"/>
          </a:p>
          <a:p>
            <a:r>
              <a:rPr lang="en-GB" dirty="0"/>
              <a:t>Epithalamus </a:t>
            </a:r>
          </a:p>
          <a:p>
            <a:endParaRPr lang="en-GB" dirty="0"/>
          </a:p>
          <a:p>
            <a:r>
              <a:rPr lang="en-GB" dirty="0"/>
              <a:t>Subthalamus </a:t>
            </a:r>
          </a:p>
          <a:p>
            <a:endParaRPr lang="en-GB" dirty="0"/>
          </a:p>
          <a:p>
            <a:r>
              <a:rPr lang="en-GB" dirty="0"/>
              <a:t>C</a:t>
            </a:r>
            <a:r>
              <a:rPr lang="en-GB"/>
              <a:t>onclusion </a:t>
            </a:r>
            <a:endParaRPr lang="en-GB" dirty="0"/>
          </a:p>
        </p:txBody>
      </p:sp>
    </p:spTree>
    <p:extLst>
      <p:ext uri="{BB962C8B-B14F-4D97-AF65-F5344CB8AC3E}">
        <p14:creationId xmlns:p14="http://schemas.microsoft.com/office/powerpoint/2010/main" val="4210634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Documents and Settings\hakanr\Desktop\TEACHING Folders\physio pics\Overview of the nervous system\nsdivide.gif">
            <a:extLst>
              <a:ext uri="{FF2B5EF4-FFF2-40B4-BE49-F238E27FC236}">
                <a16:creationId xmlns:a16="http://schemas.microsoft.com/office/drawing/2014/main" id="{276B98A7-72AD-33CC-9DF5-585C365036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1020" y="104711"/>
            <a:ext cx="11947693" cy="6579118"/>
          </a:xfrm>
          <a:prstGeom prst="rect">
            <a:avLst/>
          </a:prstGeom>
          <a:noFill/>
        </p:spPr>
      </p:pic>
    </p:spTree>
    <p:extLst>
      <p:ext uri="{BB962C8B-B14F-4D97-AF65-F5344CB8AC3E}">
        <p14:creationId xmlns:p14="http://schemas.microsoft.com/office/powerpoint/2010/main" val="4029130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485" y="141515"/>
            <a:ext cx="11680371" cy="718456"/>
          </a:xfrm>
        </p:spPr>
        <p:txBody>
          <a:bodyPr/>
          <a:lstStyle/>
          <a:p>
            <a:r>
              <a:rPr lang="en-GB" b="1" dirty="0"/>
              <a:t>INTRODUCTION</a:t>
            </a:r>
          </a:p>
        </p:txBody>
      </p:sp>
      <p:sp>
        <p:nvSpPr>
          <p:cNvPr id="3" name="Content Placeholder 2"/>
          <p:cNvSpPr>
            <a:spLocks noGrp="1"/>
          </p:cNvSpPr>
          <p:nvPr>
            <p:ph idx="1"/>
          </p:nvPr>
        </p:nvSpPr>
        <p:spPr>
          <a:xfrm>
            <a:off x="97971" y="957943"/>
            <a:ext cx="11854544" cy="5758541"/>
          </a:xfrm>
        </p:spPr>
        <p:txBody>
          <a:bodyPr>
            <a:noAutofit/>
          </a:bodyPr>
          <a:lstStyle/>
          <a:p>
            <a:pPr>
              <a:defRPr sz="2000"/>
            </a:pPr>
            <a:r>
              <a:rPr sz="3200" dirty="0"/>
              <a:t> </a:t>
            </a:r>
            <a:r>
              <a:rPr lang="en-US" sz="3200" dirty="0"/>
              <a:t>The diencephalon is the central</a:t>
            </a:r>
            <a:r>
              <a:rPr sz="3200" dirty="0"/>
              <a:t> part of the forebrain, located between </a:t>
            </a:r>
            <a:r>
              <a:rPr lang="en-US" sz="3200" dirty="0"/>
              <a:t>the </a:t>
            </a:r>
            <a:r>
              <a:rPr sz="3200" dirty="0"/>
              <a:t>cerebral hemispheres and </a:t>
            </a:r>
            <a:r>
              <a:rPr lang="en-US" sz="3200" dirty="0"/>
              <a:t>the </a:t>
            </a:r>
            <a:r>
              <a:rPr sz="3200" dirty="0"/>
              <a:t>midbrain</a:t>
            </a:r>
            <a:endParaRPr lang="en-US" sz="3200" dirty="0"/>
          </a:p>
          <a:p>
            <a:pPr>
              <a:defRPr sz="2000"/>
            </a:pPr>
            <a:endParaRPr sz="3200" dirty="0"/>
          </a:p>
          <a:p>
            <a:pPr>
              <a:defRPr sz="2000"/>
            </a:pPr>
            <a:r>
              <a:rPr sz="3200" dirty="0"/>
              <a:t> Divided into: Thalamus, Hypothalamus, Epithalamus, Subthalamus</a:t>
            </a:r>
            <a:endParaRPr lang="en-US" sz="3200" dirty="0"/>
          </a:p>
          <a:p>
            <a:pPr>
              <a:defRPr sz="2000"/>
            </a:pPr>
            <a:endParaRPr lang="en-US" sz="3200" dirty="0"/>
          </a:p>
          <a:p>
            <a:pPr>
              <a:defRPr sz="2000"/>
            </a:pPr>
            <a:r>
              <a:rPr lang="en-US" sz="3200" dirty="0"/>
              <a:t>The third ventricle may be regarded as the cavity of the diencephalon</a:t>
            </a:r>
          </a:p>
          <a:p>
            <a:pPr>
              <a:defRPr sz="2000"/>
            </a:pPr>
            <a:endParaRPr sz="3200" dirty="0"/>
          </a:p>
          <a:p>
            <a:pPr>
              <a:defRPr sz="2000"/>
            </a:pPr>
            <a:r>
              <a:rPr sz="3200" dirty="0"/>
              <a:t>Functions as a major relay and integration </a:t>
            </a:r>
            <a:r>
              <a:rPr lang="en-US" sz="3200" dirty="0"/>
              <a:t>centre</a:t>
            </a:r>
            <a:r>
              <a:rPr sz="3200" dirty="0"/>
              <a:t> for sensory and motor pathways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descr="A diagram of a key components overview&#10;&#10;AI-generated content may be incorrect.">
            <a:extLst>
              <a:ext uri="{FF2B5EF4-FFF2-40B4-BE49-F238E27FC236}">
                <a16:creationId xmlns:a16="http://schemas.microsoft.com/office/drawing/2014/main" id="{B52ECE3C-D1E6-D101-596D-F648A9AA9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057" y="272143"/>
            <a:ext cx="11811000" cy="6441041"/>
          </a:xfrm>
          <a:prstGeom prst="rect">
            <a:avLst/>
          </a:prstGeom>
        </p:spPr>
      </p:pic>
    </p:spTree>
    <p:extLst>
      <p:ext uri="{BB962C8B-B14F-4D97-AF65-F5344CB8AC3E}">
        <p14:creationId xmlns:p14="http://schemas.microsoft.com/office/powerpoint/2010/main" val="1534976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1.jpg"/>
          <p:cNvPicPr>
            <a:picLocks noChangeAspect="1"/>
          </p:cNvPicPr>
          <p:nvPr/>
        </p:nvPicPr>
        <p:blipFill>
          <a:blip r:embed="rId2"/>
          <a:stretch>
            <a:fillRect/>
          </a:stretch>
        </p:blipFill>
        <p:spPr>
          <a:xfrm>
            <a:off x="391885" y="32658"/>
            <a:ext cx="11168743" cy="66511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2.jpg"/>
          <p:cNvPicPr>
            <a:picLocks noChangeAspect="1"/>
          </p:cNvPicPr>
          <p:nvPr/>
        </p:nvPicPr>
        <p:blipFill>
          <a:blip r:embed="rId2"/>
          <a:stretch>
            <a:fillRect/>
          </a:stretch>
        </p:blipFill>
        <p:spPr>
          <a:xfrm>
            <a:off x="359229" y="0"/>
            <a:ext cx="11310257"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3.jpg"/>
          <p:cNvPicPr>
            <a:picLocks noChangeAspect="1"/>
          </p:cNvPicPr>
          <p:nvPr/>
        </p:nvPicPr>
        <p:blipFill>
          <a:blip r:embed="rId2"/>
          <a:stretch>
            <a:fillRect/>
          </a:stretch>
        </p:blipFill>
        <p:spPr>
          <a:xfrm>
            <a:off x="402771" y="0"/>
            <a:ext cx="11299372"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4.jpg"/>
          <p:cNvPicPr>
            <a:picLocks noChangeAspect="1"/>
          </p:cNvPicPr>
          <p:nvPr/>
        </p:nvPicPr>
        <p:blipFill>
          <a:blip r:embed="rId2"/>
          <a:stretch>
            <a:fillRect/>
          </a:stretch>
        </p:blipFill>
        <p:spPr>
          <a:xfrm>
            <a:off x="293913" y="0"/>
            <a:ext cx="11636829"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5.jpg"/>
          <p:cNvPicPr>
            <a:picLocks noChangeAspect="1"/>
          </p:cNvPicPr>
          <p:nvPr/>
        </p:nvPicPr>
        <p:blipFill>
          <a:blip r:embed="rId2"/>
          <a:stretch>
            <a:fillRect/>
          </a:stretch>
        </p:blipFill>
        <p:spPr>
          <a:xfrm>
            <a:off x="239485" y="0"/>
            <a:ext cx="1159328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7D0A7-9FE0-10B4-60A3-3FA8496B6B66}"/>
              </a:ext>
            </a:extLst>
          </p:cNvPr>
          <p:cNvSpPr>
            <a:spLocks noGrp="1"/>
          </p:cNvSpPr>
          <p:nvPr>
            <p:ph type="title"/>
          </p:nvPr>
        </p:nvSpPr>
        <p:spPr>
          <a:xfrm>
            <a:off x="163285" y="206830"/>
            <a:ext cx="11778343" cy="1066800"/>
          </a:xfrm>
        </p:spPr>
        <p:txBody>
          <a:bodyPr/>
          <a:lstStyle/>
          <a:p>
            <a:r>
              <a:rPr lang="en-GB" dirty="0"/>
              <a:t>PARTS OF DIENCEPHALON</a:t>
            </a:r>
          </a:p>
        </p:txBody>
      </p:sp>
      <p:sp>
        <p:nvSpPr>
          <p:cNvPr id="3" name="Content Placeholder 2">
            <a:extLst>
              <a:ext uri="{FF2B5EF4-FFF2-40B4-BE49-F238E27FC236}">
                <a16:creationId xmlns:a16="http://schemas.microsoft.com/office/drawing/2014/main" id="{E1230CD0-FAB5-0075-DC39-02DEEEE86627}"/>
              </a:ext>
            </a:extLst>
          </p:cNvPr>
          <p:cNvSpPr>
            <a:spLocks noGrp="1"/>
          </p:cNvSpPr>
          <p:nvPr>
            <p:ph idx="1"/>
          </p:nvPr>
        </p:nvSpPr>
        <p:spPr>
          <a:xfrm>
            <a:off x="163285" y="1480457"/>
            <a:ext cx="11865430" cy="5170712"/>
          </a:xfrm>
        </p:spPr>
        <p:txBody>
          <a:bodyPr/>
          <a:lstStyle/>
          <a:p>
            <a:r>
              <a:rPr lang="en-GB" sz="3600" dirty="0"/>
              <a:t>Thalamus </a:t>
            </a:r>
          </a:p>
          <a:p>
            <a:endParaRPr lang="en-GB" sz="3600" dirty="0"/>
          </a:p>
          <a:p>
            <a:r>
              <a:rPr lang="en-GB" sz="3600" dirty="0"/>
              <a:t>Hypothalamus </a:t>
            </a:r>
          </a:p>
          <a:p>
            <a:endParaRPr lang="en-GB" sz="3600" dirty="0"/>
          </a:p>
          <a:p>
            <a:r>
              <a:rPr lang="en-GB" sz="3600" dirty="0"/>
              <a:t>Epithalamus </a:t>
            </a:r>
          </a:p>
          <a:p>
            <a:endParaRPr lang="en-GB" sz="3600" dirty="0"/>
          </a:p>
          <a:p>
            <a:r>
              <a:rPr lang="en-GB" sz="3600" dirty="0"/>
              <a:t>Subthalamus</a:t>
            </a:r>
          </a:p>
          <a:p>
            <a:endParaRPr lang="en-GB" dirty="0"/>
          </a:p>
        </p:txBody>
      </p:sp>
    </p:spTree>
    <p:extLst>
      <p:ext uri="{BB962C8B-B14F-4D97-AF65-F5344CB8AC3E}">
        <p14:creationId xmlns:p14="http://schemas.microsoft.com/office/powerpoint/2010/main" val="3570885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172" y="232228"/>
            <a:ext cx="11680371" cy="897618"/>
          </a:xfrm>
        </p:spPr>
        <p:txBody>
          <a:bodyPr/>
          <a:lstStyle/>
          <a:p>
            <a:r>
              <a:rPr lang="en-GB" b="1" dirty="0"/>
              <a:t>THALAMUS</a:t>
            </a:r>
            <a:r>
              <a:rPr b="1" dirty="0"/>
              <a:t>: Structure and Nuclei</a:t>
            </a:r>
          </a:p>
        </p:txBody>
      </p:sp>
      <p:sp>
        <p:nvSpPr>
          <p:cNvPr id="3" name="Content Placeholder 2"/>
          <p:cNvSpPr>
            <a:spLocks noGrp="1"/>
          </p:cNvSpPr>
          <p:nvPr>
            <p:ph idx="1"/>
          </p:nvPr>
        </p:nvSpPr>
        <p:spPr>
          <a:xfrm>
            <a:off x="174172" y="1129846"/>
            <a:ext cx="11843656" cy="5495926"/>
          </a:xfrm>
        </p:spPr>
        <p:txBody>
          <a:bodyPr>
            <a:normAutofit fontScale="92500" lnSpcReduction="10000"/>
          </a:bodyPr>
          <a:lstStyle/>
          <a:p>
            <a:pPr>
              <a:defRPr sz="2000"/>
            </a:pPr>
            <a:r>
              <a:rPr lang="en-GB" sz="3200" dirty="0"/>
              <a:t>The thalamus is the largest mass of grey matter of the diencephalon that is laterally related to the third ventricle</a:t>
            </a:r>
          </a:p>
          <a:p>
            <a:pPr marL="0" indent="0">
              <a:buNone/>
              <a:defRPr sz="2000"/>
            </a:pPr>
            <a:endParaRPr lang="en-GB" sz="3200" dirty="0"/>
          </a:p>
          <a:p>
            <a:pPr>
              <a:defRPr sz="2000"/>
            </a:pPr>
            <a:r>
              <a:rPr lang="en-GB" sz="3200" dirty="0"/>
              <a:t>The symmetrical halves of this midline structure are located between the cerebral cortices and the </a:t>
            </a:r>
            <a:r>
              <a:rPr lang="en-GB" sz="3200" u="sng" dirty="0">
                <a:hlinkClick r:id="rId2"/>
              </a:rPr>
              <a:t>midbrain</a:t>
            </a:r>
            <a:endParaRPr lang="en-GB" sz="3200" u="sng" dirty="0"/>
          </a:p>
          <a:p>
            <a:pPr marL="0" indent="0">
              <a:buNone/>
              <a:defRPr sz="2000"/>
            </a:pPr>
            <a:r>
              <a:rPr lang="en-GB" sz="3200" dirty="0"/>
              <a:t> </a:t>
            </a:r>
          </a:p>
          <a:p>
            <a:pPr>
              <a:defRPr sz="2000"/>
            </a:pPr>
            <a:r>
              <a:rPr lang="en-GB" sz="3200" dirty="0"/>
              <a:t>It has an anterior and a posterior pole, as well as superior, inferior, medial and lateral surfaces</a:t>
            </a:r>
          </a:p>
          <a:p>
            <a:pPr marL="0" indent="0">
              <a:buNone/>
              <a:defRPr sz="2000"/>
            </a:pPr>
            <a:endParaRPr lang="en-GB" sz="3200" dirty="0"/>
          </a:p>
          <a:p>
            <a:pPr>
              <a:defRPr sz="2000"/>
            </a:pPr>
            <a:r>
              <a:rPr lang="en-GB" sz="3200" dirty="0"/>
              <a:t>Its superior part is covered by a thin layer of </a:t>
            </a:r>
            <a:r>
              <a:rPr lang="en-GB" sz="3200" u="sng" dirty="0">
                <a:hlinkClick r:id="rId3"/>
              </a:rPr>
              <a:t>white matter</a:t>
            </a:r>
            <a:r>
              <a:rPr lang="en-GB" sz="3200" dirty="0"/>
              <a:t> called the stratum </a:t>
            </a:r>
            <a:r>
              <a:rPr lang="en-GB" sz="3200" dirty="0" err="1"/>
              <a:t>zonale</a:t>
            </a:r>
            <a:r>
              <a:rPr lang="en-GB" sz="3200" dirty="0"/>
              <a:t> and its lateral surface is covered by a similar layer called the external medullary lamina.</a:t>
            </a:r>
          </a:p>
          <a:p>
            <a:pPr>
              <a:defRPr sz="2000"/>
            </a:pPr>
            <a:endParaRPr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8.jpg"/>
          <p:cNvPicPr>
            <a:picLocks noChangeAspect="1"/>
          </p:cNvPicPr>
          <p:nvPr/>
        </p:nvPicPr>
        <p:blipFill>
          <a:blip r:embed="rId2"/>
          <a:stretch>
            <a:fillRect/>
          </a:stretch>
        </p:blipFill>
        <p:spPr>
          <a:xfrm>
            <a:off x="152400" y="0"/>
            <a:ext cx="11821886"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7.jpg"/>
          <p:cNvPicPr>
            <a:picLocks noChangeAspect="1"/>
          </p:cNvPicPr>
          <p:nvPr/>
        </p:nvPicPr>
        <p:blipFill>
          <a:blip r:embed="rId2"/>
          <a:stretch>
            <a:fillRect/>
          </a:stretch>
        </p:blipFill>
        <p:spPr>
          <a:xfrm>
            <a:off x="228599" y="0"/>
            <a:ext cx="11843657" cy="6858000"/>
          </a:xfrm>
          <a:prstGeom prst="rect">
            <a:avLst/>
          </a:prstGeom>
        </p:spPr>
      </p:pic>
    </p:spTree>
    <p:extLst>
      <p:ext uri="{BB962C8B-B14F-4D97-AF65-F5344CB8AC3E}">
        <p14:creationId xmlns:p14="http://schemas.microsoft.com/office/powerpoint/2010/main" val="4001582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9.jpg"/>
          <p:cNvPicPr>
            <a:picLocks noChangeAspect="1"/>
          </p:cNvPicPr>
          <p:nvPr/>
        </p:nvPicPr>
        <p:blipFill>
          <a:blip r:embed="rId2"/>
          <a:stretch>
            <a:fillRect/>
          </a:stretch>
        </p:blipFill>
        <p:spPr>
          <a:xfrm>
            <a:off x="239486" y="0"/>
            <a:ext cx="11723914"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10.jpg"/>
          <p:cNvPicPr>
            <a:picLocks noChangeAspect="1"/>
          </p:cNvPicPr>
          <p:nvPr/>
        </p:nvPicPr>
        <p:blipFill>
          <a:blip r:embed="rId2"/>
          <a:stretch>
            <a:fillRect/>
          </a:stretch>
        </p:blipFill>
        <p:spPr>
          <a:xfrm>
            <a:off x="152399" y="0"/>
            <a:ext cx="11865429"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11.jpg"/>
          <p:cNvPicPr>
            <a:picLocks noChangeAspect="1"/>
          </p:cNvPicPr>
          <p:nvPr/>
        </p:nvPicPr>
        <p:blipFill>
          <a:blip r:embed="rId2"/>
          <a:stretch>
            <a:fillRect/>
          </a:stretch>
        </p:blipFill>
        <p:spPr>
          <a:xfrm>
            <a:off x="152399" y="0"/>
            <a:ext cx="11854543"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12.jpg"/>
          <p:cNvPicPr>
            <a:picLocks noChangeAspect="1"/>
          </p:cNvPicPr>
          <p:nvPr/>
        </p:nvPicPr>
        <p:blipFill>
          <a:blip r:embed="rId2"/>
          <a:stretch>
            <a:fillRect/>
          </a:stretch>
        </p:blipFill>
        <p:spPr>
          <a:xfrm>
            <a:off x="228599" y="0"/>
            <a:ext cx="11778343"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13.jpg"/>
          <p:cNvPicPr>
            <a:picLocks noChangeAspect="1"/>
          </p:cNvPicPr>
          <p:nvPr/>
        </p:nvPicPr>
        <p:blipFill>
          <a:blip r:embed="rId2"/>
          <a:stretch>
            <a:fillRect/>
          </a:stretch>
        </p:blipFill>
        <p:spPr>
          <a:xfrm>
            <a:off x="152400" y="0"/>
            <a:ext cx="11800114"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DC55A-DDD5-8577-6BFA-BFC1EEE6AC74}"/>
              </a:ext>
            </a:extLst>
          </p:cNvPr>
          <p:cNvSpPr>
            <a:spLocks noGrp="1"/>
          </p:cNvSpPr>
          <p:nvPr>
            <p:ph type="title"/>
          </p:nvPr>
        </p:nvSpPr>
        <p:spPr>
          <a:xfrm flipV="1">
            <a:off x="838200" y="152400"/>
            <a:ext cx="10515600" cy="212725"/>
          </a:xfrm>
        </p:spPr>
        <p:txBody>
          <a:bodyPr>
            <a:normAutofit fontScale="90000"/>
          </a:bodyPr>
          <a:lstStyle/>
          <a:p>
            <a:endParaRPr lang="en-GB" dirty="0"/>
          </a:p>
        </p:txBody>
      </p:sp>
      <p:graphicFrame>
        <p:nvGraphicFramePr>
          <p:cNvPr id="5" name="Content Placeholder 4">
            <a:extLst>
              <a:ext uri="{FF2B5EF4-FFF2-40B4-BE49-F238E27FC236}">
                <a16:creationId xmlns:a16="http://schemas.microsoft.com/office/drawing/2014/main" id="{009E4BD9-4662-3FCE-FD8E-96E137BD0380}"/>
              </a:ext>
            </a:extLst>
          </p:cNvPr>
          <p:cNvGraphicFramePr>
            <a:graphicFrameLocks noGrp="1"/>
          </p:cNvGraphicFramePr>
          <p:nvPr>
            <p:ph idx="1"/>
          </p:nvPr>
        </p:nvGraphicFramePr>
        <p:xfrm>
          <a:off x="315686" y="72777"/>
          <a:ext cx="10842172" cy="6712445"/>
        </p:xfrm>
        <a:graphic>
          <a:graphicData uri="http://schemas.openxmlformats.org/drawingml/2006/table">
            <a:tbl>
              <a:tblPr firstRow="1" bandRow="1">
                <a:tableStyleId>{5C22544A-7EE6-4342-B048-85BDC9FD1C3A}</a:tableStyleId>
              </a:tblPr>
              <a:tblGrid>
                <a:gridCol w="5421086">
                  <a:extLst>
                    <a:ext uri="{9D8B030D-6E8A-4147-A177-3AD203B41FA5}">
                      <a16:colId xmlns:a16="http://schemas.microsoft.com/office/drawing/2014/main" val="268191196"/>
                    </a:ext>
                  </a:extLst>
                </a:gridCol>
                <a:gridCol w="5421086">
                  <a:extLst>
                    <a:ext uri="{9D8B030D-6E8A-4147-A177-3AD203B41FA5}">
                      <a16:colId xmlns:a16="http://schemas.microsoft.com/office/drawing/2014/main" val="2493235776"/>
                    </a:ext>
                  </a:extLst>
                </a:gridCol>
              </a:tblGrid>
              <a:tr h="424802">
                <a:tc>
                  <a:txBody>
                    <a:bodyPr/>
                    <a:lstStyle/>
                    <a:p>
                      <a:r>
                        <a:rPr lang="en-GB" dirty="0"/>
                        <a:t>Nuclei </a:t>
                      </a:r>
                    </a:p>
                  </a:txBody>
                  <a:tcPr/>
                </a:tc>
                <a:tc>
                  <a:txBody>
                    <a:bodyPr/>
                    <a:lstStyle/>
                    <a:p>
                      <a:endParaRPr lang="en-GB" dirty="0"/>
                    </a:p>
                  </a:txBody>
                  <a:tcPr/>
                </a:tc>
                <a:extLst>
                  <a:ext uri="{0D108BD9-81ED-4DB2-BD59-A6C34878D82A}">
                    <a16:rowId xmlns:a16="http://schemas.microsoft.com/office/drawing/2014/main" val="2988612235"/>
                  </a:ext>
                </a:extLst>
              </a:tr>
              <a:tr h="1047459">
                <a:tc>
                  <a:txBody>
                    <a:bodyPr/>
                    <a:lstStyle/>
                    <a:p>
                      <a:r>
                        <a:rPr lang="en-GB" sz="1800" kern="1200" dirty="0">
                          <a:solidFill>
                            <a:schemeClr val="dk1"/>
                          </a:solidFill>
                          <a:effectLst/>
                          <a:latin typeface="+mn-lt"/>
                          <a:ea typeface="+mn-ea"/>
                          <a:cs typeface="+mn-cs"/>
                        </a:rPr>
                        <a:t>Anterior nuclei</a:t>
                      </a:r>
                      <a:endParaRPr lang="en-GB" dirty="0"/>
                    </a:p>
                  </a:txBody>
                  <a:tcPr/>
                </a:tc>
                <a:tc>
                  <a:txBody>
                    <a:bodyPr/>
                    <a:lstStyle/>
                    <a:p>
                      <a:r>
                        <a:rPr lang="en-GB" sz="1800" kern="1200" dirty="0">
                          <a:solidFill>
                            <a:schemeClr val="dk1"/>
                          </a:solidFill>
                          <a:effectLst/>
                          <a:latin typeface="+mn-lt"/>
                          <a:ea typeface="+mn-ea"/>
                          <a:cs typeface="+mn-cs"/>
                        </a:rPr>
                        <a:t>Anteroventral nucleus </a:t>
                      </a:r>
                      <a:br>
                        <a:rPr lang="en-GB" sz="1800" kern="1200" dirty="0">
                          <a:solidFill>
                            <a:schemeClr val="dk1"/>
                          </a:solidFill>
                          <a:effectLst/>
                          <a:latin typeface="+mn-lt"/>
                          <a:ea typeface="+mn-ea"/>
                          <a:cs typeface="+mn-cs"/>
                        </a:rPr>
                      </a:br>
                      <a:r>
                        <a:rPr lang="en-GB" sz="1800" kern="1200" dirty="0">
                          <a:solidFill>
                            <a:schemeClr val="dk1"/>
                          </a:solidFill>
                          <a:effectLst/>
                          <a:latin typeface="+mn-lt"/>
                          <a:ea typeface="+mn-ea"/>
                          <a:cs typeface="+mn-cs"/>
                        </a:rPr>
                        <a:t>Anteromedial nucleus </a:t>
                      </a:r>
                      <a:br>
                        <a:rPr lang="en-GB" sz="1800" kern="1200" dirty="0">
                          <a:solidFill>
                            <a:schemeClr val="dk1"/>
                          </a:solidFill>
                          <a:effectLst/>
                          <a:latin typeface="+mn-lt"/>
                          <a:ea typeface="+mn-ea"/>
                          <a:cs typeface="+mn-cs"/>
                        </a:rPr>
                      </a:br>
                      <a:r>
                        <a:rPr lang="en-GB" sz="1800" kern="1200" dirty="0" err="1">
                          <a:solidFill>
                            <a:schemeClr val="dk1"/>
                          </a:solidFill>
                          <a:effectLst/>
                          <a:latin typeface="+mn-lt"/>
                          <a:ea typeface="+mn-ea"/>
                          <a:cs typeface="+mn-cs"/>
                        </a:rPr>
                        <a:t>Anterodorsal</a:t>
                      </a:r>
                      <a:r>
                        <a:rPr lang="en-GB" sz="1800" kern="1200" dirty="0">
                          <a:solidFill>
                            <a:schemeClr val="dk1"/>
                          </a:solidFill>
                          <a:effectLst/>
                          <a:latin typeface="+mn-lt"/>
                          <a:ea typeface="+mn-ea"/>
                          <a:cs typeface="+mn-cs"/>
                        </a:rPr>
                        <a:t> nucleus </a:t>
                      </a:r>
                      <a:endParaRPr lang="en-GB" dirty="0"/>
                    </a:p>
                  </a:txBody>
                  <a:tcPr/>
                </a:tc>
                <a:extLst>
                  <a:ext uri="{0D108BD9-81ED-4DB2-BD59-A6C34878D82A}">
                    <a16:rowId xmlns:a16="http://schemas.microsoft.com/office/drawing/2014/main" val="3292674082"/>
                  </a:ext>
                </a:extLst>
              </a:tr>
              <a:tr h="733221">
                <a:tc>
                  <a:txBody>
                    <a:bodyPr/>
                    <a:lstStyle/>
                    <a:p>
                      <a:r>
                        <a:rPr lang="en-GB" sz="1800" kern="1200" dirty="0">
                          <a:solidFill>
                            <a:schemeClr val="dk1"/>
                          </a:solidFill>
                          <a:effectLst/>
                          <a:latin typeface="+mn-lt"/>
                          <a:ea typeface="+mn-ea"/>
                          <a:cs typeface="+mn-cs"/>
                        </a:rPr>
                        <a:t>Medial nuclei</a:t>
                      </a:r>
                      <a:endParaRPr lang="en-GB" dirty="0"/>
                    </a:p>
                  </a:txBody>
                  <a:tcPr/>
                </a:tc>
                <a:tc>
                  <a:txBody>
                    <a:bodyPr/>
                    <a:lstStyle/>
                    <a:p>
                      <a:r>
                        <a:rPr lang="en-GB" sz="1800" kern="1200" dirty="0">
                          <a:solidFill>
                            <a:schemeClr val="dk1"/>
                          </a:solidFill>
                          <a:effectLst/>
                          <a:latin typeface="+mn-lt"/>
                          <a:ea typeface="+mn-ea"/>
                          <a:cs typeface="+mn-cs"/>
                        </a:rPr>
                        <a:t>Dorsomedial nucleus </a:t>
                      </a:r>
                      <a:br>
                        <a:rPr lang="en-GB" sz="1800" kern="1200" dirty="0">
                          <a:solidFill>
                            <a:schemeClr val="dk1"/>
                          </a:solidFill>
                          <a:effectLst/>
                          <a:latin typeface="+mn-lt"/>
                          <a:ea typeface="+mn-ea"/>
                          <a:cs typeface="+mn-cs"/>
                        </a:rPr>
                      </a:br>
                      <a:r>
                        <a:rPr lang="en-GB" sz="1800" kern="1200" dirty="0">
                          <a:solidFill>
                            <a:schemeClr val="dk1"/>
                          </a:solidFill>
                          <a:effectLst/>
                          <a:latin typeface="+mn-lt"/>
                          <a:ea typeface="+mn-ea"/>
                          <a:cs typeface="+mn-cs"/>
                        </a:rPr>
                        <a:t>Midline nucleus (median, periventricular)</a:t>
                      </a:r>
                      <a:endParaRPr lang="en-GB" dirty="0"/>
                    </a:p>
                  </a:txBody>
                  <a:tcPr/>
                </a:tc>
                <a:extLst>
                  <a:ext uri="{0D108BD9-81ED-4DB2-BD59-A6C34878D82A}">
                    <a16:rowId xmlns:a16="http://schemas.microsoft.com/office/drawing/2014/main" val="3750307409"/>
                  </a:ext>
                </a:extLst>
              </a:tr>
              <a:tr h="3088040">
                <a:tc>
                  <a:txBody>
                    <a:bodyPr/>
                    <a:lstStyle/>
                    <a:p>
                      <a:r>
                        <a:rPr lang="en-GB" sz="1800" kern="1200" dirty="0">
                          <a:solidFill>
                            <a:schemeClr val="dk1"/>
                          </a:solidFill>
                          <a:effectLst/>
                          <a:latin typeface="+mn-lt"/>
                          <a:ea typeface="+mn-ea"/>
                          <a:cs typeface="+mn-cs"/>
                        </a:rPr>
                        <a:t>Lateral nuclei</a:t>
                      </a:r>
                      <a:endParaRPr lang="en-GB" dirty="0"/>
                    </a:p>
                  </a:txBody>
                  <a:tcPr/>
                </a:tc>
                <a:tc>
                  <a:txBody>
                    <a:bodyPr/>
                    <a:lstStyle/>
                    <a:p>
                      <a:pPr marL="0" marR="0">
                        <a:lnSpc>
                          <a:spcPct val="107000"/>
                        </a:lnSpc>
                        <a:spcAft>
                          <a:spcPts val="800"/>
                        </a:spcAft>
                        <a:buNone/>
                      </a:pP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Dorsal group</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Lateral dorsal </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Lateral posterior </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Pulvinar </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Ventral group</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Ventral anterior </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Ventral lateral</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Ventral posterior </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Ventral posterior medial </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Ventral posterior lateral</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Ventral posterior inferior </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Metathalamic nuclei</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Medial geniculate nucleus</a:t>
                      </a:r>
                      <a:b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4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Lateral geniculate nucleus</a:t>
                      </a:r>
                      <a:endParaRPr lang="en-GB"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42875" marR="142875" marT="95250" marB="95250"/>
                </a:tc>
                <a:extLst>
                  <a:ext uri="{0D108BD9-81ED-4DB2-BD59-A6C34878D82A}">
                    <a16:rowId xmlns:a16="http://schemas.microsoft.com/office/drawing/2014/main" val="3515159545"/>
                  </a:ext>
                </a:extLst>
              </a:tr>
              <a:tr h="622147">
                <a:tc>
                  <a:txBody>
                    <a:bodyPr/>
                    <a:lstStyle/>
                    <a:p>
                      <a:r>
                        <a:rPr lang="en-GB" sz="1600" kern="1200" dirty="0">
                          <a:solidFill>
                            <a:schemeClr val="dk1"/>
                          </a:solidFill>
                          <a:effectLst/>
                          <a:latin typeface="+mn-lt"/>
                          <a:ea typeface="+mn-ea"/>
                          <a:cs typeface="+mn-cs"/>
                        </a:rPr>
                        <a:t>Intralaminar nuclei</a:t>
                      </a:r>
                      <a:endParaRPr lang="en-GB" sz="1600" dirty="0"/>
                    </a:p>
                  </a:txBody>
                  <a:tcPr/>
                </a:tc>
                <a:tc>
                  <a:txBody>
                    <a:bodyPr/>
                    <a:lstStyle/>
                    <a:p>
                      <a:pPr marL="0" marR="0">
                        <a:lnSpc>
                          <a:spcPct val="107000"/>
                        </a:lnSpc>
                        <a:spcAft>
                          <a:spcPts val="800"/>
                        </a:spcAft>
                        <a:buNone/>
                      </a:pPr>
                      <a:r>
                        <a:rPr lang="en-GB" sz="1600" kern="100" dirty="0" err="1">
                          <a:solidFill>
                            <a:srgbClr val="000000"/>
                          </a:solidFill>
                          <a:effectLst/>
                          <a:latin typeface="Aptos" panose="020B0004020202020204" pitchFamily="34" charset="0"/>
                          <a:ea typeface="Aptos" panose="020B0004020202020204" pitchFamily="34" charset="0"/>
                          <a:cs typeface="Times New Roman" panose="02020603050405020304" pitchFamily="18" charset="0"/>
                        </a:rPr>
                        <a:t>Centromedian</a:t>
                      </a:r>
                      <a:r>
                        <a:rPr lang="en-GB" sz="16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nucleus </a:t>
                      </a:r>
                      <a:br>
                        <a:rPr lang="en-GB" sz="16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br>
                      <a:r>
                        <a:rPr lang="en-GB" sz="1600" kern="100" dirty="0" err="1">
                          <a:solidFill>
                            <a:srgbClr val="000000"/>
                          </a:solidFill>
                          <a:effectLst/>
                          <a:latin typeface="Aptos" panose="020B0004020202020204" pitchFamily="34" charset="0"/>
                          <a:ea typeface="Aptos" panose="020B0004020202020204" pitchFamily="34" charset="0"/>
                          <a:cs typeface="Times New Roman" panose="02020603050405020304" pitchFamily="18" charset="0"/>
                        </a:rPr>
                        <a:t>Parafascicular</a:t>
                      </a:r>
                      <a:r>
                        <a:rPr lang="en-GB" sz="16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 nucleus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42875" marR="142875" marT="95250" marB="95250"/>
                </a:tc>
                <a:extLst>
                  <a:ext uri="{0D108BD9-81ED-4DB2-BD59-A6C34878D82A}">
                    <a16:rowId xmlns:a16="http://schemas.microsoft.com/office/drawing/2014/main" val="2407136866"/>
                  </a:ext>
                </a:extLst>
              </a:tr>
              <a:tr h="424802">
                <a:tc>
                  <a:txBody>
                    <a:bodyPr/>
                    <a:lstStyle/>
                    <a:p>
                      <a:r>
                        <a:rPr lang="en-GB" sz="1800" kern="1200" dirty="0">
                          <a:solidFill>
                            <a:schemeClr val="dk1"/>
                          </a:solidFill>
                          <a:effectLst/>
                          <a:latin typeface="+mn-lt"/>
                          <a:ea typeface="+mn-ea"/>
                          <a:cs typeface="+mn-cs"/>
                        </a:rPr>
                        <a:t>Reticular nucleus</a:t>
                      </a:r>
                      <a:endParaRPr lang="en-GB" dirty="0"/>
                    </a:p>
                  </a:txBody>
                  <a:tcPr/>
                </a:tc>
                <a:tc>
                  <a:txBody>
                    <a:bodyPr/>
                    <a:lstStyle/>
                    <a:p>
                      <a:r>
                        <a:rPr lang="en-GB" sz="1800" kern="1200" dirty="0">
                          <a:solidFill>
                            <a:schemeClr val="dk1"/>
                          </a:solidFill>
                          <a:effectLst/>
                          <a:latin typeface="+mn-lt"/>
                          <a:ea typeface="+mn-ea"/>
                          <a:cs typeface="+mn-cs"/>
                        </a:rPr>
                        <a:t>Reticular thalamic nucleus</a:t>
                      </a:r>
                      <a:endParaRPr lang="en-GB" dirty="0"/>
                    </a:p>
                  </a:txBody>
                  <a:tcPr/>
                </a:tc>
                <a:extLst>
                  <a:ext uri="{0D108BD9-81ED-4DB2-BD59-A6C34878D82A}">
                    <a16:rowId xmlns:a16="http://schemas.microsoft.com/office/drawing/2014/main" val="1992727904"/>
                  </a:ext>
                </a:extLst>
              </a:tr>
            </a:tbl>
          </a:graphicData>
        </a:graphic>
      </p:graphicFrame>
    </p:spTree>
    <p:extLst>
      <p:ext uri="{BB962C8B-B14F-4D97-AF65-F5344CB8AC3E}">
        <p14:creationId xmlns:p14="http://schemas.microsoft.com/office/powerpoint/2010/main" val="4098253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265888D-538E-2C2C-BDE1-1C7E0924E73E}"/>
              </a:ext>
            </a:extLst>
          </p:cNvPr>
          <p:cNvSpPr>
            <a:spLocks noGrp="1" noChangeArrowheads="1"/>
          </p:cNvSpPr>
          <p:nvPr>
            <p:ph type="title"/>
          </p:nvPr>
        </p:nvSpPr>
        <p:spPr>
          <a:xfrm>
            <a:off x="381000" y="185057"/>
            <a:ext cx="9753600" cy="792162"/>
          </a:xfrm>
        </p:spPr>
        <p:txBody>
          <a:bodyPr/>
          <a:lstStyle/>
          <a:p>
            <a:pPr eaLnBrk="1" hangingPunct="1"/>
            <a:r>
              <a:rPr lang="en-US" altLang="en-US" sz="4000" b="1" dirty="0"/>
              <a:t>THALAMUS-complex set of subnuclei</a:t>
            </a:r>
          </a:p>
        </p:txBody>
      </p:sp>
      <p:pic>
        <p:nvPicPr>
          <p:cNvPr id="6147" name="Picture 4" descr="thalamus">
            <a:extLst>
              <a:ext uri="{FF2B5EF4-FFF2-40B4-BE49-F238E27FC236}">
                <a16:creationId xmlns:a16="http://schemas.microsoft.com/office/drawing/2014/main" id="{EB259BE7-91A3-1CCB-F4D5-D28435A8B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257" y="1010021"/>
            <a:ext cx="11549743" cy="566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A3ACE-F71B-9DDF-2E12-31CFD8DFA608}"/>
              </a:ext>
            </a:extLst>
          </p:cNvPr>
          <p:cNvSpPr>
            <a:spLocks noGrp="1"/>
          </p:cNvSpPr>
          <p:nvPr>
            <p:ph type="title"/>
          </p:nvPr>
        </p:nvSpPr>
        <p:spPr>
          <a:xfrm>
            <a:off x="228600" y="141514"/>
            <a:ext cx="11734800" cy="685800"/>
          </a:xfrm>
        </p:spPr>
        <p:txBody>
          <a:bodyPr>
            <a:normAutofit fontScale="90000"/>
          </a:bodyPr>
          <a:lstStyle/>
          <a:p>
            <a:r>
              <a:rPr lang="en-GB" dirty="0"/>
              <a:t>Thalamic nuclei</a:t>
            </a:r>
          </a:p>
        </p:txBody>
      </p:sp>
      <p:pic>
        <p:nvPicPr>
          <p:cNvPr id="4" name="Content Placeholder 3" descr="Thalamic nuclei">
            <a:extLst>
              <a:ext uri="{FF2B5EF4-FFF2-40B4-BE49-F238E27FC236}">
                <a16:creationId xmlns:a16="http://schemas.microsoft.com/office/drawing/2014/main" id="{D0E540F0-DBB2-5767-7A82-0E620A86002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85257" y="925286"/>
            <a:ext cx="8294914" cy="5567589"/>
          </a:xfrm>
          <a:prstGeom prst="rect">
            <a:avLst/>
          </a:prstGeom>
          <a:noFill/>
          <a:ln>
            <a:noFill/>
          </a:ln>
        </p:spPr>
      </p:pic>
    </p:spTree>
    <p:extLst>
      <p:ext uri="{BB962C8B-B14F-4D97-AF65-F5344CB8AC3E}">
        <p14:creationId xmlns:p14="http://schemas.microsoft.com/office/powerpoint/2010/main" val="1836605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29" y="119743"/>
            <a:ext cx="11800114" cy="925287"/>
          </a:xfrm>
        </p:spPr>
        <p:txBody>
          <a:bodyPr>
            <a:normAutofit/>
          </a:bodyPr>
          <a:lstStyle/>
          <a:p>
            <a:r>
              <a:rPr lang="en-US" b="1" dirty="0"/>
              <a:t>FUNCTIONAL PATHWAYS OF THE THALAMUS</a:t>
            </a:r>
          </a:p>
        </p:txBody>
      </p:sp>
      <p:sp>
        <p:nvSpPr>
          <p:cNvPr id="3" name="Content Placeholder 2"/>
          <p:cNvSpPr>
            <a:spLocks noGrp="1"/>
          </p:cNvSpPr>
          <p:nvPr>
            <p:ph idx="1"/>
          </p:nvPr>
        </p:nvSpPr>
        <p:spPr>
          <a:xfrm>
            <a:off x="261257" y="968829"/>
            <a:ext cx="11669486" cy="5889171"/>
          </a:xfrm>
        </p:spPr>
        <p:txBody>
          <a:bodyPr>
            <a:noAutofit/>
          </a:bodyPr>
          <a:lstStyle/>
          <a:p>
            <a:pPr>
              <a:defRPr sz="2000"/>
            </a:pPr>
            <a:r>
              <a:rPr lang="en-US" sz="3200" dirty="0"/>
              <a:t>Sensory pathways (vision, auditory and somatosensation), motor pathways (</a:t>
            </a:r>
            <a:r>
              <a:rPr lang="en-US" sz="3200" dirty="0" err="1"/>
              <a:t>thalamo</a:t>
            </a:r>
            <a:r>
              <a:rPr lang="en-US" sz="3200" dirty="0"/>
              <a:t>-cortico-basal ganglia loop) and others (limbic system </a:t>
            </a:r>
            <a:r>
              <a:rPr lang="en-US" sz="3200" dirty="0" err="1"/>
              <a:t>etc</a:t>
            </a:r>
            <a:r>
              <a:rPr lang="en-US" sz="3200" dirty="0"/>
              <a:t>)</a:t>
            </a:r>
          </a:p>
          <a:p>
            <a:pPr>
              <a:defRPr sz="2000"/>
            </a:pPr>
            <a:endParaRPr lang="en-US" sz="3200" dirty="0"/>
          </a:p>
          <a:p>
            <a:pPr>
              <a:defRPr sz="2000"/>
            </a:pPr>
            <a:r>
              <a:rPr sz="3200" dirty="0"/>
              <a:t>Somatosensory Pathway: Spinothalamic → VPL → Somatosensory Cortex</a:t>
            </a:r>
            <a:endParaRPr lang="en-US" sz="3200" dirty="0"/>
          </a:p>
          <a:p>
            <a:pPr>
              <a:defRPr sz="2000"/>
            </a:pPr>
            <a:endParaRPr sz="3200" dirty="0"/>
          </a:p>
          <a:p>
            <a:pPr>
              <a:defRPr sz="2000"/>
            </a:pPr>
            <a:r>
              <a:rPr sz="3200" dirty="0"/>
              <a:t>Visual Pathway: Retina → Lateral Geniculate Body → Occipital Cortex</a:t>
            </a:r>
          </a:p>
          <a:p>
            <a:pPr>
              <a:defRPr sz="2000"/>
            </a:pPr>
            <a:r>
              <a:rPr sz="3200" dirty="0"/>
              <a:t>Auditory Pathway: Inferior Colliculus → Medial Geniculate Body → Temporal Cortex</a:t>
            </a:r>
          </a:p>
        </p:txBody>
      </p:sp>
    </p:spTree>
    <p:extLst>
      <p:ext uri="{BB962C8B-B14F-4D97-AF65-F5344CB8AC3E}">
        <p14:creationId xmlns:p14="http://schemas.microsoft.com/office/powerpoint/2010/main" val="15056035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14.jpg"/>
          <p:cNvPicPr>
            <a:picLocks noChangeAspect="1"/>
          </p:cNvPicPr>
          <p:nvPr/>
        </p:nvPicPr>
        <p:blipFill>
          <a:blip r:embed="rId2"/>
          <a:stretch>
            <a:fillRect/>
          </a:stretch>
        </p:blipFill>
        <p:spPr>
          <a:xfrm>
            <a:off x="152399" y="0"/>
            <a:ext cx="11832771"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793B4BD-E50E-CC45-0477-A0D99701C526}"/>
              </a:ext>
            </a:extLst>
          </p:cNvPr>
          <p:cNvSpPr>
            <a:spLocks noGrp="1" noChangeArrowheads="1"/>
          </p:cNvSpPr>
          <p:nvPr>
            <p:ph type="title"/>
          </p:nvPr>
        </p:nvSpPr>
        <p:spPr>
          <a:xfrm flipH="1">
            <a:off x="315684" y="97972"/>
            <a:ext cx="11560630" cy="783772"/>
          </a:xfrm>
        </p:spPr>
        <p:txBody>
          <a:bodyPr/>
          <a:lstStyle/>
          <a:p>
            <a:pPr eaLnBrk="1" hangingPunct="1"/>
            <a:r>
              <a:rPr lang="en-US" altLang="en-US" sz="4000" b="1" dirty="0"/>
              <a:t>THALAMO-CORTICAL SPECIFICITY</a:t>
            </a:r>
          </a:p>
        </p:txBody>
      </p:sp>
      <p:pic>
        <p:nvPicPr>
          <p:cNvPr id="8195" name="Picture 4" descr="thalamus 2">
            <a:extLst>
              <a:ext uri="{FF2B5EF4-FFF2-40B4-BE49-F238E27FC236}">
                <a16:creationId xmlns:a16="http://schemas.microsoft.com/office/drawing/2014/main" id="{F27F2051-217F-B287-5197-9F93365AF4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685" y="962026"/>
            <a:ext cx="11527971" cy="589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4" descr="f_ab20dienceph">
            <a:extLst>
              <a:ext uri="{FF2B5EF4-FFF2-40B4-BE49-F238E27FC236}">
                <a16:creationId xmlns:a16="http://schemas.microsoft.com/office/drawing/2014/main" id="{8871839A-471D-FE03-3962-C5EA7638A4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685" y="1678038"/>
            <a:ext cx="10613571" cy="502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Text Box 5">
            <a:extLst>
              <a:ext uri="{FF2B5EF4-FFF2-40B4-BE49-F238E27FC236}">
                <a16:creationId xmlns:a16="http://schemas.microsoft.com/office/drawing/2014/main" id="{918EE7B5-FF06-D2A3-58CA-80AC2BCB09C3}"/>
              </a:ext>
            </a:extLst>
          </p:cNvPr>
          <p:cNvSpPr txBox="1">
            <a:spLocks noChangeArrowheads="1"/>
          </p:cNvSpPr>
          <p:nvPr/>
        </p:nvSpPr>
        <p:spPr bwMode="auto">
          <a:xfrm>
            <a:off x="152400" y="304800"/>
            <a:ext cx="11800114"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dirty="0"/>
              <a:t>Diencephalon-The Hypothalamus</a:t>
            </a:r>
          </a:p>
          <a:p>
            <a:pPr algn="ctr" eaLnBrk="1" hangingPunct="1"/>
            <a:r>
              <a:rPr lang="en-US" altLang="en-US" sz="2400" dirty="0"/>
              <a:t>-slightly anterior to and inferior to the thalamus</a:t>
            </a:r>
            <a:endParaRPr lang="en-US" altLang="en-US" sz="3200" dirty="0"/>
          </a:p>
        </p:txBody>
      </p:sp>
    </p:spTree>
    <p:extLst>
      <p:ext uri="{BB962C8B-B14F-4D97-AF65-F5344CB8AC3E}">
        <p14:creationId xmlns:p14="http://schemas.microsoft.com/office/powerpoint/2010/main" val="2245445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15.jpg"/>
          <p:cNvPicPr>
            <a:picLocks noChangeAspect="1"/>
          </p:cNvPicPr>
          <p:nvPr/>
        </p:nvPicPr>
        <p:blipFill>
          <a:blip r:embed="rId2"/>
          <a:stretch>
            <a:fillRect/>
          </a:stretch>
        </p:blipFill>
        <p:spPr>
          <a:xfrm>
            <a:off x="152399" y="0"/>
            <a:ext cx="11832771"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B0341-3D71-046A-6D72-80EECCFFBB18}"/>
              </a:ext>
            </a:extLst>
          </p:cNvPr>
          <p:cNvSpPr>
            <a:spLocks noGrp="1"/>
          </p:cNvSpPr>
          <p:nvPr>
            <p:ph type="title"/>
          </p:nvPr>
        </p:nvSpPr>
        <p:spPr>
          <a:xfrm>
            <a:off x="87085" y="365125"/>
            <a:ext cx="11974285" cy="766989"/>
          </a:xfrm>
        </p:spPr>
        <p:txBody>
          <a:bodyPr/>
          <a:lstStyle/>
          <a:p>
            <a:r>
              <a:rPr lang="en-GB" b="1" dirty="0"/>
              <a:t>HYPOTHALAMUS: Anatomy and Zones</a:t>
            </a:r>
            <a:endParaRPr lang="en-GB" dirty="0"/>
          </a:p>
        </p:txBody>
      </p:sp>
      <p:sp>
        <p:nvSpPr>
          <p:cNvPr id="3" name="Content Placeholder 2">
            <a:extLst>
              <a:ext uri="{FF2B5EF4-FFF2-40B4-BE49-F238E27FC236}">
                <a16:creationId xmlns:a16="http://schemas.microsoft.com/office/drawing/2014/main" id="{EE97D5A2-12B9-A321-2665-D959C8A6AF71}"/>
              </a:ext>
            </a:extLst>
          </p:cNvPr>
          <p:cNvSpPr>
            <a:spLocks noGrp="1"/>
          </p:cNvSpPr>
          <p:nvPr>
            <p:ph idx="1"/>
          </p:nvPr>
        </p:nvSpPr>
        <p:spPr>
          <a:xfrm>
            <a:off x="130631" y="1132114"/>
            <a:ext cx="11930740" cy="5519057"/>
          </a:xfrm>
        </p:spPr>
        <p:txBody>
          <a:bodyPr>
            <a:normAutofit fontScale="92500" lnSpcReduction="10000"/>
          </a:bodyPr>
          <a:lstStyle/>
          <a:p>
            <a:r>
              <a:rPr lang="en-GB" dirty="0"/>
              <a:t>The hypothalamus can be divided </a:t>
            </a:r>
            <a:r>
              <a:rPr lang="en-GB" dirty="0" err="1"/>
              <a:t>anteroposteriorly</a:t>
            </a:r>
            <a:r>
              <a:rPr lang="en-GB" dirty="0"/>
              <a:t> into 3 regions: </a:t>
            </a:r>
          </a:p>
          <a:p>
            <a:pPr marL="0" indent="0">
              <a:buNone/>
            </a:pPr>
            <a:r>
              <a:rPr lang="en-GB" b="1" dirty="0"/>
              <a:t>	- anterior</a:t>
            </a:r>
            <a:r>
              <a:rPr lang="en-GB" dirty="0"/>
              <a:t> (preoptic &amp; supraoptic) </a:t>
            </a:r>
          </a:p>
          <a:p>
            <a:pPr marL="0" indent="0">
              <a:buNone/>
            </a:pPr>
            <a:r>
              <a:rPr lang="en-GB" b="1" dirty="0"/>
              <a:t>	- middle </a:t>
            </a:r>
            <a:r>
              <a:rPr lang="en-GB" dirty="0"/>
              <a:t>(</a:t>
            </a:r>
            <a:r>
              <a:rPr lang="en-GB" dirty="0" err="1"/>
              <a:t>infundibulo-tuberal</a:t>
            </a:r>
            <a:r>
              <a:rPr lang="en-GB" dirty="0"/>
              <a:t>)</a:t>
            </a:r>
          </a:p>
          <a:p>
            <a:pPr marL="0" indent="0">
              <a:buNone/>
            </a:pPr>
            <a:r>
              <a:rPr lang="en-GB" b="1" dirty="0"/>
              <a:t>	- posterior</a:t>
            </a:r>
            <a:r>
              <a:rPr lang="en-GB" dirty="0"/>
              <a:t> (mammillary) regions</a:t>
            </a:r>
          </a:p>
          <a:p>
            <a:pPr marL="0" indent="0">
              <a:buNone/>
            </a:pPr>
            <a:endParaRPr lang="en-GB" dirty="0"/>
          </a:p>
          <a:p>
            <a:r>
              <a:rPr lang="en-GB" dirty="0"/>
              <a:t> And mediolaterally into 3 zones: </a:t>
            </a:r>
          </a:p>
          <a:p>
            <a:pPr marL="0" indent="0">
              <a:buNone/>
            </a:pPr>
            <a:r>
              <a:rPr lang="en-GB" b="1" dirty="0"/>
              <a:t>	- periventricular</a:t>
            </a:r>
            <a:endParaRPr lang="en-GB" dirty="0"/>
          </a:p>
          <a:p>
            <a:pPr marL="0" indent="0">
              <a:buNone/>
            </a:pPr>
            <a:r>
              <a:rPr lang="en-GB" b="1" dirty="0"/>
              <a:t>	- medial</a:t>
            </a:r>
            <a:r>
              <a:rPr lang="en-GB" dirty="0"/>
              <a:t>  </a:t>
            </a:r>
          </a:p>
          <a:p>
            <a:pPr marL="0" indent="0">
              <a:buNone/>
            </a:pPr>
            <a:r>
              <a:rPr lang="en-GB" b="1" dirty="0"/>
              <a:t>	- lateral</a:t>
            </a:r>
            <a:r>
              <a:rPr lang="en-GB" dirty="0"/>
              <a:t> </a:t>
            </a:r>
          </a:p>
          <a:p>
            <a:r>
              <a:rPr lang="en-GB" dirty="0"/>
              <a:t>Between the medial and lateral zones is a paramedian plane that contains the prominent myelinated fibres of the column of the fornix &amp; the mammillothalamic tract</a:t>
            </a:r>
          </a:p>
          <a:p>
            <a:r>
              <a:rPr lang="en-GB" dirty="0"/>
              <a:t>Key nuclei: Supraoptic, Paraventricular, Ventromedial, Arcuate</a:t>
            </a:r>
          </a:p>
          <a:p>
            <a:endParaRPr lang="en-GB" dirty="0"/>
          </a:p>
          <a:p>
            <a:endParaRPr lang="en-GB" dirty="0"/>
          </a:p>
        </p:txBody>
      </p:sp>
    </p:spTree>
    <p:extLst>
      <p:ext uri="{BB962C8B-B14F-4D97-AF65-F5344CB8AC3E}">
        <p14:creationId xmlns:p14="http://schemas.microsoft.com/office/powerpoint/2010/main" val="2770562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16.jpg"/>
          <p:cNvPicPr>
            <a:picLocks noChangeAspect="1"/>
          </p:cNvPicPr>
          <p:nvPr/>
        </p:nvPicPr>
        <p:blipFill>
          <a:blip r:embed="rId2"/>
          <a:stretch>
            <a:fillRect/>
          </a:stretch>
        </p:blipFill>
        <p:spPr>
          <a:xfrm>
            <a:off x="152399" y="0"/>
            <a:ext cx="11908971"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EA937FDC-2DC8-2AD5-482F-550B20025AE6}"/>
              </a:ext>
            </a:extLst>
          </p:cNvPr>
          <p:cNvSpPr>
            <a:spLocks noGrp="1"/>
          </p:cNvSpPr>
          <p:nvPr>
            <p:ph type="title"/>
          </p:nvPr>
        </p:nvSpPr>
        <p:spPr>
          <a:xfrm>
            <a:off x="141514" y="163287"/>
            <a:ext cx="11756572" cy="1066800"/>
          </a:xfrm>
        </p:spPr>
        <p:txBody>
          <a:bodyPr/>
          <a:lstStyle/>
          <a:p>
            <a:r>
              <a:rPr lang="en-US" altLang="en-US" dirty="0"/>
              <a:t>The hypothalamus-subnuclei</a:t>
            </a:r>
          </a:p>
        </p:txBody>
      </p:sp>
      <p:pic>
        <p:nvPicPr>
          <p:cNvPr id="10243" name="Picture 2" descr="C:\Documents and Settings\hakanr\Desktop\TEACHING Folders\physio pics\Diencephalon\figure3d.jpg">
            <a:extLst>
              <a:ext uri="{FF2B5EF4-FFF2-40B4-BE49-F238E27FC236}">
                <a16:creationId xmlns:a16="http://schemas.microsoft.com/office/drawing/2014/main" id="{0B2BAADF-8514-82D4-CB95-8240539B5D8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65513" y="1230087"/>
            <a:ext cx="11508574" cy="5464626"/>
          </a:xfr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829" y="365126"/>
            <a:ext cx="11593285" cy="886732"/>
          </a:xfrm>
        </p:spPr>
        <p:txBody>
          <a:bodyPr/>
          <a:lstStyle/>
          <a:p>
            <a:r>
              <a:rPr dirty="0"/>
              <a:t>Hypothalamic Connections and Pathways</a:t>
            </a:r>
          </a:p>
        </p:txBody>
      </p:sp>
      <p:sp>
        <p:nvSpPr>
          <p:cNvPr id="3" name="Content Placeholder 2"/>
          <p:cNvSpPr>
            <a:spLocks noGrp="1"/>
          </p:cNvSpPr>
          <p:nvPr>
            <p:ph idx="1"/>
          </p:nvPr>
        </p:nvSpPr>
        <p:spPr>
          <a:xfrm>
            <a:off x="206829" y="1600200"/>
            <a:ext cx="11778342" cy="5007429"/>
          </a:xfrm>
        </p:spPr>
        <p:txBody>
          <a:bodyPr>
            <a:normAutofit/>
          </a:bodyPr>
          <a:lstStyle/>
          <a:p>
            <a:pPr>
              <a:defRPr sz="2000"/>
            </a:pPr>
            <a:r>
              <a:rPr sz="3600" dirty="0"/>
              <a:t>Afferents: Limbic system, Retina, Brainstem</a:t>
            </a:r>
            <a:endParaRPr lang="en-US" sz="3600" dirty="0"/>
          </a:p>
          <a:p>
            <a:pPr>
              <a:defRPr sz="2000"/>
            </a:pPr>
            <a:endParaRPr sz="3600" dirty="0"/>
          </a:p>
          <a:p>
            <a:pPr>
              <a:defRPr sz="2000"/>
            </a:pPr>
            <a:r>
              <a:rPr sz="3600" dirty="0" err="1"/>
              <a:t>Efferents</a:t>
            </a:r>
            <a:r>
              <a:rPr sz="3600" dirty="0"/>
              <a:t>: Pituitary gland, Autonomic centers, Thalamus</a:t>
            </a:r>
            <a:endParaRPr lang="en-US" sz="3600" dirty="0"/>
          </a:p>
          <a:p>
            <a:pPr>
              <a:defRPr sz="2000"/>
            </a:pPr>
            <a:endParaRPr sz="3600" dirty="0"/>
          </a:p>
          <a:p>
            <a:pPr>
              <a:defRPr sz="2000"/>
            </a:pPr>
            <a:r>
              <a:rPr sz="3600" dirty="0"/>
              <a:t>Pathways: Fornix, Mammillothalamic tract, Dorsal longitudinal fasciculus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CF9D4-033B-6322-ECC6-B216D7F2ECA2}"/>
              </a:ext>
            </a:extLst>
          </p:cNvPr>
          <p:cNvSpPr>
            <a:spLocks noGrp="1"/>
          </p:cNvSpPr>
          <p:nvPr>
            <p:ph type="title"/>
          </p:nvPr>
        </p:nvSpPr>
        <p:spPr>
          <a:xfrm>
            <a:off x="152399" y="108857"/>
            <a:ext cx="11702143" cy="1023257"/>
          </a:xfrm>
        </p:spPr>
        <p:txBody>
          <a:bodyPr/>
          <a:lstStyle/>
          <a:p>
            <a:r>
              <a:rPr lang="en-GB" dirty="0"/>
              <a:t>Neuroendocrine axis</a:t>
            </a:r>
          </a:p>
        </p:txBody>
      </p:sp>
      <p:pic>
        <p:nvPicPr>
          <p:cNvPr id="4" name="Picture 4" descr="JK328">
            <a:extLst>
              <a:ext uri="{FF2B5EF4-FFF2-40B4-BE49-F238E27FC236}">
                <a16:creationId xmlns:a16="http://schemas.microsoft.com/office/drawing/2014/main" id="{EF84BE6B-A6B1-B80F-1CE7-729A53087B7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83772" y="1240970"/>
            <a:ext cx="10417628" cy="524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24005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84D3B7BF-EA10-A459-7DF1-2EF3AC277C09}"/>
              </a:ext>
            </a:extLst>
          </p:cNvPr>
          <p:cNvSpPr>
            <a:spLocks noGrp="1"/>
          </p:cNvSpPr>
          <p:nvPr>
            <p:ph type="title"/>
          </p:nvPr>
        </p:nvSpPr>
        <p:spPr/>
        <p:txBody>
          <a:bodyPr/>
          <a:lstStyle/>
          <a:p>
            <a:endParaRPr lang="en-US" altLang="en-US"/>
          </a:p>
        </p:txBody>
      </p:sp>
      <p:pic>
        <p:nvPicPr>
          <p:cNvPr id="13315" name="Picture 2" descr="C:\Documents and Settings\hakanr\Desktop\TEACHING Folders\physio pics\Diencephalon\Hypothalamus.jpg">
            <a:extLst>
              <a:ext uri="{FF2B5EF4-FFF2-40B4-BE49-F238E27FC236}">
                <a16:creationId xmlns:a16="http://schemas.microsoft.com/office/drawing/2014/main" id="{FBD473F1-8326-6081-F865-A3A2D8983C0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57201" y="50394"/>
            <a:ext cx="10896600" cy="6361291"/>
          </a:xfr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17.jpg"/>
          <p:cNvPicPr>
            <a:picLocks noChangeAspect="1"/>
          </p:cNvPicPr>
          <p:nvPr/>
        </p:nvPicPr>
        <p:blipFill>
          <a:blip r:embed="rId2"/>
          <a:stretch>
            <a:fillRect/>
          </a:stretch>
        </p:blipFill>
        <p:spPr>
          <a:xfrm>
            <a:off x="228600" y="0"/>
            <a:ext cx="11800114"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5B62782-CAF9-332A-F614-57426F3732B1}"/>
              </a:ext>
            </a:extLst>
          </p:cNvPr>
          <p:cNvSpPr>
            <a:spLocks noGrp="1"/>
          </p:cNvSpPr>
          <p:nvPr>
            <p:ph type="title"/>
          </p:nvPr>
        </p:nvSpPr>
        <p:spPr>
          <a:xfrm>
            <a:off x="261257" y="108858"/>
            <a:ext cx="11484429" cy="925286"/>
          </a:xfrm>
        </p:spPr>
        <p:txBody>
          <a:bodyPr/>
          <a:lstStyle/>
          <a:p>
            <a:r>
              <a:rPr lang="en-US" altLang="en-US" dirty="0"/>
              <a:t>The “master gland”</a:t>
            </a:r>
          </a:p>
        </p:txBody>
      </p:sp>
      <p:pic>
        <p:nvPicPr>
          <p:cNvPr id="15363" name="Picture 2" descr="C:\Documents and Settings\hakanr\Desktop\TEACHING Folders\physio pics\Diencephalon\hypothalamic-complex.jpg">
            <a:extLst>
              <a:ext uri="{FF2B5EF4-FFF2-40B4-BE49-F238E27FC236}">
                <a16:creationId xmlns:a16="http://schemas.microsoft.com/office/drawing/2014/main" id="{04E6FC7E-A9B9-0285-0DED-4B5D6E13209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14399" y="1230087"/>
            <a:ext cx="10635343" cy="5421084"/>
          </a:xfr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18.jpg"/>
          <p:cNvPicPr>
            <a:picLocks noChangeAspect="1"/>
          </p:cNvPicPr>
          <p:nvPr/>
        </p:nvPicPr>
        <p:blipFill>
          <a:blip r:embed="rId2"/>
          <a:stretch>
            <a:fillRect/>
          </a:stretch>
        </p:blipFill>
        <p:spPr>
          <a:xfrm>
            <a:off x="315685" y="0"/>
            <a:ext cx="11462657"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4200F-26F9-4758-84BB-8C11F5AB984E}"/>
              </a:ext>
            </a:extLst>
          </p:cNvPr>
          <p:cNvSpPr>
            <a:spLocks noGrp="1"/>
          </p:cNvSpPr>
          <p:nvPr>
            <p:ph type="title"/>
          </p:nvPr>
        </p:nvSpPr>
        <p:spPr>
          <a:xfrm>
            <a:off x="174171" y="0"/>
            <a:ext cx="11723915" cy="1023258"/>
          </a:xfrm>
        </p:spPr>
        <p:txBody>
          <a:bodyPr>
            <a:normAutofit fontScale="90000"/>
          </a:bodyPr>
          <a:lstStyle/>
          <a:p>
            <a:br>
              <a:rPr lang="en-GB" dirty="0"/>
            </a:br>
            <a:r>
              <a:rPr lang="en-GB" b="1" dirty="0"/>
              <a:t>EPITHALAMUS</a:t>
            </a:r>
            <a:br>
              <a:rPr lang="en-GB" dirty="0"/>
            </a:br>
            <a:endParaRPr lang="en-GB" dirty="0"/>
          </a:p>
        </p:txBody>
      </p:sp>
      <p:sp>
        <p:nvSpPr>
          <p:cNvPr id="3" name="Content Placeholder 2">
            <a:extLst>
              <a:ext uri="{FF2B5EF4-FFF2-40B4-BE49-F238E27FC236}">
                <a16:creationId xmlns:a16="http://schemas.microsoft.com/office/drawing/2014/main" id="{39A78982-F9DD-5B6E-CF45-DB965E0840CA}"/>
              </a:ext>
            </a:extLst>
          </p:cNvPr>
          <p:cNvSpPr>
            <a:spLocks noGrp="1"/>
          </p:cNvSpPr>
          <p:nvPr>
            <p:ph idx="1"/>
          </p:nvPr>
        </p:nvSpPr>
        <p:spPr>
          <a:xfrm>
            <a:off x="293913" y="1230086"/>
            <a:ext cx="11723915" cy="5399314"/>
          </a:xfrm>
        </p:spPr>
        <p:txBody>
          <a:bodyPr/>
          <a:lstStyle/>
          <a:p>
            <a:r>
              <a:rPr lang="en-GB" sz="3200" dirty="0"/>
              <a:t>The epithalamus lies in relation to the posterior part of the roof of the third ventricle and the little adjoining part of its lateral wall. It consists of the following parts:</a:t>
            </a:r>
          </a:p>
          <a:p>
            <a:endParaRPr lang="en-GB" sz="3200" dirty="0"/>
          </a:p>
          <a:p>
            <a:endParaRPr lang="en-GB" sz="3200" dirty="0"/>
          </a:p>
          <a:p>
            <a:pPr lvl="0"/>
            <a:r>
              <a:rPr lang="en-GB" sz="3200" dirty="0"/>
              <a:t>Stria medullaris</a:t>
            </a:r>
          </a:p>
          <a:p>
            <a:pPr lvl="0"/>
            <a:r>
              <a:rPr lang="en-GB" sz="3200" dirty="0"/>
              <a:t>Posterior commissure </a:t>
            </a:r>
          </a:p>
          <a:p>
            <a:pPr lvl="0"/>
            <a:r>
              <a:rPr lang="en-GB" sz="3200" dirty="0"/>
              <a:t>Habenular nuclei (medial and lateral)</a:t>
            </a:r>
          </a:p>
          <a:p>
            <a:pPr lvl="0"/>
            <a:r>
              <a:rPr lang="en-GB" sz="3200" dirty="0"/>
              <a:t>Pineal body</a:t>
            </a:r>
          </a:p>
          <a:p>
            <a:pPr lvl="0"/>
            <a:r>
              <a:rPr lang="en-GB" sz="3200" dirty="0"/>
              <a:t>Paraventricular nuclei (anterior and posterior)</a:t>
            </a:r>
          </a:p>
          <a:p>
            <a:endParaRPr lang="en-GB" dirty="0"/>
          </a:p>
        </p:txBody>
      </p:sp>
    </p:spTree>
    <p:extLst>
      <p:ext uri="{BB962C8B-B14F-4D97-AF65-F5344CB8AC3E}">
        <p14:creationId xmlns:p14="http://schemas.microsoft.com/office/powerpoint/2010/main" val="39245446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19.jpg"/>
          <p:cNvPicPr>
            <a:picLocks noChangeAspect="1"/>
          </p:cNvPicPr>
          <p:nvPr/>
        </p:nvPicPr>
        <p:blipFill>
          <a:blip r:embed="rId2"/>
          <a:stretch>
            <a:fillRect/>
          </a:stretch>
        </p:blipFill>
        <p:spPr>
          <a:xfrm>
            <a:off x="152399" y="0"/>
            <a:ext cx="11843657"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 y="365125"/>
            <a:ext cx="11789229" cy="854075"/>
          </a:xfrm>
        </p:spPr>
        <p:txBody>
          <a:bodyPr/>
          <a:lstStyle/>
          <a:p>
            <a:r>
              <a:rPr dirty="0"/>
              <a:t>Epithalamus and Subthalamus</a:t>
            </a:r>
          </a:p>
        </p:txBody>
      </p:sp>
      <p:sp>
        <p:nvSpPr>
          <p:cNvPr id="3" name="Content Placeholder 2"/>
          <p:cNvSpPr>
            <a:spLocks noGrp="1"/>
          </p:cNvSpPr>
          <p:nvPr>
            <p:ph idx="1"/>
          </p:nvPr>
        </p:nvSpPr>
        <p:spPr>
          <a:xfrm>
            <a:off x="250371" y="1393371"/>
            <a:ext cx="11647715" cy="5290458"/>
          </a:xfrm>
        </p:spPr>
        <p:txBody>
          <a:bodyPr>
            <a:normAutofit/>
          </a:bodyPr>
          <a:lstStyle/>
          <a:p>
            <a:pPr>
              <a:defRPr sz="2000"/>
            </a:pPr>
            <a:r>
              <a:rPr sz="3600" dirty="0"/>
              <a:t>Epithalamus: Pineal gland (melatonin secretion), Habenular nuclei (limbic integration)</a:t>
            </a:r>
            <a:endParaRPr lang="en-US" sz="3600" dirty="0"/>
          </a:p>
          <a:p>
            <a:pPr>
              <a:defRPr sz="2000"/>
            </a:pPr>
            <a:endParaRPr lang="en-US" sz="3600" dirty="0"/>
          </a:p>
          <a:p>
            <a:pPr>
              <a:defRPr sz="2000"/>
            </a:pPr>
            <a:endParaRPr sz="3600" dirty="0"/>
          </a:p>
          <a:p>
            <a:pPr>
              <a:defRPr sz="2000"/>
            </a:pPr>
            <a:r>
              <a:rPr sz="3600" dirty="0"/>
              <a:t>Subthalamus: Subthalamic nucleus, functionally linked to basal ganglia; lesions cause hemiballismus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143" y="365125"/>
            <a:ext cx="11571514" cy="1325563"/>
          </a:xfrm>
        </p:spPr>
        <p:txBody>
          <a:bodyPr/>
          <a:lstStyle/>
          <a:p>
            <a:r>
              <a:rPr lang="en-US" b="1" dirty="0"/>
              <a:t>BLOOD SUPPLY AND VENOUS DRAINAGE</a:t>
            </a:r>
          </a:p>
        </p:txBody>
      </p:sp>
      <p:sp>
        <p:nvSpPr>
          <p:cNvPr id="3" name="Content Placeholder 2"/>
          <p:cNvSpPr>
            <a:spLocks noGrp="1"/>
          </p:cNvSpPr>
          <p:nvPr>
            <p:ph idx="1"/>
          </p:nvPr>
        </p:nvSpPr>
        <p:spPr>
          <a:xfrm>
            <a:off x="272143" y="1825624"/>
            <a:ext cx="11767457" cy="4814661"/>
          </a:xfrm>
        </p:spPr>
        <p:txBody>
          <a:bodyPr>
            <a:normAutofit/>
          </a:bodyPr>
          <a:lstStyle/>
          <a:p>
            <a:pPr>
              <a:defRPr sz="2000"/>
            </a:pPr>
            <a:r>
              <a:rPr sz="3600" dirty="0"/>
              <a:t>Arterial supply: Posterior cerebral, Posterior communicating, Anterior choroidal arteries</a:t>
            </a:r>
            <a:endParaRPr lang="en-US" sz="3600" dirty="0"/>
          </a:p>
          <a:p>
            <a:pPr>
              <a:defRPr sz="2000"/>
            </a:pPr>
            <a:endParaRPr lang="en-US" sz="3600" dirty="0"/>
          </a:p>
          <a:p>
            <a:pPr>
              <a:defRPr sz="2000"/>
            </a:pPr>
            <a:endParaRPr sz="3600" dirty="0"/>
          </a:p>
          <a:p>
            <a:pPr>
              <a:defRPr sz="2000"/>
            </a:pPr>
            <a:r>
              <a:rPr sz="3600" dirty="0"/>
              <a:t>Venous drainage: Internal cerebral and basal veins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571" y="152400"/>
            <a:ext cx="11473543" cy="1088572"/>
          </a:xfrm>
        </p:spPr>
        <p:txBody>
          <a:bodyPr/>
          <a:lstStyle/>
          <a:p>
            <a:r>
              <a:rPr lang="en-GB" b="1" dirty="0"/>
              <a:t>EMBRYOLOGICAL</a:t>
            </a:r>
            <a:r>
              <a:rPr lang="en-GB" dirty="0"/>
              <a:t> </a:t>
            </a:r>
            <a:r>
              <a:rPr lang="en-GB" b="1" dirty="0"/>
              <a:t>DEVELOPMENT</a:t>
            </a:r>
          </a:p>
        </p:txBody>
      </p:sp>
      <p:sp>
        <p:nvSpPr>
          <p:cNvPr id="3" name="Content Placeholder 2"/>
          <p:cNvSpPr>
            <a:spLocks noGrp="1"/>
          </p:cNvSpPr>
          <p:nvPr>
            <p:ph idx="1"/>
          </p:nvPr>
        </p:nvSpPr>
        <p:spPr>
          <a:xfrm>
            <a:off x="326571" y="1393372"/>
            <a:ext cx="11636829" cy="5312228"/>
          </a:xfrm>
        </p:spPr>
        <p:txBody>
          <a:bodyPr>
            <a:normAutofit/>
          </a:bodyPr>
          <a:lstStyle/>
          <a:p>
            <a:pPr>
              <a:defRPr sz="2000"/>
            </a:pPr>
            <a:r>
              <a:rPr sz="3600" dirty="0"/>
              <a:t>Derived from prosencephalon (forebrain)</a:t>
            </a:r>
            <a:endParaRPr lang="en-US" sz="3600" dirty="0"/>
          </a:p>
          <a:p>
            <a:pPr>
              <a:defRPr sz="2000"/>
            </a:pPr>
            <a:endParaRPr sz="3600" dirty="0"/>
          </a:p>
          <a:p>
            <a:pPr>
              <a:defRPr sz="2000"/>
            </a:pPr>
            <a:r>
              <a:rPr sz="3600" dirty="0"/>
              <a:t>Differentiates into thalamic and hypothalamic regions</a:t>
            </a:r>
            <a:endParaRPr lang="en-US" sz="3600" dirty="0"/>
          </a:p>
          <a:p>
            <a:pPr>
              <a:defRPr sz="2000"/>
            </a:pPr>
            <a:endParaRPr sz="3600" dirty="0"/>
          </a:p>
          <a:p>
            <a:pPr>
              <a:defRPr sz="2000"/>
            </a:pPr>
            <a:r>
              <a:rPr sz="3600" dirty="0"/>
              <a:t>Important in organizing cortical-subcortical connections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743" y="365126"/>
            <a:ext cx="11843657" cy="1060904"/>
          </a:xfrm>
        </p:spPr>
        <p:txBody>
          <a:bodyPr/>
          <a:lstStyle/>
          <a:p>
            <a:r>
              <a:rPr lang="en-GB" b="1" dirty="0"/>
              <a:t>CLINICAL CORRELATIONS AND IMAGING</a:t>
            </a:r>
          </a:p>
        </p:txBody>
      </p:sp>
      <p:sp>
        <p:nvSpPr>
          <p:cNvPr id="3" name="Content Placeholder 2"/>
          <p:cNvSpPr>
            <a:spLocks noGrp="1"/>
          </p:cNvSpPr>
          <p:nvPr>
            <p:ph idx="1"/>
          </p:nvPr>
        </p:nvSpPr>
        <p:spPr>
          <a:xfrm>
            <a:off x="119743" y="1556658"/>
            <a:ext cx="11843657" cy="5159828"/>
          </a:xfrm>
        </p:spPr>
        <p:txBody>
          <a:bodyPr>
            <a:normAutofit/>
          </a:bodyPr>
          <a:lstStyle/>
          <a:p>
            <a:pPr>
              <a:defRPr sz="2000"/>
            </a:pPr>
            <a:r>
              <a:rPr sz="3600" dirty="0"/>
              <a:t>Thalamic syndrome: Contralateral sensory loss and pain</a:t>
            </a:r>
            <a:endParaRPr lang="en-US" sz="3600" dirty="0"/>
          </a:p>
          <a:p>
            <a:pPr>
              <a:defRPr sz="2000"/>
            </a:pPr>
            <a:endParaRPr sz="3600" dirty="0"/>
          </a:p>
          <a:p>
            <a:pPr>
              <a:defRPr sz="2000"/>
            </a:pPr>
            <a:r>
              <a:rPr sz="3600" dirty="0"/>
              <a:t>Hypothalamic dysfunction: Temperature, appetite, hormonal imbalance</a:t>
            </a:r>
            <a:endParaRPr lang="en-US" sz="3600" dirty="0"/>
          </a:p>
          <a:p>
            <a:pPr>
              <a:defRPr sz="2000"/>
            </a:pPr>
            <a:endParaRPr sz="3600" dirty="0"/>
          </a:p>
          <a:p>
            <a:pPr>
              <a:defRPr sz="2000"/>
            </a:pPr>
            <a:r>
              <a:rPr sz="3600" dirty="0"/>
              <a:t>MRI/CT often reveal structural lesions or infarcts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20.jpg"/>
          <p:cNvPicPr>
            <a:picLocks noChangeAspect="1"/>
          </p:cNvPicPr>
          <p:nvPr/>
        </p:nvPicPr>
        <p:blipFill>
          <a:blip r:embed="rId2"/>
          <a:stretch>
            <a:fillRect/>
          </a:stretch>
        </p:blipFill>
        <p:spPr>
          <a:xfrm>
            <a:off x="185057" y="-43543"/>
            <a:ext cx="11702143"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257" y="152401"/>
            <a:ext cx="11092543" cy="1121229"/>
          </a:xfrm>
        </p:spPr>
        <p:txBody>
          <a:bodyPr/>
          <a:lstStyle/>
          <a:p>
            <a:r>
              <a:rPr lang="en-US" b="1" dirty="0"/>
              <a:t>CONCLUSION</a:t>
            </a:r>
            <a:endParaRPr b="1" dirty="0"/>
          </a:p>
        </p:txBody>
      </p:sp>
      <p:sp>
        <p:nvSpPr>
          <p:cNvPr id="3" name="Content Placeholder 2"/>
          <p:cNvSpPr>
            <a:spLocks noGrp="1"/>
          </p:cNvSpPr>
          <p:nvPr>
            <p:ph idx="1"/>
          </p:nvPr>
        </p:nvSpPr>
        <p:spPr>
          <a:xfrm>
            <a:off x="261257" y="1524000"/>
            <a:ext cx="11702143" cy="5181599"/>
          </a:xfrm>
        </p:spPr>
        <p:txBody>
          <a:bodyPr>
            <a:noAutofit/>
          </a:bodyPr>
          <a:lstStyle/>
          <a:p>
            <a:pPr>
              <a:defRPr sz="2000"/>
            </a:pPr>
            <a:r>
              <a:rPr sz="3600" dirty="0"/>
              <a:t>The diencephalon is a central integrative hub for sensory, motor, and autonomic functions</a:t>
            </a:r>
            <a:endParaRPr lang="en-US" sz="3600" dirty="0"/>
          </a:p>
          <a:p>
            <a:pPr>
              <a:defRPr sz="2000"/>
            </a:pPr>
            <a:endParaRPr sz="3600" dirty="0"/>
          </a:p>
          <a:p>
            <a:pPr>
              <a:defRPr sz="2000"/>
            </a:pPr>
            <a:r>
              <a:rPr sz="3600" dirty="0"/>
              <a:t>Thalamus relays information, hypothalamus regulates homeostasis, epithalamus modulates emotion</a:t>
            </a:r>
            <a:endParaRPr lang="en-US" sz="3600" dirty="0"/>
          </a:p>
          <a:p>
            <a:pPr>
              <a:defRPr sz="2000"/>
            </a:pPr>
            <a:endParaRPr sz="3600" dirty="0"/>
          </a:p>
          <a:p>
            <a:pPr>
              <a:defRPr sz="2000"/>
            </a:pPr>
            <a:r>
              <a:rPr sz="3600" dirty="0"/>
              <a:t>Clinical imaging and pathways provide insight into its complexity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603FB-B972-B072-2607-CA372937FF4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DEA377E-2510-F60A-6074-DDBF68CE9B14}"/>
              </a:ext>
            </a:extLst>
          </p:cNvPr>
          <p:cNvSpPr>
            <a:spLocks noGrp="1"/>
          </p:cNvSpPr>
          <p:nvPr>
            <p:ph idx="1"/>
          </p:nvPr>
        </p:nvSpPr>
        <p:spPr/>
        <p:txBody>
          <a:bodyPr>
            <a:normAutofit/>
          </a:bodyPr>
          <a:lstStyle/>
          <a:p>
            <a:pPr algn="ctr"/>
            <a:r>
              <a:rPr lang="en-GB" sz="7200" dirty="0"/>
              <a:t>THANK YOU</a:t>
            </a:r>
          </a:p>
        </p:txBody>
      </p:sp>
    </p:spTree>
    <p:extLst>
      <p:ext uri="{BB962C8B-B14F-4D97-AF65-F5344CB8AC3E}">
        <p14:creationId xmlns:p14="http://schemas.microsoft.com/office/powerpoint/2010/main" val="913168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18187</TotalTime>
  <Words>677</Words>
  <Application>Microsoft Office PowerPoint</Application>
  <PresentationFormat>Widescreen</PresentationFormat>
  <Paragraphs>130</Paragraphs>
  <Slides>45</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Aptos</vt:lpstr>
      <vt:lpstr>Aptos Display</vt:lpstr>
      <vt:lpstr>Arial</vt:lpstr>
      <vt:lpstr>Office Theme</vt:lpstr>
      <vt:lpstr>DIENCEPHALON</vt:lpstr>
      <vt:lpstr>OUTLINE</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PARTS OF DIENCEPHALON</vt:lpstr>
      <vt:lpstr>THALAMUS: Structure and Nuclei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THALAMUS-complex set of subnuclei</vt:lpstr>
      <vt:lpstr>Thalamic nuclei</vt:lpstr>
      <vt:lpstr>FUNCTIONAL PATHWAYS OF THE THALAMUS</vt:lpstr>
      <vt:lpstr>PowerPoint Presentation</vt:lpstr>
      <vt:lpstr>THALAMO-CORTICAL SPECIFICITY</vt:lpstr>
      <vt:lpstr>PowerPoint Presentation</vt:lpstr>
      <vt:lpstr>PowerPoint Presentation</vt:lpstr>
      <vt:lpstr>HYPOTHALAMUS: Anatomy and Zones</vt:lpstr>
      <vt:lpstr>PowerPoint Presentation</vt:lpstr>
      <vt:lpstr>The hypothalamus-subnuclei</vt:lpstr>
      <vt:lpstr>Hypothalamic Connections and Pathways</vt:lpstr>
      <vt:lpstr>Neuroendocrine axis</vt:lpstr>
      <vt:lpstr>PowerPoint Presentation</vt:lpstr>
      <vt:lpstr>PowerPoint Presentation</vt:lpstr>
      <vt:lpstr>The “master gland”</vt:lpstr>
      <vt:lpstr>PowerPoint Presentation</vt:lpstr>
      <vt:lpstr> EPITHALAMUS </vt:lpstr>
      <vt:lpstr>PowerPoint Presentation</vt:lpstr>
      <vt:lpstr>Epithalamus and Subthalamus</vt:lpstr>
      <vt:lpstr>BLOOD SUPPLY AND VENOUS DRAINAGE</vt:lpstr>
      <vt:lpstr>EMBRYOLOGICAL DEVELOPMENT</vt:lpstr>
      <vt:lpstr>CLINICAL CORRELATIONS AND IMAGING</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Rotimi Oso</dc:creator>
  <cp:lastModifiedBy>Rotimi Oso</cp:lastModifiedBy>
  <cp:revision>20</cp:revision>
  <dcterms:created xsi:type="dcterms:W3CDTF">2025-10-11T18:00:53Z</dcterms:created>
  <dcterms:modified xsi:type="dcterms:W3CDTF">2025-10-24T09:44:19Z</dcterms:modified>
</cp:coreProperties>
</file>