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63" r:id="rId4"/>
    <p:sldId id="258" r:id="rId5"/>
    <p:sldId id="259" r:id="rId6"/>
    <p:sldId id="260" r:id="rId7"/>
    <p:sldId id="261" r:id="rId8"/>
    <p:sldId id="262" r:id="rId9"/>
    <p:sldId id="264" r:id="rId10"/>
    <p:sldId id="265" r:id="rId11"/>
    <p:sldId id="266" r:id="rId12"/>
    <p:sldId id="267" r:id="rId13"/>
    <p:sldId id="269" r:id="rId14"/>
    <p:sldId id="268"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105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DD5F704-57B0-459A-AA2F-A6CC9E1EF1DC}" type="datetimeFigureOut">
              <a:rPr lang="en-US" smtClean="0"/>
              <a:t>8/7/2022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3F1387-6172-4023-BF16-A87C6469B609}" type="slidenum">
              <a:rPr lang="en-US" smtClean="0"/>
              <a:t>‹#›</a:t>
            </a:fld>
            <a:endParaRPr lang="en-US"/>
          </a:p>
        </p:txBody>
      </p:sp>
    </p:spTree>
    <p:extLst>
      <p:ext uri="{BB962C8B-B14F-4D97-AF65-F5344CB8AC3E}">
        <p14:creationId xmlns:p14="http://schemas.microsoft.com/office/powerpoint/2010/main" val="7198955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DD5F704-57B0-459A-AA2F-A6CC9E1EF1DC}" type="datetimeFigureOut">
              <a:rPr lang="en-US" smtClean="0"/>
              <a:t>8/7/2022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3F1387-6172-4023-BF16-A87C6469B609}" type="slidenum">
              <a:rPr lang="en-US" smtClean="0"/>
              <a:t>‹#›</a:t>
            </a:fld>
            <a:endParaRPr lang="en-US"/>
          </a:p>
        </p:txBody>
      </p:sp>
    </p:spTree>
    <p:extLst>
      <p:ext uri="{BB962C8B-B14F-4D97-AF65-F5344CB8AC3E}">
        <p14:creationId xmlns:p14="http://schemas.microsoft.com/office/powerpoint/2010/main" val="25229442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DD5F704-57B0-459A-AA2F-A6CC9E1EF1DC}" type="datetimeFigureOut">
              <a:rPr lang="en-US" smtClean="0"/>
              <a:t>8/7/2022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3F1387-6172-4023-BF16-A87C6469B609}" type="slidenum">
              <a:rPr lang="en-US" smtClean="0"/>
              <a:t>‹#›</a:t>
            </a:fld>
            <a:endParaRPr lang="en-US"/>
          </a:p>
        </p:txBody>
      </p:sp>
    </p:spTree>
    <p:extLst>
      <p:ext uri="{BB962C8B-B14F-4D97-AF65-F5344CB8AC3E}">
        <p14:creationId xmlns:p14="http://schemas.microsoft.com/office/powerpoint/2010/main" val="36622215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DD5F704-57B0-459A-AA2F-A6CC9E1EF1DC}" type="datetimeFigureOut">
              <a:rPr lang="en-US" smtClean="0"/>
              <a:t>8/7/2022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93F1387-6172-4023-BF16-A87C6469B609}" type="slidenum">
              <a:rPr lang="en-US" smtClean="0"/>
              <a:t>‹#›</a:t>
            </a:fld>
            <a:endParaRPr lang="en-US"/>
          </a:p>
        </p:txBody>
      </p:sp>
    </p:spTree>
    <p:extLst>
      <p:ext uri="{BB962C8B-B14F-4D97-AF65-F5344CB8AC3E}">
        <p14:creationId xmlns:p14="http://schemas.microsoft.com/office/powerpoint/2010/main" val="3277658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DD5F704-57B0-459A-AA2F-A6CC9E1EF1DC}" type="datetimeFigureOut">
              <a:rPr lang="en-US" smtClean="0"/>
              <a:t>8/7/2022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93F1387-6172-4023-BF16-A87C6469B609}" type="slidenum">
              <a:rPr lang="en-US" smtClean="0"/>
              <a:t>‹#›</a:t>
            </a:fld>
            <a:endParaRPr lang="en-US"/>
          </a:p>
        </p:txBody>
      </p:sp>
    </p:spTree>
    <p:extLst>
      <p:ext uri="{BB962C8B-B14F-4D97-AF65-F5344CB8AC3E}">
        <p14:creationId xmlns:p14="http://schemas.microsoft.com/office/powerpoint/2010/main" val="332794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DD5F704-57B0-459A-AA2F-A6CC9E1EF1DC}" type="datetimeFigureOut">
              <a:rPr lang="en-US" smtClean="0"/>
              <a:t>8/7/2022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93F1387-6172-4023-BF16-A87C6469B609}" type="slidenum">
              <a:rPr lang="en-US" smtClean="0"/>
              <a:t>‹#›</a:t>
            </a:fld>
            <a:endParaRPr lang="en-US"/>
          </a:p>
        </p:txBody>
      </p:sp>
    </p:spTree>
    <p:extLst>
      <p:ext uri="{BB962C8B-B14F-4D97-AF65-F5344CB8AC3E}">
        <p14:creationId xmlns:p14="http://schemas.microsoft.com/office/powerpoint/2010/main" val="1858525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D5F704-57B0-459A-AA2F-A6CC9E1EF1DC}" type="datetimeFigureOut">
              <a:rPr lang="en-US" smtClean="0"/>
              <a:t>8/7/2022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93F1387-6172-4023-BF16-A87C6469B609}" type="slidenum">
              <a:rPr lang="en-US" smtClean="0"/>
              <a:t>‹#›</a:t>
            </a:fld>
            <a:endParaRPr lang="en-US"/>
          </a:p>
        </p:txBody>
      </p:sp>
    </p:spTree>
    <p:extLst>
      <p:ext uri="{BB962C8B-B14F-4D97-AF65-F5344CB8AC3E}">
        <p14:creationId xmlns:p14="http://schemas.microsoft.com/office/powerpoint/2010/main" val="9203675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DD5F704-57B0-459A-AA2F-A6CC9E1EF1DC}" type="datetimeFigureOut">
              <a:rPr lang="en-US" smtClean="0"/>
              <a:t>8/7/2022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93F1387-6172-4023-BF16-A87C6469B609}" type="slidenum">
              <a:rPr lang="en-US" smtClean="0"/>
              <a:t>‹#›</a:t>
            </a:fld>
            <a:endParaRPr lang="en-US"/>
          </a:p>
        </p:txBody>
      </p:sp>
    </p:spTree>
    <p:extLst>
      <p:ext uri="{BB962C8B-B14F-4D97-AF65-F5344CB8AC3E}">
        <p14:creationId xmlns:p14="http://schemas.microsoft.com/office/powerpoint/2010/main" val="36822712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DD5F704-57B0-459A-AA2F-A6CC9E1EF1DC}" type="datetimeFigureOut">
              <a:rPr lang="en-US" smtClean="0"/>
              <a:t>8/7/2022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93F1387-6172-4023-BF16-A87C6469B609}" type="slidenum">
              <a:rPr lang="en-US" smtClean="0"/>
              <a:t>‹#›</a:t>
            </a:fld>
            <a:endParaRPr lang="en-US"/>
          </a:p>
        </p:txBody>
      </p:sp>
    </p:spTree>
    <p:extLst>
      <p:ext uri="{BB962C8B-B14F-4D97-AF65-F5344CB8AC3E}">
        <p14:creationId xmlns:p14="http://schemas.microsoft.com/office/powerpoint/2010/main" val="532076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DD5F704-57B0-459A-AA2F-A6CC9E1EF1DC}" type="datetimeFigureOut">
              <a:rPr lang="en-US" smtClean="0"/>
              <a:t>8/7/2022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3F1387-6172-4023-BF16-A87C6469B609}" type="slidenum">
              <a:rPr lang="en-US" smtClean="0"/>
              <a:t>‹#›</a:t>
            </a:fld>
            <a:endParaRPr lang="en-US"/>
          </a:p>
        </p:txBody>
      </p:sp>
    </p:spTree>
    <p:extLst>
      <p:ext uri="{BB962C8B-B14F-4D97-AF65-F5344CB8AC3E}">
        <p14:creationId xmlns:p14="http://schemas.microsoft.com/office/powerpoint/2010/main" val="224255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DD5F704-57B0-459A-AA2F-A6CC9E1EF1DC}" type="datetimeFigureOut">
              <a:rPr lang="en-US" smtClean="0"/>
              <a:t>8/7/2022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3F1387-6172-4023-BF16-A87C6469B609}" type="slidenum">
              <a:rPr lang="en-US" smtClean="0"/>
              <a:t>‹#›</a:t>
            </a:fld>
            <a:endParaRPr lang="en-US"/>
          </a:p>
        </p:txBody>
      </p:sp>
    </p:spTree>
    <p:extLst>
      <p:ext uri="{BB962C8B-B14F-4D97-AF65-F5344CB8AC3E}">
        <p14:creationId xmlns:p14="http://schemas.microsoft.com/office/powerpoint/2010/main" val="37815029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D5F704-57B0-459A-AA2F-A6CC9E1EF1DC}" type="datetimeFigureOut">
              <a:rPr lang="en-US" smtClean="0"/>
              <a:t>8/7/2022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3F1387-6172-4023-BF16-A87C6469B609}" type="slidenum">
              <a:rPr lang="en-US" smtClean="0"/>
              <a:t>‹#›</a:t>
            </a:fld>
            <a:endParaRPr lang="en-US"/>
          </a:p>
        </p:txBody>
      </p:sp>
    </p:spTree>
    <p:extLst>
      <p:ext uri="{BB962C8B-B14F-4D97-AF65-F5344CB8AC3E}">
        <p14:creationId xmlns:p14="http://schemas.microsoft.com/office/powerpoint/2010/main" val="206403897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file:///C:\en\library\anatomy\cerebral-cortex" TargetMode="External"/><Relationship Id="rId2" Type="http://schemas.openxmlformats.org/officeDocument/2006/relationships/hyperlink" Target="file:///C:\en\library\anatomy\hypothalamus"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file:///C:\en\library\anatomy\hippocampus-structure-and-functions" TargetMode="External"/><Relationship Id="rId2" Type="http://schemas.openxmlformats.org/officeDocument/2006/relationships/hyperlink" Target="file:///C:\en\library\anatomy\subcortical-structures-anatomy"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file:///C:\en\library\anatomy\hypothalamus" TargetMode="External"/><Relationship Id="rId2" Type="http://schemas.openxmlformats.org/officeDocument/2006/relationships/hyperlink" Target="file:///C:\en\library\anatomy\anatomy-of-amygdaloidal-complex" TargetMode="External"/><Relationship Id="rId1" Type="http://schemas.openxmlformats.org/officeDocument/2006/relationships/slideLayout" Target="../slideLayouts/slideLayout1.xml"/><Relationship Id="rId4" Type="http://schemas.openxmlformats.org/officeDocument/2006/relationships/hyperlink" Target="file:///C:\en\library\anatomy\thalamic-nuclei"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hyperlink" Target="file:///C:\en\library\anatomy\anatomical-terminology" TargetMode="Externa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LIMBIC TWO</a:t>
            </a:r>
            <a:endParaRPr lang="en-US" dirty="0"/>
          </a:p>
        </p:txBody>
      </p:sp>
    </p:spTree>
    <p:extLst>
      <p:ext uri="{BB962C8B-B14F-4D97-AF65-F5344CB8AC3E}">
        <p14:creationId xmlns:p14="http://schemas.microsoft.com/office/powerpoint/2010/main" val="39359752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04800" y="533400"/>
            <a:ext cx="8382000" cy="5867400"/>
          </a:xfrm>
        </p:spPr>
        <p:txBody>
          <a:bodyPr>
            <a:normAutofit fontScale="92500"/>
          </a:bodyPr>
          <a:lstStyle/>
          <a:p>
            <a:pPr>
              <a:lnSpc>
                <a:spcPct val="150000"/>
              </a:lnSpc>
            </a:pPr>
            <a:r>
              <a:rPr lang="en-US" b="1" dirty="0">
                <a:solidFill>
                  <a:schemeClr val="tx1"/>
                </a:solidFill>
              </a:rPr>
              <a:t>The ability to feel and express emotion is a unique feature </a:t>
            </a:r>
            <a:r>
              <a:rPr lang="en-US" b="1" dirty="0" smtClean="0">
                <a:solidFill>
                  <a:schemeClr val="tx1"/>
                </a:solidFill>
              </a:rPr>
              <a:t>in certain animals</a:t>
            </a:r>
            <a:r>
              <a:rPr lang="en-US" b="1" dirty="0">
                <a:solidFill>
                  <a:schemeClr val="tx1"/>
                </a:solidFill>
              </a:rPr>
              <a:t>. Humans in particular experience and express </a:t>
            </a:r>
            <a:r>
              <a:rPr lang="en-US" b="1" dirty="0" smtClean="0">
                <a:solidFill>
                  <a:schemeClr val="tx1"/>
                </a:solidFill>
              </a:rPr>
              <a:t>a </a:t>
            </a:r>
            <a:r>
              <a:rPr lang="en-US" b="1" dirty="0">
                <a:solidFill>
                  <a:schemeClr val="tx1"/>
                </a:solidFill>
              </a:rPr>
              <a:t>plethora of emotions that help to shape an individual’s behavior. The region of the brain believed to be responsible for these activities formed a physical border between the </a:t>
            </a:r>
            <a:r>
              <a:rPr lang="en-US" b="1" u="sng" dirty="0">
                <a:solidFill>
                  <a:schemeClr val="tx1"/>
                </a:solidFill>
                <a:hlinkClick r:id="rId2"/>
              </a:rPr>
              <a:t>hypothalamus</a:t>
            </a:r>
            <a:r>
              <a:rPr lang="en-US" b="1" dirty="0">
                <a:solidFill>
                  <a:schemeClr val="tx1"/>
                </a:solidFill>
              </a:rPr>
              <a:t> and the </a:t>
            </a:r>
            <a:r>
              <a:rPr lang="en-US" b="1" u="sng" dirty="0">
                <a:solidFill>
                  <a:schemeClr val="tx1"/>
                </a:solidFill>
                <a:hlinkClick r:id="rId3"/>
              </a:rPr>
              <a:t>cerebrum</a:t>
            </a:r>
            <a:r>
              <a:rPr lang="en-US" b="1" dirty="0">
                <a:solidFill>
                  <a:schemeClr val="tx1"/>
                </a:solidFill>
              </a:rPr>
              <a:t>. </a:t>
            </a:r>
            <a:endParaRPr lang="en-US" b="1" dirty="0" smtClean="0">
              <a:solidFill>
                <a:schemeClr val="tx1"/>
              </a:solidFill>
            </a:endParaRPr>
          </a:p>
          <a:p>
            <a:pPr>
              <a:lnSpc>
                <a:spcPct val="150000"/>
              </a:lnSpc>
            </a:pPr>
            <a:r>
              <a:rPr lang="en-US" b="1" dirty="0" smtClean="0">
                <a:solidFill>
                  <a:schemeClr val="tx1"/>
                </a:solidFill>
              </a:rPr>
              <a:t>They were called limbic after the Latin for edge.</a:t>
            </a:r>
            <a:endParaRPr lang="en-US" b="1" dirty="0">
              <a:solidFill>
                <a:schemeClr val="tx1"/>
              </a:solidFill>
            </a:endParaRPr>
          </a:p>
        </p:txBody>
      </p:sp>
    </p:spTree>
    <p:extLst>
      <p:ext uri="{BB962C8B-B14F-4D97-AF65-F5344CB8AC3E}">
        <p14:creationId xmlns:p14="http://schemas.microsoft.com/office/powerpoint/2010/main" val="20478924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04800" y="533400"/>
            <a:ext cx="8382000" cy="5867400"/>
          </a:xfrm>
        </p:spPr>
        <p:txBody>
          <a:bodyPr>
            <a:normAutofit fontScale="92500"/>
          </a:bodyPr>
          <a:lstStyle/>
          <a:p>
            <a:pPr>
              <a:lnSpc>
                <a:spcPct val="150000"/>
              </a:lnSpc>
            </a:pPr>
            <a:r>
              <a:rPr lang="en-US" b="1" dirty="0">
                <a:solidFill>
                  <a:schemeClr val="tx1"/>
                </a:solidFill>
              </a:rPr>
              <a:t>The limbic lobe refers to a specific group of anatomical </a:t>
            </a:r>
            <a:r>
              <a:rPr lang="en-US" b="1" dirty="0" smtClean="0">
                <a:solidFill>
                  <a:schemeClr val="tx1"/>
                </a:solidFill>
              </a:rPr>
              <a:t>structures, </a:t>
            </a:r>
            <a:r>
              <a:rPr lang="en-US" b="1" dirty="0">
                <a:solidFill>
                  <a:schemeClr val="tx1"/>
                </a:solidFill>
              </a:rPr>
              <a:t>found in the region of the cortex on the medial aspect of cerebral hemisphere forming a rim around the corpus callosum. It also includes cingulate and </a:t>
            </a:r>
            <a:r>
              <a:rPr lang="en-US" b="1" dirty="0" err="1">
                <a:solidFill>
                  <a:schemeClr val="tx1"/>
                </a:solidFill>
              </a:rPr>
              <a:t>parahippocampal</a:t>
            </a:r>
            <a:r>
              <a:rPr lang="en-US" b="1" dirty="0">
                <a:solidFill>
                  <a:schemeClr val="tx1"/>
                </a:solidFill>
              </a:rPr>
              <a:t> </a:t>
            </a:r>
            <a:r>
              <a:rPr lang="en-US" b="1" dirty="0" err="1">
                <a:solidFill>
                  <a:schemeClr val="tx1"/>
                </a:solidFill>
              </a:rPr>
              <a:t>gyri</a:t>
            </a:r>
            <a:r>
              <a:rPr lang="en-US" b="1" dirty="0">
                <a:solidFill>
                  <a:schemeClr val="tx1"/>
                </a:solidFill>
              </a:rPr>
              <a:t>. These structures also </a:t>
            </a:r>
            <a:r>
              <a:rPr lang="en-US" b="1" dirty="0" smtClean="0">
                <a:solidFill>
                  <a:schemeClr val="tx1"/>
                </a:solidFill>
              </a:rPr>
              <a:t>have functional </a:t>
            </a:r>
            <a:r>
              <a:rPr lang="en-US" b="1" dirty="0">
                <a:solidFill>
                  <a:schemeClr val="tx1"/>
                </a:solidFill>
              </a:rPr>
              <a:t>similarities associated with the formation of memories and the expression of a variety of emotions. </a:t>
            </a:r>
          </a:p>
        </p:txBody>
      </p:sp>
    </p:spTree>
    <p:extLst>
      <p:ext uri="{BB962C8B-B14F-4D97-AF65-F5344CB8AC3E}">
        <p14:creationId xmlns:p14="http://schemas.microsoft.com/office/powerpoint/2010/main" val="19500414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04800" y="533400"/>
            <a:ext cx="8382000" cy="5867400"/>
          </a:xfrm>
        </p:spPr>
        <p:txBody>
          <a:bodyPr>
            <a:normAutofit fontScale="92500"/>
          </a:bodyPr>
          <a:lstStyle/>
          <a:p>
            <a:pPr>
              <a:lnSpc>
                <a:spcPct val="150000"/>
              </a:lnSpc>
            </a:pPr>
            <a:r>
              <a:rPr lang="en-US" b="1" dirty="0">
                <a:solidFill>
                  <a:schemeClr val="tx1"/>
                </a:solidFill>
              </a:rPr>
              <a:t>The limbic system – </a:t>
            </a:r>
            <a:r>
              <a:rPr lang="en-US" b="1" dirty="0" smtClean="0">
                <a:solidFill>
                  <a:schemeClr val="tx1"/>
                </a:solidFill>
              </a:rPr>
              <a:t>Part of which was</a:t>
            </a:r>
            <a:r>
              <a:rPr lang="en-US" b="1" dirty="0" smtClean="0">
                <a:solidFill>
                  <a:schemeClr val="tx1"/>
                </a:solidFill>
              </a:rPr>
              <a:t> </a:t>
            </a:r>
            <a:r>
              <a:rPr lang="en-US" b="1" dirty="0">
                <a:solidFill>
                  <a:schemeClr val="tx1"/>
                </a:solidFill>
              </a:rPr>
              <a:t>known as the circle of </a:t>
            </a:r>
            <a:r>
              <a:rPr lang="en-US" b="1" dirty="0" err="1">
                <a:solidFill>
                  <a:schemeClr val="tx1"/>
                </a:solidFill>
              </a:rPr>
              <a:t>Papez</a:t>
            </a:r>
            <a:r>
              <a:rPr lang="en-US" b="1" dirty="0">
                <a:solidFill>
                  <a:schemeClr val="tx1"/>
                </a:solidFill>
              </a:rPr>
              <a:t> (or </a:t>
            </a:r>
            <a:r>
              <a:rPr lang="en-US" b="1" dirty="0" err="1">
                <a:solidFill>
                  <a:schemeClr val="tx1"/>
                </a:solidFill>
              </a:rPr>
              <a:t>Papez’s</a:t>
            </a:r>
            <a:r>
              <a:rPr lang="en-US" b="1" dirty="0">
                <a:solidFill>
                  <a:schemeClr val="tx1"/>
                </a:solidFill>
              </a:rPr>
              <a:t> Circuit) is considered to be the </a:t>
            </a:r>
            <a:r>
              <a:rPr lang="en-US" b="1" dirty="0" err="1">
                <a:solidFill>
                  <a:schemeClr val="tx1"/>
                </a:solidFill>
              </a:rPr>
              <a:t>epicentre</a:t>
            </a:r>
            <a:r>
              <a:rPr lang="en-US" b="1" dirty="0">
                <a:solidFill>
                  <a:schemeClr val="tx1"/>
                </a:solidFill>
              </a:rPr>
              <a:t> of emotional and behavioral expression. </a:t>
            </a:r>
            <a:endParaRPr lang="en-US" b="1" dirty="0" smtClean="0">
              <a:solidFill>
                <a:schemeClr val="tx1"/>
              </a:solidFill>
            </a:endParaRPr>
          </a:p>
          <a:p>
            <a:pPr>
              <a:lnSpc>
                <a:spcPct val="150000"/>
              </a:lnSpc>
            </a:pPr>
            <a:r>
              <a:rPr lang="en-US" b="1" dirty="0" smtClean="0">
                <a:solidFill>
                  <a:schemeClr val="tx1"/>
                </a:solidFill>
              </a:rPr>
              <a:t>It mediates several functions especially drive related ones such as hunger and feeding, anger and rage, and the responses that are expressed in sexual arousal and to potential sexual partners.</a:t>
            </a:r>
            <a:endParaRPr lang="en-US" b="1" dirty="0">
              <a:solidFill>
                <a:schemeClr val="tx1"/>
              </a:solidFill>
            </a:endParaRPr>
          </a:p>
        </p:txBody>
      </p:sp>
    </p:spTree>
    <p:extLst>
      <p:ext uri="{BB962C8B-B14F-4D97-AF65-F5344CB8AC3E}">
        <p14:creationId xmlns:p14="http://schemas.microsoft.com/office/powerpoint/2010/main" val="2297052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04800" y="228600"/>
            <a:ext cx="8382000" cy="6172200"/>
          </a:xfrm>
        </p:spPr>
        <p:txBody>
          <a:bodyPr>
            <a:normAutofit/>
          </a:bodyPr>
          <a:lstStyle/>
          <a:p>
            <a:pPr>
              <a:lnSpc>
                <a:spcPct val="150000"/>
              </a:lnSpc>
            </a:pPr>
            <a:r>
              <a:rPr lang="en-US" b="1" dirty="0">
                <a:solidFill>
                  <a:schemeClr val="tx1"/>
                </a:solidFill>
              </a:rPr>
              <a:t>It is able to complete these activities through intricate connections to other systems of the brain. Traditionally, it has been divided into two groups: a cortical and a </a:t>
            </a:r>
            <a:r>
              <a:rPr lang="en-US" b="1" dirty="0">
                <a:solidFill>
                  <a:schemeClr val="tx1"/>
                </a:solidFill>
                <a:hlinkClick r:id="rId2"/>
              </a:rPr>
              <a:t>subcortical</a:t>
            </a:r>
            <a:r>
              <a:rPr lang="en-US" b="1" u="sng" dirty="0">
                <a:solidFill>
                  <a:schemeClr val="tx1"/>
                </a:solidFill>
                <a:hlinkClick r:id="rId2"/>
              </a:rPr>
              <a:t> </a:t>
            </a:r>
            <a:r>
              <a:rPr lang="en-US" b="1" dirty="0">
                <a:solidFill>
                  <a:schemeClr val="tx1"/>
                </a:solidFill>
                <a:hlinkClick r:id="rId2"/>
              </a:rPr>
              <a:t>component</a:t>
            </a:r>
            <a:r>
              <a:rPr lang="en-US" b="1" dirty="0">
                <a:solidFill>
                  <a:schemeClr val="tx1"/>
                </a:solidFill>
              </a:rPr>
              <a:t>. The former comprises of the </a:t>
            </a:r>
            <a:r>
              <a:rPr lang="en-US" b="1" dirty="0" err="1">
                <a:solidFill>
                  <a:schemeClr val="tx1"/>
                </a:solidFill>
              </a:rPr>
              <a:t>neocortex</a:t>
            </a:r>
            <a:r>
              <a:rPr lang="en-US" b="1" dirty="0">
                <a:solidFill>
                  <a:schemeClr val="tx1"/>
                </a:solidFill>
              </a:rPr>
              <a:t>, orbital frontal cortex, </a:t>
            </a:r>
            <a:r>
              <a:rPr lang="en-US" b="1" u="sng" dirty="0">
                <a:solidFill>
                  <a:schemeClr val="tx1"/>
                </a:solidFill>
                <a:hlinkClick r:id="rId3"/>
              </a:rPr>
              <a:t>hippocampus</a:t>
            </a:r>
            <a:r>
              <a:rPr lang="en-US" b="1" dirty="0">
                <a:solidFill>
                  <a:schemeClr val="tx1"/>
                </a:solidFill>
              </a:rPr>
              <a:t>, </a:t>
            </a:r>
            <a:r>
              <a:rPr lang="en-US" b="1" u="sng" dirty="0" err="1" smtClean="0">
                <a:solidFill>
                  <a:schemeClr val="tx1"/>
                </a:solidFill>
              </a:rPr>
              <a:t>cingulum</a:t>
            </a:r>
            <a:r>
              <a:rPr lang="en-US" b="1" dirty="0" smtClean="0">
                <a:solidFill>
                  <a:schemeClr val="tx1"/>
                </a:solidFill>
              </a:rPr>
              <a:t>, </a:t>
            </a:r>
            <a:r>
              <a:rPr lang="en-US" b="1" dirty="0" err="1" smtClean="0">
                <a:solidFill>
                  <a:schemeClr val="tx1"/>
                </a:solidFill>
              </a:rPr>
              <a:t>subcallosal</a:t>
            </a:r>
            <a:r>
              <a:rPr lang="en-US" b="1" dirty="0" smtClean="0">
                <a:solidFill>
                  <a:schemeClr val="tx1"/>
                </a:solidFill>
              </a:rPr>
              <a:t> area </a:t>
            </a:r>
            <a:r>
              <a:rPr lang="en-US" b="1" dirty="0">
                <a:solidFill>
                  <a:schemeClr val="tx1"/>
                </a:solidFill>
              </a:rPr>
              <a:t>and </a:t>
            </a:r>
            <a:r>
              <a:rPr lang="en-US" b="1" dirty="0" err="1">
                <a:solidFill>
                  <a:schemeClr val="tx1"/>
                </a:solidFill>
              </a:rPr>
              <a:t>parahippocampal</a:t>
            </a:r>
            <a:r>
              <a:rPr lang="en-US" b="1" dirty="0">
                <a:solidFill>
                  <a:schemeClr val="tx1"/>
                </a:solidFill>
              </a:rPr>
              <a:t> </a:t>
            </a:r>
            <a:r>
              <a:rPr lang="en-US" b="1" dirty="0" err="1">
                <a:solidFill>
                  <a:schemeClr val="tx1"/>
                </a:solidFill>
              </a:rPr>
              <a:t>gyri</a:t>
            </a:r>
            <a:r>
              <a:rPr lang="en-US" b="1" dirty="0">
                <a:solidFill>
                  <a:schemeClr val="tx1"/>
                </a:solidFill>
              </a:rPr>
              <a:t>.</a:t>
            </a:r>
          </a:p>
          <a:p>
            <a:pPr>
              <a:lnSpc>
                <a:spcPct val="150000"/>
              </a:lnSpc>
            </a:pPr>
            <a:endParaRPr lang="en-US" b="1" dirty="0">
              <a:solidFill>
                <a:schemeClr val="tx1"/>
              </a:solidFill>
            </a:endParaRPr>
          </a:p>
        </p:txBody>
      </p:sp>
    </p:spTree>
    <p:extLst>
      <p:ext uri="{BB962C8B-B14F-4D97-AF65-F5344CB8AC3E}">
        <p14:creationId xmlns:p14="http://schemas.microsoft.com/office/powerpoint/2010/main" val="3801323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04800" y="228600"/>
            <a:ext cx="8382000" cy="6172200"/>
          </a:xfrm>
        </p:spPr>
        <p:txBody>
          <a:bodyPr>
            <a:normAutofit/>
          </a:bodyPr>
          <a:lstStyle/>
          <a:p>
            <a:pPr>
              <a:lnSpc>
                <a:spcPct val="150000"/>
              </a:lnSpc>
            </a:pPr>
            <a:r>
              <a:rPr lang="en-US" b="1" dirty="0">
                <a:solidFill>
                  <a:schemeClr val="tx1"/>
                </a:solidFill>
              </a:rPr>
              <a:t>The latter, on the other hand, includes the </a:t>
            </a:r>
            <a:r>
              <a:rPr lang="en-US" b="1" u="sng" dirty="0">
                <a:solidFill>
                  <a:schemeClr val="tx1"/>
                </a:solidFill>
                <a:hlinkClick r:id="rId2"/>
              </a:rPr>
              <a:t>amygdala</a:t>
            </a:r>
            <a:r>
              <a:rPr lang="en-US" b="1" dirty="0">
                <a:solidFill>
                  <a:schemeClr val="tx1"/>
                </a:solidFill>
              </a:rPr>
              <a:t>, olfactory bulb, </a:t>
            </a:r>
            <a:r>
              <a:rPr lang="en-US" b="1" dirty="0" err="1">
                <a:solidFill>
                  <a:schemeClr val="tx1"/>
                </a:solidFill>
              </a:rPr>
              <a:t>septal</a:t>
            </a:r>
            <a:r>
              <a:rPr lang="en-US" b="1" dirty="0">
                <a:solidFill>
                  <a:schemeClr val="tx1"/>
                </a:solidFill>
              </a:rPr>
              <a:t> nuclei, </a:t>
            </a:r>
            <a:r>
              <a:rPr lang="en-US" b="1" u="sng" dirty="0">
                <a:solidFill>
                  <a:schemeClr val="tx1"/>
                </a:solidFill>
                <a:hlinkClick r:id="rId3"/>
              </a:rPr>
              <a:t>hypothalamus</a:t>
            </a:r>
            <a:r>
              <a:rPr lang="en-US" b="1" dirty="0">
                <a:solidFill>
                  <a:schemeClr val="tx1"/>
                </a:solidFill>
              </a:rPr>
              <a:t> and the anterior and </a:t>
            </a:r>
            <a:r>
              <a:rPr lang="en-US" b="1" dirty="0" err="1">
                <a:solidFill>
                  <a:schemeClr val="tx1"/>
                </a:solidFill>
              </a:rPr>
              <a:t>dorsomedial</a:t>
            </a:r>
            <a:r>
              <a:rPr lang="en-US" b="1" dirty="0">
                <a:solidFill>
                  <a:schemeClr val="tx1"/>
                </a:solidFill>
              </a:rPr>
              <a:t> </a:t>
            </a:r>
            <a:r>
              <a:rPr lang="en-US" b="1" u="sng" dirty="0">
                <a:solidFill>
                  <a:schemeClr val="tx1"/>
                </a:solidFill>
                <a:hlinkClick r:id="rId4"/>
              </a:rPr>
              <a:t>nuclei of the thalamus</a:t>
            </a:r>
            <a:r>
              <a:rPr lang="en-US" b="1" dirty="0">
                <a:solidFill>
                  <a:schemeClr val="tx1"/>
                </a:solidFill>
              </a:rPr>
              <a:t>. The cortical region is referred to as the limbic lobe </a:t>
            </a:r>
            <a:r>
              <a:rPr lang="en-US" b="1" dirty="0" smtClean="0">
                <a:solidFill>
                  <a:schemeClr val="tx1"/>
                </a:solidFill>
              </a:rPr>
              <a:t>. </a:t>
            </a:r>
            <a:r>
              <a:rPr lang="en-US" b="1" dirty="0">
                <a:solidFill>
                  <a:schemeClr val="tx1"/>
                </a:solidFill>
              </a:rPr>
              <a:t>The subcortical region works in conjunction with the limbic lobe. </a:t>
            </a:r>
          </a:p>
        </p:txBody>
      </p:sp>
    </p:spTree>
    <p:extLst>
      <p:ext uri="{BB962C8B-B14F-4D97-AF65-F5344CB8AC3E}">
        <p14:creationId xmlns:p14="http://schemas.microsoft.com/office/powerpoint/2010/main" val="30517469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04800" y="228600"/>
            <a:ext cx="8382000" cy="6172200"/>
          </a:xfrm>
        </p:spPr>
        <p:txBody>
          <a:bodyPr>
            <a:normAutofit lnSpcReduction="10000"/>
          </a:bodyPr>
          <a:lstStyle/>
          <a:p>
            <a:pPr>
              <a:lnSpc>
                <a:spcPct val="150000"/>
              </a:lnSpc>
            </a:pPr>
            <a:r>
              <a:rPr lang="en-US" b="1" dirty="0">
                <a:solidFill>
                  <a:schemeClr val="tx1"/>
                </a:solidFill>
              </a:rPr>
              <a:t>5 </a:t>
            </a:r>
            <a:r>
              <a:rPr lang="en-US" b="1" dirty="0" smtClean="0">
                <a:solidFill>
                  <a:schemeClr val="tx1"/>
                </a:solidFill>
              </a:rPr>
              <a:t>F's that can be used to remember functions in this system:</a:t>
            </a:r>
            <a:r>
              <a:rPr lang="en-US" b="1" dirty="0">
                <a:solidFill>
                  <a:schemeClr val="tx1"/>
                </a:solidFill>
              </a:rPr>
              <a:t> </a:t>
            </a:r>
            <a:endParaRPr lang="en-US" b="1" dirty="0" smtClean="0">
              <a:solidFill>
                <a:schemeClr val="tx1"/>
              </a:solidFill>
            </a:endParaRPr>
          </a:p>
          <a:p>
            <a:pPr>
              <a:lnSpc>
                <a:spcPct val="150000"/>
              </a:lnSpc>
            </a:pPr>
            <a:r>
              <a:rPr lang="en-US" b="1" dirty="0" smtClean="0">
                <a:solidFill>
                  <a:schemeClr val="tx1"/>
                </a:solidFill>
              </a:rPr>
              <a:t>feeding</a:t>
            </a:r>
            <a:r>
              <a:rPr lang="en-US" b="1" dirty="0">
                <a:solidFill>
                  <a:schemeClr val="tx1"/>
                </a:solidFill>
              </a:rPr>
              <a:t> (satiety and hunger</a:t>
            </a:r>
            <a:r>
              <a:rPr lang="en-US" b="1" dirty="0" smtClean="0">
                <a:solidFill>
                  <a:schemeClr val="tx1"/>
                </a:solidFill>
              </a:rPr>
              <a:t>),</a:t>
            </a:r>
          </a:p>
          <a:p>
            <a:pPr>
              <a:lnSpc>
                <a:spcPct val="150000"/>
              </a:lnSpc>
            </a:pPr>
            <a:r>
              <a:rPr lang="en-US" b="1" dirty="0">
                <a:solidFill>
                  <a:schemeClr val="tx1"/>
                </a:solidFill>
              </a:rPr>
              <a:t> forgetting (memory</a:t>
            </a:r>
            <a:r>
              <a:rPr lang="en-US" b="1" dirty="0" smtClean="0">
                <a:solidFill>
                  <a:schemeClr val="tx1"/>
                </a:solidFill>
              </a:rPr>
              <a:t>),</a:t>
            </a:r>
          </a:p>
          <a:p>
            <a:pPr>
              <a:lnSpc>
                <a:spcPct val="150000"/>
              </a:lnSpc>
            </a:pPr>
            <a:r>
              <a:rPr lang="en-US" b="1" dirty="0">
                <a:solidFill>
                  <a:schemeClr val="tx1"/>
                </a:solidFill>
              </a:rPr>
              <a:t> fighting (emotional response</a:t>
            </a:r>
            <a:r>
              <a:rPr lang="en-US" b="1" dirty="0" smtClean="0">
                <a:solidFill>
                  <a:schemeClr val="tx1"/>
                </a:solidFill>
              </a:rPr>
              <a:t>),</a:t>
            </a:r>
          </a:p>
          <a:p>
            <a:pPr>
              <a:lnSpc>
                <a:spcPct val="150000"/>
              </a:lnSpc>
            </a:pPr>
            <a:r>
              <a:rPr lang="en-US" b="1" dirty="0">
                <a:solidFill>
                  <a:schemeClr val="tx1"/>
                </a:solidFill>
              </a:rPr>
              <a:t> family (sexual reproduction, maternal instincts), </a:t>
            </a:r>
            <a:endParaRPr lang="en-US" b="1" dirty="0" smtClean="0">
              <a:solidFill>
                <a:schemeClr val="tx1"/>
              </a:solidFill>
            </a:endParaRPr>
          </a:p>
          <a:p>
            <a:pPr>
              <a:lnSpc>
                <a:spcPct val="150000"/>
              </a:lnSpc>
            </a:pPr>
            <a:r>
              <a:rPr lang="en-US" b="1" dirty="0" smtClean="0">
                <a:solidFill>
                  <a:schemeClr val="tx1"/>
                </a:solidFill>
              </a:rPr>
              <a:t>fornication</a:t>
            </a:r>
            <a:r>
              <a:rPr lang="en-US" b="1" dirty="0">
                <a:solidFill>
                  <a:schemeClr val="tx1"/>
                </a:solidFill>
              </a:rPr>
              <a:t> (sexual arousal)</a:t>
            </a:r>
          </a:p>
        </p:txBody>
      </p:sp>
    </p:spTree>
    <p:extLst>
      <p:ext uri="{BB962C8B-B14F-4D97-AF65-F5344CB8AC3E}">
        <p14:creationId xmlns:p14="http://schemas.microsoft.com/office/powerpoint/2010/main" val="12877386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04800" y="228600"/>
            <a:ext cx="8382000" cy="6477000"/>
          </a:xfrm>
        </p:spPr>
        <p:txBody>
          <a:bodyPr>
            <a:normAutofit fontScale="92500" lnSpcReduction="20000"/>
          </a:bodyPr>
          <a:lstStyle/>
          <a:p>
            <a:pPr>
              <a:lnSpc>
                <a:spcPct val="150000"/>
              </a:lnSpc>
            </a:pPr>
            <a:r>
              <a:rPr lang="en-US" dirty="0">
                <a:solidFill>
                  <a:schemeClr val="tx1"/>
                </a:solidFill>
              </a:rPr>
              <a:t>The almond-shaped </a:t>
            </a:r>
            <a:r>
              <a:rPr lang="en-US" b="1" dirty="0">
                <a:solidFill>
                  <a:schemeClr val="tx1"/>
                </a:solidFill>
              </a:rPr>
              <a:t>amygdala (</a:t>
            </a:r>
            <a:r>
              <a:rPr lang="en-US" b="1" dirty="0" err="1">
                <a:solidFill>
                  <a:schemeClr val="tx1"/>
                </a:solidFill>
              </a:rPr>
              <a:t>amygdaloid</a:t>
            </a:r>
            <a:r>
              <a:rPr lang="en-US" b="1" dirty="0">
                <a:solidFill>
                  <a:schemeClr val="tx1"/>
                </a:solidFill>
              </a:rPr>
              <a:t> body)</a:t>
            </a:r>
            <a:r>
              <a:rPr lang="en-US" dirty="0">
                <a:solidFill>
                  <a:schemeClr val="tx1"/>
                </a:solidFill>
              </a:rPr>
              <a:t> is located </a:t>
            </a:r>
            <a:r>
              <a:rPr lang="en-US" dirty="0" err="1">
                <a:solidFill>
                  <a:schemeClr val="tx1"/>
                </a:solidFill>
              </a:rPr>
              <a:t>anterosuperior</a:t>
            </a:r>
            <a:r>
              <a:rPr lang="en-US" dirty="0">
                <a:solidFill>
                  <a:schemeClr val="tx1"/>
                </a:solidFill>
              </a:rPr>
              <a:t> to the temporal (inferior) horn of the lateral ventricle, inferior to the </a:t>
            </a:r>
            <a:r>
              <a:rPr lang="en-US" b="1" dirty="0" err="1">
                <a:solidFill>
                  <a:schemeClr val="tx1"/>
                </a:solidFill>
              </a:rPr>
              <a:t>lentiform</a:t>
            </a:r>
            <a:r>
              <a:rPr lang="en-US" b="1" dirty="0">
                <a:solidFill>
                  <a:schemeClr val="tx1"/>
                </a:solidFill>
              </a:rPr>
              <a:t> nucleus </a:t>
            </a:r>
            <a:r>
              <a:rPr lang="en-US" dirty="0">
                <a:solidFill>
                  <a:schemeClr val="tx1"/>
                </a:solidFill>
              </a:rPr>
              <a:t>(putamen and </a:t>
            </a:r>
            <a:r>
              <a:rPr lang="en-US" dirty="0" err="1">
                <a:solidFill>
                  <a:schemeClr val="tx1"/>
                </a:solidFill>
              </a:rPr>
              <a:t>globus</a:t>
            </a:r>
            <a:r>
              <a:rPr lang="en-US" dirty="0">
                <a:solidFill>
                  <a:schemeClr val="tx1"/>
                </a:solidFill>
              </a:rPr>
              <a:t> </a:t>
            </a:r>
            <a:r>
              <a:rPr lang="en-US" dirty="0" err="1" smtClean="0">
                <a:solidFill>
                  <a:schemeClr val="tx1"/>
                </a:solidFill>
              </a:rPr>
              <a:t>pallidus</a:t>
            </a:r>
            <a:r>
              <a:rPr lang="en-US" dirty="0" smtClean="0">
                <a:solidFill>
                  <a:schemeClr val="tx1"/>
                </a:solidFill>
              </a:rPr>
              <a:t>) </a:t>
            </a:r>
            <a:r>
              <a:rPr lang="en-US" dirty="0">
                <a:solidFill>
                  <a:schemeClr val="tx1"/>
                </a:solidFill>
              </a:rPr>
              <a:t>and deep to the </a:t>
            </a:r>
            <a:r>
              <a:rPr lang="en-US" b="1" dirty="0" err="1">
                <a:solidFill>
                  <a:schemeClr val="tx1"/>
                </a:solidFill>
              </a:rPr>
              <a:t>uncus</a:t>
            </a:r>
            <a:r>
              <a:rPr lang="en-US" dirty="0">
                <a:solidFill>
                  <a:schemeClr val="tx1"/>
                </a:solidFill>
              </a:rPr>
              <a:t>. The apex of the tail of the </a:t>
            </a:r>
            <a:r>
              <a:rPr lang="en-US" b="1" dirty="0">
                <a:solidFill>
                  <a:schemeClr val="tx1"/>
                </a:solidFill>
              </a:rPr>
              <a:t>caudate nucleus</a:t>
            </a:r>
            <a:r>
              <a:rPr lang="en-US" dirty="0">
                <a:solidFill>
                  <a:schemeClr val="tx1"/>
                </a:solidFill>
              </a:rPr>
              <a:t> fuses and the amygdala merge in the roof of the temporal horn of the lateral ventricle</a:t>
            </a:r>
            <a:r>
              <a:rPr lang="en-US" dirty="0" smtClean="0">
                <a:solidFill>
                  <a:schemeClr val="tx1"/>
                </a:solidFill>
              </a:rPr>
              <a:t>.</a:t>
            </a:r>
          </a:p>
          <a:p>
            <a:pPr>
              <a:lnSpc>
                <a:spcPct val="150000"/>
              </a:lnSpc>
            </a:pPr>
            <a:r>
              <a:rPr lang="en-US" b="1" dirty="0">
                <a:solidFill>
                  <a:schemeClr val="tx1"/>
                </a:solidFill>
              </a:rPr>
              <a:t>These fibers allow communication between the amygdala and regions of the hypothalamus to regulate the fear and anxiety responses.</a:t>
            </a:r>
          </a:p>
          <a:p>
            <a:pPr>
              <a:lnSpc>
                <a:spcPct val="150000"/>
              </a:lnSpc>
            </a:pPr>
            <a:endParaRPr lang="en-US" dirty="0" smtClean="0">
              <a:solidFill>
                <a:schemeClr val="tx1"/>
              </a:solidFill>
            </a:endParaRPr>
          </a:p>
          <a:p>
            <a:pPr>
              <a:lnSpc>
                <a:spcPct val="150000"/>
              </a:lnSpc>
            </a:pPr>
            <a:endParaRPr lang="en-US" dirty="0">
              <a:solidFill>
                <a:schemeClr val="tx1"/>
              </a:solidFill>
            </a:endParaRPr>
          </a:p>
          <a:p>
            <a:pPr>
              <a:lnSpc>
                <a:spcPct val="150000"/>
              </a:lnSpc>
            </a:pPr>
            <a:endParaRPr lang="en-US" b="1" dirty="0">
              <a:solidFill>
                <a:schemeClr val="tx1"/>
              </a:solidFill>
            </a:endParaRPr>
          </a:p>
        </p:txBody>
      </p:sp>
    </p:spTree>
    <p:extLst>
      <p:ext uri="{BB962C8B-B14F-4D97-AF65-F5344CB8AC3E}">
        <p14:creationId xmlns:p14="http://schemas.microsoft.com/office/powerpoint/2010/main" val="22839742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04800" y="228600"/>
            <a:ext cx="8382000" cy="6172200"/>
          </a:xfrm>
        </p:spPr>
        <p:txBody>
          <a:bodyPr>
            <a:normAutofit lnSpcReduction="10000"/>
          </a:bodyPr>
          <a:lstStyle/>
          <a:p>
            <a:r>
              <a:rPr lang="en-US" b="1" dirty="0">
                <a:solidFill>
                  <a:schemeClr val="tx1"/>
                </a:solidFill>
              </a:rPr>
              <a:t>Hippocampus</a:t>
            </a:r>
          </a:p>
          <a:p>
            <a:r>
              <a:rPr lang="en-US" b="1" dirty="0">
                <a:solidFill>
                  <a:schemeClr val="tx1"/>
                </a:solidFill>
              </a:rPr>
              <a:t>The hippocampus is a bundle of grey matter, </a:t>
            </a:r>
            <a:r>
              <a:rPr lang="en-US" b="1" dirty="0" smtClean="0">
                <a:solidFill>
                  <a:schemeClr val="tx1"/>
                </a:solidFill>
              </a:rPr>
              <a:t>in </a:t>
            </a:r>
            <a:r>
              <a:rPr lang="en-US" b="1" dirty="0">
                <a:solidFill>
                  <a:schemeClr val="tx1"/>
                </a:solidFill>
              </a:rPr>
              <a:t>the floor of the temporal horn of the lateral ventricle; that resembles a ram’s horn. </a:t>
            </a:r>
            <a:r>
              <a:rPr lang="en-US" b="1" dirty="0" smtClean="0">
                <a:solidFill>
                  <a:schemeClr val="tx1"/>
                </a:solidFill>
              </a:rPr>
              <a:t>It is also called</a:t>
            </a:r>
            <a:r>
              <a:rPr lang="en-US" b="1" dirty="0">
                <a:solidFill>
                  <a:schemeClr val="tx1"/>
                </a:solidFill>
              </a:rPr>
              <a:t> </a:t>
            </a:r>
            <a:r>
              <a:rPr lang="en-US" b="1" dirty="0" err="1">
                <a:solidFill>
                  <a:schemeClr val="tx1"/>
                </a:solidFill>
              </a:rPr>
              <a:t>cornu</a:t>
            </a:r>
            <a:r>
              <a:rPr lang="en-US" b="1" dirty="0">
                <a:solidFill>
                  <a:schemeClr val="tx1"/>
                </a:solidFill>
              </a:rPr>
              <a:t> </a:t>
            </a:r>
            <a:r>
              <a:rPr lang="en-US" b="1" dirty="0" err="1">
                <a:solidFill>
                  <a:schemeClr val="tx1"/>
                </a:solidFill>
              </a:rPr>
              <a:t>ammonis</a:t>
            </a:r>
            <a:r>
              <a:rPr lang="en-US" b="1" dirty="0">
                <a:solidFill>
                  <a:schemeClr val="tx1"/>
                </a:solidFill>
              </a:rPr>
              <a:t> (after the ancient Egyptian deity, Ammon). Anteriorly, the </a:t>
            </a:r>
            <a:r>
              <a:rPr lang="en-US" b="1" dirty="0" err="1">
                <a:solidFill>
                  <a:schemeClr val="tx1"/>
                </a:solidFill>
              </a:rPr>
              <a:t>cornu</a:t>
            </a:r>
            <a:r>
              <a:rPr lang="en-US" b="1" dirty="0">
                <a:solidFill>
                  <a:schemeClr val="tx1"/>
                </a:solidFill>
              </a:rPr>
              <a:t> </a:t>
            </a:r>
            <a:r>
              <a:rPr lang="en-US" b="1" dirty="0" err="1">
                <a:solidFill>
                  <a:schemeClr val="tx1"/>
                </a:solidFill>
              </a:rPr>
              <a:t>ammonis</a:t>
            </a:r>
            <a:r>
              <a:rPr lang="en-US" b="1" dirty="0">
                <a:solidFill>
                  <a:schemeClr val="tx1"/>
                </a:solidFill>
              </a:rPr>
              <a:t> is wider than the posterior </a:t>
            </a:r>
            <a:r>
              <a:rPr lang="en-US" b="1" dirty="0" smtClean="0">
                <a:solidFill>
                  <a:schemeClr val="tx1"/>
                </a:solidFill>
              </a:rPr>
              <a:t>extension and this</a:t>
            </a:r>
            <a:endParaRPr lang="en-US" b="1" dirty="0">
              <a:solidFill>
                <a:schemeClr val="tx1"/>
              </a:solidFill>
            </a:endParaRPr>
          </a:p>
          <a:p>
            <a:r>
              <a:rPr lang="en-US" b="1" dirty="0" smtClean="0">
                <a:solidFill>
                  <a:schemeClr val="tx1"/>
                </a:solidFill>
              </a:rPr>
              <a:t> </a:t>
            </a:r>
            <a:r>
              <a:rPr lang="en-US" b="1" dirty="0">
                <a:solidFill>
                  <a:schemeClr val="tx1"/>
                </a:solidFill>
              </a:rPr>
              <a:t>region of the hippocampus is called the </a:t>
            </a:r>
            <a:r>
              <a:rPr lang="en-US" b="1" dirty="0" err="1">
                <a:solidFill>
                  <a:schemeClr val="tx1"/>
                </a:solidFill>
              </a:rPr>
              <a:t>pes</a:t>
            </a:r>
            <a:r>
              <a:rPr lang="en-US" b="1" dirty="0">
                <a:solidFill>
                  <a:schemeClr val="tx1"/>
                </a:solidFill>
              </a:rPr>
              <a:t> hippocampus. As the hippocampus courses </a:t>
            </a:r>
            <a:r>
              <a:rPr lang="en-US" b="1" dirty="0" smtClean="0">
                <a:solidFill>
                  <a:schemeClr val="tx1"/>
                </a:solidFill>
              </a:rPr>
              <a:t>posteriorly, it merges </a:t>
            </a:r>
            <a:r>
              <a:rPr lang="en-US" b="1" dirty="0">
                <a:solidFill>
                  <a:schemeClr val="tx1"/>
                </a:solidFill>
              </a:rPr>
              <a:t>with the crus of the </a:t>
            </a:r>
            <a:r>
              <a:rPr lang="en-US" b="1" dirty="0" smtClean="0">
                <a:solidFill>
                  <a:schemeClr val="tx1"/>
                </a:solidFill>
              </a:rPr>
              <a:t>fornix,</a:t>
            </a:r>
          </a:p>
          <a:p>
            <a:r>
              <a:rPr lang="en-US" b="1" dirty="0" smtClean="0">
                <a:solidFill>
                  <a:schemeClr val="tx1"/>
                </a:solidFill>
              </a:rPr>
              <a:t>Which is the main output fiber from this complex.</a:t>
            </a:r>
            <a:endParaRPr lang="en-US" b="1" dirty="0">
              <a:solidFill>
                <a:schemeClr val="tx1"/>
              </a:solidFill>
            </a:endParaRPr>
          </a:p>
          <a:p>
            <a:pPr>
              <a:lnSpc>
                <a:spcPct val="150000"/>
              </a:lnSpc>
            </a:pPr>
            <a:endParaRPr lang="en-US" b="1" dirty="0">
              <a:solidFill>
                <a:schemeClr val="tx1"/>
              </a:solidFill>
            </a:endParaRPr>
          </a:p>
        </p:txBody>
      </p:sp>
    </p:spTree>
    <p:extLst>
      <p:ext uri="{BB962C8B-B14F-4D97-AF65-F5344CB8AC3E}">
        <p14:creationId xmlns:p14="http://schemas.microsoft.com/office/powerpoint/2010/main" val="16785016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04800" y="228600"/>
            <a:ext cx="8382000" cy="6172200"/>
          </a:xfrm>
        </p:spPr>
        <p:txBody>
          <a:bodyPr>
            <a:normAutofit/>
          </a:bodyPr>
          <a:lstStyle/>
          <a:p>
            <a:r>
              <a:rPr lang="en-US" b="1" dirty="0">
                <a:solidFill>
                  <a:schemeClr val="tx1"/>
                </a:solidFill>
              </a:rPr>
              <a:t>Hypothalamus</a:t>
            </a:r>
          </a:p>
          <a:p>
            <a:r>
              <a:rPr lang="en-US" b="1" dirty="0">
                <a:solidFill>
                  <a:schemeClr val="tx1"/>
                </a:solidFill>
              </a:rPr>
              <a:t>Location and functions</a:t>
            </a:r>
          </a:p>
          <a:p>
            <a:r>
              <a:rPr lang="en-US" b="1" dirty="0">
                <a:solidFill>
                  <a:schemeClr val="tx1"/>
                </a:solidFill>
              </a:rPr>
              <a:t>The hypothalamus is a </a:t>
            </a:r>
            <a:r>
              <a:rPr lang="en-US" b="1" dirty="0" err="1">
                <a:solidFill>
                  <a:schemeClr val="tx1"/>
                </a:solidFill>
              </a:rPr>
              <a:t>diencephalic</a:t>
            </a:r>
            <a:r>
              <a:rPr lang="en-US" b="1" dirty="0">
                <a:solidFill>
                  <a:schemeClr val="tx1"/>
                </a:solidFill>
              </a:rPr>
              <a:t> region in the third </a:t>
            </a:r>
            <a:r>
              <a:rPr lang="en-US" b="1" dirty="0" smtClean="0">
                <a:solidFill>
                  <a:schemeClr val="tx1"/>
                </a:solidFill>
              </a:rPr>
              <a:t>ventricle.</a:t>
            </a:r>
          </a:p>
          <a:p>
            <a:r>
              <a:rPr lang="en-US" b="1" dirty="0" smtClean="0">
                <a:solidFill>
                  <a:schemeClr val="tx1"/>
                </a:solidFill>
              </a:rPr>
              <a:t> </a:t>
            </a:r>
            <a:r>
              <a:rPr lang="en-US" b="1" dirty="0">
                <a:solidFill>
                  <a:schemeClr val="tx1"/>
                </a:solidFill>
              </a:rPr>
              <a:t>It is involved in sexual arousal, emotional response, endocrine regulation, sexual development, thermoregulation, regulation of satiety and hunger, and is also involved in osmoregulation. </a:t>
            </a:r>
            <a:endParaRPr lang="en-US" b="1" dirty="0" smtClean="0">
              <a:solidFill>
                <a:schemeClr val="tx1"/>
              </a:solidFill>
            </a:endParaRPr>
          </a:p>
          <a:p>
            <a:r>
              <a:rPr lang="en-US" b="1" dirty="0" smtClean="0">
                <a:solidFill>
                  <a:schemeClr val="tx1"/>
                </a:solidFill>
              </a:rPr>
              <a:t>It </a:t>
            </a:r>
            <a:r>
              <a:rPr lang="en-US" b="1" dirty="0">
                <a:solidFill>
                  <a:schemeClr val="tx1"/>
                </a:solidFill>
              </a:rPr>
              <a:t>not only feeds information into the limbic system, but it serves as its final output. </a:t>
            </a:r>
          </a:p>
        </p:txBody>
      </p:sp>
    </p:spTree>
    <p:extLst>
      <p:ext uri="{BB962C8B-B14F-4D97-AF65-F5344CB8AC3E}">
        <p14:creationId xmlns:p14="http://schemas.microsoft.com/office/powerpoint/2010/main" val="13160891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04800" y="228600"/>
            <a:ext cx="8382000" cy="6172200"/>
          </a:xfrm>
        </p:spPr>
        <p:txBody>
          <a:bodyPr>
            <a:normAutofit/>
          </a:bodyPr>
          <a:lstStyle/>
          <a:p>
            <a:r>
              <a:rPr lang="en-US" b="1" dirty="0">
                <a:solidFill>
                  <a:schemeClr val="tx1"/>
                </a:solidFill>
              </a:rPr>
              <a:t>Circle of </a:t>
            </a:r>
            <a:r>
              <a:rPr lang="en-US" b="1" dirty="0" err="1">
                <a:solidFill>
                  <a:schemeClr val="tx1"/>
                </a:solidFill>
              </a:rPr>
              <a:t>Papez</a:t>
            </a:r>
            <a:endParaRPr lang="en-US" b="1" dirty="0">
              <a:solidFill>
                <a:schemeClr val="tx1"/>
              </a:solidFill>
            </a:endParaRPr>
          </a:p>
          <a:p>
            <a:r>
              <a:rPr lang="en-US" b="1" dirty="0">
                <a:solidFill>
                  <a:schemeClr val="tx1"/>
                </a:solidFill>
              </a:rPr>
              <a:t>In 1937, James </a:t>
            </a:r>
            <a:r>
              <a:rPr lang="en-US" b="1" dirty="0" err="1">
                <a:solidFill>
                  <a:schemeClr val="tx1"/>
                </a:solidFill>
              </a:rPr>
              <a:t>Papez</a:t>
            </a:r>
            <a:r>
              <a:rPr lang="en-US" b="1" dirty="0">
                <a:solidFill>
                  <a:schemeClr val="tx1"/>
                </a:solidFill>
              </a:rPr>
              <a:t> made a proposition that there had to be reciprocating interactions between the cerebral cortex and the hypothalamus in order for emotional behavior to be consciously perceived. This proposal laid the framework for what is termed the circle of </a:t>
            </a:r>
            <a:r>
              <a:rPr lang="en-US" b="1" dirty="0" err="1">
                <a:solidFill>
                  <a:schemeClr val="tx1"/>
                </a:solidFill>
              </a:rPr>
              <a:t>Papez</a:t>
            </a:r>
            <a:r>
              <a:rPr lang="en-US" b="1" dirty="0">
                <a:solidFill>
                  <a:schemeClr val="tx1"/>
                </a:solidFill>
              </a:rPr>
              <a:t>. This circuit involves communications between the </a:t>
            </a:r>
            <a:r>
              <a:rPr lang="en-US" b="1" dirty="0" err="1">
                <a:solidFill>
                  <a:schemeClr val="tx1"/>
                </a:solidFill>
              </a:rPr>
              <a:t>entorhinal</a:t>
            </a:r>
            <a:r>
              <a:rPr lang="en-US" b="1" dirty="0">
                <a:solidFill>
                  <a:schemeClr val="tx1"/>
                </a:solidFill>
              </a:rPr>
              <a:t> area, cingulate </a:t>
            </a:r>
            <a:r>
              <a:rPr lang="en-US" b="1" dirty="0" err="1">
                <a:solidFill>
                  <a:schemeClr val="tx1"/>
                </a:solidFill>
              </a:rPr>
              <a:t>gyrus</a:t>
            </a:r>
            <a:r>
              <a:rPr lang="en-US" b="1" dirty="0">
                <a:solidFill>
                  <a:schemeClr val="tx1"/>
                </a:solidFill>
              </a:rPr>
              <a:t>, mammillary nucleus, hippocampal formation and anterior thalamic nucleus.</a:t>
            </a:r>
          </a:p>
          <a:p>
            <a:endParaRPr lang="en-US" b="1" dirty="0">
              <a:solidFill>
                <a:schemeClr val="tx1"/>
              </a:solidFill>
            </a:endParaRPr>
          </a:p>
        </p:txBody>
      </p:sp>
    </p:spTree>
    <p:extLst>
      <p:ext uri="{BB962C8B-B14F-4D97-AF65-F5344CB8AC3E}">
        <p14:creationId xmlns:p14="http://schemas.microsoft.com/office/powerpoint/2010/main" val="6285985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04800" y="228600"/>
            <a:ext cx="8382000" cy="6172200"/>
          </a:xfrm>
        </p:spPr>
        <p:txBody>
          <a:bodyPr>
            <a:normAutofit fontScale="92500" lnSpcReduction="20000"/>
          </a:bodyPr>
          <a:lstStyle/>
          <a:p>
            <a:r>
              <a:rPr lang="en-US" b="1" dirty="0">
                <a:solidFill>
                  <a:schemeClr val="tx1"/>
                </a:solidFill>
              </a:rPr>
              <a:t>Clinical notes</a:t>
            </a:r>
          </a:p>
          <a:p>
            <a:r>
              <a:rPr lang="en-US" b="1" dirty="0" smtClean="0">
                <a:solidFill>
                  <a:schemeClr val="tx1"/>
                </a:solidFill>
              </a:rPr>
              <a:t>Lesions of the Amygdala</a:t>
            </a:r>
            <a:endParaRPr lang="en-US" b="1" dirty="0">
              <a:solidFill>
                <a:schemeClr val="tx1"/>
              </a:solidFill>
            </a:endParaRPr>
          </a:p>
          <a:p>
            <a:r>
              <a:rPr lang="en-US" b="1" dirty="0">
                <a:solidFill>
                  <a:schemeClr val="tx1"/>
                </a:solidFill>
              </a:rPr>
              <a:t>The amygdala has been implicated in moderating emotion and behavior. While the </a:t>
            </a:r>
            <a:r>
              <a:rPr lang="en-US" b="1" u="sng" dirty="0">
                <a:solidFill>
                  <a:schemeClr val="tx1"/>
                </a:solidFill>
                <a:hlinkClick r:id="rId2"/>
              </a:rPr>
              <a:t>term</a:t>
            </a:r>
            <a:r>
              <a:rPr lang="en-US" b="1" dirty="0">
                <a:solidFill>
                  <a:schemeClr val="tx1"/>
                </a:solidFill>
              </a:rPr>
              <a:t> </a:t>
            </a:r>
            <a:r>
              <a:rPr lang="en-US" b="1" dirty="0" smtClean="0">
                <a:solidFill>
                  <a:schemeClr val="tx1"/>
                </a:solidFill>
              </a:rPr>
              <a:t> can refer </a:t>
            </a:r>
            <a:r>
              <a:rPr lang="en-US" b="1" dirty="0">
                <a:solidFill>
                  <a:schemeClr val="tx1"/>
                </a:solidFill>
              </a:rPr>
              <a:t>to how an individual “feels”, neuroscientists define the word as any brain function driven by the desire to survive. </a:t>
            </a:r>
            <a:endParaRPr lang="en-US" b="1" dirty="0" smtClean="0">
              <a:solidFill>
                <a:schemeClr val="tx1"/>
              </a:solidFill>
            </a:endParaRPr>
          </a:p>
          <a:p>
            <a:r>
              <a:rPr lang="en-US" b="1" dirty="0" smtClean="0">
                <a:solidFill>
                  <a:schemeClr val="tx1"/>
                </a:solidFill>
              </a:rPr>
              <a:t>Therefore</a:t>
            </a:r>
            <a:r>
              <a:rPr lang="en-US" b="1" dirty="0">
                <a:solidFill>
                  <a:schemeClr val="tx1"/>
                </a:solidFill>
              </a:rPr>
              <a:t>, in the context of limbic function, emotion does not refer to “happiness” or “sadness”, but rather drinking when thirsty or a response to a potential mate. </a:t>
            </a:r>
            <a:endParaRPr lang="en-US" b="1" dirty="0" smtClean="0">
              <a:solidFill>
                <a:schemeClr val="tx1"/>
              </a:solidFill>
            </a:endParaRPr>
          </a:p>
          <a:p>
            <a:r>
              <a:rPr lang="en-US" b="1" dirty="0" smtClean="0">
                <a:solidFill>
                  <a:schemeClr val="tx1"/>
                </a:solidFill>
              </a:rPr>
              <a:t>Memory </a:t>
            </a:r>
            <a:r>
              <a:rPr lang="en-US" b="1" dirty="0">
                <a:solidFill>
                  <a:schemeClr val="tx1"/>
                </a:solidFill>
              </a:rPr>
              <a:t>remains intact </a:t>
            </a:r>
            <a:r>
              <a:rPr lang="en-US" b="1" dirty="0" smtClean="0">
                <a:solidFill>
                  <a:schemeClr val="tx1"/>
                </a:solidFill>
              </a:rPr>
              <a:t>in lesions of the </a:t>
            </a:r>
            <a:r>
              <a:rPr lang="en-US" b="1" dirty="0" err="1">
                <a:solidFill>
                  <a:schemeClr val="tx1"/>
                </a:solidFill>
              </a:rPr>
              <a:t>amygdaloid</a:t>
            </a:r>
            <a:r>
              <a:rPr lang="en-US" b="1" dirty="0">
                <a:solidFill>
                  <a:schemeClr val="tx1"/>
                </a:solidFill>
              </a:rPr>
              <a:t> complex, </a:t>
            </a:r>
            <a:r>
              <a:rPr lang="en-US" b="1" dirty="0" smtClean="0">
                <a:solidFill>
                  <a:schemeClr val="tx1"/>
                </a:solidFill>
              </a:rPr>
              <a:t>but individuals </a:t>
            </a:r>
            <a:r>
              <a:rPr lang="en-US" b="1" dirty="0">
                <a:solidFill>
                  <a:schemeClr val="tx1"/>
                </a:solidFill>
              </a:rPr>
              <a:t>may </a:t>
            </a:r>
            <a:r>
              <a:rPr lang="en-US" b="1" dirty="0" smtClean="0">
                <a:solidFill>
                  <a:schemeClr val="tx1"/>
                </a:solidFill>
              </a:rPr>
              <a:t>have increased </a:t>
            </a:r>
            <a:r>
              <a:rPr lang="en-US" b="1" dirty="0">
                <a:solidFill>
                  <a:schemeClr val="tx1"/>
                </a:solidFill>
              </a:rPr>
              <a:t>sex </a:t>
            </a:r>
            <a:r>
              <a:rPr lang="en-US" b="1" dirty="0" smtClean="0">
                <a:solidFill>
                  <a:schemeClr val="tx1"/>
                </a:solidFill>
              </a:rPr>
              <a:t>and </a:t>
            </a:r>
            <a:r>
              <a:rPr lang="en-US" b="1" dirty="0">
                <a:solidFill>
                  <a:schemeClr val="tx1"/>
                </a:solidFill>
              </a:rPr>
              <a:t>hunger </a:t>
            </a:r>
            <a:r>
              <a:rPr lang="en-US" b="1" dirty="0" smtClean="0">
                <a:solidFill>
                  <a:schemeClr val="tx1"/>
                </a:solidFill>
              </a:rPr>
              <a:t>drive and </a:t>
            </a:r>
            <a:r>
              <a:rPr lang="en-US" b="1" dirty="0">
                <a:solidFill>
                  <a:schemeClr val="tx1"/>
                </a:solidFill>
              </a:rPr>
              <a:t>a decrease in aggression</a:t>
            </a:r>
            <a:r>
              <a:rPr lang="en-US" b="1" dirty="0" smtClean="0">
                <a:solidFill>
                  <a:schemeClr val="tx1"/>
                </a:solidFill>
              </a:rPr>
              <a:t>.</a:t>
            </a:r>
            <a:endParaRPr lang="en-US" b="1" dirty="0">
              <a:solidFill>
                <a:schemeClr val="tx1"/>
              </a:solidFill>
            </a:endParaRPr>
          </a:p>
        </p:txBody>
      </p:sp>
    </p:spTree>
    <p:extLst>
      <p:ext uri="{BB962C8B-B14F-4D97-AF65-F5344CB8AC3E}">
        <p14:creationId xmlns:p14="http://schemas.microsoft.com/office/powerpoint/2010/main" val="13816029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04800" y="228600"/>
            <a:ext cx="8382000" cy="6172200"/>
          </a:xfrm>
        </p:spPr>
        <p:txBody>
          <a:bodyPr>
            <a:normAutofit/>
          </a:bodyPr>
          <a:lstStyle/>
          <a:p>
            <a:r>
              <a:rPr lang="en-US" b="1" dirty="0" err="1" smtClean="0">
                <a:solidFill>
                  <a:schemeClr val="tx1"/>
                </a:solidFill>
              </a:rPr>
              <a:t>Kluver</a:t>
            </a:r>
            <a:r>
              <a:rPr lang="en-US" b="1" dirty="0" smtClean="0">
                <a:solidFill>
                  <a:schemeClr val="tx1"/>
                </a:solidFill>
              </a:rPr>
              <a:t> &amp; </a:t>
            </a:r>
            <a:r>
              <a:rPr lang="en-US" b="1" dirty="0" err="1" smtClean="0">
                <a:solidFill>
                  <a:schemeClr val="tx1"/>
                </a:solidFill>
              </a:rPr>
              <a:t>Bucy</a:t>
            </a:r>
            <a:r>
              <a:rPr lang="en-US" b="1" dirty="0" smtClean="0">
                <a:solidFill>
                  <a:schemeClr val="tx1"/>
                </a:solidFill>
              </a:rPr>
              <a:t> Syndrome</a:t>
            </a:r>
          </a:p>
          <a:p>
            <a:r>
              <a:rPr lang="en-US" b="1" dirty="0" smtClean="0">
                <a:solidFill>
                  <a:schemeClr val="tx1"/>
                </a:solidFill>
              </a:rPr>
              <a:t>These form the basis of the findings of these scientists when they caused bilateral temporal lobectomy in monkeys.</a:t>
            </a:r>
          </a:p>
          <a:p>
            <a:r>
              <a:rPr lang="en-US" b="1" dirty="0" smtClean="0">
                <a:solidFill>
                  <a:schemeClr val="tx1"/>
                </a:solidFill>
              </a:rPr>
              <a:t>Four main changes:</a:t>
            </a:r>
          </a:p>
          <a:p>
            <a:pPr marL="571500" indent="-571500">
              <a:buAutoNum type="romanLcPeriod"/>
            </a:pPr>
            <a:r>
              <a:rPr lang="en-US" b="1" dirty="0" smtClean="0">
                <a:solidFill>
                  <a:schemeClr val="tx1"/>
                </a:solidFill>
              </a:rPr>
              <a:t>Loss of fear (visual </a:t>
            </a:r>
            <a:r>
              <a:rPr lang="en-US" b="1" dirty="0" err="1" smtClean="0">
                <a:solidFill>
                  <a:schemeClr val="tx1"/>
                </a:solidFill>
              </a:rPr>
              <a:t>agnosia</a:t>
            </a:r>
            <a:r>
              <a:rPr lang="en-US" b="1" dirty="0" smtClean="0">
                <a:solidFill>
                  <a:schemeClr val="tx1"/>
                </a:solidFill>
              </a:rPr>
              <a:t>)</a:t>
            </a:r>
          </a:p>
          <a:p>
            <a:pPr marL="571500" indent="-571500">
              <a:buAutoNum type="romanLcPeriod"/>
            </a:pPr>
            <a:r>
              <a:rPr lang="en-US" b="1" dirty="0" err="1" smtClean="0">
                <a:solidFill>
                  <a:schemeClr val="tx1"/>
                </a:solidFill>
              </a:rPr>
              <a:t>Hyperphagia</a:t>
            </a:r>
            <a:r>
              <a:rPr lang="en-US" b="1" dirty="0" smtClean="0">
                <a:solidFill>
                  <a:schemeClr val="tx1"/>
                </a:solidFill>
              </a:rPr>
              <a:t>,</a:t>
            </a:r>
          </a:p>
          <a:p>
            <a:pPr marL="571500" indent="-571500">
              <a:buAutoNum type="romanLcPeriod"/>
            </a:pPr>
            <a:r>
              <a:rPr lang="en-US" b="1" dirty="0" err="1" smtClean="0">
                <a:solidFill>
                  <a:schemeClr val="tx1"/>
                </a:solidFill>
              </a:rPr>
              <a:t>Hypersexuality</a:t>
            </a:r>
            <a:r>
              <a:rPr lang="en-US" b="1" dirty="0" smtClean="0">
                <a:solidFill>
                  <a:schemeClr val="tx1"/>
                </a:solidFill>
              </a:rPr>
              <a:t> (altered and </a:t>
            </a:r>
            <a:r>
              <a:rPr lang="en-US" b="1" dirty="0" err="1" smtClean="0">
                <a:solidFill>
                  <a:schemeClr val="tx1"/>
                </a:solidFill>
              </a:rPr>
              <a:t>hightened</a:t>
            </a:r>
            <a:r>
              <a:rPr lang="en-US" b="1" dirty="0" smtClean="0">
                <a:solidFill>
                  <a:schemeClr val="tx1"/>
                </a:solidFill>
              </a:rPr>
              <a:t> sexuality)</a:t>
            </a:r>
          </a:p>
          <a:p>
            <a:pPr marL="571500" indent="-571500">
              <a:buAutoNum type="romanLcPeriod"/>
            </a:pPr>
            <a:r>
              <a:rPr lang="en-US" b="1" dirty="0" smtClean="0">
                <a:solidFill>
                  <a:schemeClr val="tx1"/>
                </a:solidFill>
              </a:rPr>
              <a:t>Placidity</a:t>
            </a:r>
            <a:endParaRPr lang="en-US" b="1" dirty="0">
              <a:solidFill>
                <a:schemeClr val="tx1"/>
              </a:solidFill>
            </a:endParaRPr>
          </a:p>
        </p:txBody>
      </p:sp>
    </p:spTree>
    <p:extLst>
      <p:ext uri="{BB962C8B-B14F-4D97-AF65-F5344CB8AC3E}">
        <p14:creationId xmlns:p14="http://schemas.microsoft.com/office/powerpoint/2010/main" val="41666750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04800" y="228600"/>
            <a:ext cx="8382000" cy="6172200"/>
          </a:xfrm>
        </p:spPr>
        <p:txBody>
          <a:bodyPr>
            <a:normAutofit/>
          </a:bodyPr>
          <a:lstStyle/>
          <a:p>
            <a:r>
              <a:rPr lang="en-US" b="1" dirty="0" smtClean="0">
                <a:solidFill>
                  <a:schemeClr val="tx1"/>
                </a:solidFill>
              </a:rPr>
              <a:t>Anterograde amnesia</a:t>
            </a:r>
          </a:p>
          <a:p>
            <a:r>
              <a:rPr lang="en-US" b="1" dirty="0" smtClean="0">
                <a:solidFill>
                  <a:schemeClr val="tx1"/>
                </a:solidFill>
              </a:rPr>
              <a:t>Medical literature supports the notion that the hippocampus has the responsibility of transforming short-term memories into long-term memories. </a:t>
            </a:r>
          </a:p>
          <a:p>
            <a:r>
              <a:rPr lang="en-US" b="1" dirty="0" smtClean="0">
                <a:solidFill>
                  <a:schemeClr val="tx1"/>
                </a:solidFill>
              </a:rPr>
              <a:t>Therefore, insult to the hippocampus would impair this process, resulting in anterograde amnesia. </a:t>
            </a:r>
          </a:p>
          <a:p>
            <a:r>
              <a:rPr lang="en-US" b="1" dirty="0" smtClean="0">
                <a:solidFill>
                  <a:schemeClr val="tx1"/>
                </a:solidFill>
              </a:rPr>
              <a:t>As a result, the patient would recall past events prior to the insult, but not new memories after the injury has occurred.</a:t>
            </a:r>
          </a:p>
          <a:p>
            <a:endParaRPr lang="en-US" b="1" dirty="0" smtClean="0">
              <a:solidFill>
                <a:schemeClr val="tx1"/>
              </a:solidFill>
            </a:endParaRPr>
          </a:p>
          <a:p>
            <a:endParaRPr lang="en-US" b="1" dirty="0">
              <a:solidFill>
                <a:schemeClr val="tx1"/>
              </a:solidFill>
            </a:endParaRPr>
          </a:p>
        </p:txBody>
      </p:sp>
    </p:spTree>
    <p:extLst>
      <p:ext uri="{BB962C8B-B14F-4D97-AF65-F5344CB8AC3E}">
        <p14:creationId xmlns:p14="http://schemas.microsoft.com/office/powerpoint/2010/main" val="23080286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187</TotalTime>
  <Words>323</Words>
  <Application>Microsoft Office PowerPoint</Application>
  <PresentationFormat>On-screen Show (4:3)</PresentationFormat>
  <Paragraphs>44</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LIMBIC TWO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LIMBIC TWO</dc:title>
  <dc:creator>hp</dc:creator>
  <cp:lastModifiedBy>hp</cp:lastModifiedBy>
  <cp:revision>10</cp:revision>
  <dcterms:created xsi:type="dcterms:W3CDTF">2021-04-25T14:09:08Z</dcterms:created>
  <dcterms:modified xsi:type="dcterms:W3CDTF">2022-08-07T20:06:49Z</dcterms:modified>
</cp:coreProperties>
</file>