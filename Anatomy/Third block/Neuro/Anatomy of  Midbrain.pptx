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embeddedFontLst>
    <p:embeddedFont>
      <p:font typeface="Century Schoolbook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jJs5ErUJrTiFwGFrpK1U7roNqO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CenturySchoolbook-bold.fntdata"/><Relationship Id="rId27" Type="http://schemas.openxmlformats.org/officeDocument/2006/relationships/font" Target="fonts/CenturySchoolboo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Schoolbook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CenturySchoolbook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ctrTitle"/>
          </p:nvPr>
        </p:nvSpPr>
        <p:spPr>
          <a:xfrm>
            <a:off x="2286000" y="3124200"/>
            <a:ext cx="6172200" cy="1894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subTitle"/>
          </p:nvPr>
        </p:nvSpPr>
        <p:spPr>
          <a:xfrm>
            <a:off x="2286000" y="5003322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dk2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224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 rot="5400000">
            <a:off x="7764621" y="1174097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 rot="5400000">
            <a:off x="7077269" y="4181669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411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23"/>
          <p:cNvSpPr/>
          <p:nvPr/>
        </p:nvSpPr>
        <p:spPr>
          <a:xfrm>
            <a:off x="276336" y="0"/>
            <a:ext cx="104664" cy="6858000"/>
          </a:xfrm>
          <a:prstGeom prst="rect">
            <a:avLst/>
          </a:prstGeom>
          <a:solidFill>
            <a:srgbClr val="FFD8CC">
              <a:alpha val="3607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" name="Google Shape;28;p23"/>
          <p:cNvSpPr/>
          <p:nvPr/>
        </p:nvSpPr>
        <p:spPr>
          <a:xfrm>
            <a:off x="990600" y="0"/>
            <a:ext cx="181872" cy="6858000"/>
          </a:xfrm>
          <a:prstGeom prst="rect">
            <a:avLst/>
          </a:prstGeom>
          <a:solidFill>
            <a:srgbClr val="FFD8CC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9" name="Google Shape;29;p23"/>
          <p:cNvSpPr/>
          <p:nvPr/>
        </p:nvSpPr>
        <p:spPr>
          <a:xfrm>
            <a:off x="1141320" y="0"/>
            <a:ext cx="230280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30" name="Google Shape;30;p23"/>
          <p:cNvCxnSpPr/>
          <p:nvPr/>
        </p:nvCxnSpPr>
        <p:spPr>
          <a:xfrm>
            <a:off x="106344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>
                <a:alpha val="7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23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7">
                <a:alpha val="8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23"/>
          <p:cNvCxnSpPr/>
          <p:nvPr/>
        </p:nvCxnSpPr>
        <p:spPr>
          <a:xfrm>
            <a:off x="854112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23"/>
          <p:cNvCxnSpPr/>
          <p:nvPr/>
        </p:nvCxnSpPr>
        <p:spPr>
          <a:xfrm>
            <a:off x="172664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2AC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23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23"/>
          <p:cNvCxnSpPr/>
          <p:nvPr/>
        </p:nvCxnSpPr>
        <p:spPr>
          <a:xfrm>
            <a:off x="9113856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23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" name="Google Shape;37;p23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" name="Google Shape;38;p23"/>
          <p:cNvSpPr/>
          <p:nvPr/>
        </p:nvSpPr>
        <p:spPr>
          <a:xfrm>
            <a:off x="1309632" y="4866752"/>
            <a:ext cx="641424" cy="641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" name="Google Shape;39;p23"/>
          <p:cNvSpPr/>
          <p:nvPr/>
        </p:nvSpPr>
        <p:spPr>
          <a:xfrm>
            <a:off x="1091080" y="5500632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" name="Google Shape;40;p23"/>
          <p:cNvSpPr/>
          <p:nvPr/>
        </p:nvSpPr>
        <p:spPr>
          <a:xfrm>
            <a:off x="1664208" y="5788152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" name="Google Shape;41;p23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1325544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4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" type="body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>
            <a:off x="2286000" y="2895600"/>
            <a:ext cx="6172200" cy="20535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Schoolbook"/>
              <a:buNone/>
              <a:defRPr b="1" sz="3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>
            <a:off x="2286000" y="5010150"/>
            <a:ext cx="6172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260"/>
              <a:buNone/>
              <a:defRPr b="1" sz="1800">
                <a:solidFill>
                  <a:schemeClr val="lt2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52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 rot="5400000">
            <a:off x="7763256" y="1170432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 rot="5400000">
            <a:off x="7077456" y="417880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6"/>
          <p:cNvSpPr/>
          <p:nvPr/>
        </p:nvSpPr>
        <p:spPr>
          <a:xfrm>
            <a:off x="381000" y="0"/>
            <a:ext cx="609600" cy="6858000"/>
          </a:xfrm>
          <a:prstGeom prst="rect">
            <a:avLst/>
          </a:prstGeom>
          <a:solidFill>
            <a:srgbClr val="FEC2AC">
              <a:alpha val="5411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59" name="Google Shape;59;p26"/>
          <p:cNvSpPr/>
          <p:nvPr/>
        </p:nvSpPr>
        <p:spPr>
          <a:xfrm>
            <a:off x="276336" y="0"/>
            <a:ext cx="104664" cy="6858000"/>
          </a:xfrm>
          <a:prstGeom prst="rect">
            <a:avLst/>
          </a:prstGeom>
          <a:solidFill>
            <a:srgbClr val="FFD8CC">
              <a:alpha val="3607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0" name="Google Shape;60;p26"/>
          <p:cNvSpPr/>
          <p:nvPr/>
        </p:nvSpPr>
        <p:spPr>
          <a:xfrm>
            <a:off x="990600" y="0"/>
            <a:ext cx="181872" cy="6858000"/>
          </a:xfrm>
          <a:prstGeom prst="rect">
            <a:avLst/>
          </a:prstGeom>
          <a:solidFill>
            <a:srgbClr val="FFD8CC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1" name="Google Shape;61;p26"/>
          <p:cNvSpPr/>
          <p:nvPr/>
        </p:nvSpPr>
        <p:spPr>
          <a:xfrm>
            <a:off x="1141320" y="0"/>
            <a:ext cx="230280" cy="6858000"/>
          </a:xfrm>
          <a:prstGeom prst="rect">
            <a:avLst/>
          </a:prstGeom>
          <a:solidFill>
            <a:srgbClr val="FFEDE7">
              <a:alpha val="7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62" name="Google Shape;62;p26"/>
          <p:cNvCxnSpPr/>
          <p:nvPr/>
        </p:nvCxnSpPr>
        <p:spPr>
          <a:xfrm>
            <a:off x="106344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>
                <a:alpha val="7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6"/>
          <p:cNvCxnSpPr/>
          <p:nvPr/>
        </p:nvCxnSpPr>
        <p:spPr>
          <a:xfrm>
            <a:off x="914400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FEDE7">
                <a:alpha val="83137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6"/>
          <p:cNvCxnSpPr/>
          <p:nvPr/>
        </p:nvCxnSpPr>
        <p:spPr>
          <a:xfrm>
            <a:off x="854112" y="0"/>
            <a:ext cx="0" cy="6858000"/>
          </a:xfrm>
          <a:prstGeom prst="straightConnector1">
            <a:avLst/>
          </a:prstGeom>
          <a:noFill/>
          <a:ln cap="flat" cmpd="sng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26"/>
          <p:cNvCxnSpPr/>
          <p:nvPr/>
        </p:nvCxnSpPr>
        <p:spPr>
          <a:xfrm>
            <a:off x="1726640" y="0"/>
            <a:ext cx="0" cy="6858000"/>
          </a:xfrm>
          <a:prstGeom prst="straightConnector1">
            <a:avLst/>
          </a:prstGeom>
          <a:noFill/>
          <a:ln cap="flat" cmpd="sng" w="28575">
            <a:solidFill>
              <a:srgbClr val="FEC2AC">
                <a:alpha val="8196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26"/>
          <p:cNvCxnSpPr/>
          <p:nvPr/>
        </p:nvCxnSpPr>
        <p:spPr>
          <a:xfrm>
            <a:off x="10668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6"/>
          <p:cNvSpPr/>
          <p:nvPr/>
        </p:nvSpPr>
        <p:spPr>
          <a:xfrm>
            <a:off x="1219200" y="0"/>
            <a:ext cx="76200" cy="6858000"/>
          </a:xfrm>
          <a:prstGeom prst="rect">
            <a:avLst/>
          </a:prstGeom>
          <a:solidFill>
            <a:srgbClr val="FEC2AC">
              <a:alpha val="5098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8" name="Google Shape;68;p26"/>
          <p:cNvSpPr/>
          <p:nvPr/>
        </p:nvSpPr>
        <p:spPr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69" name="Google Shape;69;p26"/>
          <p:cNvSpPr/>
          <p:nvPr/>
        </p:nvSpPr>
        <p:spPr>
          <a:xfrm>
            <a:off x="1324704" y="4866752"/>
            <a:ext cx="641424" cy="64142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0" name="Google Shape;70;p26"/>
          <p:cNvSpPr/>
          <p:nvPr/>
        </p:nvSpPr>
        <p:spPr>
          <a:xfrm>
            <a:off x="1091080" y="5500632"/>
            <a:ext cx="137160" cy="1371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1" name="Google Shape;71;p26"/>
          <p:cNvSpPr/>
          <p:nvPr/>
        </p:nvSpPr>
        <p:spPr>
          <a:xfrm>
            <a:off x="1664208" y="5791200"/>
            <a:ext cx="274320" cy="2743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72" name="Google Shape;72;p26"/>
          <p:cNvSpPr/>
          <p:nvPr/>
        </p:nvSpPr>
        <p:spPr>
          <a:xfrm>
            <a:off x="1879040" y="4479888"/>
            <a:ext cx="365760" cy="3657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73" name="Google Shape;73;p26"/>
          <p:cNvCxnSpPr/>
          <p:nvPr/>
        </p:nvCxnSpPr>
        <p:spPr>
          <a:xfrm>
            <a:off x="9097944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1340616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>
            <a:off x="457200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2" type="body"/>
          </p:nvPr>
        </p:nvSpPr>
        <p:spPr>
          <a:xfrm>
            <a:off x="4270248" y="16002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 txBox="1"/>
          <p:nvPr>
            <p:ph type="title"/>
          </p:nvPr>
        </p:nvSpPr>
        <p:spPr>
          <a:xfrm>
            <a:off x="457200" y="273050"/>
            <a:ext cx="7543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8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8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" name="Google Shape;87;p28"/>
          <p:cNvSpPr txBox="1"/>
          <p:nvPr>
            <p:ph idx="1" type="body"/>
          </p:nvPr>
        </p:nvSpPr>
        <p:spPr>
          <a:xfrm>
            <a:off x="457200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8"/>
          <p:cNvSpPr txBox="1"/>
          <p:nvPr>
            <p:ph idx="2" type="body"/>
          </p:nvPr>
        </p:nvSpPr>
        <p:spPr>
          <a:xfrm>
            <a:off x="4371975" y="2362200"/>
            <a:ext cx="3657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8"/>
          <p:cNvSpPr/>
          <p:nvPr>
            <p:ph idx="3" type="body"/>
          </p:nvPr>
        </p:nvSpPr>
        <p:spPr>
          <a:xfrm>
            <a:off x="457200" y="1569720"/>
            <a:ext cx="3657600" cy="65836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b="1" sz="2000">
                <a:solidFill>
                  <a:srgbClr val="FFFFFF"/>
                </a:solidFill>
              </a:defRPr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28"/>
          <p:cNvSpPr/>
          <p:nvPr>
            <p:ph idx="4" type="body"/>
          </p:nvPr>
        </p:nvSpPr>
        <p:spPr>
          <a:xfrm>
            <a:off x="4343400" y="1569720"/>
            <a:ext cx="3657600" cy="658368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400"/>
              <a:buFont typeface="Century Schoolbook"/>
              <a:buNone/>
              <a:defRPr b="1" sz="2000">
                <a:solidFill>
                  <a:srgbClr val="FFFFFF"/>
                </a:solidFill>
              </a:defRPr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9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9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9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Google Shape;97;p30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>
                <a:alpha val="9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30"/>
          <p:cNvSpPr txBox="1"/>
          <p:nvPr>
            <p:ph type="title"/>
          </p:nvPr>
        </p:nvSpPr>
        <p:spPr>
          <a:xfrm rot="5400000">
            <a:off x="3371850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b="1" sz="2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0"/>
          <p:cNvSpPr txBox="1"/>
          <p:nvPr>
            <p:ph idx="1" type="body"/>
          </p:nvPr>
        </p:nvSpPr>
        <p:spPr>
          <a:xfrm>
            <a:off x="6812280" y="274320"/>
            <a:ext cx="1527048" cy="498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84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12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100" name="Google Shape;100;p30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30"/>
          <p:cNvCxnSpPr/>
          <p:nvPr/>
        </p:nvCxnSpPr>
        <p:spPr>
          <a:xfrm>
            <a:off x="6192296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30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30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04" name="Google Shape;104;p30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30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6" name="Google Shape;106;p30"/>
          <p:cNvSpPr txBox="1"/>
          <p:nvPr>
            <p:ph idx="2" type="body"/>
          </p:nvPr>
        </p:nvSpPr>
        <p:spPr>
          <a:xfrm>
            <a:off x="304800" y="274320"/>
            <a:ext cx="5638800" cy="6327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0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30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Google Shape;111;p31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13" name="Google Shape;113;p31"/>
          <p:cNvSpPr txBox="1"/>
          <p:nvPr>
            <p:ph type="title"/>
          </p:nvPr>
        </p:nvSpPr>
        <p:spPr>
          <a:xfrm rot="5400000">
            <a:off x="3350133" y="3200400"/>
            <a:ext cx="6309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entury Schoolbook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1"/>
          <p:cNvSpPr/>
          <p:nvPr>
            <p:ph idx="2" type="pic"/>
          </p:nvPr>
        </p:nvSpPr>
        <p:spPr>
          <a:xfrm>
            <a:off x="0" y="0"/>
            <a:ext cx="61722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15" name="Google Shape;115;p31"/>
          <p:cNvSpPr txBox="1"/>
          <p:nvPr>
            <p:ph idx="1" type="body"/>
          </p:nvPr>
        </p:nvSpPr>
        <p:spPr>
          <a:xfrm>
            <a:off x="6765798" y="264795"/>
            <a:ext cx="1524000" cy="4956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SzPts val="840"/>
              <a:buFont typeface="Century Schoolbook"/>
              <a:buNone/>
              <a:defRPr sz="1200"/>
            </a:lvl1pPr>
            <a:lvl2pPr indent="-289560" lvl="1" marL="914400" algn="l">
              <a:spcBef>
                <a:spcPts val="400"/>
              </a:spcBef>
              <a:spcAft>
                <a:spcPts val="0"/>
              </a:spcAft>
              <a:buSzPts val="960"/>
              <a:buChar char="⚫"/>
              <a:defRPr sz="1200"/>
            </a:lvl2pPr>
            <a:lvl3pPr indent="-266700" lvl="2" marL="1371600" algn="l">
              <a:spcBef>
                <a:spcPts val="200"/>
              </a:spcBef>
              <a:spcAft>
                <a:spcPts val="0"/>
              </a:spcAft>
              <a:buSzPts val="600"/>
              <a:buChar char="🞆"/>
              <a:defRPr sz="1000"/>
            </a:lvl3pPr>
            <a:lvl4pPr indent="-262890" lvl="3" marL="1828800" algn="l">
              <a:spcBef>
                <a:spcPts val="180"/>
              </a:spcBef>
              <a:spcAft>
                <a:spcPts val="0"/>
              </a:spcAft>
              <a:buSzPts val="540"/>
              <a:buChar char="🞆"/>
              <a:defRPr sz="900"/>
            </a:lvl4pPr>
            <a:lvl5pPr indent="-267462" lvl="4" marL="2286000" algn="l">
              <a:spcBef>
                <a:spcPts val="180"/>
              </a:spcBef>
              <a:spcAft>
                <a:spcPts val="0"/>
              </a:spcAft>
              <a:buSzPts val="612"/>
              <a:buChar char="⚫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cxnSp>
        <p:nvCxnSpPr>
          <p:cNvPr id="116" name="Google Shape;116;p31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1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18" name="Google Shape;118;p31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31"/>
          <p:cNvCxnSpPr/>
          <p:nvPr/>
        </p:nvCxnSpPr>
        <p:spPr>
          <a:xfrm>
            <a:off x="62484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31"/>
          <p:cNvCxnSpPr/>
          <p:nvPr/>
        </p:nvCxnSpPr>
        <p:spPr>
          <a:xfrm>
            <a:off x="6192296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31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31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31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" type="body"/>
          </p:nvPr>
        </p:nvSpPr>
        <p:spPr>
          <a:xfrm rot="5400000">
            <a:off x="1754124" y="303276"/>
            <a:ext cx="4873752" cy="74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2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3"/>
          <p:cNvSpPr txBox="1"/>
          <p:nvPr>
            <p:ph type="title"/>
          </p:nvPr>
        </p:nvSpPr>
        <p:spPr>
          <a:xfrm rot="5400000">
            <a:off x="4541838" y="2362202"/>
            <a:ext cx="5851525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08610" lvl="0" marL="457200" algn="l">
              <a:spcBef>
                <a:spcPts val="600"/>
              </a:spcBef>
              <a:spcAft>
                <a:spcPts val="0"/>
              </a:spcAft>
              <a:buSzPts val="1260"/>
              <a:buChar char="🞆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2pPr>
            <a:lvl3pPr indent="-297180" lvl="2" marL="13716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3pPr>
            <a:lvl4pPr indent="-297180" lvl="3" marL="1828800" algn="l">
              <a:spcBef>
                <a:spcPts val="360"/>
              </a:spcBef>
              <a:spcAft>
                <a:spcPts val="0"/>
              </a:spcAft>
              <a:buSzPts val="1080"/>
              <a:buChar char="🞆"/>
              <a:defRPr/>
            </a:lvl4pPr>
            <a:lvl5pPr indent="-306324" lvl="4" marL="2286000" algn="l">
              <a:spcBef>
                <a:spcPts val="360"/>
              </a:spcBef>
              <a:spcAft>
                <a:spcPts val="0"/>
              </a:spcAft>
              <a:buSzPts val="1224"/>
              <a:buChar char="⚫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297180" lvl="6" marL="3200400" algn="l">
              <a:spcBef>
                <a:spcPts val="360"/>
              </a:spcBef>
              <a:spcAft>
                <a:spcPts val="0"/>
              </a:spcAft>
              <a:buSzPts val="1080"/>
              <a:buChar char="⚪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3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33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2"/>
          <p:cNvCxnSpPr/>
          <p:nvPr/>
        </p:nvCxnSpPr>
        <p:spPr>
          <a:xfrm>
            <a:off x="8763000" y="0"/>
            <a:ext cx="0" cy="6858000"/>
          </a:xfrm>
          <a:prstGeom prst="straightConnector1">
            <a:avLst/>
          </a:prstGeom>
          <a:noFill/>
          <a:ln cap="flat" cmpd="sng" w="38100">
            <a:solidFill>
              <a:srgbClr val="FEC2AC">
                <a:alpha val="92941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2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  <a:defRPr b="0" i="0" sz="30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2"/>
          <p:cNvSpPr txBox="1"/>
          <p:nvPr>
            <p:ph idx="1" type="body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528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🞆"/>
              <a:defRPr b="0" i="0" sz="24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528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297180" lvl="2" marL="1371600" marR="0" rtl="0" algn="l">
              <a:spcBef>
                <a:spcPts val="360"/>
              </a:spcBef>
              <a:spcAft>
                <a:spcPts val="0"/>
              </a:spcAft>
              <a:buClr>
                <a:srgbClr val="DE7530"/>
              </a:buClr>
              <a:buSzPts val="1080"/>
              <a:buFont typeface="Noto Sans Symbols"/>
              <a:buChar char="🞆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297180" lvl="3" marL="1828800" marR="0" rtl="0" algn="l">
              <a:spcBef>
                <a:spcPts val="360"/>
              </a:spcBef>
              <a:spcAft>
                <a:spcPts val="0"/>
              </a:spcAft>
              <a:buClr>
                <a:srgbClr val="FEC2AC"/>
              </a:buClr>
              <a:buSzPts val="1080"/>
              <a:buFont typeface="Noto Sans Symbols"/>
              <a:buChar char="🞆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297688" lvl="4" marL="2286000" marR="0" rtl="0" algn="l">
              <a:spcBef>
                <a:spcPts val="320"/>
              </a:spcBef>
              <a:spcAft>
                <a:spcPts val="0"/>
              </a:spcAft>
              <a:buClr>
                <a:srgbClr val="BBC9E9"/>
              </a:buClr>
              <a:buSzPts val="1088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entury Schoolbook"/>
              <a:buChar char="•"/>
              <a:defRPr b="0" i="0" sz="16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28194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FEC2AC"/>
              </a:buClr>
              <a:buSzPts val="840"/>
              <a:buFont typeface="Noto Sans Symbols"/>
              <a:buChar char="⚪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Century Schoolbook"/>
              <a:buChar char="•"/>
              <a:defRPr b="0" i="0" sz="1400" u="none" cap="small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DE7530"/>
              </a:buClr>
              <a:buSzPts val="1400"/>
              <a:buFont typeface="Century Schoolbook"/>
              <a:buChar char="•"/>
              <a:defRPr b="0" i="0" sz="14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0" type="dt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1" type="ftr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cxnSp>
        <p:nvCxnSpPr>
          <p:cNvPr id="15" name="Google Shape;15;p22"/>
          <p:cNvCxnSpPr/>
          <p:nvPr/>
        </p:nvCxnSpPr>
        <p:spPr>
          <a:xfrm>
            <a:off x="76200" y="0"/>
            <a:ext cx="0" cy="6858000"/>
          </a:xfrm>
          <a:prstGeom prst="straightConnector1">
            <a:avLst/>
          </a:prstGeom>
          <a:noFill/>
          <a:ln cap="flat" cmpd="thickThin" w="57150">
            <a:solidFill>
              <a:srgbClr val="FEC2A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22"/>
          <p:cNvCxnSpPr/>
          <p:nvPr/>
        </p:nvCxnSpPr>
        <p:spPr>
          <a:xfrm>
            <a:off x="8991600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22"/>
          <p:cNvSpPr/>
          <p:nvPr/>
        </p:nvSpPr>
        <p:spPr>
          <a:xfrm>
            <a:off x="8839200" y="0"/>
            <a:ext cx="304800" cy="6858000"/>
          </a:xfrm>
          <a:prstGeom prst="rect">
            <a:avLst/>
          </a:prstGeom>
          <a:solidFill>
            <a:srgbClr val="FEC2AC">
              <a:alpha val="8705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cxnSp>
        <p:nvCxnSpPr>
          <p:cNvPr id="18" name="Google Shape;18;p22"/>
          <p:cNvCxnSpPr/>
          <p:nvPr/>
        </p:nvCxnSpPr>
        <p:spPr>
          <a:xfrm>
            <a:off x="8915400" y="0"/>
            <a:ext cx="0" cy="685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2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image" Target="../media/image1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ctrTitle"/>
          </p:nvPr>
        </p:nvSpPr>
        <p:spPr>
          <a:xfrm>
            <a:off x="2480550" y="1042475"/>
            <a:ext cx="5634000" cy="137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Anatomy of the Midbrain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1" name="Google Shape;141;p1"/>
          <p:cNvSpPr txBox="1"/>
          <p:nvPr>
            <p:ph idx="1" type="subTitle"/>
          </p:nvPr>
        </p:nvSpPr>
        <p:spPr>
          <a:xfrm>
            <a:off x="2971800" y="3581400"/>
            <a:ext cx="5486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en-US">
                <a:solidFill>
                  <a:schemeClr val="dk1"/>
                </a:solidFill>
              </a:rPr>
              <a:t>Presented by Omosola Tobi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"/>
          <p:cNvSpPr txBox="1"/>
          <p:nvPr>
            <p:ph idx="12" type="sldNum"/>
          </p:nvPr>
        </p:nvSpPr>
        <p:spPr>
          <a:xfrm>
            <a:off x="1325544" y="4928702"/>
            <a:ext cx="609600" cy="5175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entury Schoolbook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48" name="Google Shape;148;p2"/>
          <p:cNvSpPr txBox="1"/>
          <p:nvPr>
            <p:ph idx="1" type="body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Introduction to midbrain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Parts/features of the midbrain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Ascending and descending pathways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Blood supply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Functions of the midbrain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Clinical correlates</a:t>
            </a:r>
            <a:endParaRPr/>
          </a:p>
          <a:p>
            <a:pPr indent="-167640" lvl="0" marL="274320" rtl="0" algn="l"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49" name="Google Shape;149;p2"/>
          <p:cNvSpPr txBox="1"/>
          <p:nvPr>
            <p:ph idx="12" type="sldNum"/>
          </p:nvPr>
        </p:nvSpPr>
        <p:spPr>
          <a:xfrm>
            <a:off x="8129016" y="5734050"/>
            <a:ext cx="6096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457200" y="0"/>
            <a:ext cx="746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The midbrain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5" name="Google Shape;155;p3"/>
          <p:cNvSpPr txBox="1"/>
          <p:nvPr>
            <p:ph idx="1" type="body"/>
          </p:nvPr>
        </p:nvSpPr>
        <p:spPr>
          <a:xfrm>
            <a:off x="457200" y="838200"/>
            <a:ext cx="4648200" cy="563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midbrain or mesencephalon is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most rostral part of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brainstem that connects the pons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and cerebellum with the forebrain. It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is the shortest part of the brainstem.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is situated between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diencephalon and pons and is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traversed by the cerebral aqueduct.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contains the relay nuclei involved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 processing of auditory and visual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information.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G_4547.PNG"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5400" y="1066800"/>
            <a:ext cx="358140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"/>
          <p:cNvSpPr txBox="1"/>
          <p:nvPr>
            <p:ph type="title"/>
          </p:nvPr>
        </p:nvSpPr>
        <p:spPr>
          <a:xfrm>
            <a:off x="457200" y="274638"/>
            <a:ext cx="7467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Features of the midbrain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4"/>
          <p:cNvSpPr txBox="1"/>
          <p:nvPr>
            <p:ph idx="1" type="body"/>
          </p:nvPr>
        </p:nvSpPr>
        <p:spPr>
          <a:xfrm>
            <a:off x="457200" y="838200"/>
            <a:ext cx="4114800" cy="563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ct val="70000"/>
              <a:buFont typeface="Century Schoolbook"/>
              <a:buAutoNum type="arabicPeriod"/>
            </a:pPr>
            <a:r>
              <a:rPr lang="en-US" sz="8000">
                <a:latin typeface="Arial"/>
                <a:ea typeface="Arial"/>
                <a:cs typeface="Arial"/>
                <a:sym typeface="Arial"/>
              </a:rPr>
              <a:t>External structure:</a:t>
            </a:r>
            <a:endParaRPr sz="8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AutoNum type="alphaUcPeriod"/>
            </a:pPr>
            <a:r>
              <a:rPr lang="en-US" sz="8000">
                <a:latin typeface="Arial"/>
                <a:ea typeface="Arial"/>
                <a:cs typeface="Arial"/>
                <a:sym typeface="Arial"/>
              </a:rPr>
              <a:t>Anterior (ventral) surface: is marked by the two stalks called </a:t>
            </a:r>
            <a:r>
              <a:rPr b="1" lang="en-US" sz="8000">
                <a:latin typeface="Arial"/>
                <a:ea typeface="Arial"/>
                <a:cs typeface="Arial"/>
                <a:sym typeface="Arial"/>
              </a:rPr>
              <a:t>Cerebral peduncles.</a:t>
            </a:r>
            <a:endParaRPr b="1" sz="8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8000">
                <a:latin typeface="Arial"/>
                <a:ea typeface="Arial"/>
                <a:cs typeface="Arial"/>
                <a:sym typeface="Arial"/>
              </a:rPr>
              <a:t>      The peduncles are composed of many pathways (descending motor tract) that travels between the cerebral cortex and spinal cord.</a:t>
            </a:r>
            <a:endParaRPr sz="8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8000">
                <a:latin typeface="Arial"/>
                <a:ea typeface="Arial"/>
                <a:cs typeface="Arial"/>
                <a:sym typeface="Arial"/>
              </a:rPr>
              <a:t>      As the peduncles converge caudally towards the pons, they bound a fossa on the anterior surface of the midbrain called </a:t>
            </a:r>
            <a:r>
              <a:rPr b="1" lang="en-US" sz="8000">
                <a:latin typeface="Arial"/>
                <a:ea typeface="Arial"/>
                <a:cs typeface="Arial"/>
                <a:sym typeface="Arial"/>
              </a:rPr>
              <a:t>Interpeduncular fossa.</a:t>
            </a:r>
            <a:endParaRPr b="1" sz="8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8000">
                <a:latin typeface="Arial"/>
                <a:ea typeface="Arial"/>
                <a:cs typeface="Arial"/>
                <a:sym typeface="Arial"/>
              </a:rPr>
              <a:t> 	The floor of this fossa is formed by the posterior perforated substance, which is a layer of gray matter pierced by branches of the posterior cerebral artery that supply the midbrain.</a:t>
            </a:r>
            <a:endParaRPr sz="8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G_4547.PNG" id="165" name="Google Shape;1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152400"/>
            <a:ext cx="41148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4551.PNG" id="166" name="Google Shape;16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4191000"/>
            <a:ext cx="4280672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Contents of interpeduncular fossa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5"/>
          <p:cNvSpPr txBox="1"/>
          <p:nvPr>
            <p:ph idx="1" type="body"/>
          </p:nvPr>
        </p:nvSpPr>
        <p:spPr>
          <a:xfrm>
            <a:off x="457200" y="914400"/>
            <a:ext cx="74676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80"/>
              <a:buChar char="🞆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terminal bifurcation of the basilar artery into the posterior cerebral arteries.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posterior communicating arteries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emerging roots of the oculomotor nerve (CN 111)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457200" y="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B. Posterior (dorsal) surface: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9" name="Google Shape;179;p6"/>
          <p:cNvSpPr txBox="1"/>
          <p:nvPr>
            <p:ph idx="1" type="body"/>
          </p:nvPr>
        </p:nvSpPr>
        <p:spPr>
          <a:xfrm>
            <a:off x="228600" y="533400"/>
            <a:ext cx="49530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posterior surface of the midbrain is called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Tectum (roof).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tectum has 4 tubercles on its surface which lie inferior to the pineal gland.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upper pair of the tubercles are the left and right superior colliculi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▪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lower pair are the left and right inferior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 	colliculi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Due to this arrangement, the tectum is also called the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Quadrigeminal plate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while the colliculi are collectively known as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corpora quadrigemina.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colliculi are separated from each other by the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cruciform sulcus. 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Rostrally, the sulcus extend from the depression of the pineal gland. Its caudal end is continued by frenulum of the superior medullary velum.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260"/>
              <a:buFont typeface="Noto Sans Symbols"/>
              <a:buChar char="⮚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frenulum separates the inferior colliculi from eachother and the Trochlear nerve (CN IV) emerges from either side of the frenulum.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G_4552.PNG"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228600"/>
            <a:ext cx="35814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4558.PNG" id="182" name="Google Shape;18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600" y="3429000"/>
            <a:ext cx="37338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G_4547.PNG" id="188" name="Google Shape;18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1" y="0"/>
            <a:ext cx="434339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_4558.PNG" id="189" name="Google Shape;18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860" y="186447"/>
            <a:ext cx="44958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457200" y="274638"/>
            <a:ext cx="7467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2. Inferior surface of midbrain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5" name="Google Shape;195;p8"/>
          <p:cNvSpPr txBox="1"/>
          <p:nvPr>
            <p:ph idx="1" type="body"/>
          </p:nvPr>
        </p:nvSpPr>
        <p:spPr>
          <a:xfrm>
            <a:off x="457200" y="762000"/>
            <a:ext cx="4267200" cy="571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84000"/>
              <a:buNone/>
            </a:pPr>
            <a:r>
              <a:rPr lang="en-US"/>
              <a:t>	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It consists of two major parts: cerebral peduncles and tectum.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cerebral peduncles consists of the crura cerebri and tegmentum. They are separated from each other by a darkened stripe called the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substantia nigra.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dorsal part of the tegmentum is traversed by the cerebral aqueduct, which connects the third and fourth ventricles of the brain.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tectum lies dorsal to the tegmentum and cerebral aqueduct and it contains the nuclei of the superior and inferior colliculi.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ventral region on cross-section is called crus cerebri which contains white matter from the cortex.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G_4553.PNG" id="197" name="Google Shape;1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811300"/>
            <a:ext cx="4267201" cy="561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 txBox="1"/>
          <p:nvPr>
            <p:ph type="title"/>
          </p:nvPr>
        </p:nvSpPr>
        <p:spPr>
          <a:xfrm>
            <a:off x="457200" y="0"/>
            <a:ext cx="746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Crus cerebri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3" name="Google Shape;203;p9"/>
          <p:cNvSpPr txBox="1"/>
          <p:nvPr>
            <p:ph idx="1" type="body"/>
          </p:nvPr>
        </p:nvSpPr>
        <p:spPr>
          <a:xfrm>
            <a:off x="457200" y="685800"/>
            <a:ext cx="4953000" cy="57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364"/>
              <a:buNone/>
            </a:pPr>
            <a:r>
              <a:rPr lang="en-US"/>
              <a:t>	</a:t>
            </a: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crus cerebri is the most ventral area of each cerebral peduncle. It is composed of 3 descending pathways which have specific arrangements.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	These pathways are collectively called the longitudinal pontine fibers: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Char char="🞆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Corticospinal and corticonuclear pathways: travels the spinal cord and cranial nerve nuclei respectively. Together, these pathways occupy the central two-thirds of each crus cerebri.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Char char="🞆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Corticopontine pathways: divide into the frontopontine and temporopontine tracts based on which part of the cerebral cortex they originate.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	The frontopontine tract occupies the medial sixth of ipsilateral crus, while the temporopontine tract composes the lateral sixth of ipsilateral crus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nternal-Anatomy-of-the-Midbrain-Level-of-the-Inferior-Colliculi..jpg" id="205" name="Google Shape;20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9432" y="1000236"/>
            <a:ext cx="37338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/>
          <p:nvPr>
            <p:ph type="title"/>
          </p:nvPr>
        </p:nvSpPr>
        <p:spPr>
          <a:xfrm>
            <a:off x="457200" y="0"/>
            <a:ext cx="7467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Tegmentum (pretectal area)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1" name="Google Shape;211;p10"/>
          <p:cNvSpPr txBox="1"/>
          <p:nvPr>
            <p:ph idx="1" type="body"/>
          </p:nvPr>
        </p:nvSpPr>
        <p:spPr>
          <a:xfrm>
            <a:off x="457200" y="685800"/>
            <a:ext cx="4495800" cy="5788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mesencephalic tegmentum,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also known as the Pretectum is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central part of the midbrain.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contains the reticular and cranial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nerve nuclei as well as several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neural pathways.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Reticular formation:  a network of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phylogenetically old nuclei that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regulates basic and vital autonomic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functions.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mesencephalic part of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reticular formation lies within two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clusters that are found anterolateral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 the periaqueductal gray.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tegmentum.jpg"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766762"/>
            <a:ext cx="3890962" cy="53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457200" y="274638"/>
            <a:ext cx="7467600" cy="4873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Tegmentum (cont’d)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9" name="Google Shape;219;p11"/>
          <p:cNvSpPr txBox="1"/>
          <p:nvPr>
            <p:ph idx="1" type="body"/>
          </p:nvPr>
        </p:nvSpPr>
        <p:spPr>
          <a:xfrm>
            <a:off x="457200" y="914400"/>
            <a:ext cx="41148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Each cluster is divided into 3 columns: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Gigantocellar reticular nuclei (medial column): for motor coordination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Raphe nuclei (median column): for pain and mood regulation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Parvocellar reticular nuclei (lateral column): regulation of breathing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1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5.jpg"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228600"/>
            <a:ext cx="3733800" cy="5791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Periaqueductal gray (pag)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7" name="Google Shape;227;p12"/>
          <p:cNvSpPr txBox="1"/>
          <p:nvPr>
            <p:ph idx="1" type="body"/>
          </p:nvPr>
        </p:nvSpPr>
        <p:spPr>
          <a:xfrm>
            <a:off x="457200" y="914400"/>
            <a:ext cx="45720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is a mass of neuronal bodies that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encircles the cerebral aqueduct. Its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function is to modulate pain by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releasing endogenous opoids such as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enkephalin, serotonin and dynorphin.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PAG connects to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somatosensory areas of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cerebral cortex, as well as with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lower spinal cord centers.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 sz="105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Cranial nerve nuclei: The nuclei of the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oculomotor (CN III), trochlear nerve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(CN IV) and trigeminal nerves (CN V)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are located near the PAG matter.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G_4553.PNG"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914400"/>
            <a:ext cx="4191000" cy="54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>
            <p:ph type="title"/>
          </p:nvPr>
        </p:nvSpPr>
        <p:spPr>
          <a:xfrm>
            <a:off x="457200" y="0"/>
            <a:ext cx="7467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Substantia nigra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13"/>
          <p:cNvSpPr txBox="1"/>
          <p:nvPr>
            <p:ph idx="1" type="body"/>
          </p:nvPr>
        </p:nvSpPr>
        <p:spPr>
          <a:xfrm>
            <a:off x="457200" y="838200"/>
            <a:ext cx="4648200" cy="5635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substantia nigra is a semilunar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lamina of heavily pigmented neurons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located between the crus cerebri and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mesencephalic tegmentum.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It has 2 parts: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Century Schoolbook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Dorsal pars compacta: composed of neurons that produce the neurotransmitter dopamine. It connects the striatum via the nigeostriatal pathway and facilitates its activity.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Century Schoolbook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Ventral pars reticulata: composed of the neurons that mainly produce inhibitory neurotransmitter GABA. This part of substantia nigra receives the information from the stratum, after which it further projects to the thalamus.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pars.jpg"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914400"/>
            <a:ext cx="39624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The red nucleus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3" name="Google Shape;243;p14"/>
          <p:cNvSpPr txBox="1"/>
          <p:nvPr>
            <p:ph idx="1" type="body"/>
          </p:nvPr>
        </p:nvSpPr>
        <p:spPr>
          <a:xfrm>
            <a:off x="457200" y="914400"/>
            <a:ext cx="44196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red nucleus (nucleus rubber)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is an ovoid mass located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dorsomedial to substantia nigra at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level of superior colliculus. It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bears this mass due to its reddish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color that this nucleus has on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fresh specimen, due to its high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iron content.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consists of 2 parts: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Char char="🞆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caudal (magnocellular) portion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Char char="🞆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rostral (parvocellular) portion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4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m_ropp10_c005f002.png" id="245" name="Google Shape;24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61442"/>
            <a:ext cx="3810000" cy="6735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The ascending pathways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15"/>
          <p:cNvSpPr txBox="1"/>
          <p:nvPr>
            <p:ph idx="1" type="body"/>
          </p:nvPr>
        </p:nvSpPr>
        <p:spPr>
          <a:xfrm>
            <a:off x="457200" y="990600"/>
            <a:ext cx="4267200" cy="5483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ascending bundle consists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of the cerebellothalamic tract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and cerebellorubral tracts. 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cerebellothalamic tract continues its pathway through the brainstem to reach the ventrolateral nucleus of the thalamus.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The cerebellorubral tract synapses with the contralateral red nucleus.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Font typeface="Noto Sans Symbols"/>
              <a:buChar char="⮚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A small amount of the ascending fibers synapses with the periaqueductal gray and reticular formation.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5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m_ropp10_c005f002.png" id="253" name="Google Shape;2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838200"/>
            <a:ext cx="4267200" cy="5896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The descending pathways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p16"/>
          <p:cNvSpPr txBox="1"/>
          <p:nvPr>
            <p:ph idx="1" type="body"/>
          </p:nvPr>
        </p:nvSpPr>
        <p:spPr>
          <a:xfrm>
            <a:off x="533400" y="914400"/>
            <a:ext cx="44196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This consists of the fibers that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synapse with the reticular formation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of the pons, medulla as well as with 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the Olivary nuclei.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It consists of 5 sensory pathways: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Century Schoolbook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Medial longitudinal fasciculus: located at the dorsal decussation of the superior cerebellar peduncle.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Century Schoolbook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Medial lemniscus: is a sensory pathway that continues on the dorsal column of the spinal cord, forming the dorsal column-medial lemniscus pathway.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ct val="70000"/>
              <a:buFont typeface="Century Schoolbook"/>
              <a:buAutoNum type="arabicPeriod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Trigeminal lemniscus: it carries tactle, pain and temperature sensations from head to the thalamus.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0000"/>
              <a:buNone/>
            </a:pPr>
            <a:r>
              <a:t/>
            </a:r>
            <a:endParaRPr/>
          </a:p>
        </p:txBody>
      </p:sp>
      <p:sp>
        <p:nvSpPr>
          <p:cNvPr id="260" name="Google Shape;260;p16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lemniscus.png" id="261" name="Google Shape;2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990599"/>
            <a:ext cx="4114800" cy="53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"/>
          <p:cNvSpPr txBox="1"/>
          <p:nvPr>
            <p:ph idx="1" type="body"/>
          </p:nvPr>
        </p:nvSpPr>
        <p:spPr>
          <a:xfrm>
            <a:off x="457200" y="762000"/>
            <a:ext cx="7467600" cy="5711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lang="en-US"/>
              <a:t>4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 Spinal lemniscus: conveys pain, temperature, non- discriminative touch and pressure information to the thalamus.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5. Lateral lemniscus: It passes the auditory information from the cochlear nucleus to the contralateral inferior colliculus.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 txBox="1"/>
          <p:nvPr>
            <p:ph type="title"/>
          </p:nvPr>
        </p:nvSpPr>
        <p:spPr>
          <a:xfrm>
            <a:off x="457200" y="274638"/>
            <a:ext cx="7467600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Blood supply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3" name="Google Shape;273;p18"/>
          <p:cNvSpPr txBox="1"/>
          <p:nvPr>
            <p:ph idx="1" type="body"/>
          </p:nvPr>
        </p:nvSpPr>
        <p:spPr>
          <a:xfrm>
            <a:off x="457200" y="1143000"/>
            <a:ext cx="4267200" cy="5330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80"/>
              <a:buFont typeface="Arial"/>
              <a:buChar char="•"/>
            </a:pPr>
            <a:r>
              <a:rPr lang="en-US"/>
              <a:t>The tectum of the midbrain receives its blood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rPr lang="en-US"/>
              <a:t>	supply from the superior cerebellar artery. 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Font typeface="Arial"/>
              <a:buChar char="•"/>
            </a:pPr>
            <a:r>
              <a:rPr lang="en-US"/>
              <a:t>The central part of the tegmentum is supplied by the posterior cerebral artery and paramedian branches of the basilar artery.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Font typeface="Arial"/>
              <a:buChar char="•"/>
            </a:pPr>
            <a:r>
              <a:rPr lang="en-US"/>
              <a:t>Most lateral parts of the midbrain are nourished by the posterior cerebral artery solely.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74" name="Google Shape;274;p18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9.png" id="275" name="Google Shape;2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838200"/>
            <a:ext cx="4267200" cy="51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9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Functions of the midbrain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1" name="Google Shape;281;p19"/>
          <p:cNvSpPr txBox="1"/>
          <p:nvPr>
            <p:ph idx="1" type="body"/>
          </p:nvPr>
        </p:nvSpPr>
        <p:spPr>
          <a:xfrm>
            <a:off x="457200" y="914400"/>
            <a:ext cx="74676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/>
              <a:t>It provides passage for the main descending pathways of the cerebral cortex</a:t>
            </a:r>
            <a:endParaRPr/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/>
              <a:t>It acts as a conduit for the main ascending pathways from the spinal cord which carry the sensory stimuli from the body and head to the brain</a:t>
            </a:r>
            <a:endParaRPr/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/>
              <a:t>It houses the mesencephalic portion of the reticular formation which controls pain and mood</a:t>
            </a:r>
            <a:endParaRPr/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Font typeface="Century Schoolbook"/>
              <a:buAutoNum type="arabicPeriod"/>
            </a:pPr>
            <a:r>
              <a:rPr lang="en-US"/>
              <a:t>Connecting with the auditory and visual nuclei, it enables the auditory and ocular reflexive movements.</a:t>
            </a:r>
            <a:endParaRPr/>
          </a:p>
          <a:p>
            <a:pPr indent="-457200" lvl="0" marL="457200" rtl="0" algn="l"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0"/>
          <p:cNvSpPr txBox="1"/>
          <p:nvPr>
            <p:ph type="title"/>
          </p:nvPr>
        </p:nvSpPr>
        <p:spPr>
          <a:xfrm>
            <a:off x="457200" y="274638"/>
            <a:ext cx="74676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dk1"/>
                </a:solidFill>
              </a:rPr>
              <a:t>Clinical significance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8" name="Google Shape;288;p20"/>
          <p:cNvSpPr txBox="1"/>
          <p:nvPr>
            <p:ph idx="1" type="body"/>
          </p:nvPr>
        </p:nvSpPr>
        <p:spPr>
          <a:xfrm>
            <a:off x="457200" y="914400"/>
            <a:ext cx="7467600" cy="5559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Parinaud’s syndrome: damage to the tectum of the midbrain may cause inability to gaze upwards  and downwards as the corpora quadrigemina will be affected.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Char char="🞆"/>
            </a:pPr>
            <a:r>
              <a:rPr lang="en-US"/>
              <a:t>Weber’s syndrome: an aneurysm in the posterior cerebral artery at the circle of willis  can cause weakness in the tongue, palate and lower face.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 txBox="1"/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Century Schoolbook"/>
              <a:buNone/>
            </a:pPr>
            <a:r>
              <a:rPr lang="en-US">
                <a:solidFill>
                  <a:schemeClr val="accent3"/>
                </a:solidFill>
              </a:rPr>
              <a:t>Thanks for listening</a:t>
            </a:r>
            <a:endParaRPr>
              <a:solidFill>
                <a:schemeClr val="accent3"/>
              </a:solidFill>
            </a:endParaRPr>
          </a:p>
        </p:txBody>
      </p:sp>
      <p:pic>
        <p:nvPicPr>
          <p:cNvPr descr="IMG_4193.PNG" id="295" name="Google Shape;295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00200"/>
            <a:ext cx="6629400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>
            <p:ph idx="12" type="sldNum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riel">
  <a:themeElements>
    <a:clrScheme name="Oriel">
      <a:dk1>
        <a:srgbClr val="000000"/>
      </a:dk1>
      <a:lt1>
        <a:srgbClr val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2026-04-29T09:23:00Z</dcterms:created>
  <dc:creator>DELL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4F59E05E4D7C4D9891157C1DE656380E_13</vt:lpwstr>
  </property>
  <property fmtid="{D5CDD505-2E9C-101B-9397-08002B2CF9AE}" pid="3" name="KSOProductBuildVer">
    <vt:lpwstr>1033-12.1.0.25862</vt:lpwstr>
  </property>
</Properties>
</file>