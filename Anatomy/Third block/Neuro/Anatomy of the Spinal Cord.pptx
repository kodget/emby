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62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y="6858000" cx="9144000"/>
  <p:notesSz cx="6858000" cy="9144000"/>
  <p:embeddedFontLst>
    <p:embeddedFont>
      <p:font typeface="Bodoni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gY6pQR78iZ70sZr5aYIkmSsu2J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font" Target="fonts/Bodoni-bold.fntdata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customschemas.google.com/relationships/presentationmetadata" Target="metadata"/><Relationship Id="rId21" Type="http://schemas.openxmlformats.org/officeDocument/2006/relationships/slide" Target="slides/slide13.xml"/><Relationship Id="rId43" Type="http://schemas.openxmlformats.org/officeDocument/2006/relationships/font" Target="fonts/Bodoni-bold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8" name="Google Shape;3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6" name="Google Shape;3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5" name="Google Shape;3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9" name="Google Shape;3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7" name="Google Shape;3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2" name="Google Shape;36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3" name="Google Shape;3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1" name="Google Shape;37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2" name="Google Shape;3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4" name="Google Shape;38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5" name="Google Shape;3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6" name="Google Shape;3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5" name="Google Shape;40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6" name="Google Shape;40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8" name="Google Shape;42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4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7" name="Google Shape;67;p4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4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9" name="Google Shape;69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9"/>
          <p:cNvSpPr/>
          <p:nvPr>
            <p:ph idx="2" type="clipArt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1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41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 over Text" type="twoObjOverTx">
  <p:cSld name="TWO_OBJECTS_OVER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4"/>
          <p:cNvSpPr txBox="1"/>
          <p:nvPr>
            <p:ph idx="1" type="body"/>
          </p:nvPr>
        </p:nvSpPr>
        <p:spPr>
          <a:xfrm>
            <a:off x="6858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44"/>
          <p:cNvSpPr txBox="1"/>
          <p:nvPr>
            <p:ph idx="2" type="body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44"/>
          <p:cNvSpPr txBox="1"/>
          <p:nvPr>
            <p:ph idx="3" type="body"/>
          </p:nvPr>
        </p:nvSpPr>
        <p:spPr>
          <a:xfrm>
            <a:off x="685800" y="41148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jpg"/><Relationship Id="rId6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21.png"/><Relationship Id="rId5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Relationship Id="rId4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Relationship Id="rId4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22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jpg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jpg"/><Relationship Id="rId4" Type="http://schemas.openxmlformats.org/officeDocument/2006/relationships/image" Target="../media/image2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/>
          <p:nvPr/>
        </p:nvSpPr>
        <p:spPr>
          <a:xfrm>
            <a:off x="3124200" y="5410200"/>
            <a:ext cx="3352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DR OMOTAYO H A</a:t>
            </a:r>
            <a:endParaRPr/>
          </a:p>
        </p:txBody>
      </p:sp>
      <p:sp>
        <p:nvSpPr>
          <p:cNvPr id="130" name="Google Shape;130;p1"/>
          <p:cNvSpPr txBox="1"/>
          <p:nvPr>
            <p:ph type="title"/>
          </p:nvPr>
        </p:nvSpPr>
        <p:spPr>
          <a:xfrm>
            <a:off x="381000" y="685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99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990099"/>
                </a:solidFill>
                <a:latin typeface="Bodoni"/>
                <a:ea typeface="Bodoni"/>
                <a:cs typeface="Bodoni"/>
                <a:sym typeface="Bodoni"/>
              </a:rPr>
              <a:t>ANATOMY OF SPINAL CORD</a:t>
            </a:r>
            <a:endParaRPr/>
          </a:p>
        </p:txBody>
      </p:sp>
      <p:pic>
        <p:nvPicPr>
          <p:cNvPr descr="Image result for SPINAL CORD" id="131" name="Google Shape;1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1346200"/>
            <a:ext cx="3048000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Resources </a:t>
            </a:r>
            <a:endParaRPr/>
          </a:p>
        </p:txBody>
      </p:sp>
      <p:sp>
        <p:nvSpPr>
          <p:cNvPr id="138" name="Google Shape;138;p2"/>
          <p:cNvSpPr txBox="1"/>
          <p:nvPr>
            <p:ph idx="1" type="body"/>
          </p:nvPr>
        </p:nvSpPr>
        <p:spPr>
          <a:xfrm>
            <a:off x="204787" y="1252537"/>
            <a:ext cx="8785225" cy="47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46C0A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Human Anatomy &amp; Physiology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929"/>
              </a:buClr>
              <a:buSzPts val="24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Elaine Marieb</a:t>
            </a:r>
            <a:endParaRPr b="1" i="0" sz="2400" u="none" cap="none" strike="noStrike">
              <a:solidFill>
                <a:srgbClr val="E46C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46C0A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Introduction to Human Body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929"/>
              </a:buClr>
              <a:buSzPts val="24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Gerard Tortora</a:t>
            </a:r>
            <a:endParaRPr b="1" i="0" sz="2400" u="none" cap="none" strike="noStrike">
              <a:solidFill>
                <a:srgbClr val="E46C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46C0A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Human Brain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01929"/>
              </a:buClr>
              <a:buSzPts val="2400"/>
              <a:buFont typeface="Noto Sans Symbols"/>
              <a:buChar char="⮚"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John Nolte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46C0A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Google 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E46C0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OBJECTIVES</a:t>
            </a:r>
            <a:endParaRPr/>
          </a:p>
        </p:txBody>
      </p:sp>
      <p:sp>
        <p:nvSpPr>
          <p:cNvPr id="145" name="Google Shape;145;p3"/>
          <p:cNvSpPr txBox="1"/>
          <p:nvPr>
            <p:ph idx="1" type="body"/>
          </p:nvPr>
        </p:nvSpPr>
        <p:spPr>
          <a:xfrm>
            <a:off x="0" y="190500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At the end of the lecture, students should be able to: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b="1" i="0" lang="en-US" sz="22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Describe the external anatomy of the spinal cord.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b="1" i="0" lang="en-US" sz="22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Describe the internal anatomy of the spinal cord.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b="1" i="0" lang="en-US" sz="22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Describe the spinal nerves: formation, branches and distribution via plexuses.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b="1" i="0" lang="en-US" sz="22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Describe the meninges of the spinal cord.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b="1" i="0" lang="en-US" sz="22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Define a reflex and reflex arc, and describe the components of the reflex arc.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>
            <p:ph type="title"/>
          </p:nvPr>
        </p:nvSpPr>
        <p:spPr>
          <a:xfrm>
            <a:off x="381000" y="24384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Bodoni"/>
              <a:buNone/>
            </a:pPr>
            <a:r>
              <a:rPr b="1" i="0" lang="en-US" sz="44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REVIEW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0" y="0"/>
            <a:ext cx="9144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FUNCTIONS</a:t>
            </a:r>
            <a:endParaRPr/>
          </a:p>
        </p:txBody>
      </p:sp>
      <p:sp>
        <p:nvSpPr>
          <p:cNvPr id="158" name="Google Shape;158;p5"/>
          <p:cNvSpPr txBox="1"/>
          <p:nvPr>
            <p:ph idx="1" type="body"/>
          </p:nvPr>
        </p:nvSpPr>
        <p:spPr>
          <a:xfrm>
            <a:off x="15875" y="1293812"/>
            <a:ext cx="4486275" cy="523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929"/>
              </a:buClr>
              <a:buSzPts val="2000"/>
              <a:buFont typeface="Arial"/>
              <a:buNone/>
            </a:pPr>
            <a:r>
              <a:rPr b="1" i="1" lang="en-US" sz="2000" u="none">
                <a:solidFill>
                  <a:srgbClr val="201929"/>
                </a:solidFill>
                <a:latin typeface="Arial"/>
                <a:ea typeface="Arial"/>
                <a:cs typeface="Arial"/>
                <a:sym typeface="Arial"/>
              </a:rPr>
              <a:t>The nervous system has 3 functions: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Noto Sans Symbols"/>
              <a:buChar char="⮚"/>
            </a:pPr>
            <a:r>
              <a:rPr b="0" i="0" lang="en-US" sz="2000" u="none">
                <a:solidFill>
                  <a:srgbClr val="FF3300"/>
                </a:solidFill>
                <a:latin typeface="Bodoni"/>
                <a:ea typeface="Bodoni"/>
                <a:cs typeface="Bodoni"/>
                <a:sym typeface="Bodoni"/>
              </a:rPr>
              <a:t>Collection of Sensory Input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✔"/>
            </a:pPr>
            <a:r>
              <a:rPr b="1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Identifies changes occurring inside and outside the body by using sensory receptors. These changes are called stimuli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FF3300"/>
                </a:solidFill>
                <a:latin typeface="Bodoni"/>
                <a:ea typeface="Bodoni"/>
                <a:cs typeface="Bodoni"/>
                <a:sym typeface="Bodoni"/>
              </a:rPr>
              <a:t>Integration</a:t>
            </a:r>
            <a:endParaRPr b="0" i="0" sz="2000" u="none" cap="none" strike="noStrike">
              <a:solidFill>
                <a:srgbClr val="FF3300"/>
              </a:solidFill>
              <a:latin typeface="Bodoni"/>
              <a:ea typeface="Bodoni"/>
              <a:cs typeface="Bodoni"/>
              <a:sym typeface="Bodoni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✔"/>
            </a:pPr>
            <a:r>
              <a:rPr b="1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Processes, analyses &amp; interprets these changes and makes decisions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FF3300"/>
                </a:solidFill>
                <a:latin typeface="Bodoni"/>
                <a:ea typeface="Bodoni"/>
                <a:cs typeface="Bodoni"/>
                <a:sym typeface="Bodoni"/>
              </a:rPr>
              <a:t>Motor Output</a:t>
            </a:r>
            <a:endParaRPr b="0" i="0" sz="2000" u="none" cap="none" strike="noStrike">
              <a:solidFill>
                <a:srgbClr val="FF3300"/>
              </a:solidFill>
              <a:latin typeface="Bodoni"/>
              <a:ea typeface="Bodoni"/>
              <a:cs typeface="Bodoni"/>
              <a:sym typeface="Bodoni"/>
            </a:endParaRPr>
          </a:p>
          <a:p>
            <a:pPr indent="-285750" lvl="1" marL="7429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Noto Sans Symbols"/>
              <a:buChar char="✔"/>
            </a:pPr>
            <a:r>
              <a:rPr b="1" i="0" lang="en-U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It then effects a response by activating muscles or glands (effectors) via motor output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austincc.edu/apreview/NursingPics/CNSPics/nervoussystemoverview.jpg"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516062"/>
            <a:ext cx="4119562" cy="2903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0" y="0"/>
            <a:ext cx="9144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ORGANIZATION</a:t>
            </a:r>
            <a:endParaRPr/>
          </a:p>
        </p:txBody>
      </p:sp>
      <p:pic>
        <p:nvPicPr>
          <p:cNvPr descr="File0517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487" y="1182687"/>
            <a:ext cx="3649662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177800" y="1412875"/>
            <a:ext cx="5613400" cy="37687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Bodoni"/>
              <a:buNone/>
            </a:pPr>
            <a:r>
              <a:rPr b="1" i="0" lang="en-US" sz="2000" u="none" cap="none" strike="noStrike">
                <a:solidFill>
                  <a:srgbClr val="FF3300"/>
                </a:solidFill>
                <a:latin typeface="Bodoni"/>
                <a:ea typeface="Bodoni"/>
                <a:cs typeface="Bodoni"/>
                <a:sym typeface="Bodoni"/>
              </a:rPr>
              <a:t>STRUCTURAL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03152"/>
              </a:buClr>
              <a:buSzPts val="2000"/>
              <a:buFont typeface="Courier New"/>
              <a:buChar char="o"/>
            </a:pPr>
            <a:r>
              <a:rPr b="1" i="0" lang="en-US" sz="2000" u="none" cap="none" strike="noStrike">
                <a:solidFill>
                  <a:srgbClr val="403152"/>
                </a:solidFill>
                <a:latin typeface="Arial"/>
                <a:ea typeface="Arial"/>
                <a:cs typeface="Arial"/>
                <a:sym typeface="Arial"/>
              </a:rPr>
              <a:t>Central Nervous System (CNS)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Brain &amp; Spinal Cord</a:t>
            </a:r>
            <a:endParaRPr b="0" i="0" sz="2000" u="none" cap="none" strike="noStrike">
              <a:solidFill>
                <a:srgbClr val="4031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03152"/>
              </a:buClr>
              <a:buSzPts val="2000"/>
              <a:buFont typeface="Courier New"/>
              <a:buChar char="o"/>
            </a:pPr>
            <a:r>
              <a:rPr b="1" i="0" lang="en-US" sz="2000" u="none" cap="none" strike="noStrike">
                <a:solidFill>
                  <a:srgbClr val="403152"/>
                </a:solidFill>
                <a:latin typeface="Arial"/>
                <a:ea typeface="Arial"/>
                <a:cs typeface="Arial"/>
                <a:sym typeface="Arial"/>
              </a:rPr>
              <a:t>Peripheral Nervous System (PNS)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Nerves &amp; Ganglia</a:t>
            </a:r>
            <a:endParaRPr/>
          </a:p>
          <a:p>
            <a:pPr indent="-457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Cranial nerves</a:t>
            </a:r>
            <a:endParaRPr/>
          </a:p>
          <a:p>
            <a:pPr indent="-457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Spinal nerves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0" y="0"/>
            <a:ext cx="9144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ORGANIZATION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203200" y="1412875"/>
            <a:ext cx="4927600" cy="32480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Bodoni"/>
              <a:buNone/>
            </a:pPr>
            <a:r>
              <a:rPr b="1" i="0" lang="en-US" sz="2000" u="none">
                <a:solidFill>
                  <a:srgbClr val="FF3300"/>
                </a:solidFill>
                <a:latin typeface="Bodoni"/>
                <a:ea typeface="Bodoni"/>
                <a:cs typeface="Bodoni"/>
                <a:sym typeface="Bodoni"/>
              </a:rPr>
              <a:t>FUNCTIONAL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03152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rgbClr val="403152"/>
                </a:solidFill>
                <a:latin typeface="Arial"/>
                <a:ea typeface="Arial"/>
                <a:cs typeface="Arial"/>
                <a:sym typeface="Arial"/>
              </a:rPr>
              <a:t>Sensory Division (Afferent)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03152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rgbClr val="403152"/>
                </a:solidFill>
                <a:latin typeface="Arial"/>
                <a:ea typeface="Arial"/>
                <a:cs typeface="Arial"/>
                <a:sym typeface="Arial"/>
              </a:rPr>
              <a:t>Motor Division (Efferent)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Autonomic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Somatic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4031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rgbClr val="4031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hat-when-how.com/wp-content/uploads/2012/08/tmp696738.png"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1400" y="1082675"/>
            <a:ext cx="3987800" cy="5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5575300" y="2471737"/>
            <a:ext cx="3000375" cy="830262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doni"/>
              <a:buNone/>
            </a:pPr>
            <a:r>
              <a:rPr b="1" i="0" lang="en-US" sz="2000" u="none">
                <a:solidFill>
                  <a:srgbClr val="C00000"/>
                </a:solidFill>
                <a:latin typeface="Bodoni"/>
                <a:ea typeface="Bodoni"/>
                <a:cs typeface="Bodoni"/>
                <a:sym typeface="Bodoni"/>
              </a:rPr>
              <a:t>Nucleus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192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201929"/>
                </a:solidFill>
                <a:latin typeface="Arial"/>
                <a:ea typeface="Arial"/>
                <a:cs typeface="Arial"/>
                <a:sym typeface="Arial"/>
              </a:rPr>
              <a:t>A group of neurons within the CNS</a:t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469900" y="2565400"/>
            <a:ext cx="3251200" cy="830262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doni"/>
              <a:buNone/>
            </a:pPr>
            <a:r>
              <a:rPr b="1" i="0" lang="en-US" sz="2000" u="none">
                <a:solidFill>
                  <a:srgbClr val="C00000"/>
                </a:solidFill>
                <a:latin typeface="Bodoni"/>
                <a:ea typeface="Bodoni"/>
                <a:cs typeface="Bodoni"/>
                <a:sym typeface="Bodoni"/>
              </a:rPr>
              <a:t>Ganglion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192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201929"/>
                </a:solidFill>
                <a:latin typeface="Arial"/>
                <a:ea typeface="Arial"/>
                <a:cs typeface="Arial"/>
                <a:sym typeface="Arial"/>
              </a:rPr>
              <a:t>A group of neurons outside the CNS 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5310187" y="5611812"/>
            <a:ext cx="3584575" cy="830262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doni"/>
              <a:buNone/>
            </a:pPr>
            <a:r>
              <a:rPr b="1" i="0" lang="en-US" sz="2000" u="none">
                <a:solidFill>
                  <a:srgbClr val="C00000"/>
                </a:solidFill>
                <a:latin typeface="Bodoni"/>
                <a:ea typeface="Bodoni"/>
                <a:cs typeface="Bodoni"/>
                <a:sym typeface="Bodoni"/>
              </a:rPr>
              <a:t>Tract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192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201929"/>
                </a:solidFill>
                <a:latin typeface="Arial"/>
                <a:ea typeface="Arial"/>
                <a:cs typeface="Arial"/>
                <a:sym typeface="Arial"/>
              </a:rPr>
              <a:t>A group of nerve fibers (axons) within the CNS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395287" y="5595937"/>
            <a:ext cx="3084512" cy="830262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doni"/>
              <a:buNone/>
            </a:pPr>
            <a:r>
              <a:rPr b="1" i="0" lang="en-US" sz="2000" u="none">
                <a:solidFill>
                  <a:srgbClr val="C00000"/>
                </a:solidFill>
                <a:latin typeface="Bodoni"/>
                <a:ea typeface="Bodoni"/>
                <a:cs typeface="Bodoni"/>
                <a:sym typeface="Bodoni"/>
              </a:rPr>
              <a:t>Nerve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192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201929"/>
                </a:solidFill>
                <a:latin typeface="Arial"/>
                <a:ea typeface="Arial"/>
                <a:cs typeface="Arial"/>
                <a:sym typeface="Arial"/>
              </a:rPr>
              <a:t>A group of nerve fibers (axons) outside the CNS</a:t>
            </a:r>
            <a:endParaRPr/>
          </a:p>
        </p:txBody>
      </p:sp>
      <p:pic>
        <p:nvPicPr>
          <p:cNvPr descr="http://upload.wikimedia.org/wikipedia/commons/thumb/c/c0/Medulla_spinalis_-_Substantia_grisea_-_English.svg/400px-Medulla_spinalis_-_Substantia_grisea_-_English.svg.png"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000" y="122237"/>
            <a:ext cx="3097212" cy="22701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://www.humanneurophysiology.com/images/fig-1.gif"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887" y="338137"/>
            <a:ext cx="2447925" cy="2170112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://www.health.com/health/static/hw/media/medical/hw/hwkb17_032_001.jpg" id="187" name="Google Shape;187;p8"/>
          <p:cNvPicPr preferRelativeResize="0"/>
          <p:nvPr/>
        </p:nvPicPr>
        <p:blipFill rotWithShape="1">
          <a:blip r:embed="rId5">
            <a:alphaModFix/>
          </a:blip>
          <a:srcRect b="6761" l="8216" r="1393" t="0"/>
          <a:stretch/>
        </p:blipFill>
        <p:spPr>
          <a:xfrm>
            <a:off x="917575" y="3625850"/>
            <a:ext cx="2409825" cy="187325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://img.tfd.com/MosbyMD/thumb/optic_nerve.jpg" id="188" name="Google Shape;1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5050" y="3657600"/>
            <a:ext cx="2006600" cy="1943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type="title"/>
          </p:nvPr>
        </p:nvSpPr>
        <p:spPr>
          <a:xfrm>
            <a:off x="6096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SPINAL CORD</a:t>
            </a:r>
            <a:endParaRPr/>
          </a:p>
        </p:txBody>
      </p:sp>
      <p:sp>
        <p:nvSpPr>
          <p:cNvPr id="195" name="Google Shape;195;p9"/>
          <p:cNvSpPr txBox="1"/>
          <p:nvPr>
            <p:ph idx="1" type="body"/>
          </p:nvPr>
        </p:nvSpPr>
        <p:spPr>
          <a:xfrm>
            <a:off x="0" y="990600"/>
            <a:ext cx="5562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main pathway for information connecting the brain and peripheral nervous system.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It is elongated, cylindrical, suspended in the vertebral canal  and protected by vertebrae 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Surrounded by the meninges and cerebrospinal fluid (CSF).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primary function of spinal cord is a transmission of neural signals between the brain and the rest of the body.</a:t>
            </a:r>
            <a:endParaRPr b="1" i="0" sz="2000" u="none">
              <a:solidFill>
                <a:srgbClr val="E46C0A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⮚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Sensory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⮚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Motor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⮚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Local reflexes</a:t>
            </a:r>
            <a:endParaRPr/>
          </a:p>
        </p:txBody>
      </p:sp>
      <p:pic>
        <p:nvPicPr>
          <p:cNvPr descr="Image result for SPINAL CORD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143000"/>
            <a:ext cx="28575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>
            <p:ph type="title"/>
          </p:nvPr>
        </p:nvSpPr>
        <p:spPr>
          <a:xfrm>
            <a:off x="6096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SPINAL CORD</a:t>
            </a:r>
            <a:endParaRPr/>
          </a:p>
        </p:txBody>
      </p:sp>
      <p:sp>
        <p:nvSpPr>
          <p:cNvPr id="203" name="Google Shape;203;p10"/>
          <p:cNvSpPr txBox="1"/>
          <p:nvPr>
            <p:ph idx="1" type="body"/>
          </p:nvPr>
        </p:nvSpPr>
        <p:spPr>
          <a:xfrm>
            <a:off x="34925" y="1104900"/>
            <a:ext cx="5562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from foramen magnum to second lumbar vertebra.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Continuous above with the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medulla oblongata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tapered inferior end forms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conus medullaris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. 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It is connected to the coccyx by a non-neuronal cord called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Filum Terminale.</a:t>
            </a:r>
            <a:endParaRPr/>
          </a:p>
        </p:txBody>
      </p:sp>
      <p:pic>
        <p:nvPicPr>
          <p:cNvPr descr="see65576_1201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143000"/>
            <a:ext cx="2590800" cy="3650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upload.wikimedia.org/wikipedia/commons/2/2a/Medulla_oblongata_and_foramen_magnum_animation_small.gif" id="205" name="Google Shape;20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733800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sciweb.hfcc.edu/Biology/AP/233/233lecture/neuro/overall/course1/Images/L2I22.jpg" id="206" name="Google Shape;20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4651375"/>
            <a:ext cx="2581275" cy="22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/>
          <p:nvPr>
            <p:ph type="title"/>
          </p:nvPr>
        </p:nvSpPr>
        <p:spPr>
          <a:xfrm>
            <a:off x="6096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SPINAL CORD</a:t>
            </a:r>
            <a:endParaRPr/>
          </a:p>
        </p:txBody>
      </p:sp>
      <p:sp>
        <p:nvSpPr>
          <p:cNvPr id="213" name="Google Shape;213;p11"/>
          <p:cNvSpPr txBox="1"/>
          <p:nvPr>
            <p:ph idx="1" type="body"/>
          </p:nvPr>
        </p:nvSpPr>
        <p:spPr>
          <a:xfrm>
            <a:off x="0" y="1143000"/>
            <a:ext cx="5486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Gives rise to 31 pairs of spinal nerves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bundle of spinal nerves extending inferiorly from </a:t>
            </a:r>
            <a:r>
              <a:rPr b="1" i="1" lang="en-US" sz="2000" u="none">
                <a:solidFill>
                  <a:srgbClr val="376092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lumbosacral enlargement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and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conus medullaris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surround the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filum terminale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and form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cauda equina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Segmented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8 Cervical 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12 Thoracic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5 Lumbar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5 Sacral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1 Coccygeal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Has two enlargements: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Cervical Enlargement: supplies upper limbs.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Lumbosacral Enlargement: supplies lower limbs.</a:t>
            </a:r>
            <a:endParaRPr/>
          </a:p>
        </p:txBody>
      </p:sp>
      <p:pic>
        <p:nvPicPr>
          <p:cNvPr descr="see65576_1201" id="214" name="Google Shape;2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143000"/>
            <a:ext cx="33528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y 111 - Vertebral column-coloured.png" id="215" name="Google Shape;2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13" y="2683675"/>
            <a:ext cx="968375" cy="2252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0" y="228600"/>
            <a:ext cx="9036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CROSS SECTION OF SPINAL CORD</a:t>
            </a:r>
            <a:endParaRPr/>
          </a:p>
        </p:txBody>
      </p:sp>
      <p:pic>
        <p:nvPicPr>
          <p:cNvPr descr="see65576_1203a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138" y="958845"/>
            <a:ext cx="446374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0" y="1066800"/>
            <a:ext cx="449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spinal cord is incompletely divided into two equal parts, anteriorly by a short, shallow </a:t>
            </a: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median fissure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and posteriorly by a deep narrow septum, </a:t>
            </a: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posterior median sulcus.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Composed of </a:t>
            </a: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grey matter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 the center surrounded by </a:t>
            </a: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white matter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supported by neuroglia.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Commissures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connections between left and right halves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▪"/>
            </a:pPr>
            <a:r>
              <a:rPr b="1" i="0" lang="en-US" sz="1800" u="none">
                <a:solidFill>
                  <a:srgbClr val="40404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Gray with central canal in the center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▪"/>
            </a:pPr>
            <a:r>
              <a:rPr b="1" i="0" lang="en-US" sz="1800" u="none">
                <a:solidFill>
                  <a:srgbClr val="40404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White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Roots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spinal nerves arise as rootlets then combine to form roots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1800"/>
              <a:buFont typeface="Noto Sans Symbols"/>
              <a:buChar char="▪"/>
            </a:pPr>
            <a:r>
              <a:rPr b="1" i="0" lang="en-US" sz="18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(posterior) root has a ganglion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1800"/>
              <a:buFont typeface="Noto Sans Symbols"/>
              <a:buChar char="▪"/>
            </a:pPr>
            <a:r>
              <a:rPr b="1" i="0" lang="en-US" sz="18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(anterior) 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1800"/>
              <a:buFont typeface="Noto Sans Symbols"/>
              <a:buChar char="▪"/>
            </a:pPr>
            <a:r>
              <a:rPr b="1" i="0" lang="en-US" sz="18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Two roots merge laterally and form the spinal nerve</a:t>
            </a:r>
            <a:endParaRPr/>
          </a:p>
          <a:p>
            <a:pPr indent="-228600" lvl="0" marL="34290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sciencestockphoto.com/image.php?mediaID=MDc2MTU3N2NhZmFkN2U=&amp;type=sample&amp;folderID=NDE1NzdjYWZhZDdl&amp;seo=illustration-of-spinal-cord-cross-section" id="224" name="Google Shape;2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8287" y="4203700"/>
            <a:ext cx="2911475" cy="23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/>
        </p:nvSpPr>
        <p:spPr>
          <a:xfrm>
            <a:off x="0" y="1219200"/>
            <a:ext cx="43434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arrangement of grey matter in the spinal cord resembles the shape of the letter H.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Having: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two posterior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two anterior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two lateral horns/columns.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Consists of: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nerve cell bodies and their processes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neuroglia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blood vessels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 txBox="1"/>
          <p:nvPr>
            <p:ph type="title"/>
          </p:nvPr>
        </p:nvSpPr>
        <p:spPr>
          <a:xfrm>
            <a:off x="685800" y="228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GREY MATTER</a:t>
            </a:r>
            <a:endParaRPr/>
          </a:p>
        </p:txBody>
      </p:sp>
      <p:pic>
        <p:nvPicPr>
          <p:cNvPr descr="see65576_1203a"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95400"/>
            <a:ext cx="446374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/>
        </p:nvSpPr>
        <p:spPr>
          <a:xfrm>
            <a:off x="0" y="1066800"/>
            <a:ext cx="4572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nerve cells are 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multipolar,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and are of </a:t>
            </a:r>
            <a:r>
              <a:rPr b="1" i="0" lang="en-US" sz="2000" u="sng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THREE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main categories: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⮚"/>
            </a:pP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Sensory neurons (Tract cells)</a:t>
            </a:r>
            <a:endParaRPr b="1" i="0" sz="20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457200" lvl="1" marL="8572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receive impulses from the periphery of the body and whose axons constitute the ascending fasciculi of the white matter.</a:t>
            </a:r>
            <a:endParaRPr/>
          </a:p>
          <a:p>
            <a:pPr indent="-457200" lvl="1" marL="8572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rgbClr val="0D0D0D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located in the dorsal horns</a:t>
            </a:r>
            <a:r>
              <a:rPr b="1" i="0" lang="en-US" sz="1800" u="none" cap="none" strike="noStrik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⮚"/>
            </a:pP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Lower motor neurons</a:t>
            </a:r>
            <a:endParaRPr/>
          </a:p>
          <a:p>
            <a:pPr indent="-457200" lvl="1" marL="8572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transmit impulses to the skeletal muscles.</a:t>
            </a:r>
            <a:endParaRPr/>
          </a:p>
          <a:p>
            <a:pPr indent="-457200" lvl="1" marL="8572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located in the ventral horns </a:t>
            </a:r>
            <a:endParaRPr/>
          </a:p>
          <a:p>
            <a:pPr indent="-457200" lvl="2" marL="13144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1" i="0" lang="en-US" sz="18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similar neurons in the lateral horn are the preganglionic neurons of the autonomic system.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⮚"/>
            </a:pP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Interneurons (connector neurons)</a:t>
            </a:r>
            <a:endParaRPr/>
          </a:p>
          <a:p>
            <a:pPr indent="-457200" lvl="1" marL="8572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linking sensory and motor neurons, at the same or different levels, which form spinal reflex arcs.</a:t>
            </a:r>
            <a:endParaRPr/>
          </a:p>
          <a:p>
            <a:pPr indent="-457200" lvl="1" marL="8572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>
            <p:ph type="title"/>
          </p:nvPr>
        </p:nvSpPr>
        <p:spPr>
          <a:xfrm>
            <a:off x="685800" y="228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GREY MATTER</a:t>
            </a:r>
            <a:endParaRPr/>
          </a:p>
        </p:txBody>
      </p:sp>
      <p:pic>
        <p:nvPicPr>
          <p:cNvPr descr="see65576_1203a" id="240" name="Google Shape;2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260" y="1295400"/>
            <a:ext cx="446374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>
            <p:ph type="title"/>
          </p:nvPr>
        </p:nvSpPr>
        <p:spPr>
          <a:xfrm>
            <a:off x="0" y="228600"/>
            <a:ext cx="914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200"/>
              <a:buFont typeface="Bodoni"/>
              <a:buNone/>
            </a:pPr>
            <a:r>
              <a:rPr b="1" i="0" lang="en-US" sz="32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NEURONAL ARCHITECTURE OF </a:t>
            </a:r>
            <a:br>
              <a:rPr b="1" i="0" lang="en-US" sz="32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</a:br>
            <a:r>
              <a:rPr b="1" i="0" lang="en-US" sz="32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SPINAL GREY MATTER</a:t>
            </a:r>
            <a:endParaRPr/>
          </a:p>
        </p:txBody>
      </p:sp>
      <p:sp>
        <p:nvSpPr>
          <p:cNvPr id="247" name="Google Shape;247;p15"/>
          <p:cNvSpPr txBox="1"/>
          <p:nvPr>
            <p:ph idx="1" type="body"/>
          </p:nvPr>
        </p:nvSpPr>
        <p:spPr>
          <a:xfrm>
            <a:off x="76200" y="1430337"/>
            <a:ext cx="4800600" cy="474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Cells of the same type are clustered into groups, which occur in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long columns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 transverse section, these columns appear as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layers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especially within the dorsal horn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These layers are called the </a:t>
            </a:r>
            <a:r>
              <a:rPr b="1" i="0" lang="en-US" sz="2000" u="none">
                <a:solidFill>
                  <a:srgbClr val="FF0066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laminae of Rexed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that are numbered by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Roman numerals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starting from the tip of the dorsal horn and moving ventrally into the ventral horn.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 Rexed laminae comprise a system of ten layers of grey matter (I-X), identified in the early 1950s by Swedish neuroscientist.</a:t>
            </a:r>
            <a:endParaRPr/>
          </a:p>
        </p:txBody>
      </p:sp>
      <p:pic>
        <p:nvPicPr>
          <p:cNvPr descr="H:\Neuro.pic\lamina_Rexed%20laminae(1).jpg" id="248" name="Google Shape;248;p15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8725" y="1546225"/>
            <a:ext cx="3952875" cy="28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type="title"/>
          </p:nvPr>
        </p:nvSpPr>
        <p:spPr>
          <a:xfrm>
            <a:off x="0" y="228600"/>
            <a:ext cx="91440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000"/>
              <a:buFont typeface="Bodoni"/>
              <a:buNone/>
            </a:pPr>
            <a:r>
              <a:rPr b="1" i="0" lang="en-US" sz="3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NERVE CELL GROUPS IN DORSAL HORN</a:t>
            </a:r>
            <a:endParaRPr/>
          </a:p>
        </p:txBody>
      </p:sp>
      <p:sp>
        <p:nvSpPr>
          <p:cNvPr id="255" name="Google Shape;255;p16"/>
          <p:cNvSpPr txBox="1"/>
          <p:nvPr>
            <p:ph idx="1" type="body"/>
          </p:nvPr>
        </p:nvSpPr>
        <p:spPr>
          <a:xfrm>
            <a:off x="76200" y="1143000"/>
            <a:ext cx="4129087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3200"/>
              <a:buNone/>
            </a:pPr>
            <a:r>
              <a:rPr b="1" i="0" lang="en-US" sz="32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Four main groups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Substantia Gelatinosa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Nucleus Proprius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Nucleus Dorsalis </a:t>
            </a:r>
            <a:endParaRPr b="1" i="0" sz="24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514350" lvl="1" marL="9144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Clark’s column</a:t>
            </a:r>
            <a:endParaRPr/>
          </a:p>
          <a:p>
            <a:pPr indent="-514350" lvl="1" marL="9144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Nucleus thoracis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Visceral Afferent Nucleus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3" id="256" name="Google Shape;25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538" l="5305" r="3506" t="5290"/>
          <a:stretch/>
        </p:blipFill>
        <p:spPr>
          <a:xfrm>
            <a:off x="4191000" y="990600"/>
            <a:ext cx="4776787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/>
          <p:nvPr/>
        </p:nvSpPr>
        <p:spPr>
          <a:xfrm>
            <a:off x="4419600" y="1447800"/>
            <a:ext cx="76200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4038600" y="1981200"/>
            <a:ext cx="1066800" cy="3810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038600" y="2286000"/>
            <a:ext cx="1066800" cy="3048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upload.wikimedia.org/wikipedia/commons/thumb/c/c0/Medulla_spinalis_-_Substantia_grisea_-_English.svg/350px-Medulla_spinalis_-_Substantia_grisea_-_English.svg.png" id="260" name="Google Shape;2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587" y="4191000"/>
            <a:ext cx="3529012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 txBox="1"/>
          <p:nvPr>
            <p:ph idx="1" type="body"/>
          </p:nvPr>
        </p:nvSpPr>
        <p:spPr>
          <a:xfrm>
            <a:off x="228600" y="304800"/>
            <a:ext cx="4876800" cy="2667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Substantia Gelatinosa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Rexed Laminae II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Located at the </a:t>
            </a:r>
            <a:r>
              <a:rPr b="1" i="0" lang="en-US" sz="2000" u="none">
                <a:solidFill>
                  <a:srgbClr val="00B0F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apex of the horn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Composed of </a:t>
            </a:r>
            <a:r>
              <a:rPr b="1" i="0" lang="en-US" sz="2000" u="none">
                <a:solidFill>
                  <a:srgbClr val="FFC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large neurons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throughout the length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of spinal cord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Arial"/>
              <a:buChar char="•"/>
            </a:pPr>
            <a:r>
              <a:rPr b="1" i="0" lang="en-US" sz="2000" u="sng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Afferents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</a:t>
            </a:r>
            <a:r>
              <a:rPr b="1" i="0" lang="en-US" sz="2000" u="none">
                <a:solidFill>
                  <a:srgbClr val="0D0D0D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root fibers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concerned with 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pain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temperature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and 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touch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0" sz="2000" u="none">
              <a:solidFill>
                <a:srgbClr val="FF6600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C:\Documents and Settings\user\My Documents\My Pictures\Copy (2) of cvf.jpg" id="267" name="Google Shape;267;p17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304800"/>
            <a:ext cx="3722687" cy="2667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</p:pic>
      <p:sp>
        <p:nvSpPr>
          <p:cNvPr id="268" name="Google Shape;268;p17"/>
          <p:cNvSpPr txBox="1"/>
          <p:nvPr/>
        </p:nvSpPr>
        <p:spPr>
          <a:xfrm>
            <a:off x="228600" y="3276600"/>
            <a:ext cx="4876800" cy="304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kkal Majalla"/>
              <a:buNone/>
            </a:pPr>
            <a:r>
              <a:rPr b="1" i="0" lang="en-US" sz="24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Nucleus Proprius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Rexed Lamina IV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Located anterior to substantia gelatinosa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Composed of </a:t>
            </a:r>
            <a:r>
              <a:rPr b="1" i="0" lang="en-US" sz="2000" u="none">
                <a:solidFill>
                  <a:srgbClr val="FFC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large neurons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throughout the length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of spinal cord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Arial"/>
              <a:buChar char="•"/>
            </a:pPr>
            <a:r>
              <a:rPr b="1" i="0" lang="en-US" sz="2000" u="sng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Afferents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dorsal root fibers concerned with 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senses of position &amp; movement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(proprioception)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C:\Documents and Settings\user\My Documents\My Pictures\cvf.jpg" id="269" name="Google Shape;2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3276600"/>
            <a:ext cx="3722687" cy="3048000"/>
          </a:xfrm>
          <a:prstGeom prst="rect">
            <a:avLst/>
          </a:prstGeom>
          <a:noFill/>
          <a:ln cap="flat" cmpd="sng" w="9525">
            <a:solidFill>
              <a:srgbClr val="558ED5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/>
          <p:nvPr>
            <p:ph type="title"/>
          </p:nvPr>
        </p:nvSpPr>
        <p:spPr>
          <a:xfrm>
            <a:off x="301625" y="228600"/>
            <a:ext cx="8510587" cy="985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600"/>
              <a:buFont typeface="Calibri"/>
              <a:buNone/>
            </a:pPr>
            <a:br>
              <a:rPr b="0" i="0" lang="en-US" sz="3600" u="none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76" name="Google Shape;276;p18"/>
          <p:cNvSpPr txBox="1"/>
          <p:nvPr>
            <p:ph idx="1" type="body"/>
          </p:nvPr>
        </p:nvSpPr>
        <p:spPr>
          <a:xfrm>
            <a:off x="228600" y="381000"/>
            <a:ext cx="5029200" cy="3505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i="0" lang="en-US" sz="24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Nucleus Dorsalis (Clark’s column, Nucleus thoracis)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Rexed Lamina VII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Located at the base of dorsal horn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Composed mostly of large neurons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from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C8 to L3-4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segments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Associated with 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proprioceptive endings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Afferents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</a:t>
            </a:r>
            <a:r>
              <a:rPr b="1" i="0" lang="en-US" sz="2000" u="none">
                <a:solidFill>
                  <a:srgbClr val="0D0D0D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root fibers concerned </a:t>
            </a:r>
            <a:r>
              <a:rPr b="1" i="0" lang="en-US" sz="2000" u="none">
                <a:solidFill>
                  <a:srgbClr val="40404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with</a:t>
            </a: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information from muscle spindles and tendon organs.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0" sz="2000" u="none">
              <a:solidFill>
                <a:srgbClr val="FF6600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C:\Documents and Settings\user\My Documents\My Pictures\Copy of cvf.jpg" id="277" name="Google Shape;277;p18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6550" y="381000"/>
            <a:ext cx="3467100" cy="2271712"/>
          </a:xfrm>
          <a:prstGeom prst="rect">
            <a:avLst/>
          </a:prstGeom>
          <a:noFill/>
          <a:ln cap="flat" cmpd="sng" w="9525">
            <a:solidFill>
              <a:srgbClr val="558ED5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C:\Documents and Settings\user\My Documents\My Pictures\Copy (5) of cvf.jpg" id="278" name="Google Shape;2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4038600"/>
            <a:ext cx="3455987" cy="2263775"/>
          </a:xfrm>
          <a:prstGeom prst="rect">
            <a:avLst/>
          </a:prstGeom>
          <a:noFill/>
          <a:ln cap="flat" cmpd="sng" w="9525">
            <a:solidFill>
              <a:srgbClr val="558ED5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79" name="Google Shape;279;p18"/>
          <p:cNvSpPr txBox="1"/>
          <p:nvPr/>
        </p:nvSpPr>
        <p:spPr>
          <a:xfrm>
            <a:off x="228600" y="4038600"/>
            <a:ext cx="5029200" cy="2263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Sakkal Majalla"/>
              <a:buNone/>
            </a:pPr>
            <a:r>
              <a:rPr b="1" i="0" lang="en-US" sz="24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Visceral Afferent Nucleus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Rexed Lamina VII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Located lateral to nucleus dorsalis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Composed mostly of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medium size neurons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from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T1 to L3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segments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Afferents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Visceral afferents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/>
          <p:nvPr>
            <p:ph type="title"/>
          </p:nvPr>
        </p:nvSpPr>
        <p:spPr>
          <a:xfrm>
            <a:off x="0" y="228600"/>
            <a:ext cx="9067800" cy="608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000"/>
              <a:buFont typeface="Bodoni"/>
              <a:buNone/>
            </a:pPr>
            <a:r>
              <a:rPr b="1" i="0" lang="en-US" sz="3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NERVE CELL GROUPS IN VENTRAL HORN</a:t>
            </a:r>
            <a:endParaRPr/>
          </a:p>
        </p:txBody>
      </p:sp>
      <p:sp>
        <p:nvSpPr>
          <p:cNvPr id="286" name="Google Shape;286;p19"/>
          <p:cNvSpPr txBox="1"/>
          <p:nvPr>
            <p:ph idx="1" type="body"/>
          </p:nvPr>
        </p:nvSpPr>
        <p:spPr>
          <a:xfrm>
            <a:off x="0" y="1157287"/>
            <a:ext cx="4419600" cy="12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rgbClr val="FF0066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Motor neurons, </a:t>
            </a:r>
            <a:r>
              <a:rPr b="1" i="0" lang="en-US" sz="24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also called</a:t>
            </a:r>
            <a:r>
              <a:rPr b="1" i="0" lang="en-US" sz="2400" u="none">
                <a:solidFill>
                  <a:srgbClr val="FF0066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lower motor neurons.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0" sz="2400" u="none">
              <a:solidFill>
                <a:srgbClr val="FF0066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C:\Documents and Settings\user\My Documents\My Pictures\C5-FF10.png" id="287" name="Google Shape;2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212850"/>
            <a:ext cx="4025900" cy="304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>
            <p:ph type="title"/>
          </p:nvPr>
        </p:nvSpPr>
        <p:spPr>
          <a:xfrm>
            <a:off x="0" y="76200"/>
            <a:ext cx="9144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200"/>
              <a:buFont typeface="Bodoni"/>
              <a:buNone/>
            </a:pPr>
            <a:r>
              <a:rPr b="1" i="0" lang="en-US" sz="32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MOTOR NEURONS IN VENTRAL HORN</a:t>
            </a:r>
            <a:endParaRPr/>
          </a:p>
        </p:txBody>
      </p:sp>
      <p:sp>
        <p:nvSpPr>
          <p:cNvPr id="294" name="Google Shape;294;p20"/>
          <p:cNvSpPr txBox="1"/>
          <p:nvPr>
            <p:ph idx="1" type="body"/>
          </p:nvPr>
        </p:nvSpPr>
        <p:spPr>
          <a:xfrm>
            <a:off x="0" y="1209675"/>
            <a:ext cx="4071937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Noto Sans Symbols"/>
              <a:buChar char="❖"/>
            </a:pPr>
            <a:r>
              <a:rPr b="1" i="0" lang="en-US" sz="2400" u="none">
                <a:solidFill>
                  <a:srgbClr val="FF0066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Are of </a:t>
            </a:r>
            <a:r>
              <a:rPr b="1" i="0" lang="en-US" sz="2400" u="sng">
                <a:solidFill>
                  <a:srgbClr val="FF0066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Two types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Large multipolar cells</a:t>
            </a:r>
            <a:endParaRPr b="1" i="0" sz="22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285750" lvl="1" marL="74295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whose axons pass out in the ventral roots of spinal nerves as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alpha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efferents which innervate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extrafusal muscle fibers of skeletal muscles.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Less numerous smaller multipolar cells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whose axons pass out in the ventral roots of spinal nerves as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gamma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efferents which innervate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intrafusal muscle fibers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of neuromuscular spindles</a:t>
            </a:r>
            <a:endParaRPr b="1" i="0" sz="2000" u="none">
              <a:solidFill>
                <a:srgbClr val="FF0066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2286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f" id="295" name="Google Shape;295;p20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15220" l="6478" r="5508" t="7972"/>
          <a:stretch/>
        </p:blipFill>
        <p:spPr>
          <a:xfrm>
            <a:off x="4214812" y="1285875"/>
            <a:ext cx="4637087" cy="35004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</p:pic>
      <p:sp>
        <p:nvSpPr>
          <p:cNvPr id="296" name="Google Shape;296;p20"/>
          <p:cNvSpPr txBox="1"/>
          <p:nvPr/>
        </p:nvSpPr>
        <p:spPr>
          <a:xfrm>
            <a:off x="4429125" y="5072062"/>
            <a:ext cx="4143375" cy="996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  <a:buFont typeface="Sakkal Majalla"/>
              <a:buNone/>
            </a:pPr>
            <a:r>
              <a:rPr b="1" i="0" lang="en-US" sz="24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Both alpha and gamma motor neurons are under the influence of descending pathways from brain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/>
          <p:nvPr>
            <p:ph idx="4294967295" type="body"/>
          </p:nvPr>
        </p:nvSpPr>
        <p:spPr>
          <a:xfrm>
            <a:off x="47625" y="1076325"/>
            <a:ext cx="4295775" cy="540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rgbClr val="FF0066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Motor neurons are organized in 3 groups:</a:t>
            </a:r>
            <a:endParaRPr/>
          </a:p>
          <a:p>
            <a:pPr indent="-139700" lvl="0" marL="0" marR="0" rtl="0" algn="just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Medial: 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Present in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most segments,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innervates muscles of </a:t>
            </a:r>
            <a:r>
              <a:rPr b="1" i="0" lang="en-US" sz="2000" u="none" cap="none" strike="noStrik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neck and trunk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(including intercostal and abdominal muscles)</a:t>
            </a:r>
            <a:endParaRPr/>
          </a:p>
          <a:p>
            <a:pPr indent="-139700" lvl="0" marL="0" marR="0" rtl="0" algn="just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Central: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Smallest, present in some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cervical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(phrenic C3-5, spinal accessory C1-6) 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lumbosacral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(L2-S1) segments</a:t>
            </a:r>
            <a:endParaRPr/>
          </a:p>
          <a:p>
            <a:pPr indent="-139700" lvl="0" marL="0" marR="0" rtl="0" algn="just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Lateral: </a:t>
            </a:r>
            <a:endParaRPr b="0" i="0" sz="2000" u="none">
              <a:solidFill>
                <a:schemeClr val="folHlink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285750" lvl="1" marL="742950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Present in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cervical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lumbosacral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segments, </a:t>
            </a:r>
            <a:r>
              <a:rPr b="1" i="0" lang="en-US" sz="2000" u="none" cap="none" strike="noStrike">
                <a:solidFill>
                  <a:srgbClr val="FF66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innervates muscles of the limbs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6600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st17" id="303" name="Google Shape;303;p21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26499" l="2299" r="2577" t="2693"/>
          <a:stretch/>
        </p:blipFill>
        <p:spPr>
          <a:xfrm>
            <a:off x="4548187" y="1143000"/>
            <a:ext cx="4468812" cy="342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</p:pic>
      <p:sp>
        <p:nvSpPr>
          <p:cNvPr id="304" name="Google Shape;304;p21"/>
          <p:cNvSpPr txBox="1"/>
          <p:nvPr/>
        </p:nvSpPr>
        <p:spPr>
          <a:xfrm>
            <a:off x="4533900" y="4724400"/>
            <a:ext cx="4533900" cy="1384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800"/>
              <a:buFont typeface="Sakkal Majalla"/>
              <a:buNone/>
            </a:pPr>
            <a:r>
              <a:rPr b="1" i="0" lang="en-US" sz="28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Neurons supplying flexor muscles are located dorsal to neurons for extensor muscles 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0" y="166687"/>
            <a:ext cx="9144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200"/>
              <a:buFont typeface="Bodoni"/>
              <a:buNone/>
            </a:pPr>
            <a:r>
              <a:rPr b="1" i="0" lang="en-US" sz="32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MOTOR NEURONS IN VENTRAL HORN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 txBox="1"/>
          <p:nvPr>
            <p:ph type="title"/>
          </p:nvPr>
        </p:nvSpPr>
        <p:spPr>
          <a:xfrm>
            <a:off x="0" y="228600"/>
            <a:ext cx="9144000" cy="896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000"/>
              <a:buFont typeface="Bodoni"/>
              <a:buNone/>
            </a:pPr>
            <a:r>
              <a:rPr b="1" i="0" lang="en-US" sz="3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NERVE CELL GROUPS IN LATERAL HORN</a:t>
            </a:r>
            <a:endParaRPr/>
          </a:p>
        </p:txBody>
      </p:sp>
      <p:sp>
        <p:nvSpPr>
          <p:cNvPr id="312" name="Google Shape;312;p22"/>
          <p:cNvSpPr txBox="1"/>
          <p:nvPr>
            <p:ph idx="1" type="body"/>
          </p:nvPr>
        </p:nvSpPr>
        <p:spPr>
          <a:xfrm>
            <a:off x="76200" y="1890712"/>
            <a:ext cx="4800600" cy="313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b="1" i="0" lang="en-US" sz="22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Small Column composed of small neurons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from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T1 to L2-3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segments: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Give rise to preganglionic </a:t>
            </a: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sympathetic fibers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Extends from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S2-4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segments: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Give rise to preganglionic </a:t>
            </a: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parasympathetic fibers</a:t>
            </a:r>
            <a:endParaRPr/>
          </a:p>
        </p:txBody>
      </p:sp>
      <p:pic>
        <p:nvPicPr>
          <p:cNvPr descr="C:\Documents and Settings\user\My Documents\My Pictures\Copy (4) of cvf.jpg" id="313" name="Google Shape;313;p22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9825" y="2000250"/>
            <a:ext cx="4041775" cy="27479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"/>
          <p:cNvSpPr txBox="1"/>
          <p:nvPr>
            <p:ph type="title"/>
          </p:nvPr>
        </p:nvSpPr>
        <p:spPr>
          <a:xfrm>
            <a:off x="301625" y="228600"/>
            <a:ext cx="8510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WHITE MATTER</a:t>
            </a:r>
            <a:endParaRPr/>
          </a:p>
        </p:txBody>
      </p:sp>
      <p:sp>
        <p:nvSpPr>
          <p:cNvPr id="320" name="Google Shape;320;p23"/>
          <p:cNvSpPr txBox="1"/>
          <p:nvPr>
            <p:ph idx="1" type="body"/>
          </p:nvPr>
        </p:nvSpPr>
        <p:spPr>
          <a:xfrm>
            <a:off x="101600" y="1025525"/>
            <a:ext cx="4851400" cy="58324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Consists of mixture of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nerve fibers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neuroglia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and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blood vessels. 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White color is due to high proportion of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myelinated nerve fibers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white matter of the spinal cord is arranged in columns/funiculi; </a:t>
            </a:r>
            <a:r>
              <a:rPr b="1" i="1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anterior, posterior and lateral.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nerve fibers are arranged as bundles, running vertically through the cord.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 group of nerve fibers (axons) that share a common origin, termination and function form a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tract</a:t>
            </a: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or</a:t>
            </a:r>
            <a:r>
              <a:rPr b="1" i="0" lang="en-US" sz="2000" u="none">
                <a:solidFill>
                  <a:schemeClr val="fol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fasciculus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These tracts are formed by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sensory nerve fibers ascending to the brain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000" u="none">
                <a:solidFill>
                  <a:srgbClr val="00B05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motor nerve fibers descending from the brain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and </a:t>
            </a:r>
            <a:r>
              <a:rPr b="1" i="0" lang="en-US" sz="2000" u="none">
                <a:solidFill>
                  <a:srgbClr val="00B0F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fibers of connector neurons.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Tracts are often named according to their points of origin and destination, e.g. </a:t>
            </a:r>
            <a:r>
              <a:rPr b="1" i="1" lang="en-US" sz="2000" u="none">
                <a:solidFill>
                  <a:srgbClr val="E46C0A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spinothalamic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1" lang="en-US" sz="2000" u="none">
                <a:solidFill>
                  <a:srgbClr val="E46C0A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corticospinal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. 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10" id="321" name="Google Shape;321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952" l="0" r="3974" t="0"/>
          <a:stretch/>
        </p:blipFill>
        <p:spPr>
          <a:xfrm>
            <a:off x="5143500" y="1119187"/>
            <a:ext cx="3816350" cy="30718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</p:pic>
      <p:sp>
        <p:nvSpPr>
          <p:cNvPr id="322" name="Google Shape;322;p23"/>
          <p:cNvSpPr txBox="1"/>
          <p:nvPr/>
        </p:nvSpPr>
        <p:spPr>
          <a:xfrm>
            <a:off x="5143500" y="4572000"/>
            <a:ext cx="3786187" cy="1098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400"/>
              <a:buFont typeface="Sakkal Majalla"/>
              <a:buNone/>
            </a:pPr>
            <a:r>
              <a:rPr b="1" i="0" lang="en-US" sz="2400" u="none">
                <a:solidFill>
                  <a:srgbClr val="80008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Depending on their function, the spinal tracts are divided into ascending and descending tracts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cending and descending tracts of the spinal cord" id="328" name="Google Shape;328;p24"/>
          <p:cNvPicPr preferRelativeResize="0"/>
          <p:nvPr/>
        </p:nvPicPr>
        <p:blipFill rotWithShape="1">
          <a:blip r:embed="rId3">
            <a:alphaModFix/>
          </a:blip>
          <a:srcRect b="7446" l="5102" r="6121" t="0"/>
          <a:stretch/>
        </p:blipFill>
        <p:spPr>
          <a:xfrm>
            <a:off x="304800" y="304800"/>
            <a:ext cx="8534400" cy="611505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>
            <p:ph type="title"/>
          </p:nvPr>
        </p:nvSpPr>
        <p:spPr>
          <a:xfrm>
            <a:off x="0" y="152400"/>
            <a:ext cx="91440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200"/>
              <a:buFont typeface="Bodoni"/>
              <a:buNone/>
            </a:pPr>
            <a:r>
              <a:rPr b="1" i="0" lang="en-US" sz="32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COMMISSURES OF THE SPINAL CORD</a:t>
            </a:r>
            <a:endParaRPr/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76200" y="1249362"/>
            <a:ext cx="4214812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rgbClr val="E46C0A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Grey Commissure: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Transverse bridge of grey matter connecting the anterior and posterior gray horns on each side</a:t>
            </a:r>
            <a:endParaRPr b="1" i="0" sz="2000" u="none">
              <a:solidFill>
                <a:schemeClr val="hlink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Is pierced by the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central canal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that divides it into anterior and posterior parts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E46C0A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rgbClr val="E46C0A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White Commissure: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Lies ventral to the gray commissure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Mainly contains decussating nerve fibers</a:t>
            </a:r>
            <a:endParaRPr/>
          </a:p>
        </p:txBody>
      </p:sp>
      <p:pic>
        <p:nvPicPr>
          <p:cNvPr descr="C:\Documents and Settings\Free User\My Documents\My Pictures\Copy of scd.jpg" id="336" name="Google Shape;336;p25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0088" y="1419225"/>
            <a:ext cx="4383087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 txBox="1"/>
          <p:nvPr>
            <p:ph type="title"/>
          </p:nvPr>
        </p:nvSpPr>
        <p:spPr>
          <a:xfrm>
            <a:off x="301625" y="228600"/>
            <a:ext cx="8510587" cy="752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000"/>
              <a:buFont typeface="Bodoni"/>
              <a:buNone/>
            </a:pPr>
            <a:r>
              <a:rPr b="1" i="0" lang="en-US" sz="40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CENTRAL CANAL</a:t>
            </a:r>
            <a:endParaRPr/>
          </a:p>
        </p:txBody>
      </p:sp>
      <p:sp>
        <p:nvSpPr>
          <p:cNvPr id="343" name="Google Shape;343;p26"/>
          <p:cNvSpPr txBox="1"/>
          <p:nvPr>
            <p:ph idx="1" type="body"/>
          </p:nvPr>
        </p:nvSpPr>
        <p:spPr>
          <a:xfrm>
            <a:off x="152400" y="1233487"/>
            <a:ext cx="4718050" cy="455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cerebrospinal-filled space that runs longitudinally through the entire length of the spinal cord. 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Lined by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ependyma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(ciliated columnar epithelium)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Continuous with the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ventricular system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of the brain 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Superiorly opens into the 4</a:t>
            </a:r>
            <a:r>
              <a:rPr b="1" baseline="30000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ventricle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Inferiorly in the conus medullaris, it expands into the fusiform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terminal ventricle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and terminates below at the root of filum terminale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C:\Documents and Settings\Free User\My Documents\My Pictures\aaa.gif" id="344" name="Google Shape;344;p26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2093" l="20057" r="4942" t="59486"/>
          <a:stretch/>
        </p:blipFill>
        <p:spPr>
          <a:xfrm>
            <a:off x="5029200" y="1371600"/>
            <a:ext cx="3478212" cy="27098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 txBox="1"/>
          <p:nvPr>
            <p:ph type="title"/>
          </p:nvPr>
        </p:nvSpPr>
        <p:spPr>
          <a:xfrm>
            <a:off x="301625" y="152400"/>
            <a:ext cx="8510587" cy="608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REGIONAL DIFFERENCES</a:t>
            </a:r>
            <a:endParaRPr/>
          </a:p>
        </p:txBody>
      </p:sp>
      <p:sp>
        <p:nvSpPr>
          <p:cNvPr id="351" name="Google Shape;351;p27"/>
          <p:cNvSpPr txBox="1"/>
          <p:nvPr>
            <p:ph idx="1" type="body"/>
          </p:nvPr>
        </p:nvSpPr>
        <p:spPr>
          <a:xfrm>
            <a:off x="0" y="1141412"/>
            <a:ext cx="4545012" cy="47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Although the general pattern of gray matter is the same throughout spinal cord,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regional differences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are apparent in transverse sections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amount of white matter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increases in a caudal-to-cranial direction because fibers are added to ascending tracts and fibers leave descending tracts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gray matter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is in increased volume in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cervical &amp; lumbosacral enlargements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for innervation of upper &amp; lower limbs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The </a:t>
            </a:r>
            <a:r>
              <a:rPr b="1" i="0" lang="en-US" sz="20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lateral horn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is characteristics of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thoracic and upper lumbar segments</a:t>
            </a:r>
            <a:endParaRPr/>
          </a:p>
        </p:txBody>
      </p:sp>
      <p:pic>
        <p:nvPicPr>
          <p:cNvPr descr="C:\Documents and Settings\Zeenet\My Documents\My Pictures\Picture4.png" id="352" name="Google Shape;3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1209675"/>
            <a:ext cx="2054225" cy="1577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C:\Documents and Settings\Zeenet\My Documents\My Pictures\Picture3.png" id="353" name="Google Shape;3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362200"/>
            <a:ext cx="2243137" cy="1517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C:\Documents and Settings\Zeenet\My Documents\My Pictures\Picture2.png" id="354" name="Google Shape;35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8200" y="3952875"/>
            <a:ext cx="2097087" cy="1463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C:\Documents and Settings\Zeenet\My Documents\My Pictures\Picture1.png" id="355" name="Google Shape;35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5324475"/>
            <a:ext cx="2371725" cy="1457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56" name="Google Shape;356;p27"/>
          <p:cNvSpPr txBox="1"/>
          <p:nvPr/>
        </p:nvSpPr>
        <p:spPr>
          <a:xfrm>
            <a:off x="7239000" y="1590675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Cervical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5105400" y="3190875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Thoracic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6934200" y="4486275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Lumbar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5029200" y="5934075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Sacral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type="title"/>
          </p:nvPr>
        </p:nvSpPr>
        <p:spPr>
          <a:xfrm>
            <a:off x="609600" y="762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SPINAL NERVES</a:t>
            </a:r>
            <a:endParaRPr/>
          </a:p>
        </p:txBody>
      </p:sp>
      <p:sp>
        <p:nvSpPr>
          <p:cNvPr id="366" name="Google Shape;366;p28"/>
          <p:cNvSpPr txBox="1"/>
          <p:nvPr>
            <p:ph idx="1" type="body"/>
          </p:nvPr>
        </p:nvSpPr>
        <p:spPr>
          <a:xfrm>
            <a:off x="76200" y="838200"/>
            <a:ext cx="5105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Thirty-one pairs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of spinal nerves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First pair exit vertebral column between skull and atlas, last four pairs exit via the sacral foramina and others exit through intervertebral foramina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Eight pair cervical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000" u="none">
                <a:solidFill>
                  <a:srgbClr val="FF00FF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twelve pair thoracic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five pair lumbar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000" u="none">
                <a:solidFill>
                  <a:srgbClr val="FF00FF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five pair sacral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one pair coccygeal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Each spinal nerve arises as rootlets which then combine to form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(posterior)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&amp;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(anterior) roots.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Two roots merge laterally and form the 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spinal nerve.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(posterior) root has a ganglion (</a:t>
            </a:r>
            <a:r>
              <a:rPr b="1" i="0" lang="en-US" sz="20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root/sensory ganglion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) that contains the </a:t>
            </a:r>
            <a:r>
              <a:rPr b="1" i="0" lang="en-US" sz="2000" u="none">
                <a:solidFill>
                  <a:srgbClr val="FF00FF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cell bodies of the sensory neurons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Each spinal nerve then divides into a </a:t>
            </a:r>
            <a:r>
              <a:rPr b="1" i="0" lang="en-US" sz="2000" u="none">
                <a:solidFill>
                  <a:srgbClr val="FF00FF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smaller dorsal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and a </a:t>
            </a:r>
            <a:r>
              <a:rPr b="1" i="0" lang="en-US" sz="2000" u="none">
                <a:solidFill>
                  <a:srgbClr val="FF00FF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larger ventral ramus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pic>
        <p:nvPicPr>
          <p:cNvPr descr="see65576_1213" id="367" name="Google Shape;3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685800"/>
            <a:ext cx="2414587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ransverse section of spinal cord" id="368" name="Google Shape;368;p28"/>
          <p:cNvPicPr preferRelativeResize="0"/>
          <p:nvPr/>
        </p:nvPicPr>
        <p:blipFill rotWithShape="1">
          <a:blip r:embed="rId4">
            <a:alphaModFix/>
          </a:blip>
          <a:srcRect b="4954" l="4444" r="2221" t="3152"/>
          <a:stretch/>
        </p:blipFill>
        <p:spPr>
          <a:xfrm>
            <a:off x="6019800" y="4648200"/>
            <a:ext cx="2438400" cy="1828800"/>
          </a:xfrm>
          <a:prstGeom prst="rect">
            <a:avLst/>
          </a:prstGeom>
          <a:noFill/>
          <a:ln cap="flat" cmpd="sng" w="2857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 txBox="1"/>
          <p:nvPr>
            <p:ph type="title"/>
          </p:nvPr>
        </p:nvSpPr>
        <p:spPr>
          <a:xfrm>
            <a:off x="0" y="0"/>
            <a:ext cx="914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BRANCHES OF SPINAL NERVES</a:t>
            </a:r>
            <a:endParaRPr/>
          </a:p>
        </p:txBody>
      </p:sp>
      <p:pic>
        <p:nvPicPr>
          <p:cNvPr descr="12_15a" id="375" name="Google Shape;375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3330575"/>
            <a:ext cx="3733800" cy="28495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</p:pic>
      <p:sp>
        <p:nvSpPr>
          <p:cNvPr id="376" name="Google Shape;376;p29"/>
          <p:cNvSpPr txBox="1"/>
          <p:nvPr/>
        </p:nvSpPr>
        <p:spPr>
          <a:xfrm>
            <a:off x="76200" y="353373"/>
            <a:ext cx="8702700" cy="27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Dorsal Ramus: 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innervate deep muscles of the trunk responsible for movements of the vertebral column and skin near the midline of the back.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C0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Ramus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what they innervate depends upon which part of the spinal cord is considered.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7030A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Thoracic region: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form </a:t>
            </a:r>
            <a:r>
              <a:rPr b="1" i="0" lang="en-US" sz="2000" u="none" cap="none" strike="noStrik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intercostal nerves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that innervate the intercostal muscles and the skin over the thorax</a:t>
            </a:r>
            <a:endParaRPr/>
          </a:p>
          <a:p>
            <a:pPr indent="-342900" lvl="1" marL="8001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7030A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Remaining spinal nerve ventral rami (roots of the plexus):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form five plexuses (intermingling of nerves).</a:t>
            </a:r>
            <a:endParaRPr/>
          </a:p>
        </p:txBody>
      </p:sp>
      <p:sp>
        <p:nvSpPr>
          <p:cNvPr id="377" name="Google Shape;377;p29"/>
          <p:cNvSpPr txBox="1"/>
          <p:nvPr>
            <p:ph idx="1" type="body"/>
          </p:nvPr>
        </p:nvSpPr>
        <p:spPr>
          <a:xfrm>
            <a:off x="76200" y="3352800"/>
            <a:ext cx="5181600" cy="198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rami of C1-C4= </a:t>
            </a: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cervical plexus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rami of C5-T1= </a:t>
            </a: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brachial plexus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rami of L1-L5= </a:t>
            </a: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lumbar plexus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rami of L4-S4= </a:t>
            </a: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sacral plexus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Ventral rami of S4 &amp; S5= </a:t>
            </a: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coccygeal plexus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t/>
            </a:r>
            <a:endParaRPr b="1" i="0" sz="2400" u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urier New"/>
              <a:buChar char="o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Communicating Rami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communicate with sympathetic chain of ganglia.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Sakkal Majalla"/>
              <a:ea typeface="Sakkal Majalla"/>
              <a:cs typeface="Sakkal Majalla"/>
              <a:sym typeface="Sakkal Majalla"/>
            </a:endParaRPr>
          </a:p>
        </p:txBody>
      </p:sp>
      <p:cxnSp>
        <p:nvCxnSpPr>
          <p:cNvPr id="378" name="Google Shape;378;p29"/>
          <p:cNvCxnSpPr/>
          <p:nvPr/>
        </p:nvCxnSpPr>
        <p:spPr>
          <a:xfrm flipH="1" rot="10800000">
            <a:off x="4572000" y="5181600"/>
            <a:ext cx="1524000" cy="3810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79" name="Google Shape;379;p29"/>
          <p:cNvCxnSpPr/>
          <p:nvPr/>
        </p:nvCxnSpPr>
        <p:spPr>
          <a:xfrm flipH="1" rot="10800000">
            <a:off x="4572000" y="4876800"/>
            <a:ext cx="1524000" cy="6858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380" name="Google Shape;380;p29"/>
          <p:cNvSpPr/>
          <p:nvPr/>
        </p:nvSpPr>
        <p:spPr>
          <a:xfrm>
            <a:off x="5562600" y="4572000"/>
            <a:ext cx="685800" cy="5334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7315200" y="4343400"/>
            <a:ext cx="685800" cy="5334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"/>
          <p:cNvSpPr txBox="1"/>
          <p:nvPr>
            <p:ph type="title"/>
          </p:nvPr>
        </p:nvSpPr>
        <p:spPr>
          <a:xfrm>
            <a:off x="6096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SPINAL MENINGES</a:t>
            </a:r>
            <a:endParaRPr/>
          </a:p>
        </p:txBody>
      </p:sp>
      <p:sp>
        <p:nvSpPr>
          <p:cNvPr id="388" name="Google Shape;388;p30"/>
          <p:cNvSpPr txBox="1"/>
          <p:nvPr>
            <p:ph idx="1" type="body"/>
          </p:nvPr>
        </p:nvSpPr>
        <p:spPr>
          <a:xfrm>
            <a:off x="0" y="1066800"/>
            <a:ext cx="5410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46C0A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rgbClr val="E46C0A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Connective tissue membranes surrounding spinal cord and brain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Dura mater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continuous with epineurium of the spinal nerves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Arachnoid mater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thin and wispy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Pia mater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bound tightly to surface of brain and spinal cord. 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1" i="0" lang="en-US" sz="1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Forms the </a:t>
            </a:r>
            <a:r>
              <a:rPr b="1" i="0" lang="en-US" sz="18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filum terminale</a:t>
            </a:r>
            <a:r>
              <a:rPr b="1" i="0" lang="en-US" sz="1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which anchors spinal cord to coccyx and the denticulate ligaments that attach the spinal cord to the dura mater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E46C0A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rgbClr val="E46C0A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Spaces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Epidural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Contains blood vessels, connective tissue and fat.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Subdural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Contains serous fluid</a:t>
            </a:r>
            <a:endParaRPr/>
          </a:p>
          <a:p>
            <a:pPr indent="-285750" lvl="1" marL="74295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Subarachnoid</a:t>
            </a:r>
            <a:r>
              <a:rPr b="1" i="0" lang="en-US" sz="20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: Contains CSF and blood vessels within web-like strands of arachnoid tissue</a:t>
            </a:r>
            <a:endParaRPr/>
          </a:p>
        </p:txBody>
      </p:sp>
      <p:pic>
        <p:nvPicPr>
          <p:cNvPr descr="see65576_1202a" id="389" name="Google Shape;3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143000"/>
            <a:ext cx="2881312" cy="26971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see65576_1202b" id="390" name="Google Shape;3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3921125"/>
            <a:ext cx="2895600" cy="278447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91" name="Google Shape;391;p30"/>
          <p:cNvSpPr txBox="1"/>
          <p:nvPr/>
        </p:nvSpPr>
        <p:spPr>
          <a:xfrm>
            <a:off x="7543800" y="5902325"/>
            <a:ext cx="609600" cy="369887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0"/>
          <p:cNvSpPr txBox="1"/>
          <p:nvPr/>
        </p:nvSpPr>
        <p:spPr>
          <a:xfrm>
            <a:off x="6248400" y="6130925"/>
            <a:ext cx="609600" cy="369887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5638800" y="5597525"/>
            <a:ext cx="609600" cy="369887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type="title"/>
          </p:nvPr>
        </p:nvSpPr>
        <p:spPr>
          <a:xfrm>
            <a:off x="301625" y="228600"/>
            <a:ext cx="8510587" cy="536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REFLEX &amp; REFLEX ARC</a:t>
            </a:r>
            <a:endParaRPr/>
          </a:p>
        </p:txBody>
      </p:sp>
      <p:pic>
        <p:nvPicPr>
          <p:cNvPr descr="pf12_05" id="400" name="Google Shape;400;p31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3000375"/>
            <a:ext cx="751522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 txBox="1"/>
          <p:nvPr/>
        </p:nvSpPr>
        <p:spPr>
          <a:xfrm>
            <a:off x="428625" y="1000125"/>
            <a:ext cx="8286750" cy="8794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kkal Majalla"/>
              <a:buNone/>
            </a:pPr>
            <a:r>
              <a:rPr b="1" i="0" lang="en-US" sz="2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 reflex is a </a:t>
            </a:r>
            <a:r>
              <a:rPr b="1" i="0" lang="en-US" sz="28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rapid</a:t>
            </a:r>
            <a:r>
              <a:rPr b="1" i="0" lang="en-US" sz="2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8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involuntary</a:t>
            </a:r>
            <a:r>
              <a:rPr b="1" i="0" lang="en-US" sz="2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, </a:t>
            </a:r>
            <a:r>
              <a:rPr b="1" i="0" lang="en-US" sz="28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stereotyped pattern</a:t>
            </a:r>
            <a:r>
              <a:rPr b="1" i="0" lang="en-US" sz="2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 of response brought by a </a:t>
            </a:r>
            <a:r>
              <a:rPr b="1" i="0" lang="en-US" sz="2800" u="none">
                <a:solidFill>
                  <a:srgbClr val="FF0000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sensory stimulus</a:t>
            </a:r>
            <a:endParaRPr/>
          </a:p>
        </p:txBody>
      </p:sp>
      <p:sp>
        <p:nvSpPr>
          <p:cNvPr id="402" name="Google Shape;402;p31"/>
          <p:cNvSpPr txBox="1"/>
          <p:nvPr/>
        </p:nvSpPr>
        <p:spPr>
          <a:xfrm>
            <a:off x="428625" y="2000250"/>
            <a:ext cx="8286750" cy="490537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kkal Majalla"/>
              <a:buNone/>
            </a:pPr>
            <a:r>
              <a:rPr b="1" i="0" lang="en-US" sz="2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 neural pathway mediating the reflex actions is called </a:t>
            </a:r>
            <a:r>
              <a:rPr b="1" i="0" lang="en-US" sz="2800" u="none">
                <a:solidFill>
                  <a:schemeClr val="hlink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reflex arc</a:t>
            </a:r>
            <a:r>
              <a:rPr b="1" i="0" lang="en-US" sz="1800" u="non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"/>
          <p:cNvSpPr txBox="1"/>
          <p:nvPr>
            <p:ph idx="4294967295" type="title"/>
          </p:nvPr>
        </p:nvSpPr>
        <p:spPr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3600"/>
              <a:buFont typeface="Bodoni"/>
              <a:buNone/>
            </a:pPr>
            <a:r>
              <a:rPr b="1" i="0" lang="en-US" sz="3600" u="none" cap="none" strike="noStrike">
                <a:solidFill>
                  <a:srgbClr val="376092"/>
                </a:solidFill>
                <a:latin typeface="Bodoni"/>
                <a:ea typeface="Bodoni"/>
                <a:cs typeface="Bodoni"/>
                <a:sym typeface="Bodoni"/>
              </a:rPr>
              <a:t>COMPONENTS OF A REFLEX ARC</a:t>
            </a:r>
            <a:endParaRPr/>
          </a:p>
        </p:txBody>
      </p:sp>
      <p:pic>
        <p:nvPicPr>
          <p:cNvPr descr="pf12_05" id="409" name="Google Shape;4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590800"/>
            <a:ext cx="8458200" cy="3733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10" name="Google Shape;410;p32"/>
          <p:cNvSpPr txBox="1"/>
          <p:nvPr/>
        </p:nvSpPr>
        <p:spPr>
          <a:xfrm>
            <a:off x="304800" y="1066800"/>
            <a:ext cx="8458200" cy="13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akkal Majalla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Action potentials produced in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cxnSp>
        <p:nvCxnSpPr>
          <p:cNvPr id="411" name="Google Shape;411;p32"/>
          <p:cNvCxnSpPr/>
          <p:nvPr/>
        </p:nvCxnSpPr>
        <p:spPr>
          <a:xfrm>
            <a:off x="6477000" y="1295400"/>
            <a:ext cx="381000" cy="15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2" name="Google Shape;412;p32"/>
          <p:cNvCxnSpPr/>
          <p:nvPr/>
        </p:nvCxnSpPr>
        <p:spPr>
          <a:xfrm rot="10800000">
            <a:off x="3810000" y="2209800"/>
            <a:ext cx="914400" cy="15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3" name="Google Shape;413;p32"/>
          <p:cNvCxnSpPr/>
          <p:nvPr/>
        </p:nvCxnSpPr>
        <p:spPr>
          <a:xfrm rot="5400000">
            <a:off x="7544593" y="1751806"/>
            <a:ext cx="457200" cy="15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14" name="Google Shape;414;p32"/>
          <p:cNvCxnSpPr/>
          <p:nvPr/>
        </p:nvCxnSpPr>
        <p:spPr>
          <a:xfrm rot="10800000">
            <a:off x="6477000" y="2133600"/>
            <a:ext cx="609600" cy="15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15" name="Google Shape;415;p32"/>
          <p:cNvSpPr txBox="1"/>
          <p:nvPr/>
        </p:nvSpPr>
        <p:spPr>
          <a:xfrm>
            <a:off x="6934200" y="1143000"/>
            <a:ext cx="1497012" cy="4000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Sakkal Majalla"/>
              <a:buNone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Sensory neuron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4572000" y="1143000"/>
            <a:ext cx="1606550" cy="4000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Sakkal Majalla"/>
              <a:buNone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Sensory receptor</a:t>
            </a:r>
            <a:endParaRPr/>
          </a:p>
        </p:txBody>
      </p:sp>
      <p:sp>
        <p:nvSpPr>
          <p:cNvPr id="417" name="Google Shape;417;p32"/>
          <p:cNvSpPr txBox="1"/>
          <p:nvPr/>
        </p:nvSpPr>
        <p:spPr>
          <a:xfrm>
            <a:off x="7162800" y="1981200"/>
            <a:ext cx="1206500" cy="4000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Sakkal Majalla"/>
              <a:buNone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Interneuron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4800600" y="1981200"/>
            <a:ext cx="1377950" cy="40005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Sakkal Majalla"/>
              <a:buNone/>
            </a:pPr>
            <a:r>
              <a:rPr b="1" i="0" lang="en-US" sz="2000" u="non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Motor neuron</a:t>
            </a:r>
            <a:endParaRPr/>
          </a:p>
        </p:txBody>
      </p:sp>
      <p:sp>
        <p:nvSpPr>
          <p:cNvPr id="419" name="Google Shape;419;p32"/>
          <p:cNvSpPr txBox="1"/>
          <p:nvPr/>
        </p:nvSpPr>
        <p:spPr>
          <a:xfrm>
            <a:off x="1143000" y="1676400"/>
            <a:ext cx="2590800" cy="7080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Sakkal Majalla"/>
              <a:buNone/>
            </a:pPr>
            <a:r>
              <a:rPr b="1" i="0" lang="en-US" sz="2000" u="none" cap="none" strike="noStrik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Effector organ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which responds with a </a:t>
            </a:r>
            <a:r>
              <a:rPr b="1" i="0" lang="en-US" sz="2000" u="none" cap="none" strike="noStrike">
                <a:solidFill>
                  <a:srgbClr val="000099"/>
                </a:solidFill>
                <a:latin typeface="Sakkal Majalla"/>
                <a:ea typeface="Sakkal Majalla"/>
                <a:cs typeface="Sakkal Majalla"/>
                <a:sym typeface="Sakkal Majalla"/>
              </a:rPr>
              <a:t>reflex</a:t>
            </a:r>
            <a:endParaRPr/>
          </a:p>
        </p:txBody>
      </p:sp>
      <p:sp>
        <p:nvSpPr>
          <p:cNvPr id="420" name="Google Shape;420;p32"/>
          <p:cNvSpPr/>
          <p:nvPr/>
        </p:nvSpPr>
        <p:spPr>
          <a:xfrm>
            <a:off x="6019800" y="3200400"/>
            <a:ext cx="83820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886200" y="4953000"/>
            <a:ext cx="106680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1600200" y="2971800"/>
            <a:ext cx="91440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4495800" y="3581400"/>
            <a:ext cx="137160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572000" y="5867400"/>
            <a:ext cx="114300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32"/>
          <p:cNvCxnSpPr/>
          <p:nvPr/>
        </p:nvCxnSpPr>
        <p:spPr>
          <a:xfrm flipH="1">
            <a:off x="6324600" y="1543050"/>
            <a:ext cx="1358900" cy="4381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3"/>
          <p:cNvSpPr txBox="1"/>
          <p:nvPr>
            <p:ph type="title"/>
          </p:nvPr>
        </p:nvSpPr>
        <p:spPr>
          <a:xfrm>
            <a:off x="4572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Font typeface="Bodoni"/>
              <a:buNone/>
            </a:pPr>
            <a:r>
              <a:rPr b="1" i="0" lang="en-US" sz="6000" u="none">
                <a:solidFill>
                  <a:srgbClr val="00B0F0"/>
                </a:solidFill>
                <a:latin typeface="Bodoni"/>
                <a:ea typeface="Bodoni"/>
                <a:cs typeface="Bodoni"/>
                <a:sym typeface="Bodoni"/>
              </a:rPr>
              <a:t>QUESTIONS!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2011-09-04T09:53:23Z</dcterms:created>
  <dc:creator>Dr. Zeenat Zaidi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