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i1mQB2PbPzG4pxaSEfHjD0BKET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7"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3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2"/>
          <p:cNvSpPr/>
          <p:nvPr>
            <p:ph idx="2" type="pic"/>
          </p:nvPr>
        </p:nvSpPr>
        <p:spPr>
          <a:xfrm>
            <a:off x="5183188" y="987425"/>
            <a:ext cx="6172200" cy="4873625"/>
          </a:xfrm>
          <a:prstGeom prst="rect">
            <a:avLst/>
          </a:prstGeom>
          <a:noFill/>
          <a:ln>
            <a:noFill/>
          </a:ln>
        </p:spPr>
      </p:sp>
      <p:sp>
        <p:nvSpPr>
          <p:cNvPr id="64" name="Google Shape;64;p3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www.verywellhealth.com/brainstem-anatomy-5095691" TargetMode="External"/><Relationship Id="rId4" Type="http://schemas.openxmlformats.org/officeDocument/2006/relationships/hyperlink" Target="https://www.verywellhealth.com/brainstem-anatomy-5095691"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www.verywellhealth.com/synapse-anatomy-2795867"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www.verywellhealth.com/part-2-arteries-1763959" TargetMode="External"/><Relationship Id="rId4" Type="http://schemas.openxmlformats.org/officeDocument/2006/relationships/hyperlink" Target="https://www.verywellhealth.com/anterior-cerebral-artery-anatomy-4692839" TargetMode="External"/><Relationship Id="rId5" Type="http://schemas.openxmlformats.org/officeDocument/2006/relationships/hyperlink" Target="https://www.verywellhealth.com/middle-cerebral-artery-3146149"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www.verywellhealth.com/common-carotid-artery-anatomy-4689581"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www.verywellhealth.com/meningitis-5092811" TargetMode="External"/><Relationship Id="rId4" Type="http://schemas.openxmlformats.org/officeDocument/2006/relationships/hyperlink" Target="https://www.verywellhealth.com/hydrocephalus-6890496" TargetMode="External"/><Relationship Id="rId9" Type="http://schemas.openxmlformats.org/officeDocument/2006/relationships/hyperlink" Target="https://www.verywellhealth.com/temporal-lobe-stroke-long-term-effects-3146437" TargetMode="External"/><Relationship Id="rId5" Type="http://schemas.openxmlformats.org/officeDocument/2006/relationships/hyperlink" Target="https://www.verywellhealth.com/what-does-malignant-and-benign-mean-514240" TargetMode="External"/><Relationship Id="rId6" Type="http://schemas.openxmlformats.org/officeDocument/2006/relationships/hyperlink" Target="https://www.verywellhealth.com/stroke-overview-4581888" TargetMode="External"/><Relationship Id="rId7" Type="http://schemas.openxmlformats.org/officeDocument/2006/relationships/hyperlink" Target="https://www.verywellhealth.com/paresis-5184820" TargetMode="External"/><Relationship Id="rId8" Type="http://schemas.openxmlformats.org/officeDocument/2006/relationships/hyperlink" Target="https://www.verywellhealth.com/overview-blood-clots-1745326"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www.verywellhealth.com/alzheimers-4581763" TargetMode="External"/><Relationship Id="rId4" Type="http://schemas.openxmlformats.org/officeDocument/2006/relationships/hyperlink" Target="https://www.verywellhealth.com/alzheimers-4581763" TargetMode="External"/><Relationship Id="rId10" Type="http://schemas.openxmlformats.org/officeDocument/2006/relationships/hyperlink" Target="https://www.verywellhealth.com/parkinsons-overview-4581910" TargetMode="External"/><Relationship Id="rId9" Type="http://schemas.openxmlformats.org/officeDocument/2006/relationships/hyperlink" Target="https://www.verywellhealth.com/lewy-body-dementia-stages-progression-98735" TargetMode="External"/><Relationship Id="rId5" Type="http://schemas.openxmlformats.org/officeDocument/2006/relationships/hyperlink" Target="https://www.verywellhealth.com/alzheimers-4581763" TargetMode="External"/><Relationship Id="rId6" Type="http://schemas.openxmlformats.org/officeDocument/2006/relationships/hyperlink" Target="https://www.verywellhealth.com/alzheimers-4581763" TargetMode="External"/><Relationship Id="rId7" Type="http://schemas.openxmlformats.org/officeDocument/2006/relationships/hyperlink" Target="https://www.verywellhealth.com/dementia-4013778" TargetMode="External"/><Relationship Id="rId8" Type="http://schemas.openxmlformats.org/officeDocument/2006/relationships/hyperlink" Target="https://www.verywellhealth.com/vascular-dementia-98802"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C00000"/>
              </a:buClr>
              <a:buSzPts val="6000"/>
              <a:buFont typeface="Times New Roman"/>
              <a:buNone/>
            </a:pPr>
            <a:r>
              <a:rPr b="1" lang="en-US">
                <a:solidFill>
                  <a:srgbClr val="C00000"/>
                </a:solidFill>
                <a:latin typeface="Times New Roman"/>
                <a:ea typeface="Times New Roman"/>
                <a:cs typeface="Times New Roman"/>
                <a:sym typeface="Times New Roman"/>
              </a:rPr>
              <a:t>CEREBRUM</a:t>
            </a:r>
            <a:endParaRPr b="1">
              <a:solidFill>
                <a:srgbClr val="C00000"/>
              </a:solidFill>
              <a:latin typeface="Times New Roman"/>
              <a:ea typeface="Times New Roman"/>
              <a:cs typeface="Times New Roman"/>
              <a:sym typeface="Times New Roman"/>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latin typeface="Times New Roman"/>
                <a:ea typeface="Times New Roman"/>
                <a:cs typeface="Times New Roman"/>
                <a:sym typeface="Times New Roman"/>
              </a:rPr>
              <a:t>BY </a:t>
            </a:r>
            <a:endParaRPr>
              <a:latin typeface="Times New Roman"/>
              <a:ea typeface="Times New Roman"/>
              <a:cs typeface="Times New Roman"/>
              <a:sym typeface="Times New Roman"/>
            </a:endParaRPr>
          </a:p>
          <a:p>
            <a:pPr indent="0" lvl="0" marL="0" rtl="0" algn="ctr">
              <a:lnSpc>
                <a:spcPct val="90000"/>
              </a:lnSpc>
              <a:spcBef>
                <a:spcPts val="1000"/>
              </a:spcBef>
              <a:spcAft>
                <a:spcPts val="0"/>
              </a:spcAft>
              <a:buClr>
                <a:schemeClr val="dk1"/>
              </a:buClr>
              <a:buSzPts val="2400"/>
              <a:buNone/>
            </a:pPr>
            <a:r>
              <a:rPr lang="en-US">
                <a:latin typeface="Times New Roman"/>
                <a:ea typeface="Times New Roman"/>
                <a:cs typeface="Times New Roman"/>
                <a:sym typeface="Times New Roman"/>
              </a:rPr>
              <a:t>Dr. F.O. OPOOLA</a:t>
            </a:r>
            <a:endParaRPr>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US">
                <a:solidFill>
                  <a:srgbClr val="C00000"/>
                </a:solidFill>
                <a:latin typeface="Times New Roman"/>
                <a:ea typeface="Times New Roman"/>
                <a:cs typeface="Times New Roman"/>
                <a:sym typeface="Times New Roman"/>
              </a:rPr>
              <a:t>LEARNING OBJECTIVES</a:t>
            </a:r>
            <a:endParaRPr b="1">
              <a:solidFill>
                <a:srgbClr val="C00000"/>
              </a:solidFill>
              <a:latin typeface="Times New Roman"/>
              <a:ea typeface="Times New Roman"/>
              <a:cs typeface="Times New Roman"/>
              <a:sym typeface="Times New Roman"/>
            </a:endParaRPr>
          </a:p>
        </p:txBody>
      </p:sp>
      <p:sp>
        <p:nvSpPr>
          <p:cNvPr id="91" name="Google Shape;9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To describe the general structure of the cerebrum</a:t>
            </a:r>
            <a:endParaRPr>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To identify the cerebrum, the lobes of the brain</a:t>
            </a:r>
            <a:endParaRPr>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Nerve cell</a:t>
            </a:r>
            <a:endParaRPr>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Types of tissue</a:t>
            </a:r>
            <a:endParaRPr>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Broca`s area</a:t>
            </a:r>
            <a:endParaRPr>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Connecting structures</a:t>
            </a:r>
            <a:endParaRPr>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Functions</a:t>
            </a:r>
            <a:endParaRPr>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Clinical relevance</a:t>
            </a:r>
            <a:endParaRPr>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800"/>
              <a:buFont typeface="Times New Roman"/>
              <a:buNone/>
            </a:pPr>
            <a:r>
              <a:rPr b="1" lang="en-US" sz="4800">
                <a:solidFill>
                  <a:srgbClr val="C00000"/>
                </a:solidFill>
                <a:latin typeface="Times New Roman"/>
                <a:ea typeface="Times New Roman"/>
                <a:cs typeface="Times New Roman"/>
                <a:sym typeface="Times New Roman"/>
              </a:rPr>
              <a:t>INTRODUCTION</a:t>
            </a:r>
            <a:endParaRPr b="1" sz="4800">
              <a:solidFill>
                <a:srgbClr val="C00000"/>
              </a:solidFill>
              <a:latin typeface="Times New Roman"/>
              <a:ea typeface="Times New Roman"/>
              <a:cs typeface="Times New Roman"/>
              <a:sym typeface="Times New Roman"/>
            </a:endParaRPr>
          </a:p>
        </p:txBody>
      </p:sp>
      <p:sp>
        <p:nvSpPr>
          <p:cNvPr id="97" name="Google Shape;97;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The</a:t>
            </a:r>
            <a:r>
              <a:rPr b="0" i="0" lang="en-US">
                <a:latin typeface="Times New Roman"/>
                <a:ea typeface="Times New Roman"/>
                <a:cs typeface="Times New Roman"/>
                <a:sym typeface="Times New Roman"/>
              </a:rPr>
              <a:t> cerebrum is the largest part of </a:t>
            </a:r>
            <a:r>
              <a:rPr lang="en-US">
                <a:latin typeface="Times New Roman"/>
                <a:ea typeface="Times New Roman"/>
                <a:cs typeface="Times New Roman"/>
                <a:sym typeface="Times New Roman"/>
              </a:rPr>
              <a:t>the</a:t>
            </a:r>
            <a:r>
              <a:rPr b="0" i="0" lang="en-US">
                <a:latin typeface="Times New Roman"/>
                <a:ea typeface="Times New Roman"/>
                <a:cs typeface="Times New Roman"/>
                <a:sym typeface="Times New Roman"/>
              </a:rPr>
              <a:t> </a:t>
            </a:r>
            <a:r>
              <a:rPr lang="en-US">
                <a:latin typeface="Times New Roman"/>
                <a:ea typeface="Times New Roman"/>
                <a:cs typeface="Times New Roman"/>
                <a:sym typeface="Times New Roman"/>
              </a:rPr>
              <a:t>brain, </a:t>
            </a:r>
            <a:r>
              <a:rPr b="0" i="0" lang="en-US">
                <a:latin typeface="Times New Roman"/>
                <a:ea typeface="Times New Roman"/>
                <a:cs typeface="Times New Roman"/>
                <a:sym typeface="Times New Roman"/>
              </a:rPr>
              <a:t>Located at the front and top of </a:t>
            </a:r>
            <a:r>
              <a:rPr lang="en-US">
                <a:latin typeface="Times New Roman"/>
                <a:ea typeface="Times New Roman"/>
                <a:cs typeface="Times New Roman"/>
                <a:sym typeface="Times New Roman"/>
              </a:rPr>
              <a:t>the</a:t>
            </a:r>
            <a:r>
              <a:rPr b="0" i="0" lang="en-US">
                <a:latin typeface="Times New Roman"/>
                <a:ea typeface="Times New Roman"/>
                <a:cs typeface="Times New Roman"/>
                <a:sym typeface="Times New Roman"/>
              </a:rPr>
              <a:t> skull, it gets its name from the Latin word meaning “brain</a:t>
            </a:r>
            <a:r>
              <a:rPr b="0" i="0" lang="en-US">
                <a:solidFill>
                  <a:srgbClr val="555555"/>
                </a:solidFill>
                <a:latin typeface="Times New Roman"/>
                <a:ea typeface="Times New Roman"/>
                <a:cs typeface="Times New Roman"/>
                <a:sym typeface="Times New Roman"/>
              </a:rPr>
              <a:t>”</a:t>
            </a:r>
            <a:r>
              <a:rPr b="0" i="0" lang="en-US">
                <a:latin typeface="Times New Roman"/>
                <a:ea typeface="Times New Roman"/>
                <a:cs typeface="Times New Roman"/>
                <a:sym typeface="Times New Roman"/>
              </a:rPr>
              <a:t>.</a:t>
            </a:r>
            <a:endParaRPr b="0" i="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Font typeface="Noto Sans Symbols"/>
              <a:buNone/>
            </a:pPr>
            <a:r>
              <a:t/>
            </a:r>
            <a:endParaRPr b="0" i="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rgbClr val="131314"/>
              </a:buClr>
              <a:buSzPts val="2800"/>
              <a:buFont typeface="Noto Sans Symbols"/>
              <a:buChar char="❖"/>
            </a:pPr>
            <a:r>
              <a:rPr b="0" i="0" lang="en-US">
                <a:solidFill>
                  <a:srgbClr val="131314"/>
                </a:solidFill>
                <a:latin typeface="Times New Roman"/>
                <a:ea typeface="Times New Roman"/>
                <a:cs typeface="Times New Roman"/>
                <a:sym typeface="Times New Roman"/>
              </a:rPr>
              <a:t>The largest and most developed information-processing networks of the human brain are found in the cerebrum. </a:t>
            </a:r>
            <a:endParaRPr b="0" i="0">
              <a:solidFill>
                <a:srgbClr val="131314"/>
              </a:solidFill>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Font typeface="Noto Sans Symbols"/>
              <a:buNone/>
            </a:pPr>
            <a:r>
              <a:t/>
            </a:r>
            <a:endParaRPr b="0" i="0">
              <a:solidFill>
                <a:srgbClr val="131314"/>
              </a:solidFill>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rgbClr val="131314"/>
              </a:buClr>
              <a:buSzPts val="2800"/>
              <a:buFont typeface="Noto Sans Symbols"/>
              <a:buChar char="❖"/>
            </a:pPr>
            <a:r>
              <a:rPr b="0" i="0" lang="en-US">
                <a:solidFill>
                  <a:srgbClr val="131314"/>
                </a:solidFill>
                <a:latin typeface="Times New Roman"/>
                <a:ea typeface="Times New Roman"/>
                <a:cs typeface="Times New Roman"/>
                <a:sym typeface="Times New Roman"/>
              </a:rPr>
              <a:t>It lies on top of the brainstem and consists of two cerebral hemispheres, an outer layer of grey matter (cortex) and an inner layer of white matter. There are four lobes in the cortex (frontal, parietal, temporal and occipital). </a:t>
            </a:r>
            <a:endParaRPr>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US" sz="4400">
                <a:solidFill>
                  <a:srgbClr val="C00000"/>
                </a:solidFill>
                <a:latin typeface="Times New Roman"/>
                <a:ea typeface="Times New Roman"/>
                <a:cs typeface="Times New Roman"/>
                <a:sym typeface="Times New Roman"/>
              </a:rPr>
              <a:t>INTRODUCTION</a:t>
            </a:r>
            <a:endParaRPr/>
          </a:p>
        </p:txBody>
      </p:sp>
      <p:sp>
        <p:nvSpPr>
          <p:cNvPr id="103" name="Google Shape;10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Noto Sans Symbols"/>
              <a:buChar char="❖"/>
            </a:pPr>
            <a:r>
              <a:rPr b="0" i="0" lang="en-US">
                <a:latin typeface="Times New Roman"/>
                <a:ea typeface="Times New Roman"/>
                <a:cs typeface="Times New Roman"/>
                <a:sym typeface="Times New Roman"/>
              </a:rPr>
              <a:t>The brain is a main organ of the </a:t>
            </a:r>
            <a:r>
              <a:rPr lang="en-US">
                <a:latin typeface="Times New Roman"/>
                <a:ea typeface="Times New Roman"/>
                <a:cs typeface="Times New Roman"/>
                <a:sym typeface="Times New Roman"/>
              </a:rPr>
              <a:t>central nervous system (CNS)</a:t>
            </a:r>
            <a:r>
              <a:rPr b="0" i="0" lang="en-US">
                <a:latin typeface="Times New Roman"/>
                <a:ea typeface="Times New Roman"/>
                <a:cs typeface="Times New Roman"/>
                <a:sym typeface="Times New Roman"/>
              </a:rPr>
              <a:t>, and the cerebrum is the largest portion of the brain. </a:t>
            </a:r>
            <a:endParaRPr b="0" i="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800"/>
              <a:buFont typeface="Noto Sans Symbols"/>
              <a:buChar char="❖"/>
            </a:pPr>
            <a:r>
              <a:rPr b="0" i="0" lang="en-US">
                <a:latin typeface="Times New Roman"/>
                <a:ea typeface="Times New Roman"/>
                <a:cs typeface="Times New Roman"/>
                <a:sym typeface="Times New Roman"/>
              </a:rPr>
              <a:t>The brain floats within the skull suspended by cerebrospinal fluid (CSF) that serves as a shock absorber and maintains even pressure within the brain.</a:t>
            </a:r>
            <a:endParaRPr b="0" i="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800"/>
              <a:buFont typeface="Noto Sans Symbols"/>
              <a:buChar char="❖"/>
            </a:pPr>
            <a:r>
              <a:rPr b="0" i="0" lang="en-US">
                <a:latin typeface="Times New Roman"/>
                <a:ea typeface="Times New Roman"/>
                <a:cs typeface="Times New Roman"/>
                <a:sym typeface="Times New Roman"/>
              </a:rPr>
              <a:t>The two hemispheres of the cerebrum reside above the </a:t>
            </a:r>
            <a:r>
              <a:rPr b="0" i="0" lang="en-US" u="sng">
                <a:solidFill>
                  <a:schemeClr val="hlink"/>
                </a:solidFill>
                <a:latin typeface="Times New Roman"/>
                <a:ea typeface="Times New Roman"/>
                <a:cs typeface="Times New Roman"/>
                <a:sym typeface="Times New Roman"/>
                <a:hlinkClick r:id="rId3"/>
              </a:rPr>
              <a:t>brainstem</a:t>
            </a:r>
            <a:r>
              <a:rPr b="0" i="0" lang="en-US">
                <a:latin typeface="Times New Roman"/>
                <a:ea typeface="Times New Roman"/>
                <a:cs typeface="Times New Roman"/>
                <a:sym typeface="Times New Roman"/>
              </a:rPr>
              <a:t> (also called the "mid-brain") and the</a:t>
            </a:r>
            <a:r>
              <a:rPr b="0" i="0" lang="en-US" u="sng">
                <a:solidFill>
                  <a:schemeClr val="hlink"/>
                </a:solidFill>
                <a:latin typeface="Times New Roman"/>
                <a:ea typeface="Times New Roman"/>
                <a:cs typeface="Times New Roman"/>
                <a:sym typeface="Times New Roman"/>
                <a:hlinkClick r:id="rId4"/>
              </a:rPr>
              <a:t> cerebellum </a:t>
            </a:r>
            <a:r>
              <a:rPr b="0" i="0" lang="en-US">
                <a:latin typeface="Times New Roman"/>
                <a:ea typeface="Times New Roman"/>
                <a:cs typeface="Times New Roman"/>
                <a:sym typeface="Times New Roman"/>
              </a:rPr>
              <a:t>at the very back (or bottom) of the brain.</a:t>
            </a:r>
            <a:endParaRPr b="0" i="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US" sz="4400">
                <a:solidFill>
                  <a:srgbClr val="C00000"/>
                </a:solidFill>
                <a:latin typeface="Times New Roman"/>
                <a:ea typeface="Times New Roman"/>
                <a:cs typeface="Times New Roman"/>
                <a:sym typeface="Times New Roman"/>
              </a:rPr>
              <a:t>INTRODUCTION</a:t>
            </a:r>
            <a:endParaRPr/>
          </a:p>
        </p:txBody>
      </p:sp>
      <p:sp>
        <p:nvSpPr>
          <p:cNvPr id="109" name="Google Shape;109;p5"/>
          <p:cNvSpPr txBox="1"/>
          <p:nvPr>
            <p:ph idx="1" type="body"/>
          </p:nvPr>
        </p:nvSpPr>
        <p:spPr>
          <a:xfrm>
            <a:off x="88778" y="1500326"/>
            <a:ext cx="6347533" cy="508690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212121"/>
              </a:buClr>
              <a:buSzPts val="2800"/>
              <a:buFont typeface="Noto Sans Symbols"/>
              <a:buChar char="❖"/>
            </a:pPr>
            <a:r>
              <a:rPr b="0" i="0" lang="en-US">
                <a:solidFill>
                  <a:srgbClr val="212121"/>
                </a:solidFill>
                <a:latin typeface="Times New Roman"/>
                <a:ea typeface="Times New Roman"/>
                <a:cs typeface="Times New Roman"/>
                <a:sym typeface="Times New Roman"/>
              </a:rPr>
              <a:t>The right hemisphere of the cerebrum primarily controls the left side of the body and the left hemisphere primarily controls the right side.</a:t>
            </a:r>
            <a:endParaRPr b="0" i="0">
              <a:solidFill>
                <a:srgbClr val="212121"/>
              </a:solidFill>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rgbClr val="212121"/>
              </a:buClr>
              <a:buSzPts val="2800"/>
              <a:buFont typeface="Noto Sans Symbols"/>
              <a:buChar char="❖"/>
            </a:pPr>
            <a:r>
              <a:rPr b="0" i="0" lang="en-US">
                <a:solidFill>
                  <a:srgbClr val="212121"/>
                </a:solidFill>
                <a:latin typeface="Times New Roman"/>
                <a:ea typeface="Times New Roman"/>
                <a:cs typeface="Times New Roman"/>
                <a:sym typeface="Times New Roman"/>
              </a:rPr>
              <a:t>All areas of the brain work together but each region has its specialties, including regions within the cerebrum.</a:t>
            </a:r>
            <a:endParaRPr b="0" i="0">
              <a:solidFill>
                <a:srgbClr val="212121"/>
              </a:solidFill>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rgbClr val="212121"/>
              </a:buClr>
              <a:buSzPts val="2800"/>
              <a:buFont typeface="Noto Sans Symbols"/>
              <a:buChar char="❖"/>
            </a:pPr>
            <a:r>
              <a:rPr b="0" i="0" lang="en-US">
                <a:solidFill>
                  <a:srgbClr val="212121"/>
                </a:solidFill>
                <a:latin typeface="Times New Roman"/>
                <a:ea typeface="Times New Roman"/>
                <a:cs typeface="Times New Roman"/>
                <a:sym typeface="Times New Roman"/>
              </a:rPr>
              <a:t>human brain weighs, on average, about 3 pounds (1300-1400 grams) and the cerebrum accounts for the majority of this weight</a:t>
            </a:r>
            <a:endParaRPr b="0" i="0">
              <a:solidFill>
                <a:srgbClr val="212121"/>
              </a:solidFill>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pic>
        <p:nvPicPr>
          <p:cNvPr id="110" name="Google Shape;110;p5"/>
          <p:cNvPicPr preferRelativeResize="0"/>
          <p:nvPr/>
        </p:nvPicPr>
        <p:blipFill rotWithShape="1">
          <a:blip r:embed="rId3">
            <a:alphaModFix/>
          </a:blip>
          <a:srcRect b="0" l="0" r="0" t="0"/>
          <a:stretch/>
        </p:blipFill>
        <p:spPr>
          <a:xfrm>
            <a:off x="6648450" y="1406094"/>
            <a:ext cx="5543550" cy="4667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id="115" name="Google Shape;115;p6"/>
          <p:cNvPicPr preferRelativeResize="0"/>
          <p:nvPr/>
        </p:nvPicPr>
        <p:blipFill rotWithShape="1">
          <a:blip r:embed="rId3">
            <a:alphaModFix/>
          </a:blip>
          <a:srcRect b="0" l="0" r="0" t="0"/>
          <a:stretch/>
        </p:blipFill>
        <p:spPr>
          <a:xfrm>
            <a:off x="159798" y="88777"/>
            <a:ext cx="9436639" cy="663161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7"/>
          <p:cNvSpPr txBox="1"/>
          <p:nvPr/>
        </p:nvSpPr>
        <p:spPr>
          <a:xfrm>
            <a:off x="108939" y="6"/>
            <a:ext cx="11558700" cy="671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C00000"/>
                </a:solidFill>
                <a:latin typeface="Times New Roman"/>
                <a:ea typeface="Times New Roman"/>
                <a:cs typeface="Times New Roman"/>
                <a:sym typeface="Times New Roman"/>
              </a:rPr>
              <a:t>			</a:t>
            </a:r>
            <a:r>
              <a:rPr b="1" i="0" lang="en-US" sz="3600" u="none" cap="none" strike="noStrike">
                <a:solidFill>
                  <a:srgbClr val="C00000"/>
                </a:solidFill>
                <a:latin typeface="Times New Roman"/>
                <a:ea typeface="Times New Roman"/>
                <a:cs typeface="Times New Roman"/>
                <a:sym typeface="Times New Roman"/>
              </a:rPr>
              <a:t>Nerve Cells</a:t>
            </a:r>
            <a:endParaRPr b="1" i="0" sz="3600" u="none" cap="none" strike="noStrike">
              <a:solidFill>
                <a:srgbClr val="C00000"/>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2800" u="none" cap="none" strike="noStrike">
                <a:solidFill>
                  <a:srgbClr val="212121"/>
                </a:solidFill>
                <a:latin typeface="Times New Roman"/>
                <a:ea typeface="Times New Roman"/>
                <a:cs typeface="Times New Roman"/>
                <a:sym typeface="Times New Roman"/>
              </a:rPr>
              <a:t>The cerebrum does not contain any muscles or ligaments, but it houses several different types of neurons, or nerve cells.</a:t>
            </a:r>
            <a:endParaRPr b="0" i="0" sz="2800" u="none" cap="none" strike="noStrike">
              <a:solidFill>
                <a:srgbClr val="21212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0" i="0" sz="2800" u="none" cap="none" strike="noStrike">
              <a:solidFill>
                <a:srgbClr val="212121"/>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2800" u="none" cap="none" strike="noStrike">
                <a:solidFill>
                  <a:srgbClr val="212121"/>
                </a:solidFill>
                <a:latin typeface="Times New Roman"/>
                <a:ea typeface="Times New Roman"/>
                <a:cs typeface="Times New Roman"/>
                <a:sym typeface="Times New Roman"/>
              </a:rPr>
              <a:t>The three main parts of neurons are:</a:t>
            </a:r>
            <a:endParaRPr b="0" i="0" sz="2800" u="none" cap="none" strike="noStrike">
              <a:solidFill>
                <a:srgbClr val="212121"/>
              </a:solidFill>
              <a:latin typeface="Times New Roman"/>
              <a:ea typeface="Times New Roman"/>
              <a:cs typeface="Times New Roman"/>
              <a:sym typeface="Times New Roman"/>
            </a:endParaRPr>
          </a:p>
          <a:p>
            <a:pPr indent="-177800" lvl="0" marL="0" marR="0" rtl="0" algn="l">
              <a:spcBef>
                <a:spcPts val="0"/>
              </a:spcBef>
              <a:spcAft>
                <a:spcPts val="0"/>
              </a:spcAft>
              <a:buClr>
                <a:srgbClr val="212121"/>
              </a:buClr>
              <a:buSzPts val="2800"/>
              <a:buFont typeface="Arial"/>
              <a:buChar char="•"/>
            </a:pPr>
            <a:r>
              <a:rPr b="1" i="0" lang="en-US" sz="2800" u="none" cap="none" strike="noStrike">
                <a:solidFill>
                  <a:srgbClr val="212121"/>
                </a:solidFill>
                <a:latin typeface="Times New Roman"/>
                <a:ea typeface="Times New Roman"/>
                <a:cs typeface="Times New Roman"/>
                <a:sym typeface="Times New Roman"/>
              </a:rPr>
              <a:t>Cell body </a:t>
            </a:r>
            <a:r>
              <a:rPr b="0" i="0" lang="en-US" sz="2800" u="none" cap="none" strike="noStrike">
                <a:solidFill>
                  <a:srgbClr val="212121"/>
                </a:solidFill>
                <a:latin typeface="Times New Roman"/>
                <a:ea typeface="Times New Roman"/>
                <a:cs typeface="Times New Roman"/>
                <a:sym typeface="Times New Roman"/>
              </a:rPr>
              <a:t>is</a:t>
            </a:r>
            <a:r>
              <a:rPr b="1" i="0" lang="en-US" sz="2800" u="none" cap="none" strike="noStrike">
                <a:solidFill>
                  <a:srgbClr val="212121"/>
                </a:solidFill>
                <a:latin typeface="Times New Roman"/>
                <a:ea typeface="Times New Roman"/>
                <a:cs typeface="Times New Roman"/>
                <a:sym typeface="Times New Roman"/>
              </a:rPr>
              <a:t> </a:t>
            </a:r>
            <a:r>
              <a:rPr b="0" i="0" lang="en-US" sz="2800" u="none" cap="none" strike="noStrike">
                <a:solidFill>
                  <a:srgbClr val="212121"/>
                </a:solidFill>
                <a:latin typeface="Times New Roman"/>
                <a:ea typeface="Times New Roman"/>
                <a:cs typeface="Times New Roman"/>
                <a:sym typeface="Times New Roman"/>
              </a:rPr>
              <a:t>the central part of the cell and its command center.</a:t>
            </a:r>
            <a:endParaRPr b="0" i="0" sz="2800" u="none" cap="none" strike="noStrike">
              <a:solidFill>
                <a:srgbClr val="21212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2800"/>
              <a:buFont typeface="Arial"/>
              <a:buNone/>
            </a:pPr>
            <a:r>
              <a:t/>
            </a:r>
            <a:endParaRPr b="0" i="0" sz="2800" u="none" cap="none" strike="noStrike">
              <a:solidFill>
                <a:srgbClr val="212121"/>
              </a:solidFill>
              <a:latin typeface="Times New Roman"/>
              <a:ea typeface="Times New Roman"/>
              <a:cs typeface="Times New Roman"/>
              <a:sym typeface="Times New Roman"/>
            </a:endParaRPr>
          </a:p>
          <a:p>
            <a:pPr indent="-177800" lvl="0" marL="0" marR="0" rtl="0" algn="l">
              <a:spcBef>
                <a:spcPts val="0"/>
              </a:spcBef>
              <a:spcAft>
                <a:spcPts val="0"/>
              </a:spcAft>
              <a:buClr>
                <a:srgbClr val="212121"/>
              </a:buClr>
              <a:buSzPts val="2800"/>
              <a:buFont typeface="Arial"/>
              <a:buChar char="•"/>
            </a:pPr>
            <a:r>
              <a:rPr b="1" i="0" lang="en-US" sz="2800" u="none" cap="none" strike="noStrike">
                <a:solidFill>
                  <a:srgbClr val="212121"/>
                </a:solidFill>
                <a:latin typeface="Times New Roman"/>
                <a:ea typeface="Times New Roman"/>
                <a:cs typeface="Times New Roman"/>
                <a:sym typeface="Times New Roman"/>
              </a:rPr>
              <a:t>Dendrites</a:t>
            </a:r>
            <a:r>
              <a:rPr b="0" i="0" lang="en-US" sz="2800" u="none" cap="none" strike="noStrike">
                <a:solidFill>
                  <a:srgbClr val="212121"/>
                </a:solidFill>
                <a:latin typeface="Times New Roman"/>
                <a:ea typeface="Times New Roman"/>
                <a:cs typeface="Times New Roman"/>
                <a:sym typeface="Times New Roman"/>
              </a:rPr>
              <a:t> are</a:t>
            </a:r>
            <a:r>
              <a:rPr b="1" i="0" lang="en-US" sz="2800" u="none" cap="none" strike="noStrike">
                <a:solidFill>
                  <a:srgbClr val="212121"/>
                </a:solidFill>
                <a:latin typeface="Times New Roman"/>
                <a:ea typeface="Times New Roman"/>
                <a:cs typeface="Times New Roman"/>
                <a:sym typeface="Times New Roman"/>
              </a:rPr>
              <a:t> </a:t>
            </a:r>
            <a:r>
              <a:rPr b="0" i="0" lang="en-US" sz="2800" u="none" cap="none" strike="noStrike">
                <a:solidFill>
                  <a:srgbClr val="212121"/>
                </a:solidFill>
                <a:latin typeface="Times New Roman"/>
                <a:ea typeface="Times New Roman"/>
                <a:cs typeface="Times New Roman"/>
                <a:sym typeface="Times New Roman"/>
              </a:rPr>
              <a:t>fibers that branch out from the cell body to receive messages from other cells</a:t>
            </a:r>
            <a:endParaRPr b="0" i="0" sz="2800" u="none" cap="none" strike="noStrike">
              <a:solidFill>
                <a:srgbClr val="21212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2800"/>
              <a:buFont typeface="Arial"/>
              <a:buNone/>
            </a:pPr>
            <a:r>
              <a:t/>
            </a:r>
            <a:endParaRPr b="0" i="0" sz="2800" u="none" cap="none" strike="noStrike">
              <a:solidFill>
                <a:srgbClr val="212121"/>
              </a:solidFill>
              <a:latin typeface="Times New Roman"/>
              <a:ea typeface="Times New Roman"/>
              <a:cs typeface="Times New Roman"/>
              <a:sym typeface="Times New Roman"/>
            </a:endParaRPr>
          </a:p>
          <a:p>
            <a:pPr indent="-177800" lvl="0" marL="0" marR="0" rtl="0" algn="l">
              <a:spcBef>
                <a:spcPts val="0"/>
              </a:spcBef>
              <a:spcAft>
                <a:spcPts val="0"/>
              </a:spcAft>
              <a:buClr>
                <a:srgbClr val="212121"/>
              </a:buClr>
              <a:buSzPts val="2800"/>
              <a:buFont typeface="Arial"/>
              <a:buChar char="•"/>
            </a:pPr>
            <a:r>
              <a:rPr b="1" i="0" lang="en-US" sz="2800" u="none" cap="none" strike="noStrike">
                <a:solidFill>
                  <a:srgbClr val="212121"/>
                </a:solidFill>
                <a:latin typeface="Times New Roman"/>
                <a:ea typeface="Times New Roman"/>
                <a:cs typeface="Times New Roman"/>
                <a:sym typeface="Times New Roman"/>
              </a:rPr>
              <a:t>Axons </a:t>
            </a:r>
            <a:r>
              <a:rPr b="0" i="0" lang="en-US" sz="2800" u="none" cap="none" strike="noStrike">
                <a:solidFill>
                  <a:srgbClr val="212121"/>
                </a:solidFill>
                <a:latin typeface="Times New Roman"/>
                <a:ea typeface="Times New Roman"/>
                <a:cs typeface="Times New Roman"/>
                <a:sym typeface="Times New Roman"/>
              </a:rPr>
              <a:t>are</a:t>
            </a:r>
            <a:r>
              <a:rPr b="1" i="0" lang="en-US" sz="2800" u="none" cap="none" strike="noStrike">
                <a:solidFill>
                  <a:srgbClr val="212121"/>
                </a:solidFill>
                <a:latin typeface="Times New Roman"/>
                <a:ea typeface="Times New Roman"/>
                <a:cs typeface="Times New Roman"/>
                <a:sym typeface="Times New Roman"/>
              </a:rPr>
              <a:t> </a:t>
            </a:r>
            <a:r>
              <a:rPr b="0" i="0" lang="en-US" sz="2800" u="none" cap="none" strike="noStrike">
                <a:solidFill>
                  <a:srgbClr val="212121"/>
                </a:solidFill>
                <a:latin typeface="Times New Roman"/>
                <a:ea typeface="Times New Roman"/>
                <a:cs typeface="Times New Roman"/>
                <a:sym typeface="Times New Roman"/>
              </a:rPr>
              <a:t>fibers that send outgoing messages to the dendrites of other cells</a:t>
            </a:r>
            <a:endParaRPr b="0" i="0" sz="2800" u="none" cap="none" strike="noStrike">
              <a:solidFill>
                <a:srgbClr val="212121"/>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2800" u="none" cap="none" strike="noStrike">
                <a:solidFill>
                  <a:srgbClr val="212121"/>
                </a:solidFill>
                <a:latin typeface="Times New Roman"/>
                <a:ea typeface="Times New Roman"/>
                <a:cs typeface="Times New Roman"/>
                <a:sym typeface="Times New Roman"/>
              </a:rPr>
              <a:t>The neurons link to one another in the brain through connection points called </a:t>
            </a:r>
            <a:r>
              <a:rPr b="0" i="0" lang="en-US" sz="2800" u="sng" cap="none" strike="noStrike">
                <a:solidFill>
                  <a:schemeClr val="dk1"/>
                </a:solidFill>
                <a:latin typeface="Times New Roman"/>
                <a:ea typeface="Times New Roman"/>
                <a:cs typeface="Times New Roman"/>
                <a:sym typeface="Times New Roman"/>
                <a:hlinkClick r:id="rId3">
                  <a:extLst>
                    <a:ext uri="{A12FA001-AC4F-418D-AE19-62706E023703}">
                      <ahyp:hlinkClr val="tx"/>
                    </a:ext>
                  </a:extLst>
                </a:hlinkClick>
              </a:rPr>
              <a:t>synapses</a:t>
            </a:r>
            <a:r>
              <a:rPr b="0" i="0" lang="en-US" sz="2800" u="none" cap="none" strike="noStrike">
                <a:solidFill>
                  <a:srgbClr val="212121"/>
                </a:solidFill>
                <a:latin typeface="Times New Roman"/>
                <a:ea typeface="Times New Roman"/>
                <a:cs typeface="Times New Roman"/>
                <a:sym typeface="Times New Roman"/>
              </a:rPr>
              <a:t>.</a:t>
            </a:r>
            <a:endParaRPr b="0" i="0" sz="2800" u="none" cap="none" strike="noStrike">
              <a:solidFill>
                <a:srgbClr val="21212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8"/>
          <p:cNvSpPr txBox="1"/>
          <p:nvPr/>
        </p:nvSpPr>
        <p:spPr>
          <a:xfrm>
            <a:off x="0" y="0"/>
            <a:ext cx="12191999"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200">
                <a:solidFill>
                  <a:srgbClr val="212121"/>
                </a:solidFill>
                <a:latin typeface="Times New Roman"/>
                <a:ea typeface="Times New Roman"/>
                <a:cs typeface="Times New Roman"/>
                <a:sym typeface="Times New Roman"/>
              </a:rPr>
              <a:t>The three main types of nerve cells inside the cerebrum include:</a:t>
            </a:r>
            <a:endParaRPr b="0" i="0" sz="3200">
              <a:solidFill>
                <a:srgbClr val="21212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0" i="0" sz="3200">
              <a:solidFill>
                <a:srgbClr val="212121"/>
              </a:solidFill>
              <a:latin typeface="Times New Roman"/>
              <a:ea typeface="Times New Roman"/>
              <a:cs typeface="Times New Roman"/>
              <a:sym typeface="Times New Roman"/>
            </a:endParaRPr>
          </a:p>
          <a:p>
            <a:pPr indent="-203200" lvl="0" marL="0" marR="0" rtl="0" algn="l">
              <a:spcBef>
                <a:spcPts val="0"/>
              </a:spcBef>
              <a:spcAft>
                <a:spcPts val="0"/>
              </a:spcAft>
              <a:buClr>
                <a:srgbClr val="212121"/>
              </a:buClr>
              <a:buSzPts val="3200"/>
              <a:buFont typeface="Arial"/>
              <a:buChar char="•"/>
            </a:pPr>
            <a:r>
              <a:rPr b="1" i="0" lang="en-US" sz="3200">
                <a:solidFill>
                  <a:srgbClr val="212121"/>
                </a:solidFill>
                <a:latin typeface="Times New Roman"/>
                <a:ea typeface="Times New Roman"/>
                <a:cs typeface="Times New Roman"/>
                <a:sym typeface="Times New Roman"/>
              </a:rPr>
              <a:t>Sensory neurons, </a:t>
            </a:r>
            <a:r>
              <a:rPr b="0" i="0" lang="en-US" sz="3200">
                <a:solidFill>
                  <a:srgbClr val="212121"/>
                </a:solidFill>
                <a:latin typeface="Times New Roman"/>
                <a:ea typeface="Times New Roman"/>
                <a:cs typeface="Times New Roman"/>
                <a:sym typeface="Times New Roman"/>
              </a:rPr>
              <a:t>which are responsible for sensation</a:t>
            </a:r>
            <a:endParaRPr b="0" i="0" sz="3200">
              <a:solidFill>
                <a:srgbClr val="21212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3200"/>
              <a:buFont typeface="Arial"/>
              <a:buNone/>
            </a:pPr>
            <a:r>
              <a:t/>
            </a:r>
            <a:endParaRPr b="0" i="0" sz="3200">
              <a:solidFill>
                <a:srgbClr val="212121"/>
              </a:solidFill>
              <a:latin typeface="Times New Roman"/>
              <a:ea typeface="Times New Roman"/>
              <a:cs typeface="Times New Roman"/>
              <a:sym typeface="Times New Roman"/>
            </a:endParaRPr>
          </a:p>
          <a:p>
            <a:pPr indent="-203200" lvl="0" marL="0" marR="0" rtl="0" algn="l">
              <a:spcBef>
                <a:spcPts val="0"/>
              </a:spcBef>
              <a:spcAft>
                <a:spcPts val="0"/>
              </a:spcAft>
              <a:buClr>
                <a:srgbClr val="212121"/>
              </a:buClr>
              <a:buSzPts val="3200"/>
              <a:buFont typeface="Arial"/>
              <a:buChar char="•"/>
            </a:pPr>
            <a:r>
              <a:rPr b="1" i="0" lang="en-US" sz="3200">
                <a:solidFill>
                  <a:srgbClr val="212121"/>
                </a:solidFill>
                <a:latin typeface="Times New Roman"/>
                <a:ea typeface="Times New Roman"/>
                <a:cs typeface="Times New Roman"/>
                <a:sym typeface="Times New Roman"/>
              </a:rPr>
              <a:t>Motor neurons, </a:t>
            </a:r>
            <a:r>
              <a:rPr b="0" i="0" lang="en-US" sz="3200">
                <a:solidFill>
                  <a:srgbClr val="212121"/>
                </a:solidFill>
                <a:latin typeface="Times New Roman"/>
                <a:ea typeface="Times New Roman"/>
                <a:cs typeface="Times New Roman"/>
                <a:sym typeface="Times New Roman"/>
              </a:rPr>
              <a:t>which are responsible for voluntary and involuntary movement</a:t>
            </a:r>
            <a:endParaRPr b="0" i="0" sz="3200">
              <a:solidFill>
                <a:srgbClr val="21212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3200"/>
              <a:buFont typeface="Arial"/>
              <a:buNone/>
            </a:pPr>
            <a:r>
              <a:t/>
            </a:r>
            <a:endParaRPr b="0" i="0" sz="3200">
              <a:solidFill>
                <a:srgbClr val="212121"/>
              </a:solidFill>
              <a:latin typeface="Times New Roman"/>
              <a:ea typeface="Times New Roman"/>
              <a:cs typeface="Times New Roman"/>
              <a:sym typeface="Times New Roman"/>
            </a:endParaRPr>
          </a:p>
          <a:p>
            <a:pPr indent="-203200" lvl="0" marL="0" marR="0" rtl="0" algn="l">
              <a:spcBef>
                <a:spcPts val="0"/>
              </a:spcBef>
              <a:spcAft>
                <a:spcPts val="0"/>
              </a:spcAft>
              <a:buClr>
                <a:srgbClr val="212121"/>
              </a:buClr>
              <a:buSzPts val="3200"/>
              <a:buFont typeface="Arial"/>
              <a:buChar char="•"/>
            </a:pPr>
            <a:r>
              <a:rPr b="1" i="0" lang="en-US" sz="3200">
                <a:solidFill>
                  <a:srgbClr val="212121"/>
                </a:solidFill>
                <a:latin typeface="Times New Roman"/>
                <a:ea typeface="Times New Roman"/>
                <a:cs typeface="Times New Roman"/>
                <a:sym typeface="Times New Roman"/>
              </a:rPr>
              <a:t>Interneurons</a:t>
            </a:r>
            <a:r>
              <a:rPr b="0" i="0" lang="en-US" sz="3200">
                <a:solidFill>
                  <a:srgbClr val="212121"/>
                </a:solidFill>
                <a:latin typeface="Times New Roman"/>
                <a:ea typeface="Times New Roman"/>
                <a:cs typeface="Times New Roman"/>
                <a:sym typeface="Times New Roman"/>
              </a:rPr>
              <a:t> that connect with other nerves</a:t>
            </a:r>
            <a:endParaRPr b="0" i="0" sz="3200">
              <a:solidFill>
                <a:srgbClr val="21212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9"/>
          <p:cNvSpPr txBox="1"/>
          <p:nvPr/>
        </p:nvSpPr>
        <p:spPr>
          <a:xfrm>
            <a:off x="0" y="0"/>
            <a:ext cx="7279690" cy="6986528"/>
          </a:xfrm>
          <a:prstGeom prst="rect">
            <a:avLst/>
          </a:prstGeom>
          <a:noFill/>
          <a:ln>
            <a:noFill/>
          </a:ln>
        </p:spPr>
        <p:txBody>
          <a:bodyPr anchorCtr="0" anchor="t" bIns="45700" lIns="91425" spcFirstLastPara="1" rIns="91425" wrap="square" tIns="45700">
            <a:spAutoFit/>
          </a:bodyPr>
          <a:lstStyle/>
          <a:p>
            <a:pPr indent="0" lvl="4" marL="1828800" marR="0" rtl="0" algn="l">
              <a:spcBef>
                <a:spcPts val="0"/>
              </a:spcBef>
              <a:spcAft>
                <a:spcPts val="0"/>
              </a:spcAft>
              <a:buNone/>
            </a:pPr>
            <a:r>
              <a:rPr b="1" i="0" lang="en-US" sz="2800" u="none" cap="none" strike="noStrike">
                <a:solidFill>
                  <a:srgbClr val="C00000"/>
                </a:solidFill>
                <a:latin typeface="Times New Roman"/>
                <a:ea typeface="Times New Roman"/>
                <a:cs typeface="Times New Roman"/>
                <a:sym typeface="Times New Roman"/>
              </a:rPr>
              <a:t>Types of Tissue</a:t>
            </a:r>
            <a:endParaRPr b="1" i="0" sz="2800" u="none" cap="none" strike="noStrike">
              <a:solidFill>
                <a:srgbClr val="C0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0" i="0" sz="2800">
              <a:solidFill>
                <a:srgbClr val="212121"/>
              </a:solidFill>
              <a:latin typeface="Times New Roman"/>
              <a:ea typeface="Times New Roman"/>
              <a:cs typeface="Times New Roman"/>
              <a:sym typeface="Times New Roman"/>
            </a:endParaRPr>
          </a:p>
          <a:p>
            <a:pPr indent="-457200" lvl="0" marL="457200" marR="0" rtl="0" algn="l">
              <a:spcBef>
                <a:spcPts val="0"/>
              </a:spcBef>
              <a:spcAft>
                <a:spcPts val="0"/>
              </a:spcAft>
              <a:buClr>
                <a:srgbClr val="212121"/>
              </a:buClr>
              <a:buSzPts val="2800"/>
              <a:buFont typeface="Noto Sans Symbols"/>
              <a:buChar char="❖"/>
            </a:pPr>
            <a:r>
              <a:rPr b="1" i="0" lang="en-US" sz="2800">
                <a:solidFill>
                  <a:srgbClr val="212121"/>
                </a:solidFill>
                <a:latin typeface="Times New Roman"/>
                <a:ea typeface="Times New Roman"/>
                <a:cs typeface="Times New Roman"/>
                <a:sym typeface="Times New Roman"/>
              </a:rPr>
              <a:t>Gray matter, </a:t>
            </a:r>
            <a:r>
              <a:rPr b="0" i="0" lang="en-US" sz="2800">
                <a:solidFill>
                  <a:srgbClr val="212121"/>
                </a:solidFill>
                <a:latin typeface="Times New Roman"/>
                <a:ea typeface="Times New Roman"/>
                <a:cs typeface="Times New Roman"/>
                <a:sym typeface="Times New Roman"/>
              </a:rPr>
              <a:t>which is named for its gray-brown color, forms the outer surface of the brain and consists of the neurons' cell bodies. This outer layer of gray matter is the cerebral cortex and it is associated with most information processing, including language, perception, and thought.</a:t>
            </a:r>
            <a:endParaRPr sz="2800">
              <a:solidFill>
                <a:srgbClr val="212121"/>
              </a:solidFill>
              <a:latin typeface="Times New Roman"/>
              <a:ea typeface="Times New Roman"/>
              <a:cs typeface="Times New Roman"/>
              <a:sym typeface="Times New Roman"/>
            </a:endParaRPr>
          </a:p>
          <a:p>
            <a:pPr indent="-457200" lvl="0" marL="457200" marR="0" rtl="0" algn="l">
              <a:spcBef>
                <a:spcPts val="0"/>
              </a:spcBef>
              <a:spcAft>
                <a:spcPts val="0"/>
              </a:spcAft>
              <a:buClr>
                <a:schemeClr val="dk1"/>
              </a:buClr>
              <a:buSzPts val="2800"/>
              <a:buFont typeface="Noto Sans Symbols"/>
              <a:buChar char="❖"/>
            </a:pPr>
            <a:r>
              <a:rPr b="1" lang="en-US" sz="2800">
                <a:solidFill>
                  <a:schemeClr val="dk1"/>
                </a:solidFill>
                <a:latin typeface="Times New Roman"/>
                <a:ea typeface="Times New Roman"/>
                <a:cs typeface="Times New Roman"/>
                <a:sym typeface="Times New Roman"/>
              </a:rPr>
              <a:t>White matter</a:t>
            </a:r>
            <a:r>
              <a:rPr b="0" i="0" lang="en-US" sz="2800">
                <a:solidFill>
                  <a:schemeClr val="dk1"/>
                </a:solidFill>
                <a:latin typeface="Times New Roman"/>
                <a:ea typeface="Times New Roman"/>
                <a:cs typeface="Times New Roman"/>
                <a:sym typeface="Times New Roman"/>
              </a:rPr>
              <a:t> </a:t>
            </a:r>
            <a:r>
              <a:rPr b="0" i="0" lang="en-US" sz="2800">
                <a:solidFill>
                  <a:srgbClr val="212121"/>
                </a:solidFill>
                <a:latin typeface="Times New Roman"/>
                <a:ea typeface="Times New Roman"/>
                <a:cs typeface="Times New Roman"/>
                <a:sym typeface="Times New Roman"/>
              </a:rPr>
              <a:t>is an inner core of brain tissue that's mostly composed of axons, or nerve fibers, that are covered by myelin (a type of fat). The myelin gives white matter its white color.</a:t>
            </a:r>
            <a:endParaRPr b="0" i="0" sz="2800">
              <a:solidFill>
                <a:srgbClr val="212121"/>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2800">
                <a:solidFill>
                  <a:srgbClr val="212121"/>
                </a:solidFill>
                <a:latin typeface="Times New Roman"/>
                <a:ea typeface="Times New Roman"/>
                <a:cs typeface="Times New Roman"/>
                <a:sym typeface="Times New Roman"/>
              </a:rPr>
              <a:t>White matter serves as the connectors for gray matter.</a:t>
            </a:r>
            <a:endParaRPr b="0" i="0" sz="2800">
              <a:solidFill>
                <a:srgbClr val="212121"/>
              </a:solidFill>
              <a:latin typeface="Times New Roman"/>
              <a:ea typeface="Times New Roman"/>
              <a:cs typeface="Times New Roman"/>
              <a:sym typeface="Times New Roman"/>
            </a:endParaRPr>
          </a:p>
        </p:txBody>
      </p:sp>
      <p:pic>
        <p:nvPicPr>
          <p:cNvPr id="131" name="Google Shape;131;p9"/>
          <p:cNvPicPr preferRelativeResize="0"/>
          <p:nvPr/>
        </p:nvPicPr>
        <p:blipFill rotWithShape="1">
          <a:blip r:embed="rId3">
            <a:alphaModFix/>
          </a:blip>
          <a:srcRect b="0" l="0" r="0" t="0"/>
          <a:stretch/>
        </p:blipFill>
        <p:spPr>
          <a:xfrm>
            <a:off x="7383633" y="683580"/>
            <a:ext cx="4808367" cy="597467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0"/>
          <p:cNvSpPr txBox="1"/>
          <p:nvPr/>
        </p:nvSpPr>
        <p:spPr>
          <a:xfrm>
            <a:off x="0" y="3838620"/>
            <a:ext cx="11993731" cy="3046988"/>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rgbClr val="212121"/>
              </a:buClr>
              <a:buSzPts val="3200"/>
              <a:buFont typeface="Noto Sans Symbols"/>
              <a:buChar char="❖"/>
            </a:pPr>
            <a:r>
              <a:rPr b="0" i="0" lang="en-US" sz="3200">
                <a:solidFill>
                  <a:srgbClr val="212121"/>
                </a:solidFill>
                <a:latin typeface="Times New Roman"/>
                <a:ea typeface="Times New Roman"/>
                <a:cs typeface="Times New Roman"/>
                <a:sym typeface="Times New Roman"/>
              </a:rPr>
              <a:t>The cerebral cortex has a series of folds that allow for a larger surface area to house more gray matter and its powerful information processing.</a:t>
            </a:r>
            <a:endParaRPr b="0" i="0" sz="3200">
              <a:solidFill>
                <a:srgbClr val="21212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0" i="0" sz="3200">
              <a:solidFill>
                <a:srgbClr val="212121"/>
              </a:solidFill>
              <a:latin typeface="Times New Roman"/>
              <a:ea typeface="Times New Roman"/>
              <a:cs typeface="Times New Roman"/>
              <a:sym typeface="Times New Roman"/>
            </a:endParaRPr>
          </a:p>
          <a:p>
            <a:pPr indent="-457200" lvl="0" marL="457200" marR="0" rtl="0" algn="l">
              <a:spcBef>
                <a:spcPts val="0"/>
              </a:spcBef>
              <a:spcAft>
                <a:spcPts val="0"/>
              </a:spcAft>
              <a:buClr>
                <a:srgbClr val="212121"/>
              </a:buClr>
              <a:buSzPts val="3200"/>
              <a:buFont typeface="Noto Sans Symbols"/>
              <a:buChar char="❖"/>
            </a:pPr>
            <a:r>
              <a:rPr b="0" i="0" lang="en-US" sz="3200">
                <a:solidFill>
                  <a:srgbClr val="212121"/>
                </a:solidFill>
                <a:latin typeface="Times New Roman"/>
                <a:ea typeface="Times New Roman"/>
                <a:cs typeface="Times New Roman"/>
                <a:sym typeface="Times New Roman"/>
              </a:rPr>
              <a:t>Each groove or low point is known as a sulcus. Each ridge or high point is called a gyrus.</a:t>
            </a:r>
            <a:endParaRPr b="0" i="0" sz="3200">
              <a:solidFill>
                <a:srgbClr val="212121"/>
              </a:solidFill>
              <a:latin typeface="Times New Roman"/>
              <a:ea typeface="Times New Roman"/>
              <a:cs typeface="Times New Roman"/>
              <a:sym typeface="Times New Roman"/>
            </a:endParaRPr>
          </a:p>
        </p:txBody>
      </p:sp>
      <p:sp>
        <p:nvSpPr>
          <p:cNvPr id="137" name="Google Shape;137;p10"/>
          <p:cNvSpPr txBox="1"/>
          <p:nvPr/>
        </p:nvSpPr>
        <p:spPr>
          <a:xfrm>
            <a:off x="0" y="464835"/>
            <a:ext cx="11407804" cy="2554545"/>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rgbClr val="212121"/>
              </a:buClr>
              <a:buSzPts val="3200"/>
              <a:buFont typeface="Noto Sans Symbols"/>
              <a:buChar char="❖"/>
            </a:pPr>
            <a:r>
              <a:rPr b="0" i="0" lang="en-US" sz="3200">
                <a:solidFill>
                  <a:srgbClr val="212121"/>
                </a:solidFill>
                <a:latin typeface="Times New Roman"/>
                <a:ea typeface="Times New Roman"/>
                <a:cs typeface="Times New Roman"/>
                <a:sym typeface="Times New Roman"/>
              </a:rPr>
              <a:t>The cerebral cortex is the outermost layer of the cerebrum and cerebellum.</a:t>
            </a:r>
            <a:endParaRPr b="0" i="0" sz="3200">
              <a:solidFill>
                <a:srgbClr val="212121"/>
              </a:solidFill>
              <a:latin typeface="Times New Roman"/>
              <a:ea typeface="Times New Roman"/>
              <a:cs typeface="Times New Roman"/>
              <a:sym typeface="Times New Roman"/>
            </a:endParaRPr>
          </a:p>
          <a:p>
            <a:pPr indent="-254000" lvl="0" marL="457200" marR="0" rtl="0" algn="l">
              <a:spcBef>
                <a:spcPts val="0"/>
              </a:spcBef>
              <a:spcAft>
                <a:spcPts val="0"/>
              </a:spcAft>
              <a:buClr>
                <a:schemeClr val="dk1"/>
              </a:buClr>
              <a:buSzPts val="3200"/>
              <a:buFont typeface="Noto Sans Symbols"/>
              <a:buNone/>
            </a:pPr>
            <a:r>
              <a:t/>
            </a:r>
            <a:endParaRPr sz="3200">
              <a:solidFill>
                <a:srgbClr val="212121"/>
              </a:solidFill>
              <a:latin typeface="Times New Roman"/>
              <a:ea typeface="Times New Roman"/>
              <a:cs typeface="Times New Roman"/>
              <a:sym typeface="Times New Roman"/>
            </a:endParaRPr>
          </a:p>
          <a:p>
            <a:pPr indent="-457200" lvl="0" marL="457200" marR="0" rtl="0" algn="l">
              <a:spcBef>
                <a:spcPts val="0"/>
              </a:spcBef>
              <a:spcAft>
                <a:spcPts val="0"/>
              </a:spcAft>
              <a:buClr>
                <a:srgbClr val="212121"/>
              </a:buClr>
              <a:buSzPts val="3200"/>
              <a:buFont typeface="Noto Sans Symbols"/>
              <a:buChar char="❖"/>
            </a:pPr>
            <a:r>
              <a:rPr b="0" i="0" lang="en-US" sz="3200">
                <a:solidFill>
                  <a:srgbClr val="212121"/>
                </a:solidFill>
                <a:latin typeface="Times New Roman"/>
                <a:ea typeface="Times New Roman"/>
                <a:cs typeface="Times New Roman"/>
                <a:sym typeface="Times New Roman"/>
              </a:rPr>
              <a:t>The cerebellum is the second largest part of the brain and it is involved in coordinated movement, posture, and balance.</a:t>
            </a:r>
            <a:endParaRPr b="0" i="0" sz="3200">
              <a:solidFill>
                <a:srgbClr val="21212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1"/>
          <p:cNvSpPr txBox="1"/>
          <p:nvPr/>
        </p:nvSpPr>
        <p:spPr>
          <a:xfrm>
            <a:off x="69172" y="0"/>
            <a:ext cx="11840592" cy="35394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a:solidFill>
                  <a:srgbClr val="C00000"/>
                </a:solidFill>
                <a:latin typeface="Times New Roman"/>
                <a:ea typeface="Times New Roman"/>
                <a:cs typeface="Times New Roman"/>
                <a:sym typeface="Times New Roman"/>
              </a:rPr>
              <a:t>				Lobes</a:t>
            </a:r>
            <a:endParaRPr b="1" i="0" sz="3200">
              <a:solidFill>
                <a:srgbClr val="C00000"/>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3200">
                <a:solidFill>
                  <a:srgbClr val="212121"/>
                </a:solidFill>
                <a:latin typeface="Times New Roman"/>
                <a:ea typeface="Times New Roman"/>
                <a:cs typeface="Times New Roman"/>
                <a:sym typeface="Times New Roman"/>
              </a:rPr>
              <a:t>The gray matter of the cerebral cortex is divided lengthwise into two halves, separated by a deep crease called the longitudinal fissure.</a:t>
            </a:r>
            <a:endParaRPr b="0" i="0" sz="3200">
              <a:solidFill>
                <a:srgbClr val="212121"/>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3200">
                <a:solidFill>
                  <a:srgbClr val="212121"/>
                </a:solidFill>
                <a:latin typeface="Times New Roman"/>
                <a:ea typeface="Times New Roman"/>
                <a:cs typeface="Times New Roman"/>
                <a:sym typeface="Times New Roman"/>
              </a:rPr>
              <a:t>From side-to-side, a crease called the central sulcus divides each hemisphere in half again.</a:t>
            </a:r>
            <a:endParaRPr b="0" i="0" sz="3200">
              <a:solidFill>
                <a:srgbClr val="212121"/>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3200">
                <a:solidFill>
                  <a:srgbClr val="212121"/>
                </a:solidFill>
                <a:latin typeface="Times New Roman"/>
                <a:ea typeface="Times New Roman"/>
                <a:cs typeface="Times New Roman"/>
                <a:sym typeface="Times New Roman"/>
              </a:rPr>
              <a:t>Each half of the cerebral cortex contains four regions called lobes that have different functions:</a:t>
            </a:r>
            <a:endParaRPr b="0" i="0" sz="3200">
              <a:solidFill>
                <a:srgbClr val="212121"/>
              </a:solidFill>
              <a:latin typeface="Times New Roman"/>
              <a:ea typeface="Times New Roman"/>
              <a:cs typeface="Times New Roman"/>
              <a:sym typeface="Times New Roman"/>
            </a:endParaRPr>
          </a:p>
        </p:txBody>
      </p:sp>
      <p:sp>
        <p:nvSpPr>
          <p:cNvPr id="143" name="Google Shape;143;p11"/>
          <p:cNvSpPr txBox="1"/>
          <p:nvPr/>
        </p:nvSpPr>
        <p:spPr>
          <a:xfrm>
            <a:off x="-106525" y="3931706"/>
            <a:ext cx="12192000" cy="3526800"/>
          </a:xfrm>
          <a:prstGeom prst="rect">
            <a:avLst/>
          </a:prstGeom>
          <a:noFill/>
          <a:ln>
            <a:noFill/>
          </a:ln>
        </p:spPr>
        <p:txBody>
          <a:bodyPr anchorCtr="0" anchor="t" bIns="45700" lIns="91425" spcFirstLastPara="1" rIns="91425" wrap="square" tIns="45700">
            <a:spAutoFit/>
          </a:bodyPr>
          <a:lstStyle/>
          <a:p>
            <a:pPr indent="-203200" lvl="0" marL="0" marR="0" rtl="0" algn="l">
              <a:spcBef>
                <a:spcPts val="0"/>
              </a:spcBef>
              <a:spcAft>
                <a:spcPts val="0"/>
              </a:spcAft>
              <a:buClr>
                <a:srgbClr val="212121"/>
              </a:buClr>
              <a:buSzPts val="3200"/>
              <a:buFont typeface="Arial"/>
              <a:buChar char="•"/>
            </a:pPr>
            <a:r>
              <a:rPr b="1" i="0" lang="en-US" sz="3200">
                <a:solidFill>
                  <a:srgbClr val="212121"/>
                </a:solidFill>
                <a:latin typeface="Times New Roman"/>
                <a:ea typeface="Times New Roman"/>
                <a:cs typeface="Times New Roman"/>
                <a:sym typeface="Times New Roman"/>
              </a:rPr>
              <a:t>Frontal lobes </a:t>
            </a:r>
            <a:r>
              <a:rPr b="0" i="0" lang="en-US" sz="3200">
                <a:solidFill>
                  <a:srgbClr val="212121"/>
                </a:solidFill>
                <a:latin typeface="Times New Roman"/>
                <a:ea typeface="Times New Roman"/>
                <a:cs typeface="Times New Roman"/>
                <a:sym typeface="Times New Roman"/>
              </a:rPr>
              <a:t>reside at the very front of the brain behind the forehead and are responsible for many key functions, such as attention, learning, and speech. The prefrontal cortex (PFC), a forward-facing region of each frontal lobe, allows for planning and complex decision making and is said to house your personality. A rear-facing region is involved in voluntary movements.</a:t>
            </a:r>
            <a:endParaRPr b="0" i="0" sz="3200">
              <a:solidFill>
                <a:srgbClr val="21212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2"/>
          <p:cNvSpPr txBox="1"/>
          <p:nvPr/>
        </p:nvSpPr>
        <p:spPr>
          <a:xfrm>
            <a:off x="0" y="0"/>
            <a:ext cx="7190913" cy="61863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a:solidFill>
                  <a:srgbClr val="212121"/>
                </a:solidFill>
                <a:latin typeface="Times New Roman"/>
                <a:ea typeface="Times New Roman"/>
                <a:cs typeface="Times New Roman"/>
                <a:sym typeface="Times New Roman"/>
              </a:rPr>
              <a:t>				</a:t>
            </a:r>
            <a:r>
              <a:rPr b="1" lang="en-US" sz="3200">
                <a:solidFill>
                  <a:srgbClr val="C00000"/>
                </a:solidFill>
                <a:latin typeface="Times New Roman"/>
                <a:ea typeface="Times New Roman"/>
                <a:cs typeface="Times New Roman"/>
                <a:sym typeface="Times New Roman"/>
              </a:rPr>
              <a:t>L</a:t>
            </a:r>
            <a:r>
              <a:rPr b="1" i="0" lang="en-US" sz="3200">
                <a:solidFill>
                  <a:srgbClr val="C00000"/>
                </a:solidFill>
                <a:latin typeface="Times New Roman"/>
                <a:ea typeface="Times New Roman"/>
                <a:cs typeface="Times New Roman"/>
                <a:sym typeface="Times New Roman"/>
              </a:rPr>
              <a:t>obes</a:t>
            </a:r>
            <a:endParaRPr b="1" i="0" sz="3200">
              <a:solidFill>
                <a:srgbClr val="C00000"/>
              </a:solidFill>
              <a:latin typeface="Times New Roman"/>
              <a:ea typeface="Times New Roman"/>
              <a:cs typeface="Times New Roman"/>
              <a:sym typeface="Times New Roman"/>
            </a:endParaRPr>
          </a:p>
          <a:p>
            <a:pPr indent="-457200" lvl="0" marL="457200" marR="0" rtl="0" algn="l">
              <a:spcBef>
                <a:spcPts val="0"/>
              </a:spcBef>
              <a:spcAft>
                <a:spcPts val="0"/>
              </a:spcAft>
              <a:buClr>
                <a:srgbClr val="212121"/>
              </a:buClr>
              <a:buSzPts val="2800"/>
              <a:buFont typeface="Noto Sans Symbols"/>
              <a:buChar char="❖"/>
            </a:pPr>
            <a:r>
              <a:rPr b="1" i="0" lang="en-US" sz="2800">
                <a:solidFill>
                  <a:srgbClr val="212121"/>
                </a:solidFill>
                <a:latin typeface="Times New Roman"/>
                <a:ea typeface="Times New Roman"/>
                <a:cs typeface="Times New Roman"/>
                <a:sym typeface="Times New Roman"/>
              </a:rPr>
              <a:t>Parietal lobes </a:t>
            </a:r>
            <a:r>
              <a:rPr b="0" i="0" lang="en-US" sz="2800">
                <a:solidFill>
                  <a:srgbClr val="212121"/>
                </a:solidFill>
                <a:latin typeface="Times New Roman"/>
                <a:ea typeface="Times New Roman"/>
                <a:cs typeface="Times New Roman"/>
                <a:sym typeface="Times New Roman"/>
              </a:rPr>
              <a:t>are located near the middle of the brain behind the frontal lobes and are sensory areas that process pain, taste, temperature, and textures along with spatial relationships (such as the distance between your car and the one in front of you).</a:t>
            </a:r>
            <a:endParaRPr b="0" i="0" sz="2800">
              <a:solidFill>
                <a:srgbClr val="212121"/>
              </a:solidFill>
              <a:latin typeface="Times New Roman"/>
              <a:ea typeface="Times New Roman"/>
              <a:cs typeface="Times New Roman"/>
              <a:sym typeface="Times New Roman"/>
            </a:endParaRPr>
          </a:p>
          <a:p>
            <a:pPr indent="-457200" lvl="0" marL="457200" marR="0" rtl="0" algn="l">
              <a:spcBef>
                <a:spcPts val="0"/>
              </a:spcBef>
              <a:spcAft>
                <a:spcPts val="0"/>
              </a:spcAft>
              <a:buClr>
                <a:srgbClr val="212121"/>
              </a:buClr>
              <a:buSzPts val="2800"/>
              <a:buFont typeface="Noto Sans Symbols"/>
              <a:buChar char="❖"/>
            </a:pPr>
            <a:r>
              <a:rPr b="1" i="0" lang="en-US" sz="2800">
                <a:solidFill>
                  <a:srgbClr val="212121"/>
                </a:solidFill>
                <a:latin typeface="Times New Roman"/>
                <a:ea typeface="Times New Roman"/>
                <a:cs typeface="Times New Roman"/>
                <a:sym typeface="Times New Roman"/>
              </a:rPr>
              <a:t>Temporal lobes </a:t>
            </a:r>
            <a:r>
              <a:rPr b="0" i="0" lang="en-US" sz="2800">
                <a:solidFill>
                  <a:srgbClr val="212121"/>
                </a:solidFill>
                <a:latin typeface="Times New Roman"/>
                <a:ea typeface="Times New Roman"/>
                <a:cs typeface="Times New Roman"/>
                <a:sym typeface="Times New Roman"/>
              </a:rPr>
              <a:t>sit at the sides of the brain and are responsible for short-term memory, understanding sounds and speech, and musical rhythm.</a:t>
            </a:r>
            <a:endParaRPr b="0" i="0" sz="2800">
              <a:solidFill>
                <a:srgbClr val="212121"/>
              </a:solidFill>
              <a:latin typeface="Times New Roman"/>
              <a:ea typeface="Times New Roman"/>
              <a:cs typeface="Times New Roman"/>
              <a:sym typeface="Times New Roman"/>
            </a:endParaRPr>
          </a:p>
          <a:p>
            <a:pPr indent="-457200" lvl="0" marL="457200" marR="0" rtl="0" algn="l">
              <a:spcBef>
                <a:spcPts val="0"/>
              </a:spcBef>
              <a:spcAft>
                <a:spcPts val="0"/>
              </a:spcAft>
              <a:buClr>
                <a:srgbClr val="212121"/>
              </a:buClr>
              <a:buSzPts val="2800"/>
              <a:buFont typeface="Noto Sans Symbols"/>
              <a:buChar char="❖"/>
            </a:pPr>
            <a:r>
              <a:rPr b="1" i="0" lang="en-US" sz="2800">
                <a:solidFill>
                  <a:srgbClr val="212121"/>
                </a:solidFill>
                <a:latin typeface="Times New Roman"/>
                <a:ea typeface="Times New Roman"/>
                <a:cs typeface="Times New Roman"/>
                <a:sym typeface="Times New Roman"/>
              </a:rPr>
              <a:t>Occipital lobes </a:t>
            </a:r>
            <a:r>
              <a:rPr b="0" i="0" lang="en-US" sz="2800">
                <a:solidFill>
                  <a:srgbClr val="212121"/>
                </a:solidFill>
                <a:latin typeface="Times New Roman"/>
                <a:ea typeface="Times New Roman"/>
                <a:cs typeface="Times New Roman"/>
                <a:sym typeface="Times New Roman"/>
              </a:rPr>
              <a:t>are located at the very back of the brain and are responsible for processing what you see.</a:t>
            </a:r>
            <a:endParaRPr b="0" i="0" sz="2800">
              <a:solidFill>
                <a:srgbClr val="212121"/>
              </a:solidFill>
              <a:latin typeface="Times New Roman"/>
              <a:ea typeface="Times New Roman"/>
              <a:cs typeface="Times New Roman"/>
              <a:sym typeface="Times New Roman"/>
            </a:endParaRPr>
          </a:p>
        </p:txBody>
      </p:sp>
      <p:pic>
        <p:nvPicPr>
          <p:cNvPr id="149" name="Google Shape;149;p12"/>
          <p:cNvPicPr preferRelativeResize="0"/>
          <p:nvPr/>
        </p:nvPicPr>
        <p:blipFill rotWithShape="1">
          <a:blip r:embed="rId3">
            <a:alphaModFix/>
          </a:blip>
          <a:srcRect b="0" l="0" r="0" t="0"/>
          <a:stretch/>
        </p:blipFill>
        <p:spPr>
          <a:xfrm>
            <a:off x="7019290" y="106680"/>
            <a:ext cx="5172710" cy="675132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13"/>
          <p:cNvPicPr preferRelativeResize="0"/>
          <p:nvPr/>
        </p:nvPicPr>
        <p:blipFill rotWithShape="1">
          <a:blip r:embed="rId3">
            <a:alphaModFix/>
          </a:blip>
          <a:srcRect b="0" l="0" r="0" t="0"/>
          <a:stretch/>
        </p:blipFill>
        <p:spPr>
          <a:xfrm>
            <a:off x="88777" y="19050"/>
            <a:ext cx="11967099" cy="6858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4"/>
          <p:cNvSpPr txBox="1"/>
          <p:nvPr/>
        </p:nvSpPr>
        <p:spPr>
          <a:xfrm>
            <a:off x="275208" y="181957"/>
            <a:ext cx="11754035" cy="501675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a:solidFill>
                  <a:srgbClr val="C00000"/>
                </a:solidFill>
                <a:latin typeface="Times New Roman"/>
                <a:ea typeface="Times New Roman"/>
                <a:cs typeface="Times New Roman"/>
                <a:sym typeface="Times New Roman"/>
              </a:rPr>
              <a:t>Broca's Area</a:t>
            </a:r>
            <a:endParaRPr b="1" i="0" sz="3200">
              <a:solidFill>
                <a:srgbClr val="C00000"/>
              </a:solidFill>
              <a:latin typeface="Times New Roman"/>
              <a:ea typeface="Times New Roman"/>
              <a:cs typeface="Times New Roman"/>
              <a:sym typeface="Times New Roman"/>
            </a:endParaRPr>
          </a:p>
          <a:p>
            <a:pPr indent="-457200" lvl="0" marL="457200" marR="0" rtl="0" algn="l">
              <a:spcBef>
                <a:spcPts val="0"/>
              </a:spcBef>
              <a:spcAft>
                <a:spcPts val="0"/>
              </a:spcAft>
              <a:buClr>
                <a:srgbClr val="212121"/>
              </a:buClr>
              <a:buSzPts val="3200"/>
              <a:buFont typeface="Noto Sans Symbols"/>
              <a:buChar char="❖"/>
            </a:pPr>
            <a:r>
              <a:rPr b="0" i="0" lang="en-US" sz="3200">
                <a:solidFill>
                  <a:srgbClr val="212121"/>
                </a:solidFill>
                <a:latin typeface="Times New Roman"/>
                <a:ea typeface="Times New Roman"/>
                <a:cs typeface="Times New Roman"/>
                <a:sym typeface="Times New Roman"/>
              </a:rPr>
              <a:t>Broca’s area, which is usually located in the left frontal lobe (in rare cases, it's found on the right side), is a brain region responsible for putting thoughts into words. </a:t>
            </a:r>
            <a:endParaRPr b="0" i="0" sz="3200">
              <a:solidFill>
                <a:srgbClr val="212121"/>
              </a:solidFill>
              <a:latin typeface="Times New Roman"/>
              <a:ea typeface="Times New Roman"/>
              <a:cs typeface="Times New Roman"/>
              <a:sym typeface="Times New Roman"/>
            </a:endParaRPr>
          </a:p>
          <a:p>
            <a:pPr indent="-254000" lvl="0" marL="457200" marR="0" rtl="0" algn="l">
              <a:spcBef>
                <a:spcPts val="0"/>
              </a:spcBef>
              <a:spcAft>
                <a:spcPts val="0"/>
              </a:spcAft>
              <a:buClr>
                <a:schemeClr val="dk1"/>
              </a:buClr>
              <a:buSzPts val="3200"/>
              <a:buFont typeface="Noto Sans Symbols"/>
              <a:buNone/>
            </a:pPr>
            <a:r>
              <a:t/>
            </a:r>
            <a:endParaRPr b="0" i="0" sz="3200">
              <a:solidFill>
                <a:srgbClr val="212121"/>
              </a:solidFill>
              <a:latin typeface="Times New Roman"/>
              <a:ea typeface="Times New Roman"/>
              <a:cs typeface="Times New Roman"/>
              <a:sym typeface="Times New Roman"/>
            </a:endParaRPr>
          </a:p>
          <a:p>
            <a:pPr indent="-457200" lvl="0" marL="457200" marR="0" rtl="0" algn="l">
              <a:spcBef>
                <a:spcPts val="0"/>
              </a:spcBef>
              <a:spcAft>
                <a:spcPts val="0"/>
              </a:spcAft>
              <a:buClr>
                <a:srgbClr val="212121"/>
              </a:buClr>
              <a:buSzPts val="3200"/>
              <a:buFont typeface="Noto Sans Symbols"/>
              <a:buChar char="❖"/>
            </a:pPr>
            <a:r>
              <a:rPr b="0" i="0" lang="en-US" sz="3200">
                <a:solidFill>
                  <a:srgbClr val="212121"/>
                </a:solidFill>
                <a:latin typeface="Times New Roman"/>
                <a:ea typeface="Times New Roman"/>
                <a:cs typeface="Times New Roman"/>
                <a:sym typeface="Times New Roman"/>
              </a:rPr>
              <a:t>It's named after French surgeon Paul Broca who discovered its role in speech in 1861.</a:t>
            </a:r>
            <a:endParaRPr b="0" i="0" sz="3200">
              <a:solidFill>
                <a:srgbClr val="212121"/>
              </a:solidFill>
              <a:latin typeface="Times New Roman"/>
              <a:ea typeface="Times New Roman"/>
              <a:cs typeface="Times New Roman"/>
              <a:sym typeface="Times New Roman"/>
            </a:endParaRPr>
          </a:p>
          <a:p>
            <a:pPr indent="-254000" lvl="0" marL="457200" marR="0" rtl="0" algn="l">
              <a:spcBef>
                <a:spcPts val="0"/>
              </a:spcBef>
              <a:spcAft>
                <a:spcPts val="0"/>
              </a:spcAft>
              <a:buClr>
                <a:schemeClr val="dk1"/>
              </a:buClr>
              <a:buSzPts val="3200"/>
              <a:buFont typeface="Noto Sans Symbols"/>
              <a:buNone/>
            </a:pPr>
            <a:r>
              <a:t/>
            </a:r>
            <a:endParaRPr b="0" i="0" sz="3200">
              <a:solidFill>
                <a:srgbClr val="212121"/>
              </a:solidFill>
              <a:latin typeface="Times New Roman"/>
              <a:ea typeface="Times New Roman"/>
              <a:cs typeface="Times New Roman"/>
              <a:sym typeface="Times New Roman"/>
            </a:endParaRPr>
          </a:p>
          <a:p>
            <a:pPr indent="-457200" lvl="0" marL="457200" marR="0" rtl="0" algn="l">
              <a:spcBef>
                <a:spcPts val="0"/>
              </a:spcBef>
              <a:spcAft>
                <a:spcPts val="0"/>
              </a:spcAft>
              <a:buClr>
                <a:srgbClr val="212121"/>
              </a:buClr>
              <a:buSzPts val="3200"/>
              <a:buFont typeface="Noto Sans Symbols"/>
              <a:buChar char="❖"/>
            </a:pPr>
            <a:r>
              <a:rPr b="0" i="0" lang="en-US" sz="3200">
                <a:solidFill>
                  <a:srgbClr val="212121"/>
                </a:solidFill>
                <a:latin typeface="Times New Roman"/>
                <a:ea typeface="Times New Roman"/>
                <a:cs typeface="Times New Roman"/>
                <a:sym typeface="Times New Roman"/>
              </a:rPr>
              <a:t>Beneath the lobes are the pathways that send messages to other parts of cerebrum and other regions of the brain.</a:t>
            </a:r>
            <a:endParaRPr b="0" i="0" sz="3200">
              <a:solidFill>
                <a:srgbClr val="21212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5"/>
          <p:cNvSpPr txBox="1"/>
          <p:nvPr/>
        </p:nvSpPr>
        <p:spPr>
          <a:xfrm>
            <a:off x="62144" y="474345"/>
            <a:ext cx="12129856"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a:solidFill>
                  <a:srgbClr val="C00000"/>
                </a:solidFill>
                <a:latin typeface="Times New Roman"/>
                <a:ea typeface="Times New Roman"/>
                <a:cs typeface="Times New Roman"/>
                <a:sym typeface="Times New Roman"/>
              </a:rPr>
              <a:t>Connecting Structures</a:t>
            </a:r>
            <a:endParaRPr b="1" sz="3200">
              <a:solidFill>
                <a:srgbClr val="C00000"/>
              </a:solidFill>
              <a:latin typeface="Times New Roman"/>
              <a:ea typeface="Times New Roman"/>
              <a:cs typeface="Times New Roman"/>
              <a:sym typeface="Times New Roman"/>
            </a:endParaRPr>
          </a:p>
          <a:p>
            <a:pPr indent="-457200" lvl="0" marL="457200" marR="0" rtl="0" algn="l">
              <a:spcBef>
                <a:spcPts val="0"/>
              </a:spcBef>
              <a:spcAft>
                <a:spcPts val="0"/>
              </a:spcAft>
              <a:buClr>
                <a:srgbClr val="212121"/>
              </a:buClr>
              <a:buSzPts val="3200"/>
              <a:buFont typeface="Noto Sans Symbols"/>
              <a:buChar char="❖"/>
            </a:pPr>
            <a:r>
              <a:rPr b="0" i="0" lang="en-US" sz="3200">
                <a:solidFill>
                  <a:srgbClr val="212121"/>
                </a:solidFill>
                <a:latin typeface="Times New Roman"/>
                <a:ea typeface="Times New Roman"/>
                <a:cs typeface="Times New Roman"/>
                <a:sym typeface="Times New Roman"/>
              </a:rPr>
              <a:t>The cerebrum also has connecting structures that supply, protect, or enable it to perform its vital functions. These structures include:</a:t>
            </a:r>
            <a:endParaRPr b="0" i="0" sz="3200">
              <a:solidFill>
                <a:srgbClr val="21212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0" i="0" sz="3200">
              <a:solidFill>
                <a:srgbClr val="212121"/>
              </a:solidFill>
              <a:latin typeface="Times New Roman"/>
              <a:ea typeface="Times New Roman"/>
              <a:cs typeface="Times New Roman"/>
              <a:sym typeface="Times New Roman"/>
            </a:endParaRPr>
          </a:p>
          <a:p>
            <a:pPr indent="-457200" lvl="0" marL="457200" marR="0" rtl="0" algn="l">
              <a:spcBef>
                <a:spcPts val="0"/>
              </a:spcBef>
              <a:spcAft>
                <a:spcPts val="0"/>
              </a:spcAft>
              <a:buClr>
                <a:srgbClr val="212121"/>
              </a:buClr>
              <a:buSzPts val="3200"/>
              <a:buFont typeface="Noto Sans Symbols"/>
              <a:buChar char="❖"/>
            </a:pPr>
            <a:r>
              <a:rPr b="1" i="0" lang="en-US" sz="3200">
                <a:solidFill>
                  <a:srgbClr val="212121"/>
                </a:solidFill>
                <a:latin typeface="Times New Roman"/>
                <a:ea typeface="Times New Roman"/>
                <a:cs typeface="Times New Roman"/>
                <a:sym typeface="Times New Roman"/>
              </a:rPr>
              <a:t>Cerebral arteries:</a:t>
            </a:r>
            <a:r>
              <a:rPr b="0" i="0" lang="en-US" sz="3200">
                <a:solidFill>
                  <a:srgbClr val="212121"/>
                </a:solidFill>
                <a:latin typeface="Times New Roman"/>
                <a:ea typeface="Times New Roman"/>
                <a:cs typeface="Times New Roman"/>
                <a:sym typeface="Times New Roman"/>
              </a:rPr>
              <a:t> Blood vessels that supply the cerebrum with oxygen-rich blood from the heart. There are three cerebral </a:t>
            </a:r>
            <a:r>
              <a:rPr b="0" i="0" lang="en-US" sz="3200" u="sng">
                <a:solidFill>
                  <a:schemeClr val="dk1"/>
                </a:solidFill>
                <a:latin typeface="Times New Roman"/>
                <a:ea typeface="Times New Roman"/>
                <a:cs typeface="Times New Roman"/>
                <a:sym typeface="Times New Roman"/>
                <a:hlinkClick r:id="rId3">
                  <a:extLst>
                    <a:ext uri="{A12FA001-AC4F-418D-AE19-62706E023703}">
                      <ahyp:hlinkClr val="tx"/>
                    </a:ext>
                  </a:extLst>
                </a:hlinkClick>
              </a:rPr>
              <a:t>arteries</a:t>
            </a:r>
            <a:r>
              <a:rPr b="0" i="0" lang="en-US" sz="3200">
                <a:solidFill>
                  <a:schemeClr val="dk1"/>
                </a:solidFill>
                <a:latin typeface="Times New Roman"/>
                <a:ea typeface="Times New Roman"/>
                <a:cs typeface="Times New Roman"/>
                <a:sym typeface="Times New Roman"/>
              </a:rPr>
              <a:t>: </a:t>
            </a:r>
            <a:r>
              <a:rPr b="0" i="0" lang="en-US" sz="3200" u="sng">
                <a:solidFill>
                  <a:schemeClr val="dk1"/>
                </a:solidFill>
                <a:latin typeface="Times New Roman"/>
                <a:ea typeface="Times New Roman"/>
                <a:cs typeface="Times New Roman"/>
                <a:sym typeface="Times New Roman"/>
                <a:hlinkClick r:id="rId4">
                  <a:extLst>
                    <a:ext uri="{A12FA001-AC4F-418D-AE19-62706E023703}">
                      <ahyp:hlinkClr val="tx"/>
                    </a:ext>
                  </a:extLst>
                </a:hlinkClick>
              </a:rPr>
              <a:t>anterior (front)</a:t>
            </a:r>
            <a:r>
              <a:rPr b="0" i="0" lang="en-US" sz="3200">
                <a:solidFill>
                  <a:schemeClr val="dk1"/>
                </a:solidFill>
                <a:latin typeface="Times New Roman"/>
                <a:ea typeface="Times New Roman"/>
                <a:cs typeface="Times New Roman"/>
                <a:sym typeface="Times New Roman"/>
              </a:rPr>
              <a:t>, </a:t>
            </a:r>
            <a:r>
              <a:rPr b="0" i="0" lang="en-US" sz="3200" u="sng">
                <a:solidFill>
                  <a:schemeClr val="dk1"/>
                </a:solidFill>
                <a:latin typeface="Times New Roman"/>
                <a:ea typeface="Times New Roman"/>
                <a:cs typeface="Times New Roman"/>
                <a:sym typeface="Times New Roman"/>
                <a:hlinkClick r:id="rId5">
                  <a:extLst>
                    <a:ext uri="{A12FA001-AC4F-418D-AE19-62706E023703}">
                      <ahyp:hlinkClr val="tx"/>
                    </a:ext>
                  </a:extLst>
                </a:hlinkClick>
              </a:rPr>
              <a:t>middle</a:t>
            </a:r>
            <a:r>
              <a:rPr b="0" i="0" lang="en-US" sz="3200">
                <a:solidFill>
                  <a:srgbClr val="212121"/>
                </a:solidFill>
                <a:latin typeface="Times New Roman"/>
                <a:ea typeface="Times New Roman"/>
                <a:cs typeface="Times New Roman"/>
                <a:sym typeface="Times New Roman"/>
              </a:rPr>
              <a:t>, and posterior (back).</a:t>
            </a:r>
            <a:endParaRPr b="0" i="0" sz="3200">
              <a:solidFill>
                <a:srgbClr val="21212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3200"/>
              <a:buFont typeface="Arial"/>
              <a:buNone/>
            </a:pPr>
            <a:r>
              <a:t/>
            </a:r>
            <a:endParaRPr b="0" i="0" sz="3200">
              <a:solidFill>
                <a:srgbClr val="21212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3200">
              <a:solidFill>
                <a:srgbClr val="21212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6"/>
          <p:cNvSpPr txBox="1"/>
          <p:nvPr/>
        </p:nvSpPr>
        <p:spPr>
          <a:xfrm>
            <a:off x="133165" y="828206"/>
            <a:ext cx="11896078" cy="532453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C00000"/>
                </a:solidFill>
                <a:latin typeface="Times New Roman"/>
                <a:ea typeface="Times New Roman"/>
                <a:cs typeface="Times New Roman"/>
                <a:sym typeface="Times New Roman"/>
              </a:rPr>
              <a:t>Connecting Structures</a:t>
            </a:r>
            <a:endParaRPr b="1" i="0" sz="2800">
              <a:solidFill>
                <a:srgbClr val="C0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2800">
              <a:solidFill>
                <a:srgbClr val="21212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i="0" sz="2800">
              <a:solidFill>
                <a:srgbClr val="212121"/>
              </a:solidFill>
              <a:latin typeface="Times New Roman"/>
              <a:ea typeface="Times New Roman"/>
              <a:cs typeface="Times New Roman"/>
              <a:sym typeface="Times New Roman"/>
            </a:endParaRPr>
          </a:p>
          <a:p>
            <a:pPr indent="0" lvl="0" marL="0" marR="0" rtl="0" algn="l">
              <a:spcBef>
                <a:spcPts val="0"/>
              </a:spcBef>
              <a:spcAft>
                <a:spcPts val="0"/>
              </a:spcAft>
              <a:buNone/>
            </a:pPr>
            <a:r>
              <a:rPr b="1" i="0" lang="en-US" sz="3200">
                <a:solidFill>
                  <a:srgbClr val="212121"/>
                </a:solidFill>
                <a:latin typeface="Times New Roman"/>
                <a:ea typeface="Times New Roman"/>
                <a:cs typeface="Times New Roman"/>
                <a:sym typeface="Times New Roman"/>
              </a:rPr>
              <a:t>Circle of Willis:</a:t>
            </a:r>
            <a:r>
              <a:rPr b="0" i="0" lang="en-US" sz="3200">
                <a:solidFill>
                  <a:srgbClr val="212121"/>
                </a:solidFill>
                <a:latin typeface="Times New Roman"/>
                <a:ea typeface="Times New Roman"/>
                <a:cs typeface="Times New Roman"/>
                <a:sym typeface="Times New Roman"/>
              </a:rPr>
              <a:t> A loop of cerebral arteries and other connecting arteries at the base of the brain. Blood moves from the two </a:t>
            </a:r>
            <a:r>
              <a:rPr b="0" i="0" lang="en-US" sz="3200" u="sng">
                <a:solidFill>
                  <a:schemeClr val="dk1"/>
                </a:solidFill>
                <a:latin typeface="Times New Roman"/>
                <a:ea typeface="Times New Roman"/>
                <a:cs typeface="Times New Roman"/>
                <a:sym typeface="Times New Roman"/>
                <a:hlinkClick r:id="rId3">
                  <a:extLst>
                    <a:ext uri="{A12FA001-AC4F-418D-AE19-62706E023703}">
                      <ahyp:hlinkClr val="tx"/>
                    </a:ext>
                  </a:extLst>
                </a:hlinkClick>
              </a:rPr>
              <a:t>carotid arteries</a:t>
            </a:r>
            <a:r>
              <a:rPr b="0" i="0" lang="en-US" sz="3200">
                <a:solidFill>
                  <a:schemeClr val="dk1"/>
                </a:solidFill>
                <a:latin typeface="Times New Roman"/>
                <a:ea typeface="Times New Roman"/>
                <a:cs typeface="Times New Roman"/>
                <a:sym typeface="Times New Roman"/>
              </a:rPr>
              <a:t> </a:t>
            </a:r>
            <a:r>
              <a:rPr b="0" i="0" lang="en-US" sz="3200">
                <a:solidFill>
                  <a:srgbClr val="212121"/>
                </a:solidFill>
                <a:latin typeface="Times New Roman"/>
                <a:ea typeface="Times New Roman"/>
                <a:cs typeface="Times New Roman"/>
                <a:sym typeface="Times New Roman"/>
              </a:rPr>
              <a:t>in the neck and the </a:t>
            </a:r>
            <a:r>
              <a:rPr lang="en-US" sz="3200" u="sng">
                <a:solidFill>
                  <a:schemeClr val="dk1"/>
                </a:solidFill>
                <a:latin typeface="Times New Roman"/>
                <a:ea typeface="Times New Roman"/>
                <a:cs typeface="Times New Roman"/>
                <a:sym typeface="Times New Roman"/>
              </a:rPr>
              <a:t>basilar artery </a:t>
            </a:r>
            <a:r>
              <a:rPr b="0" i="0" lang="en-US" sz="3200">
                <a:solidFill>
                  <a:srgbClr val="212121"/>
                </a:solidFill>
                <a:latin typeface="Times New Roman"/>
                <a:ea typeface="Times New Roman"/>
                <a:cs typeface="Times New Roman"/>
                <a:sym typeface="Times New Roman"/>
              </a:rPr>
              <a:t>near the base of the skull to the circle of Willis and then on to the entire brain.</a:t>
            </a:r>
            <a:endParaRPr b="0" i="0" sz="3200">
              <a:solidFill>
                <a:srgbClr val="21212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3200" u="sng">
              <a:solidFill>
                <a:srgbClr val="1A55AD"/>
              </a:solidFill>
              <a:latin typeface="Times New Roman"/>
              <a:ea typeface="Times New Roman"/>
              <a:cs typeface="Times New Roman"/>
              <a:sym typeface="Times New Roman"/>
            </a:endParaRPr>
          </a:p>
          <a:p>
            <a:pPr indent="0" lvl="0" marL="0" marR="0" rtl="0" algn="l">
              <a:spcBef>
                <a:spcPts val="0"/>
              </a:spcBef>
              <a:spcAft>
                <a:spcPts val="0"/>
              </a:spcAft>
              <a:buNone/>
            </a:pPr>
            <a:r>
              <a:rPr b="1" i="0" lang="en-US" sz="3200">
                <a:solidFill>
                  <a:srgbClr val="212121"/>
                </a:solidFill>
                <a:latin typeface="Times New Roman"/>
                <a:ea typeface="Times New Roman"/>
                <a:cs typeface="Times New Roman"/>
                <a:sym typeface="Times New Roman"/>
              </a:rPr>
              <a:t>Meninges</a:t>
            </a:r>
            <a:r>
              <a:rPr b="0" i="0" lang="en-US" sz="3200">
                <a:solidFill>
                  <a:srgbClr val="212121"/>
                </a:solidFill>
                <a:latin typeface="Times New Roman"/>
                <a:ea typeface="Times New Roman"/>
                <a:cs typeface="Times New Roman"/>
                <a:sym typeface="Times New Roman"/>
              </a:rPr>
              <a:t>: Membranes that cover the cerebrum to protect it from traumatic injury and infection. The meninges also enclose the rest of the brain and the entire spinal cord.</a:t>
            </a:r>
            <a:endParaRPr b="0" i="0" sz="3200">
              <a:solidFill>
                <a:srgbClr val="21212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p17"/>
          <p:cNvPicPr preferRelativeResize="0"/>
          <p:nvPr/>
        </p:nvPicPr>
        <p:blipFill rotWithShape="1">
          <a:blip r:embed="rId3">
            <a:alphaModFix/>
          </a:blip>
          <a:srcRect b="0" l="0" r="0" t="0"/>
          <a:stretch/>
        </p:blipFill>
        <p:spPr>
          <a:xfrm>
            <a:off x="375819" y="301840"/>
            <a:ext cx="7134689" cy="443185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8"/>
          <p:cNvSpPr txBox="1"/>
          <p:nvPr/>
        </p:nvSpPr>
        <p:spPr>
          <a:xfrm>
            <a:off x="0" y="837083"/>
            <a:ext cx="11993732"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200">
                <a:solidFill>
                  <a:srgbClr val="212121"/>
                </a:solidFill>
                <a:latin typeface="Times New Roman"/>
                <a:ea typeface="Times New Roman"/>
                <a:cs typeface="Times New Roman"/>
                <a:sym typeface="Times New Roman"/>
              </a:rPr>
              <a:t>Three layers of tissues make up the meninges. They are:</a:t>
            </a:r>
            <a:endParaRPr b="0" i="0" sz="3200">
              <a:solidFill>
                <a:srgbClr val="21212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0" i="0" sz="3200">
              <a:solidFill>
                <a:srgbClr val="212121"/>
              </a:solidFill>
              <a:latin typeface="Times New Roman"/>
              <a:ea typeface="Times New Roman"/>
              <a:cs typeface="Times New Roman"/>
              <a:sym typeface="Times New Roman"/>
            </a:endParaRPr>
          </a:p>
          <a:p>
            <a:pPr indent="-203200" lvl="0" marL="0" marR="0" rtl="0" algn="l">
              <a:spcBef>
                <a:spcPts val="0"/>
              </a:spcBef>
              <a:spcAft>
                <a:spcPts val="0"/>
              </a:spcAft>
              <a:buClr>
                <a:srgbClr val="212121"/>
              </a:buClr>
              <a:buSzPts val="3200"/>
              <a:buFont typeface="Arial"/>
              <a:buChar char="•"/>
            </a:pPr>
            <a:r>
              <a:rPr b="1" i="0" lang="en-US" sz="3200">
                <a:solidFill>
                  <a:srgbClr val="212121"/>
                </a:solidFill>
                <a:latin typeface="Times New Roman"/>
                <a:ea typeface="Times New Roman"/>
                <a:cs typeface="Times New Roman"/>
                <a:sym typeface="Times New Roman"/>
              </a:rPr>
              <a:t>Dura mater</a:t>
            </a:r>
            <a:r>
              <a:rPr b="0" i="0" lang="en-US" sz="3200">
                <a:solidFill>
                  <a:srgbClr val="212121"/>
                </a:solidFill>
                <a:latin typeface="Times New Roman"/>
                <a:ea typeface="Times New Roman"/>
                <a:cs typeface="Times New Roman"/>
                <a:sym typeface="Times New Roman"/>
              </a:rPr>
              <a:t>, an outer, cloth-like layer of tissue that covers the brain and sits between the bones of the skull and the cerebrum.</a:t>
            </a:r>
            <a:endParaRPr b="0" i="0" sz="3200">
              <a:solidFill>
                <a:srgbClr val="21212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3200"/>
              <a:buFont typeface="Arial"/>
              <a:buNone/>
            </a:pPr>
            <a:r>
              <a:t/>
            </a:r>
            <a:endParaRPr b="0" i="0" sz="3200">
              <a:solidFill>
                <a:srgbClr val="212121"/>
              </a:solidFill>
              <a:latin typeface="Times New Roman"/>
              <a:ea typeface="Times New Roman"/>
              <a:cs typeface="Times New Roman"/>
              <a:sym typeface="Times New Roman"/>
            </a:endParaRPr>
          </a:p>
          <a:p>
            <a:pPr indent="-203200" lvl="0" marL="0" marR="0" rtl="0" algn="l">
              <a:spcBef>
                <a:spcPts val="0"/>
              </a:spcBef>
              <a:spcAft>
                <a:spcPts val="0"/>
              </a:spcAft>
              <a:buClr>
                <a:srgbClr val="212121"/>
              </a:buClr>
              <a:buSzPts val="3200"/>
              <a:buFont typeface="Arial"/>
              <a:buChar char="•"/>
            </a:pPr>
            <a:r>
              <a:rPr b="1" i="0" lang="en-US" sz="3200">
                <a:solidFill>
                  <a:srgbClr val="212121"/>
                </a:solidFill>
                <a:latin typeface="Times New Roman"/>
                <a:ea typeface="Times New Roman"/>
                <a:cs typeface="Times New Roman"/>
                <a:sym typeface="Times New Roman"/>
              </a:rPr>
              <a:t>Arachnoid,</a:t>
            </a:r>
            <a:r>
              <a:rPr b="0" i="0" lang="en-US" sz="3200">
                <a:solidFill>
                  <a:srgbClr val="212121"/>
                </a:solidFill>
                <a:latin typeface="Times New Roman"/>
                <a:ea typeface="Times New Roman"/>
                <a:cs typeface="Times New Roman"/>
                <a:sym typeface="Times New Roman"/>
              </a:rPr>
              <a:t> a middle layer that's a delicate, fluid-filled structure that provides shock absorption in the event of brain movement.</a:t>
            </a:r>
            <a:endParaRPr b="0" i="0" sz="3200">
              <a:solidFill>
                <a:srgbClr val="21212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3200"/>
              <a:buFont typeface="Arial"/>
              <a:buNone/>
            </a:pPr>
            <a:r>
              <a:t/>
            </a:r>
            <a:endParaRPr b="0" i="0" sz="3200">
              <a:solidFill>
                <a:srgbClr val="212121"/>
              </a:solidFill>
              <a:latin typeface="Times New Roman"/>
              <a:ea typeface="Times New Roman"/>
              <a:cs typeface="Times New Roman"/>
              <a:sym typeface="Times New Roman"/>
            </a:endParaRPr>
          </a:p>
          <a:p>
            <a:pPr indent="-203200" lvl="0" marL="0" marR="0" rtl="0" algn="l">
              <a:spcBef>
                <a:spcPts val="0"/>
              </a:spcBef>
              <a:spcAft>
                <a:spcPts val="0"/>
              </a:spcAft>
              <a:buClr>
                <a:srgbClr val="212121"/>
              </a:buClr>
              <a:buSzPts val="3200"/>
              <a:buFont typeface="Arial"/>
              <a:buChar char="•"/>
            </a:pPr>
            <a:r>
              <a:rPr b="1" i="0" lang="en-US" sz="3200">
                <a:solidFill>
                  <a:srgbClr val="212121"/>
                </a:solidFill>
                <a:latin typeface="Times New Roman"/>
                <a:ea typeface="Times New Roman"/>
                <a:cs typeface="Times New Roman"/>
                <a:sym typeface="Times New Roman"/>
              </a:rPr>
              <a:t>Pia mater</a:t>
            </a:r>
            <a:r>
              <a:rPr b="0" i="0" lang="en-US" sz="3200">
                <a:solidFill>
                  <a:srgbClr val="212121"/>
                </a:solidFill>
                <a:latin typeface="Times New Roman"/>
                <a:ea typeface="Times New Roman"/>
                <a:cs typeface="Times New Roman"/>
                <a:sym typeface="Times New Roman"/>
              </a:rPr>
              <a:t>, a thin, paper-like structure that lays directly atop the brain.</a:t>
            </a:r>
            <a:endParaRPr b="0" i="0" sz="3200">
              <a:solidFill>
                <a:srgbClr val="21212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9"/>
          <p:cNvSpPr txBox="1"/>
          <p:nvPr/>
        </p:nvSpPr>
        <p:spPr>
          <a:xfrm>
            <a:off x="133166" y="165418"/>
            <a:ext cx="12192000" cy="747897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a:solidFill>
                  <a:srgbClr val="C00000"/>
                </a:solidFill>
                <a:latin typeface="Times New Roman"/>
                <a:ea typeface="Times New Roman"/>
                <a:cs typeface="Times New Roman"/>
                <a:sym typeface="Times New Roman"/>
              </a:rPr>
              <a:t>Function</a:t>
            </a:r>
            <a:endParaRPr b="1" i="0" sz="3200">
              <a:solidFill>
                <a:srgbClr val="C00000"/>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3200">
                <a:solidFill>
                  <a:srgbClr val="212121"/>
                </a:solidFill>
                <a:latin typeface="Times New Roman"/>
                <a:ea typeface="Times New Roman"/>
                <a:cs typeface="Times New Roman"/>
                <a:sym typeface="Times New Roman"/>
              </a:rPr>
              <a:t>The role of the cerebrum is to coordinate and process sensory and motor functions required by the body, as well as to provide reasoning functions, process emotions, and contribute the unique personality traits that make each human being an individual.</a:t>
            </a:r>
            <a:endParaRPr b="0" i="0" sz="3200">
              <a:solidFill>
                <a:srgbClr val="212121"/>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3200">
                <a:solidFill>
                  <a:srgbClr val="212121"/>
                </a:solidFill>
                <a:latin typeface="Times New Roman"/>
                <a:ea typeface="Times New Roman"/>
                <a:cs typeface="Times New Roman"/>
                <a:sym typeface="Times New Roman"/>
              </a:rPr>
              <a:t>The cerebrum performs these functions using communication between nerve cells. Some of these processes, such as reasoning, reside completely within the cerebrum itself. Other communications get transmitted down the spinal cord and out into the wider body via a network of neurons.</a:t>
            </a:r>
            <a:endParaRPr b="0" i="0" sz="3200">
              <a:solidFill>
                <a:srgbClr val="212121"/>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3200">
                <a:solidFill>
                  <a:srgbClr val="212121"/>
                </a:solidFill>
                <a:latin typeface="Times New Roman"/>
                <a:ea typeface="Times New Roman"/>
                <a:cs typeface="Times New Roman"/>
                <a:sym typeface="Times New Roman"/>
              </a:rPr>
              <a:t>The cerebrum also processes signals returned to the brain from elsewhere in the body. Pain signals and other nervous communications travel up the spinal cord to the brain.</a:t>
            </a:r>
            <a:endParaRPr b="0" i="0" sz="3200">
              <a:solidFill>
                <a:srgbClr val="212121"/>
              </a:solidFill>
              <a:latin typeface="Times New Roman"/>
              <a:ea typeface="Times New Roman"/>
              <a:cs typeface="Times New Roman"/>
              <a:sym typeface="Times New Roman"/>
            </a:endParaRPr>
          </a:p>
          <a:p>
            <a:pPr indent="0" lvl="0" marL="0" marR="0" rtl="0" algn="l">
              <a:spcBef>
                <a:spcPts val="0"/>
              </a:spcBef>
              <a:spcAft>
                <a:spcPts val="0"/>
              </a:spcAft>
              <a:buNone/>
            </a:pPr>
            <a:br>
              <a:rPr lang="en-US" sz="3200">
                <a:solidFill>
                  <a:schemeClr val="dk1"/>
                </a:solidFill>
                <a:latin typeface="Times New Roman"/>
                <a:ea typeface="Times New Roman"/>
                <a:cs typeface="Times New Roman"/>
                <a:sym typeface="Times New Roman"/>
              </a:rPr>
            </a:br>
            <a:endParaRPr sz="3200">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0"/>
          <p:cNvSpPr txBox="1"/>
          <p:nvPr/>
        </p:nvSpPr>
        <p:spPr>
          <a:xfrm>
            <a:off x="115410" y="8878"/>
            <a:ext cx="12011487" cy="627864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a:solidFill>
                  <a:srgbClr val="C00000"/>
                </a:solidFill>
                <a:latin typeface="Times New Roman"/>
                <a:ea typeface="Times New Roman"/>
                <a:cs typeface="Times New Roman"/>
                <a:sym typeface="Times New Roman"/>
              </a:rPr>
              <a:t>Clinical Anatomy</a:t>
            </a:r>
            <a:endParaRPr b="1" i="0" sz="2400">
              <a:solidFill>
                <a:srgbClr val="C00000"/>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800"/>
              <a:buFont typeface="Arial"/>
              <a:buNone/>
            </a:pPr>
            <a:r>
              <a:t/>
            </a:r>
            <a:endParaRPr b="1" sz="1800">
              <a:solidFill>
                <a:srgbClr val="212121"/>
              </a:solidFill>
              <a:latin typeface="Times New Roman"/>
              <a:ea typeface="Times New Roman"/>
              <a:cs typeface="Times New Roman"/>
              <a:sym typeface="Times New Roman"/>
            </a:endParaRPr>
          </a:p>
          <a:p>
            <a:pPr indent="-152400" lvl="0" marL="0" marR="0" rtl="0" algn="l">
              <a:spcBef>
                <a:spcPts val="0"/>
              </a:spcBef>
              <a:spcAft>
                <a:spcPts val="0"/>
              </a:spcAft>
              <a:buClr>
                <a:srgbClr val="212121"/>
              </a:buClr>
              <a:buSzPts val="2400"/>
              <a:buFont typeface="Arial"/>
              <a:buChar char="•"/>
            </a:pPr>
            <a:r>
              <a:rPr b="1" i="0" lang="en-US" sz="2400">
                <a:solidFill>
                  <a:srgbClr val="212121"/>
                </a:solidFill>
                <a:latin typeface="Times New Roman"/>
                <a:ea typeface="Times New Roman"/>
                <a:cs typeface="Times New Roman"/>
                <a:sym typeface="Times New Roman"/>
              </a:rPr>
              <a:t>Brain trauma </a:t>
            </a:r>
            <a:r>
              <a:rPr b="0" i="0" lang="en-US" sz="2400">
                <a:solidFill>
                  <a:srgbClr val="212121"/>
                </a:solidFill>
                <a:latin typeface="Times New Roman"/>
                <a:ea typeface="Times New Roman"/>
                <a:cs typeface="Times New Roman"/>
                <a:sym typeface="Times New Roman"/>
              </a:rPr>
              <a:t>occurs if a high-force accident shakes the brain inside the skull or if a projectile penetrates it. The injury may have many consequences and depends on which areas have tissue damage. It can cause trouble with reasoning, emotional regulation, and motor functions.</a:t>
            </a:r>
            <a:endParaRPr b="0" i="0" sz="2400">
              <a:solidFill>
                <a:srgbClr val="212121"/>
              </a:solidFill>
              <a:latin typeface="Times New Roman"/>
              <a:ea typeface="Times New Roman"/>
              <a:cs typeface="Times New Roman"/>
              <a:sym typeface="Times New Roman"/>
            </a:endParaRPr>
          </a:p>
          <a:p>
            <a:pPr indent="-152400" lvl="0" marL="0" marR="0" rtl="0" algn="l">
              <a:spcBef>
                <a:spcPts val="0"/>
              </a:spcBef>
              <a:spcAft>
                <a:spcPts val="0"/>
              </a:spcAft>
              <a:buClr>
                <a:srgbClr val="212121"/>
              </a:buClr>
              <a:buSzPts val="2400"/>
              <a:buFont typeface="Arial"/>
              <a:buChar char="•"/>
            </a:pPr>
            <a:r>
              <a:rPr b="1" i="0" lang="en-US" sz="2400">
                <a:solidFill>
                  <a:srgbClr val="212121"/>
                </a:solidFill>
                <a:latin typeface="Times New Roman"/>
                <a:ea typeface="Times New Roman"/>
                <a:cs typeface="Times New Roman"/>
                <a:sym typeface="Times New Roman"/>
              </a:rPr>
              <a:t>Infections </a:t>
            </a:r>
            <a:r>
              <a:rPr b="0" i="0" lang="en-US" sz="2400">
                <a:solidFill>
                  <a:srgbClr val="212121"/>
                </a:solidFill>
                <a:latin typeface="Times New Roman"/>
                <a:ea typeface="Times New Roman"/>
                <a:cs typeface="Times New Roman"/>
                <a:sym typeface="Times New Roman"/>
              </a:rPr>
              <a:t>like </a:t>
            </a:r>
            <a:r>
              <a:rPr b="0" i="0" lang="en-US" sz="2400" u="sng">
                <a:solidFill>
                  <a:schemeClr val="dk1"/>
                </a:solidFill>
                <a:latin typeface="Times New Roman"/>
                <a:ea typeface="Times New Roman"/>
                <a:cs typeface="Times New Roman"/>
                <a:sym typeface="Times New Roman"/>
                <a:hlinkClick r:id="rId3">
                  <a:extLst>
                    <a:ext uri="{A12FA001-AC4F-418D-AE19-62706E023703}">
                      <ahyp:hlinkClr val="tx"/>
                    </a:ext>
                  </a:extLst>
                </a:hlinkClick>
              </a:rPr>
              <a:t>meningitis</a:t>
            </a:r>
            <a:r>
              <a:rPr b="0" i="0" lang="en-US" sz="2400">
                <a:solidFill>
                  <a:srgbClr val="212121"/>
                </a:solidFill>
                <a:latin typeface="Times New Roman"/>
                <a:ea typeface="Times New Roman"/>
                <a:cs typeface="Times New Roman"/>
                <a:sym typeface="Times New Roman"/>
              </a:rPr>
              <a:t>, an inflammation of the meninges, can put pressure on delicate cerebral tissue and damage it. Similarly,</a:t>
            </a:r>
            <a:r>
              <a:rPr b="0" i="0" lang="en-US" sz="2400">
                <a:solidFill>
                  <a:schemeClr val="dk1"/>
                </a:solidFill>
                <a:latin typeface="Times New Roman"/>
                <a:ea typeface="Times New Roman"/>
                <a:cs typeface="Times New Roman"/>
                <a:sym typeface="Times New Roman"/>
              </a:rPr>
              <a:t> </a:t>
            </a:r>
            <a:r>
              <a:rPr b="0" i="0" lang="en-US" sz="2400" u="sng">
                <a:solidFill>
                  <a:schemeClr val="dk1"/>
                </a:solidFill>
                <a:latin typeface="Times New Roman"/>
                <a:ea typeface="Times New Roman"/>
                <a:cs typeface="Times New Roman"/>
                <a:sym typeface="Times New Roman"/>
                <a:hlinkClick r:id="rId4">
                  <a:extLst>
                    <a:ext uri="{A12FA001-AC4F-418D-AE19-62706E023703}">
                      <ahyp:hlinkClr val="tx"/>
                    </a:ext>
                  </a:extLst>
                </a:hlinkClick>
              </a:rPr>
              <a:t>hydrocephalus</a:t>
            </a:r>
            <a:r>
              <a:rPr b="0" i="0" lang="en-US" sz="2400">
                <a:solidFill>
                  <a:srgbClr val="212121"/>
                </a:solidFill>
                <a:latin typeface="Times New Roman"/>
                <a:ea typeface="Times New Roman"/>
                <a:cs typeface="Times New Roman"/>
                <a:sym typeface="Times New Roman"/>
              </a:rPr>
              <a:t>, which means "water on the brain," is a condition in which too much cerebrospinal fluid builds up under the arachnoid or within the cerebrum, raising pressure. Sometimes there's significant brain damage.</a:t>
            </a:r>
            <a:endParaRPr b="0" i="0" sz="2400">
              <a:solidFill>
                <a:srgbClr val="212121"/>
              </a:solidFill>
              <a:latin typeface="Times New Roman"/>
              <a:ea typeface="Times New Roman"/>
              <a:cs typeface="Times New Roman"/>
              <a:sym typeface="Times New Roman"/>
            </a:endParaRPr>
          </a:p>
          <a:p>
            <a:pPr indent="-152400" lvl="0" marL="0" marR="0" rtl="0" algn="l">
              <a:spcBef>
                <a:spcPts val="0"/>
              </a:spcBef>
              <a:spcAft>
                <a:spcPts val="0"/>
              </a:spcAft>
              <a:buClr>
                <a:schemeClr val="dk1"/>
              </a:buClr>
              <a:buSzPts val="2400"/>
              <a:buFont typeface="Arial"/>
              <a:buChar char="•"/>
            </a:pPr>
            <a:r>
              <a:rPr b="1" i="0" lang="en-US" sz="2400" u="sng">
                <a:solidFill>
                  <a:schemeClr val="dk1"/>
                </a:solidFill>
                <a:latin typeface="Times New Roman"/>
                <a:ea typeface="Times New Roman"/>
                <a:cs typeface="Times New Roman"/>
                <a:sym typeface="Times New Roman"/>
                <a:hlinkClick r:id="rId5">
                  <a:extLst>
                    <a:ext uri="{A12FA001-AC4F-418D-AE19-62706E023703}">
                      <ahyp:hlinkClr val="tx"/>
                    </a:ext>
                  </a:extLst>
                </a:hlinkClick>
              </a:rPr>
              <a:t>Cancerous and benign (noncancerous) tumors</a:t>
            </a:r>
            <a:r>
              <a:rPr b="0" i="0" lang="en-US" sz="2400">
                <a:solidFill>
                  <a:schemeClr val="dk1"/>
                </a:solidFill>
                <a:latin typeface="Times New Roman"/>
                <a:ea typeface="Times New Roman"/>
                <a:cs typeface="Times New Roman"/>
                <a:sym typeface="Times New Roman"/>
              </a:rPr>
              <a:t> </a:t>
            </a:r>
            <a:r>
              <a:rPr b="0" i="0" lang="en-US" sz="2400">
                <a:solidFill>
                  <a:srgbClr val="212121"/>
                </a:solidFill>
                <a:latin typeface="Times New Roman"/>
                <a:ea typeface="Times New Roman"/>
                <a:cs typeface="Times New Roman"/>
                <a:sym typeface="Times New Roman"/>
              </a:rPr>
              <a:t>can arise within the cerebral tissue. These growths may require treatment, or doctors may take a "watchful waiting" approach to see if they cause symptoms like vision disturbance or personality changes.</a:t>
            </a:r>
            <a:endParaRPr b="0" i="0" sz="2400">
              <a:solidFill>
                <a:srgbClr val="212121"/>
              </a:solidFill>
              <a:latin typeface="Times New Roman"/>
              <a:ea typeface="Times New Roman"/>
              <a:cs typeface="Times New Roman"/>
              <a:sym typeface="Times New Roman"/>
            </a:endParaRPr>
          </a:p>
          <a:p>
            <a:pPr indent="-152400" lvl="0" marL="0" marR="0" rtl="0" algn="l">
              <a:spcBef>
                <a:spcPts val="0"/>
              </a:spcBef>
              <a:spcAft>
                <a:spcPts val="0"/>
              </a:spcAft>
              <a:buClr>
                <a:schemeClr val="dk1"/>
              </a:buClr>
              <a:buSzPts val="2400"/>
              <a:buFont typeface="Arial"/>
              <a:buChar char="•"/>
            </a:pPr>
            <a:r>
              <a:rPr b="1" i="0" lang="en-US" sz="2400" u="sng">
                <a:solidFill>
                  <a:schemeClr val="dk1"/>
                </a:solidFill>
                <a:latin typeface="Times New Roman"/>
                <a:ea typeface="Times New Roman"/>
                <a:cs typeface="Times New Roman"/>
                <a:sym typeface="Times New Roman"/>
                <a:hlinkClick r:id="rId6">
                  <a:extLst>
                    <a:ext uri="{A12FA001-AC4F-418D-AE19-62706E023703}">
                      <ahyp:hlinkClr val="tx"/>
                    </a:ext>
                  </a:extLst>
                </a:hlinkClick>
              </a:rPr>
              <a:t>Stroke </a:t>
            </a:r>
            <a:r>
              <a:rPr b="0" i="0" lang="en-US" sz="2400">
                <a:solidFill>
                  <a:srgbClr val="212121"/>
                </a:solidFill>
                <a:latin typeface="Times New Roman"/>
                <a:ea typeface="Times New Roman"/>
                <a:cs typeface="Times New Roman"/>
                <a:sym typeface="Times New Roman"/>
              </a:rPr>
              <a:t>is a common condition that destroys cerebral tissue and often results in </a:t>
            </a:r>
            <a:r>
              <a:rPr b="0" i="0" lang="en-US" sz="2400" u="sng">
                <a:solidFill>
                  <a:schemeClr val="dk1"/>
                </a:solidFill>
                <a:latin typeface="Times New Roman"/>
                <a:ea typeface="Times New Roman"/>
                <a:cs typeface="Times New Roman"/>
                <a:sym typeface="Times New Roman"/>
                <a:hlinkClick r:id="rId7">
                  <a:extLst>
                    <a:ext uri="{A12FA001-AC4F-418D-AE19-62706E023703}">
                      <ahyp:hlinkClr val="tx"/>
                    </a:ext>
                  </a:extLst>
                </a:hlinkClick>
              </a:rPr>
              <a:t>partial paralysis</a:t>
            </a:r>
            <a:r>
              <a:rPr b="0" i="0" lang="en-US" sz="2400">
                <a:solidFill>
                  <a:srgbClr val="212121"/>
                </a:solidFill>
                <a:latin typeface="Times New Roman"/>
                <a:ea typeface="Times New Roman"/>
                <a:cs typeface="Times New Roman"/>
                <a:sym typeface="Times New Roman"/>
              </a:rPr>
              <a:t>, difficulty speaking, and other disabilities. Stroke occurs when a </a:t>
            </a:r>
            <a:r>
              <a:rPr b="0" i="0" lang="en-US" sz="2400" u="sng">
                <a:solidFill>
                  <a:schemeClr val="dk1"/>
                </a:solidFill>
                <a:latin typeface="Times New Roman"/>
                <a:ea typeface="Times New Roman"/>
                <a:cs typeface="Times New Roman"/>
                <a:sym typeface="Times New Roman"/>
                <a:hlinkClick r:id="rId8">
                  <a:extLst>
                    <a:ext uri="{A12FA001-AC4F-418D-AE19-62706E023703}">
                      <ahyp:hlinkClr val="tx"/>
                    </a:ext>
                  </a:extLst>
                </a:hlinkClick>
              </a:rPr>
              <a:t>blood clot</a:t>
            </a:r>
            <a:r>
              <a:rPr b="0" i="0" lang="en-US" sz="2400">
                <a:solidFill>
                  <a:schemeClr val="dk1"/>
                </a:solidFill>
                <a:latin typeface="Times New Roman"/>
                <a:ea typeface="Times New Roman"/>
                <a:cs typeface="Times New Roman"/>
                <a:sym typeface="Times New Roman"/>
              </a:rPr>
              <a:t> </a:t>
            </a:r>
            <a:r>
              <a:rPr b="0" i="0" lang="en-US" sz="2400">
                <a:solidFill>
                  <a:srgbClr val="212121"/>
                </a:solidFill>
                <a:latin typeface="Times New Roman"/>
                <a:ea typeface="Times New Roman"/>
                <a:cs typeface="Times New Roman"/>
                <a:sym typeface="Times New Roman"/>
              </a:rPr>
              <a:t>blocks oxygen from reaching a brain region or when a blood vessel bleeds onto the surrounding tissue, destroying it. The effects of the stroke can depend on which lobe it affects. For example, a </a:t>
            </a:r>
            <a:r>
              <a:rPr b="0" i="0" lang="en-US" sz="2400" u="sng">
                <a:solidFill>
                  <a:schemeClr val="dk1"/>
                </a:solidFill>
                <a:latin typeface="Times New Roman"/>
                <a:ea typeface="Times New Roman"/>
                <a:cs typeface="Times New Roman"/>
                <a:sym typeface="Times New Roman"/>
                <a:hlinkClick r:id="rId9">
                  <a:extLst>
                    <a:ext uri="{A12FA001-AC4F-418D-AE19-62706E023703}">
                      <ahyp:hlinkClr val="tx"/>
                    </a:ext>
                  </a:extLst>
                </a:hlinkClick>
              </a:rPr>
              <a:t>temporal lobe stroke</a:t>
            </a:r>
            <a:r>
              <a:rPr b="0" i="0" lang="en-US" sz="2400">
                <a:solidFill>
                  <a:schemeClr val="dk1"/>
                </a:solidFill>
                <a:latin typeface="Times New Roman"/>
                <a:ea typeface="Times New Roman"/>
                <a:cs typeface="Times New Roman"/>
                <a:sym typeface="Times New Roman"/>
              </a:rPr>
              <a:t> </a:t>
            </a:r>
            <a:r>
              <a:rPr b="0" i="0" lang="en-US" sz="2400">
                <a:solidFill>
                  <a:srgbClr val="212121"/>
                </a:solidFill>
                <a:latin typeface="Times New Roman"/>
                <a:ea typeface="Times New Roman"/>
                <a:cs typeface="Times New Roman"/>
                <a:sym typeface="Times New Roman"/>
              </a:rPr>
              <a:t>can affect speech and hearing and an </a:t>
            </a:r>
            <a:r>
              <a:rPr lang="en-US" sz="2400" u="sng">
                <a:solidFill>
                  <a:schemeClr val="dk1"/>
                </a:solidFill>
                <a:latin typeface="Times New Roman"/>
                <a:ea typeface="Times New Roman"/>
                <a:cs typeface="Times New Roman"/>
                <a:sym typeface="Times New Roman"/>
              </a:rPr>
              <a:t>occipital lobe stroke</a:t>
            </a:r>
            <a:r>
              <a:rPr b="0" i="0" lang="en-US" sz="2400">
                <a:solidFill>
                  <a:schemeClr val="dk1"/>
                </a:solidFill>
                <a:latin typeface="Times New Roman"/>
                <a:ea typeface="Times New Roman"/>
                <a:cs typeface="Times New Roman"/>
                <a:sym typeface="Times New Roman"/>
              </a:rPr>
              <a:t> </a:t>
            </a:r>
            <a:r>
              <a:rPr b="0" i="0" lang="en-US" sz="2400">
                <a:solidFill>
                  <a:srgbClr val="212121"/>
                </a:solidFill>
                <a:latin typeface="Times New Roman"/>
                <a:ea typeface="Times New Roman"/>
                <a:cs typeface="Times New Roman"/>
                <a:sym typeface="Times New Roman"/>
              </a:rPr>
              <a:t>can cause vision loss.</a:t>
            </a:r>
            <a:endParaRPr b="0" i="0" sz="2400">
              <a:solidFill>
                <a:srgbClr val="21212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1"/>
          <p:cNvSpPr txBox="1"/>
          <p:nvPr/>
        </p:nvSpPr>
        <p:spPr>
          <a:xfrm>
            <a:off x="106532" y="574296"/>
            <a:ext cx="12085468" cy="501675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u="sng">
                <a:solidFill>
                  <a:srgbClr val="C00000"/>
                </a:solidFill>
                <a:latin typeface="Times New Roman"/>
                <a:ea typeface="Times New Roman"/>
                <a:cs typeface="Times New Roman"/>
                <a:sym typeface="Times New Roman"/>
                <a:hlinkClick r:id="rId3">
                  <a:extLst>
                    <a:ext uri="{A12FA001-AC4F-418D-AE19-62706E023703}">
                      <ahyp:hlinkClr val="tx"/>
                    </a:ext>
                  </a:extLst>
                </a:hlinkClick>
              </a:rPr>
              <a:t>Clinical Anatomy</a:t>
            </a:r>
            <a:endParaRPr b="1" i="0" sz="3200" u="sng">
              <a:solidFill>
                <a:srgbClr val="C00000"/>
              </a:solidFill>
              <a:latin typeface="Times New Roman"/>
              <a:ea typeface="Times New Roman"/>
              <a:cs typeface="Times New Roman"/>
              <a:sym typeface="Times New Roman"/>
              <a:hlinkClick r:id="rId4">
                <a:extLst>
                  <a:ext uri="{A12FA001-AC4F-418D-AE19-62706E023703}">
                    <ahyp:hlinkClr val="tx"/>
                  </a:ext>
                </a:extLst>
              </a:hlinkClick>
            </a:endParaRPr>
          </a:p>
          <a:p>
            <a:pPr indent="0" lvl="0" marL="0" marR="0" rtl="0" algn="l">
              <a:spcBef>
                <a:spcPts val="0"/>
              </a:spcBef>
              <a:spcAft>
                <a:spcPts val="0"/>
              </a:spcAft>
              <a:buClr>
                <a:schemeClr val="dk1"/>
              </a:buClr>
              <a:buSzPts val="3200"/>
              <a:buFont typeface="Arial"/>
              <a:buNone/>
            </a:pPr>
            <a:r>
              <a:t/>
            </a:r>
            <a:endParaRPr b="1" sz="3200" u="sng">
              <a:solidFill>
                <a:srgbClr val="0563C1"/>
              </a:solidFill>
              <a:latin typeface="Times New Roman"/>
              <a:ea typeface="Times New Roman"/>
              <a:cs typeface="Times New Roman"/>
              <a:sym typeface="Times New Roman"/>
              <a:hlinkClick r:id="rId5">
                <a:extLst>
                  <a:ext uri="{A12FA001-AC4F-418D-AE19-62706E023703}">
                    <ahyp:hlinkClr val="tx"/>
                  </a:ext>
                </a:extLst>
              </a:hlinkClick>
            </a:endParaRPr>
          </a:p>
          <a:p>
            <a:pPr indent="0" lvl="0" marL="0" marR="0" rtl="0" algn="l">
              <a:spcBef>
                <a:spcPts val="0"/>
              </a:spcBef>
              <a:spcAft>
                <a:spcPts val="0"/>
              </a:spcAft>
              <a:buNone/>
            </a:pPr>
            <a:r>
              <a:rPr b="1" i="0" lang="en-US" sz="3200" u="sng">
                <a:solidFill>
                  <a:schemeClr val="dk1"/>
                </a:solidFill>
                <a:latin typeface="Times New Roman"/>
                <a:ea typeface="Times New Roman"/>
                <a:cs typeface="Times New Roman"/>
                <a:sym typeface="Times New Roman"/>
                <a:hlinkClick r:id="rId6">
                  <a:extLst>
                    <a:ext uri="{A12FA001-AC4F-418D-AE19-62706E023703}">
                      <ahyp:hlinkClr val="tx"/>
                    </a:ext>
                  </a:extLst>
                </a:hlinkClick>
              </a:rPr>
              <a:t>Alzheimer's</a:t>
            </a:r>
            <a:r>
              <a:rPr b="1" i="0" lang="en-US" sz="3200">
                <a:solidFill>
                  <a:schemeClr val="dk1"/>
                </a:solidFill>
                <a:latin typeface="Times New Roman"/>
                <a:ea typeface="Times New Roman"/>
                <a:cs typeface="Times New Roman"/>
                <a:sym typeface="Times New Roman"/>
              </a:rPr>
              <a:t> and other </a:t>
            </a:r>
            <a:r>
              <a:rPr b="1" i="0" lang="en-US" sz="3200" u="sng">
                <a:solidFill>
                  <a:schemeClr val="dk1"/>
                </a:solidFill>
                <a:latin typeface="Times New Roman"/>
                <a:ea typeface="Times New Roman"/>
                <a:cs typeface="Times New Roman"/>
                <a:sym typeface="Times New Roman"/>
                <a:hlinkClick r:id="rId7">
                  <a:extLst>
                    <a:ext uri="{A12FA001-AC4F-418D-AE19-62706E023703}">
                      <ahyp:hlinkClr val="tx"/>
                    </a:ext>
                  </a:extLst>
                </a:hlinkClick>
              </a:rPr>
              <a:t>dementias</a:t>
            </a:r>
            <a:r>
              <a:rPr b="0" i="0" lang="en-US" sz="3200">
                <a:solidFill>
                  <a:schemeClr val="dk1"/>
                </a:solidFill>
                <a:latin typeface="Times New Roman"/>
                <a:ea typeface="Times New Roman"/>
                <a:cs typeface="Times New Roman"/>
                <a:sym typeface="Times New Roman"/>
              </a:rPr>
              <a:t> usually cause progressive memory loss, trouble with reasoning, and sometimes personality changes. Alzheimer's appears to be caused in part by the buildup of certain types of plaques that interfere with neural communications.</a:t>
            </a:r>
            <a:r>
              <a:rPr b="0" baseline="30000" i="0" lang="en-US" sz="3200" u="none" strike="noStrike">
                <a:solidFill>
                  <a:schemeClr val="dk1"/>
                </a:solidFill>
                <a:latin typeface="Times New Roman"/>
                <a:ea typeface="Times New Roman"/>
                <a:cs typeface="Times New Roman"/>
                <a:sym typeface="Times New Roman"/>
              </a:rPr>
              <a:t>2</a:t>
            </a:r>
            <a:r>
              <a:rPr b="0" i="0" lang="en-US" sz="3200">
                <a:solidFill>
                  <a:schemeClr val="dk1"/>
                </a:solidFill>
                <a:latin typeface="Times New Roman"/>
                <a:ea typeface="Times New Roman"/>
                <a:cs typeface="Times New Roman"/>
                <a:sym typeface="Times New Roman"/>
              </a:rPr>
              <a:t> </a:t>
            </a:r>
            <a:r>
              <a:rPr b="0" i="0" lang="en-US" sz="3200" u="sng">
                <a:solidFill>
                  <a:schemeClr val="dk1"/>
                </a:solidFill>
                <a:latin typeface="Times New Roman"/>
                <a:ea typeface="Times New Roman"/>
                <a:cs typeface="Times New Roman"/>
                <a:sym typeface="Times New Roman"/>
                <a:hlinkClick r:id="rId8">
                  <a:extLst>
                    <a:ext uri="{A12FA001-AC4F-418D-AE19-62706E023703}">
                      <ahyp:hlinkClr val="tx"/>
                    </a:ext>
                  </a:extLst>
                </a:hlinkClick>
              </a:rPr>
              <a:t>Vascular dementia</a:t>
            </a:r>
            <a:r>
              <a:rPr b="0" i="0" lang="en-US" sz="3200">
                <a:solidFill>
                  <a:schemeClr val="dk1"/>
                </a:solidFill>
                <a:latin typeface="Times New Roman"/>
                <a:ea typeface="Times New Roman"/>
                <a:cs typeface="Times New Roman"/>
                <a:sym typeface="Times New Roman"/>
              </a:rPr>
              <a:t> may be caused by disease processes that cause narrowing of the cerebral arteries and disruption of blood flow within the cerebrum. Certain types of dementias, like </a:t>
            </a:r>
            <a:r>
              <a:rPr b="0" i="0" lang="en-US" sz="3200" u="sng">
                <a:solidFill>
                  <a:schemeClr val="dk1"/>
                </a:solidFill>
                <a:latin typeface="Times New Roman"/>
                <a:ea typeface="Times New Roman"/>
                <a:cs typeface="Times New Roman"/>
                <a:sym typeface="Times New Roman"/>
                <a:hlinkClick r:id="rId9">
                  <a:extLst>
                    <a:ext uri="{A12FA001-AC4F-418D-AE19-62706E023703}">
                      <ahyp:hlinkClr val="tx"/>
                    </a:ext>
                  </a:extLst>
                </a:hlinkClick>
              </a:rPr>
              <a:t>Lewy body dementia</a:t>
            </a:r>
            <a:r>
              <a:rPr b="0" i="0" lang="en-US" sz="3200">
                <a:solidFill>
                  <a:schemeClr val="dk1"/>
                </a:solidFill>
                <a:latin typeface="Times New Roman"/>
                <a:ea typeface="Times New Roman"/>
                <a:cs typeface="Times New Roman"/>
                <a:sym typeface="Times New Roman"/>
              </a:rPr>
              <a:t>, are associated with other conditions, such as </a:t>
            </a:r>
            <a:r>
              <a:rPr b="0" i="0" lang="en-US" sz="3200" u="sng">
                <a:solidFill>
                  <a:schemeClr val="dk1"/>
                </a:solidFill>
                <a:latin typeface="Times New Roman"/>
                <a:ea typeface="Times New Roman"/>
                <a:cs typeface="Times New Roman"/>
                <a:sym typeface="Times New Roman"/>
                <a:hlinkClick r:id="rId10">
                  <a:extLst>
                    <a:ext uri="{A12FA001-AC4F-418D-AE19-62706E023703}">
                      <ahyp:hlinkClr val="tx"/>
                    </a:ext>
                  </a:extLst>
                </a:hlinkClick>
              </a:rPr>
              <a:t>Parkinson's disease</a:t>
            </a:r>
            <a:r>
              <a:rPr b="0" i="0" lang="en-US" sz="3200">
                <a:solidFill>
                  <a:schemeClr val="dk1"/>
                </a:solidFill>
                <a:latin typeface="Times New Roman"/>
                <a:ea typeface="Times New Roman"/>
                <a:cs typeface="Times New Roman"/>
                <a:sym typeface="Times New Roman"/>
              </a:rPr>
              <a:t>.</a:t>
            </a:r>
            <a:endParaRPr b="0" i="0" sz="3200">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2"/>
          <p:cNvSpPr txBox="1"/>
          <p:nvPr/>
        </p:nvSpPr>
        <p:spPr>
          <a:xfrm>
            <a:off x="90995" y="244031"/>
            <a:ext cx="12101005" cy="649408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a:solidFill>
                  <a:srgbClr val="C00000"/>
                </a:solidFill>
                <a:latin typeface="Times New Roman"/>
                <a:ea typeface="Times New Roman"/>
                <a:cs typeface="Times New Roman"/>
                <a:sym typeface="Times New Roman"/>
              </a:rPr>
              <a:t>Summary</a:t>
            </a:r>
            <a:endParaRPr b="1" i="0" sz="3200">
              <a:solidFill>
                <a:srgbClr val="C0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i="0" sz="3200">
              <a:solidFill>
                <a:srgbClr val="C00000"/>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3200">
                <a:solidFill>
                  <a:srgbClr val="212121"/>
                </a:solidFill>
                <a:latin typeface="Times New Roman"/>
                <a:ea typeface="Times New Roman"/>
                <a:cs typeface="Times New Roman"/>
                <a:sym typeface="Times New Roman"/>
              </a:rPr>
              <a:t>The cerebrum is a major part of the brain and its upper layer called the cerebral cortex is responsible for a range of complex functions.</a:t>
            </a:r>
            <a:endParaRPr b="0" i="0" sz="3200">
              <a:solidFill>
                <a:srgbClr val="21212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0" i="0" sz="3200">
              <a:solidFill>
                <a:srgbClr val="212121"/>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3200">
                <a:solidFill>
                  <a:srgbClr val="212121"/>
                </a:solidFill>
                <a:latin typeface="Times New Roman"/>
                <a:ea typeface="Times New Roman"/>
                <a:cs typeface="Times New Roman"/>
                <a:sym typeface="Times New Roman"/>
              </a:rPr>
              <a:t>The cerebrum is the source of intellect and personality. It helps you move and understand what you see, hear, touch, and smell.</a:t>
            </a:r>
            <a:endParaRPr b="0" i="0" sz="3200">
              <a:solidFill>
                <a:srgbClr val="21212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0" i="0" sz="3200">
              <a:solidFill>
                <a:srgbClr val="212121"/>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3200">
                <a:solidFill>
                  <a:srgbClr val="212121"/>
                </a:solidFill>
                <a:latin typeface="Times New Roman"/>
                <a:ea typeface="Times New Roman"/>
                <a:cs typeface="Times New Roman"/>
                <a:sym typeface="Times New Roman"/>
              </a:rPr>
              <a:t>Due to the cerebrum's many important roles, damage to any of its lobes from injuries, illnesses, or chronic conditions can cause major losses in brain function.</a:t>
            </a:r>
            <a:endParaRPr b="0" i="0" sz="3200">
              <a:solidFill>
                <a:srgbClr val="212121"/>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3200">
                <a:solidFill>
                  <a:srgbClr val="212121"/>
                </a:solidFill>
                <a:latin typeface="Times New Roman"/>
                <a:ea typeface="Times New Roman"/>
                <a:cs typeface="Times New Roman"/>
                <a:sym typeface="Times New Roman"/>
              </a:rPr>
              <a:t>Each lobe has its specialities, but communication occurs across the cerebrum and other areas of the brain.</a:t>
            </a:r>
            <a:endParaRPr b="0" i="0" sz="3200">
              <a:solidFill>
                <a:srgbClr val="21212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2023-10-12T09:03:00Z</dcterms:created>
  <dc:creator>Florence Igelige</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BB924CE2B0334A3E82CF8B2C14784C17_12</vt:lpwstr>
  </property>
  <property fmtid="{D5CDD505-2E9C-101B-9397-08002B2CF9AE}" pid="3" name="KSOProductBuildVer">
    <vt:lpwstr>1033-12.2.0.21931</vt:lpwstr>
  </property>
</Properties>
</file>