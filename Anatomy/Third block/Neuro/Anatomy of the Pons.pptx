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AFF16-6078-499F-B31B-A372D75D3C4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932F7-A71B-4E43-929E-D6052D79E68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B2BC-99FE-46B4-A10B-C8DCE51FAEE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55698-1733-4D75-AF06-793155EA2B9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339C-7937-434E-8640-2F2DA5DA87E2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DBD79-C057-4CEE-9337-A8990140B384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F2D62-A07D-4727-BBFC-F16AF0338E2C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64976-4CA8-413D-8C58-80842DDDE5BE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DE83-5B01-4D0F-A14D-10EA3F3DD88E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39330-0B55-4E64-9855-6E43232595D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043F4-4DBB-4D18-B367-21EA61157142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D0145-7952-4D59-B772-B9A4ADAB589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43AE-46BF-4BD0-80E5-E0A0F1B84D7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0216-5CBB-47CC-BFBE-AA8404668B4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828800"/>
            <a:ext cx="7772400" cy="1470025"/>
          </a:xfrm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dirty="0" smtClean="0"/>
              <a:t>Anatomy of the Pons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Presented by </a:t>
            </a:r>
            <a:r>
              <a:rPr lang="en-US" dirty="0" err="1" smtClean="0">
                <a:solidFill>
                  <a:schemeClr val="tx1"/>
                </a:solidFill>
              </a:rPr>
              <a:t>Omosola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Tobi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Introduction to the Pons</a:t>
            </a:r>
            <a:endParaRPr lang="en-US" dirty="0" smtClean="0"/>
          </a:p>
          <a:p>
            <a:r>
              <a:rPr lang="en-US" dirty="0" smtClean="0"/>
              <a:t>Structures of the Pons</a:t>
            </a:r>
            <a:endParaRPr lang="en-US" dirty="0" smtClean="0"/>
          </a:p>
          <a:p>
            <a:r>
              <a:rPr lang="en-US" dirty="0" smtClean="0"/>
              <a:t>Vasculature of the </a:t>
            </a:r>
            <a:r>
              <a:rPr lang="en-US" dirty="0" err="1" smtClean="0"/>
              <a:t>pons</a:t>
            </a:r>
            <a:endParaRPr lang="en-US" dirty="0" smtClean="0"/>
          </a:p>
          <a:p>
            <a:r>
              <a:rPr lang="en-US" dirty="0" smtClean="0"/>
              <a:t>Clinical significance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 to the Pons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4495800" cy="563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the middle part of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brainstem, It is situated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the medulla (below)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and midbrain(above), being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separated from them by the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inferior and superior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fissures respectively.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about 2.5cm long,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located in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anterosuperior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 posterior cranial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fossa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6" name="Picture 5" descr="IMG_46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0" y="990600"/>
            <a:ext cx="40386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810000" cy="715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Intro </a:t>
            </a:r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4191000" cy="5486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anterior surface of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has a shallow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vertical “basilar grove”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which lodges the basilar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artery.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posterior surface of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forms the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upper part of the floor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of the 4</a:t>
            </a:r>
            <a:r>
              <a:rPr lang="en-US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 and is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totally hidden in the roof of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4</a:t>
            </a:r>
            <a:r>
              <a:rPr lang="en-US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This surface is roughly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triangular.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8" name="Picture 7" descr="IMG_456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43400" y="152400"/>
            <a:ext cx="4800600" cy="3276600"/>
          </a:xfrm>
          <a:prstGeom prst="rect">
            <a:avLst/>
          </a:prstGeom>
        </p:spPr>
      </p:pic>
      <p:pic>
        <p:nvPicPr>
          <p:cNvPr id="9" name="Picture 8" descr="IMG_45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581400"/>
            <a:ext cx="4953000" cy="3264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Structures of the </a:t>
            </a:r>
            <a:r>
              <a:rPr lang="en-US" dirty="0" err="1" smtClean="0"/>
              <a:t>pons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4267200" cy="541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structures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External structures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1. Internal structures: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divided into the ventral and dorsal parts (the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tegmentum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Ventral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this is the visible part of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Its  forms a rounded mass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anteriorly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that tapers into 2 middle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peduncles laterally.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6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876800" y="990600"/>
            <a:ext cx="37338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42672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Ventral </a:t>
            </a:r>
            <a:r>
              <a:rPr lang="en-US" dirty="0" err="1" smtClean="0"/>
              <a:t>pons</a:t>
            </a:r>
            <a:r>
              <a:rPr lang="en-US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4572000" cy="57912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ventral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consists of nerve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fibers &amp; nuclei: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Pontine nuclei: a large number of small aggregations of neurons scattered throughout the ventral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Longitudinal fibers: originate from most of the cerebral cortex region, aggregate &amp; descend in the cerebral peduncles of the midbrain to enter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It divides into: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Corticospinal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fibers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Corticonuclear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fibers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Corticopontine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fibers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Transverse fibers: originate from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nuclei, cross midline to become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contralateral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middle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peduncles and enter the cerebellum.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4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72000" y="0"/>
            <a:ext cx="4572000" cy="3505200"/>
          </a:xfrm>
          <a:prstGeom prst="rect">
            <a:avLst/>
          </a:prstGeom>
        </p:spPr>
      </p:pic>
      <p:pic>
        <p:nvPicPr>
          <p:cNvPr id="6" name="Picture 5" descr="IMG_459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0" y="3429000"/>
            <a:ext cx="4267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Dorsal Pons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4572000" cy="5715000"/>
          </a:xfrm>
        </p:spPr>
        <p:txBody>
          <a:bodyPr/>
          <a:lstStyle/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lies above the medulla, this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part contains the tracts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ascending from and descending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to the medulla (except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pyramidal tracts).  It also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contains nuclei of some cranial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nerves and part of the reticular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formation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White matter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Medial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is the continuation of 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racile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cuneate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tracts seen in the spinal cord and medulla.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800665"/>
            <a:ext cx="4495800" cy="4295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Dorsal</a:t>
            </a:r>
            <a:r>
              <a:rPr lang="en-US" dirty="0" smtClean="0"/>
              <a:t> </a:t>
            </a:r>
            <a:r>
              <a:rPr lang="en-US" dirty="0" err="1" smtClean="0"/>
              <a:t>pons</a:t>
            </a:r>
            <a:r>
              <a:rPr lang="en-US" dirty="0" smtClean="0"/>
              <a:t>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4419600" cy="5638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Trigeminal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a small tract originating from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contralateral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spinal trigeminal nucleus &amp; ascends to the thalamus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Lateral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spinothalamic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tract: ascends from medulla, it lies lateral to medial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Lateral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a small tract originating from the cochlear nuclei, ascends lateral to the lateral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spinothalamic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tract, to  terminate in the inferior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colliculus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of the midbrain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4648200" cy="64008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Trapezoid body: a midline horizontal structure anterior to the medial 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 It is made by the decussating fibers originating from the ventral cochlear nuclei and some small trapezoid nuclei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Medial longitudinal fasciculus: a small tract next to the midline beneath the floor of the 4</a:t>
            </a:r>
            <a:r>
              <a:rPr lang="en-US" sz="24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peduncles: bounds the lower part of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tegmentum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posterolaterally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peduncles: bound the upper part of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tegmentum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posterolaterally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049215"/>
            <a:ext cx="4495800" cy="4759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4648200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Gray matter:</a:t>
            </a:r>
            <a:endParaRPr lang="en-US" sz="20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Cranial nerve nuclei: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Vestibular nuclei: It contains 4 large nuclei situate beneath the floor of the 4</a:t>
            </a:r>
            <a:r>
              <a:rPr lang="en-US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ventricle, occupying most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lateral part of the floor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Cochlear nuclei: 2 small nuclei, situated ventral and dorsal to the inferior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peduncle respectively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AutoNum type="arabicPeriod" startAt="2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Facial nerve nuclei: the main nucleus of the facial nerve is situated in the lower part of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tegmentum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Special visceral afferent (SVA)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General viscera afferent (GVA)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General somatic afferent (GSA)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47800"/>
            <a:ext cx="43434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Gray matter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4648200" cy="5638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3.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Abducens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nucleus: small motor nucleus situated next to the midline beneath the floor of the 4</a:t>
            </a:r>
            <a:r>
              <a:rPr lang="en-US" sz="24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ventricle, in a level slightly superior to the facial nucleus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4. Trigeminal nuclei: 4 large nuclei situated in a plain lateral to the facial nuclei. They are: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Motor nucleus (SVE)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Principal sensory nucleus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Spinal nucleus (GSA)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Mesencephalic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nucleus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914400"/>
            <a:ext cx="3988518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4267200" cy="6172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B</a:t>
            </a:r>
            <a:r>
              <a:rPr lang="en-US" dirty="0" smtClean="0"/>
              <a:t>.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Specific nuclei: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Nuclei of trapezoid body: a group of small nuclei situated around the midline within the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decussation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of fibers coming from the ventral cochlear nuclei</a:t>
            </a: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+mj-lt"/>
              <a:buAutoNum type="romanUcPeriod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Nuclei of lateral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: small nuclei situated within the lateral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lemniscus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None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C. 	Reticular formation: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reticular formation is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continous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with reticular formation in the midbrain &amp; medulla. It is more extensive than that of the medulla. It occupies the central region of the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tegmentum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on both sides of the midline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59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1524000"/>
            <a:ext cx="4724400" cy="4284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External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4953000" cy="5486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Anterior surface: is marked by a bulging formed by the transverse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pontocerebellar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fibres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basilar groove demarcates the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midline of the ventral surface and is where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basilar artery is located.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pontomedullary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junction is defined by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angle between the lower border of the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the superior border of the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Medulla.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Several cranial nerves originate here: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Cranial nerve V (Trigeminal)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Cranial nerve  VI 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Abducens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Cranial nerve VII (Facial)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Cranial nerve VIII 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Vestibulocochlear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6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400" y="1219200"/>
            <a:ext cx="36576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2. Posterior surface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48006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floor of the 4</a:t>
            </a:r>
            <a:r>
              <a:rPr lang="en-US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is composed of the dorsal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surface of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medulla.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Anatomical landmarks: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Medial eminence: marks the midline of the floor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Facial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colliculus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a bulging formed by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fibres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of facial nerve looping around the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abducens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nucleus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Stria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medullaris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of 4</a:t>
            </a:r>
            <a:r>
              <a:rPr lang="en-US" sz="2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ventricle: a bundle of nerve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fibres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crossin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transversely from the lateral aspect into the midline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  <p:pic>
        <p:nvPicPr>
          <p:cNvPr id="5" name="Picture 4" descr="IMG_46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762001"/>
            <a:ext cx="42672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Vasculature of the Pons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5287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blood supply of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formed by branches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of 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vertebrobasilar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system: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Most of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is supplied by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pontine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arteries, branches of the basilar artery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smaller part of its blood supply comes from the anterior inferior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artery (AICA) and the superior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cerebellar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artery (SCA)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venous drainage to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consists of the anterior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pontomesencephalic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vein, which drains into the basal vein,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in turn drains into the cerebral veins.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Inferiorly, the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drain into the inferior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petrosal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sinus,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which drains into the internal jugular veins.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z="1400" smtClean="0"/>
            </a:fld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Clinical significance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 err="1" smtClean="0"/>
              <a:t>Cerebellopontine</a:t>
            </a:r>
            <a:r>
              <a:rPr lang="en-US" dirty="0" smtClean="0"/>
              <a:t> angle syndrome: The </a:t>
            </a:r>
            <a:r>
              <a:rPr lang="en-US" dirty="0" err="1" smtClean="0"/>
              <a:t>cerebellopontine</a:t>
            </a:r>
            <a:r>
              <a:rPr lang="en-US" dirty="0" smtClean="0"/>
              <a:t> angle is an often site for intracranial growths, which can lead to impairments of nearby structures </a:t>
            </a:r>
            <a:r>
              <a:rPr lang="en-US" dirty="0" err="1" smtClean="0"/>
              <a:t>e,g</a:t>
            </a:r>
            <a:r>
              <a:rPr lang="en-US" dirty="0" smtClean="0"/>
              <a:t> CN VIII</a:t>
            </a:r>
            <a:endParaRPr lang="en-US" dirty="0" smtClean="0"/>
          </a:p>
          <a:p>
            <a:r>
              <a:rPr lang="en-US" dirty="0" smtClean="0"/>
              <a:t>Vestibular </a:t>
            </a:r>
            <a:r>
              <a:rPr lang="en-US" dirty="0" err="1" smtClean="0"/>
              <a:t>schwannomas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THANKS FOR LISTENING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85FB4-19C0-43A5-A802-6BC304B45C92}" type="slidenum">
              <a:rPr lang="en-US" smtClean="0"/>
            </a:fld>
            <a:endParaRPr lang="en-US" dirty="0"/>
          </a:p>
        </p:txBody>
      </p:sp>
      <p:pic>
        <p:nvPicPr>
          <p:cNvPr id="6" name="Picture 5" descr="IMG_419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95400"/>
            <a:ext cx="7924799" cy="556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5889</Words>
  <Application>WPS Presentation</Application>
  <PresentationFormat>On-screen Show (4:3)</PresentationFormat>
  <Paragraphs>188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Anatomy of the Pons</vt:lpstr>
      <vt:lpstr>Outline</vt:lpstr>
      <vt:lpstr>Introduction to the Pons</vt:lpstr>
      <vt:lpstr>Intro cont’d</vt:lpstr>
      <vt:lpstr>Structures of the pons</vt:lpstr>
      <vt:lpstr>Ventral pons cont’d</vt:lpstr>
      <vt:lpstr>Dorsal Pons</vt:lpstr>
      <vt:lpstr>Dorsal pons cont’d</vt:lpstr>
      <vt:lpstr>PowerPoint 演示文稿</vt:lpstr>
      <vt:lpstr>PowerPoint 演示文稿</vt:lpstr>
      <vt:lpstr>Gray matter cont’d</vt:lpstr>
      <vt:lpstr>PowerPoint 演示文稿</vt:lpstr>
      <vt:lpstr>External structures</vt:lpstr>
      <vt:lpstr>2. Posterior surface</vt:lpstr>
      <vt:lpstr> Vasculature of the Pons</vt:lpstr>
      <vt:lpstr>Clinical significance</vt:lpstr>
      <vt:lpstr>THANKS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the Pons</dc:title>
  <dc:creator>DELL</dc:creator>
  <cp:lastModifiedBy>DURU</cp:lastModifiedBy>
  <cp:revision>5</cp:revision>
  <dcterms:created xsi:type="dcterms:W3CDTF">2026-05-04T15:38:00Z</dcterms:created>
  <dcterms:modified xsi:type="dcterms:W3CDTF">2026-05-12T16:08:39Z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7D5308872EE84E61BD9AE49B7902B5CB_13</vt:lpwstr>
  </property>
  <property fmtid="{D5CDD505-2E9C-101B-9397-08002B2CF9AE}" pid="3" name="KSOProductBuildVer">
    <vt:lpwstr>1033-12.1.0.25862</vt:lpwstr>
  </property>
</Properties>
</file>