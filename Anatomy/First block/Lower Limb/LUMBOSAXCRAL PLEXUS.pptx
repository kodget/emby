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67" r:id="rId4"/>
    <p:sldId id="257" r:id="rId5"/>
    <p:sldId id="258" r:id="rId6"/>
    <p:sldId id="259" r:id="rId7"/>
    <p:sldId id="260" r:id="rId9"/>
    <p:sldId id="279" r:id="rId10"/>
    <p:sldId id="268" r:id="rId11"/>
    <p:sldId id="262" r:id="rId12"/>
    <p:sldId id="263" r:id="rId13"/>
    <p:sldId id="261" r:id="rId14"/>
    <p:sldId id="265" r:id="rId15"/>
    <p:sldId id="2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C4A8A926-1433-4783-AB70-A2D45D7E90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C4A8A926-1433-4783-AB70-A2D45D7E90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4A8A926-1433-4783-AB70-A2D45D7E90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C4A8A926-1433-4783-AB70-A2D45D7E902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C4A8A926-1433-4783-AB70-A2D45D7E902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C4A8A926-1433-4783-AB70-A2D45D7E902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A8A926-1433-4783-AB70-A2D45D7E902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4A8A926-1433-4783-AB70-A2D45D7E902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4A8A926-1433-4783-AB70-A2D45D7E902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C4A8A926-1433-4783-AB70-A2D45D7E90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C4A8A926-1433-4783-AB70-A2D45D7E90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4A8A926-1433-4783-AB70-A2D45D7E90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06D76-68D3-4DBE-9498-F8DE72318F0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A8A926-1433-4783-AB70-A2D45D7E9029}"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06D76-68D3-4DBE-9498-F8DE72318F0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hyperlink" Target="https://www.osmosis.org/learn/Bones_of_the_vertebral_column" TargetMode="External"/><Relationship Id="rId5" Type="http://schemas.openxmlformats.org/officeDocument/2006/relationships/hyperlink" Target="https://www.osmosis.org/learn/Diagnosing_sacral_somatic_dysfunction" TargetMode="External"/><Relationship Id="rId4" Type="http://schemas.openxmlformats.org/officeDocument/2006/relationships/hyperlink" Target="https://www.osmosis.org/learn/Introduction_to_the_skeletal_system" TargetMode="External"/><Relationship Id="rId3" Type="http://schemas.openxmlformats.org/officeDocument/2006/relationships/hyperlink" Target="https://www.osmosis.org/learn/Introduction_to_the_central_and_peripheral_nervous_systems" TargetMode="External"/><Relationship Id="rId2" Type="http://schemas.openxmlformats.org/officeDocument/2006/relationships/hyperlink" Target="https://www.osmosis.org/learn/Other_lower_limb_treatments" TargetMode="External"/><Relationship Id="rId1" Type="http://schemas.openxmlformats.org/officeDocument/2006/relationships/hyperlink" Target="https://www.osmosis.org/learn/Other_lumbar_spine_treatments"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hyperlink" Target="https://www.osmosis.org/learn/Anatomy_of_the_muscles_and_nerves_of_the_posterior_abdominal_wall" TargetMode="External"/><Relationship Id="rId3" Type="http://schemas.openxmlformats.org/officeDocument/2006/relationships/hyperlink" Target="https://www.osmosis.org/learn/Other_pelvis_treatments" TargetMode="External"/><Relationship Id="rId2" Type="http://schemas.openxmlformats.org/officeDocument/2006/relationships/hyperlink" Target="https://www.osmosis.org/learn/Introduction_to_the_central_and_peripheral_nervous_systems" TargetMode="External"/><Relationship Id="rId1" Type="http://schemas.openxmlformats.org/officeDocument/2006/relationships/hyperlink" Target="https://www.osmosis.org/learn/Other_lumbar_spine_treatments" TargetMode="Externa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hyperlink" Target="https://www.osmosis.org/learn/Somatosensory_receptors" TargetMode="External"/><Relationship Id="rId4" Type="http://schemas.openxmlformats.org/officeDocument/2006/relationships/hyperlink" Target="https://www.osmosis.org/learn/Introduction_to_the_central_and_peripheral_nervous_systems" TargetMode="External"/><Relationship Id="rId3" Type="http://schemas.openxmlformats.org/officeDocument/2006/relationships/hyperlink" Target="https://www.osmosis.org/learn/Nerves_and_lymphatics_of_the_pelvis" TargetMode="External"/><Relationship Id="rId2" Type="http://schemas.openxmlformats.org/officeDocument/2006/relationships/hyperlink" Target="https://www.osmosis.org/learn/Anatomy_of_the_muscles_and_nerves_of_the_posterior_abdominal_wall" TargetMode="External"/><Relationship Id="rId1" Type="http://schemas.openxmlformats.org/officeDocument/2006/relationships/hyperlink" Target="https://www.osmosis.org/learn/Other_lumbar_spine_treatments" TargetMode="Externa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www.osmosis.org/learn/Anatomy_of_the_female_urogenital_triangle" TargetMode="External"/><Relationship Id="rId2" Type="http://schemas.openxmlformats.org/officeDocument/2006/relationships/hyperlink" Target="https://www.osmosis.org/learn/Anatomy_of_the_male_urogenital_triangle" TargetMode="External"/><Relationship Id="rId1" Type="http://schemas.openxmlformats.org/officeDocument/2006/relationships/hyperlink" Target="https://www.osmosis.org/learn/Introduction_to_the_central_and_peripheral_nervous_systems" TargetMode="Externa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www.osmosis.org/learn/Anatomy_of_the_perineum" TargetMode="External"/><Relationship Id="rId2" Type="http://schemas.openxmlformats.org/officeDocument/2006/relationships/hyperlink" Target="https://www.osmosis.org/learn/Anatomy_of_the_male_urogenital_triangle" TargetMode="External"/><Relationship Id="rId1" Type="http://schemas.openxmlformats.org/officeDocument/2006/relationships/hyperlink" Target="https://www.osmosis.org/learn/Nerves_and_lymphatics_of_the_pelvis" TargetMode="Externa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www.osmosis.org/learn/Anatomy_of_the_pelvic_cavity" TargetMode="External"/><Relationship Id="rId2" Type="http://schemas.openxmlformats.org/officeDocument/2006/relationships/hyperlink" Target="https://www.osmosis.org/learn/Muscles_of_the_gluteal_region_and_posterior_thigh" TargetMode="External"/><Relationship Id="rId1" Type="http://schemas.openxmlformats.org/officeDocument/2006/relationships/hyperlink" Target="https://www.osmosis.org/learn/Nerves_and_lymphatics_of_the_pelvis" TargetMode="Externa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hyperlink" Target="https://www.osmosis.org/learn/Other_lower_limb_treatments" TargetMode="External"/><Relationship Id="rId6" Type="http://schemas.openxmlformats.org/officeDocument/2006/relationships/hyperlink" Target="https://www.osmosis.org/learn/Other_pelvis_treatments" TargetMode="External"/><Relationship Id="rId5" Type="http://schemas.openxmlformats.org/officeDocument/2006/relationships/hyperlink" Target="https://www.osmosis.org/learn/Nervous_system_anatomy_and_physiology" TargetMode="External"/><Relationship Id="rId4" Type="http://schemas.openxmlformats.org/officeDocument/2006/relationships/hyperlink" Target="https://www.osmosis.org/learn/Nerves_and_lymphatics_of_the_pelvis" TargetMode="External"/><Relationship Id="rId3" Type="http://schemas.openxmlformats.org/officeDocument/2006/relationships/hyperlink" Target="https://www.osmosis.org/learn/Anatomy_of_the_muscles_and_nerves_of_the_posterior_abdominal_wall" TargetMode="External"/><Relationship Id="rId2" Type="http://schemas.openxmlformats.org/officeDocument/2006/relationships/hyperlink" Target="https://www.osmosis.org/learn/Introduction_to_the_central_and_peripheral_nervous_systems" TargetMode="External"/><Relationship Id="rId1" Type="http://schemas.openxmlformats.org/officeDocument/2006/relationships/hyperlink" Target="https://www.osmosis.org/learn/Other_lumbar_spine_treatments" TargetMode="Externa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hyperlink" Target="https://www.osmosis.org/learn/Diagnosing_sacral_somatic_dysfunction" TargetMode="External"/><Relationship Id="rId3" Type="http://schemas.openxmlformats.org/officeDocument/2006/relationships/hyperlink" Target="https://www.osmosis.org/learn/Other_cervical_spine_treatments" TargetMode="External"/><Relationship Id="rId2" Type="http://schemas.openxmlformats.org/officeDocument/2006/relationships/hyperlink" Target="https://www.osmosis.org/learn/Anatomy_of_the_anterior_and_medial_thigh" TargetMode="External"/><Relationship Id="rId1" Type="http://schemas.openxmlformats.org/officeDocument/2006/relationships/hyperlink" Target="https://www.osmosis.org/learn/Anatomy_clinical_correlates:_Leg_and_ankl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solidFill>
                  <a:srgbClr val="C00000"/>
                </a:solidFill>
                <a:latin typeface="Times New Roman" panose="02020603050405020304" pitchFamily="18" charset="0"/>
                <a:cs typeface="Times New Roman" panose="02020603050405020304" pitchFamily="18" charset="0"/>
              </a:rPr>
              <a:t>LUMBOSACRAL PLEXUS</a:t>
            </a:r>
            <a:br>
              <a:rPr lang="en-US" b="1" dirty="0">
                <a:solidFill>
                  <a:srgbClr val="C00000"/>
                </a:solidFill>
                <a:latin typeface="Times New Roman" panose="02020603050405020304" pitchFamily="18" charset="0"/>
                <a:cs typeface="Times New Roman" panose="02020603050405020304" pitchFamily="18" charset="0"/>
              </a:rPr>
            </a:br>
            <a:r>
              <a:rPr lang="en-US" b="1" dirty="0">
                <a:solidFill>
                  <a:srgbClr val="C00000"/>
                </a:solidFill>
                <a:latin typeface="Times New Roman" panose="02020603050405020304" pitchFamily="18" charset="0"/>
                <a:cs typeface="Times New Roman" panose="02020603050405020304" pitchFamily="18" charset="0"/>
              </a:rPr>
              <a:t> </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r>
              <a:rPr lang="en-US" sz="2800" dirty="0">
                <a:latin typeface="Times New Roman" panose="02020603050405020304" pitchFamily="18" charset="0"/>
                <a:cs typeface="Times New Roman" panose="02020603050405020304" pitchFamily="18" charset="0"/>
              </a:rPr>
              <a:t>BY</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F.O. OPOOLA</a:t>
            </a:r>
            <a:r>
              <a:rPr lang="en-GB" altLang="en-US" sz="2800" dirty="0">
                <a:latin typeface="Times New Roman" panose="02020603050405020304" pitchFamily="18" charset="0"/>
                <a:cs typeface="Times New Roman" panose="02020603050405020304" pitchFamily="18" charset="0"/>
              </a:rPr>
              <a:t> (Ph.D)</a:t>
            </a:r>
            <a:endParaRPr lang="en-GB" alt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LEARNING OBJECTIVE</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Describe the formation of lumbosacral plexus (site, roots)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List the main branches of lumbosacral plexus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Describe the important Applied Anatomy related to the lumbosacral plexuses.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1365" cy="6753225"/>
          </a:xfrm>
          <a:prstGeom prst="rect">
            <a:avLst/>
          </a:prstGeom>
          <a:noFill/>
        </p:spPr>
        <p:txBody>
          <a:bodyPr wrap="square">
            <a:noAutofit/>
          </a:bodyPr>
          <a:lstStyle/>
          <a:p>
            <a:pPr algn="l"/>
            <a:r>
              <a:rPr lang="en-US" sz="2800" b="1" i="0" dirty="0">
                <a:solidFill>
                  <a:srgbClr val="C00000"/>
                </a:solidFill>
                <a:effectLst/>
                <a:latin typeface="Times New Roman" panose="02020603050405020304" pitchFamily="18" charset="0"/>
                <a:cs typeface="Times New Roman" panose="02020603050405020304" pitchFamily="18" charset="0"/>
              </a:rPr>
              <a:t>What is the lumbosacral plexus?</a:t>
            </a:r>
            <a:endParaRPr lang="en-US" sz="2800" b="1" i="0" dirty="0">
              <a:solidFill>
                <a:srgbClr val="C00000"/>
              </a:solidFill>
              <a:effectLst/>
              <a:latin typeface="Times New Roman" panose="02020603050405020304" pitchFamily="18" charset="0"/>
              <a:cs typeface="Times New Roman" panose="02020603050405020304" pitchFamily="18" charset="0"/>
            </a:endParaRPr>
          </a:p>
          <a:p>
            <a:pPr algn="l"/>
            <a:endParaRPr lang="en-US" sz="2800" b="1"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The </a:t>
            </a:r>
            <a:r>
              <a:rPr lang="en-US" sz="2800" b="0" i="0" u="none" strike="noStrike" dirty="0">
                <a:effectLst/>
                <a:latin typeface="Times New Roman" panose="02020603050405020304" pitchFamily="18" charset="0"/>
                <a:cs typeface="Times New Roman" panose="02020603050405020304" pitchFamily="18" charset="0"/>
                <a:hlinkClick r:id="rId1"/>
              </a:rPr>
              <a:t>lumbosacral</a:t>
            </a:r>
            <a:r>
              <a:rPr lang="en-US" sz="2800" b="0" i="0" dirty="0">
                <a:effectLst/>
                <a:latin typeface="Times New Roman" panose="02020603050405020304" pitchFamily="18" charset="0"/>
                <a:cs typeface="Times New Roman" panose="02020603050405020304" pitchFamily="18" charset="0"/>
              </a:rPr>
              <a:t> plexus is a network of nerve fibers, derived from the roots of lumbar and sacral spinal nerves that branch out to form the nerves supplying the </a:t>
            </a:r>
            <a:r>
              <a:rPr lang="en-US" sz="2800" b="0" i="0" u="none" strike="noStrike" dirty="0">
                <a:effectLst/>
                <a:latin typeface="Times New Roman" panose="02020603050405020304" pitchFamily="18" charset="0"/>
                <a:cs typeface="Times New Roman" panose="02020603050405020304" pitchFamily="18" charset="0"/>
                <a:hlinkClick r:id="rId2"/>
              </a:rPr>
              <a:t>lower limb</a:t>
            </a:r>
            <a:r>
              <a:rPr lang="en-US" sz="2800" b="0" i="0" dirty="0">
                <a:effectLst/>
                <a:latin typeface="Times New Roman" panose="02020603050405020304" pitchFamily="18" charset="0"/>
                <a:cs typeface="Times New Roman" panose="02020603050405020304" pitchFamily="18" charset="0"/>
              </a:rPr>
              <a:t>. </a:t>
            </a:r>
            <a:endParaRPr lang="en-US" sz="2800" b="0" i="0" dirty="0">
              <a:effectLst/>
              <a:latin typeface="Times New Roman" panose="02020603050405020304" pitchFamily="18" charset="0"/>
              <a:cs typeface="Times New Roman" panose="02020603050405020304" pitchFamily="18" charset="0"/>
            </a:endParaRPr>
          </a:p>
          <a:p>
            <a:pPr indent="0" algn="l">
              <a:buFont typeface="Wingdings" panose="05000000000000000000" pitchFamily="2" charset="2"/>
              <a:buNone/>
            </a:pPr>
            <a:endParaRPr lang="en-US" sz="2800" dirty="0">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In the human body, there are 31 pairs of </a:t>
            </a:r>
            <a:r>
              <a:rPr lang="en-US" sz="2800" b="0" i="0" u="none" strike="noStrike" dirty="0">
                <a:effectLst/>
                <a:latin typeface="Times New Roman" panose="02020603050405020304" pitchFamily="18" charset="0"/>
                <a:cs typeface="Times New Roman" panose="02020603050405020304" pitchFamily="18" charset="0"/>
                <a:hlinkClick r:id="rId3"/>
              </a:rPr>
              <a:t>spinal nerves</a:t>
            </a:r>
            <a:r>
              <a:rPr lang="en-US" sz="2800" b="0" i="0" dirty="0">
                <a:effectLst/>
                <a:latin typeface="Times New Roman" panose="02020603050405020304" pitchFamily="18" charset="0"/>
                <a:cs typeface="Times New Roman" panose="02020603050405020304" pitchFamily="18" charset="0"/>
              </a:rPr>
              <a:t> corresponding to a segment of the </a:t>
            </a:r>
            <a:r>
              <a:rPr lang="en-US" sz="2800" b="0" i="0" u="none" strike="noStrike" dirty="0">
                <a:effectLst/>
                <a:latin typeface="Times New Roman" panose="02020603050405020304" pitchFamily="18" charset="0"/>
                <a:cs typeface="Times New Roman" panose="02020603050405020304" pitchFamily="18" charset="0"/>
                <a:hlinkClick r:id="rId4"/>
              </a:rPr>
              <a:t>vertebral column</a:t>
            </a:r>
            <a:r>
              <a:rPr lang="en-US" sz="2800" b="0" i="0" dirty="0">
                <a:effectLst/>
                <a:latin typeface="Times New Roman" panose="02020603050405020304" pitchFamily="18" charset="0"/>
                <a:cs typeface="Times New Roman" panose="02020603050405020304" pitchFamily="18" charset="0"/>
              </a:rPr>
              <a:t>: cervical (C1-C8), thoracic (T1-T12), lumbar (L1-L5), </a:t>
            </a:r>
            <a:r>
              <a:rPr lang="en-US" sz="2800" b="0" i="0" u="none" strike="noStrike" dirty="0">
                <a:effectLst/>
                <a:latin typeface="Times New Roman" panose="02020603050405020304" pitchFamily="18" charset="0"/>
                <a:cs typeface="Times New Roman" panose="02020603050405020304" pitchFamily="18" charset="0"/>
                <a:hlinkClick r:id="rId5"/>
              </a:rPr>
              <a:t>sacral</a:t>
            </a:r>
            <a:r>
              <a:rPr lang="en-US" sz="2800" b="0" i="0" dirty="0">
                <a:effectLst/>
                <a:latin typeface="Times New Roman" panose="02020603050405020304" pitchFamily="18" charset="0"/>
                <a:cs typeface="Times New Roman" panose="02020603050405020304" pitchFamily="18" charset="0"/>
              </a:rPr>
              <a:t> (S1-S5), and </a:t>
            </a:r>
            <a:r>
              <a:rPr lang="en-US" sz="2800" b="0" i="0" u="none" strike="noStrike" dirty="0">
                <a:effectLst/>
                <a:latin typeface="Times New Roman" panose="02020603050405020304" pitchFamily="18" charset="0"/>
                <a:cs typeface="Times New Roman" panose="02020603050405020304" pitchFamily="18" charset="0"/>
                <a:hlinkClick r:id="rId6"/>
              </a:rPr>
              <a:t>coccygeal</a:t>
            </a:r>
            <a:r>
              <a:rPr lang="en-US" sz="2800" b="0" i="0" dirty="0">
                <a:effectLst/>
                <a:latin typeface="Times New Roman" panose="02020603050405020304" pitchFamily="18" charset="0"/>
                <a:cs typeface="Times New Roman" panose="02020603050405020304" pitchFamily="18" charset="0"/>
              </a:rPr>
              <a:t>. </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In the cervical and lumbar regions, the corresponding spinal nerves unite to form the brachial and lumbosacral plexuses, from which arise the nerves of the upper and lower limbs, respectively.  </a:t>
            </a:r>
            <a:endParaRPr lang="en-US" sz="2800"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2183165" y="0"/>
            <a:ext cx="7825669"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8776" y="515736"/>
            <a:ext cx="11967099" cy="4524315"/>
          </a:xfrm>
          <a:prstGeom prst="rect">
            <a:avLst/>
          </a:prstGeom>
          <a:noFill/>
        </p:spPr>
        <p:txBody>
          <a:bodyPr wrap="square">
            <a:spAutoFit/>
          </a:bodyPr>
          <a:lstStyle/>
          <a:p>
            <a:pPr algn="l"/>
            <a:r>
              <a:rPr lang="en-US" sz="3600" b="1" i="0" dirty="0">
                <a:solidFill>
                  <a:srgbClr val="C00000"/>
                </a:solidFill>
                <a:effectLst/>
                <a:latin typeface="Times New Roman" panose="02020603050405020304" pitchFamily="18" charset="0"/>
                <a:cs typeface="Times New Roman" panose="02020603050405020304" pitchFamily="18" charset="0"/>
              </a:rPr>
              <a:t>Where is the lumbosacral plexus located?</a:t>
            </a:r>
            <a:endParaRPr lang="en-US" sz="3600" b="1" i="0" dirty="0">
              <a:solidFill>
                <a:srgbClr val="C00000"/>
              </a:solidFill>
              <a:effectLst/>
              <a:latin typeface="Times New Roman" panose="02020603050405020304" pitchFamily="18" charset="0"/>
              <a:cs typeface="Times New Roman" panose="02020603050405020304" pitchFamily="18" charset="0"/>
            </a:endParaRPr>
          </a:p>
          <a:p>
            <a:pPr algn="l"/>
            <a:endParaRPr lang="en-US" sz="2800" b="1" i="0" dirty="0">
              <a:solidFill>
                <a:srgbClr val="C00000"/>
              </a:solidFill>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The </a:t>
            </a:r>
            <a:r>
              <a:rPr lang="en-US" sz="2800" b="0" i="0" u="none" strike="noStrike" dirty="0">
                <a:effectLst/>
                <a:latin typeface="Times New Roman" panose="02020603050405020304" pitchFamily="18" charset="0"/>
                <a:cs typeface="Times New Roman" panose="02020603050405020304" pitchFamily="18" charset="0"/>
                <a:hlinkClick r:id="rId1"/>
              </a:rPr>
              <a:t>lumbosacral</a:t>
            </a:r>
            <a:r>
              <a:rPr lang="en-US" sz="2800" b="0" i="0" dirty="0">
                <a:effectLst/>
                <a:latin typeface="Times New Roman" panose="02020603050405020304" pitchFamily="18" charset="0"/>
                <a:cs typeface="Times New Roman" panose="02020603050405020304" pitchFamily="18" charset="0"/>
              </a:rPr>
              <a:t> plexus is formed by the anterior rami (i.e., branches) of </a:t>
            </a:r>
            <a:r>
              <a:rPr lang="en-US" sz="2800" b="0" i="0" u="none" strike="noStrike" dirty="0">
                <a:effectLst/>
                <a:latin typeface="Times New Roman" panose="02020603050405020304" pitchFamily="18" charset="0"/>
                <a:cs typeface="Times New Roman" panose="02020603050405020304" pitchFamily="18" charset="0"/>
                <a:hlinkClick r:id="rId2"/>
              </a:rPr>
              <a:t>spinal nerves</a:t>
            </a:r>
            <a:r>
              <a:rPr lang="en-US" sz="2800" b="0" i="0" dirty="0">
                <a:effectLst/>
                <a:latin typeface="Times New Roman" panose="02020603050405020304" pitchFamily="18" charset="0"/>
                <a:cs typeface="Times New Roman" panose="02020603050405020304" pitchFamily="18" charset="0"/>
              </a:rPr>
              <a:t> L4 to L5 and S1 to S4. </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It is located on the posterolateral wall of the lesser </a:t>
            </a:r>
            <a:r>
              <a:rPr lang="en-US" sz="2800" b="0" i="0" u="none" strike="noStrike" dirty="0">
                <a:effectLst/>
                <a:latin typeface="Times New Roman" panose="02020603050405020304" pitchFamily="18" charset="0"/>
                <a:cs typeface="Times New Roman" panose="02020603050405020304" pitchFamily="18" charset="0"/>
                <a:hlinkClick r:id="rId3"/>
              </a:rPr>
              <a:t>pelvis</a:t>
            </a:r>
            <a:r>
              <a:rPr lang="en-US" sz="2800" b="0" i="0" dirty="0">
                <a:effectLst/>
                <a:latin typeface="Times New Roman" panose="02020603050405020304" pitchFamily="18" charset="0"/>
                <a:cs typeface="Times New Roman" panose="02020603050405020304" pitchFamily="18" charset="0"/>
              </a:rPr>
              <a:t>, adjacent to the </a:t>
            </a:r>
            <a:r>
              <a:rPr lang="en-US" sz="2800" b="0" i="0" u="none" strike="noStrike" dirty="0">
                <a:effectLst/>
                <a:latin typeface="Times New Roman" panose="02020603050405020304" pitchFamily="18" charset="0"/>
                <a:cs typeface="Times New Roman" panose="02020603050405020304" pitchFamily="18" charset="0"/>
                <a:hlinkClick r:id="rId1"/>
              </a:rPr>
              <a:t>lumbar spine</a:t>
            </a:r>
            <a:r>
              <a:rPr lang="en-US" sz="2800" b="0" i="0" dirty="0">
                <a:effectLst/>
                <a:latin typeface="Times New Roman" panose="02020603050405020304" pitchFamily="18" charset="0"/>
                <a:cs typeface="Times New Roman" panose="02020603050405020304" pitchFamily="18" charset="0"/>
              </a:rPr>
              <a:t>.</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 The lumbosacral plexus then embeds itself into the </a:t>
            </a:r>
            <a:r>
              <a:rPr lang="en-US" sz="2800" b="0" i="0" u="none" strike="noStrike" dirty="0">
                <a:effectLst/>
                <a:latin typeface="Times New Roman" panose="02020603050405020304" pitchFamily="18" charset="0"/>
                <a:cs typeface="Times New Roman" panose="02020603050405020304" pitchFamily="18" charset="0"/>
                <a:hlinkClick r:id="rId4"/>
              </a:rPr>
              <a:t>psoas major muscle</a:t>
            </a:r>
            <a:r>
              <a:rPr lang="en-US" sz="2800" b="0" i="0" dirty="0">
                <a:effectLst/>
                <a:latin typeface="Times New Roman" panose="02020603050405020304" pitchFamily="18" charset="0"/>
                <a:cs typeface="Times New Roman" panose="02020603050405020304" pitchFamily="18" charset="0"/>
              </a:rPr>
              <a:t> and later emerges in the pelvis. </a:t>
            </a:r>
            <a:endParaRPr lang="en-US" sz="2800"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020364" cy="6739255"/>
          </a:xfrm>
          <a:prstGeom prst="rect">
            <a:avLst/>
          </a:prstGeom>
          <a:noFill/>
        </p:spPr>
        <p:txBody>
          <a:bodyPr wrap="square">
            <a:spAutoFit/>
          </a:bodyPr>
          <a:lstStyle/>
          <a:p>
            <a:pPr algn="l"/>
            <a:r>
              <a:rPr lang="en-US" sz="4000" b="1" i="0" dirty="0">
                <a:solidFill>
                  <a:srgbClr val="C00000"/>
                </a:solidFill>
                <a:effectLst/>
                <a:latin typeface="Times New Roman" panose="02020603050405020304" pitchFamily="18" charset="0"/>
                <a:cs typeface="Times New Roman" panose="02020603050405020304" pitchFamily="18" charset="0"/>
              </a:rPr>
              <a:t>What nerves are found in the lumbosacral plexus?</a:t>
            </a:r>
            <a:endParaRPr lang="en-US" sz="4000" b="1" dirty="0">
              <a:solidFill>
                <a:srgbClr val="C00000"/>
              </a:solidFill>
              <a:latin typeface="Times New Roman" panose="02020603050405020304" pitchFamily="18" charset="0"/>
              <a:cs typeface="Times New Roman" panose="02020603050405020304" pitchFamily="18" charset="0"/>
            </a:endParaRPr>
          </a:p>
          <a:p>
            <a:pPr algn="l"/>
            <a:endParaRPr lang="en-US" sz="2800" b="1" i="0" dirty="0">
              <a:solidFill>
                <a:srgbClr val="C00000"/>
              </a:solidFill>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The </a:t>
            </a:r>
            <a:r>
              <a:rPr lang="en-US" sz="2800" b="0" i="0" u="none" strike="noStrike" dirty="0">
                <a:effectLst/>
                <a:latin typeface="Times New Roman" panose="02020603050405020304" pitchFamily="18" charset="0"/>
                <a:cs typeface="Times New Roman" panose="02020603050405020304" pitchFamily="18" charset="0"/>
                <a:hlinkClick r:id="rId1"/>
              </a:rPr>
              <a:t>lumbosacral</a:t>
            </a:r>
            <a:r>
              <a:rPr lang="en-US" sz="2800" b="0" i="0" dirty="0">
                <a:effectLst/>
                <a:latin typeface="Times New Roman" panose="02020603050405020304" pitchFamily="18" charset="0"/>
                <a:cs typeface="Times New Roman" panose="02020603050405020304" pitchFamily="18" charset="0"/>
              </a:rPr>
              <a:t> plexus includes nerves that arise from both the </a:t>
            </a:r>
            <a:r>
              <a:rPr lang="en-US" sz="2800" b="0" i="0" u="none" strike="noStrike" dirty="0">
                <a:effectLst/>
                <a:latin typeface="Times New Roman" panose="02020603050405020304" pitchFamily="18" charset="0"/>
                <a:cs typeface="Times New Roman" panose="02020603050405020304" pitchFamily="18" charset="0"/>
                <a:hlinkClick r:id="rId2"/>
              </a:rPr>
              <a:t>lumbar plexus</a:t>
            </a:r>
            <a:r>
              <a:rPr lang="en-US" sz="2800" b="0" i="0" dirty="0">
                <a:effectLst/>
                <a:latin typeface="Times New Roman" panose="02020603050405020304" pitchFamily="18" charset="0"/>
                <a:cs typeface="Times New Roman" panose="02020603050405020304" pitchFamily="18" charset="0"/>
              </a:rPr>
              <a:t> and </a:t>
            </a:r>
            <a:r>
              <a:rPr lang="en-US" sz="2800" b="0" i="0" u="none" strike="noStrike" dirty="0">
                <a:effectLst/>
                <a:latin typeface="Times New Roman" panose="02020603050405020304" pitchFamily="18" charset="0"/>
                <a:cs typeface="Times New Roman" panose="02020603050405020304" pitchFamily="18" charset="0"/>
                <a:hlinkClick r:id="rId3"/>
              </a:rPr>
              <a:t>sacral plexus</a:t>
            </a:r>
            <a:r>
              <a:rPr lang="en-US" sz="2800" b="0" i="0" dirty="0">
                <a:effectLst/>
                <a:latin typeface="Times New Roman" panose="02020603050405020304" pitchFamily="18" charset="0"/>
                <a:cs typeface="Times New Roman" panose="02020603050405020304" pitchFamily="18" charset="0"/>
              </a:rPr>
              <a:t>. </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From superior to inferior, the major nerves that branch off the lumbar plexus include the </a:t>
            </a:r>
            <a:r>
              <a:rPr lang="en-US" sz="2800" b="0" i="0" u="none" strike="noStrike" dirty="0" err="1">
                <a:effectLst/>
                <a:latin typeface="Times New Roman" panose="02020603050405020304" pitchFamily="18" charset="0"/>
                <a:cs typeface="Times New Roman" panose="02020603050405020304" pitchFamily="18" charset="0"/>
                <a:hlinkClick r:id="rId2"/>
              </a:rPr>
              <a:t>iliohypogastric</a:t>
            </a:r>
            <a:r>
              <a:rPr lang="en-US" sz="2800" b="0" i="0" u="none" strike="noStrike" dirty="0">
                <a:effectLst/>
                <a:latin typeface="Times New Roman" panose="02020603050405020304" pitchFamily="18" charset="0"/>
                <a:cs typeface="Times New Roman" panose="02020603050405020304" pitchFamily="18" charset="0"/>
                <a:hlinkClick r:id="rId2"/>
              </a:rPr>
              <a:t> nerve</a:t>
            </a:r>
            <a:r>
              <a:rPr lang="en-US" sz="2800" b="0" i="0" dirty="0">
                <a:effectLst/>
                <a:latin typeface="Times New Roman" panose="02020603050405020304" pitchFamily="18" charset="0"/>
                <a:cs typeface="Times New Roman" panose="02020603050405020304" pitchFamily="18" charset="0"/>
              </a:rPr>
              <a:t>, </a:t>
            </a:r>
            <a:r>
              <a:rPr lang="en-US" sz="2800" b="0" i="0" u="none" strike="noStrike" dirty="0">
                <a:effectLst/>
                <a:latin typeface="Times New Roman" panose="02020603050405020304" pitchFamily="18" charset="0"/>
                <a:cs typeface="Times New Roman" panose="02020603050405020304" pitchFamily="18" charset="0"/>
                <a:hlinkClick r:id="rId2"/>
              </a:rPr>
              <a:t>ilioinguinal nerve</a:t>
            </a:r>
            <a:r>
              <a:rPr lang="en-US" sz="2800" b="0" i="0" dirty="0">
                <a:effectLst/>
                <a:latin typeface="Times New Roman" panose="02020603050405020304" pitchFamily="18" charset="0"/>
                <a:cs typeface="Times New Roman" panose="02020603050405020304" pitchFamily="18" charset="0"/>
              </a:rPr>
              <a:t>, </a:t>
            </a:r>
            <a:r>
              <a:rPr lang="en-US" sz="2800" b="0" i="0" u="none" strike="noStrike" dirty="0">
                <a:effectLst/>
                <a:latin typeface="Times New Roman" panose="02020603050405020304" pitchFamily="18" charset="0"/>
                <a:cs typeface="Times New Roman" panose="02020603050405020304" pitchFamily="18" charset="0"/>
                <a:hlinkClick r:id="rId2"/>
              </a:rPr>
              <a:t>genitofemoral nerve</a:t>
            </a:r>
            <a:r>
              <a:rPr lang="en-US" sz="2800" b="0" i="0" dirty="0">
                <a:effectLst/>
                <a:latin typeface="Times New Roman" panose="02020603050405020304" pitchFamily="18" charset="0"/>
                <a:cs typeface="Times New Roman" panose="02020603050405020304" pitchFamily="18" charset="0"/>
              </a:rPr>
              <a:t>, lateral femoral cutaneous nerve, </a:t>
            </a:r>
            <a:r>
              <a:rPr lang="en-US" sz="2800" b="0" i="0" u="none" strike="noStrike" dirty="0">
                <a:effectLst/>
                <a:latin typeface="Times New Roman" panose="02020603050405020304" pitchFamily="18" charset="0"/>
                <a:cs typeface="Times New Roman" panose="02020603050405020304" pitchFamily="18" charset="0"/>
                <a:hlinkClick r:id="rId3"/>
              </a:rPr>
              <a:t>obturator nerve</a:t>
            </a:r>
            <a:r>
              <a:rPr lang="en-US" sz="2800" b="0" i="0" dirty="0">
                <a:effectLst/>
                <a:latin typeface="Times New Roman" panose="02020603050405020304" pitchFamily="18" charset="0"/>
                <a:cs typeface="Times New Roman" panose="02020603050405020304" pitchFamily="18" charset="0"/>
              </a:rPr>
              <a:t>, and </a:t>
            </a:r>
            <a:r>
              <a:rPr lang="en-US" sz="2800" b="0" i="0" u="none" strike="noStrike" dirty="0">
                <a:effectLst/>
                <a:latin typeface="Times New Roman" panose="02020603050405020304" pitchFamily="18" charset="0"/>
                <a:cs typeface="Times New Roman" panose="02020603050405020304" pitchFamily="18" charset="0"/>
                <a:hlinkClick r:id="rId2"/>
              </a:rPr>
              <a:t>femoral nerve</a:t>
            </a:r>
            <a:r>
              <a:rPr lang="en-US" sz="2800" b="0" i="0" dirty="0">
                <a:effectLst/>
                <a:latin typeface="Times New Roman" panose="02020603050405020304" pitchFamily="18" charset="0"/>
                <a:cs typeface="Times New Roman" panose="02020603050405020304" pitchFamily="18" charset="0"/>
              </a:rPr>
              <a:t>, as well as the </a:t>
            </a:r>
            <a:r>
              <a:rPr lang="en-US" sz="2800" b="0" i="0" u="none" strike="noStrike" dirty="0">
                <a:effectLst/>
                <a:latin typeface="Times New Roman" panose="02020603050405020304" pitchFamily="18" charset="0"/>
                <a:cs typeface="Times New Roman" panose="02020603050405020304" pitchFamily="18" charset="0"/>
                <a:hlinkClick r:id="rId3"/>
              </a:rPr>
              <a:t>lumbosacral trunk</a:t>
            </a:r>
            <a:r>
              <a:rPr lang="en-US" sz="2800" b="0" i="0" dirty="0">
                <a:effectLst/>
                <a:latin typeface="Times New Roman" panose="02020603050405020304" pitchFamily="18" charset="0"/>
                <a:cs typeface="Times New Roman" panose="02020603050405020304" pitchFamily="18" charset="0"/>
              </a:rPr>
              <a:t>. </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The </a:t>
            </a:r>
            <a:r>
              <a:rPr lang="en-US" sz="2800" b="0" i="0" u="none" strike="noStrike" dirty="0">
                <a:effectLst/>
                <a:latin typeface="Times New Roman" panose="02020603050405020304" pitchFamily="18" charset="0"/>
                <a:cs typeface="Times New Roman" panose="02020603050405020304" pitchFamily="18" charset="0"/>
                <a:hlinkClick r:id="rId2"/>
              </a:rPr>
              <a:t>ilioinguinal</a:t>
            </a:r>
            <a:r>
              <a:rPr lang="en-US" sz="2800" b="0" i="0" dirty="0">
                <a:effectLst/>
                <a:latin typeface="Times New Roman" panose="02020603050405020304" pitchFamily="18" charset="0"/>
                <a:cs typeface="Times New Roman" panose="02020603050405020304" pitchFamily="18" charset="0"/>
              </a:rPr>
              <a:t> and </a:t>
            </a:r>
            <a:r>
              <a:rPr lang="en-US" sz="2800" b="0" i="0" u="none" strike="noStrike" dirty="0" err="1">
                <a:effectLst/>
                <a:latin typeface="Times New Roman" panose="02020603050405020304" pitchFamily="18" charset="0"/>
                <a:cs typeface="Times New Roman" panose="02020603050405020304" pitchFamily="18" charset="0"/>
                <a:hlinkClick r:id="rId2"/>
              </a:rPr>
              <a:t>iliohypogastric</a:t>
            </a:r>
            <a:r>
              <a:rPr lang="en-US" sz="2800" b="0" i="0" dirty="0">
                <a:effectLst/>
                <a:latin typeface="Times New Roman" panose="02020603050405020304" pitchFamily="18" charset="0"/>
                <a:cs typeface="Times New Roman" panose="02020603050405020304" pitchFamily="18" charset="0"/>
              </a:rPr>
              <a:t> nerves arise from the L1 </a:t>
            </a:r>
            <a:r>
              <a:rPr lang="en-US" sz="2800" b="0" i="0" u="none" strike="noStrike" dirty="0">
                <a:effectLst/>
                <a:latin typeface="Times New Roman" panose="02020603050405020304" pitchFamily="18" charset="0"/>
                <a:cs typeface="Times New Roman" panose="02020603050405020304" pitchFamily="18" charset="0"/>
                <a:hlinkClick r:id="rId4"/>
              </a:rPr>
              <a:t>spinal nerve</a:t>
            </a:r>
            <a:r>
              <a:rPr lang="en-US" sz="2800" b="0" i="0" dirty="0">
                <a:effectLst/>
                <a:latin typeface="Times New Roman" panose="02020603050405020304" pitchFamily="18" charset="0"/>
                <a:cs typeface="Times New Roman" panose="02020603050405020304" pitchFamily="18" charset="0"/>
              </a:rPr>
              <a:t> and provide motor supply to some muscles of the abdominal wall, as well as </a:t>
            </a:r>
            <a:r>
              <a:rPr lang="en-US" sz="2800" b="0" i="0" u="none" strike="noStrike" dirty="0">
                <a:effectLst/>
                <a:latin typeface="Times New Roman" panose="02020603050405020304" pitchFamily="18" charset="0"/>
                <a:cs typeface="Times New Roman" panose="02020603050405020304" pitchFamily="18" charset="0"/>
                <a:hlinkClick r:id="rId5"/>
              </a:rPr>
              <a:t>sensory inputs</a:t>
            </a:r>
            <a:r>
              <a:rPr lang="en-US" sz="2800" b="0" i="0" dirty="0">
                <a:effectLst/>
                <a:latin typeface="Times New Roman" panose="02020603050405020304" pitchFamily="18" charset="0"/>
                <a:cs typeface="Times New Roman" panose="02020603050405020304" pitchFamily="18" charset="0"/>
              </a:rPr>
              <a:t> to the skin of the groin area. </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indent="0" algn="l">
              <a:buFont typeface="Wingdings" panose="05000000000000000000" pitchFamily="2" charset="2"/>
              <a:buNone/>
            </a:pPr>
            <a:r>
              <a:rPr lang="en-US" sz="2800" b="0" i="0" dirty="0">
                <a:effectLst/>
                <a:latin typeface="Times New Roman" panose="02020603050405020304" pitchFamily="18" charset="0"/>
                <a:cs typeface="Times New Roman" panose="02020603050405020304" pitchFamily="18" charset="0"/>
              </a:rPr>
              <a:t> </a:t>
            </a:r>
            <a:endParaRPr lang="en-US" sz="2800"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8610" y="425450"/>
            <a:ext cx="11883390" cy="4399915"/>
          </a:xfrm>
          <a:prstGeom prst="rect">
            <a:avLst/>
          </a:prstGeom>
          <a:noFill/>
        </p:spPr>
        <p:txBody>
          <a:bodyPr wrap="square" rtlCol="0" anchor="t">
            <a:spAutoFit/>
          </a:bodyPr>
          <a:p>
            <a:pPr marL="457200" indent="-457200">
              <a:buFont typeface="Wingdings" panose="05000000000000000000" charset="0"/>
              <a:buChar char="v"/>
            </a:pPr>
            <a:r>
              <a:rPr lang="en-US" sz="2800" dirty="0">
                <a:effectLst/>
                <a:latin typeface="Times New Roman" panose="02020603050405020304" pitchFamily="18" charset="0"/>
                <a:cs typeface="Times New Roman" panose="02020603050405020304" pitchFamily="18" charset="0"/>
                <a:sym typeface="+mn-ea"/>
              </a:rPr>
              <a:t>The genitofemoral nerve arises from the L1 and L2 </a:t>
            </a:r>
            <a:r>
              <a:rPr lang="en-US" sz="2800" dirty="0">
                <a:effectLst/>
                <a:latin typeface="Times New Roman" panose="02020603050405020304" pitchFamily="18" charset="0"/>
                <a:cs typeface="Times New Roman" panose="02020603050405020304" pitchFamily="18" charset="0"/>
                <a:sym typeface="+mn-ea"/>
                <a:hlinkClick r:id="rId1"/>
              </a:rPr>
              <a:t>spinal nerves</a:t>
            </a:r>
            <a:r>
              <a:rPr lang="en-US" sz="2800" dirty="0">
                <a:effectLst/>
                <a:latin typeface="Times New Roman" panose="02020603050405020304" pitchFamily="18" charset="0"/>
                <a:cs typeface="Times New Roman" panose="02020603050405020304" pitchFamily="18" charset="0"/>
                <a:sym typeface="+mn-ea"/>
              </a:rPr>
              <a:t> and then divides into a </a:t>
            </a:r>
            <a:r>
              <a:rPr lang="en-US" sz="2800" dirty="0">
                <a:effectLst/>
                <a:latin typeface="Times New Roman" panose="02020603050405020304" pitchFamily="18" charset="0"/>
                <a:cs typeface="Times New Roman" panose="02020603050405020304" pitchFamily="18" charset="0"/>
                <a:sym typeface="+mn-ea"/>
                <a:hlinkClick r:id="rId2"/>
              </a:rPr>
              <a:t>genital</a:t>
            </a:r>
            <a:r>
              <a:rPr lang="en-US" sz="2800" dirty="0">
                <a:effectLst/>
                <a:latin typeface="Times New Roman" panose="02020603050405020304" pitchFamily="18" charset="0"/>
                <a:cs typeface="Times New Roman" panose="02020603050405020304" pitchFamily="18" charset="0"/>
                <a:sym typeface="+mn-ea"/>
              </a:rPr>
              <a:t> and femoral branch.</a:t>
            </a:r>
            <a:endParaRPr lang="en-US" sz="2800" dirty="0">
              <a:effectLst/>
              <a:latin typeface="Times New Roman" panose="02020603050405020304" pitchFamily="18" charset="0"/>
              <a:cs typeface="Times New Roman" panose="02020603050405020304" pitchFamily="18" charset="0"/>
              <a:sym typeface="+mn-ea"/>
            </a:endParaRPr>
          </a:p>
          <a:p>
            <a:endParaRPr lang="en-US" sz="2800" dirty="0">
              <a:effectLst/>
              <a:latin typeface="Times New Roman" panose="02020603050405020304" pitchFamily="18" charset="0"/>
              <a:cs typeface="Times New Roman" panose="02020603050405020304" pitchFamily="18" charset="0"/>
              <a:sym typeface="+mn-ea"/>
            </a:endParaRPr>
          </a:p>
          <a:p>
            <a:pPr marL="457200" indent="-457200" algn="l">
              <a:buFont typeface="Wingdings" panose="05000000000000000000" pitchFamily="2" charset="2"/>
              <a:buChar char="v"/>
            </a:pPr>
            <a:r>
              <a:rPr lang="en-US" sz="2800" dirty="0">
                <a:effectLst/>
                <a:latin typeface="Times New Roman" panose="02020603050405020304" pitchFamily="18" charset="0"/>
                <a:cs typeface="Times New Roman" panose="02020603050405020304" pitchFamily="18" charset="0"/>
                <a:sym typeface="+mn-ea"/>
              </a:rPr>
              <a:t>In individuals assigned males at birth, the genital branch supplies the skin of the </a:t>
            </a:r>
            <a:r>
              <a:rPr lang="en-US" sz="2800" dirty="0">
                <a:effectLst/>
                <a:latin typeface="Times New Roman" panose="02020603050405020304" pitchFamily="18" charset="0"/>
                <a:cs typeface="Times New Roman" panose="02020603050405020304" pitchFamily="18" charset="0"/>
                <a:sym typeface="+mn-ea"/>
                <a:hlinkClick r:id="rId2"/>
              </a:rPr>
              <a:t>scrotum</a:t>
            </a:r>
            <a:r>
              <a:rPr lang="en-US" sz="2800" dirty="0">
                <a:effectLst/>
                <a:latin typeface="Times New Roman" panose="02020603050405020304" pitchFamily="18" charset="0"/>
                <a:cs typeface="Times New Roman" panose="02020603050405020304" pitchFamily="18" charset="0"/>
                <a:sym typeface="+mn-ea"/>
              </a:rPr>
              <a:t> and cremaster muscle; in individuals assigned female at birth, it supplies the skin around the </a:t>
            </a:r>
            <a:r>
              <a:rPr lang="en-US" sz="2800" dirty="0">
                <a:effectLst/>
                <a:latin typeface="Times New Roman" panose="02020603050405020304" pitchFamily="18" charset="0"/>
                <a:cs typeface="Times New Roman" panose="02020603050405020304" pitchFamily="18" charset="0"/>
                <a:sym typeface="+mn-ea"/>
                <a:hlinkClick r:id="rId3"/>
              </a:rPr>
              <a:t>mons pubis</a:t>
            </a:r>
            <a:r>
              <a:rPr lang="en-US" sz="2800" dirty="0">
                <a:effectLst/>
                <a:latin typeface="Times New Roman" panose="02020603050405020304" pitchFamily="18" charset="0"/>
                <a:cs typeface="Times New Roman" panose="02020603050405020304" pitchFamily="18" charset="0"/>
                <a:sym typeface="+mn-ea"/>
              </a:rPr>
              <a:t> and labia majora.</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dirty="0">
                <a:effectLst/>
                <a:latin typeface="Times New Roman" panose="02020603050405020304" pitchFamily="18" charset="0"/>
                <a:cs typeface="Times New Roman" panose="02020603050405020304" pitchFamily="18" charset="0"/>
                <a:sym typeface="+mn-ea"/>
              </a:rPr>
              <a:t> The femoral branch of the genitofemoral nerve supplies the skin of the upper anteromedial thigh. </a:t>
            </a:r>
            <a:endParaRPr lang="en-US" sz="2800" b="0" i="0" dirty="0">
              <a:effectLst/>
              <a:latin typeface="Times New Roman" panose="02020603050405020304" pitchFamily="18" charset="0"/>
              <a:cs typeface="Times New Roman" panose="02020603050405020304" pitchFamily="18" charset="0"/>
            </a:endParaRPr>
          </a:p>
          <a:p>
            <a:endParaRPr lang="en-US" sz="2800" dirty="0">
              <a:effectLst/>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25780" y="432435"/>
            <a:ext cx="11529695" cy="5765800"/>
          </a:xfrm>
          <a:prstGeom prst="rect">
            <a:avLst/>
          </a:prstGeom>
          <a:noFill/>
        </p:spPr>
        <p:txBody>
          <a:bodyPr wrap="square">
            <a:noAutofit/>
          </a:bodyPr>
          <a:lstStyle/>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In the lower part of the lumbosacral plexus, the first branch is the </a:t>
            </a:r>
            <a:r>
              <a:rPr lang="en-US" sz="2800" b="0" i="0" u="none" strike="noStrike" dirty="0">
                <a:effectLst/>
                <a:latin typeface="Times New Roman" panose="02020603050405020304" pitchFamily="18" charset="0"/>
                <a:cs typeface="Times New Roman" panose="02020603050405020304" pitchFamily="18" charset="0"/>
                <a:hlinkClick r:id="rId1"/>
              </a:rPr>
              <a:t>sciatic nerve</a:t>
            </a:r>
            <a:r>
              <a:rPr lang="en-US" sz="2800" b="0" i="0" dirty="0">
                <a:effectLst/>
                <a:latin typeface="Times New Roman" panose="02020603050405020304" pitchFamily="18" charset="0"/>
                <a:cs typeface="Times New Roman" panose="02020603050405020304" pitchFamily="18" charset="0"/>
              </a:rPr>
              <a:t>, which is the largest nerve in the human body. </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This nerve arises from spinal nerves L4 to S3 and gives off branches that supply the hip joint, posterior muscles of the thigh, and all the muscles of the leg and foot. </a:t>
            </a:r>
            <a:endParaRPr lang="en-US" sz="2800" b="0" i="0" dirty="0">
              <a:effectLst/>
              <a:latin typeface="Times New Roman" panose="02020603050405020304" pitchFamily="18" charset="0"/>
              <a:cs typeface="Times New Roman" panose="02020603050405020304" pitchFamily="18" charset="0"/>
            </a:endParaRPr>
          </a:p>
          <a:p>
            <a:pPr indent="0" algn="l">
              <a:buFont typeface="Wingdings" panose="05000000000000000000" pitchFamily="2" charset="2"/>
              <a:buNone/>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dirty="0">
                <a:effectLst/>
                <a:latin typeface="Times New Roman" panose="02020603050405020304" pitchFamily="18" charset="0"/>
                <a:cs typeface="Times New Roman" panose="02020603050405020304" pitchFamily="18" charset="0"/>
                <a:sym typeface="+mn-ea"/>
              </a:rPr>
              <a:t>the </a:t>
            </a:r>
            <a:r>
              <a:rPr lang="en-US" sz="2800" dirty="0">
                <a:effectLst/>
                <a:latin typeface="Times New Roman" panose="02020603050405020304" pitchFamily="18" charset="0"/>
                <a:cs typeface="Times New Roman" panose="02020603050405020304" pitchFamily="18" charset="0"/>
                <a:sym typeface="+mn-ea"/>
                <a:hlinkClick r:id="rId1"/>
              </a:rPr>
              <a:t>pudendal nerve</a:t>
            </a:r>
            <a:r>
              <a:rPr lang="en-US" sz="2800" dirty="0">
                <a:effectLst/>
                <a:latin typeface="Times New Roman" panose="02020603050405020304" pitchFamily="18" charset="0"/>
                <a:cs typeface="Times New Roman" panose="02020603050405020304" pitchFamily="18" charset="0"/>
                <a:sym typeface="+mn-ea"/>
              </a:rPr>
              <a:t>, which arises from spinal nerves S2, S3, and S4, provides sensory inputs to the </a:t>
            </a:r>
            <a:r>
              <a:rPr lang="en-US" sz="2800" dirty="0">
                <a:effectLst/>
                <a:latin typeface="Times New Roman" panose="02020603050405020304" pitchFamily="18" charset="0"/>
                <a:cs typeface="Times New Roman" panose="02020603050405020304" pitchFamily="18" charset="0"/>
                <a:sym typeface="+mn-ea"/>
                <a:hlinkClick r:id="rId2"/>
              </a:rPr>
              <a:t>external genitalia</a:t>
            </a:r>
            <a:r>
              <a:rPr lang="en-US" sz="2800" dirty="0">
                <a:effectLst/>
                <a:latin typeface="Times New Roman" panose="02020603050405020304" pitchFamily="18" charset="0"/>
                <a:cs typeface="Times New Roman" panose="02020603050405020304" pitchFamily="18" charset="0"/>
                <a:sym typeface="+mn-ea"/>
              </a:rPr>
              <a:t>. as well as the muscular input to </a:t>
            </a:r>
            <a:r>
              <a:rPr lang="en-US" sz="2800" dirty="0">
                <a:effectLst/>
                <a:latin typeface="Times New Roman" panose="02020603050405020304" pitchFamily="18" charset="0"/>
                <a:cs typeface="Times New Roman" panose="02020603050405020304" pitchFamily="18" charset="0"/>
                <a:sym typeface="+mn-ea"/>
                <a:hlinkClick r:id="rId3"/>
              </a:rPr>
              <a:t>perineal</a:t>
            </a:r>
            <a:r>
              <a:rPr lang="en-US" sz="2800" dirty="0">
                <a:effectLst/>
                <a:latin typeface="Times New Roman" panose="02020603050405020304" pitchFamily="18" charset="0"/>
                <a:cs typeface="Times New Roman" panose="02020603050405020304" pitchFamily="18" charset="0"/>
                <a:sym typeface="+mn-ea"/>
              </a:rPr>
              <a:t> muscles. </a:t>
            </a:r>
            <a:endParaRPr lang="en-US" sz="2800" b="0" i="0" dirty="0">
              <a:effectLst/>
              <a:latin typeface="Times New Roman" panose="02020603050405020304" pitchFamily="18" charset="0"/>
              <a:cs typeface="Times New Roman" panose="02020603050405020304" pitchFamily="18" charset="0"/>
            </a:endParaRPr>
          </a:p>
          <a:p>
            <a:pPr indent="0" algn="l">
              <a:buFont typeface="Wingdings" panose="05000000000000000000" pitchFamily="2" charset="2"/>
              <a:buNone/>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8878"/>
            <a:ext cx="12046998" cy="6985635"/>
          </a:xfrm>
          <a:prstGeom prst="rect">
            <a:avLst/>
          </a:prstGeom>
          <a:noFill/>
        </p:spPr>
        <p:txBody>
          <a:bodyPr wrap="square">
            <a:spAutoFit/>
          </a:bodyPr>
          <a:lstStyle/>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The </a:t>
            </a:r>
            <a:r>
              <a:rPr lang="en-US" sz="2800" b="0" i="0" u="none" strike="noStrike" dirty="0">
                <a:effectLst/>
                <a:latin typeface="Times New Roman" panose="02020603050405020304" pitchFamily="18" charset="0"/>
                <a:cs typeface="Times New Roman" panose="02020603050405020304" pitchFamily="18" charset="0"/>
                <a:hlinkClick r:id="rId1"/>
              </a:rPr>
              <a:t>superior gluteal nerve</a:t>
            </a:r>
            <a:r>
              <a:rPr lang="en-US" sz="2800" b="0" i="0" dirty="0">
                <a:effectLst/>
                <a:latin typeface="Times New Roman" panose="02020603050405020304" pitchFamily="18" charset="0"/>
                <a:cs typeface="Times New Roman" panose="02020603050405020304" pitchFamily="18" charset="0"/>
              </a:rPr>
              <a:t>, which arises from L4, L5, and S1, and the </a:t>
            </a:r>
            <a:r>
              <a:rPr lang="en-US" sz="2800" b="0" i="0" u="none" strike="noStrike" dirty="0">
                <a:effectLst/>
                <a:latin typeface="Times New Roman" panose="02020603050405020304" pitchFamily="18" charset="0"/>
                <a:cs typeface="Times New Roman" panose="02020603050405020304" pitchFamily="18" charset="0"/>
                <a:hlinkClick r:id="rId1"/>
              </a:rPr>
              <a:t>inferior gluteal nerve</a:t>
            </a:r>
            <a:r>
              <a:rPr lang="en-US" sz="2800" b="0" i="0" dirty="0">
                <a:effectLst/>
                <a:latin typeface="Times New Roman" panose="02020603050405020304" pitchFamily="18" charset="0"/>
                <a:cs typeface="Times New Roman" panose="02020603050405020304" pitchFamily="18" charset="0"/>
              </a:rPr>
              <a:t>, which arises from L5, S1, and S2, provide motor supply to the muscles of the gluteal region. </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The lumbosacral plexus also gives off five nerves that are named by the muscle they innervate.</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 These include the </a:t>
            </a:r>
            <a:r>
              <a:rPr lang="en-US" sz="2800" b="0" i="0" u="none" strike="noStrike" dirty="0">
                <a:effectLst/>
                <a:latin typeface="Times New Roman" panose="02020603050405020304" pitchFamily="18" charset="0"/>
                <a:cs typeface="Times New Roman" panose="02020603050405020304" pitchFamily="18" charset="0"/>
                <a:hlinkClick r:id="rId2"/>
              </a:rPr>
              <a:t>quadratus femoris</a:t>
            </a:r>
            <a:r>
              <a:rPr lang="en-US" sz="2800" b="0" i="0" dirty="0">
                <a:effectLst/>
                <a:latin typeface="Times New Roman" panose="02020603050405020304" pitchFamily="18" charset="0"/>
                <a:cs typeface="Times New Roman" panose="02020603050405020304" pitchFamily="18" charset="0"/>
              </a:rPr>
              <a:t> nerve (L4-S1), the </a:t>
            </a:r>
            <a:r>
              <a:rPr lang="en-US" sz="2800" b="0" i="0" u="none" strike="noStrike" dirty="0">
                <a:effectLst/>
                <a:latin typeface="Times New Roman" panose="02020603050405020304" pitchFamily="18" charset="0"/>
                <a:cs typeface="Times New Roman" panose="02020603050405020304" pitchFamily="18" charset="0"/>
                <a:hlinkClick r:id="rId2"/>
              </a:rPr>
              <a:t>obturator internus</a:t>
            </a:r>
            <a:r>
              <a:rPr lang="en-US" sz="2800" b="0" i="0" dirty="0">
                <a:effectLst/>
                <a:latin typeface="Times New Roman" panose="02020603050405020304" pitchFamily="18" charset="0"/>
                <a:cs typeface="Times New Roman" panose="02020603050405020304" pitchFamily="18" charset="0"/>
              </a:rPr>
              <a:t> nerve (L5-S2), the </a:t>
            </a:r>
            <a:r>
              <a:rPr lang="en-US" sz="2800" b="0" i="0" u="none" strike="noStrike" dirty="0">
                <a:effectLst/>
                <a:latin typeface="Times New Roman" panose="02020603050405020304" pitchFamily="18" charset="0"/>
                <a:cs typeface="Times New Roman" panose="02020603050405020304" pitchFamily="18" charset="0"/>
                <a:hlinkClick r:id="rId2"/>
              </a:rPr>
              <a:t>piriformis</a:t>
            </a:r>
            <a:r>
              <a:rPr lang="en-US" sz="2800" b="0" i="0" dirty="0">
                <a:effectLst/>
                <a:latin typeface="Times New Roman" panose="02020603050405020304" pitchFamily="18" charset="0"/>
                <a:cs typeface="Times New Roman" panose="02020603050405020304" pitchFamily="18" charset="0"/>
              </a:rPr>
              <a:t> nerve (S1-S2), and nerves to the </a:t>
            </a:r>
            <a:r>
              <a:rPr lang="en-US" sz="2800" b="0" i="0" dirty="0" err="1">
                <a:effectLst/>
                <a:latin typeface="Times New Roman" panose="02020603050405020304" pitchFamily="18" charset="0"/>
                <a:cs typeface="Times New Roman" panose="02020603050405020304" pitchFamily="18" charset="0"/>
              </a:rPr>
              <a:t>levator</a:t>
            </a:r>
            <a:r>
              <a:rPr lang="en-US" sz="2800" b="0" i="0" dirty="0">
                <a:effectLst/>
                <a:latin typeface="Times New Roman" panose="02020603050405020304" pitchFamily="18" charset="0"/>
                <a:cs typeface="Times New Roman" panose="02020603050405020304" pitchFamily="18" charset="0"/>
              </a:rPr>
              <a:t> ani and </a:t>
            </a:r>
            <a:r>
              <a:rPr lang="en-US" sz="2800" b="0" i="0" u="none" strike="noStrike" dirty="0">
                <a:effectLst/>
                <a:latin typeface="Times New Roman" panose="02020603050405020304" pitchFamily="18" charset="0"/>
                <a:cs typeface="Times New Roman" panose="02020603050405020304" pitchFamily="18" charset="0"/>
                <a:hlinkClick r:id="rId3"/>
              </a:rPr>
              <a:t>coccygeus</a:t>
            </a:r>
            <a:r>
              <a:rPr lang="en-US" sz="2800" b="0" i="0" dirty="0">
                <a:effectLst/>
                <a:latin typeface="Times New Roman" panose="02020603050405020304" pitchFamily="18" charset="0"/>
                <a:cs typeface="Times New Roman" panose="02020603050405020304" pitchFamily="18" charset="0"/>
              </a:rPr>
              <a:t>, which arise from S3 and S4. </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Finally, the sacral plexus gives off the posterior cutaneous nerve and perforating cutaneous branches, which supply the skin of the buttocks and posteromedial thigh.</a:t>
            </a:r>
            <a:endParaRPr lang="en-US" sz="2800" b="0" i="0" dirty="0">
              <a:effectLst/>
              <a:latin typeface="Times New Roman" panose="02020603050405020304" pitchFamily="18" charset="0"/>
              <a:cs typeface="Times New Roman" panose="02020603050405020304" pitchFamily="18" charset="0"/>
            </a:endParaRPr>
          </a:p>
          <a:p>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557173"/>
            <a:ext cx="12073630" cy="5078313"/>
          </a:xfrm>
          <a:prstGeom prst="rect">
            <a:avLst/>
          </a:prstGeom>
          <a:noFill/>
        </p:spPr>
        <p:txBody>
          <a:bodyPr wrap="square">
            <a:spAutoFit/>
          </a:bodyPr>
          <a:lstStyle/>
          <a:p>
            <a:pPr algn="l"/>
            <a:r>
              <a:rPr lang="en-US" sz="4400" b="1" i="0" dirty="0">
                <a:solidFill>
                  <a:srgbClr val="C00000"/>
                </a:solidFill>
                <a:effectLst/>
                <a:latin typeface="Times New Roman" panose="02020603050405020304" pitchFamily="18" charset="0"/>
                <a:cs typeface="Times New Roman" panose="02020603050405020304" pitchFamily="18" charset="0"/>
              </a:rPr>
              <a:t>lumbosacral plexus</a:t>
            </a:r>
            <a:endParaRPr lang="en-US" sz="4400" b="1" i="0" dirty="0">
              <a:solidFill>
                <a:srgbClr val="C00000"/>
              </a:solidFill>
              <a:effectLst/>
              <a:latin typeface="Times New Roman" panose="02020603050405020304" pitchFamily="18" charset="0"/>
              <a:cs typeface="Times New Roman" panose="02020603050405020304" pitchFamily="18" charset="0"/>
            </a:endParaRPr>
          </a:p>
          <a:p>
            <a:pPr algn="l"/>
            <a:endParaRPr lang="en-US" sz="2800" b="1"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The </a:t>
            </a:r>
            <a:r>
              <a:rPr lang="en-US" sz="2800" b="0" i="0" u="none" strike="noStrike" dirty="0">
                <a:effectLst/>
                <a:latin typeface="Times New Roman" panose="02020603050405020304" pitchFamily="18" charset="0"/>
                <a:cs typeface="Times New Roman" panose="02020603050405020304" pitchFamily="18" charset="0"/>
                <a:hlinkClick r:id="rId1"/>
              </a:rPr>
              <a:t>lumbosacral</a:t>
            </a:r>
            <a:r>
              <a:rPr lang="en-US" sz="2800" b="0" i="0" dirty="0">
                <a:effectLst/>
                <a:latin typeface="Times New Roman" panose="02020603050405020304" pitchFamily="18" charset="0"/>
                <a:cs typeface="Times New Roman" panose="02020603050405020304" pitchFamily="18" charset="0"/>
              </a:rPr>
              <a:t> plexus is formed by the anterior rami of </a:t>
            </a:r>
            <a:r>
              <a:rPr lang="en-US" sz="2800" b="0" i="0" u="none" strike="noStrike" dirty="0">
                <a:effectLst/>
                <a:latin typeface="Times New Roman" panose="02020603050405020304" pitchFamily="18" charset="0"/>
                <a:cs typeface="Times New Roman" panose="02020603050405020304" pitchFamily="18" charset="0"/>
                <a:hlinkClick r:id="rId2"/>
              </a:rPr>
              <a:t>spinal nerves</a:t>
            </a:r>
            <a:r>
              <a:rPr lang="en-US" sz="2800" b="0" i="0" dirty="0">
                <a:effectLst/>
                <a:latin typeface="Times New Roman" panose="02020603050405020304" pitchFamily="18" charset="0"/>
                <a:cs typeface="Times New Roman" panose="02020603050405020304" pitchFamily="18" charset="0"/>
              </a:rPr>
              <a:t> L4, L5, and S1 to S4, which are branches of the </a:t>
            </a:r>
            <a:r>
              <a:rPr lang="en-US" sz="2800" b="0" i="0" u="none" strike="noStrike" dirty="0">
                <a:effectLst/>
                <a:latin typeface="Times New Roman" panose="02020603050405020304" pitchFamily="18" charset="0"/>
                <a:cs typeface="Times New Roman" panose="02020603050405020304" pitchFamily="18" charset="0"/>
                <a:hlinkClick r:id="rId3"/>
              </a:rPr>
              <a:t>lumbar plexus</a:t>
            </a:r>
            <a:r>
              <a:rPr lang="en-US" sz="2800" b="0" i="0" dirty="0">
                <a:effectLst/>
                <a:latin typeface="Times New Roman" panose="02020603050405020304" pitchFamily="18" charset="0"/>
                <a:cs typeface="Times New Roman" panose="02020603050405020304" pitchFamily="18" charset="0"/>
              </a:rPr>
              <a:t> and </a:t>
            </a:r>
            <a:r>
              <a:rPr lang="en-US" sz="2800" b="0" i="0" u="none" strike="noStrike" dirty="0">
                <a:effectLst/>
                <a:latin typeface="Times New Roman" panose="02020603050405020304" pitchFamily="18" charset="0"/>
                <a:cs typeface="Times New Roman" panose="02020603050405020304" pitchFamily="18" charset="0"/>
                <a:hlinkClick r:id="rId4"/>
              </a:rPr>
              <a:t>sacral plexus</a:t>
            </a:r>
            <a:r>
              <a:rPr lang="en-US" sz="2800" b="0" i="0" dirty="0">
                <a:effectLst/>
                <a:latin typeface="Times New Roman" panose="02020603050405020304" pitchFamily="18" charset="0"/>
                <a:cs typeface="Times New Roman" panose="02020603050405020304" pitchFamily="18" charset="0"/>
              </a:rPr>
              <a:t>. </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Upon their exit from the </a:t>
            </a:r>
            <a:r>
              <a:rPr lang="en-US" sz="2800" b="0" i="0" u="none" strike="noStrike" dirty="0">
                <a:effectLst/>
                <a:latin typeface="Times New Roman" panose="02020603050405020304" pitchFamily="18" charset="0"/>
                <a:cs typeface="Times New Roman" panose="02020603050405020304" pitchFamily="18" charset="0"/>
                <a:hlinkClick r:id="rId5"/>
              </a:rPr>
              <a:t>spinal cord</a:t>
            </a:r>
            <a:r>
              <a:rPr lang="en-US" sz="2800" b="0" i="0" dirty="0">
                <a:effectLst/>
                <a:latin typeface="Times New Roman" panose="02020603050405020304" pitchFamily="18" charset="0"/>
                <a:cs typeface="Times New Roman" panose="02020603050405020304" pitchFamily="18" charset="0"/>
              </a:rPr>
              <a:t>, these nerves divide into anterior and posterior branches which become the </a:t>
            </a:r>
            <a:r>
              <a:rPr lang="en-US" sz="2800" b="0" i="0" u="none" strike="noStrike" dirty="0">
                <a:effectLst/>
                <a:latin typeface="Times New Roman" panose="02020603050405020304" pitchFamily="18" charset="0"/>
                <a:cs typeface="Times New Roman" panose="02020603050405020304" pitchFamily="18" charset="0"/>
                <a:hlinkClick r:id="rId2"/>
              </a:rPr>
              <a:t>peripheral nerves</a:t>
            </a:r>
            <a:r>
              <a:rPr lang="en-US" sz="2800" b="0" i="0" dirty="0">
                <a:effectLst/>
                <a:latin typeface="Times New Roman" panose="02020603050405020304" pitchFamily="18" charset="0"/>
                <a:cs typeface="Times New Roman" panose="02020603050405020304" pitchFamily="18" charset="0"/>
              </a:rPr>
              <a:t> that serve to innervate various structures of the </a:t>
            </a:r>
            <a:r>
              <a:rPr lang="en-US" sz="2800" b="0" i="0" u="none" strike="noStrike" dirty="0">
                <a:effectLst/>
                <a:latin typeface="Times New Roman" panose="02020603050405020304" pitchFamily="18" charset="0"/>
                <a:cs typeface="Times New Roman" panose="02020603050405020304" pitchFamily="18" charset="0"/>
                <a:hlinkClick r:id="rId6"/>
              </a:rPr>
              <a:t>pelvis</a:t>
            </a:r>
            <a:r>
              <a:rPr lang="en-US" sz="2800" b="0" i="0" dirty="0">
                <a:effectLst/>
                <a:latin typeface="Times New Roman" panose="02020603050405020304" pitchFamily="18" charset="0"/>
                <a:cs typeface="Times New Roman" panose="02020603050405020304" pitchFamily="18" charset="0"/>
              </a:rPr>
              <a:t> and lower limbs. </a:t>
            </a: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endParaRPr lang="en-US" sz="2800" b="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The largest nerve in the human body, the </a:t>
            </a:r>
            <a:r>
              <a:rPr lang="en-US" sz="2800" b="0" i="0" u="none" strike="noStrike" dirty="0">
                <a:effectLst/>
                <a:latin typeface="Times New Roman" panose="02020603050405020304" pitchFamily="18" charset="0"/>
                <a:cs typeface="Times New Roman" panose="02020603050405020304" pitchFamily="18" charset="0"/>
                <a:hlinkClick r:id="rId4"/>
              </a:rPr>
              <a:t>sciatic nerve</a:t>
            </a:r>
            <a:r>
              <a:rPr lang="en-US" sz="2800" b="0" i="0" dirty="0">
                <a:effectLst/>
                <a:latin typeface="Times New Roman" panose="02020603050405020304" pitchFamily="18" charset="0"/>
                <a:cs typeface="Times New Roman" panose="02020603050405020304" pitchFamily="18" charset="0"/>
              </a:rPr>
              <a:t>, exits from the lumbosacral plexus to innervate most of the </a:t>
            </a:r>
            <a:r>
              <a:rPr lang="en-US" sz="2800" b="0" i="0" u="none" strike="noStrike" dirty="0">
                <a:effectLst/>
                <a:latin typeface="Times New Roman" panose="02020603050405020304" pitchFamily="18" charset="0"/>
                <a:cs typeface="Times New Roman" panose="02020603050405020304" pitchFamily="18" charset="0"/>
                <a:hlinkClick r:id="rId7"/>
              </a:rPr>
              <a:t>lower limb</a:t>
            </a:r>
            <a:r>
              <a:rPr lang="en-US" sz="2800" b="0" i="0" dirty="0">
                <a:effectLst/>
                <a:latin typeface="Times New Roman" panose="02020603050405020304" pitchFamily="18" charset="0"/>
                <a:cs typeface="Times New Roman" panose="02020603050405020304" pitchFamily="18" charset="0"/>
              </a:rPr>
              <a:t> muscles. </a:t>
            </a:r>
            <a:endParaRPr lang="en-US" sz="2800"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073631" cy="6555641"/>
          </a:xfrm>
          <a:prstGeom prst="rect">
            <a:avLst/>
          </a:prstGeom>
          <a:noFill/>
        </p:spPr>
        <p:txBody>
          <a:bodyPr wrap="square">
            <a:spAutoFit/>
          </a:bodyPr>
          <a:lstStyle/>
          <a:p>
            <a:pPr marL="457200" indent="-457200">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Next, the posterior branches of L2 and L3 give rise to the lateral femoral cutaneous nerve, supplying sensation to the skin on the lateral side of the thigh.</a:t>
            </a:r>
            <a:endParaRPr lang="en-US" sz="2800" b="0" i="0" dirty="0">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Inferior to this nerve, the posterior branches of L2 to L4 become the femoral nerve, which gives off motor branches to all the muscles of the </a:t>
            </a:r>
            <a:r>
              <a:rPr lang="en-US" sz="2800" b="0" i="0" u="none" strike="noStrike" dirty="0">
                <a:effectLst/>
                <a:latin typeface="Times New Roman" panose="02020603050405020304" pitchFamily="18" charset="0"/>
                <a:cs typeface="Times New Roman" panose="02020603050405020304" pitchFamily="18" charset="0"/>
                <a:hlinkClick r:id="rId1"/>
              </a:rPr>
              <a:t>anterior compartment</a:t>
            </a:r>
            <a:r>
              <a:rPr lang="en-US" sz="2800" b="0" i="0" dirty="0">
                <a:effectLst/>
                <a:latin typeface="Times New Roman" panose="02020603050405020304" pitchFamily="18" charset="0"/>
                <a:cs typeface="Times New Roman" panose="02020603050405020304" pitchFamily="18" charset="0"/>
              </a:rPr>
              <a:t> of the thigh, as well as cutaneous branches that supply most of the skin of the anterior thigh. </a:t>
            </a:r>
            <a:endParaRPr lang="en-US" sz="2800" b="0" i="0" dirty="0">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On the other hand, the anterior branches of L2 to L4 become the obturator nerve, which innervates the </a:t>
            </a:r>
            <a:r>
              <a:rPr lang="en-US" sz="2800" b="0" i="0" u="none" strike="noStrike" dirty="0">
                <a:effectLst/>
                <a:latin typeface="Times New Roman" panose="02020603050405020304" pitchFamily="18" charset="0"/>
                <a:cs typeface="Times New Roman" panose="02020603050405020304" pitchFamily="18" charset="0"/>
                <a:hlinkClick r:id="rId2"/>
              </a:rPr>
              <a:t>obturator externus</a:t>
            </a:r>
            <a:r>
              <a:rPr lang="en-US" sz="2800" b="0" i="0" dirty="0">
                <a:effectLst/>
                <a:latin typeface="Times New Roman" panose="02020603050405020304" pitchFamily="18" charset="0"/>
                <a:cs typeface="Times New Roman" panose="02020603050405020304" pitchFamily="18" charset="0"/>
              </a:rPr>
              <a:t> and all the muscles of the medial compartment of the thigh except part of the </a:t>
            </a:r>
            <a:r>
              <a:rPr lang="en-US" sz="2800" b="0" i="0" u="none" strike="noStrike" dirty="0">
                <a:effectLst/>
                <a:latin typeface="Times New Roman" panose="02020603050405020304" pitchFamily="18" charset="0"/>
                <a:cs typeface="Times New Roman" panose="02020603050405020304" pitchFamily="18" charset="0"/>
                <a:hlinkClick r:id="rId2"/>
              </a:rPr>
              <a:t>adductor magnus</a:t>
            </a:r>
            <a:r>
              <a:rPr lang="en-US" sz="2800" b="0" i="0" dirty="0">
                <a:effectLst/>
                <a:latin typeface="Times New Roman" panose="02020603050405020304" pitchFamily="18" charset="0"/>
                <a:cs typeface="Times New Roman" panose="02020603050405020304" pitchFamily="18" charset="0"/>
              </a:rPr>
              <a:t> and the </a:t>
            </a:r>
            <a:r>
              <a:rPr lang="en-US" sz="2800" b="0" i="0" u="none" strike="noStrike" dirty="0">
                <a:effectLst/>
                <a:latin typeface="Times New Roman" panose="02020603050405020304" pitchFamily="18" charset="0"/>
                <a:cs typeface="Times New Roman" panose="02020603050405020304" pitchFamily="18" charset="0"/>
                <a:hlinkClick r:id="rId2"/>
              </a:rPr>
              <a:t>pectineus muscle</a:t>
            </a:r>
            <a:r>
              <a:rPr lang="en-US" sz="2800" b="0" i="0" dirty="0">
                <a:effectLst/>
                <a:latin typeface="Times New Roman" panose="02020603050405020304" pitchFamily="18" charset="0"/>
                <a:cs typeface="Times New Roman" panose="02020603050405020304" pitchFamily="18" charset="0"/>
              </a:rPr>
              <a:t>. </a:t>
            </a:r>
            <a:endParaRPr lang="en-US" sz="2800" b="0" i="0" dirty="0">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The obturator nerve also supplies sensation to the skin on the medial side of the upper thigh.</a:t>
            </a:r>
            <a:endParaRPr lang="en-US" sz="2800" b="0" i="0" dirty="0">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 Finally, the lumbosacral trunk arises from the descending part of L4, which travels through the </a:t>
            </a:r>
            <a:r>
              <a:rPr lang="en-US" sz="2800" b="0" i="0" u="none" strike="noStrike" dirty="0">
                <a:effectLst/>
                <a:latin typeface="Times New Roman" panose="02020603050405020304" pitchFamily="18" charset="0"/>
                <a:cs typeface="Times New Roman" panose="02020603050405020304" pitchFamily="18" charset="0"/>
                <a:hlinkClick r:id="rId3"/>
              </a:rPr>
              <a:t>anterior surface</a:t>
            </a:r>
            <a:r>
              <a:rPr lang="en-US" sz="2800" b="0" i="0" dirty="0">
                <a:effectLst/>
                <a:latin typeface="Times New Roman" panose="02020603050405020304" pitchFamily="18" charset="0"/>
                <a:cs typeface="Times New Roman" panose="02020603050405020304" pitchFamily="18" charset="0"/>
              </a:rPr>
              <a:t> of the </a:t>
            </a:r>
            <a:r>
              <a:rPr lang="en-US" sz="2800" b="0" i="0" u="none" strike="noStrike" dirty="0">
                <a:effectLst/>
                <a:latin typeface="Times New Roman" panose="02020603050405020304" pitchFamily="18" charset="0"/>
                <a:cs typeface="Times New Roman" panose="02020603050405020304" pitchFamily="18" charset="0"/>
                <a:hlinkClick r:id="rId4"/>
              </a:rPr>
              <a:t>sacrum</a:t>
            </a:r>
            <a:r>
              <a:rPr lang="en-US" sz="2800" b="0" i="0" dirty="0">
                <a:effectLst/>
                <a:latin typeface="Times New Roman" panose="02020603050405020304" pitchFamily="18" charset="0"/>
                <a:cs typeface="Times New Roman" panose="02020603050405020304" pitchFamily="18" charset="0"/>
              </a:rPr>
              <a:t>, uniting with L5 and forming the lumbosacral plexus.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20979" cy="5692775"/>
          </a:xfrm>
          <a:prstGeom prst="rect">
            <a:avLst/>
          </a:prstGeom>
          <a:noFill/>
        </p:spPr>
        <p:txBody>
          <a:bodyPr wrap="square">
            <a:spAutoFit/>
          </a:bodyPr>
          <a:lstStyle/>
          <a:p>
            <a:r>
              <a:rPr lang="en-US" sz="2800" b="1" dirty="0">
                <a:solidFill>
                  <a:srgbClr val="C00000"/>
                </a:solidFill>
                <a:latin typeface="Times New Roman" panose="02020603050405020304" pitchFamily="18" charset="0"/>
                <a:cs typeface="Times New Roman" panose="02020603050405020304" pitchFamily="18" charset="0"/>
              </a:rPr>
              <a:t>Lumbosacral Plexus Sciatic Nerve (The largest nerve of the body)</a:t>
            </a:r>
            <a:endParaRPr lang="en-US" sz="2800" b="1" dirty="0">
              <a:solidFill>
                <a:srgbClr val="C00000"/>
              </a:solidFill>
              <a:latin typeface="Times New Roman" panose="02020603050405020304" pitchFamily="18" charset="0"/>
              <a:cs typeface="Times New Roman" panose="02020603050405020304" pitchFamily="18" charset="0"/>
            </a:endParaRPr>
          </a:p>
          <a:p>
            <a:endParaRPr lang="en-US" sz="2800" b="1" dirty="0">
              <a:solidFill>
                <a:srgbClr val="C00000"/>
              </a:solidFill>
              <a:latin typeface="Times New Roman" panose="02020603050405020304" pitchFamily="18" charset="0"/>
              <a:cs typeface="Times New Roman" panose="02020603050405020304" pitchFamily="18" charset="0"/>
            </a:endParaRPr>
          </a:p>
          <a:p>
            <a:r>
              <a:rPr lang="en-US" sz="2800" dirty="0">
                <a:solidFill>
                  <a:srgbClr val="C00000"/>
                </a:solidFill>
                <a:latin typeface="Times New Roman" panose="02020603050405020304" pitchFamily="18" charset="0"/>
                <a:cs typeface="Times New Roman" panose="02020603050405020304" pitchFamily="18" charset="0"/>
              </a:rPr>
              <a:t>Origin</a:t>
            </a:r>
            <a:r>
              <a:rPr lang="en-US" sz="2800" dirty="0">
                <a:latin typeface="Times New Roman" panose="02020603050405020304" pitchFamily="18" charset="0"/>
                <a:cs typeface="Times New Roman" panose="02020603050405020304" pitchFamily="18" charset="0"/>
              </a:rPr>
              <a:t>: • from sacral plexus (L4, L5, S1, S2, &amp; S3) • It is one of the terminal branch of sacral plexus. </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solidFill>
                  <a:srgbClr val="C00000"/>
                </a:solidFill>
                <a:latin typeface="Times New Roman" panose="02020603050405020304" pitchFamily="18" charset="0"/>
                <a:cs typeface="Times New Roman" panose="02020603050405020304" pitchFamily="18" charset="0"/>
              </a:rPr>
              <a:t>Course</a:t>
            </a:r>
            <a:r>
              <a:rPr lang="en-US" sz="2800" dirty="0">
                <a:latin typeface="Times New Roman" panose="02020603050405020304" pitchFamily="18" charset="0"/>
                <a:cs typeface="Times New Roman" panose="02020603050405020304" pitchFamily="18" charset="0"/>
              </a:rPr>
              <a:t>: •Leaves the pelvis through greater sciatic foramen, below piriformis &amp; passes in the gluteal region (between </a:t>
            </a:r>
            <a:r>
              <a:rPr lang="en-US" sz="2800" dirty="0" err="1">
                <a:latin typeface="Times New Roman" panose="02020603050405020304" pitchFamily="18" charset="0"/>
                <a:cs typeface="Times New Roman" panose="02020603050405020304" pitchFamily="18" charset="0"/>
              </a:rPr>
              <a:t>ischialtuberosity</a:t>
            </a:r>
            <a:r>
              <a:rPr lang="en-US" sz="2800" dirty="0">
                <a:latin typeface="Times New Roman" panose="02020603050405020304" pitchFamily="18" charset="0"/>
                <a:cs typeface="Times New Roman" panose="02020603050405020304" pitchFamily="18" charset="0"/>
              </a:rPr>
              <a:t>&amp; </a:t>
            </a:r>
            <a:r>
              <a:rPr lang="en-US" sz="2800" dirty="0" err="1">
                <a:latin typeface="Times New Roman" panose="02020603050405020304" pitchFamily="18" charset="0"/>
                <a:cs typeface="Times New Roman" panose="02020603050405020304" pitchFamily="18" charset="0"/>
              </a:rPr>
              <a:t>greatertrochanter</a:t>
            </a:r>
            <a:r>
              <a:rPr lang="en-US" sz="2800" dirty="0">
                <a:latin typeface="Times New Roman" panose="02020603050405020304" pitchFamily="18" charset="0"/>
                <a:cs typeface="Times New Roman" panose="02020603050405020304" pitchFamily="18" charset="0"/>
              </a:rPr>
              <a:t>) then to posterior compartment of thigh </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156210"/>
            <a:ext cx="12192635" cy="6602730"/>
          </a:xfrm>
          <a:prstGeom prst="rect">
            <a:avLst/>
          </a:prstGeom>
          <a:noFill/>
        </p:spPr>
        <p:txBody>
          <a:bodyPr wrap="square" rtlCol="0" anchor="t">
            <a:noAutofit/>
          </a:bodyPr>
          <a:p>
            <a:r>
              <a:rPr lang="en-US" sz="2800" b="1" dirty="0">
                <a:solidFill>
                  <a:srgbClr val="C00000"/>
                </a:solidFill>
                <a:latin typeface="Times New Roman" panose="02020603050405020304" pitchFamily="18" charset="0"/>
                <a:cs typeface="Times New Roman" panose="02020603050405020304" pitchFamily="18" charset="0"/>
                <a:sym typeface="+mn-ea"/>
              </a:rPr>
              <a:t>Divides</a:t>
            </a:r>
            <a:r>
              <a:rPr lang="en-US" sz="2800" dirty="0">
                <a:latin typeface="Times New Roman" panose="02020603050405020304" pitchFamily="18" charset="0"/>
                <a:cs typeface="Times New Roman" panose="02020603050405020304" pitchFamily="18" charset="0"/>
                <a:sym typeface="+mn-ea"/>
              </a:rPr>
              <a:t> </a:t>
            </a:r>
            <a:r>
              <a:rPr lang="en-GB" altLang="en-US" sz="2800" dirty="0">
                <a:latin typeface="Times New Roman" panose="02020603050405020304" pitchFamily="18" charset="0"/>
                <a:cs typeface="Times New Roman" panose="02020603050405020304" pitchFamily="18" charset="0"/>
                <a:sym typeface="+mn-ea"/>
              </a:rPr>
              <a:t>: </a:t>
            </a:r>
            <a:r>
              <a:rPr lang="en-US" sz="2800" dirty="0">
                <a:latin typeface="Times New Roman" panose="02020603050405020304" pitchFamily="18" charset="0"/>
                <a:cs typeface="Times New Roman" panose="02020603050405020304" pitchFamily="18" charset="0"/>
                <a:sym typeface="+mn-ea"/>
              </a:rPr>
              <a:t>into tibial</a:t>
            </a:r>
            <a:r>
              <a:rPr lang="en-GB" altLang="en-US" sz="2800" dirty="0">
                <a:latin typeface="Times New Roman" panose="02020603050405020304" pitchFamily="18" charset="0"/>
                <a:cs typeface="Times New Roman" panose="02020603050405020304" pitchFamily="18" charset="0"/>
                <a:sym typeface="+mn-ea"/>
              </a:rPr>
              <a:t> </a:t>
            </a:r>
            <a:r>
              <a:rPr lang="en-US" sz="2800" dirty="0">
                <a:latin typeface="Times New Roman" panose="02020603050405020304" pitchFamily="18" charset="0"/>
                <a:cs typeface="Times New Roman" panose="02020603050405020304" pitchFamily="18" charset="0"/>
                <a:sym typeface="+mn-ea"/>
              </a:rPr>
              <a:t>&amp; </a:t>
            </a:r>
            <a:r>
              <a:rPr lang="en-US" sz="2800" dirty="0" err="1">
                <a:latin typeface="Times New Roman" panose="02020603050405020304" pitchFamily="18" charset="0"/>
                <a:cs typeface="Times New Roman" panose="02020603050405020304" pitchFamily="18" charset="0"/>
                <a:sym typeface="+mn-ea"/>
              </a:rPr>
              <a:t>common</a:t>
            </a:r>
            <a:r>
              <a:rPr lang="en-GB" altLang="en-US" sz="2800" dirty="0" err="1">
                <a:latin typeface="Times New Roman" panose="02020603050405020304" pitchFamily="18" charset="0"/>
                <a:cs typeface="Times New Roman" panose="02020603050405020304" pitchFamily="18" charset="0"/>
                <a:sym typeface="+mn-ea"/>
              </a:rPr>
              <a:t> </a:t>
            </a:r>
            <a:r>
              <a:rPr lang="en-US" sz="2800" dirty="0" err="1">
                <a:latin typeface="Times New Roman" panose="02020603050405020304" pitchFamily="18" charset="0"/>
                <a:cs typeface="Times New Roman" panose="02020603050405020304" pitchFamily="18" charset="0"/>
                <a:sym typeface="+mn-ea"/>
              </a:rPr>
              <a:t>peroneal</a:t>
            </a:r>
            <a:r>
              <a:rPr lang="en-US" sz="2800" dirty="0">
                <a:latin typeface="Times New Roman" panose="02020603050405020304" pitchFamily="18" charset="0"/>
                <a:cs typeface="Times New Roman" panose="02020603050405020304" pitchFamily="18" charset="0"/>
                <a:sym typeface="+mn-ea"/>
              </a:rPr>
              <a:t>(fibular) nerves</a:t>
            </a:r>
            <a:endParaRPr lang="en-US" sz="2800" dirty="0">
              <a:latin typeface="Times New Roman" panose="02020603050405020304" pitchFamily="18" charset="0"/>
              <a:cs typeface="Times New Roman" panose="02020603050405020304" pitchFamily="18" charset="0"/>
              <a:sym typeface="+mn-ea"/>
            </a:endParaRPr>
          </a:p>
          <a:p>
            <a:r>
              <a:rPr lang="en-US" sz="2800" dirty="0">
                <a:latin typeface="Times New Roman" panose="02020603050405020304" pitchFamily="18" charset="0"/>
                <a:cs typeface="Times New Roman" panose="02020603050405020304" pitchFamily="18" charset="0"/>
                <a:sym typeface="+mn-ea"/>
              </a:rPr>
              <a:t> </a:t>
            </a:r>
            <a:endParaRPr lang="en-US" sz="2800" dirty="0">
              <a:latin typeface="Times New Roman" panose="02020603050405020304" pitchFamily="18" charset="0"/>
              <a:cs typeface="Times New Roman" panose="02020603050405020304" pitchFamily="18" charset="0"/>
              <a:sym typeface="+mn-ea"/>
            </a:endParaRPr>
          </a:p>
          <a:p>
            <a:r>
              <a:rPr lang="en-US" sz="2800" b="1" dirty="0" err="1">
                <a:solidFill>
                  <a:srgbClr val="C00000"/>
                </a:solidFill>
                <a:latin typeface="Times New Roman" panose="02020603050405020304" pitchFamily="18" charset="0"/>
                <a:cs typeface="Times New Roman" panose="02020603050405020304" pitchFamily="18" charset="0"/>
                <a:sym typeface="+mn-ea"/>
              </a:rPr>
              <a:t>Injury</a:t>
            </a:r>
            <a:r>
              <a:rPr lang="en-US" sz="2800" dirty="0">
                <a:latin typeface="Times New Roman" panose="02020603050405020304" pitchFamily="18" charset="0"/>
                <a:cs typeface="Times New Roman" panose="02020603050405020304" pitchFamily="18" charset="0"/>
                <a:sym typeface="+mn-ea"/>
              </a:rPr>
              <a:t>: • Injury will affect the flexion of knee, extension o f hip, all movements of leg &amp; foot, as well as loss of sensation of skin of leg and foot (except areas supplied by saphenous branch of femoral nerve.  Ischial tuberosity Lumbosacral Plexus </a:t>
            </a:r>
            <a:r>
              <a:rPr lang="en-GB" altLang="en-US" sz="2800" dirty="0">
                <a:latin typeface="Times New Roman" panose="02020603050405020304" pitchFamily="18" charset="0"/>
                <a:cs typeface="Times New Roman" panose="02020603050405020304" pitchFamily="18" charset="0"/>
                <a:sym typeface="+mn-ea"/>
              </a:rPr>
              <a:t>			</a:t>
            </a:r>
            <a:r>
              <a:rPr lang="en-US" sz="2800" b="1" dirty="0">
                <a:solidFill>
                  <a:srgbClr val="C00000"/>
                </a:solidFill>
                <a:latin typeface="Times New Roman" panose="02020603050405020304" pitchFamily="18" charset="0"/>
                <a:cs typeface="Times New Roman" panose="02020603050405020304" pitchFamily="18" charset="0"/>
                <a:sym typeface="+mn-ea"/>
              </a:rPr>
              <a:t>Sciatic Nerve </a:t>
            </a:r>
            <a:r>
              <a:rPr lang="en-US" sz="2800" dirty="0">
                <a:latin typeface="Times New Roman" panose="02020603050405020304" pitchFamily="18" charset="0"/>
                <a:cs typeface="Times New Roman" panose="02020603050405020304" pitchFamily="18" charset="0"/>
                <a:sym typeface="+mn-ea"/>
              </a:rPr>
              <a:t>(The largest nerve of the body)</a:t>
            </a:r>
            <a:endParaRPr lang="en-US" sz="2800" dirty="0">
              <a:latin typeface="Times New Roman" panose="02020603050405020304" pitchFamily="18" charset="0"/>
              <a:cs typeface="Times New Roman" panose="02020603050405020304" pitchFamily="18" charset="0"/>
              <a:sym typeface="+mn-ea"/>
            </a:endParaRPr>
          </a:p>
          <a:p>
            <a:r>
              <a:rPr lang="en-US" sz="2800" b="1" dirty="0">
                <a:solidFill>
                  <a:srgbClr val="C00000"/>
                </a:solidFill>
                <a:latin typeface="Times New Roman" panose="02020603050405020304" pitchFamily="18" charset="0"/>
                <a:cs typeface="Times New Roman" panose="02020603050405020304" pitchFamily="18" charset="0"/>
                <a:sym typeface="+mn-ea"/>
              </a:rPr>
              <a:t>Course</a:t>
            </a:r>
            <a:r>
              <a:rPr lang="en-US" sz="2800" dirty="0">
                <a:latin typeface="Times New Roman" panose="02020603050405020304" pitchFamily="18" charset="0"/>
                <a:cs typeface="Times New Roman" panose="02020603050405020304" pitchFamily="18" charset="0"/>
                <a:sym typeface="+mn-ea"/>
              </a:rPr>
              <a:t>: •Leaves </a:t>
            </a:r>
            <a:r>
              <a:rPr lang="en-US" sz="2800" dirty="0" err="1">
                <a:latin typeface="Times New Roman" panose="02020603050405020304" pitchFamily="18" charset="0"/>
                <a:cs typeface="Times New Roman" panose="02020603050405020304" pitchFamily="18" charset="0"/>
                <a:sym typeface="+mn-ea"/>
              </a:rPr>
              <a:t>poplitealfossa</a:t>
            </a:r>
            <a:r>
              <a:rPr lang="en-US" sz="2800" dirty="0">
                <a:latin typeface="Times New Roman" panose="02020603050405020304" pitchFamily="18" charset="0"/>
                <a:cs typeface="Times New Roman" panose="02020603050405020304" pitchFamily="18" charset="0"/>
                <a:sym typeface="+mn-ea"/>
              </a:rPr>
              <a:t> &amp; turns around the lateral aspect of neck of fibula. </a:t>
            </a:r>
            <a:endParaRPr lang="en-US" sz="2800" dirty="0">
              <a:latin typeface="Times New Roman" panose="02020603050405020304" pitchFamily="18" charset="0"/>
              <a:cs typeface="Times New Roman" panose="02020603050405020304" pitchFamily="18" charset="0"/>
              <a:sym typeface="+mn-ea"/>
            </a:endParaRPr>
          </a:p>
          <a:p>
            <a:r>
              <a:rPr lang="en-US" sz="2800" dirty="0">
                <a:latin typeface="Times New Roman" panose="02020603050405020304" pitchFamily="18" charset="0"/>
                <a:cs typeface="Times New Roman" panose="02020603050405020304" pitchFamily="18" charset="0"/>
                <a:sym typeface="+mn-ea"/>
              </a:rPr>
              <a:t>Then divides into: 1.</a:t>
            </a:r>
            <a:r>
              <a:rPr lang="en-US" sz="2800" b="1" dirty="0">
                <a:latin typeface="Times New Roman" panose="02020603050405020304" pitchFamily="18" charset="0"/>
                <a:cs typeface="Times New Roman" panose="02020603050405020304" pitchFamily="18" charset="0"/>
                <a:sym typeface="+mn-ea"/>
              </a:rPr>
              <a:t>Superficial peroneal</a:t>
            </a:r>
            <a:r>
              <a:rPr lang="en-US" sz="2800" dirty="0">
                <a:latin typeface="Times New Roman" panose="02020603050405020304" pitchFamily="18" charset="0"/>
                <a:cs typeface="Times New Roman" panose="02020603050405020304" pitchFamily="18" charset="0"/>
                <a:sym typeface="+mn-ea"/>
              </a:rPr>
              <a:t>: descends into lateral compartment of leg. 2.Deep peroneal: descends into anterior compartment of leg. </a:t>
            </a:r>
            <a:endParaRPr lang="en-US" sz="2800" dirty="0">
              <a:latin typeface="Times New Roman" panose="02020603050405020304" pitchFamily="18" charset="0"/>
              <a:cs typeface="Times New Roman" panose="02020603050405020304" pitchFamily="18" charset="0"/>
              <a:sym typeface="+mn-ea"/>
            </a:endParaRPr>
          </a:p>
          <a:p>
            <a:pPr marL="1371600" lvl="3" indent="457200"/>
            <a:r>
              <a:rPr lang="en-US" sz="2800" b="1" dirty="0" err="1">
                <a:solidFill>
                  <a:srgbClr val="C00000"/>
                </a:solidFill>
                <a:latin typeface="Times New Roman" panose="02020603050405020304" pitchFamily="18" charset="0"/>
                <a:cs typeface="Times New Roman" panose="02020603050405020304" pitchFamily="18" charset="0"/>
                <a:sym typeface="+mn-ea"/>
              </a:rPr>
              <a:t>TibialNerve</a:t>
            </a:r>
            <a:r>
              <a:rPr lang="en-US" sz="2800" b="1" dirty="0">
                <a:solidFill>
                  <a:srgbClr val="C00000"/>
                </a:solidFill>
                <a:latin typeface="Times New Roman" panose="02020603050405020304" pitchFamily="18" charset="0"/>
                <a:cs typeface="Times New Roman" panose="02020603050405020304" pitchFamily="18" charset="0"/>
                <a:sym typeface="+mn-ea"/>
              </a:rPr>
              <a:t> Common Peroneal Nerve </a:t>
            </a:r>
            <a:endParaRPr lang="en-US" sz="2800" dirty="0">
              <a:latin typeface="Times New Roman" panose="02020603050405020304" pitchFamily="18" charset="0"/>
              <a:cs typeface="Times New Roman" panose="02020603050405020304" pitchFamily="18" charset="0"/>
              <a:sym typeface="+mn-ea"/>
            </a:endParaRPr>
          </a:p>
          <a:p>
            <a:r>
              <a:rPr lang="en-US" sz="2800" b="1" dirty="0" err="1">
                <a:solidFill>
                  <a:srgbClr val="C00000"/>
                </a:solidFill>
                <a:latin typeface="Times New Roman" panose="02020603050405020304" pitchFamily="18" charset="0"/>
                <a:cs typeface="Times New Roman" panose="02020603050405020304" pitchFamily="18" charset="0"/>
                <a:sym typeface="+mn-ea"/>
              </a:rPr>
              <a:t>Course</a:t>
            </a:r>
            <a:r>
              <a:rPr lang="en-US" sz="2800" dirty="0">
                <a:latin typeface="Times New Roman" panose="02020603050405020304" pitchFamily="18" charset="0"/>
                <a:cs typeface="Times New Roman" panose="02020603050405020304" pitchFamily="18" charset="0"/>
                <a:sym typeface="+mn-ea"/>
              </a:rPr>
              <a:t>: </a:t>
            </a:r>
            <a:endParaRPr lang="en-US" sz="2800" dirty="0">
              <a:latin typeface="Times New Roman" panose="02020603050405020304" pitchFamily="18" charset="0"/>
              <a:cs typeface="Times New Roman" panose="02020603050405020304" pitchFamily="18" charset="0"/>
              <a:sym typeface="+mn-ea"/>
            </a:endParaRPr>
          </a:p>
          <a:p>
            <a:r>
              <a:rPr lang="en-US" sz="2800" dirty="0">
                <a:latin typeface="Times New Roman" panose="02020603050405020304" pitchFamily="18" charset="0"/>
                <a:cs typeface="Times New Roman" panose="02020603050405020304" pitchFamily="18" charset="0"/>
                <a:sym typeface="+mn-ea"/>
              </a:rPr>
              <a:t>•Descends through popliteal </a:t>
            </a:r>
            <a:r>
              <a:rPr lang="en-US" sz="2800" dirty="0" err="1">
                <a:latin typeface="Times New Roman" panose="02020603050405020304" pitchFamily="18" charset="0"/>
                <a:cs typeface="Times New Roman" panose="02020603050405020304" pitchFamily="18" charset="0"/>
                <a:sym typeface="+mn-ea"/>
              </a:rPr>
              <a:t>fossa</a:t>
            </a:r>
            <a:r>
              <a:rPr lang="en-GB" altLang="en-US" sz="2800" dirty="0" err="1">
                <a:latin typeface="Times New Roman" panose="02020603050405020304" pitchFamily="18" charset="0"/>
                <a:cs typeface="Times New Roman" panose="02020603050405020304" pitchFamily="18" charset="0"/>
                <a:sym typeface="+mn-ea"/>
              </a:rPr>
              <a:t> </a:t>
            </a:r>
            <a:r>
              <a:rPr lang="en-US" sz="2800" dirty="0" err="1">
                <a:latin typeface="Times New Roman" panose="02020603050405020304" pitchFamily="18" charset="0"/>
                <a:cs typeface="Times New Roman" panose="02020603050405020304" pitchFamily="18" charset="0"/>
                <a:sym typeface="+mn-ea"/>
              </a:rPr>
              <a:t>to</a:t>
            </a:r>
            <a:r>
              <a:rPr lang="en-US" sz="2800" dirty="0">
                <a:latin typeface="Times New Roman" panose="02020603050405020304" pitchFamily="18" charset="0"/>
                <a:cs typeface="Times New Roman" panose="02020603050405020304" pitchFamily="18" charset="0"/>
                <a:sym typeface="+mn-ea"/>
              </a:rPr>
              <a:t> posterior compartment of leg, accompanied with posterior tibial vessels. </a:t>
            </a:r>
            <a:endParaRPr lang="en-US" sz="2800" dirty="0">
              <a:latin typeface="Times New Roman" panose="02020603050405020304" pitchFamily="18" charset="0"/>
              <a:cs typeface="Times New Roman" panose="02020603050405020304" pitchFamily="18" charset="0"/>
              <a:sym typeface="+mn-ea"/>
            </a:endParaRPr>
          </a:p>
          <a:p>
            <a:r>
              <a:rPr lang="en-US" sz="2800" dirty="0">
                <a:latin typeface="Times New Roman" panose="02020603050405020304" pitchFamily="18" charset="0"/>
                <a:cs typeface="Times New Roman" panose="02020603050405020304" pitchFamily="18" charset="0"/>
                <a:sym typeface="+mn-ea"/>
              </a:rPr>
              <a:t>•Passes deep to flexor retinaculum to reach the sole of foot where it divides into2 terminal branches. Lumbosacral Plexus</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5971</Words>
  <Application>WPS Presentation</Application>
  <PresentationFormat>Widescreen</PresentationFormat>
  <Paragraphs>98</Paragraphs>
  <Slides>13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SimSun</vt:lpstr>
      <vt:lpstr>Wingdings</vt:lpstr>
      <vt:lpstr>Times New Roman</vt:lpstr>
      <vt:lpstr>Microsoft YaHei</vt:lpstr>
      <vt:lpstr>Arial Unicode MS</vt:lpstr>
      <vt:lpstr>Calibri Light</vt:lpstr>
      <vt:lpstr>Calibri</vt:lpstr>
      <vt:lpstr>Wingdings</vt:lpstr>
      <vt:lpstr>Office Theme</vt:lpstr>
      <vt:lpstr>LUMBOSACRAL PLEXUS  </vt:lpstr>
      <vt:lpstr>LEARNING OBJECTIVE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LUMBOSAXCRAL PLEXUS  </dc:title>
  <dc:creator>Florence Igelige</dc:creator>
  <cp:lastModifiedBy>HP</cp:lastModifiedBy>
  <cp:revision>61</cp:revision>
  <dcterms:created xsi:type="dcterms:W3CDTF">2023-10-29T13:32:00Z</dcterms:created>
  <dcterms:modified xsi:type="dcterms:W3CDTF">2024-08-12T07:57:43Z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0A59BC6B0A8B4A99AB42121F58CF9ED7_12</vt:lpwstr>
  </property>
  <property fmtid="{D5CDD505-2E9C-101B-9397-08002B2CF9AE}" pid="3" name="KSOProductBuildVer">
    <vt:lpwstr>1033-12.2.0.17153</vt:lpwstr>
  </property>
</Properties>
</file>