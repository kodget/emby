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301" r:id="rId3"/>
    <p:sldId id="269" r:id="rId4"/>
    <p:sldId id="270" r:id="rId5"/>
    <p:sldId id="271" r:id="rId6"/>
    <p:sldId id="272" r:id="rId7"/>
    <p:sldId id="273" r:id="rId8"/>
    <p:sldId id="276" r:id="rId9"/>
    <p:sldId id="274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303" r:id="rId19"/>
    <p:sldId id="285" r:id="rId20"/>
    <p:sldId id="286" r:id="rId21"/>
    <p:sldId id="289" r:id="rId22"/>
    <p:sldId id="290" r:id="rId23"/>
    <p:sldId id="291" r:id="rId24"/>
    <p:sldId id="288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302" r:id="rId33"/>
    <p:sldId id="299" r:id="rId34"/>
    <p:sldId id="30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06FFC-9143-4AA4-88AD-2C0D0C3CB98D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9B9E8-1B70-401E-B761-D8883B3435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7E79CD-97FF-4F57-A5FA-213D0B8CC8EB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BF97A-1454-43A7-B3B9-DC0808E7F42F}" type="datetimeFigureOut">
              <a:rPr lang="en-US" smtClean="0"/>
              <a:pPr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F3D6D-C17A-42EB-B4F8-315AB2B946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2985"/>
            <a:ext cx="7772400" cy="1785949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POPLITEAL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0100" y="3886200"/>
            <a:ext cx="7072362" cy="1971692"/>
          </a:xfrm>
        </p:spPr>
        <p:txBody>
          <a:bodyPr>
            <a:noAutofit/>
          </a:bodyPr>
          <a:lstStyle/>
          <a:p>
            <a:r>
              <a:rPr lang="en-AU" sz="3600" dirty="0" smtClean="0">
                <a:latin typeface="Arial Black" pitchFamily="34" charset="0"/>
              </a:rPr>
              <a:t>BY</a:t>
            </a:r>
          </a:p>
          <a:p>
            <a:endParaRPr lang="en-AU" sz="3600" dirty="0">
              <a:latin typeface="Arial Black" pitchFamily="34" charset="0"/>
            </a:endParaRPr>
          </a:p>
          <a:p>
            <a:r>
              <a:rPr lang="en-AU" sz="3600" dirty="0" smtClean="0">
                <a:latin typeface="Arial Black" pitchFamily="34" charset="0"/>
              </a:rPr>
              <a:t>DR OJEWALE A.O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1430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OUTLINES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572032"/>
          </a:xfrm>
        </p:spPr>
        <p:txBody>
          <a:bodyPr/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Boundaries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Contents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Popliteal artery and its variations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Popliteal lymph nodes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Applied Anatomy</a:t>
            </a:r>
          </a:p>
          <a:p>
            <a:endParaRPr lang="en-AU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785794"/>
            <a:ext cx="8858312" cy="5857916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diamond-shaped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hollow located behind the knee joint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bounded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diverging tendons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hamstrings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above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converging heads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below.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shallow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when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extended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when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flexed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(becomes prominent) </a:t>
            </a:r>
            <a:r>
              <a:rPr lang="en-AU" dirty="0">
                <a:latin typeface="Arial" pitchFamily="34" charset="0"/>
                <a:cs typeface="Arial" pitchFamily="34" charset="0"/>
              </a:rPr>
              <a:t>[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because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tendons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hamstrings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stand out].</a:t>
            </a:r>
          </a:p>
          <a:p>
            <a:pPr>
              <a:buNone/>
            </a:pP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43306" y="214290"/>
            <a:ext cx="2010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Intro’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6072206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an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important anatomical region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because it provides passage for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main vessels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nerves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thigh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1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h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as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four borders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(superomedial, superolateral, inferomedial and inferolateral), a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floor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and a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roof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1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c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ontains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popliteal vessels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parts of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tibial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common peroneal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posterior femoral cutaneous nerves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small saphenous vein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lymph nodes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adipose tissue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43306" y="0"/>
            <a:ext cx="2286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>
              <a:latin typeface="Arial Black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58280" cy="1214422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Boundaries of Popliteal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714356"/>
            <a:ext cx="8858312" cy="657229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sz="35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superomedial border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is formed by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semitendinosus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semimembranosus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superolateral border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is formed by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biceps femoris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inferomedial border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is formed by 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medial head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inferolateral border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is formed by 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lateral head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plantaris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floor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 is formed, from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above downwards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, by 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popliteal surface of femur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oblique popliteal ligament 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, and the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fascia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 which covers </a:t>
            </a:r>
            <a:r>
              <a:rPr lang="en-AU" sz="3500" b="1" dirty="0" smtClean="0">
                <a:latin typeface="Arial" pitchFamily="34" charset="0"/>
                <a:cs typeface="Arial" pitchFamily="34" charset="0"/>
              </a:rPr>
              <a:t>popliteus muscle</a:t>
            </a:r>
            <a:r>
              <a:rPr lang="en-AU" sz="35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142984"/>
            <a:ext cx="6215106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857356" y="6215082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Floor of the popliteal fossa (surface view)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roof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fascia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fascia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overlies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00298" y="6357958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latin typeface="Arial Black" pitchFamily="34" charset="0"/>
              </a:rPr>
              <a:t>Boundaries of the popliteal fossa 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428868"/>
            <a:ext cx="5429288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43306" y="214290"/>
            <a:ext cx="22860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Contents of Popliteal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4356"/>
            <a:ext cx="9001156" cy="6143644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note that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T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ibial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larger terminal branch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sciatic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extends vertically downward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angle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angle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crosses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superficially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vein intervening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descends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angles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thereby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bisecting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it; it is located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(posterior)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vessels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7" y="1285860"/>
            <a:ext cx="7143800" cy="4439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000232" y="6072206"/>
            <a:ext cx="5072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Boundaries and contents of the popliteal fossa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401080" cy="5786478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common peroneal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passes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inferolaterally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tendon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biceps femoris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it leaves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angle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head of gastrocnemius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deepest structure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,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it enters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adductor hiatus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terminates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(by dividing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and posterior tibial arteries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71868" y="285728"/>
            <a:ext cx="243730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ascends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(superficial to)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leaves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adductor hiatus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lymph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located 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vessels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they drain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limb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Popliteal pad of fat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00430" y="714356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642918"/>
            <a:ext cx="6415112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000232" y="6215082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genicular branches of the popliteal artery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29718" cy="1000108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In the popliteal fossa, the tibial nerve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Gives rise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sural nerve;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this innervates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aspect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Gives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motor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fibres (muscular branches)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plantaris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soleus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Gives three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articular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knee joint and it enters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deep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soleus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Is represented by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vertical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drawn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apex of popliteal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above, to the level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neck of fibula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29718" cy="128586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Regarding the branches of tibial nerve, note that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715436" cy="5500702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sural nerve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leaves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popliteal fossa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descending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two heads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; this nerve pierces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deep fascia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proximal part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peroneal communicating nerve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(a branch of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common peroneal nerve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) joins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sural nerve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nerve to soleus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enters this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muscle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through it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superficial surface. 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 nerve to popliteus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initially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descends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superficial to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popliteus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; it then curves round its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lower border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to enter the muscle through its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deep surface.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3"/>
            <a:ext cx="6786610" cy="48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643042" y="5857892"/>
            <a:ext cx="4968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Branches of the tibial nerve in the popliteal </a:t>
            </a:r>
          </a:p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articular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accompany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medial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medial genicular arteries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to innervate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86182" y="785794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58280" cy="714356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In the popliteal fossa, the common peroneal nerve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Passes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inferomedially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tendon of biceps femoris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leaves the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superficial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head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to enter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Is represented by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oblique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extends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apex of popliteal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above,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of fibula 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just medial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biceps femoris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tendon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up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angle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Here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it crosses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plantaris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reach the back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Finally, it winds 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posterolateral aspect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neck of fibula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pierces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peroneus longus muscle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terminates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dividing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peroneal 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428604"/>
            <a:ext cx="8786874" cy="678661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ives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rise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cutaneous nerve of the calf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(lateral sural nerve) ;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innervates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Sural communicating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arises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opposite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crosses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gastrocnemius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join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sural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Also gives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rise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articular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include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lateral genicular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lateral genicular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recurrent genicular 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first two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supply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last one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supplies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tibiofibular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28992" y="0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78581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POPLITEAL ARTERY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214290"/>
            <a:ext cx="8786874" cy="6643710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direct continuation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femoral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 this t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raverses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adductor hiatus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enter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(from the adductor canal).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Inclines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inferolaterally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as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traverses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thus it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Descends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initially anteromedial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finally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anterolateral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Is closely bound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fibrous tissue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Supplies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contents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adjacent muscles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BRANCHES OF POPLITEAL ARTERY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715436" cy="500066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gives rise to 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Five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genicular branches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; these include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superior medial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superior lateral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inferior medial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inferior lateral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middle genicular arteries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(which supply the knee joint).</a:t>
            </a:r>
          </a:p>
          <a:p>
            <a:pPr algn="just"/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Superior muscular branches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which supply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hamstrings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adductor magnus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Sural arteries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which supply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soleus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plantaris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Cutaneous branches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, to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calf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71546"/>
            <a:ext cx="8429684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14480" y="6000768"/>
            <a:ext cx="5286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Arterial anastomosis (genicular anastomosis)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around the knee joint (ATA = anterior tibial artery)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71868" y="357166"/>
            <a:ext cx="279449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142984"/>
            <a:ext cx="5572164" cy="4663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85918" y="6143644"/>
            <a:ext cx="493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dirty="0" smtClean="0"/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Anterior (deep) relations of the popliteal artery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357166"/>
            <a:ext cx="265161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357322"/>
          </a:xfrm>
        </p:spPr>
        <p:txBody>
          <a:bodyPr>
            <a:normAutofit fontScale="90000"/>
          </a:bodyPr>
          <a:lstStyle/>
          <a:p>
            <a:r>
              <a:rPr lang="en-AU" b="1" dirty="0" smtClean="0">
                <a:latin typeface="Arial Black" pitchFamily="34" charset="0"/>
                <a:cs typeface="Arial" pitchFamily="34" charset="0"/>
              </a:rPr>
              <a:t>POPLITEAL ARTERY AND ITS VARIATIONS</a:t>
            </a:r>
            <a:endParaRPr lang="en-US" b="1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14488"/>
            <a:ext cx="8929718" cy="514351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In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May end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proximal to popliteus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in this instance,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tibial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descends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May also end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dividing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tibial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peroneal arteries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in this instance,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tibial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absent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96974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POPLITEAL VEIN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643050"/>
            <a:ext cx="8786874" cy="521495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vein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Is formed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border of popliteus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union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tibial veins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Initially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ascends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posteromedial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to, then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finally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posterolateral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(in the popliteal fossa).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located deep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tibial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as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ascends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786346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Leaves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adductor hiatus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traverse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(ascend in)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adductor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femoral triangle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femoral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Receives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saphenous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it also receives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tributaries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adjacent muscles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71868" y="642918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POPLITEAL LYMPH NODES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142984"/>
            <a:ext cx="8715436" cy="5500726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lymph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they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embedded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fatty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may be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groups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popliteal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located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one of these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usually lies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near the termination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saphenous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(the territory of which it drains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71504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popliteal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vessels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they drain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One of these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lies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drains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latter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Remaining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situated on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both sides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popliteal lymph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drain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Ø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Back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side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calf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leg. </a:t>
            </a:r>
          </a:p>
          <a:p>
            <a:pPr algn="just">
              <a:buFont typeface="Wingdings" pitchFamily="2" charset="2"/>
              <a:buChar char="Ø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Lateral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heel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foot.</a:t>
            </a:r>
            <a:endParaRPr lang="en-AU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57554" y="214290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 smtClean="0">
                <a:latin typeface="Arial Black" pitchFamily="34" charset="0"/>
                <a:cs typeface="Arial" pitchFamily="34" charset="0"/>
              </a:rPr>
              <a:t>Cont’d</a:t>
            </a:r>
            <a:endParaRPr lang="en-US" sz="4400" dirty="0" smtClean="0">
              <a:latin typeface="Arial Black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290"/>
            <a:ext cx="8929718" cy="928694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APPLIED AND CLINICAL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Popliteal pulse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pulse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difficult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feel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this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owing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location of the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Popliteal pulse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better felt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of the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when the individual is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prone position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flexed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may collect (from infections, etc)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such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abscess compresses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thereby causing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severe pain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8604"/>
            <a:ext cx="8929718" cy="642939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aneurysm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may become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abnormally enlarged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prone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aneurysm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than any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other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body. Clinically,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aneurysm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presents as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pulsatile midline swelling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This causes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Baker’s cyst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cystic swelling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occurs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fossa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due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inflammation of synovial bursa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underneath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tendon of semimembranosus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protrusion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synovial 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cavity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fibrous capsule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14744" y="0"/>
            <a:ext cx="2151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714356"/>
            <a:ext cx="8786874" cy="5786478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muscular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anastomose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perforating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profunda femoris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latter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turn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anastomoses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gluteal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circumflex femoral arteries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(in the cruciate anastomoses).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communication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muscular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popliteal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(indirectly)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cruciate anastomoses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ensures that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blood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could still reach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when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femoral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obstructed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43306" y="0"/>
            <a:ext cx="2286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Injury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aspect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heel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produces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enlargement of popliteal nodes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>
            <a:normAutofit/>
          </a:bodyPr>
          <a:lstStyle/>
          <a:p>
            <a:r>
              <a:rPr lang="en-AU" sz="6000" dirty="0" smtClean="0">
                <a:latin typeface="Arial Black" pitchFamily="34" charset="0"/>
              </a:rPr>
              <a:t>THANK YOU ALL, FOR LISTENING.</a:t>
            </a:r>
            <a:endParaRPr lang="en-US" sz="6000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3338"/>
            <a:ext cx="9085263" cy="681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1733</Words>
  <Application>Microsoft Office PowerPoint</Application>
  <PresentationFormat>On-screen Show (4:3)</PresentationFormat>
  <Paragraphs>154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POPLITEAL FOSSA</vt:lpstr>
      <vt:lpstr>OUTLINES</vt:lpstr>
      <vt:lpstr>Slide 3</vt:lpstr>
      <vt:lpstr>Slide 4</vt:lpstr>
      <vt:lpstr>Boundaries of Popliteal fossa</vt:lpstr>
      <vt:lpstr>Slide 6</vt:lpstr>
      <vt:lpstr>Slide 7</vt:lpstr>
      <vt:lpstr>Contents of Popliteal fossa</vt:lpstr>
      <vt:lpstr>Slide 9</vt:lpstr>
      <vt:lpstr>Slide 10</vt:lpstr>
      <vt:lpstr>Slide 11</vt:lpstr>
      <vt:lpstr>Slide 12</vt:lpstr>
      <vt:lpstr>In the popliteal fossa, the tibial nerve</vt:lpstr>
      <vt:lpstr>Regarding the branches of tibial nerve, note that</vt:lpstr>
      <vt:lpstr>Slide 15</vt:lpstr>
      <vt:lpstr>Slide 16</vt:lpstr>
      <vt:lpstr>In the popliteal fossa, the common peroneal nerve</vt:lpstr>
      <vt:lpstr>Cont’d</vt:lpstr>
      <vt:lpstr>Slide 19</vt:lpstr>
      <vt:lpstr>POPLITEAL ARTERY</vt:lpstr>
      <vt:lpstr>BRANCHES OF POPLITEAL ARTERY</vt:lpstr>
      <vt:lpstr>Slide 22</vt:lpstr>
      <vt:lpstr>Slide 23</vt:lpstr>
      <vt:lpstr>POPLITEAL ARTERY AND ITS VARIATIONS</vt:lpstr>
      <vt:lpstr>POPLITEAL VEIN</vt:lpstr>
      <vt:lpstr>Slide 26</vt:lpstr>
      <vt:lpstr>POPLITEAL LYMPH NODES</vt:lpstr>
      <vt:lpstr>Slide 28</vt:lpstr>
      <vt:lpstr>APPLIED AND CLINICAL ANATOMY</vt:lpstr>
      <vt:lpstr>Slide 30</vt:lpstr>
      <vt:lpstr>Slide 31</vt:lpstr>
      <vt:lpstr>Cont’d</vt:lpstr>
      <vt:lpstr>Slide 33</vt:lpstr>
      <vt:lpstr>Slide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POPLITEAL FOSSA</dc:title>
  <dc:creator>Dr. Ojewale</dc:creator>
  <cp:lastModifiedBy>Dr. Ojewale</cp:lastModifiedBy>
  <cp:revision>5</cp:revision>
  <dcterms:created xsi:type="dcterms:W3CDTF">2022-03-06T14:42:53Z</dcterms:created>
  <dcterms:modified xsi:type="dcterms:W3CDTF">2023-10-23T09:40:11Z</dcterms:modified>
</cp:coreProperties>
</file>