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hrwL4BVcT75oLldaUDVZxASH9p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4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4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4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GLUTEAL REGION</a:t>
            </a:r>
            <a:endParaRPr b="1">
              <a:solidFill>
                <a:srgbClr val="C00000"/>
              </a:solidFill>
              <a:latin typeface="Times New Roman"/>
              <a:ea typeface="Times New Roman"/>
              <a:cs typeface="Times New Roman"/>
              <a:sym typeface="Times New Roman"/>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BY</a:t>
            </a:r>
            <a:endParaRPr/>
          </a:p>
          <a:p>
            <a:pPr indent="0" lvl="0" marL="0" rtl="0" algn="ctr">
              <a:spcBef>
                <a:spcPts val="640"/>
              </a:spcBef>
              <a:spcAft>
                <a:spcPts val="0"/>
              </a:spcAft>
              <a:buClr>
                <a:srgbClr val="888888"/>
              </a:buClr>
              <a:buSzPts val="3200"/>
              <a:buNone/>
            </a:pPr>
            <a:r>
              <a:rPr lang="en-US"/>
              <a:t>F.O. OPOOLA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INTRODUCTION</a:t>
            </a:r>
            <a:endParaRPr b="1">
              <a:solidFill>
                <a:srgbClr val="C00000"/>
              </a:solidFill>
              <a:latin typeface="Times New Roman"/>
              <a:ea typeface="Times New Roman"/>
              <a:cs typeface="Times New Roman"/>
              <a:sym typeface="Times New Roman"/>
            </a:endParaRPr>
          </a:p>
        </p:txBody>
      </p:sp>
      <p:sp>
        <p:nvSpPr>
          <p:cNvPr id="91" name="Google Shape;9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It lies posterior to the pelvis between the level of the iliac crest and inferior border of gluteus maximus muscle.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This region is made up of the gluteal muscles, ligaments, vessels (arteries &amp; veins) and gluteal nerves.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The two buttocks formed mostly by the three most prominent gluteal muscles are separated from each other by the </a:t>
            </a:r>
            <a:r>
              <a:rPr b="1" i="1" lang="en-US">
                <a:latin typeface="Times New Roman"/>
                <a:ea typeface="Times New Roman"/>
                <a:cs typeface="Times New Roman"/>
                <a:sym typeface="Times New Roman"/>
              </a:rPr>
              <a:t>intergluteal cleft</a:t>
            </a: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The inferior border is demarcated from the superior border of the thigh by the </a:t>
            </a:r>
            <a:r>
              <a:rPr b="1" i="1" lang="en-US">
                <a:latin typeface="Times New Roman"/>
                <a:ea typeface="Times New Roman"/>
                <a:cs typeface="Times New Roman"/>
                <a:sym typeface="Times New Roman"/>
              </a:rPr>
              <a:t>gluteal sulcus</a:t>
            </a:r>
            <a:endParaRPr b="1" i="1">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THE BUTTOCK</a:t>
            </a:r>
            <a:endParaRPr b="1">
              <a:solidFill>
                <a:srgbClr val="C00000"/>
              </a:solidFill>
              <a:latin typeface="Times New Roman"/>
              <a:ea typeface="Times New Roman"/>
              <a:cs typeface="Times New Roman"/>
              <a:sym typeface="Times New Roman"/>
            </a:endParaRPr>
          </a:p>
        </p:txBody>
      </p:sp>
      <p:pic>
        <p:nvPicPr>
          <p:cNvPr id="97" name="Google Shape;97;p3"/>
          <p:cNvPicPr preferRelativeResize="0"/>
          <p:nvPr>
            <p:ph idx="1" type="body"/>
          </p:nvPr>
        </p:nvPicPr>
        <p:blipFill rotWithShape="1">
          <a:blip r:embed="rId3">
            <a:alphaModFix/>
          </a:blip>
          <a:srcRect b="0" l="0" r="0" t="0"/>
          <a:stretch/>
        </p:blipFill>
        <p:spPr>
          <a:xfrm>
            <a:off x="381000" y="1828800"/>
            <a:ext cx="8229600" cy="43693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GLUTEAL LIGAMENTS</a:t>
            </a:r>
            <a:endParaRPr b="1">
              <a:solidFill>
                <a:srgbClr val="C00000"/>
              </a:solidFill>
              <a:latin typeface="Times New Roman"/>
              <a:ea typeface="Times New Roman"/>
              <a:cs typeface="Times New Roman"/>
              <a:sym typeface="Times New Roman"/>
            </a:endParaRPr>
          </a:p>
        </p:txBody>
      </p:sp>
      <p:sp>
        <p:nvSpPr>
          <p:cNvPr id="103" name="Google Shape;10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latin typeface="Times New Roman"/>
                <a:ea typeface="Times New Roman"/>
                <a:cs typeface="Times New Roman"/>
                <a:sym typeface="Times New Roman"/>
              </a:rPr>
              <a:t>Two main ligaments make up the ligament components of the gluteal region and they include;</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b="1" lang="en-US">
                <a:latin typeface="Times New Roman"/>
                <a:ea typeface="Times New Roman"/>
                <a:cs typeface="Times New Roman"/>
                <a:sym typeface="Times New Roman"/>
              </a:rPr>
              <a:t>Sacrotuberous and sacrospinous ligaments.</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These two ligaments converts the sciatic notch of the hip bone into a </a:t>
            </a:r>
            <a:r>
              <a:rPr b="1" lang="en-US">
                <a:latin typeface="Times New Roman"/>
                <a:ea typeface="Times New Roman"/>
                <a:cs typeface="Times New Roman"/>
                <a:sym typeface="Times New Roman"/>
              </a:rPr>
              <a:t>greater and lesser sciatic foramina.</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The greater sciatic foramen forms a passageway through which structures entering and leaving the pelvis passes e.g. </a:t>
            </a:r>
            <a:r>
              <a:rPr b="1" lang="en-US">
                <a:latin typeface="Times New Roman"/>
                <a:ea typeface="Times New Roman"/>
                <a:cs typeface="Times New Roman"/>
                <a:sym typeface="Times New Roman"/>
              </a:rPr>
              <a:t>sciatic nerve.</a:t>
            </a:r>
            <a:endParaRPr>
              <a:latin typeface="Times New Roman"/>
              <a:ea typeface="Times New Roman"/>
              <a:cs typeface="Times New Roman"/>
              <a:sym typeface="Times New Roman"/>
            </a:endParaRPr>
          </a:p>
          <a:p>
            <a:pPr indent="-154940" lvl="0" marL="342900" rtl="0" algn="l">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GLUTEAL LIGAMENTS</a:t>
            </a:r>
            <a:endParaRPr b="1">
              <a:solidFill>
                <a:srgbClr val="C00000"/>
              </a:solidFill>
              <a:latin typeface="Times New Roman"/>
              <a:ea typeface="Times New Roman"/>
              <a:cs typeface="Times New Roman"/>
              <a:sym typeface="Times New Roman"/>
            </a:endParaRPr>
          </a:p>
        </p:txBody>
      </p:sp>
      <p:sp>
        <p:nvSpPr>
          <p:cNvPr id="109" name="Google Shape;10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latin typeface="Times New Roman"/>
                <a:ea typeface="Times New Roman"/>
                <a:cs typeface="Times New Roman"/>
                <a:sym typeface="Times New Roman"/>
              </a:rPr>
              <a:t>The lesser foramen serves as a passageway for structures entering and leaving the perineum. E.g. pudendal nerve.</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It is therefore worthy of note that the greater sciatic foramen can be likened to a ‘door’ through which all arteries and nerves leave the pelvis to enter the gluteal region, including the piriformis muscle which almost fill the foramen.</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GLUTEAL LIG…</a:t>
            </a:r>
            <a:endParaRPr b="1">
              <a:solidFill>
                <a:srgbClr val="C00000"/>
              </a:solidFill>
              <a:latin typeface="Times New Roman"/>
              <a:ea typeface="Times New Roman"/>
              <a:cs typeface="Times New Roman"/>
              <a:sym typeface="Times New Roman"/>
            </a:endParaRPr>
          </a:p>
        </p:txBody>
      </p:sp>
      <p:pic>
        <p:nvPicPr>
          <p:cNvPr id="115" name="Google Shape;115;p6"/>
          <p:cNvPicPr preferRelativeResize="0"/>
          <p:nvPr>
            <p:ph idx="1" type="body"/>
          </p:nvPr>
        </p:nvPicPr>
        <p:blipFill rotWithShape="1">
          <a:blip r:embed="rId3">
            <a:alphaModFix/>
          </a:blip>
          <a:srcRect b="0" l="0" r="0" t="0"/>
          <a:stretch/>
        </p:blipFill>
        <p:spPr>
          <a:xfrm>
            <a:off x="533400" y="1447800"/>
            <a:ext cx="8229599" cy="4648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GLUTEAL LIG…</a:t>
            </a:r>
            <a:endParaRPr b="1">
              <a:solidFill>
                <a:srgbClr val="C00000"/>
              </a:solidFill>
              <a:latin typeface="Times New Roman"/>
              <a:ea typeface="Times New Roman"/>
              <a:cs typeface="Times New Roman"/>
              <a:sym typeface="Times New Roman"/>
            </a:endParaRPr>
          </a:p>
        </p:txBody>
      </p:sp>
      <p:pic>
        <p:nvPicPr>
          <p:cNvPr id="121" name="Google Shape;121;p7"/>
          <p:cNvPicPr preferRelativeResize="0"/>
          <p:nvPr>
            <p:ph idx="1" type="body"/>
          </p:nvPr>
        </p:nvPicPr>
        <p:blipFill rotWithShape="1">
          <a:blip r:embed="rId3">
            <a:alphaModFix/>
          </a:blip>
          <a:srcRect b="0" l="0" r="0" t="0"/>
          <a:stretch/>
        </p:blipFill>
        <p:spPr>
          <a:xfrm>
            <a:off x="804724" y="1600200"/>
            <a:ext cx="7534551" cy="4525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GLUTEAL MUSCLES</a:t>
            </a:r>
            <a:br>
              <a:rPr b="1" lang="en-US">
                <a:solidFill>
                  <a:srgbClr val="C00000"/>
                </a:solidFill>
                <a:latin typeface="Times New Roman"/>
                <a:ea typeface="Times New Roman"/>
                <a:cs typeface="Times New Roman"/>
                <a:sym typeface="Times New Roman"/>
              </a:rPr>
            </a:br>
            <a:r>
              <a:rPr b="1" lang="en-US">
                <a:solidFill>
                  <a:srgbClr val="C00000"/>
                </a:solidFill>
                <a:latin typeface="Times New Roman"/>
                <a:ea typeface="Times New Roman"/>
                <a:cs typeface="Times New Roman"/>
                <a:sym typeface="Times New Roman"/>
              </a:rPr>
              <a:t> </a:t>
            </a:r>
            <a:endParaRPr>
              <a:solidFill>
                <a:srgbClr val="C00000"/>
              </a:solidFill>
              <a:latin typeface="Times New Roman"/>
              <a:ea typeface="Times New Roman"/>
              <a:cs typeface="Times New Roman"/>
              <a:sym typeface="Times New Roman"/>
            </a:endParaRPr>
          </a:p>
        </p:txBody>
      </p:sp>
      <p:sp>
        <p:nvSpPr>
          <p:cNvPr id="127" name="Google Shape;12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latin typeface="Times New Roman"/>
                <a:ea typeface="Times New Roman"/>
                <a:cs typeface="Times New Roman"/>
                <a:sym typeface="Times New Roman"/>
              </a:rPr>
              <a:t>Muscles of the gluteal region are mainly in two groups:</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a deep group </a:t>
            </a:r>
            <a:r>
              <a:rPr lang="en-US">
                <a:latin typeface="Times New Roman"/>
                <a:ea typeface="Times New Roman"/>
                <a:cs typeface="Times New Roman"/>
                <a:sym typeface="Times New Roman"/>
              </a:rPr>
              <a:t>of small muscles, which are mainly lateral rotators of the femur at the hip joint and include;</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i="1" lang="en-US">
                <a:latin typeface="Times New Roman"/>
                <a:ea typeface="Times New Roman"/>
                <a:cs typeface="Times New Roman"/>
                <a:sym typeface="Times New Roman"/>
              </a:rPr>
              <a:t>piriformis, obturator internus, gemellus superior, gemellus inferior, and quadratus femoris.</a:t>
            </a:r>
            <a:endParaRPr b="1">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457200" y="30480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GLUTEAL MUSCLES</a:t>
            </a:r>
            <a:endParaRPr b="1">
              <a:solidFill>
                <a:srgbClr val="C00000"/>
              </a:solidFill>
              <a:latin typeface="Times New Roman"/>
              <a:ea typeface="Times New Roman"/>
              <a:cs typeface="Times New Roman"/>
              <a:sym typeface="Times New Roman"/>
            </a:endParaRPr>
          </a:p>
        </p:txBody>
      </p:sp>
      <p:sp>
        <p:nvSpPr>
          <p:cNvPr id="133" name="Google Shape;13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1" lang="en-US">
                <a:latin typeface="Times New Roman"/>
                <a:ea typeface="Times New Roman"/>
                <a:cs typeface="Times New Roman"/>
                <a:sym typeface="Times New Roman"/>
              </a:rPr>
              <a:t>A more superficial </a:t>
            </a:r>
            <a:r>
              <a:rPr lang="en-US">
                <a:latin typeface="Times New Roman"/>
                <a:ea typeface="Times New Roman"/>
                <a:cs typeface="Times New Roman"/>
                <a:sym typeface="Times New Roman"/>
              </a:rPr>
              <a:t>group of larger muscles, which mainly abduct and extend the hip and include;</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b="1" lang="en-US">
                <a:latin typeface="Times New Roman"/>
                <a:ea typeface="Times New Roman"/>
                <a:cs typeface="Times New Roman"/>
                <a:sym typeface="Times New Roman"/>
              </a:rPr>
              <a:t>The gluteus minimus, gluteus medius, and gluteus maximus-an additional muscle in this group, the tensor fasciae latae.</a:t>
            </a:r>
            <a:endParaRPr b="1">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The tensor fasciae latae stabilizes the knee in extension by acting on a specialized longitudinal band of deep fascia (the iliotibial tract) that passes down the lateral side of the thigh to attach to the proximal end of the tibia in the leg.</a:t>
            </a:r>
            <a:endParaRPr>
              <a:latin typeface="Times New Roman"/>
              <a:ea typeface="Times New Roman"/>
              <a:cs typeface="Times New Roman"/>
              <a:sym typeface="Times New Roman"/>
            </a:endParaRPr>
          </a:p>
          <a:p>
            <a:pPr indent="-154940" lvl="0" marL="342900" rtl="0" algn="l">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Superficial group</a:t>
            </a:r>
            <a:br>
              <a:rPr b="1"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sp>
        <p:nvSpPr>
          <p:cNvPr id="139" name="Google Shape;139;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b="1" lang="en-US">
                <a:latin typeface="Times New Roman"/>
                <a:ea typeface="Times New Roman"/>
                <a:cs typeface="Times New Roman"/>
                <a:sym typeface="Times New Roman"/>
              </a:rPr>
              <a:t>Gluteus maximus;</a:t>
            </a:r>
            <a:endParaRPr b="1">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Is the largest muscle in the gluteal region and overlies most of the other gluteal muscles except for the posterior 3</a:t>
            </a:r>
            <a:r>
              <a:rPr baseline="30000" lang="en-US">
                <a:latin typeface="Times New Roman"/>
                <a:ea typeface="Times New Roman"/>
                <a:cs typeface="Times New Roman"/>
                <a:sym typeface="Times New Roman"/>
              </a:rPr>
              <a:t>rd</a:t>
            </a:r>
            <a:r>
              <a:rPr lang="en-US">
                <a:latin typeface="Times New Roman"/>
                <a:ea typeface="Times New Roman"/>
                <a:cs typeface="Times New Roman"/>
                <a:sym typeface="Times New Roman"/>
              </a:rPr>
              <a:t> of the gluteus medius and also forms a pad over the ischial tuberosity.</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origin/proximal attachment- </a:t>
            </a:r>
            <a:r>
              <a:rPr i="1" lang="en-US">
                <a:latin typeface="Times New Roman"/>
                <a:ea typeface="Times New Roman"/>
                <a:cs typeface="Times New Roman"/>
                <a:sym typeface="Times New Roman"/>
              </a:rPr>
              <a:t>ilium,posterior to the posterior gluteal line, posterior surface of the sacrum, coccyx and sacrotuberous ligament.</a:t>
            </a:r>
            <a:endParaRPr>
              <a:latin typeface="Times New Roman"/>
              <a:ea typeface="Times New Roman"/>
              <a:cs typeface="Times New Roman"/>
              <a:sym typeface="Times New Roman"/>
            </a:endParaRPr>
          </a:p>
          <a:p>
            <a:pPr indent="-154940" lvl="0" marL="342900" rtl="0" algn="l">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Superficial group</a:t>
            </a:r>
            <a:br>
              <a:rPr b="1" lang="en-US">
                <a:solidFill>
                  <a:srgbClr val="C00000"/>
                </a:solidFill>
                <a:latin typeface="Times New Roman"/>
                <a:ea typeface="Times New Roman"/>
                <a:cs typeface="Times New Roman"/>
                <a:sym typeface="Times New Roman"/>
              </a:rPr>
            </a:br>
            <a:endParaRPr/>
          </a:p>
        </p:txBody>
      </p:sp>
      <p:sp>
        <p:nvSpPr>
          <p:cNvPr id="145" name="Google Shape;145;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latin typeface="Times New Roman"/>
                <a:ea typeface="Times New Roman"/>
                <a:cs typeface="Times New Roman"/>
                <a:sym typeface="Times New Roman"/>
              </a:rPr>
              <a:t>Insertion/distal attachment- </a:t>
            </a:r>
            <a:r>
              <a:rPr i="1" lang="en-US">
                <a:latin typeface="Times New Roman"/>
                <a:ea typeface="Times New Roman"/>
                <a:cs typeface="Times New Roman"/>
                <a:sym typeface="Times New Roman"/>
              </a:rPr>
              <a:t>iliotibial tract and gluteal tuberosity.</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Innervation- </a:t>
            </a:r>
            <a:r>
              <a:rPr i="1" lang="en-US">
                <a:latin typeface="Times New Roman"/>
                <a:ea typeface="Times New Roman"/>
                <a:cs typeface="Times New Roman"/>
                <a:sym typeface="Times New Roman"/>
              </a:rPr>
              <a:t>innervation is by the </a:t>
            </a:r>
            <a:r>
              <a:rPr b="1" i="1" lang="en-US">
                <a:latin typeface="Times New Roman"/>
                <a:ea typeface="Times New Roman"/>
                <a:cs typeface="Times New Roman"/>
                <a:sym typeface="Times New Roman"/>
              </a:rPr>
              <a:t>inferior gluteal nerve </a:t>
            </a:r>
            <a:r>
              <a:rPr i="1" lang="en-US">
                <a:latin typeface="Times New Roman"/>
                <a:ea typeface="Times New Roman"/>
                <a:cs typeface="Times New Roman"/>
                <a:sym typeface="Times New Roman"/>
              </a:rPr>
              <a:t>with root values </a:t>
            </a:r>
            <a:r>
              <a:rPr b="1" i="1" lang="en-US">
                <a:latin typeface="Times New Roman"/>
                <a:ea typeface="Times New Roman"/>
                <a:cs typeface="Times New Roman"/>
                <a:sym typeface="Times New Roman"/>
              </a:rPr>
              <a:t>L5, S1-2.</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Action- </a:t>
            </a:r>
            <a:r>
              <a:rPr i="1" lang="en-US">
                <a:latin typeface="Times New Roman"/>
                <a:ea typeface="Times New Roman"/>
                <a:cs typeface="Times New Roman"/>
                <a:sym typeface="Times New Roman"/>
              </a:rPr>
              <a:t>main action is extension and lateral rotation of the thigh.</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Superficial group</a:t>
            </a:r>
            <a:br>
              <a:rPr b="1" lang="en-US">
                <a:solidFill>
                  <a:srgbClr val="C00000"/>
                </a:solidFill>
                <a:latin typeface="Times New Roman"/>
                <a:ea typeface="Times New Roman"/>
                <a:cs typeface="Times New Roman"/>
                <a:sym typeface="Times New Roman"/>
              </a:rPr>
            </a:br>
            <a:endParaRPr/>
          </a:p>
        </p:txBody>
      </p:sp>
      <p:pic>
        <p:nvPicPr>
          <p:cNvPr id="151" name="Google Shape;151;p12"/>
          <p:cNvPicPr preferRelativeResize="0"/>
          <p:nvPr>
            <p:ph idx="1" type="body"/>
          </p:nvPr>
        </p:nvPicPr>
        <p:blipFill rotWithShape="1">
          <a:blip r:embed="rId3">
            <a:alphaModFix/>
          </a:blip>
          <a:srcRect b="0" l="0" r="0" t="0"/>
          <a:stretch/>
        </p:blipFill>
        <p:spPr>
          <a:xfrm>
            <a:off x="1066800" y="1600200"/>
            <a:ext cx="6857999" cy="45259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Superficial group</a:t>
            </a:r>
            <a:br>
              <a:rPr b="1" lang="en-US">
                <a:solidFill>
                  <a:srgbClr val="C00000"/>
                </a:solidFill>
                <a:latin typeface="Times New Roman"/>
                <a:ea typeface="Times New Roman"/>
                <a:cs typeface="Times New Roman"/>
                <a:sym typeface="Times New Roman"/>
              </a:rPr>
            </a:br>
            <a:endParaRPr/>
          </a:p>
        </p:txBody>
      </p:sp>
      <p:sp>
        <p:nvSpPr>
          <p:cNvPr id="157" name="Google Shape;15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b="1" lang="en-US">
                <a:latin typeface="Times New Roman"/>
                <a:ea typeface="Times New Roman"/>
                <a:cs typeface="Times New Roman"/>
                <a:sym typeface="Times New Roman"/>
              </a:rPr>
              <a:t>Gluteus medius and minimus ;</a:t>
            </a:r>
            <a:endParaRPr b="1">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lang="en-US">
                <a:latin typeface="Times New Roman"/>
                <a:ea typeface="Times New Roman"/>
                <a:cs typeface="Times New Roman"/>
                <a:sym typeface="Times New Roman"/>
              </a:rPr>
              <a:t>These are fan-shaped small gluteal muscles and their fibres passes the same direction.</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Origin- </a:t>
            </a:r>
            <a:r>
              <a:rPr i="1" lang="en-US">
                <a:latin typeface="Times New Roman"/>
                <a:ea typeface="Times New Roman"/>
                <a:cs typeface="Times New Roman"/>
                <a:sym typeface="Times New Roman"/>
              </a:rPr>
              <a:t>medius originates from the external surface of the ilium between the anterior and posterior gluteal line, </a:t>
            </a:r>
            <a:r>
              <a:rPr b="1" i="1" lang="en-US">
                <a:latin typeface="Times New Roman"/>
                <a:ea typeface="Times New Roman"/>
                <a:cs typeface="Times New Roman"/>
                <a:sym typeface="Times New Roman"/>
              </a:rPr>
              <a:t>while the minimus originates from the external surface of the ilium between the anterior and inferior gluteal line.</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Gluteus medius and minimus</a:t>
            </a:r>
            <a:endParaRPr>
              <a:solidFill>
                <a:srgbClr val="C00000"/>
              </a:solidFill>
            </a:endParaRPr>
          </a:p>
        </p:txBody>
      </p:sp>
      <p:sp>
        <p:nvSpPr>
          <p:cNvPr id="163" name="Google Shape;163;p14"/>
          <p:cNvSpPr txBox="1"/>
          <p:nvPr>
            <p:ph idx="1" type="body"/>
          </p:nvPr>
        </p:nvSpPr>
        <p:spPr>
          <a:xfrm>
            <a:off x="627434" y="1535349"/>
            <a:ext cx="8229600" cy="45261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1" lang="en-US">
                <a:latin typeface="Times New Roman"/>
                <a:ea typeface="Times New Roman"/>
                <a:cs typeface="Times New Roman"/>
                <a:sym typeface="Times New Roman"/>
              </a:rPr>
              <a:t>Insertion- </a:t>
            </a:r>
            <a:r>
              <a:rPr i="1" lang="en-US">
                <a:latin typeface="Times New Roman"/>
                <a:ea typeface="Times New Roman"/>
                <a:cs typeface="Times New Roman"/>
                <a:sym typeface="Times New Roman"/>
              </a:rPr>
              <a:t>medius inserts on the lateral surface of greater trochanter while minimus inserts on anterior surface of greater trochanter of femur.</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b="1" lang="en-US">
                <a:latin typeface="Times New Roman"/>
                <a:ea typeface="Times New Roman"/>
                <a:cs typeface="Times New Roman"/>
                <a:sym typeface="Times New Roman"/>
              </a:rPr>
              <a:t>innervation- </a:t>
            </a:r>
            <a:r>
              <a:rPr i="1" lang="en-US">
                <a:latin typeface="Times New Roman"/>
                <a:ea typeface="Times New Roman"/>
                <a:cs typeface="Times New Roman"/>
                <a:sym typeface="Times New Roman"/>
              </a:rPr>
              <a:t>both by the superior gluteal nerve with root values </a:t>
            </a:r>
            <a:r>
              <a:rPr b="1" i="1" lang="en-US">
                <a:latin typeface="Times New Roman"/>
                <a:ea typeface="Times New Roman"/>
                <a:cs typeface="Times New Roman"/>
                <a:sym typeface="Times New Roman"/>
              </a:rPr>
              <a:t>L5 &amp; S1.</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b="1" lang="en-US">
                <a:latin typeface="Times New Roman"/>
                <a:ea typeface="Times New Roman"/>
                <a:cs typeface="Times New Roman"/>
                <a:sym typeface="Times New Roman"/>
              </a:rPr>
              <a:t>Action- </a:t>
            </a:r>
            <a:r>
              <a:rPr i="1" lang="en-US">
                <a:latin typeface="Times New Roman"/>
                <a:ea typeface="Times New Roman"/>
                <a:cs typeface="Times New Roman"/>
                <a:sym typeface="Times New Roman"/>
              </a:rPr>
              <a:t>both medially rotates and abducts the lower limb at the hip joint.</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i="1" lang="en-US">
                <a:latin typeface="Times New Roman"/>
                <a:ea typeface="Times New Roman"/>
                <a:cs typeface="Times New Roman"/>
                <a:sym typeface="Times New Roman"/>
              </a:rPr>
              <a:t>Also keeps the pelvis at level when opposite leg is raised.</a:t>
            </a:r>
            <a:endParaRPr>
              <a:latin typeface="Times New Roman"/>
              <a:ea typeface="Times New Roman"/>
              <a:cs typeface="Times New Roman"/>
              <a:sym typeface="Times New Roman"/>
            </a:endParaRPr>
          </a:p>
          <a:p>
            <a:pPr indent="-154940" lvl="0" marL="342900" rtl="0" algn="l">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169" name="Google Shape;169;p15"/>
          <p:cNvPicPr preferRelativeResize="0"/>
          <p:nvPr>
            <p:ph idx="1" type="body"/>
          </p:nvPr>
        </p:nvPicPr>
        <p:blipFill rotWithShape="1">
          <a:blip r:embed="rId3">
            <a:alphaModFix/>
          </a:blip>
          <a:srcRect b="0" l="0" r="0" t="0"/>
          <a:stretch/>
        </p:blipFill>
        <p:spPr>
          <a:xfrm>
            <a:off x="1520834" y="1600200"/>
            <a:ext cx="6102331" cy="45259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br>
              <a:rPr b="1" lang="en-US">
                <a:solidFill>
                  <a:srgbClr val="C00000"/>
                </a:solidFill>
                <a:latin typeface="Times New Roman"/>
                <a:ea typeface="Times New Roman"/>
                <a:cs typeface="Times New Roman"/>
                <a:sym typeface="Times New Roman"/>
              </a:rPr>
            </a:br>
            <a:br>
              <a:rPr lang="en-US">
                <a:solidFill>
                  <a:srgbClr val="C00000"/>
                </a:solidFill>
                <a:latin typeface="Times New Roman"/>
                <a:ea typeface="Times New Roman"/>
                <a:cs typeface="Times New Roman"/>
                <a:sym typeface="Times New Roman"/>
              </a:rPr>
            </a:br>
            <a:br>
              <a:rPr b="1" lang="en-US">
                <a:solidFill>
                  <a:srgbClr val="C00000"/>
                </a:solidFill>
                <a:latin typeface="Times New Roman"/>
                <a:ea typeface="Times New Roman"/>
                <a:cs typeface="Times New Roman"/>
                <a:sym typeface="Times New Roman"/>
              </a:rPr>
            </a:br>
            <a:br>
              <a:rPr lang="en-US">
                <a:solidFill>
                  <a:srgbClr val="C00000"/>
                </a:solidFill>
                <a:latin typeface="Times New Roman"/>
                <a:ea typeface="Times New Roman"/>
                <a:cs typeface="Times New Roman"/>
                <a:sym typeface="Times New Roman"/>
              </a:rPr>
            </a:br>
            <a:r>
              <a:rPr b="1" lang="en-US">
                <a:solidFill>
                  <a:srgbClr val="C00000"/>
                </a:solidFill>
                <a:latin typeface="Times New Roman"/>
                <a:ea typeface="Times New Roman"/>
                <a:cs typeface="Times New Roman"/>
                <a:sym typeface="Times New Roman"/>
              </a:rPr>
              <a:t>Actions of the G. medius &amp; minimus</a:t>
            </a:r>
            <a:br>
              <a:rPr b="1" lang="en-US">
                <a:solidFill>
                  <a:srgbClr val="C00000"/>
                </a:solidFill>
                <a:latin typeface="Times New Roman"/>
                <a:ea typeface="Times New Roman"/>
                <a:cs typeface="Times New Roman"/>
                <a:sym typeface="Times New Roman"/>
              </a:rPr>
            </a:br>
            <a:br>
              <a:rPr lang="en-US">
                <a:solidFill>
                  <a:srgbClr val="C00000"/>
                </a:solidFill>
                <a:latin typeface="Times New Roman"/>
                <a:ea typeface="Times New Roman"/>
                <a:cs typeface="Times New Roman"/>
                <a:sym typeface="Times New Roman"/>
              </a:rPr>
            </a:br>
            <a:br>
              <a:rPr lang="en-US">
                <a:solidFill>
                  <a:srgbClr val="C00000"/>
                </a:solidFill>
                <a:latin typeface="Times New Roman"/>
                <a:ea typeface="Times New Roman"/>
                <a:cs typeface="Times New Roman"/>
                <a:sym typeface="Times New Roman"/>
              </a:rPr>
            </a:br>
            <a:br>
              <a:rPr lang="en-US">
                <a:solidFill>
                  <a:srgbClr val="C00000"/>
                </a:solidFill>
                <a:latin typeface="Times New Roman"/>
                <a:ea typeface="Times New Roman"/>
                <a:cs typeface="Times New Roman"/>
                <a:sym typeface="Times New Roman"/>
              </a:rPr>
            </a:br>
            <a:br>
              <a:rPr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pic>
        <p:nvPicPr>
          <p:cNvPr id="175" name="Google Shape;175;p16"/>
          <p:cNvPicPr preferRelativeResize="0"/>
          <p:nvPr>
            <p:ph idx="1" type="body"/>
          </p:nvPr>
        </p:nvPicPr>
        <p:blipFill rotWithShape="1">
          <a:blip r:embed="rId3">
            <a:alphaModFix/>
          </a:blip>
          <a:srcRect b="0" l="0" r="0" t="0"/>
          <a:stretch/>
        </p:blipFill>
        <p:spPr>
          <a:xfrm>
            <a:off x="1384702" y="1600200"/>
            <a:ext cx="6374596" cy="452596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Tensor fasciae latae</a:t>
            </a:r>
            <a:endParaRPr>
              <a:solidFill>
                <a:srgbClr val="C00000"/>
              </a:solidFill>
              <a:latin typeface="Times New Roman"/>
              <a:ea typeface="Times New Roman"/>
              <a:cs typeface="Times New Roman"/>
              <a:sym typeface="Times New Roman"/>
            </a:endParaRPr>
          </a:p>
        </p:txBody>
      </p:sp>
      <p:sp>
        <p:nvSpPr>
          <p:cNvPr id="181" name="Google Shape;18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None/>
            </a:pPr>
            <a:r>
              <a:rPr b="1" lang="en-US">
                <a:latin typeface="Times New Roman"/>
                <a:ea typeface="Times New Roman"/>
                <a:cs typeface="Times New Roman"/>
                <a:sym typeface="Times New Roman"/>
              </a:rPr>
              <a:t>Tensor fasciae latae;</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The tensor fasciae latae muscle is the most anterior of the superficial group of muscles in the gluteal region and overlies the gluteus minimus and the anterior part of the gluteus medius.</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b="1" lang="en-US">
                <a:latin typeface="Times New Roman"/>
                <a:ea typeface="Times New Roman"/>
                <a:cs typeface="Times New Roman"/>
                <a:sym typeface="Times New Roman"/>
              </a:rPr>
              <a:t>Origin- </a:t>
            </a:r>
            <a:r>
              <a:rPr i="1" lang="en-US">
                <a:latin typeface="Times New Roman"/>
                <a:ea typeface="Times New Roman"/>
                <a:cs typeface="Times New Roman"/>
                <a:sym typeface="Times New Roman"/>
              </a:rPr>
              <a:t>Tensor fasciae latae originates from the outer margin of the iliac crest from the anterior superior iliac spine to approximately the tubercle of the crest.</a:t>
            </a:r>
            <a:endParaRPr>
              <a:latin typeface="Times New Roman"/>
              <a:ea typeface="Times New Roman"/>
              <a:cs typeface="Times New Roman"/>
              <a:sym typeface="Times New Roman"/>
            </a:endParaRPr>
          </a:p>
          <a:p>
            <a:pPr indent="-154940" lvl="0" marL="342900" rtl="0" algn="l">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Tensor fasciae latae</a:t>
            </a:r>
            <a:endParaRPr/>
          </a:p>
        </p:txBody>
      </p:sp>
      <p:sp>
        <p:nvSpPr>
          <p:cNvPr id="187" name="Google Shape;18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b="1" lang="en-US">
                <a:latin typeface="Times New Roman"/>
                <a:ea typeface="Times New Roman"/>
                <a:cs typeface="Times New Roman"/>
                <a:sym typeface="Times New Roman"/>
              </a:rPr>
              <a:t>Insertion- </a:t>
            </a:r>
            <a:r>
              <a:rPr lang="en-US">
                <a:latin typeface="Times New Roman"/>
                <a:ea typeface="Times New Roman"/>
                <a:cs typeface="Times New Roman"/>
                <a:sym typeface="Times New Roman"/>
              </a:rPr>
              <a:t>anterior aspect of the iliotibial tract of deep fascia, which runs down the lateral side of the thigh.</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b="1" lang="en-US">
                <a:latin typeface="Times New Roman"/>
                <a:ea typeface="Times New Roman"/>
                <a:cs typeface="Times New Roman"/>
                <a:sym typeface="Times New Roman"/>
              </a:rPr>
              <a:t>Action- </a:t>
            </a:r>
            <a:r>
              <a:rPr lang="en-US">
                <a:latin typeface="Times New Roman"/>
                <a:ea typeface="Times New Roman"/>
                <a:cs typeface="Times New Roman"/>
                <a:sym typeface="Times New Roman"/>
              </a:rPr>
              <a:t>Stabilizes the knee in extension.</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Working with the gluteus maximus muscle on the iliotibial tract lateral to the greater trochanter, Stabilizes the hip joint by holding the head of the femur in the acetabulum.</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b="1" lang="en-US">
                <a:latin typeface="Times New Roman"/>
                <a:ea typeface="Times New Roman"/>
                <a:cs typeface="Times New Roman"/>
                <a:sym typeface="Times New Roman"/>
              </a:rPr>
              <a:t>Innervation- </a:t>
            </a:r>
            <a:r>
              <a:rPr i="1" lang="en-US">
                <a:latin typeface="Times New Roman"/>
                <a:ea typeface="Times New Roman"/>
                <a:cs typeface="Times New Roman"/>
                <a:sym typeface="Times New Roman"/>
              </a:rPr>
              <a:t>superior gluteal nerve with root value </a:t>
            </a:r>
            <a:r>
              <a:rPr b="1" i="1" lang="en-US">
                <a:latin typeface="Times New Roman"/>
                <a:ea typeface="Times New Roman"/>
                <a:cs typeface="Times New Roman"/>
                <a:sym typeface="Times New Roman"/>
              </a:rPr>
              <a:t>L5 &amp; S1.</a:t>
            </a:r>
            <a:endParaRPr>
              <a:latin typeface="Times New Roman"/>
              <a:ea typeface="Times New Roman"/>
              <a:cs typeface="Times New Roman"/>
              <a:sym typeface="Times New Roman"/>
            </a:endParaRPr>
          </a:p>
          <a:p>
            <a:pPr indent="-154940" lvl="0" marL="342900" rtl="0" algn="l">
              <a:spcBef>
                <a:spcPts val="592"/>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Deep group of gluteal muscles</a:t>
            </a:r>
            <a:br>
              <a:rPr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sp>
        <p:nvSpPr>
          <p:cNvPr id="193" name="Google Shape;19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b="1" lang="en-US">
                <a:latin typeface="Times New Roman"/>
                <a:ea typeface="Times New Roman"/>
                <a:cs typeface="Times New Roman"/>
                <a:sym typeface="Times New Roman"/>
              </a:rPr>
              <a:t>Piriformis;</a:t>
            </a:r>
            <a:endParaRPr b="1">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lang="en-US">
                <a:latin typeface="Times New Roman"/>
                <a:ea typeface="Times New Roman"/>
                <a:cs typeface="Times New Roman"/>
                <a:sym typeface="Times New Roman"/>
              </a:rPr>
              <a:t>A narrow pear-shaped muscle is the most superior of the deep group of gluteal muscles.</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lang="en-US">
                <a:latin typeface="Times New Roman"/>
                <a:ea typeface="Times New Roman"/>
                <a:cs typeface="Times New Roman"/>
                <a:sym typeface="Times New Roman"/>
              </a:rPr>
              <a:t>It is a muscle of the pelvic wall and of the gluteal region.</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Origin- </a:t>
            </a:r>
            <a:r>
              <a:rPr lang="en-US">
                <a:latin typeface="Times New Roman"/>
                <a:ea typeface="Times New Roman"/>
                <a:cs typeface="Times New Roman"/>
                <a:sym typeface="Times New Roman"/>
              </a:rPr>
              <a:t>from the superior surface of the sacrum and the sacrotuberous ligaments</a:t>
            </a:r>
            <a:endParaRPr>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Deep group of gluteal muscles</a:t>
            </a:r>
            <a:br>
              <a:rPr lang="en-US">
                <a:solidFill>
                  <a:srgbClr val="C00000"/>
                </a:solidFill>
                <a:latin typeface="Times New Roman"/>
                <a:ea typeface="Times New Roman"/>
                <a:cs typeface="Times New Roman"/>
                <a:sym typeface="Times New Roman"/>
              </a:rPr>
            </a:br>
            <a:endParaRPr/>
          </a:p>
        </p:txBody>
      </p:sp>
      <p:sp>
        <p:nvSpPr>
          <p:cNvPr id="199" name="Google Shape;199;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latin typeface="Times New Roman"/>
                <a:ea typeface="Times New Roman"/>
                <a:cs typeface="Times New Roman"/>
                <a:sym typeface="Times New Roman"/>
              </a:rPr>
              <a:t>Insertion- </a:t>
            </a:r>
            <a:r>
              <a:rPr lang="en-US">
                <a:latin typeface="Times New Roman"/>
                <a:ea typeface="Times New Roman"/>
                <a:cs typeface="Times New Roman"/>
                <a:sym typeface="Times New Roman"/>
              </a:rPr>
              <a:t>superior surface of the greater trochanter of femur.</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Innervation- </a:t>
            </a:r>
            <a:r>
              <a:rPr lang="en-US">
                <a:latin typeface="Times New Roman"/>
                <a:ea typeface="Times New Roman"/>
                <a:cs typeface="Times New Roman"/>
                <a:sym typeface="Times New Roman"/>
              </a:rPr>
              <a:t>innervation is by the nerve to piriformis which are branches from ventra rami of </a:t>
            </a:r>
            <a:r>
              <a:rPr b="1" lang="en-US">
                <a:latin typeface="Times New Roman"/>
                <a:ea typeface="Times New Roman"/>
                <a:cs typeface="Times New Roman"/>
                <a:sym typeface="Times New Roman"/>
              </a:rPr>
              <a:t>S1 &amp; S2.</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Action-	</a:t>
            </a:r>
            <a:r>
              <a:rPr lang="en-US">
                <a:latin typeface="Times New Roman"/>
                <a:ea typeface="Times New Roman"/>
                <a:cs typeface="Times New Roman"/>
                <a:sym typeface="Times New Roman"/>
              </a:rPr>
              <a:t>acts as a stabilizer of the head of the femur in the acetabulum and also extends rotated thigh laterally and abducts flexed thigh.</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Piriformis (A)</a:t>
            </a:r>
            <a:br>
              <a:rPr b="1"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pic>
        <p:nvPicPr>
          <p:cNvPr id="205" name="Google Shape;205;p21"/>
          <p:cNvPicPr preferRelativeResize="0"/>
          <p:nvPr>
            <p:ph idx="1" type="body"/>
          </p:nvPr>
        </p:nvPicPr>
        <p:blipFill rotWithShape="1">
          <a:blip r:embed="rId3">
            <a:alphaModFix/>
          </a:blip>
          <a:srcRect b="0" l="0" r="0" t="0"/>
          <a:stretch/>
        </p:blipFill>
        <p:spPr>
          <a:xfrm>
            <a:off x="1676401" y="1447800"/>
            <a:ext cx="6172200" cy="45259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Obturator internus, gamelli superior &amp; inferior</a:t>
            </a:r>
            <a:endParaRPr>
              <a:solidFill>
                <a:srgbClr val="C00000"/>
              </a:solidFill>
              <a:latin typeface="Times New Roman"/>
              <a:ea typeface="Times New Roman"/>
              <a:cs typeface="Times New Roman"/>
              <a:sym typeface="Times New Roman"/>
            </a:endParaRPr>
          </a:p>
        </p:txBody>
      </p:sp>
      <p:sp>
        <p:nvSpPr>
          <p:cNvPr id="211" name="Google Shape;211;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lang="en-US">
                <a:latin typeface="Times New Roman"/>
                <a:ea typeface="Times New Roman"/>
                <a:cs typeface="Times New Roman"/>
                <a:sym typeface="Times New Roman"/>
              </a:rPr>
              <a:t>These three fan-shaped muscles form a tricipital (3 heads).</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lang="en-US">
                <a:latin typeface="Times New Roman"/>
                <a:ea typeface="Times New Roman"/>
                <a:cs typeface="Times New Roman"/>
                <a:sym typeface="Times New Roman"/>
              </a:rPr>
              <a:t>Often called triceps coxae.</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lang="en-US">
                <a:latin typeface="Times New Roman"/>
                <a:ea typeface="Times New Roman"/>
                <a:cs typeface="Times New Roman"/>
                <a:sym typeface="Times New Roman"/>
              </a:rPr>
              <a:t>They occupy the space between the piriformis and the quadratus femoris muscle.</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br>
              <a:rPr b="1" lang="en-US">
                <a:solidFill>
                  <a:srgbClr val="C00000"/>
                </a:solidFill>
                <a:latin typeface="Times New Roman"/>
                <a:ea typeface="Times New Roman"/>
                <a:cs typeface="Times New Roman"/>
                <a:sym typeface="Times New Roman"/>
              </a:rPr>
            </a:br>
            <a:br>
              <a:rPr b="1" lang="en-US">
                <a:solidFill>
                  <a:srgbClr val="C00000"/>
                </a:solidFill>
                <a:latin typeface="Times New Roman"/>
                <a:ea typeface="Times New Roman"/>
                <a:cs typeface="Times New Roman"/>
                <a:sym typeface="Times New Roman"/>
              </a:rPr>
            </a:br>
            <a:r>
              <a:rPr b="1" lang="en-US">
                <a:solidFill>
                  <a:srgbClr val="C00000"/>
                </a:solidFill>
                <a:latin typeface="Times New Roman"/>
                <a:ea typeface="Times New Roman"/>
                <a:cs typeface="Times New Roman"/>
                <a:sym typeface="Times New Roman"/>
              </a:rPr>
              <a:t>Obturator internus (B)</a:t>
            </a:r>
            <a:br>
              <a:rPr lang="en-US">
                <a:solidFill>
                  <a:srgbClr val="C00000"/>
                </a:solidFill>
                <a:latin typeface="Times New Roman"/>
                <a:ea typeface="Times New Roman"/>
                <a:cs typeface="Times New Roman"/>
                <a:sym typeface="Times New Roman"/>
              </a:rPr>
            </a:br>
            <a:br>
              <a:rPr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pic>
        <p:nvPicPr>
          <p:cNvPr id="217" name="Google Shape;217;p24"/>
          <p:cNvPicPr preferRelativeResize="0"/>
          <p:nvPr>
            <p:ph idx="1" type="body"/>
          </p:nvPr>
        </p:nvPicPr>
        <p:blipFill rotWithShape="1">
          <a:blip r:embed="rId3">
            <a:alphaModFix/>
          </a:blip>
          <a:srcRect b="0" l="0" r="0" t="0"/>
          <a:stretch/>
        </p:blipFill>
        <p:spPr>
          <a:xfrm>
            <a:off x="1524000" y="1600200"/>
            <a:ext cx="6553199" cy="45259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Obturator internus</a:t>
            </a:r>
            <a:endParaRPr>
              <a:solidFill>
                <a:srgbClr val="C00000"/>
              </a:solidFill>
              <a:latin typeface="Times New Roman"/>
              <a:ea typeface="Times New Roman"/>
              <a:cs typeface="Times New Roman"/>
              <a:sym typeface="Times New Roman"/>
            </a:endParaRPr>
          </a:p>
        </p:txBody>
      </p:sp>
      <p:sp>
        <p:nvSpPr>
          <p:cNvPr id="223" name="Google Shape;223;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Origin- </a:t>
            </a:r>
            <a:r>
              <a:rPr lang="en-US">
                <a:latin typeface="Times New Roman"/>
                <a:ea typeface="Times New Roman"/>
                <a:cs typeface="Times New Roman"/>
                <a:sym typeface="Times New Roman"/>
              </a:rPr>
              <a:t>pelvic surface of obturator membrane and surrounding bone.</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Insertion- </a:t>
            </a:r>
            <a:r>
              <a:rPr i="1" lang="en-US">
                <a:latin typeface="Times New Roman"/>
                <a:ea typeface="Times New Roman"/>
                <a:cs typeface="Times New Roman"/>
                <a:sym typeface="Times New Roman"/>
              </a:rPr>
              <a:t>medial border of greater trochanter of femur.</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Innervation- </a:t>
            </a:r>
            <a:r>
              <a:rPr i="1" lang="en-US">
                <a:latin typeface="Times New Roman"/>
                <a:ea typeface="Times New Roman"/>
                <a:cs typeface="Times New Roman"/>
                <a:sym typeface="Times New Roman"/>
              </a:rPr>
              <a:t>nerve to obturator internus with root value L5-S2.</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Action- </a:t>
            </a:r>
            <a:r>
              <a:rPr lang="en-US">
                <a:latin typeface="Times New Roman"/>
                <a:ea typeface="Times New Roman"/>
                <a:cs typeface="Times New Roman"/>
                <a:sym typeface="Times New Roman"/>
              </a:rPr>
              <a:t>same as piriformis muscle.</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Gemellus superior and inferior</a:t>
            </a:r>
            <a:endParaRPr>
              <a:solidFill>
                <a:srgbClr val="C00000"/>
              </a:solidFill>
              <a:latin typeface="Times New Roman"/>
              <a:ea typeface="Times New Roman"/>
              <a:cs typeface="Times New Roman"/>
              <a:sym typeface="Times New Roman"/>
            </a:endParaRPr>
          </a:p>
        </p:txBody>
      </p:sp>
      <p:sp>
        <p:nvSpPr>
          <p:cNvPr id="229" name="Google Shape;229;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t/>
            </a:r>
            <a:endParaRPr b="1">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lang="en-US">
                <a:latin typeface="Times New Roman"/>
                <a:ea typeface="Times New Roman"/>
                <a:cs typeface="Times New Roman"/>
                <a:sym typeface="Times New Roman"/>
              </a:rPr>
              <a:t>(gemelli is Latin for twins) are a pair of triangular muscles associated with the upper and lower margins of the obturator internus tendon.</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Origin- </a:t>
            </a:r>
            <a:r>
              <a:rPr lang="en-US">
                <a:latin typeface="Times New Roman"/>
                <a:ea typeface="Times New Roman"/>
                <a:cs typeface="Times New Roman"/>
                <a:sym typeface="Times New Roman"/>
              </a:rPr>
              <a:t>superior is from ischial spine, Inferior is from	ischial tuberosity.</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Gemellus superior and inferior</a:t>
            </a:r>
            <a:endParaRPr/>
          </a:p>
        </p:txBody>
      </p:sp>
      <p:sp>
        <p:nvSpPr>
          <p:cNvPr id="235" name="Google Shape;235;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latin typeface="Times New Roman"/>
                <a:ea typeface="Times New Roman"/>
                <a:cs typeface="Times New Roman"/>
                <a:sym typeface="Times New Roman"/>
              </a:rPr>
              <a:t>Insertion- </a:t>
            </a:r>
            <a:r>
              <a:rPr i="1" lang="en-US">
                <a:latin typeface="Times New Roman"/>
                <a:ea typeface="Times New Roman"/>
                <a:cs typeface="Times New Roman"/>
                <a:sym typeface="Times New Roman"/>
              </a:rPr>
              <a:t>its tendons blends with that of the obturator internus and inserts on the medial side of the greater trochanter of femur.</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Innervation- </a:t>
            </a:r>
            <a:r>
              <a:rPr lang="en-US">
                <a:latin typeface="Times New Roman"/>
                <a:ea typeface="Times New Roman"/>
                <a:cs typeface="Times New Roman"/>
                <a:sym typeface="Times New Roman"/>
              </a:rPr>
              <a:t>superior gamelli is by nerve to obturator while inferior gamelliis by nerve to quadratus femoris.</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Action- </a:t>
            </a:r>
            <a:r>
              <a:rPr lang="en-US">
                <a:latin typeface="Times New Roman"/>
                <a:ea typeface="Times New Roman"/>
                <a:cs typeface="Times New Roman"/>
                <a:sym typeface="Times New Roman"/>
              </a:rPr>
              <a:t>same as obturator internus and piriformis</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Superior &amp; inferior Gamelli (C)</a:t>
            </a:r>
            <a:br>
              <a:rPr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pic>
        <p:nvPicPr>
          <p:cNvPr id="241" name="Google Shape;241;p27"/>
          <p:cNvPicPr preferRelativeResize="0"/>
          <p:nvPr>
            <p:ph idx="1" type="body"/>
          </p:nvPr>
        </p:nvPicPr>
        <p:blipFill rotWithShape="1">
          <a:blip r:embed="rId3">
            <a:alphaModFix/>
          </a:blip>
          <a:srcRect b="0" l="0" r="0" t="0"/>
          <a:stretch/>
        </p:blipFill>
        <p:spPr>
          <a:xfrm>
            <a:off x="1676400" y="1600200"/>
            <a:ext cx="5410199" cy="452596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Superior &amp; inferior Gamelli (C)</a:t>
            </a:r>
            <a:br>
              <a:rPr lang="en-US">
                <a:solidFill>
                  <a:srgbClr val="C00000"/>
                </a:solidFill>
                <a:latin typeface="Times New Roman"/>
                <a:ea typeface="Times New Roman"/>
                <a:cs typeface="Times New Roman"/>
                <a:sym typeface="Times New Roman"/>
              </a:rPr>
            </a:br>
            <a:endParaRPr/>
          </a:p>
        </p:txBody>
      </p:sp>
      <p:sp>
        <p:nvSpPr>
          <p:cNvPr id="247" name="Google Shape;24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latin typeface="Times New Roman"/>
                <a:ea typeface="Times New Roman"/>
                <a:cs typeface="Times New Roman"/>
                <a:sym typeface="Times New Roman"/>
              </a:rPr>
              <a:t>Insertion- </a:t>
            </a:r>
            <a:r>
              <a:rPr i="1" lang="en-US">
                <a:latin typeface="Times New Roman"/>
                <a:ea typeface="Times New Roman"/>
                <a:cs typeface="Times New Roman"/>
                <a:sym typeface="Times New Roman"/>
              </a:rPr>
              <a:t>its tendons blends with that of the obturator internus and inserts on the medial side of the greater trochanter of femur.</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Innervation- </a:t>
            </a:r>
            <a:r>
              <a:rPr lang="en-US">
                <a:latin typeface="Times New Roman"/>
                <a:ea typeface="Times New Roman"/>
                <a:cs typeface="Times New Roman"/>
                <a:sym typeface="Times New Roman"/>
              </a:rPr>
              <a:t>superior gamelli is by nerve to obturator while inferior gamelliis by nerve to quadratus femoris.</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b="1" lang="en-US">
                <a:latin typeface="Times New Roman"/>
                <a:ea typeface="Times New Roman"/>
                <a:cs typeface="Times New Roman"/>
                <a:sym typeface="Times New Roman"/>
              </a:rPr>
              <a:t>Action- </a:t>
            </a:r>
            <a:r>
              <a:rPr lang="en-US">
                <a:latin typeface="Times New Roman"/>
                <a:ea typeface="Times New Roman"/>
                <a:cs typeface="Times New Roman"/>
                <a:sym typeface="Times New Roman"/>
              </a:rPr>
              <a:t>same as obturator internus and piriformis</a:t>
            </a:r>
            <a:endParaRPr>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type="title"/>
          </p:nvPr>
        </p:nvSpPr>
        <p:spPr>
          <a:xfrm>
            <a:off x="76200" y="76200"/>
            <a:ext cx="8229600" cy="81724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Quadratus femoris</a:t>
            </a:r>
            <a:endParaRPr b="1">
              <a:solidFill>
                <a:srgbClr val="C00000"/>
              </a:solidFill>
              <a:latin typeface="Times New Roman"/>
              <a:ea typeface="Times New Roman"/>
              <a:cs typeface="Times New Roman"/>
              <a:sym typeface="Times New Roman"/>
            </a:endParaRPr>
          </a:p>
        </p:txBody>
      </p:sp>
      <p:sp>
        <p:nvSpPr>
          <p:cNvPr id="253" name="Google Shape;253;p29"/>
          <p:cNvSpPr txBox="1"/>
          <p:nvPr>
            <p:ph idx="1" type="body"/>
          </p:nvPr>
        </p:nvSpPr>
        <p:spPr>
          <a:xfrm>
            <a:off x="114935" y="1169035"/>
            <a:ext cx="9084945" cy="5635625"/>
          </a:xfrm>
          <a:prstGeom prst="rect">
            <a:avLst/>
          </a:prstGeom>
          <a:noFill/>
          <a:ln>
            <a:noFill/>
          </a:ln>
        </p:spPr>
        <p:txBody>
          <a:bodyPr anchorCtr="0" anchor="t" bIns="45700" lIns="91425" spcFirstLastPara="1" rIns="91425" wrap="square" tIns="45700">
            <a:normAutofit fontScale="90000"/>
          </a:bodyPr>
          <a:lstStyle/>
          <a:p>
            <a:pPr indent="-342900" lvl="0" marL="342900" rtl="0" algn="l">
              <a:spcBef>
                <a:spcPts val="0"/>
              </a:spcBef>
              <a:spcAft>
                <a:spcPts val="0"/>
              </a:spcAft>
              <a:buClr>
                <a:schemeClr val="dk1"/>
              </a:buClr>
              <a:buSzPct val="100000"/>
              <a:buChar char="•"/>
            </a:pPr>
            <a:r>
              <a:rPr lang="en-US">
                <a:latin typeface="Times New Roman"/>
                <a:ea typeface="Times New Roman"/>
                <a:cs typeface="Times New Roman"/>
                <a:sym typeface="Times New Roman"/>
              </a:rPr>
              <a:t>quadratus femoris is a flat muscles ; it is the most inferior of the deep gluteal muscles. located below the gemelli and obturator internus. </a:t>
            </a:r>
            <a:endParaRPr>
              <a:latin typeface="Times New Roman"/>
              <a:ea typeface="Times New Roman"/>
              <a:cs typeface="Times New Roman"/>
              <a:sym typeface="Times New Roman"/>
            </a:endParaRPr>
          </a:p>
          <a:p>
            <a:pPr indent="-160020" lvl="0" marL="342900" rtl="0" algn="l">
              <a:spcBef>
                <a:spcPts val="576"/>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l">
              <a:spcBef>
                <a:spcPts val="576"/>
              </a:spcBef>
              <a:spcAft>
                <a:spcPts val="0"/>
              </a:spcAft>
              <a:buClr>
                <a:schemeClr val="dk1"/>
              </a:buClr>
              <a:buSzPct val="100000"/>
              <a:buChar char="•"/>
            </a:pPr>
            <a:r>
              <a:rPr b="1" lang="en-US">
                <a:latin typeface="Times New Roman"/>
                <a:ea typeface="Times New Roman"/>
                <a:cs typeface="Times New Roman"/>
                <a:sym typeface="Times New Roman"/>
              </a:rPr>
              <a:t>originate :</a:t>
            </a:r>
            <a:r>
              <a:rPr lang="en-US">
                <a:latin typeface="Times New Roman"/>
                <a:ea typeface="Times New Roman"/>
                <a:cs typeface="Times New Roman"/>
                <a:sym typeface="Times New Roman"/>
              </a:rPr>
              <a:t> from the lateral aspect of the ischial tuberosity.</a:t>
            </a:r>
            <a:endParaRPr>
              <a:latin typeface="Times New Roman"/>
              <a:ea typeface="Times New Roman"/>
              <a:cs typeface="Times New Roman"/>
              <a:sym typeface="Times New Roman"/>
            </a:endParaRPr>
          </a:p>
          <a:p>
            <a:pPr indent="-342900" lvl="0" marL="342900" rtl="0" algn="l">
              <a:spcBef>
                <a:spcPts val="576"/>
              </a:spcBef>
              <a:spcAft>
                <a:spcPts val="0"/>
              </a:spcAft>
              <a:buClr>
                <a:schemeClr val="dk1"/>
              </a:buClr>
              <a:buSzPct val="100000"/>
              <a:buChar char="•"/>
            </a:pPr>
            <a:r>
              <a:rPr b="1" lang="en-US">
                <a:latin typeface="Times New Roman"/>
                <a:ea typeface="Times New Roman"/>
                <a:cs typeface="Times New Roman"/>
                <a:sym typeface="Times New Roman"/>
              </a:rPr>
              <a:t>insertion:</a:t>
            </a:r>
            <a:r>
              <a:rPr lang="en-US">
                <a:latin typeface="Times New Roman"/>
                <a:ea typeface="Times New Roman"/>
                <a:cs typeface="Times New Roman"/>
                <a:sym typeface="Times New Roman"/>
              </a:rPr>
              <a:t>  to the quadrate tuberosity on the intertrochanteric crest.</a:t>
            </a:r>
            <a:endParaRPr>
              <a:latin typeface="Times New Roman"/>
              <a:ea typeface="Times New Roman"/>
              <a:cs typeface="Times New Roman"/>
              <a:sym typeface="Times New Roman"/>
            </a:endParaRPr>
          </a:p>
          <a:p>
            <a:pPr indent="-160020" lvl="0" marL="342900" rtl="0" algn="l">
              <a:spcBef>
                <a:spcPts val="576"/>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l">
              <a:spcBef>
                <a:spcPts val="576"/>
              </a:spcBef>
              <a:spcAft>
                <a:spcPts val="0"/>
              </a:spcAft>
              <a:buClr>
                <a:schemeClr val="dk1"/>
              </a:buClr>
              <a:buSzPct val="100000"/>
              <a:buChar char="•"/>
            </a:pPr>
            <a:r>
              <a:rPr b="1" lang="en-US">
                <a:latin typeface="Times New Roman"/>
                <a:ea typeface="Times New Roman"/>
                <a:cs typeface="Times New Roman"/>
                <a:sym typeface="Times New Roman"/>
              </a:rPr>
              <a:t>innervation</a:t>
            </a:r>
            <a:r>
              <a:rPr lang="en-US">
                <a:latin typeface="Times New Roman"/>
                <a:ea typeface="Times New Roman"/>
                <a:cs typeface="Times New Roman"/>
                <a:sym typeface="Times New Roman"/>
              </a:rPr>
              <a:t> : nerve to quadratus femoris</a:t>
            </a:r>
            <a:endParaRPr>
              <a:latin typeface="Times New Roman"/>
              <a:ea typeface="Times New Roman"/>
              <a:cs typeface="Times New Roman"/>
              <a:sym typeface="Times New Roman"/>
            </a:endParaRPr>
          </a:p>
          <a:p>
            <a:pPr indent="-160020" lvl="0" marL="342900" rtl="0" algn="l">
              <a:spcBef>
                <a:spcPts val="576"/>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l">
              <a:spcBef>
                <a:spcPts val="576"/>
              </a:spcBef>
              <a:spcAft>
                <a:spcPts val="0"/>
              </a:spcAft>
              <a:buClr>
                <a:schemeClr val="dk1"/>
              </a:buClr>
              <a:buSzPct val="100000"/>
              <a:buChar char="•"/>
            </a:pPr>
            <a:r>
              <a:rPr b="1" lang="en-US">
                <a:latin typeface="Times New Roman"/>
                <a:ea typeface="Times New Roman"/>
                <a:cs typeface="Times New Roman"/>
                <a:sym typeface="Times New Roman"/>
              </a:rPr>
              <a:t>Action</a:t>
            </a:r>
            <a:r>
              <a:rPr lang="en-US">
                <a:latin typeface="Times New Roman"/>
                <a:ea typeface="Times New Roman"/>
                <a:cs typeface="Times New Roman"/>
                <a:sym typeface="Times New Roman"/>
              </a:rPr>
              <a:t>: lateral rotation of the lower limb</a:t>
            </a:r>
            <a:endParaRPr>
              <a:latin typeface="Times New Roman"/>
              <a:ea typeface="Times New Roman"/>
              <a:cs typeface="Times New Roman"/>
              <a:sym typeface="Times New Roman"/>
            </a:endParaRPr>
          </a:p>
          <a:p>
            <a:pPr indent="-160020" lvl="0" marL="342900" rtl="0" algn="l">
              <a:spcBef>
                <a:spcPts val="576"/>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Nerves of gluteal region</a:t>
            </a:r>
            <a:endParaRPr b="1">
              <a:solidFill>
                <a:srgbClr val="C00000"/>
              </a:solidFill>
              <a:latin typeface="Times New Roman"/>
              <a:ea typeface="Times New Roman"/>
              <a:cs typeface="Times New Roman"/>
              <a:sym typeface="Times New Roman"/>
            </a:endParaRPr>
          </a:p>
        </p:txBody>
      </p:sp>
      <p:sp>
        <p:nvSpPr>
          <p:cNvPr id="259" name="Google Shape;259;p30"/>
          <p:cNvSpPr txBox="1"/>
          <p:nvPr>
            <p:ph idx="1" type="body"/>
          </p:nvPr>
        </p:nvSpPr>
        <p:spPr>
          <a:xfrm>
            <a:off x="457200" y="1600200"/>
            <a:ext cx="39624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Sciatic n.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 Post. cut. n. of the thigh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Sup. glut. n.</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Inf. glut. n.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Nerve to Quadratus femoris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 Pudendal n. </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Nerve to obturator internus </a:t>
            </a:r>
            <a:endParaRPr>
              <a:latin typeface="Times New Roman"/>
              <a:ea typeface="Times New Roman"/>
              <a:cs typeface="Times New Roman"/>
              <a:sym typeface="Times New Roman"/>
            </a:endParaRPr>
          </a:p>
        </p:txBody>
      </p:sp>
      <p:sp>
        <p:nvSpPr>
          <p:cNvPr id="260" name="Google Shape;260;p30"/>
          <p:cNvSpPr/>
          <p:nvPr/>
        </p:nvSpPr>
        <p:spPr>
          <a:xfrm>
            <a:off x="3886200" y="1219200"/>
            <a:ext cx="4876800"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C00000"/>
                </a:solidFill>
                <a:latin typeface="Times New Roman"/>
                <a:ea typeface="Times New Roman"/>
                <a:cs typeface="Times New Roman"/>
                <a:sym typeface="Times New Roman"/>
              </a:rPr>
              <a:t>Sciatic nerve </a:t>
            </a:r>
            <a:endParaRPr b="1" sz="24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L 4, 5; S 1, 2, 3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Curves downward midway between the tuber ischii and the greater trochanter.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Has a side of danger and a side of safety. Is the largest branch of the sacral plexus and the largest nerve in body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Consists of two separate nerves, the common peroneal nerve and the tibial nerve • Leaves the pelvis through the greater sciatic foramen below the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Intramuscular injections</a:t>
            </a:r>
            <a:br>
              <a:rPr b="1"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sp>
        <p:nvSpPr>
          <p:cNvPr id="266" name="Google Shape;266;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latin typeface="Times New Roman"/>
                <a:ea typeface="Times New Roman"/>
                <a:cs typeface="Times New Roman"/>
                <a:sym typeface="Times New Roman"/>
              </a:rPr>
              <a:t>From time to time it is necessary to administer drugs intramuscularly: that is, by direct injection into muscles.</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This procedure must be carried out without injuring neurovascular structures.</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A typical site for an intramuscular injection is the gluteal region.</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The sciatic nerve passes through this region and needs to be avoided.</a:t>
            </a:r>
            <a:endParaRPr>
              <a:latin typeface="Times New Roman"/>
              <a:ea typeface="Times New Roman"/>
              <a:cs typeface="Times New Roman"/>
              <a:sym typeface="Times New Roman"/>
            </a:endParaRPr>
          </a:p>
          <a:p>
            <a:pPr indent="-342900" lvl="0" marL="342900" rtl="0" algn="l">
              <a:spcBef>
                <a:spcPts val="592"/>
              </a:spcBef>
              <a:spcAft>
                <a:spcPts val="0"/>
              </a:spcAft>
              <a:buClr>
                <a:schemeClr val="dk1"/>
              </a:buClr>
              <a:buSzPct val="100000"/>
              <a:buChar char="•"/>
            </a:pPr>
            <a:r>
              <a:rPr lang="en-US">
                <a:latin typeface="Times New Roman"/>
                <a:ea typeface="Times New Roman"/>
                <a:cs typeface="Times New Roman"/>
                <a:sym typeface="Times New Roman"/>
              </a:rPr>
              <a:t>The safest place to inject is the upper outer quadrant of either gluteal region</a:t>
            </a:r>
            <a:endParaRPr>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Intramuscular injections</a:t>
            </a:r>
            <a:br>
              <a:rPr b="1" lang="en-US">
                <a:solidFill>
                  <a:srgbClr val="C00000"/>
                </a:solidFill>
                <a:latin typeface="Times New Roman"/>
                <a:ea typeface="Times New Roman"/>
                <a:cs typeface="Times New Roman"/>
                <a:sym typeface="Times New Roman"/>
              </a:rPr>
            </a:br>
            <a:endParaRPr/>
          </a:p>
        </p:txBody>
      </p:sp>
      <p:sp>
        <p:nvSpPr>
          <p:cNvPr id="272" name="Google Shape;272;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latin typeface="Times New Roman"/>
                <a:ea typeface="Times New Roman"/>
                <a:cs typeface="Times New Roman"/>
                <a:sym typeface="Times New Roman"/>
              </a:rPr>
              <a:t>It is important to remember that the gluteal region extends as far forward as the anterior superior iliac spine.</a:t>
            </a:r>
            <a:endParaRPr>
              <a:latin typeface="Times New Roman"/>
              <a:ea typeface="Times New Roman"/>
              <a:cs typeface="Times New Roman"/>
              <a:sym typeface="Times New Roman"/>
            </a:endParaRPr>
          </a:p>
          <a:p>
            <a:pPr indent="-342900" lvl="0" marL="342900" rtl="0" algn="l">
              <a:spcBef>
                <a:spcPts val="544"/>
              </a:spcBef>
              <a:spcAft>
                <a:spcPts val="0"/>
              </a:spcAft>
              <a:buClr>
                <a:schemeClr val="dk1"/>
              </a:buClr>
              <a:buSzPct val="100000"/>
              <a:buChar char="•"/>
            </a:pPr>
            <a:r>
              <a:rPr lang="en-US">
                <a:latin typeface="Times New Roman"/>
                <a:ea typeface="Times New Roman"/>
                <a:cs typeface="Times New Roman"/>
                <a:sym typeface="Times New Roman"/>
              </a:rPr>
              <a:t>The sciatic nerve curves through the upper lateral corner of the lower medial quadrant and descends along the medial margin of the lower lateral quadrant.</a:t>
            </a:r>
            <a:endParaRPr>
              <a:latin typeface="Times New Roman"/>
              <a:ea typeface="Times New Roman"/>
              <a:cs typeface="Times New Roman"/>
              <a:sym typeface="Times New Roman"/>
            </a:endParaRPr>
          </a:p>
          <a:p>
            <a:pPr indent="-342900" lvl="0" marL="342900" rtl="0" algn="l">
              <a:spcBef>
                <a:spcPts val="544"/>
              </a:spcBef>
              <a:spcAft>
                <a:spcPts val="0"/>
              </a:spcAft>
              <a:buClr>
                <a:schemeClr val="dk1"/>
              </a:buClr>
              <a:buSzPct val="100000"/>
              <a:buChar char="•"/>
            </a:pPr>
            <a:r>
              <a:rPr lang="en-US">
                <a:latin typeface="Times New Roman"/>
                <a:ea typeface="Times New Roman"/>
                <a:cs typeface="Times New Roman"/>
                <a:sym typeface="Times New Roman"/>
              </a:rPr>
              <a:t>Occasionally, the sciatic nerve bifurcates into its tibial and common fibular branches in the pelvis, in which case the common fibular nerve passes into the gluteal region through, or even above, the piriformis muscle.</a:t>
            </a:r>
            <a:endParaRPr>
              <a:latin typeface="Times New Roman"/>
              <a:ea typeface="Times New Roman"/>
              <a:cs typeface="Times New Roman"/>
              <a:sym typeface="Times New Roman"/>
            </a:endParaRPr>
          </a:p>
          <a:p>
            <a:pPr indent="-170180" lvl="0" marL="342900" rtl="0" algn="l">
              <a:spcBef>
                <a:spcPts val="544"/>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C00000"/>
              </a:buClr>
              <a:buSzPct val="100000"/>
              <a:buFont typeface="Times New Roman"/>
              <a:buNone/>
            </a:pPr>
            <a:r>
              <a:rPr b="1" lang="en-US">
                <a:solidFill>
                  <a:srgbClr val="C00000"/>
                </a:solidFill>
                <a:latin typeface="Times New Roman"/>
                <a:ea typeface="Times New Roman"/>
                <a:cs typeface="Times New Roman"/>
                <a:sym typeface="Times New Roman"/>
              </a:rPr>
              <a:t>QUADRANT FOR INTERMUSCULAR INJECTION </a:t>
            </a:r>
            <a:br>
              <a:rPr lang="en-US">
                <a:solidFill>
                  <a:srgbClr val="C00000"/>
                </a:solidFill>
                <a:latin typeface="Times New Roman"/>
                <a:ea typeface="Times New Roman"/>
                <a:cs typeface="Times New Roman"/>
                <a:sym typeface="Times New Roman"/>
              </a:rPr>
            </a:br>
            <a:endParaRPr>
              <a:solidFill>
                <a:srgbClr val="C00000"/>
              </a:solidFill>
              <a:latin typeface="Times New Roman"/>
              <a:ea typeface="Times New Roman"/>
              <a:cs typeface="Times New Roman"/>
              <a:sym typeface="Times New Roman"/>
            </a:endParaRPr>
          </a:p>
        </p:txBody>
      </p:sp>
      <p:pic>
        <p:nvPicPr>
          <p:cNvPr id="278" name="Google Shape;278;p33"/>
          <p:cNvPicPr preferRelativeResize="0"/>
          <p:nvPr>
            <p:ph idx="1" type="body"/>
          </p:nvPr>
        </p:nvPicPr>
        <p:blipFill rotWithShape="1">
          <a:blip r:embed="rId3">
            <a:alphaModFix/>
          </a:blip>
          <a:srcRect b="0" l="0" r="0" t="0"/>
          <a:stretch/>
        </p:blipFill>
        <p:spPr>
          <a:xfrm>
            <a:off x="838200" y="1524000"/>
            <a:ext cx="7086600" cy="498316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GLUTEAL ARTERIES</a:t>
            </a:r>
            <a:endParaRPr b="1">
              <a:solidFill>
                <a:srgbClr val="C00000"/>
              </a:solidFill>
              <a:latin typeface="Times New Roman"/>
              <a:ea typeface="Times New Roman"/>
              <a:cs typeface="Times New Roman"/>
              <a:sym typeface="Times New Roman"/>
            </a:endParaRPr>
          </a:p>
        </p:txBody>
      </p:sp>
      <p:sp>
        <p:nvSpPr>
          <p:cNvPr id="284" name="Google Shape;284;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latin typeface="Times New Roman"/>
                <a:ea typeface="Times New Roman"/>
                <a:cs typeface="Times New Roman"/>
                <a:sym typeface="Times New Roman"/>
              </a:rPr>
              <a:t>Two arteries enter the gluteal region from the pelvic cavity through the greater sciatic foramen, the inferior gluteal artery and the superior gluteal artery.</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lang="en-US">
                <a:latin typeface="Times New Roman"/>
                <a:ea typeface="Times New Roman"/>
                <a:cs typeface="Times New Roman"/>
                <a:sym typeface="Times New Roman"/>
              </a:rPr>
              <a:t>They supply structures in the gluteal region and posterior thigh and have important collateral anastomoses with branches of the femoral artery.</a:t>
            </a:r>
            <a:endParaRPr>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GLUTEAL ARTERIES</a:t>
            </a:r>
            <a:endParaRPr/>
          </a:p>
        </p:txBody>
      </p:sp>
      <p:pic>
        <p:nvPicPr>
          <p:cNvPr id="290" name="Google Shape;290;p35"/>
          <p:cNvPicPr preferRelativeResize="0"/>
          <p:nvPr>
            <p:ph idx="1" type="body"/>
          </p:nvPr>
        </p:nvPicPr>
        <p:blipFill rotWithShape="1">
          <a:blip r:embed="rId3">
            <a:alphaModFix/>
          </a:blip>
          <a:srcRect b="0" l="0" r="0" t="0"/>
          <a:stretch/>
        </p:blipFill>
        <p:spPr>
          <a:xfrm>
            <a:off x="1447800" y="1371600"/>
            <a:ext cx="6477000" cy="47545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2023-01-14T13:58:00Z</dcterms:created>
  <dc:creator>LENOVO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AE24698F136E407388BADF919267EDFD_12</vt:lpwstr>
  </property>
  <property fmtid="{D5CDD505-2E9C-101B-9397-08002B2CF9AE}" pid="3" name="KSOProductBuildVer">
    <vt:lpwstr>1033-12.2.0.17153</vt:lpwstr>
  </property>
</Properties>
</file>