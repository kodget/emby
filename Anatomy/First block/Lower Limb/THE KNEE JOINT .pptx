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91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32" r:id="rId35"/>
    <p:sldId id="325" r:id="rId36"/>
    <p:sldId id="326" r:id="rId37"/>
    <p:sldId id="330" r:id="rId38"/>
    <p:sldId id="327" r:id="rId39"/>
    <p:sldId id="328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9E827-5FF8-40FC-A2EF-6B1EE5AB8EE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C48CBD-A668-4188-9D14-2173300F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96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B2AC8-E0CF-48BE-9F34-A2DB2D376E4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F2A1-0749-4897-8D4F-BD7F10834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22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B2AC8-E0CF-48BE-9F34-A2DB2D376E4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F2A1-0749-4897-8D4F-BD7F10834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45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B2AC8-E0CF-48BE-9F34-A2DB2D376E4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F2A1-0749-4897-8D4F-BD7F10834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B2AC8-E0CF-48BE-9F34-A2DB2D376E4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F2A1-0749-4897-8D4F-BD7F10834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10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B2AC8-E0CF-48BE-9F34-A2DB2D376E4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F2A1-0749-4897-8D4F-BD7F10834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60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B2AC8-E0CF-48BE-9F34-A2DB2D376E4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F2A1-0749-4897-8D4F-BD7F10834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08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B2AC8-E0CF-48BE-9F34-A2DB2D376E4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F2A1-0749-4897-8D4F-BD7F10834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338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B2AC8-E0CF-48BE-9F34-A2DB2D376E4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F2A1-0749-4897-8D4F-BD7F10834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1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B2AC8-E0CF-48BE-9F34-A2DB2D376E4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F2A1-0749-4897-8D4F-BD7F10834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9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B2AC8-E0CF-48BE-9F34-A2DB2D376E4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F2A1-0749-4897-8D4F-BD7F10834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21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B2AC8-E0CF-48BE-9F34-A2DB2D376E4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1F2A1-0749-4897-8D4F-BD7F10834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4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B2AC8-E0CF-48BE-9F34-A2DB2D376E4F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1F2A1-0749-4897-8D4F-BD7F10834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89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2895600" y="3143248"/>
            <a:ext cx="6400800" cy="1428752"/>
          </a:xfrm>
        </p:spPr>
        <p:txBody>
          <a:bodyPr>
            <a:noAutofit/>
          </a:bodyPr>
          <a:lstStyle/>
          <a:p>
            <a:r>
              <a:rPr lang="en-AU" sz="4400" dirty="0">
                <a:latin typeface="Arial Black" panose="020B0A04020102020204" pitchFamily="34" charset="0"/>
              </a:rPr>
              <a:t>BY</a:t>
            </a:r>
          </a:p>
          <a:p>
            <a:r>
              <a:rPr lang="en-AU" sz="4400" dirty="0">
                <a:latin typeface="Arial Black" panose="020B0A04020102020204" pitchFamily="34" charset="0"/>
              </a:rPr>
              <a:t>         </a:t>
            </a:r>
          </a:p>
          <a:p>
            <a:endParaRPr lang="en-AU" sz="4400" dirty="0">
              <a:latin typeface="Arial Black" panose="020B0A04020102020204" pitchFamily="34" charset="0"/>
            </a:endParaRPr>
          </a:p>
          <a:p>
            <a:r>
              <a:rPr lang="en-AU" sz="4400" dirty="0">
                <a:latin typeface="Arial Black" panose="020B0A04020102020204" pitchFamily="34" charset="0"/>
              </a:rPr>
              <a:t>     DR OJEWALE AO</a:t>
            </a:r>
            <a:endParaRPr lang="en-US" sz="4400" dirty="0">
              <a:latin typeface="Arial Black" panose="020B0A040201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209800" y="381000"/>
            <a:ext cx="7772400" cy="161924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THE KNEE JOINT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06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3CD71D-9398-4EA9-A017-7444B1BA7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8052"/>
            <a:ext cx="10515600" cy="1630017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038581-3A00-4F08-B381-BDAB72BBC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87" y="318052"/>
            <a:ext cx="10823713" cy="5858911"/>
          </a:xfrm>
        </p:spPr>
        <p:txBody>
          <a:bodyPr>
            <a:noAutofit/>
          </a:bodyPr>
          <a:lstStyle/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Intro’</a:t>
            </a:r>
          </a:p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Articular surface</a:t>
            </a:r>
          </a:p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fibrous capsule</a:t>
            </a:r>
          </a:p>
          <a:p>
            <a:pPr algn="just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The synovial membrane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Ligaments</a:t>
            </a:r>
          </a:p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Relations</a:t>
            </a:r>
          </a:p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Movements</a:t>
            </a:r>
          </a:p>
          <a:p>
            <a:pPr algn="just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Locking and unlocking of the knee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Stability</a:t>
            </a:r>
          </a:p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Blood supply</a:t>
            </a:r>
          </a:p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Innervation &amp; Lymphatic drainage</a:t>
            </a:r>
          </a:p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Applied Anatomy</a:t>
            </a:r>
          </a:p>
        </p:txBody>
      </p:sp>
    </p:spTree>
    <p:extLst>
      <p:ext uri="{BB962C8B-B14F-4D97-AF65-F5344CB8AC3E}">
        <p14:creationId xmlns:p14="http://schemas.microsoft.com/office/powerpoint/2010/main" val="3450641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Arial Black" pitchFamily="34" charset="0"/>
              </a:rPr>
              <a:t>Intro’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609600" y="1142984"/>
            <a:ext cx="5410200" cy="5286412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largest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most complicated joint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body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Is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complex hinge type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synovial joint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which essentially permits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flexion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extension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on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transverse axis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formed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between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femoral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tibial condyles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also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between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has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single joint cavity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(despite its complexity).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72200" y="1142984"/>
            <a:ext cx="5328634" cy="535785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strengthened</a:t>
            </a:r>
            <a:r>
              <a:rPr lang="en-AU" dirty="0">
                <a:latin typeface="Arial" pitchFamily="34" charset="0"/>
                <a:cs typeface="Arial" pitchFamily="34" charset="0"/>
              </a:rPr>
              <a:t> mainly by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muscles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ligaments</a:t>
            </a:r>
            <a:r>
              <a:rPr lang="en-AU" dirty="0">
                <a:latin typeface="Arial" pitchFamily="34" charset="0"/>
                <a:cs typeface="Arial" pitchFamily="34" charset="0"/>
              </a:rPr>
              <a:t> that are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associated </a:t>
            </a:r>
            <a:r>
              <a:rPr lang="en-AU" dirty="0">
                <a:latin typeface="Arial" pitchFamily="34" charset="0"/>
                <a:cs typeface="Arial" pitchFamily="34" charset="0"/>
              </a:rPr>
              <a:t>with it.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major weight-bearing joint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body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67438" y="3374264"/>
            <a:ext cx="4500562" cy="2736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810249" y="6072207"/>
            <a:ext cx="521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A, condylar type of medial and lateral femorotibial joints;  B, saddle type of patellofemoral joint.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11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557194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Arial Black" pitchFamily="34" charset="0"/>
              </a:rPr>
              <a:t>Articular Surfaces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639" y="857232"/>
            <a:ext cx="5666705" cy="6000768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 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knee joints are:</a:t>
            </a:r>
          </a:p>
          <a:p>
            <a:pPr algn="just">
              <a:buFont typeface="Wingdings" pitchFamily="2" charset="2"/>
              <a:buChar char="Ø"/>
            </a:pPr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1. 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 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condyles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convex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femoral condyles articulate</a:t>
            </a:r>
            <a:r>
              <a:rPr lang="en-AU" dirty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concave tibial condyles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 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femoral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condyles </a:t>
            </a:r>
            <a:r>
              <a:rPr lang="en-AU" dirty="0">
                <a:latin typeface="Arial" pitchFamily="34" charset="0"/>
                <a:cs typeface="Arial" pitchFamily="34" charset="0"/>
              </a:rPr>
              <a:t>are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covered</a:t>
            </a:r>
            <a:r>
              <a:rPr lang="en-AU" dirty="0">
                <a:latin typeface="Arial" pitchFamily="34" charset="0"/>
                <a:cs typeface="Arial" pitchFamily="34" charset="0"/>
              </a:rPr>
              <a:t> by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 hyaline cartilage</a:t>
            </a:r>
            <a:r>
              <a:rPr lang="en-AU" dirty="0">
                <a:latin typeface="Arial" pitchFamily="34" charset="0"/>
                <a:cs typeface="Arial" pitchFamily="34" charset="0"/>
              </a:rPr>
              <a:t> (to prevent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friction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928670"/>
            <a:ext cx="5176234" cy="5124658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2. 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Trochlear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located</a:t>
            </a:r>
            <a:r>
              <a:rPr lang="en-AU" dirty="0">
                <a:latin typeface="Arial" pitchFamily="34" charset="0"/>
                <a:cs typeface="Arial" pitchFamily="34" charset="0"/>
              </a:rPr>
              <a:t>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aspect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. It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articulates</a:t>
            </a:r>
            <a:r>
              <a:rPr lang="en-AU" dirty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. 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pulley-shaped</a:t>
            </a:r>
            <a:r>
              <a:rPr lang="en-AU" dirty="0">
                <a:latin typeface="Arial" pitchFamily="34" charset="0"/>
                <a:cs typeface="Arial" pitchFamily="34" charset="0"/>
              </a:rPr>
              <a:t>, consisting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sloping surfaces meeting</a:t>
            </a:r>
            <a:r>
              <a:rPr lang="en-AU" dirty="0">
                <a:latin typeface="Arial" pitchFamily="34" charset="0"/>
                <a:cs typeface="Arial" pitchFamily="34" charset="0"/>
              </a:rPr>
              <a:t> with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each other </a:t>
            </a:r>
            <a:r>
              <a:rPr lang="en-AU" dirty="0">
                <a:latin typeface="Arial" pitchFamily="34" charset="0"/>
                <a:cs typeface="Arial" pitchFamily="34" charset="0"/>
              </a:rPr>
              <a:t>in a median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vertical groove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sloping surface</a:t>
            </a:r>
            <a:r>
              <a:rPr lang="en-AU" dirty="0">
                <a:latin typeface="Arial" pitchFamily="34" charset="0"/>
                <a:cs typeface="Arial" pitchFamily="34" charset="0"/>
              </a:rPr>
              <a:t>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longer</a:t>
            </a:r>
            <a:r>
              <a:rPr lang="en-AU" dirty="0">
                <a:latin typeface="Arial" pitchFamily="34" charset="0"/>
                <a:cs typeface="Arial" pitchFamily="34" charset="0"/>
              </a:rPr>
              <a:t> than that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 sloping surface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AU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7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0913" y="285728"/>
            <a:ext cx="5323439" cy="5929354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3.  Articular surface of the patella.</a:t>
            </a:r>
          </a:p>
          <a:p>
            <a:pPr algn="just">
              <a:buNone/>
            </a:pPr>
            <a:endParaRPr lang="en-AU" sz="20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AU" sz="2400" dirty="0">
                <a:latin typeface="Arial" pitchFamily="34" charset="0"/>
                <a:cs typeface="Arial" pitchFamily="34" charset="0"/>
              </a:rPr>
              <a:t>It is on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posterior aspect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and articulates with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trochlear surface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 It has a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larger lateral area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and a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smaller medial area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AU" sz="24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femur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also articulates with the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 patella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(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patellofemoral joint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) through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concave patellar surface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>
              <a:buFont typeface="Wingdings" pitchFamily="2" charset="2"/>
              <a:buChar char="Ø"/>
            </a:pPr>
            <a:endParaRPr lang="en-AU" sz="20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endParaRPr lang="en-AU" sz="24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pic>
        <p:nvPicPr>
          <p:cNvPr id="205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2024034" y="5203064"/>
            <a:ext cx="3962400" cy="95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540914" y="6215082"/>
            <a:ext cx="5555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Arial" pitchFamily="34" charset="0"/>
                <a:cs typeface="Arial" pitchFamily="34" charset="0"/>
              </a:rPr>
              <a:t>Inferior aspect of the patella and lower end of the femur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2" y="285728"/>
            <a:ext cx="5881350" cy="77251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>
                <a:latin typeface="Arial" pitchFamily="34" charset="0"/>
                <a:cs typeface="Arial" pitchFamily="34" charset="0"/>
              </a:rPr>
              <a:t>4. Articular surfaces of medial and lateral condyles of the tibia</a:t>
            </a:r>
          </a:p>
          <a:p>
            <a:endParaRPr lang="en-AU" sz="28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AU" sz="2800" dirty="0">
                <a:latin typeface="Arial" pitchFamily="34" charset="0"/>
                <a:cs typeface="Arial" pitchFamily="34" charset="0"/>
              </a:rPr>
              <a:t>They are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concave centrally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but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flattened peripherally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(where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each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 is 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covered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corresponding meniscus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endParaRPr lang="en-AU" sz="28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AU" sz="28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presence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 of a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meniscus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 on each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tibial condyle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helps to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deepen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concavity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articular surface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of this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condyle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endParaRPr lang="en-AU" sz="20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endParaRPr lang="en-AU" sz="20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endParaRPr lang="en-AU" sz="20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000" dirty="0" smtClean="0">
                <a:latin typeface="Arial" pitchFamily="34" charset="0"/>
                <a:cs typeface="Arial" pitchFamily="34" charset="0"/>
              </a:rPr>
              <a:t>             superior aspect of the tibia</a:t>
            </a:r>
          </a:p>
          <a:p>
            <a:pPr algn="just">
              <a:buFont typeface="Wingdings" pitchFamily="2" charset="2"/>
              <a:buChar char="Ø"/>
            </a:pPr>
            <a:endParaRPr lang="en-AU" sz="20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endParaRPr lang="en-AU" sz="20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endParaRPr lang="en-AU" sz="20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32620" y="5422005"/>
            <a:ext cx="4721179" cy="1030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01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985822"/>
          </a:xfrm>
        </p:spPr>
        <p:txBody>
          <a:bodyPr>
            <a:noAutofit/>
          </a:bodyPr>
          <a:lstStyle/>
          <a:p>
            <a:r>
              <a:rPr lang="en-AU" sz="3600" dirty="0">
                <a:latin typeface="Arial Black" pitchFamily="34" charset="0"/>
              </a:rPr>
              <a:t>The fibrous capsule of the knee joint</a:t>
            </a:r>
            <a:endParaRPr lang="en-US" sz="36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3335" y="996404"/>
            <a:ext cx="6181858" cy="5486400"/>
          </a:xfrm>
        </p:spPr>
        <p:txBody>
          <a:bodyPr>
            <a:noAutofit/>
          </a:bodyPr>
          <a:lstStyle/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forms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strong investment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for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joint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complex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being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thin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deficient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in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some regions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but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strenghtened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by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ligaments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elsewhere.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 is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	deficient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posterolaterally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where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tendon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popliteus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emerges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from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cavity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knee joint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lined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internally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by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complex synovial membrane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5193" y="1094704"/>
            <a:ext cx="5293217" cy="5763296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AU" sz="35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lined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internally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margins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menisci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short coronary ligaments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35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AU" sz="3500" b="1" dirty="0">
                <a:latin typeface="Arial" panose="020B0604020202020204" pitchFamily="34" charset="0"/>
                <a:cs typeface="Arial" pitchFamily="34" charset="0"/>
              </a:rPr>
              <a:t>Posteriorly, the fibrous capsule of the knee joint</a:t>
            </a:r>
          </a:p>
          <a:p>
            <a:pPr algn="just">
              <a:buFont typeface="Arial" pitchFamily="34" charset="0"/>
              <a:buChar char="•"/>
            </a:pPr>
            <a:r>
              <a:rPr lang="en-AU" sz="35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attached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above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posterior margin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femoral condyles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intercondylar fossa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AU" sz="35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attached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below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posterior margins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tibial condyles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intercondylar area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Arial" pitchFamily="34" charset="0"/>
              <a:buChar char="•"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40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628632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Continued’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5003" y="1056068"/>
            <a:ext cx="5599559" cy="6259132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sz="3000" b="1" dirty="0">
                <a:latin typeface="Arial" pitchFamily="34" charset="0"/>
                <a:cs typeface="Arial" pitchFamily="34" charset="0"/>
              </a:rPr>
              <a:t>Blends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 with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proximal attachment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gastrocnemius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30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3000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strengthened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oblique popliteal ligament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; this is an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extension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tendon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insertion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semimembranosus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30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3000" dirty="0">
                <a:latin typeface="Arial" pitchFamily="34" charset="0"/>
                <a:cs typeface="Arial" pitchFamily="34" charset="0"/>
              </a:rPr>
              <a:t>Is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interrupted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 (deficient)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where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popliteus tendon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emerges from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joint cavity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24562" y="857232"/>
            <a:ext cx="5939911" cy="6200391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AU" b="1" dirty="0">
                <a:latin typeface="Arial" pitchFamily="34" charset="0"/>
                <a:cs typeface="Arial" pitchFamily="34" charset="0"/>
              </a:rPr>
              <a:t>Anteriorly, the fibrous capsule of the knee joint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dirty="0">
                <a:latin typeface="Arial" pitchFamily="34" charset="0"/>
                <a:cs typeface="Arial" pitchFamily="34" charset="0"/>
              </a:rPr>
              <a:t>formed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; hence, it is limited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above</a:t>
            </a:r>
            <a:r>
              <a:rPr lang="en-AU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base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below</a:t>
            </a:r>
            <a:r>
              <a:rPr lang="en-AU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tuberosity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Blends</a:t>
            </a:r>
            <a:r>
              <a:rPr lang="en-AU" dirty="0">
                <a:latin typeface="Arial" pitchFamily="34" charset="0"/>
                <a:cs typeface="Arial" pitchFamily="34" charset="0"/>
              </a:rPr>
              <a:t>, at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margins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 and patellar ligament,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and lateral patellar retinacula</a:t>
            </a:r>
            <a:r>
              <a:rPr lang="en-AU" dirty="0">
                <a:latin typeface="Arial" pitchFamily="34" charset="0"/>
                <a:cs typeface="Arial" pitchFamily="34" charset="0"/>
              </a:rPr>
              <a:t>; these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stretch</a:t>
            </a:r>
            <a:r>
              <a:rPr lang="en-AU" dirty="0">
                <a:latin typeface="Arial" pitchFamily="34" charset="0"/>
                <a:cs typeface="Arial" pitchFamily="34" charset="0"/>
              </a:rPr>
              <a:t>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vasti respectively</a:t>
            </a:r>
            <a:r>
              <a:rPr lang="en-AU" dirty="0">
                <a:latin typeface="Arial" pitchFamily="34" charset="0"/>
                <a:cs typeface="Arial" pitchFamily="34" charset="0"/>
              </a:rPr>
              <a:t>,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corresponding condyles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below</a:t>
            </a:r>
            <a:r>
              <a:rPr lang="en-AU" dirty="0">
                <a:latin typeface="Arial" pitchFamily="34" charset="0"/>
                <a:cs typeface="Arial" pitchFamily="34" charset="0"/>
              </a:rPr>
              <a:t>. 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04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70007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Continued’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" y="857232"/>
            <a:ext cx="6324600" cy="519609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AU" b="1" dirty="0">
                <a:latin typeface="Arial" pitchFamily="34" charset="0"/>
                <a:cs typeface="Arial" pitchFamily="34" charset="0"/>
              </a:rPr>
              <a:t>Laterally, the fibrous capsule of the knee joint</a:t>
            </a:r>
          </a:p>
          <a:p>
            <a:pPr algn="just">
              <a:buFont typeface="Arial" pitchFamily="34" charset="0"/>
              <a:buChar char="•"/>
            </a:pPr>
            <a:r>
              <a:rPr lang="en-AU" dirty="0">
                <a:latin typeface="Arial" pitchFamily="34" charset="0"/>
                <a:cs typeface="Arial" pitchFamily="34" charset="0"/>
              </a:rPr>
              <a:t>Is attached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above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condyle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above</a:t>
            </a:r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popliteus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dirty="0">
                <a:latin typeface="Arial" pitchFamily="34" charset="0"/>
                <a:cs typeface="Arial" pitchFamily="34" charset="0"/>
              </a:rPr>
              <a:t>attached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below</a:t>
            </a:r>
            <a:r>
              <a:rPr lang="en-AU" dirty="0">
                <a:latin typeface="Arial" pitchFamily="34" charset="0"/>
                <a:cs typeface="Arial" pitchFamily="34" charset="0"/>
              </a:rPr>
              <a:t>,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condyle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head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fibula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strengthened</a:t>
            </a:r>
            <a:r>
              <a:rPr lang="en-AU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fibular collateral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 (which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lies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</a:t>
            </a:r>
            <a:r>
              <a:rPr lang="en-AU" dirty="0">
                <a:latin typeface="Arial" pitchFamily="34" charset="0"/>
                <a:cs typeface="Arial" pitchFamily="34" charset="0"/>
              </a:rPr>
              <a:t> to it).</a:t>
            </a:r>
          </a:p>
          <a:p>
            <a:pPr algn="just">
              <a:buFont typeface="Arial" pitchFamily="34" charset="0"/>
              <a:buChar char="•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separated</a:t>
            </a:r>
            <a:r>
              <a:rPr lang="en-AU" dirty="0">
                <a:latin typeface="Arial" pitchFamily="34" charset="0"/>
                <a:cs typeface="Arial" pitchFamily="34" charset="0"/>
              </a:rPr>
              <a:t>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fibular collateral ligament </a:t>
            </a:r>
            <a:r>
              <a:rPr lang="en-AU" dirty="0">
                <a:latin typeface="Arial" pitchFamily="34" charset="0"/>
                <a:cs typeface="Arial" pitchFamily="34" charset="0"/>
              </a:rPr>
              <a:t>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 lateral genicular nerve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vessels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857232"/>
            <a:ext cx="5330780" cy="5572164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AU" b="1" dirty="0">
                <a:latin typeface="Arial" pitchFamily="34" charset="0"/>
                <a:cs typeface="Arial" pitchFamily="34" charset="0"/>
              </a:rPr>
              <a:t>Medially, the fibrous capsule of the knee joint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dirty="0">
                <a:latin typeface="Arial" pitchFamily="34" charset="0"/>
                <a:cs typeface="Arial" pitchFamily="34" charset="0"/>
              </a:rPr>
              <a:t>attached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above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below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condyles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>
                <a:latin typeface="Arial" pitchFamily="34" charset="0"/>
                <a:cs typeface="Arial" pitchFamily="34" charset="0"/>
              </a:rPr>
              <a:t> respectively.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Blends</a:t>
            </a:r>
            <a:r>
              <a:rPr lang="en-AU" dirty="0">
                <a:latin typeface="Arial" pitchFamily="34" charset="0"/>
                <a:cs typeface="Arial" pitchFamily="34" charset="0"/>
              </a:rPr>
              <a:t> with, and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strengthened</a:t>
            </a:r>
            <a:r>
              <a:rPr lang="en-AU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 collateral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691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985822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The synovial membrane of the knee joint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" y="1142984"/>
            <a:ext cx="6555347" cy="4858572"/>
          </a:xfrm>
        </p:spPr>
        <p:txBody>
          <a:bodyPr>
            <a:noAutofit/>
          </a:bodyPr>
          <a:lstStyle/>
          <a:p>
            <a:pPr algn="just"/>
            <a:r>
              <a:rPr lang="en-AU" sz="26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most complexly arranged 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synovial membrane in the body.</a:t>
            </a:r>
          </a:p>
          <a:p>
            <a:pPr algn="just"/>
            <a:endParaRPr lang="en-AU" sz="26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600" dirty="0">
                <a:latin typeface="Arial" pitchFamily="34" charset="0"/>
                <a:cs typeface="Arial" pitchFamily="34" charset="0"/>
              </a:rPr>
              <a:t>Lines 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joint cavity 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(and thus separates 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intra-articular ligaments 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and fat from it).</a:t>
            </a:r>
          </a:p>
          <a:p>
            <a:pPr algn="just"/>
            <a:endParaRPr lang="en-AU" sz="26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6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attached to 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margins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menisci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sz="2600" dirty="0" smtClean="0">
                <a:latin typeface="Arial" pitchFamily="34" charset="0"/>
                <a:cs typeface="Arial" pitchFamily="34" charset="0"/>
              </a:rPr>
              <a:t>.</a:t>
            </a:r>
            <a:endParaRPr lang="en-AU" sz="26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6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evaginated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 (drawn upwards) proximal to 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base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 of the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 patella 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deep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tendon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quadriceps femoris 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to form a large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suprapatellar bursa.</a:t>
            </a:r>
            <a:endParaRPr lang="en-US" sz="2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5346" y="1142984"/>
            <a:ext cx="5630558" cy="571501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Covers a large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infrapatellar pad of fat </a:t>
            </a:r>
            <a:r>
              <a:rPr lang="en-AU" dirty="0">
                <a:latin typeface="Arial" pitchFamily="34" charset="0"/>
                <a:cs typeface="Arial" pitchFamily="34" charset="0"/>
              </a:rPr>
              <a:t>that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lies</a:t>
            </a:r>
            <a:r>
              <a:rPr lang="en-AU" dirty="0">
                <a:latin typeface="Arial" pitchFamily="34" charset="0"/>
                <a:cs typeface="Arial" pitchFamily="34" charset="0"/>
              </a:rPr>
              <a:t> between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it</a:t>
            </a:r>
            <a:r>
              <a:rPr lang="en-AU" dirty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patellar ligament </a:t>
            </a:r>
            <a:r>
              <a:rPr lang="en-AU" dirty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below</a:t>
            </a:r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reflected</a:t>
            </a:r>
            <a:r>
              <a:rPr lang="en-AU" dirty="0">
                <a:latin typeface="Arial" pitchFamily="34" charset="0"/>
                <a:cs typeface="Arial" pitchFamily="34" charset="0"/>
              </a:rPr>
              <a:t>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infrapatellar pad </a:t>
            </a:r>
            <a:r>
              <a:rPr lang="en-AU" dirty="0">
                <a:latin typeface="Arial" pitchFamily="34" charset="0"/>
                <a:cs typeface="Arial" pitchFamily="34" charset="0"/>
              </a:rPr>
              <a:t>of fat onto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margin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, on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each side</a:t>
            </a:r>
            <a:r>
              <a:rPr lang="en-AU" dirty="0">
                <a:latin typeface="Arial" pitchFamily="34" charset="0"/>
                <a:cs typeface="Arial" pitchFamily="34" charset="0"/>
              </a:rPr>
              <a:t>, as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alar fold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also reflected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infrapatellar pad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fat</a:t>
            </a:r>
            <a:r>
              <a:rPr lang="en-AU" dirty="0">
                <a:latin typeface="Arial" pitchFamily="34" charset="0"/>
                <a:cs typeface="Arial" pitchFamily="34" charset="0"/>
              </a:rPr>
              <a:t> into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intercondylar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 as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infrapatellar fold</a:t>
            </a:r>
            <a:r>
              <a:rPr lang="en-AU" dirty="0">
                <a:latin typeface="Arial" pitchFamily="34" charset="0"/>
                <a:cs typeface="Arial" pitchFamily="34" charset="0"/>
              </a:rPr>
              <a:t>; this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continuous anteriorly </a:t>
            </a:r>
            <a:r>
              <a:rPr lang="en-AU" dirty="0">
                <a:latin typeface="Arial" pitchFamily="34" charset="0"/>
                <a:cs typeface="Arial" pitchFamily="34" charset="0"/>
              </a:rPr>
              <a:t>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alar folds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26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7731" y="1071546"/>
            <a:ext cx="5516622" cy="4981781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reflected</a:t>
            </a:r>
            <a:r>
              <a:rPr lang="en-AU" dirty="0">
                <a:latin typeface="Arial" pitchFamily="34" charset="0"/>
                <a:cs typeface="Arial" pitchFamily="34" charset="0"/>
              </a:rPr>
              <a:t> onto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intra-articula</a:t>
            </a:r>
            <a:r>
              <a:rPr lang="en-AU" dirty="0">
                <a:latin typeface="Arial" pitchFamily="34" charset="0"/>
                <a:cs typeface="Arial" pitchFamily="34" charset="0"/>
              </a:rPr>
              <a:t>r</a:t>
            </a:r>
            <a:r>
              <a:rPr lang="en-AU" i="1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i="1" dirty="0">
                <a:latin typeface="Arial" pitchFamily="34" charset="0"/>
                <a:cs typeface="Arial" pitchFamily="34" charset="0"/>
              </a:rPr>
              <a:t>cruciate ligaments</a:t>
            </a:r>
            <a:r>
              <a:rPr lang="en-AU" dirty="0">
                <a:latin typeface="Arial" pitchFamily="34" charset="0"/>
                <a:cs typeface="Arial" pitchFamily="34" charset="0"/>
              </a:rPr>
              <a:t>,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aspect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joint, thereby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separating</a:t>
            </a:r>
            <a:r>
              <a:rPr lang="en-AU" dirty="0">
                <a:latin typeface="Arial" pitchFamily="34" charset="0"/>
                <a:cs typeface="Arial" pitchFamily="34" charset="0"/>
              </a:rPr>
              <a:t> these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ligaments</a:t>
            </a:r>
            <a:r>
              <a:rPr lang="en-AU" dirty="0">
                <a:latin typeface="Arial" pitchFamily="34" charset="0"/>
                <a:cs typeface="Arial" pitchFamily="34" charset="0"/>
              </a:rPr>
              <a:t>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joint cavity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Forms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subpopliteal recess deep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tendon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popliteus</a:t>
            </a:r>
            <a:r>
              <a:rPr lang="en-AU" dirty="0">
                <a:latin typeface="Arial" pitchFamily="34" charset="0"/>
                <a:cs typeface="Arial" pitchFamily="34" charset="0"/>
              </a:rPr>
              <a:t>, (and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posteroinferior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meniscus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324600" y="1071547"/>
            <a:ext cx="4038600" cy="4857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618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628632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Arial Black" pitchFamily="34" charset="0"/>
              </a:rPr>
              <a:t>Ligaments of the knee joint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721217" y="1000108"/>
            <a:ext cx="5446221" cy="5643602"/>
          </a:xfrm>
        </p:spPr>
        <p:txBody>
          <a:bodyPr>
            <a:normAutofit/>
          </a:bodyPr>
          <a:lstStyle/>
          <a:p>
            <a:pPr algn="just"/>
            <a:r>
              <a:rPr lang="en-AU" sz="2400" dirty="0" smtClean="0">
                <a:latin typeface="Arial" pitchFamily="34" charset="0"/>
                <a:cs typeface="Arial" pitchFamily="34" charset="0"/>
              </a:rPr>
              <a:t>They are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found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within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outside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knee joint cavity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 </a:t>
            </a:r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400" b="1" dirty="0" smtClean="0">
                <a:latin typeface="Arial" pitchFamily="34" charset="0"/>
                <a:cs typeface="Arial" pitchFamily="34" charset="0"/>
              </a:rPr>
              <a:t>I</a:t>
            </a:r>
            <a:r>
              <a:rPr lang="en-AU" sz="2400" b="1" dirty="0" smtClean="0">
                <a:latin typeface="Arial" pitchFamily="34" charset="0"/>
                <a:cs typeface="Arial" pitchFamily="34" charset="0"/>
              </a:rPr>
              <a:t>ntracapsular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ligaments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knee joint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(those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within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the fibrous capsule) include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posterior cruciate ligaments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transverse ligament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knee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joint,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media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l and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lateral menisci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400" b="1" dirty="0">
                <a:latin typeface="Arial" pitchFamily="34" charset="0"/>
                <a:cs typeface="Arial" pitchFamily="34" charset="0"/>
              </a:rPr>
              <a:t>Extracapsular ligaments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knee joint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(those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outside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fibrous capsule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) include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tibial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fibular collateral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capsular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patellar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oblique popliteal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arcuate popliteal ligaments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6167438" y="1000108"/>
            <a:ext cx="5822793" cy="585789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AU" sz="2600" b="1" dirty="0">
                <a:latin typeface="Arial" pitchFamily="34" charset="0"/>
                <a:cs typeface="Arial" pitchFamily="34" charset="0"/>
              </a:rPr>
              <a:t>The cruciate ligament</a:t>
            </a:r>
          </a:p>
          <a:p>
            <a:pPr>
              <a:buFont typeface="Wingdings" pitchFamily="2" charset="2"/>
              <a:buChar char="Ø"/>
            </a:pPr>
            <a:endParaRPr lang="en-AU" sz="2400" b="1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400" dirty="0">
                <a:latin typeface="Arial" pitchFamily="34" charset="0"/>
                <a:cs typeface="Arial" pitchFamily="34" charset="0"/>
              </a:rPr>
              <a:t>Are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strong fibrous bands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located within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capsule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knee joint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; they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connect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femur together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2400" b="1" dirty="0">
                <a:latin typeface="Arial" pitchFamily="34" charset="0"/>
                <a:cs typeface="Arial" pitchFamily="34" charset="0"/>
              </a:rPr>
              <a:t>Criss-cross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each other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obliquely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along their </a:t>
            </a:r>
            <a:r>
              <a:rPr lang="en-AU" sz="2400" b="1" dirty="0" smtClean="0">
                <a:latin typeface="Arial" pitchFamily="34" charset="0"/>
                <a:cs typeface="Arial" pitchFamily="34" charset="0"/>
              </a:rPr>
              <a:t>length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.</a:t>
            </a:r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400" dirty="0">
                <a:latin typeface="Arial" pitchFamily="34" charset="0"/>
                <a:cs typeface="Arial" pitchFamily="34" charset="0"/>
              </a:rPr>
              <a:t>Are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two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in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number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: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posterior cruciate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ligaments.</a:t>
            </a:r>
          </a:p>
          <a:p>
            <a:pPr algn="just"/>
            <a:r>
              <a:rPr lang="en-AU" sz="2400" dirty="0">
                <a:latin typeface="Arial" pitchFamily="34" charset="0"/>
                <a:cs typeface="Arial" pitchFamily="34" charset="0"/>
              </a:rPr>
              <a:t>Through within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fibrous capsule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joint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, they are not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exposed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joint cavity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 (as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each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them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is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covered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by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synovial membrane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).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27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0"/>
            <a:ext cx="8534400" cy="714356"/>
          </a:xfrm>
        </p:spPr>
        <p:txBody>
          <a:bodyPr/>
          <a:lstStyle/>
          <a:p>
            <a:pPr algn="ctr"/>
            <a:r>
              <a:rPr lang="en-AU" dirty="0" smtClean="0">
                <a:latin typeface="Arial Black" panose="020B0A04020102020204" pitchFamily="34" charset="0"/>
              </a:rPr>
              <a:t>Cont’d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153" y="571480"/>
            <a:ext cx="6005848" cy="647326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AU" b="1" dirty="0">
                <a:latin typeface="Arial" pitchFamily="34" charset="0"/>
                <a:cs typeface="Arial" pitchFamily="34" charset="0"/>
              </a:rPr>
              <a:t>The anterior cruciate ligament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weaker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cruciate ligaments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Is attached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below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intercondylar area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>
                <a:latin typeface="Arial" pitchFamily="34" charset="0"/>
                <a:cs typeface="Arial" pitchFamily="34" charset="0"/>
              </a:rPr>
              <a:t> (behind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attachment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horn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meniscus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Ascends backwards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laterally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posteromedial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aspect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the)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condyle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, to which it is attached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above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Is more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frequently involved </a:t>
            </a:r>
            <a:r>
              <a:rPr lang="en-AU" dirty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injuries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knee</a:t>
            </a:r>
            <a:r>
              <a:rPr lang="en-AU" dirty="0">
                <a:latin typeface="Arial" pitchFamily="34" charset="0"/>
                <a:cs typeface="Arial" pitchFamily="34" charset="0"/>
              </a:rPr>
              <a:t>, as does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collateral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9" y="463639"/>
            <a:ext cx="5894232" cy="6257835"/>
          </a:xfrm>
        </p:spPr>
        <p:txBody>
          <a:bodyPr>
            <a:noAutofit/>
          </a:bodyPr>
          <a:lstStyle/>
          <a:p>
            <a:pPr algn="just"/>
            <a:r>
              <a:rPr lang="en-AU" sz="2400" dirty="0">
                <a:latin typeface="Arial" pitchFamily="34" charset="0"/>
                <a:cs typeface="Arial" pitchFamily="34" charset="0"/>
              </a:rPr>
              <a:t>Becomes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taut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when the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 knee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is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fully extended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; this prevents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backward displacement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on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None/>
            </a:pPr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AU" sz="2400" b="1" dirty="0">
                <a:latin typeface="Arial" pitchFamily="34" charset="0"/>
                <a:cs typeface="Arial" pitchFamily="34" charset="0"/>
              </a:rPr>
              <a:t>The posterior cruciate ligament</a:t>
            </a:r>
          </a:p>
          <a:p>
            <a:pPr algn="just"/>
            <a:r>
              <a:rPr lang="en-AU" sz="24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much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stronger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than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anterior cruciate ligament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; thus, it is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less frequently damaged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in k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nee injuries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sz="24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attached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below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posterior intercondylar area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(behind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lateral meniscus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sz="2400" b="1" dirty="0">
                <a:latin typeface="Arial" pitchFamily="34" charset="0"/>
                <a:cs typeface="Arial" pitchFamily="34" charset="0"/>
              </a:rPr>
              <a:t>Ascends anteromedially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, to be attached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 above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to the (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lateral surface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the)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medial condyle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femu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r.</a:t>
            </a:r>
          </a:p>
          <a:p>
            <a:pPr algn="just"/>
            <a:r>
              <a:rPr lang="en-AU" sz="2400" dirty="0">
                <a:latin typeface="Arial" pitchFamily="34" charset="0"/>
                <a:cs typeface="Arial" pitchFamily="34" charset="0"/>
              </a:rPr>
              <a:t>Becomes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taut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during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flexion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joint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, thereby preventing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posterior dislocation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on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30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2408349" y="1643050"/>
            <a:ext cx="7765961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976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628632"/>
          </a:xfrm>
        </p:spPr>
        <p:txBody>
          <a:bodyPr>
            <a:noAutofit/>
          </a:bodyPr>
          <a:lstStyle/>
          <a:p>
            <a:r>
              <a:rPr lang="en-AU" dirty="0">
                <a:latin typeface="Arial Black" panose="020B0A04020102020204" pitchFamily="34" charset="0"/>
              </a:rPr>
              <a:t>Menisci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577" y="1000108"/>
            <a:ext cx="6067023" cy="608327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Each meniscus</a:t>
            </a:r>
          </a:p>
          <a:p>
            <a:pPr algn="just"/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It is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fibrocartilagenous plate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associated with the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articular surface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of the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respective tibial condyle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Possesses a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thick convex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vascular peripheral border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which is attached to the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fibrous capsule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knee joint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Has a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thin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free concave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inner border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which is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avascular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Serves as a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shock absorber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for the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knee joint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during </a:t>
            </a:r>
            <a:r>
              <a:rPr lang="en-AU" b="1" dirty="0" smtClean="0">
                <a:latin typeface="Arial" panose="020B0604020202020204" pitchFamily="34" charset="0"/>
                <a:cs typeface="Arial" panose="020B0604020202020204" pitchFamily="34" charset="0"/>
              </a:rPr>
              <a:t>movement.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000108"/>
            <a:ext cx="5652752" cy="5857892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sz="2400" dirty="0">
                <a:latin typeface="Arial" pitchFamily="34" charset="0"/>
                <a:cs typeface="Arial" pitchFamily="34" charset="0"/>
              </a:rPr>
              <a:t>Is joined to its fellow across the midline by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transverse ligament of the knee joint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; this connects the anterior horns of the (medial and lateral) menisci.</a:t>
            </a:r>
          </a:p>
          <a:p>
            <a:pPr algn="just"/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AU" sz="2400" b="1" dirty="0">
                <a:latin typeface="Arial" pitchFamily="34" charset="0"/>
                <a:cs typeface="Arial" pitchFamily="34" charset="0"/>
              </a:rPr>
              <a:t>The medial meniscus</a:t>
            </a:r>
          </a:p>
          <a:p>
            <a:pPr algn="just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roughly semicircular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in outline; it is located on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medial condyle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less extensive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(i.e. covers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 less condylar area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) than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lateral meniscus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attached at its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periphery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margin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medial condyle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coronary ligament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(a reflection of the fibrous capsule.</a:t>
            </a:r>
          </a:p>
          <a:p>
            <a:pPr algn="just"/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327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628632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Arial Black" panose="020B0A04020102020204" pitchFamily="34" charset="0"/>
              </a:rPr>
              <a:t>Cont’d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152" y="785794"/>
            <a:ext cx="5926600" cy="5786478"/>
          </a:xfrm>
        </p:spPr>
        <p:txBody>
          <a:bodyPr>
            <a:normAutofit/>
          </a:bodyPr>
          <a:lstStyle/>
          <a:p>
            <a:pPr algn="just"/>
            <a:r>
              <a:rPr lang="en-AU" sz="24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also attached by its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anterior horn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anterior intercondylar area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(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anterior cruciate ligament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sz="24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connected to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lateral meniscus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by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transverse ligament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knee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; and it stretches between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anterior ends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two menisci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2400" dirty="0">
                <a:latin typeface="Arial" pitchFamily="34" charset="0"/>
                <a:cs typeface="Arial" pitchFamily="34" charset="0"/>
              </a:rPr>
              <a:t>Is attached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posteriorly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, through its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posterior horn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, to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posterior intercondylar area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 (behind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attachment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lateral meniscus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sz="2400" dirty="0">
                <a:latin typeface="Arial" pitchFamily="34" charset="0"/>
                <a:cs typeface="Arial" pitchFamily="34" charset="0"/>
              </a:rPr>
              <a:t>Is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less freely movable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than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lateral meniscus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; hence, it is more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frequently torn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in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knee injuries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5273" y="785794"/>
            <a:ext cx="5930479" cy="6584824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AU" sz="2400" b="1" dirty="0">
                <a:latin typeface="Arial" pitchFamily="34" charset="0"/>
                <a:cs typeface="Arial" pitchFamily="34" charset="0"/>
              </a:rPr>
              <a:t>The lateral meniscus</a:t>
            </a:r>
          </a:p>
          <a:p>
            <a:pPr algn="just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almost circular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in outline</a:t>
            </a:r>
          </a:p>
          <a:p>
            <a:pPr algn="just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more extensive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(i.e. covers a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larger area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than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medial meniscus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attached, through its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anterior end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, to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anterior intercondylar area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tibia (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posterolateral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point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attachment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anterior cruciate ligament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attached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posteriorly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, through its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posterior end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, to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posterior intercondylar area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(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posterior end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medial meniscus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).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0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485756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 smtClean="0">
                <a:latin typeface="Arial Black" panose="020B0A04020102020204" pitchFamily="34" charset="0"/>
              </a:rPr>
              <a:t>Cont’d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8941" y="642918"/>
            <a:ext cx="5982234" cy="6530614"/>
          </a:xfrm>
        </p:spPr>
        <p:txBody>
          <a:bodyPr>
            <a:normAutofit/>
          </a:bodyPr>
          <a:lstStyle/>
          <a:p>
            <a:pPr algn="just"/>
            <a:r>
              <a:rPr lang="en-AU" sz="24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separated from the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 fibular collateral ligament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by tendon of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popliteus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400" dirty="0" smtClean="0">
                <a:latin typeface="Arial" pitchFamily="34" charset="0"/>
                <a:cs typeface="Arial" pitchFamily="34" charset="0"/>
              </a:rPr>
              <a:t>It g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ives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rise to the </a:t>
            </a:r>
            <a:r>
              <a:rPr lang="en-AU" sz="2400" b="1" i="1" dirty="0">
                <a:latin typeface="Arial" pitchFamily="34" charset="0"/>
                <a:cs typeface="Arial" pitchFamily="34" charset="0"/>
              </a:rPr>
              <a:t>posterior meniscofemoral ligament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(Ligament of Wrisberg). This stretches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superomedially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from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posterior end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lateral meniscus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medial condyle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400" dirty="0" smtClean="0">
                <a:latin typeface="Arial" pitchFamily="34" charset="0"/>
                <a:cs typeface="Arial" pitchFamily="34" charset="0"/>
              </a:rPr>
              <a:t>It m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ay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give rise to an </a:t>
            </a:r>
            <a:r>
              <a:rPr lang="en-AU" sz="2400" b="1" i="1" dirty="0">
                <a:latin typeface="Arial" pitchFamily="34" charset="0"/>
                <a:cs typeface="Arial" pitchFamily="34" charset="0"/>
              </a:rPr>
              <a:t>anterior meniscofemoral ligament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(Ligament of Humphrey); this also stretches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superomedially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from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posterior end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lateral meniscus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medial condyle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(anterior to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posterior cruciate ligament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).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599" y="655797"/>
            <a:ext cx="4905777" cy="5715040"/>
          </a:xfrm>
        </p:spPr>
        <p:txBody>
          <a:bodyPr>
            <a:normAutofit/>
          </a:bodyPr>
          <a:lstStyle/>
          <a:p>
            <a:pPr algn="just"/>
            <a:r>
              <a:rPr lang="en-AU" sz="24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less frequently injured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(owing to its ability to move more freely).</a:t>
            </a:r>
          </a:p>
          <a:p>
            <a:pPr algn="just"/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AU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38876" y="2214553"/>
            <a:ext cx="4991500" cy="3258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758658" y="5629268"/>
            <a:ext cx="5205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Medial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and lateral menisci of the knee joint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715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761" y="214289"/>
            <a:ext cx="5666704" cy="6507185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AU" b="1" dirty="0">
                <a:latin typeface="Arial" pitchFamily="34" charset="0"/>
                <a:cs typeface="Arial" pitchFamily="34" charset="0"/>
              </a:rPr>
              <a:t>Functions of the menisci</a:t>
            </a:r>
          </a:p>
          <a:p>
            <a:pPr algn="just"/>
            <a:r>
              <a:rPr lang="en-AU" sz="26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menisci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 increase 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concavities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tibial condyles 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for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better harmony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 with 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femoral condyles</a:t>
            </a:r>
            <a:r>
              <a:rPr lang="en-AU" sz="2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26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600" dirty="0">
                <a:latin typeface="Arial" pitchFamily="34" charset="0"/>
                <a:cs typeface="Arial" pitchFamily="34" charset="0"/>
              </a:rPr>
              <a:t>They act as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swabs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 to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lubricate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joint cavity</a:t>
            </a:r>
            <a:r>
              <a:rPr lang="en-AU" sz="2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26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600" dirty="0">
                <a:latin typeface="Arial" pitchFamily="34" charset="0"/>
                <a:cs typeface="Arial" pitchFamily="34" charset="0"/>
              </a:rPr>
              <a:t>They act as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shock absorber 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to protect 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articular cartilage 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during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weight transmission</a:t>
            </a:r>
            <a:r>
              <a:rPr lang="en-AU" sz="2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26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600" dirty="0">
                <a:latin typeface="Arial" pitchFamily="34" charset="0"/>
                <a:cs typeface="Arial" pitchFamily="34" charset="0"/>
              </a:rPr>
              <a:t>They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adapt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 to the varying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curvatures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different parts 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femoral condyles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.</a:t>
            </a:r>
            <a:endParaRPr lang="en-US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599" y="553792"/>
            <a:ext cx="5029201" cy="5499536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AU" sz="26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transverse ligament 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knee joint</a:t>
            </a:r>
          </a:p>
          <a:p>
            <a:pPr algn="just"/>
            <a:r>
              <a:rPr lang="en-AU" sz="2600" dirty="0" smtClean="0">
                <a:latin typeface="Arial" pitchFamily="34" charset="0"/>
                <a:cs typeface="Arial" pitchFamily="34" charset="0"/>
              </a:rPr>
              <a:t>It c</a:t>
            </a:r>
            <a:r>
              <a:rPr lang="en-AU" sz="2600" dirty="0" smtClean="0">
                <a:latin typeface="Arial" pitchFamily="34" charset="0"/>
                <a:cs typeface="Arial" pitchFamily="34" charset="0"/>
              </a:rPr>
              <a:t>onnects 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anterior ends 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lateral menisci 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across the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midline</a:t>
            </a:r>
            <a:r>
              <a:rPr lang="en-AU" sz="2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26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600" dirty="0" smtClean="0">
                <a:latin typeface="Arial" pitchFamily="34" charset="0"/>
                <a:cs typeface="Arial" pitchFamily="34" charset="0"/>
              </a:rPr>
              <a:t>It v</a:t>
            </a:r>
            <a:r>
              <a:rPr lang="en-AU" sz="2600" dirty="0" smtClean="0">
                <a:latin typeface="Arial" pitchFamily="34" charset="0"/>
                <a:cs typeface="Arial" pitchFamily="34" charset="0"/>
              </a:rPr>
              <a:t>aries 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in t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hickness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 and may be </a:t>
            </a:r>
            <a:r>
              <a:rPr lang="en-AU" sz="2600" b="1" dirty="0">
                <a:latin typeface="Arial" pitchFamily="34" charset="0"/>
                <a:cs typeface="Arial" pitchFamily="34" charset="0"/>
              </a:rPr>
              <a:t>absent</a:t>
            </a:r>
            <a:r>
              <a:rPr lang="en-AU" sz="2600" dirty="0">
                <a:latin typeface="Arial" pitchFamily="34" charset="0"/>
                <a:cs typeface="Arial" pitchFamily="34" charset="0"/>
              </a:rPr>
              <a:t>.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65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1128698"/>
          </a:xfrm>
        </p:spPr>
        <p:txBody>
          <a:bodyPr>
            <a:normAutofit/>
          </a:bodyPr>
          <a:lstStyle/>
          <a:p>
            <a:r>
              <a:rPr lang="en-AU" sz="3600" b="1" dirty="0">
                <a:latin typeface="Arial Black" pitchFamily="34" charset="0"/>
                <a:cs typeface="Arial" pitchFamily="34" charset="0"/>
              </a:rPr>
              <a:t>Extracapsular ligaments </a:t>
            </a:r>
            <a:r>
              <a:rPr lang="en-AU" sz="3600" dirty="0">
                <a:latin typeface="Arial Black" pitchFamily="34" charset="0"/>
                <a:cs typeface="Arial" pitchFamily="34" charset="0"/>
              </a:rPr>
              <a:t>of the knee joint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549" y="1371600"/>
            <a:ext cx="5516451" cy="54864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b="1" dirty="0">
                <a:latin typeface="Arial" pitchFamily="34" charset="0"/>
                <a:cs typeface="Arial" pitchFamily="34" charset="0"/>
              </a:rPr>
              <a:t>Capsular ligament</a:t>
            </a:r>
            <a:r>
              <a:rPr lang="en-US" dirty="0">
                <a:latin typeface="Arial" pitchFamily="34" charset="0"/>
                <a:cs typeface="Arial" pitchFamily="34" charset="0"/>
              </a:rPr>
              <a:t>:</a:t>
            </a:r>
            <a:r>
              <a:rPr lang="en-AU" dirty="0">
                <a:latin typeface="Arial" pitchFamily="34" charset="0"/>
                <a:cs typeface="Arial" pitchFamily="34" charset="0"/>
              </a:rPr>
              <a:t> It is a thin fibrous sac which surrounds the joint. It is deficient anteriorly, where it is replaced by the patella, quadriceps femoris, medial and lateral patellar retinacula, and ligamentum patellae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081825"/>
            <a:ext cx="5565762" cy="61818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AU" sz="2400" b="1" dirty="0">
                <a:latin typeface="Arial" pitchFamily="34" charset="0"/>
                <a:cs typeface="Arial" pitchFamily="34" charset="0"/>
              </a:rPr>
              <a:t>Patellar ligament</a:t>
            </a:r>
          </a:p>
          <a:p>
            <a:pPr algn="just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the strong flat distal part of quadriceps femoris tendon; it measures about 8 cm in length; thus, it</a:t>
            </a:r>
          </a:p>
          <a:p>
            <a:pPr algn="just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continous proximally with the tendon of quadriceps femoris, anterior to the patella.</a:t>
            </a:r>
          </a:p>
          <a:p>
            <a:pPr algn="just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It S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tretches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from the apex of the patella above, to the tibial tuberosity below.</a:t>
            </a:r>
          </a:p>
          <a:p>
            <a:pPr algn="just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It f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orms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the anterior part of the fibrous capsule of the knee joint (below the patella); an infrapatellar pad of fat separates it from the synovial membrane of the joint.</a:t>
            </a:r>
          </a:p>
          <a:p>
            <a:pPr algn="just">
              <a:buFont typeface="Arial" pitchFamily="34" charset="0"/>
              <a:buChar char="•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1159" y="4353058"/>
            <a:ext cx="4270375" cy="2756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35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628632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Arial Black" pitchFamily="34" charset="0"/>
              </a:rPr>
              <a:t>Continued’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1369" y="928670"/>
            <a:ext cx="5213193" cy="5124658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Is flanked at the sides by medial and lateral patellar retinacula (from the tendons of the medial and lateral vasti respectively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Is separated from the tibia by the deep infrapatellar bursa , over which it slides.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9" y="928670"/>
            <a:ext cx="4979831" cy="592933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AU" b="1" dirty="0">
                <a:latin typeface="Arial" pitchFamily="34" charset="0"/>
                <a:cs typeface="Arial" pitchFamily="34" charset="0"/>
              </a:rPr>
              <a:t>The tibial collateral ligament</a:t>
            </a:r>
          </a:p>
          <a:p>
            <a:pPr algn="just">
              <a:buFont typeface="Arial" pitchFamily="34" charset="0"/>
              <a:buChar char="•"/>
            </a:pPr>
            <a:r>
              <a:rPr lang="en-AU" dirty="0">
                <a:latin typeface="Arial" pitchFamily="34" charset="0"/>
                <a:cs typeface="Arial" pitchFamily="34" charset="0"/>
              </a:rPr>
              <a:t>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flat broad fibrous band </a:t>
            </a:r>
            <a:r>
              <a:rPr lang="en-AU" dirty="0">
                <a:latin typeface="Arial" pitchFamily="34" charset="0"/>
                <a:cs typeface="Arial" pitchFamily="34" charset="0"/>
              </a:rPr>
              <a:t>that strengthens the fibrous capsule of the knee joint medially. A bursa may separate it from the capsule.</a:t>
            </a:r>
          </a:p>
          <a:p>
            <a:pPr algn="just">
              <a:buFont typeface="Arial" pitchFamily="34" charset="0"/>
              <a:buChar char="•"/>
            </a:pPr>
            <a:r>
              <a:rPr lang="en-AU" dirty="0">
                <a:latin typeface="Arial" pitchFamily="34" charset="0"/>
                <a:cs typeface="Arial" pitchFamily="34" charset="0"/>
              </a:rPr>
              <a:t>Stretches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epicondyle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 above,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condyle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tibia,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meniscus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>
                <a:latin typeface="Arial" pitchFamily="34" charset="0"/>
                <a:cs typeface="Arial" pitchFamily="34" charset="0"/>
              </a:rPr>
              <a:t>, below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71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628632"/>
          </a:xfrm>
        </p:spPr>
        <p:txBody>
          <a:bodyPr>
            <a:normAutofit fontScale="90000"/>
          </a:bodyPr>
          <a:lstStyle/>
          <a:p>
            <a:r>
              <a:rPr lang="en-AU" dirty="0"/>
              <a:t>Continued’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8035" y="1081824"/>
            <a:ext cx="5666704" cy="6246255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dirty="0">
                <a:latin typeface="Arial" pitchFamily="34" charset="0"/>
                <a:cs typeface="Arial" pitchFamily="34" charset="0"/>
              </a:rPr>
              <a:t>separated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tendons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semitendinosus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gracilis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sartorius</a:t>
            </a:r>
            <a:r>
              <a:rPr lang="en-AU" dirty="0">
                <a:latin typeface="Arial" pitchFamily="34" charset="0"/>
                <a:cs typeface="Arial" pitchFamily="34" charset="0"/>
              </a:rPr>
              <a:t> (at its distal tibial attachment)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bursa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anserina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Sends some fibres from its deep surface- the deep fibres of tibial collateral ligament to the medial meniscus.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dirty="0">
                <a:latin typeface="Arial" pitchFamily="34" charset="0"/>
                <a:cs typeface="Arial" pitchFamily="34" charset="0"/>
              </a:rPr>
              <a:t>weaker than the fibular collateral ligament; hence, it is more frequently torn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easures </a:t>
            </a:r>
            <a:r>
              <a:rPr lang="en-AU" dirty="0">
                <a:latin typeface="Arial" pitchFamily="34" charset="0"/>
                <a:cs typeface="Arial" pitchFamily="34" charset="0"/>
              </a:rPr>
              <a:t>about 10 cm in length.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0" y="1214422"/>
            <a:ext cx="4267200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341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5003" y="214289"/>
            <a:ext cx="5599559" cy="6507185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AU" dirty="0">
                <a:latin typeface="Arial" pitchFamily="34" charset="0"/>
                <a:cs typeface="Arial" pitchFamily="34" charset="0"/>
              </a:rPr>
              <a:t>The fibular collateral ligament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Is a strong fibrous cord; it is much stronger than the  tibial collateral ligament.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Stretches from the lateral epicondyle of femur above, to the head of the fibula below. 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Strengthens the fibrous capsule of the knee joint laterally; it is separated from this capsule by the tendon of popliteus and the inferior lateral genicular nerve and vessels.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Thus it is not attached to the lateral meniscus of the knee joint by any fibrous tissue.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214290"/>
            <a:ext cx="5029200" cy="5839038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sz="2400" dirty="0">
                <a:latin typeface="Arial" pitchFamily="34" charset="0"/>
                <a:cs typeface="Arial" pitchFamily="34" charset="0"/>
              </a:rPr>
              <a:t>Pierces the tendon of bicep femoris near its fibular attachment.</a:t>
            </a:r>
          </a:p>
          <a:p>
            <a:pPr algn="just"/>
            <a:r>
              <a:rPr lang="en-AU" sz="2400" dirty="0">
                <a:latin typeface="Arial" pitchFamily="34" charset="0"/>
                <a:cs typeface="Arial" pitchFamily="34" charset="0"/>
              </a:rPr>
              <a:t>Is less commonly torn in knee injuries.</a:t>
            </a:r>
          </a:p>
          <a:p>
            <a:pPr algn="just"/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38877" y="1785926"/>
            <a:ext cx="4176715" cy="4295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29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628632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 smtClean="0">
                <a:latin typeface="Arial Black" panose="020B0A04020102020204" pitchFamily="34" charset="0"/>
              </a:rPr>
              <a:t>Cont’d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0912" y="642918"/>
            <a:ext cx="5550795" cy="621508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AU" b="1" dirty="0">
                <a:latin typeface="Arial" pitchFamily="34" charset="0"/>
                <a:cs typeface="Arial" pitchFamily="34" charset="0"/>
              </a:rPr>
              <a:t>The oblique popliteal ligament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Is an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extension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tendon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insertion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semimembranosus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Stretches superolaterally, behind the knee joint, from the posterior aspect of the medial condyle of the tibia to the lateral condyle of femur.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Blends with the fibrous capsule of the knee joint, which it strengthens posteriorly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Forms part of the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floor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popliteal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642918"/>
            <a:ext cx="5029200" cy="621508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AU" b="1" dirty="0">
                <a:latin typeface="Arial" pitchFamily="34" charset="0"/>
                <a:cs typeface="Arial" pitchFamily="34" charset="0"/>
              </a:rPr>
              <a:t>The arcuate popliteal ligament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Arises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head </a:t>
            </a:r>
            <a:r>
              <a:rPr lang="en-AU" dirty="0">
                <a:latin typeface="Arial" pitchFamily="34" charset="0"/>
                <a:cs typeface="Arial" pitchFamily="34" charset="0"/>
              </a:rPr>
              <a:t>of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fibula </a:t>
            </a:r>
            <a:r>
              <a:rPr lang="en-AU" dirty="0">
                <a:latin typeface="Arial" pitchFamily="34" charset="0"/>
                <a:cs typeface="Arial" pitchFamily="34" charset="0"/>
              </a:rPr>
              <a:t>below; it then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arches upward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medially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superficial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tendon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popliteus</a:t>
            </a:r>
            <a:r>
              <a:rPr lang="en-AU" dirty="0">
                <a:latin typeface="Arial" pitchFamily="34" charset="0"/>
                <a:cs typeface="Arial" pitchFamily="34" charset="0"/>
              </a:rPr>
              <a:t>,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blend</a:t>
            </a:r>
            <a:r>
              <a:rPr lang="en-AU" dirty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fibrous capsule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knee joint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Strengthens the fibrous capsule of the knee joint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256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485756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Arial Black" pitchFamily="34" charset="0"/>
              </a:rPr>
              <a:t>BURSAE AROUND THE KNEE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1673" y="785794"/>
            <a:ext cx="4872679" cy="571504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AU" dirty="0">
                <a:latin typeface="Arial" pitchFamily="34" charset="0"/>
                <a:cs typeface="Arial" pitchFamily="34" charset="0"/>
              </a:rPr>
              <a:t>There are about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12 </a:t>
            </a:r>
            <a:r>
              <a:rPr lang="en-AU" dirty="0">
                <a:latin typeface="Arial" pitchFamily="34" charset="0"/>
                <a:cs typeface="Arial" pitchFamily="34" charset="0"/>
              </a:rPr>
              <a:t>bursae around the knee,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four 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 lateral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 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posterior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b="1" dirty="0">
                <a:latin typeface="Arial" pitchFamily="34" charset="0"/>
                <a:cs typeface="Arial" pitchFamily="34" charset="0"/>
              </a:rPr>
              <a:t>Anterior Bursae</a:t>
            </a:r>
            <a:r>
              <a:rPr lang="en-US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Subcutaneous prepatellar bursa </a:t>
            </a:r>
            <a:r>
              <a:rPr lang="en-AU" dirty="0">
                <a:latin typeface="Arial" pitchFamily="34" charset="0"/>
                <a:cs typeface="Arial" pitchFamily="34" charset="0"/>
              </a:rPr>
              <a:t>(bursa of housemaid’s knee). It lies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deep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skin</a:t>
            </a:r>
            <a:r>
              <a:rPr lang="en-AU" dirty="0">
                <a:latin typeface="Arial" pitchFamily="34" charset="0"/>
                <a:cs typeface="Arial" pitchFamily="34" charset="0"/>
              </a:rPr>
              <a:t> 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front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half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half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ligamentum patellae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tuberosity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9" y="785794"/>
            <a:ext cx="5598017" cy="6072206"/>
          </a:xfrm>
        </p:spPr>
        <p:txBody>
          <a:bodyPr>
            <a:normAutofit/>
          </a:bodyPr>
          <a:lstStyle/>
          <a:p>
            <a:pPr algn="just"/>
            <a:r>
              <a:rPr lang="en-AU" sz="2400" b="1" dirty="0">
                <a:latin typeface="Arial" pitchFamily="34" charset="0"/>
                <a:cs typeface="Arial" pitchFamily="34" charset="0"/>
              </a:rPr>
              <a:t>Subcutaneous infrapatellar bursa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between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skin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and smooth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 tibial </a:t>
            </a:r>
            <a:r>
              <a:rPr lang="en-AU" sz="2400" b="1" dirty="0" smtClean="0">
                <a:latin typeface="Arial" pitchFamily="34" charset="0"/>
                <a:cs typeface="Arial" pitchFamily="34" charset="0"/>
              </a:rPr>
              <a:t>tuberosity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.</a:t>
            </a:r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400" b="1" dirty="0">
                <a:latin typeface="Arial" pitchFamily="34" charset="0"/>
                <a:cs typeface="Arial" pitchFamily="34" charset="0"/>
              </a:rPr>
              <a:t>Deep infrapatellar bursa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, between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ligamentum patellae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tibial tuberosity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400" b="1" dirty="0">
                <a:latin typeface="Arial" pitchFamily="34" charset="0"/>
                <a:cs typeface="Arial" pitchFamily="34" charset="0"/>
              </a:rPr>
              <a:t>Suprapatellar bursa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between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anterior surface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deep surface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quadriceps femoris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336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557194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 smtClean="0">
                <a:latin typeface="Arial Black" panose="020B0A04020102020204" pitchFamily="34" charset="0"/>
              </a:rPr>
              <a:t>Cont’d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3487" y="571480"/>
            <a:ext cx="5793951" cy="628652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AU" b="1" dirty="0">
                <a:latin typeface="Arial" pitchFamily="34" charset="0"/>
                <a:cs typeface="Arial" pitchFamily="34" charset="0"/>
              </a:rPr>
              <a:t>Lateral Bursae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These are: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bursa between the fibular collateral ligament and tendon of biceps femoris.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bursa between the fibular collateral ligament and tendon of popliteus.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bursa between the tendon of popliteus and lateral condyle of femur. This bursa is really a synovial tube around the tendon of popliteus; hence it communicates with the joint cavity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598" y="571480"/>
            <a:ext cx="5678511" cy="628652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AU" b="1" dirty="0">
                <a:latin typeface="Arial" pitchFamily="34" charset="0"/>
                <a:cs typeface="Arial" pitchFamily="34" charset="0"/>
              </a:rPr>
              <a:t>Medial Bursae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These are: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 The bursa, which separates the tendons of sartorius, gracilis, and semitendinosus from each other and from the tibial collateral ligament (bursa anserine).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bursa between the tendon of semimembranosus and medial collateral ligament.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bursa between the tendon of semimembranosus and medial condyle of the tibia. It may communicate with the knee joint.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15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24034" y="1357298"/>
            <a:ext cx="4038600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453190" y="1500175"/>
            <a:ext cx="3857652" cy="3921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809720" y="5857893"/>
            <a:ext cx="4357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Bursae around the knee joint: </a:t>
            </a:r>
            <a:r>
              <a:rPr lang="en-AU" dirty="0" err="1"/>
              <a:t>A,bursae</a:t>
            </a:r>
            <a:r>
              <a:rPr lang="en-AU" dirty="0"/>
              <a:t> on the medial and lateral aspects of the knee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381753" y="5643578"/>
            <a:ext cx="3318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bursae on the front of the knee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15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557194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 smtClean="0">
                <a:latin typeface="Arial Black" panose="020B0A04020102020204" pitchFamily="34" charset="0"/>
              </a:rPr>
              <a:t>Cont’d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1821" y="857232"/>
            <a:ext cx="5100033" cy="5786478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AU" sz="2400" b="1" dirty="0">
                <a:latin typeface="Arial" pitchFamily="34" charset="0"/>
                <a:cs typeface="Arial" pitchFamily="34" charset="0"/>
              </a:rPr>
              <a:t>Posterior Bursae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These are: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bursa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between</a:t>
            </a:r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head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gastrocnemius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capsule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joint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bursa</a:t>
            </a:r>
            <a:r>
              <a:rPr lang="en-AU" dirty="0">
                <a:latin typeface="Arial" pitchFamily="34" charset="0"/>
                <a:cs typeface="Arial" pitchFamily="34" charset="0"/>
              </a:rPr>
              <a:t> 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head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gastrocnemius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capsule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joint (</a:t>
            </a:r>
            <a:r>
              <a:rPr lang="en-AU" dirty="0" err="1">
                <a:latin typeface="Arial" pitchFamily="34" charset="0"/>
                <a:cs typeface="Arial" pitchFamily="34" charset="0"/>
              </a:rPr>
              <a:t>Brodie’s</a:t>
            </a:r>
            <a:r>
              <a:rPr lang="en-AU" dirty="0">
                <a:latin typeface="Arial" pitchFamily="34" charset="0"/>
                <a:cs typeface="Arial" pitchFamily="34" charset="0"/>
              </a:rPr>
              <a:t> bursa).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1854" y="642918"/>
            <a:ext cx="6490952" cy="6000792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AU" sz="11200" b="1" dirty="0">
                <a:latin typeface="Arial" pitchFamily="34" charset="0"/>
                <a:cs typeface="Arial" pitchFamily="34" charset="0"/>
              </a:rPr>
              <a:t>Relations </a:t>
            </a:r>
            <a:r>
              <a:rPr lang="en-AU" sz="11200" b="1" dirty="0">
                <a:latin typeface="Arial" pitchFamily="34" charset="0"/>
                <a:cs typeface="Arial" pitchFamily="34" charset="0"/>
              </a:rPr>
              <a:t>o</a:t>
            </a:r>
            <a:r>
              <a:rPr lang="en-AU" sz="11200" b="1" dirty="0" smtClean="0">
                <a:latin typeface="Arial" pitchFamily="34" charset="0"/>
                <a:cs typeface="Arial" pitchFamily="34" charset="0"/>
              </a:rPr>
              <a:t>f the </a:t>
            </a:r>
            <a:r>
              <a:rPr lang="en-AU" sz="11200" b="1" dirty="0">
                <a:latin typeface="Arial" pitchFamily="34" charset="0"/>
                <a:cs typeface="Arial" pitchFamily="34" charset="0"/>
              </a:rPr>
              <a:t>Knee Joint</a:t>
            </a:r>
          </a:p>
          <a:p>
            <a:pPr algn="just"/>
            <a:r>
              <a:rPr lang="en-US" sz="8800" dirty="0">
                <a:latin typeface="Arial" pitchFamily="34" charset="0"/>
                <a:cs typeface="Arial" pitchFamily="34" charset="0"/>
              </a:rPr>
              <a:t>Anteriorly: Tendon of the quadriceps femoris, patella, ligamentum patellae, patellar plexus of the nerves, and </a:t>
            </a:r>
            <a:r>
              <a:rPr lang="en-US" sz="8800" dirty="0" err="1">
                <a:latin typeface="Arial" pitchFamily="34" charset="0"/>
                <a:cs typeface="Arial" pitchFamily="34" charset="0"/>
              </a:rPr>
              <a:t>prepatellar</a:t>
            </a:r>
            <a:r>
              <a:rPr lang="en-US" sz="8800" dirty="0">
                <a:latin typeface="Arial" pitchFamily="34" charset="0"/>
                <a:cs typeface="Arial" pitchFamily="34" charset="0"/>
              </a:rPr>
              <a:t> synovial bursa</a:t>
            </a:r>
            <a:r>
              <a:rPr lang="en-US" sz="8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sz="88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8800" dirty="0">
                <a:latin typeface="Arial" pitchFamily="34" charset="0"/>
                <a:cs typeface="Arial" pitchFamily="34" charset="0"/>
              </a:rPr>
              <a:t>Anteromedially: Medial patellar retinaculum</a:t>
            </a:r>
            <a:r>
              <a:rPr lang="en-US" sz="8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sz="88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8800" dirty="0" err="1">
                <a:latin typeface="Arial" pitchFamily="34" charset="0"/>
                <a:cs typeface="Arial" pitchFamily="34" charset="0"/>
              </a:rPr>
              <a:t>Anterolaterally</a:t>
            </a:r>
            <a:r>
              <a:rPr lang="en-US" sz="8800" dirty="0">
                <a:latin typeface="Arial" pitchFamily="34" charset="0"/>
                <a:cs typeface="Arial" pitchFamily="34" charset="0"/>
              </a:rPr>
              <a:t>: Lateral patellar retinaculum and iliotibial tract</a:t>
            </a:r>
            <a:r>
              <a:rPr lang="en-US" sz="8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sz="88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8800" dirty="0">
                <a:latin typeface="Arial" pitchFamily="34" charset="0"/>
                <a:cs typeface="Arial" pitchFamily="34" charset="0"/>
              </a:rPr>
              <a:t>Posteriorly: Popliteal vessels, tibial nerve, and oblique popliteal ligament</a:t>
            </a:r>
            <a:r>
              <a:rPr lang="en-US" sz="8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sz="88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8800" dirty="0">
                <a:latin typeface="Arial" pitchFamily="34" charset="0"/>
                <a:cs typeface="Arial" pitchFamily="34" charset="0"/>
              </a:rPr>
              <a:t>Posterolaterally: In the upper part, tendon of biceps femoris and common peroneal nerve; in the lower part, lateral head of gastrocnemius and plantaris.</a:t>
            </a:r>
          </a:p>
          <a:p>
            <a:pPr algn="just"/>
            <a:r>
              <a:rPr lang="en-US" sz="8800" dirty="0" err="1">
                <a:latin typeface="Arial" pitchFamily="34" charset="0"/>
                <a:cs typeface="Arial" pitchFamily="34" charset="0"/>
              </a:rPr>
              <a:t>Posteromedially:In</a:t>
            </a:r>
            <a:r>
              <a:rPr lang="en-US" sz="8800" dirty="0">
                <a:latin typeface="Arial" pitchFamily="34" charset="0"/>
                <a:cs typeface="Arial" pitchFamily="34" charset="0"/>
              </a:rPr>
              <a:t> the upper part, </a:t>
            </a:r>
            <a:r>
              <a:rPr lang="en-US" sz="8800" dirty="0" err="1">
                <a:latin typeface="Arial" pitchFamily="34" charset="0"/>
                <a:cs typeface="Arial" pitchFamily="34" charset="0"/>
              </a:rPr>
              <a:t>sartorius</a:t>
            </a:r>
            <a:r>
              <a:rPr lang="en-US" sz="88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8800" dirty="0" err="1">
                <a:latin typeface="Arial" pitchFamily="34" charset="0"/>
                <a:cs typeface="Arial" pitchFamily="34" charset="0"/>
              </a:rPr>
              <a:t>gracilis</a:t>
            </a:r>
            <a:r>
              <a:rPr lang="en-US" sz="8800" dirty="0">
                <a:latin typeface="Arial" pitchFamily="34" charset="0"/>
                <a:cs typeface="Arial" pitchFamily="34" charset="0"/>
              </a:rPr>
              <a:t>, semimembranosus, and semitendinosus.</a:t>
            </a:r>
          </a:p>
          <a:p>
            <a:endParaRPr lang="en-AU" sz="2400" dirty="0">
              <a:latin typeface="Arial" pitchFamily="34" charset="0"/>
              <a:cs typeface="Arial" pitchFamily="34" charset="0"/>
            </a:endParaRPr>
          </a:p>
          <a:p>
            <a:endParaRPr lang="en-AU" sz="2400" dirty="0">
              <a:latin typeface="Arial" pitchFamily="34" charset="0"/>
              <a:cs typeface="Arial" pitchFamily="34" charset="0"/>
            </a:endParaRPr>
          </a:p>
          <a:p>
            <a:endParaRPr lang="en-AU" sz="2400" dirty="0">
              <a:latin typeface="Arial" pitchFamily="34" charset="0"/>
              <a:cs typeface="Arial" pitchFamily="34" charset="0"/>
            </a:endParaRPr>
          </a:p>
          <a:p>
            <a:endParaRPr lang="en-AU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03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569" y="357166"/>
            <a:ext cx="6012904" cy="553898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BLOOD SUPPLY</a:t>
            </a:r>
          </a:p>
          <a:p>
            <a:pPr algn="just">
              <a:buFont typeface="Arial" pitchFamily="34" charset="0"/>
              <a:buChar char="•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richly supplied </a:t>
            </a:r>
            <a:r>
              <a:rPr lang="en-AU" dirty="0">
                <a:latin typeface="Arial" pitchFamily="34" charset="0"/>
                <a:cs typeface="Arial" pitchFamily="34" charset="0"/>
              </a:rPr>
              <a:t>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blood</a:t>
            </a:r>
            <a:r>
              <a:rPr lang="en-AU" dirty="0">
                <a:latin typeface="Arial" pitchFamily="34" charset="0"/>
                <a:cs typeface="Arial" pitchFamily="34" charset="0"/>
              </a:rPr>
              <a:t> through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arterial anastomosis </a:t>
            </a:r>
            <a:r>
              <a:rPr lang="en-AU" dirty="0">
                <a:latin typeface="Arial" pitchFamily="34" charset="0"/>
                <a:cs typeface="Arial" pitchFamily="34" charset="0"/>
              </a:rPr>
              <a:t>around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knee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is formed by: (a)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five genicular branches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popliteal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, (b)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descending genicular branch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femoral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, (c)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descending branch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circumflex femoral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, (d)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tibial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(e)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circumflex fibular branch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tibial artery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25625" y="571480"/>
            <a:ext cx="4038600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738282" y="5643578"/>
            <a:ext cx="4429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Relations of the knee joint (transverse section of right knee joint)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21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519" y="991673"/>
            <a:ext cx="5434884" cy="551568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AU" b="1" dirty="0">
                <a:latin typeface="Arial" pitchFamily="34" charset="0"/>
                <a:cs typeface="Arial" pitchFamily="34" charset="0"/>
              </a:rPr>
              <a:t>NERVE SUPPLY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The knee joint has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rich nerve supply</a:t>
            </a:r>
            <a:r>
              <a:rPr lang="en-AU" dirty="0">
                <a:latin typeface="Arial" pitchFamily="34" charset="0"/>
                <a:cs typeface="Arial" pitchFamily="34" charset="0"/>
              </a:rPr>
              <a:t> by: 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(a) 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Femoral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through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branches</a:t>
            </a:r>
            <a:r>
              <a:rPr lang="en-AU" dirty="0">
                <a:latin typeface="Arial" pitchFamily="34" charset="0"/>
                <a:cs typeface="Arial" pitchFamily="34" charset="0"/>
              </a:rPr>
              <a:t>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vasti</a:t>
            </a:r>
            <a:r>
              <a:rPr lang="en-AU" dirty="0">
                <a:latin typeface="Arial" pitchFamily="34" charset="0"/>
                <a:cs typeface="Arial" pitchFamily="34" charset="0"/>
              </a:rPr>
              <a:t>, especially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vastus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medialis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AU" dirty="0">
              <a:latin typeface="Arial" pitchFamily="34" charset="0"/>
              <a:cs typeface="Arial" pitchFamily="34" charset="0"/>
            </a:endParaRP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(b) 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common peroneal nerves </a:t>
            </a:r>
            <a:r>
              <a:rPr lang="en-AU" dirty="0">
                <a:latin typeface="Arial" pitchFamily="34" charset="0"/>
                <a:cs typeface="Arial" pitchFamily="34" charset="0"/>
              </a:rPr>
              <a:t>through their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genicular branches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AU" dirty="0">
              <a:latin typeface="Arial" pitchFamily="34" charset="0"/>
              <a:cs typeface="Arial" pitchFamily="34" charset="0"/>
            </a:endParaRP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(c) 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Obturator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through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division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46220"/>
            <a:ext cx="5181600" cy="503074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MOVEMENTS</a:t>
            </a:r>
          </a:p>
          <a:p>
            <a:pPr algn="just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The following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movements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occur at the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knee joints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Flexion  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Extension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Medial rotation</a:t>
            </a: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Lateral rotation.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50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628632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anose="020B0A04020102020204" pitchFamily="34" charset="0"/>
              </a:rPr>
              <a:t>Movements of the knee joint</a:t>
            </a:r>
            <a:endParaRPr lang="en-US" dirty="0">
              <a:latin typeface="Arial Black" panose="020B0A04020102020204" pitchFamily="34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"/>
            <p:extLst/>
          </p:nvPr>
        </p:nvGraphicFramePr>
        <p:xfrm>
          <a:off x="1825625" y="897594"/>
          <a:ext cx="8504238" cy="5731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74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3474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3474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776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Muscles producing movements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7651">
                <a:tc>
                  <a:txBody>
                    <a:bodyPr/>
                    <a:lstStyle/>
                    <a:p>
                      <a:r>
                        <a:rPr lang="en-A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Movements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Chief muscles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Accessory muscles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68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Flexion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Semimembranosus</a:t>
                      </a:r>
                    </a:p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Semitendinosus</a:t>
                      </a:r>
                    </a:p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Biceps femoris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Popliteus </a:t>
                      </a:r>
                    </a:p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(initiates flexion)</a:t>
                      </a:r>
                    </a:p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Sartorius</a:t>
                      </a:r>
                    </a:p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Gracilis</a:t>
                      </a:r>
                    </a:p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Gastrocnemius</a:t>
                      </a:r>
                    </a:p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Plantaris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77651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Quadriceps femoris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Tensor fasciae latae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94126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Medial </a:t>
                      </a:r>
                    </a:p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Semitendinosus</a:t>
                      </a:r>
                    </a:p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Semimembranosus</a:t>
                      </a:r>
                    </a:p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Popliteus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Sartorius </a:t>
                      </a:r>
                    </a:p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Gracilis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83588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Lateral </a:t>
                      </a:r>
                    </a:p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Biceps femoris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Gluteus maximus</a:t>
                      </a:r>
                    </a:p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Tensor fasciae latae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970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2" y="228600"/>
            <a:ext cx="8534400" cy="842946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Factors Maintaining the Stability of the Knee Joint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11369" y="1527048"/>
            <a:ext cx="10934163" cy="483091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AU" b="1" dirty="0">
                <a:latin typeface="Arial" pitchFamily="34" charset="0"/>
                <a:cs typeface="Arial" pitchFamily="34" charset="0"/>
              </a:rPr>
              <a:t>The stability of the knee joint is maintained by the following factors</a:t>
            </a:r>
            <a:r>
              <a:rPr lang="en-AU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>
              <a:buFont typeface="Arial" pitchFamily="34" charset="0"/>
              <a:buChar char="•"/>
            </a:pPr>
            <a:r>
              <a:rPr lang="en-AU" dirty="0">
                <a:latin typeface="Arial" pitchFamily="34" charset="0"/>
                <a:cs typeface="Arial" pitchFamily="34" charset="0"/>
              </a:rPr>
              <a:t>Strength and actions of the surrounding muscles and tendons.</a:t>
            </a:r>
          </a:p>
          <a:p>
            <a:pPr algn="just">
              <a:buFont typeface="Arial" pitchFamily="34" charset="0"/>
              <a:buChar char="•"/>
            </a:pPr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AU" dirty="0">
                <a:latin typeface="Arial" pitchFamily="34" charset="0"/>
                <a:cs typeface="Arial" pitchFamily="34" charset="0"/>
              </a:rPr>
              <a:t>Medial and lateral collateral ligaments maintain side-to side stability.</a:t>
            </a:r>
          </a:p>
          <a:p>
            <a:pPr algn="just">
              <a:buFont typeface="Arial" pitchFamily="34" charset="0"/>
              <a:buChar char="•"/>
            </a:pPr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Cruciate ligaments maintain anteroposterior stability.</a:t>
            </a:r>
          </a:p>
          <a:p>
            <a:pPr algn="just">
              <a:buFont typeface="Arial" pitchFamily="34" charset="0"/>
              <a:buChar char="•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AU" dirty="0">
                <a:latin typeface="Arial" pitchFamily="34" charset="0"/>
                <a:cs typeface="Arial" pitchFamily="34" charset="0"/>
              </a:rPr>
              <a:t>Iliotibial tract helps in stabilizing a partly flexed knee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30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1" y="228600"/>
            <a:ext cx="9906903" cy="628632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anose="020B0A04020102020204" pitchFamily="34" charset="0"/>
              </a:rPr>
              <a:t>Locking and unlocking of the knee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549" y="1000107"/>
            <a:ext cx="5087155" cy="5721367"/>
          </a:xfrm>
        </p:spPr>
        <p:txBody>
          <a:bodyPr>
            <a:norm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Locking of the knee</a:t>
            </a:r>
            <a:r>
              <a:rPr lang="en-AU" dirty="0">
                <a:latin typeface="Arial" pitchFamily="34" charset="0"/>
                <a:cs typeface="Arial" pitchFamily="34" charset="0"/>
              </a:rPr>
              <a:t>: When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foot </a:t>
            </a:r>
            <a:r>
              <a:rPr lang="en-AU" dirty="0">
                <a:latin typeface="Arial" pitchFamily="34" charset="0"/>
                <a:cs typeface="Arial" pitchFamily="34" charset="0"/>
              </a:rPr>
              <a:t>is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ground</a:t>
            </a:r>
            <a:r>
              <a:rPr lang="en-AU" dirty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locking</a:t>
            </a:r>
            <a:r>
              <a:rPr lang="en-AU" dirty="0">
                <a:latin typeface="Arial" pitchFamily="34" charset="0"/>
                <a:cs typeface="Arial" pitchFamily="34" charset="0"/>
              </a:rPr>
              <a:t> is defined as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rotation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>
                <a:latin typeface="Arial" pitchFamily="34" charset="0"/>
                <a:cs typeface="Arial" pitchFamily="34" charset="0"/>
              </a:rPr>
              <a:t> during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terminal phase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extension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knee</a:t>
            </a:r>
            <a:r>
              <a:rPr lang="en-AU" dirty="0">
                <a:latin typeface="Arial" pitchFamily="34" charset="0"/>
                <a:cs typeface="Arial" pitchFamily="34" charset="0"/>
              </a:rPr>
              <a:t>. When the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knee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locked</a:t>
            </a:r>
            <a:r>
              <a:rPr lang="en-AU" dirty="0">
                <a:latin typeface="Arial" pitchFamily="34" charset="0"/>
                <a:cs typeface="Arial" pitchFamily="34" charset="0"/>
              </a:rPr>
              <a:t> it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becomes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absolutely rigid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all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ligaments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joint</a:t>
            </a:r>
            <a:r>
              <a:rPr lang="en-AU" dirty="0">
                <a:latin typeface="Arial" pitchFamily="34" charset="0"/>
                <a:cs typeface="Arial" pitchFamily="34" charset="0"/>
              </a:rPr>
              <a:t> are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taut</a:t>
            </a:r>
            <a:r>
              <a:rPr lang="en-AU" dirty="0">
                <a:latin typeface="Arial" pitchFamily="34" charset="0"/>
                <a:cs typeface="Arial" pitchFamily="34" charset="0"/>
              </a:rPr>
              <a:t>. This is known as “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screw home mechanism”.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6704" y="1000108"/>
            <a:ext cx="6525295" cy="5053220"/>
          </a:xfrm>
        </p:spPr>
        <p:txBody>
          <a:bodyPr>
            <a:noAutofit/>
          </a:bodyPr>
          <a:lstStyle/>
          <a:p>
            <a:pPr algn="just"/>
            <a:r>
              <a:rPr lang="en-AU" sz="2400" b="1" dirty="0">
                <a:latin typeface="Arial" pitchFamily="34" charset="0"/>
                <a:cs typeface="Arial" pitchFamily="34" charset="0"/>
              </a:rPr>
              <a:t>Unlocking of the knee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: When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foot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is on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ground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,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unlocking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is defined as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lateral rotation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on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during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initial phase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flexion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unlocking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is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brought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about by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popliteus muscle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 algn="just">
              <a:buNone/>
            </a:pPr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400" dirty="0">
                <a:latin typeface="Arial" pitchFamily="34" charset="0"/>
                <a:cs typeface="Arial" pitchFamily="34" charset="0"/>
              </a:rPr>
              <a:t>When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knee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is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unlocked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, it can be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further flexed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by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hamstring muscles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400" dirty="0">
                <a:latin typeface="Arial" pitchFamily="34" charset="0"/>
                <a:cs typeface="Arial" pitchFamily="34" charset="0"/>
              </a:rPr>
              <a:t>The locking of knee is essential for b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earing load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during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erect posture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locked joint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must be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unlocked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to facilitate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progress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locomotion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. Hence, during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locomotion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locking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unlocking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 of the knee takes place alternatively and rhythmically.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857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25752" y="0"/>
            <a:ext cx="8534400" cy="1571612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The differences between the locking and unlocking of the </a:t>
            </a:r>
            <a:br>
              <a:rPr lang="en-AU" dirty="0">
                <a:latin typeface="Arial Black" pitchFamily="34" charset="0"/>
              </a:rPr>
            </a:br>
            <a:r>
              <a:rPr lang="en-AU" dirty="0">
                <a:latin typeface="Arial Black" pitchFamily="34" charset="0"/>
              </a:rPr>
              <a:t>knee</a:t>
            </a:r>
            <a:endParaRPr lang="en-US" dirty="0">
              <a:latin typeface="Arial Black" pitchFamily="34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"/>
          </p:nvPr>
        </p:nvGraphicFramePr>
        <p:xfrm>
          <a:off x="1825625" y="1527175"/>
          <a:ext cx="8504238" cy="4545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21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521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62718">
                <a:tc>
                  <a:txBody>
                    <a:bodyPr/>
                    <a:lstStyle/>
                    <a:p>
                      <a:r>
                        <a:rPr lang="en-AU" sz="2000" dirty="0">
                          <a:latin typeface="Arial" pitchFamily="34" charset="0"/>
                          <a:cs typeface="Arial" pitchFamily="34" charset="0"/>
                        </a:rPr>
                        <a:t>Locking of the knee joint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>
                          <a:latin typeface="Arial" pitchFamily="34" charset="0"/>
                          <a:cs typeface="Arial" pitchFamily="34" charset="0"/>
                        </a:rPr>
                        <a:t>Unlocking of the knee joint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28439">
                <a:tc>
                  <a:txBody>
                    <a:bodyPr/>
                    <a:lstStyle/>
                    <a:p>
                      <a:r>
                        <a:rPr lang="en-AU" sz="2000" dirty="0">
                          <a:latin typeface="Arial" pitchFamily="34" charset="0"/>
                          <a:cs typeface="Arial" pitchFamily="34" charset="0"/>
                        </a:rPr>
                        <a:t>Medial rotation of the </a:t>
                      </a:r>
                    </a:p>
                    <a:p>
                      <a:r>
                        <a:rPr lang="en-AU" sz="2000" dirty="0">
                          <a:latin typeface="Arial" pitchFamily="34" charset="0"/>
                          <a:cs typeface="Arial" pitchFamily="34" charset="0"/>
                        </a:rPr>
                        <a:t>femur on tibia during </a:t>
                      </a:r>
                    </a:p>
                    <a:p>
                      <a:r>
                        <a:rPr lang="en-AU" sz="2000" dirty="0">
                          <a:latin typeface="Arial" pitchFamily="34" charset="0"/>
                          <a:cs typeface="Arial" pitchFamily="34" charset="0"/>
                        </a:rPr>
                        <a:t>terminal phase of extension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>
                          <a:latin typeface="Arial" pitchFamily="34" charset="0"/>
                          <a:cs typeface="Arial" pitchFamily="34" charset="0"/>
                        </a:rPr>
                        <a:t>Lateral rotation of the </a:t>
                      </a:r>
                    </a:p>
                    <a:p>
                      <a:r>
                        <a:rPr lang="en-AU" sz="2000" dirty="0">
                          <a:latin typeface="Arial" pitchFamily="34" charset="0"/>
                          <a:cs typeface="Arial" pitchFamily="34" charset="0"/>
                        </a:rPr>
                        <a:t>femur on tibia during initial </a:t>
                      </a:r>
                    </a:p>
                    <a:p>
                      <a:r>
                        <a:rPr lang="en-AU" sz="2000" dirty="0">
                          <a:latin typeface="Arial" pitchFamily="34" charset="0"/>
                          <a:cs typeface="Arial" pitchFamily="34" charset="0"/>
                        </a:rPr>
                        <a:t>phase of the flexion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95578">
                <a:tc>
                  <a:txBody>
                    <a:bodyPr/>
                    <a:lstStyle/>
                    <a:p>
                      <a:r>
                        <a:rPr lang="en-AU" dirty="0"/>
                        <a:t> </a:t>
                      </a:r>
                      <a:r>
                        <a:rPr lang="en-AU" sz="2000" dirty="0">
                          <a:latin typeface="Arial" pitchFamily="34" charset="0"/>
                          <a:cs typeface="Arial" pitchFamily="34" charset="0"/>
                        </a:rPr>
                        <a:t>It is brought about by </a:t>
                      </a:r>
                    </a:p>
                    <a:p>
                      <a:r>
                        <a:rPr lang="en-AU" sz="2000" dirty="0">
                          <a:latin typeface="Arial" pitchFamily="34" charset="0"/>
                          <a:cs typeface="Arial" pitchFamily="34" charset="0"/>
                        </a:rPr>
                        <a:t>quadriceps femoris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>
                          <a:latin typeface="Arial" pitchFamily="34" charset="0"/>
                          <a:cs typeface="Arial" pitchFamily="34" charset="0"/>
                        </a:rPr>
                        <a:t>It is brought about by the </a:t>
                      </a:r>
                    </a:p>
                    <a:p>
                      <a:r>
                        <a:rPr lang="en-AU" sz="2000" dirty="0">
                          <a:latin typeface="Arial" pitchFamily="34" charset="0"/>
                          <a:cs typeface="Arial" pitchFamily="34" charset="0"/>
                        </a:rPr>
                        <a:t>popliteus muscle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95578">
                <a:tc>
                  <a:txBody>
                    <a:bodyPr/>
                    <a:lstStyle/>
                    <a:p>
                      <a:r>
                        <a:rPr lang="en-AU" sz="2000" dirty="0">
                          <a:latin typeface="Arial" pitchFamily="34" charset="0"/>
                          <a:cs typeface="Arial" pitchFamily="34" charset="0"/>
                        </a:rPr>
                        <a:t>Locked knee becomes </a:t>
                      </a:r>
                    </a:p>
                    <a:p>
                      <a:r>
                        <a:rPr lang="en-AU" sz="2000" dirty="0">
                          <a:latin typeface="Arial" pitchFamily="34" charset="0"/>
                          <a:cs typeface="Arial" pitchFamily="34" charset="0"/>
                        </a:rPr>
                        <a:t>absolutely rigid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>
                          <a:latin typeface="Arial" pitchFamily="34" charset="0"/>
                          <a:cs typeface="Arial" pitchFamily="34" charset="0"/>
                        </a:rPr>
                        <a:t>Unlocked knee can be </a:t>
                      </a:r>
                    </a:p>
                    <a:p>
                      <a:r>
                        <a:rPr lang="en-AU" sz="2000" dirty="0">
                          <a:latin typeface="Arial" pitchFamily="34" charset="0"/>
                          <a:cs typeface="Arial" pitchFamily="34" charset="0"/>
                        </a:rPr>
                        <a:t>further flexed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6271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itchFamily="34" charset="0"/>
                          <a:cs typeface="Arial" pitchFamily="34" charset="0"/>
                        </a:rPr>
                        <a:t>All ligaments are taut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sz="2000" dirty="0">
                          <a:latin typeface="Arial" pitchFamily="34" charset="0"/>
                          <a:cs typeface="Arial" pitchFamily="34" charset="0"/>
                        </a:rPr>
                        <a:t>All ligaments are relaxed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86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28788"/>
            <a:ext cx="10515600" cy="1378040"/>
          </a:xfrm>
        </p:spPr>
        <p:txBody>
          <a:bodyPr/>
          <a:lstStyle/>
          <a:p>
            <a:pPr algn="ctr"/>
            <a:r>
              <a:rPr lang="en-AU" dirty="0">
                <a:latin typeface="Arial Black" panose="020B0A04020102020204" pitchFamily="34" charset="0"/>
                <a:cs typeface="Arial" panose="020B0604020202020204" pitchFamily="34" charset="0"/>
              </a:rPr>
              <a:t>Applied Anatomy</a:t>
            </a:r>
            <a:endParaRPr lang="en-US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89397" y="875763"/>
            <a:ext cx="11233550" cy="5480587"/>
          </a:xfrm>
        </p:spPr>
        <p:txBody>
          <a:bodyPr>
            <a:no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Meniscal tears</a:t>
            </a:r>
            <a:r>
              <a:rPr lang="en-AU" dirty="0">
                <a:latin typeface="Arial" pitchFamily="34" charset="0"/>
                <a:cs typeface="Arial" pitchFamily="34" charset="0"/>
              </a:rPr>
              <a:t>: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injuries</a:t>
            </a:r>
            <a:r>
              <a:rPr lang="en-AU" dirty="0">
                <a:latin typeface="Arial" pitchFamily="34" charset="0"/>
                <a:cs typeface="Arial" pitchFamily="34" charset="0"/>
              </a:rPr>
              <a:t>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menisci</a:t>
            </a:r>
            <a:r>
              <a:rPr lang="en-AU" dirty="0">
                <a:latin typeface="Arial" pitchFamily="34" charset="0"/>
                <a:cs typeface="Arial" pitchFamily="34" charset="0"/>
              </a:rPr>
              <a:t> are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commonly caused </a:t>
            </a:r>
            <a:r>
              <a:rPr lang="en-AU" dirty="0">
                <a:latin typeface="Arial" pitchFamily="34" charset="0"/>
                <a:cs typeface="Arial" pitchFamily="34" charset="0"/>
              </a:rPr>
              <a:t>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twisting strains </a:t>
            </a:r>
            <a:r>
              <a:rPr lang="en-AU" dirty="0">
                <a:latin typeface="Arial" pitchFamily="34" charset="0"/>
                <a:cs typeface="Arial" pitchFamily="34" charset="0"/>
              </a:rPr>
              <a:t>in a slightly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flexed knee</a:t>
            </a:r>
            <a:r>
              <a:rPr lang="en-AU" dirty="0">
                <a:latin typeface="Arial" pitchFamily="34" charset="0"/>
                <a:cs typeface="Arial" pitchFamily="34" charset="0"/>
              </a:rPr>
              <a:t>, as in kicking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football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meniscus</a:t>
            </a:r>
            <a:r>
              <a:rPr lang="en-AU" dirty="0">
                <a:latin typeface="Arial" pitchFamily="34" charset="0"/>
                <a:cs typeface="Arial" pitchFamily="34" charset="0"/>
              </a:rPr>
              <a:t> may get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separated</a:t>
            </a:r>
            <a:r>
              <a:rPr lang="en-AU" dirty="0">
                <a:latin typeface="Arial" pitchFamily="34" charset="0"/>
                <a:cs typeface="Arial" pitchFamily="34" charset="0"/>
              </a:rPr>
              <a:t>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capsule</a:t>
            </a:r>
            <a:r>
              <a:rPr lang="en-AU" dirty="0">
                <a:latin typeface="Arial" pitchFamily="34" charset="0"/>
                <a:cs typeface="Arial" pitchFamily="34" charset="0"/>
              </a:rPr>
              <a:t>, or it may be torn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longitudinally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transversely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meniscus </a:t>
            </a:r>
            <a:r>
              <a:rPr lang="en-AU" dirty="0">
                <a:latin typeface="Arial" pitchFamily="34" charset="0"/>
                <a:cs typeface="Arial" pitchFamily="34" charset="0"/>
              </a:rPr>
              <a:t>is more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prone</a:t>
            </a:r>
            <a:r>
              <a:rPr lang="en-AU" dirty="0">
                <a:latin typeface="Arial" pitchFamily="34" charset="0"/>
                <a:cs typeface="Arial" pitchFamily="34" charset="0"/>
              </a:rPr>
              <a:t>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injury</a:t>
            </a:r>
            <a:r>
              <a:rPr lang="en-AU" dirty="0">
                <a:latin typeface="Arial" pitchFamily="34" charset="0"/>
                <a:cs typeface="Arial" pitchFamily="34" charset="0"/>
              </a:rPr>
              <a:t> than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meniscus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because </a:t>
            </a:r>
            <a:r>
              <a:rPr lang="en-AU" dirty="0">
                <a:latin typeface="Arial" pitchFamily="34" charset="0"/>
                <a:cs typeface="Arial" pitchFamily="34" charset="0"/>
              </a:rPr>
              <a:t>of its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fixedness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dirty="0">
                <a:latin typeface="Arial" pitchFamily="34" charset="0"/>
                <a:cs typeface="Arial" pitchFamily="34" charset="0"/>
              </a:rPr>
              <a:t>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collateral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greater excursion </a:t>
            </a:r>
            <a:r>
              <a:rPr lang="en-AU" dirty="0">
                <a:latin typeface="Arial" pitchFamily="34" charset="0"/>
                <a:cs typeface="Arial" pitchFamily="34" charset="0"/>
              </a:rPr>
              <a:t>during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rotatory movements</a:t>
            </a:r>
            <a:r>
              <a:rPr lang="en-AU" dirty="0">
                <a:latin typeface="Arial" pitchFamily="34" charset="0"/>
                <a:cs typeface="Arial" pitchFamily="34" charset="0"/>
              </a:rPr>
              <a:t>. The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lateral meniscus </a:t>
            </a:r>
            <a:r>
              <a:rPr lang="en-AU" dirty="0">
                <a:latin typeface="Arial" pitchFamily="34" charset="0"/>
                <a:cs typeface="Arial" pitchFamily="34" charset="0"/>
              </a:rPr>
              <a:t>is protected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popliteus muscle </a:t>
            </a:r>
            <a:r>
              <a:rPr lang="en-AU" dirty="0">
                <a:latin typeface="Arial" pitchFamily="34" charset="0"/>
                <a:cs typeface="Arial" pitchFamily="34" charset="0"/>
              </a:rPr>
              <a:t>because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fibres </a:t>
            </a:r>
            <a:r>
              <a:rPr lang="en-AU" dirty="0">
                <a:latin typeface="Arial" pitchFamily="34" charset="0"/>
                <a:cs typeface="Arial" pitchFamily="34" charset="0"/>
              </a:rPr>
              <a:t>pulls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horn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meniscus</a:t>
            </a:r>
            <a:r>
              <a:rPr lang="en-AU" dirty="0">
                <a:latin typeface="Arial" pitchFamily="34" charset="0"/>
                <a:cs typeface="Arial" pitchFamily="34" charset="0"/>
              </a:rPr>
              <a:t> backward, so that 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not crushed </a:t>
            </a:r>
            <a:r>
              <a:rPr lang="en-AU" dirty="0">
                <a:latin typeface="Arial" pitchFamily="34" charset="0"/>
                <a:cs typeface="Arial" pitchFamily="34" charset="0"/>
              </a:rPr>
              <a:t>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 surfaces</a:t>
            </a:r>
            <a:r>
              <a:rPr lang="en-AU" dirty="0">
                <a:latin typeface="Arial" pitchFamily="34" charset="0"/>
                <a:cs typeface="Arial" pitchFamily="34" charset="0"/>
              </a:rPr>
              <a:t>.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Pain</a:t>
            </a:r>
            <a:r>
              <a:rPr lang="en-AU" dirty="0">
                <a:latin typeface="Arial" pitchFamily="34" charset="0"/>
                <a:cs typeface="Arial" pitchFamily="34" charset="0"/>
              </a:rPr>
              <a:t>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rotation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>
                <a:latin typeface="Arial" pitchFamily="34" charset="0"/>
                <a:cs typeface="Arial" pitchFamily="34" charset="0"/>
              </a:rPr>
              <a:t>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 indicates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injury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meniscus</a:t>
            </a:r>
            <a:r>
              <a:rPr lang="en-AU" dirty="0">
                <a:latin typeface="Arial" pitchFamily="34" charset="0"/>
                <a:cs typeface="Arial" pitchFamily="34" charset="0"/>
              </a:rPr>
              <a:t>; while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pain</a:t>
            </a:r>
            <a:r>
              <a:rPr lang="en-AU" dirty="0">
                <a:latin typeface="Arial" pitchFamily="34" charset="0"/>
                <a:cs typeface="Arial" pitchFamily="34" charset="0"/>
              </a:rPr>
              <a:t>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rotation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>
                <a:latin typeface="Arial" pitchFamily="34" charset="0"/>
                <a:cs typeface="Arial" pitchFamily="34" charset="0"/>
              </a:rPr>
              <a:t>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 indicates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injury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meniscus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51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502276"/>
            <a:ext cx="10515600" cy="1596979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9093" y="785611"/>
            <a:ext cx="5710707" cy="583413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AU" sz="3000" b="1" dirty="0" smtClean="0">
                <a:latin typeface="Arial" pitchFamily="34" charset="0"/>
                <a:cs typeface="Arial" pitchFamily="34" charset="0"/>
              </a:rPr>
              <a:t>Housemaid’s knee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: It is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inflammation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000" b="1" dirty="0" err="1" smtClean="0">
                <a:latin typeface="Arial" pitchFamily="34" charset="0"/>
                <a:cs typeface="Arial" pitchFamily="34" charset="0"/>
              </a:rPr>
              <a:t>prepatellar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 bursa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AU" sz="3000" dirty="0" err="1" smtClean="0">
                <a:latin typeface="Arial" pitchFamily="34" charset="0"/>
                <a:cs typeface="Arial" pitchFamily="34" charset="0"/>
              </a:rPr>
              <a:t>prepatellar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bursitis). It occurs due to friction of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bursa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against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patella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when it comes in contact with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ground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during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scrubbing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floor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by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housemaid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. Such a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bursa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may get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very large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and drop by its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weight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to much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below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to its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original position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000" b="1" dirty="0" smtClean="0">
                <a:latin typeface="Arial" pitchFamily="34" charset="0"/>
                <a:cs typeface="Arial" pitchFamily="34" charset="0"/>
              </a:rPr>
              <a:t>Baker’s cyst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(also known as popliteal cyst) :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chronic inflammation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of bursa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deep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to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semimembranosus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may present as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cystic swelling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medial part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popliteal fossa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called Baker’s cyst.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785611"/>
            <a:ext cx="5710707" cy="583413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AU" sz="3000" b="1" dirty="0" smtClean="0">
                <a:latin typeface="Arial" pitchFamily="34" charset="0"/>
                <a:cs typeface="Arial" pitchFamily="34" charset="0"/>
              </a:rPr>
              <a:t>Excessive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(synovial)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fluid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in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knee joint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may arise from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chronic effusion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; this may result in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herniation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synovial membrane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into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popliteal fossa- popliteal cyst</a:t>
            </a:r>
            <a:endParaRPr lang="en-US" sz="3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000" b="1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Clergyman’s knee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: It is the 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inflammation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subcutaneous infrapatellar bursa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(subcutaneous infrapatellar bursitis). It occurs due to the 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friction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bursa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against the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tibial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tuberosity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due to 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kneeling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(e.g., 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kneeling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during 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prayer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by 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Christian &amp; Muslim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priests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clergymen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roofers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floor tilers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446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-283334"/>
            <a:ext cx="10515600" cy="1687132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Cont’d</a:t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331304" y="553792"/>
            <a:ext cx="5533048" cy="5436192"/>
          </a:xfrm>
        </p:spPr>
        <p:txBody>
          <a:bodyPr>
            <a:no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Osteoarthritis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dirty="0">
                <a:latin typeface="Arial" pitchFamily="34" charset="0"/>
                <a:cs typeface="Arial" pitchFamily="34" charset="0"/>
              </a:rPr>
              <a:t>commonly involved 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osteoarthritis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AU" dirty="0">
                <a:latin typeface="Arial" pitchFamily="34" charset="0"/>
                <a:cs typeface="Arial" pitchFamily="34" charset="0"/>
              </a:rPr>
              <a:t>degenerative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wear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tear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cartilages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), being a weight-bearing joint. </a:t>
            </a: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movements</a:t>
            </a:r>
            <a:r>
              <a:rPr lang="en-AU" dirty="0">
                <a:latin typeface="Arial" pitchFamily="34" charset="0"/>
                <a:cs typeface="Arial" pitchFamily="34" charset="0"/>
              </a:rPr>
              <a:t> may be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painful</a:t>
            </a:r>
            <a:r>
              <a:rPr lang="en-AU" dirty="0">
                <a:latin typeface="Arial" pitchFamily="34" charset="0"/>
                <a:cs typeface="Arial" pitchFamily="34" charset="0"/>
              </a:rPr>
              <a:t>, limited, and produce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grating</a:t>
            </a:r>
            <a:r>
              <a:rPr lang="en-AU" dirty="0">
                <a:latin typeface="Arial" pitchFamily="34" charset="0"/>
                <a:cs typeface="Arial" pitchFamily="34" charset="0"/>
              </a:rPr>
              <a:t>.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Radiographs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knee region </a:t>
            </a:r>
            <a:r>
              <a:rPr lang="en-AU" dirty="0">
                <a:latin typeface="Arial" pitchFamily="34" charset="0"/>
                <a:cs typeface="Arial" pitchFamily="34" charset="0"/>
              </a:rPr>
              <a:t>reveal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osteophytes</a:t>
            </a:r>
            <a:r>
              <a:rPr lang="en-AU" dirty="0">
                <a:latin typeface="Arial" pitchFamily="34" charset="0"/>
                <a:cs typeface="Arial" pitchFamily="34" charset="0"/>
              </a:rPr>
              <a:t>, i.e.,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peripheral lipping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 ends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2000" b="1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Injuries to cruciate ligaments</a:t>
            </a:r>
            <a:r>
              <a:rPr lang="en-AU" dirty="0">
                <a:latin typeface="Arial" pitchFamily="34" charset="0"/>
                <a:cs typeface="Arial" pitchFamily="34" charset="0"/>
              </a:rPr>
              <a:t>: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cruciate ligament </a:t>
            </a:r>
            <a:r>
              <a:rPr lang="en-AU" dirty="0">
                <a:latin typeface="Arial" pitchFamily="34" charset="0"/>
                <a:cs typeface="Arial" pitchFamily="34" charset="0"/>
              </a:rPr>
              <a:t>is more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commonly damaged </a:t>
            </a:r>
            <a:r>
              <a:rPr lang="en-AU" dirty="0">
                <a:latin typeface="Arial" pitchFamily="34" charset="0"/>
                <a:cs typeface="Arial" pitchFamily="34" charset="0"/>
              </a:rPr>
              <a:t>than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.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988676" y="553792"/>
            <a:ext cx="6014434" cy="6018480"/>
          </a:xfrm>
        </p:spPr>
        <p:txBody>
          <a:bodyPr>
            <a:no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cruciate ligament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injured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dislocation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; whereas,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ligament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injured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dislocation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Tear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cruciate ligaments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leads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abnormal anteroposterior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mobility.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If </a:t>
            </a: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cruciate ligament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torn</a:t>
            </a:r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>
                <a:latin typeface="Arial" pitchFamily="34" charset="0"/>
                <a:cs typeface="Arial" pitchFamily="34" charset="0"/>
              </a:rPr>
              <a:t> is pulled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excessively forward </a:t>
            </a:r>
            <a:r>
              <a:rPr lang="en-AU" dirty="0">
                <a:latin typeface="Arial" pitchFamily="34" charset="0"/>
                <a:cs typeface="Arial" pitchFamily="34" charset="0"/>
              </a:rPr>
              <a:t>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 (anterior drawer sign) and if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cruciate ligament </a:t>
            </a:r>
            <a:r>
              <a:rPr lang="en-AU" dirty="0">
                <a:latin typeface="Arial" pitchFamily="34" charset="0"/>
                <a:cs typeface="Arial" pitchFamily="34" charset="0"/>
              </a:rPr>
              <a:t>is torn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>
                <a:latin typeface="Arial" pitchFamily="34" charset="0"/>
                <a:cs typeface="Arial" pitchFamily="34" charset="0"/>
              </a:rPr>
              <a:t> is pulled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excessively backward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AU" dirty="0">
                <a:latin typeface="Arial" pitchFamily="34" charset="0"/>
                <a:cs typeface="Arial" pitchFamily="34" charset="0"/>
              </a:rPr>
              <a:t>posterior drawer sign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</a:t>
            </a:r>
            <a:endParaRPr lang="en-A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71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061" y="450573"/>
            <a:ext cx="5953538" cy="6864627"/>
          </a:xfrm>
        </p:spPr>
        <p:txBody>
          <a:bodyPr>
            <a:no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Arthroscopy of the knee joint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is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endoscopic examination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(visualization)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knee joint cavity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minimal disruption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tissues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ligament repair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replacement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can also be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performed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using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arthroscope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Knee replacement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knee joint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badly damaged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osteoarthritis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artificial joint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consisting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plastic tibial component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metal femoral component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connected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tibial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femoral bone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ends after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removal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damaged areas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599" y="450572"/>
            <a:ext cx="5395176" cy="5602755"/>
          </a:xfrm>
        </p:spPr>
        <p:txBody>
          <a:bodyPr>
            <a:normAutofit/>
          </a:bodyPr>
          <a:lstStyle/>
          <a:p>
            <a:pPr algn="just"/>
            <a:r>
              <a:rPr lang="en-AU" sz="3000" b="1" dirty="0" smtClean="0">
                <a:latin typeface="Arial" pitchFamily="34" charset="0"/>
                <a:cs typeface="Arial" pitchFamily="34" charset="0"/>
              </a:rPr>
              <a:t>Unhappy triad of the knee joint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: A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combination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injury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of the (a)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tibial collateral ligament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, (b)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medial meniscus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, and (c)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anterior cruciate ligament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is called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“unhappy triad”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knee joint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240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22D409A-107C-4FB2-BFEF-7E1247056FCF}"/>
              </a:ext>
            </a:extLst>
          </p:cNvPr>
          <p:cNvSpPr txBox="1"/>
          <p:nvPr/>
        </p:nvSpPr>
        <p:spPr>
          <a:xfrm>
            <a:off x="4611757" y="136525"/>
            <a:ext cx="16155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Cont’d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0797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Cont’d</a:t>
            </a:r>
            <a:br>
              <a:rPr lang="en-US" dirty="0" smtClean="0">
                <a:latin typeface="Arial Black" panose="020B0A040201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3792" y="1825625"/>
            <a:ext cx="5466008" cy="4742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AU" sz="3000" b="1" dirty="0" smtClean="0">
                <a:latin typeface="Arial" pitchFamily="34" charset="0"/>
                <a:cs typeface="Arial" pitchFamily="34" charset="0"/>
              </a:rPr>
              <a:t>Aspiration of the knee joint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: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collections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fluid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are common in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knee joint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. It gives rise to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swelling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above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and at the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 sides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patella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. In such cases,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patellar tap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often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demonstrates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a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floating patella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Aspiration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fluid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can be done on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either side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ligamentum patellae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. But the joint is usually approached from its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lateral side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using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three bony points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as landmarks for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needle insertion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:</a:t>
            </a:r>
            <a:endParaRPr lang="en-US" sz="3000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9800" y="1825625"/>
            <a:ext cx="5571186" cy="435133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AU" sz="3000" dirty="0" smtClean="0">
                <a:latin typeface="Arial" pitchFamily="34" charset="0"/>
                <a:cs typeface="Arial" pitchFamily="34" charset="0"/>
              </a:rPr>
              <a:t>(a)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tibial tuberosity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, (b)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lateral epicondyle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femur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, and (c)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apex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patella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. This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triangular area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is also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used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for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drug injection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treating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knee pathology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30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3000" b="1" dirty="0" smtClean="0">
                <a:latin typeface="Arial" pitchFamily="34" charset="0"/>
                <a:cs typeface="Arial" pitchFamily="34" charset="0"/>
              </a:rPr>
              <a:t>Excessive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(synovial)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fluid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in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knee joint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may arise from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chronic effusion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; this may result in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herniation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synovial membrane </a:t>
            </a:r>
            <a:r>
              <a:rPr lang="en-AU" sz="3000" dirty="0" smtClean="0">
                <a:latin typeface="Arial" pitchFamily="34" charset="0"/>
                <a:cs typeface="Arial" pitchFamily="34" charset="0"/>
              </a:rPr>
              <a:t>into the </a:t>
            </a:r>
            <a:r>
              <a:rPr lang="en-AU" sz="3000" b="1" dirty="0" smtClean="0">
                <a:latin typeface="Arial" pitchFamily="34" charset="0"/>
                <a:cs typeface="Arial" pitchFamily="34" charset="0"/>
              </a:rPr>
              <a:t>popliteal fossa- popliteal cyst</a:t>
            </a:r>
            <a:endParaRPr lang="en-US" sz="3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4617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8DCC-CD51-4BB7-9CC8-78B4E5A0ED5C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429555" y="2112135"/>
            <a:ext cx="9388699" cy="3986913"/>
          </a:xfrm>
        </p:spPr>
        <p:txBody>
          <a:bodyPr>
            <a:normAutofit/>
          </a:bodyPr>
          <a:lstStyle/>
          <a:p>
            <a:pPr algn="just"/>
            <a:r>
              <a:rPr lang="en-AU" sz="3600" dirty="0">
                <a:latin typeface="Arial" pitchFamily="34" charset="0"/>
                <a:cs typeface="Arial" pitchFamily="34" charset="0"/>
              </a:rPr>
              <a:t>THANK YOU, ALL FOR LISTENING.</a:t>
            </a: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8856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1" y="437322"/>
            <a:ext cx="9085263" cy="6344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01734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4005</Words>
  <Application>Microsoft Office PowerPoint</Application>
  <PresentationFormat>Widescreen</PresentationFormat>
  <Paragraphs>385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Arial Black</vt:lpstr>
      <vt:lpstr>Calibri</vt:lpstr>
      <vt:lpstr>Calibri Light</vt:lpstr>
      <vt:lpstr>Wingdings</vt:lpstr>
      <vt:lpstr>Office Theme</vt:lpstr>
      <vt:lpstr>THE KNEE JOINT</vt:lpstr>
      <vt:lpstr>Outline</vt:lpstr>
      <vt:lpstr>Intro’</vt:lpstr>
      <vt:lpstr>Articular Surfaces</vt:lpstr>
      <vt:lpstr>PowerPoint Presentation</vt:lpstr>
      <vt:lpstr>The fibrous capsule of the knee joint</vt:lpstr>
      <vt:lpstr>Continued’</vt:lpstr>
      <vt:lpstr>Continued’</vt:lpstr>
      <vt:lpstr>The synovial membrane of the knee joint</vt:lpstr>
      <vt:lpstr>PowerPoint Presentation</vt:lpstr>
      <vt:lpstr>Ligaments of the knee joint</vt:lpstr>
      <vt:lpstr>Cont’d</vt:lpstr>
      <vt:lpstr>PowerPoint Presentation</vt:lpstr>
      <vt:lpstr>Menisci</vt:lpstr>
      <vt:lpstr>Cont’d</vt:lpstr>
      <vt:lpstr>Cont’d</vt:lpstr>
      <vt:lpstr>PowerPoint Presentation</vt:lpstr>
      <vt:lpstr>Extracapsular ligaments of the knee joint</vt:lpstr>
      <vt:lpstr>Continued’</vt:lpstr>
      <vt:lpstr>Continued’</vt:lpstr>
      <vt:lpstr>PowerPoint Presentation</vt:lpstr>
      <vt:lpstr>Cont’d</vt:lpstr>
      <vt:lpstr>BURSAE AROUND THE KNEE</vt:lpstr>
      <vt:lpstr>Cont’d</vt:lpstr>
      <vt:lpstr>PowerPoint Presentation</vt:lpstr>
      <vt:lpstr>Cont’d</vt:lpstr>
      <vt:lpstr>PowerPoint Presentation</vt:lpstr>
      <vt:lpstr>PowerPoint Presentation</vt:lpstr>
      <vt:lpstr>Movements of the knee joint</vt:lpstr>
      <vt:lpstr>Factors Maintaining the Stability of the Knee Joint</vt:lpstr>
      <vt:lpstr>Locking and unlocking of the knee</vt:lpstr>
      <vt:lpstr>The differences between the locking and unlocking of the  knee</vt:lpstr>
      <vt:lpstr>Applied Anatomy</vt:lpstr>
      <vt:lpstr>Cont’d</vt:lpstr>
      <vt:lpstr>Cont’d </vt:lpstr>
      <vt:lpstr>PowerPoint Presentation</vt:lpstr>
      <vt:lpstr>Cont’d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KNEE JOINT</dc:title>
  <dc:creator>dell</dc:creator>
  <cp:lastModifiedBy>dell</cp:lastModifiedBy>
  <cp:revision>17</cp:revision>
  <dcterms:created xsi:type="dcterms:W3CDTF">2025-05-26T08:17:10Z</dcterms:created>
  <dcterms:modified xsi:type="dcterms:W3CDTF">2025-05-26T10:15:14Z</dcterms:modified>
</cp:coreProperties>
</file>