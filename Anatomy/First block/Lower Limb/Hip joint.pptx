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71" r:id="rId3"/>
    <p:sldId id="257" r:id="rId4"/>
    <p:sldId id="258" r:id="rId5"/>
    <p:sldId id="273" r:id="rId6"/>
    <p:sldId id="272" r:id="rId7"/>
    <p:sldId id="274" r:id="rId8"/>
    <p:sldId id="275" r:id="rId9"/>
    <p:sldId id="276" r:id="rId10"/>
    <p:sldId id="261" r:id="rId11"/>
    <p:sldId id="262" r:id="rId12"/>
    <p:sldId id="269" r:id="rId13"/>
    <p:sldId id="270"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68" autoAdjust="0"/>
    <p:restoredTop sz="94660"/>
  </p:normalViewPr>
  <p:slideViewPr>
    <p:cSldViewPr snapToGrid="0">
      <p:cViewPr varScale="1">
        <p:scale>
          <a:sx n="87" d="100"/>
          <a:sy n="87" d="100"/>
        </p:scale>
        <p:origin x="1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D9E252-68D9-45C1-BFDC-56D62F9264A4}" type="datetimeFigureOut">
              <a:rPr lang="en-GB" smtClean="0"/>
              <a:t>05/08/2024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CF0FE-A13E-44A8-8964-0F4310F41B5B}" type="slidenum">
              <a:rPr lang="en-GB" smtClean="0"/>
              <a:t>‹#›</a:t>
            </a:fld>
            <a:endParaRPr lang="en-GB"/>
          </a:p>
        </p:txBody>
      </p:sp>
    </p:spTree>
    <p:extLst>
      <p:ext uri="{BB962C8B-B14F-4D97-AF65-F5344CB8AC3E}">
        <p14:creationId xmlns:p14="http://schemas.microsoft.com/office/powerpoint/2010/main" val="1234081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F2ACF0FE-A13E-44A8-8964-0F4310F41B5B}" type="slidenum">
              <a:rPr lang="en-GB" smtClean="0"/>
              <a:t>1</a:t>
            </a:fld>
            <a:endParaRPr lang="en-GB"/>
          </a:p>
        </p:txBody>
      </p:sp>
    </p:spTree>
    <p:extLst>
      <p:ext uri="{BB962C8B-B14F-4D97-AF65-F5344CB8AC3E}">
        <p14:creationId xmlns:p14="http://schemas.microsoft.com/office/powerpoint/2010/main" val="319488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A2246DAE-28AF-4034-ADB0-4EC404779951}" type="datetime1">
              <a:rPr lang="en-GB" smtClean="0"/>
              <a:t>05/08/2024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BDE49B-3F08-4192-9D92-664D6B529E0A}" type="slidenum">
              <a:rPr lang="en-GB" smtClean="0"/>
              <a:t>‹#›</a:t>
            </a:fld>
            <a:endParaRPr lang="en-GB"/>
          </a:p>
        </p:txBody>
      </p:sp>
    </p:spTree>
    <p:extLst>
      <p:ext uri="{BB962C8B-B14F-4D97-AF65-F5344CB8AC3E}">
        <p14:creationId xmlns:p14="http://schemas.microsoft.com/office/powerpoint/2010/main" val="209248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05BBB83-4C79-494C-BE8D-E4CF4BA719F5}" type="datetime1">
              <a:rPr lang="en-GB" smtClean="0"/>
              <a:t>05/08/2024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BDE49B-3F08-4192-9D92-664D6B529E0A}" type="slidenum">
              <a:rPr lang="en-GB" smtClean="0"/>
              <a:t>‹#›</a:t>
            </a:fld>
            <a:endParaRPr lang="en-GB"/>
          </a:p>
        </p:txBody>
      </p:sp>
    </p:spTree>
    <p:extLst>
      <p:ext uri="{BB962C8B-B14F-4D97-AF65-F5344CB8AC3E}">
        <p14:creationId xmlns:p14="http://schemas.microsoft.com/office/powerpoint/2010/main" val="1931417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45ACAF0-0947-433F-85CB-F7C8CB0E305B}" type="datetime1">
              <a:rPr lang="en-GB" smtClean="0"/>
              <a:t>05/08/2024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BDE49B-3F08-4192-9D92-664D6B529E0A}" type="slidenum">
              <a:rPr lang="en-GB" smtClean="0"/>
              <a:t>‹#›</a:t>
            </a:fld>
            <a:endParaRPr lang="en-GB"/>
          </a:p>
        </p:txBody>
      </p:sp>
    </p:spTree>
    <p:extLst>
      <p:ext uri="{BB962C8B-B14F-4D97-AF65-F5344CB8AC3E}">
        <p14:creationId xmlns:p14="http://schemas.microsoft.com/office/powerpoint/2010/main" val="309293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FC00FB82-D03F-4510-B29A-4EB7F1131950}" type="datetime1">
              <a:rPr lang="en-GB" smtClean="0"/>
              <a:t>05/08/2024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0BDE49B-3F08-4192-9D92-664D6B529E0A}" type="slidenum">
              <a:rPr lang="en-GB" smtClean="0"/>
              <a:t>‹#›</a:t>
            </a:fld>
            <a:endParaRPr lang="en-GB"/>
          </a:p>
        </p:txBody>
      </p:sp>
    </p:spTree>
    <p:extLst>
      <p:ext uri="{BB962C8B-B14F-4D97-AF65-F5344CB8AC3E}">
        <p14:creationId xmlns:p14="http://schemas.microsoft.com/office/powerpoint/2010/main" val="2297855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F87FF673-CE23-4659-8106-BCA3CBE7227C}" type="datetime1">
              <a:rPr lang="en-GB" smtClean="0"/>
              <a:t>05/08/2024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0BDE49B-3F08-4192-9D92-664D6B529E0A}" type="slidenum">
              <a:rPr lang="en-GB" smtClean="0"/>
              <a:t>‹#›</a:t>
            </a:fld>
            <a:endParaRPr lang="en-GB"/>
          </a:p>
        </p:txBody>
      </p:sp>
    </p:spTree>
    <p:extLst>
      <p:ext uri="{BB962C8B-B14F-4D97-AF65-F5344CB8AC3E}">
        <p14:creationId xmlns:p14="http://schemas.microsoft.com/office/powerpoint/2010/main" val="1191264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DB9F202E-5F0C-4D94-A925-8B7EBD4B9E34}" type="datetime1">
              <a:rPr lang="en-GB" smtClean="0"/>
              <a:t>05/08/2024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0BDE49B-3F08-4192-9D92-664D6B529E0A}" type="slidenum">
              <a:rPr lang="en-GB" smtClean="0"/>
              <a:t>‹#›</a:t>
            </a:fld>
            <a:endParaRPr lang="en-GB"/>
          </a:p>
        </p:txBody>
      </p:sp>
    </p:spTree>
    <p:extLst>
      <p:ext uri="{BB962C8B-B14F-4D97-AF65-F5344CB8AC3E}">
        <p14:creationId xmlns:p14="http://schemas.microsoft.com/office/powerpoint/2010/main" val="907579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DBBC08-B4C3-464B-9440-02970286175D}" type="datetime1">
              <a:rPr lang="en-GB" smtClean="0"/>
              <a:t>05/08/2024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0BDE49B-3F08-4192-9D92-664D6B529E0A}" type="slidenum">
              <a:rPr lang="en-GB" smtClean="0"/>
              <a:t>‹#›</a:t>
            </a:fld>
            <a:endParaRPr lang="en-GB"/>
          </a:p>
        </p:txBody>
      </p:sp>
    </p:spTree>
    <p:extLst>
      <p:ext uri="{BB962C8B-B14F-4D97-AF65-F5344CB8AC3E}">
        <p14:creationId xmlns:p14="http://schemas.microsoft.com/office/powerpoint/2010/main" val="897490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049038-9B78-4C13-B826-4C8BA377CDCE}" type="datetime1">
              <a:rPr lang="en-GB" smtClean="0"/>
              <a:t>05/08/2024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0BDE49B-3F08-4192-9D92-664D6B529E0A}" type="slidenum">
              <a:rPr lang="en-GB" smtClean="0"/>
              <a:t>‹#›</a:t>
            </a:fld>
            <a:endParaRPr lang="en-GB"/>
          </a:p>
        </p:txBody>
      </p:sp>
    </p:spTree>
    <p:extLst>
      <p:ext uri="{BB962C8B-B14F-4D97-AF65-F5344CB8AC3E}">
        <p14:creationId xmlns:p14="http://schemas.microsoft.com/office/powerpoint/2010/main" val="1201958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8C5C13-8FE6-420A-AFFE-E3625207E0C3}" type="datetime1">
              <a:rPr lang="en-GB" smtClean="0"/>
              <a:t>05/08/2024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0BDE49B-3F08-4192-9D92-664D6B529E0A}" type="slidenum">
              <a:rPr lang="en-GB" smtClean="0"/>
              <a:t>‹#›</a:t>
            </a:fld>
            <a:endParaRPr lang="en-GB"/>
          </a:p>
        </p:txBody>
      </p:sp>
    </p:spTree>
    <p:extLst>
      <p:ext uri="{BB962C8B-B14F-4D97-AF65-F5344CB8AC3E}">
        <p14:creationId xmlns:p14="http://schemas.microsoft.com/office/powerpoint/2010/main" val="1479465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703B5EB-B00B-4B86-A308-7A23014018C2}" type="datetime1">
              <a:rPr lang="en-GB" smtClean="0"/>
              <a:t>05/08/2024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BDE49B-3F08-4192-9D92-664D6B529E0A}" type="slidenum">
              <a:rPr lang="en-GB" smtClean="0"/>
              <a:t>‹#›</a:t>
            </a:fld>
            <a:endParaRPr lang="en-GB"/>
          </a:p>
        </p:txBody>
      </p:sp>
    </p:spTree>
    <p:extLst>
      <p:ext uri="{BB962C8B-B14F-4D97-AF65-F5344CB8AC3E}">
        <p14:creationId xmlns:p14="http://schemas.microsoft.com/office/powerpoint/2010/main" val="86931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DE37FE06-3D6B-4583-BC8A-C403721E216F}" type="datetime1">
              <a:rPr lang="en-GB" smtClean="0"/>
              <a:t>05/08/2024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BDE49B-3F08-4192-9D92-664D6B529E0A}" type="slidenum">
              <a:rPr lang="en-GB" smtClean="0"/>
              <a:t>‹#›</a:t>
            </a:fld>
            <a:endParaRPr lang="en-GB"/>
          </a:p>
        </p:txBody>
      </p:sp>
    </p:spTree>
    <p:extLst>
      <p:ext uri="{BB962C8B-B14F-4D97-AF65-F5344CB8AC3E}">
        <p14:creationId xmlns:p14="http://schemas.microsoft.com/office/powerpoint/2010/main" val="1396562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D7AD45-9B90-4A42-8037-927128DEB517}" type="datetime1">
              <a:rPr lang="en-GB" smtClean="0"/>
              <a:t>05/08/2024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BDE49B-3F08-4192-9D92-664D6B529E0A}" type="slidenum">
              <a:rPr lang="en-GB" smtClean="0"/>
              <a:t>‹#›</a:t>
            </a:fld>
            <a:endParaRPr lang="en-GB"/>
          </a:p>
        </p:txBody>
      </p:sp>
    </p:spTree>
    <p:extLst>
      <p:ext uri="{BB962C8B-B14F-4D97-AF65-F5344CB8AC3E}">
        <p14:creationId xmlns:p14="http://schemas.microsoft.com/office/powerpoint/2010/main" val="558737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24179"/>
            <a:ext cx="9144000" cy="1013246"/>
          </a:xfrm>
        </p:spPr>
        <p:txBody>
          <a:bodyPr>
            <a:normAutofit/>
          </a:bodyPr>
          <a:lstStyle/>
          <a:p>
            <a:r>
              <a:rPr lang="en-GB" sz="3200" dirty="0" smtClean="0">
                <a:solidFill>
                  <a:srgbClr val="FF0000"/>
                </a:solidFill>
              </a:rPr>
              <a:t> </a:t>
            </a:r>
            <a:r>
              <a:rPr lang="en-GB" b="1" dirty="0" smtClean="0">
                <a:solidFill>
                  <a:srgbClr val="FF0000"/>
                </a:solidFill>
              </a:rPr>
              <a:t>Hip joint</a:t>
            </a:r>
            <a:endParaRPr lang="en-GB" dirty="0">
              <a:solidFill>
                <a:srgbClr val="FF0000"/>
              </a:solidFill>
            </a:endParaRPr>
          </a:p>
        </p:txBody>
      </p:sp>
      <p:sp>
        <p:nvSpPr>
          <p:cNvPr id="3" name="Subtitle 2"/>
          <p:cNvSpPr>
            <a:spLocks noGrp="1"/>
          </p:cNvSpPr>
          <p:nvPr>
            <p:ph type="subTitle" idx="1"/>
          </p:nvPr>
        </p:nvSpPr>
        <p:spPr>
          <a:xfrm>
            <a:off x="462844" y="1282390"/>
            <a:ext cx="11164712" cy="5332899"/>
          </a:xfrm>
        </p:spPr>
        <p:txBody>
          <a:bodyPr>
            <a:normAutofit lnSpcReduction="10000"/>
          </a:bodyPr>
          <a:lstStyle/>
          <a:p>
            <a:pPr algn="just"/>
            <a:r>
              <a:rPr lang="en-GB" sz="3200" dirty="0" smtClean="0"/>
              <a:t>Synovial joint of ball and socket variety. Produces same movement as shoulder joint but range restricted hence sacrificed mobility for stability.</a:t>
            </a:r>
          </a:p>
          <a:p>
            <a:pPr algn="just"/>
            <a:r>
              <a:rPr lang="en-GB" sz="3200" dirty="0" smtClean="0">
                <a:solidFill>
                  <a:srgbClr val="FF0000"/>
                </a:solidFill>
              </a:rPr>
              <a:t>Articulating bones</a:t>
            </a:r>
            <a:r>
              <a:rPr lang="en-GB" sz="3200" dirty="0" smtClean="0"/>
              <a:t>: Head of femur with acetabular cavity of hip bone.</a:t>
            </a:r>
          </a:p>
          <a:p>
            <a:pPr marL="457200" indent="-457200" algn="just">
              <a:buFont typeface="Wingdings" panose="05000000000000000000" pitchFamily="2" charset="2"/>
              <a:buChar char="v"/>
            </a:pPr>
            <a:r>
              <a:rPr lang="en-GB" sz="3200" dirty="0" smtClean="0"/>
              <a:t>Acetabular presents a horse-shoe shaped, lunate articular surface, acetabular fossa. </a:t>
            </a:r>
          </a:p>
          <a:p>
            <a:pPr marL="457200" indent="-457200" algn="just">
              <a:buFont typeface="Wingdings" panose="05000000000000000000" pitchFamily="2" charset="2"/>
              <a:buChar char="v"/>
            </a:pPr>
            <a:r>
              <a:rPr lang="en-GB" sz="3200" dirty="0" smtClean="0"/>
              <a:t>The lunate surface is covered with cartilage and the notch converted into a foramen by transverse acetabular ligament.</a:t>
            </a:r>
          </a:p>
          <a:p>
            <a:pPr marL="457200" indent="-457200" algn="just">
              <a:buFont typeface="Wingdings" panose="05000000000000000000" pitchFamily="2" charset="2"/>
              <a:buChar char="v"/>
            </a:pPr>
            <a:r>
              <a:rPr lang="en-GB" sz="3200" dirty="0" smtClean="0"/>
              <a:t>Edge of the acetabulum and transverse acetabular ligament provides attachment to the </a:t>
            </a:r>
            <a:r>
              <a:rPr lang="en-GB" sz="3200" dirty="0" err="1" smtClean="0">
                <a:solidFill>
                  <a:srgbClr val="0070C0"/>
                </a:solidFill>
              </a:rPr>
              <a:t>labrum</a:t>
            </a:r>
            <a:r>
              <a:rPr lang="en-GB" sz="3200" dirty="0" smtClean="0">
                <a:solidFill>
                  <a:srgbClr val="0070C0"/>
                </a:solidFill>
              </a:rPr>
              <a:t> </a:t>
            </a:r>
            <a:r>
              <a:rPr lang="en-GB" sz="3200" dirty="0" err="1" smtClean="0">
                <a:solidFill>
                  <a:srgbClr val="0070C0"/>
                </a:solidFill>
              </a:rPr>
              <a:t>acetabulare</a:t>
            </a:r>
            <a:r>
              <a:rPr lang="en-GB" sz="3200" dirty="0" smtClean="0"/>
              <a:t>. </a:t>
            </a:r>
            <a:endParaRPr lang="en-GB" sz="3200" dirty="0"/>
          </a:p>
        </p:txBody>
      </p:sp>
      <p:sp>
        <p:nvSpPr>
          <p:cNvPr id="4" name="Slide Number Placeholder 3"/>
          <p:cNvSpPr>
            <a:spLocks noGrp="1"/>
          </p:cNvSpPr>
          <p:nvPr>
            <p:ph type="sldNum" sz="quarter" idx="12"/>
          </p:nvPr>
        </p:nvSpPr>
        <p:spPr/>
        <p:txBody>
          <a:bodyPr/>
          <a:lstStyle/>
          <a:p>
            <a:fld id="{60BDE49B-3F08-4192-9D92-664D6B529E0A}" type="slidenum">
              <a:rPr lang="en-GB" smtClean="0"/>
              <a:t>1</a:t>
            </a:fld>
            <a:endParaRPr lang="en-GB"/>
          </a:p>
        </p:txBody>
      </p:sp>
    </p:spTree>
    <p:extLst>
      <p:ext uri="{BB962C8B-B14F-4D97-AF65-F5344CB8AC3E}">
        <p14:creationId xmlns:p14="http://schemas.microsoft.com/office/powerpoint/2010/main" val="4264341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ig 1 - The articulating surfaces of the hip joint - pelvic acetabulum and head of the femur."/>
          <p:cNvPicPr/>
          <p:nvPr/>
        </p:nvPicPr>
        <p:blipFill>
          <a:blip r:embed="rId2">
            <a:extLst>
              <a:ext uri="{28A0092B-C50C-407E-A947-70E740481C1C}">
                <a14:useLocalDpi xmlns:a14="http://schemas.microsoft.com/office/drawing/2010/main" val="0"/>
              </a:ext>
            </a:extLst>
          </a:blip>
          <a:srcRect/>
          <a:stretch>
            <a:fillRect/>
          </a:stretch>
        </p:blipFill>
        <p:spPr bwMode="auto">
          <a:xfrm>
            <a:off x="100361" y="412595"/>
            <a:ext cx="5486400" cy="6140692"/>
          </a:xfrm>
          <a:prstGeom prst="rect">
            <a:avLst/>
          </a:prstGeom>
          <a:noFill/>
          <a:ln>
            <a:noFill/>
          </a:ln>
        </p:spPr>
      </p:pic>
      <p:pic>
        <p:nvPicPr>
          <p:cNvPr id="9" name="Picture 8"/>
          <p:cNvPicPr>
            <a:picLocks noChangeAspect="1"/>
          </p:cNvPicPr>
          <p:nvPr/>
        </p:nvPicPr>
        <p:blipFill>
          <a:blip r:embed="rId3"/>
          <a:stretch>
            <a:fillRect/>
          </a:stretch>
        </p:blipFill>
        <p:spPr>
          <a:xfrm>
            <a:off x="5419493" y="512957"/>
            <a:ext cx="6605239" cy="5843393"/>
          </a:xfrm>
          <a:prstGeom prst="rect">
            <a:avLst/>
          </a:prstGeom>
        </p:spPr>
      </p:pic>
    </p:spTree>
    <p:extLst>
      <p:ext uri="{BB962C8B-B14F-4D97-AF65-F5344CB8AC3E}">
        <p14:creationId xmlns:p14="http://schemas.microsoft.com/office/powerpoint/2010/main" val="2632404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1556" y="395111"/>
            <a:ext cx="11255022" cy="6096000"/>
          </a:xfrm>
        </p:spPr>
        <p:txBody>
          <a:bodyPr>
            <a:normAutofit/>
          </a:bodyPr>
          <a:lstStyle/>
          <a:p>
            <a:pPr algn="l"/>
            <a:r>
              <a:rPr lang="en-GB" sz="3200" dirty="0" smtClean="0"/>
              <a:t>The </a:t>
            </a:r>
            <a:r>
              <a:rPr lang="en-GB" sz="3200" dirty="0" err="1" smtClean="0"/>
              <a:t>labrum</a:t>
            </a:r>
            <a:r>
              <a:rPr lang="en-GB" sz="3200" dirty="0" smtClean="0"/>
              <a:t> </a:t>
            </a:r>
            <a:r>
              <a:rPr lang="en-GB" sz="3200" dirty="0" err="1" smtClean="0"/>
              <a:t>acetabulare</a:t>
            </a:r>
            <a:r>
              <a:rPr lang="en-GB" sz="3200" dirty="0" smtClean="0"/>
              <a:t> is triangular in shape which function to deepen the cavity, maintain bony contact and to protect the edge of acetabulum.</a:t>
            </a:r>
          </a:p>
          <a:p>
            <a:pPr algn="l"/>
            <a:r>
              <a:rPr lang="en-GB" sz="3200" dirty="0" smtClean="0">
                <a:solidFill>
                  <a:srgbClr val="FF0000"/>
                </a:solidFill>
              </a:rPr>
              <a:t>Head of femur</a:t>
            </a:r>
            <a:r>
              <a:rPr lang="en-GB" sz="3200" dirty="0" smtClean="0"/>
              <a:t>: It is spherical and covered with articular cavity all over except in the region of small pit which lies a little below and behind the centre of the head called </a:t>
            </a:r>
            <a:r>
              <a:rPr lang="en-GB" sz="3200" dirty="0" smtClean="0">
                <a:solidFill>
                  <a:srgbClr val="00B0F0"/>
                </a:solidFill>
              </a:rPr>
              <a:t>fovea capitis </a:t>
            </a:r>
            <a:r>
              <a:rPr lang="en-GB" sz="3200" dirty="0" err="1" smtClean="0">
                <a:solidFill>
                  <a:srgbClr val="00B0F0"/>
                </a:solidFill>
              </a:rPr>
              <a:t>femoris</a:t>
            </a:r>
            <a:r>
              <a:rPr lang="en-GB" sz="3200" dirty="0" smtClean="0"/>
              <a:t>. It gives attachment to </a:t>
            </a:r>
            <a:r>
              <a:rPr lang="en-GB" sz="3200" dirty="0" smtClean="0">
                <a:solidFill>
                  <a:srgbClr val="00B050"/>
                </a:solidFill>
              </a:rPr>
              <a:t>ligamentum </a:t>
            </a:r>
            <a:r>
              <a:rPr lang="en-GB" sz="3200" dirty="0" err="1" smtClean="0">
                <a:solidFill>
                  <a:srgbClr val="00B050"/>
                </a:solidFill>
              </a:rPr>
              <a:t>teres</a:t>
            </a:r>
            <a:r>
              <a:rPr lang="en-GB" sz="3200" dirty="0" smtClean="0">
                <a:solidFill>
                  <a:srgbClr val="00B050"/>
                </a:solidFill>
              </a:rPr>
              <a:t> </a:t>
            </a:r>
            <a:r>
              <a:rPr lang="en-GB" sz="3200" dirty="0" err="1" smtClean="0">
                <a:solidFill>
                  <a:srgbClr val="00B050"/>
                </a:solidFill>
              </a:rPr>
              <a:t>femoris</a:t>
            </a:r>
            <a:r>
              <a:rPr lang="en-GB" sz="3200" dirty="0" smtClean="0"/>
              <a:t>. </a:t>
            </a:r>
          </a:p>
          <a:p>
            <a:pPr algn="l"/>
            <a:r>
              <a:rPr lang="en-GB" sz="3200" dirty="0" smtClean="0"/>
              <a:t>The articular surface of the head extend a little in front of femoral neck.</a:t>
            </a:r>
          </a:p>
          <a:p>
            <a:pPr algn="l"/>
            <a:r>
              <a:rPr lang="en-GB" sz="3200" dirty="0" smtClean="0">
                <a:solidFill>
                  <a:srgbClr val="FF0000"/>
                </a:solidFill>
              </a:rPr>
              <a:t>Capsule</a:t>
            </a:r>
            <a:r>
              <a:rPr lang="en-GB" sz="3200" dirty="0" smtClean="0"/>
              <a:t>: Attaches at the periphery of acetabulum beyond </a:t>
            </a:r>
            <a:r>
              <a:rPr lang="en-GB" sz="3200" dirty="0" err="1" smtClean="0"/>
              <a:t>labrum</a:t>
            </a:r>
            <a:r>
              <a:rPr lang="en-GB" sz="3200" dirty="0" smtClean="0"/>
              <a:t> </a:t>
            </a:r>
            <a:r>
              <a:rPr lang="en-GB" sz="3200" dirty="0" err="1" smtClean="0"/>
              <a:t>acetabule</a:t>
            </a:r>
            <a:r>
              <a:rPr lang="en-GB" sz="3200" dirty="0"/>
              <a:t> </a:t>
            </a:r>
            <a:r>
              <a:rPr lang="en-GB" sz="3200" dirty="0" smtClean="0"/>
              <a:t>and also to transverse acetabular </a:t>
            </a:r>
            <a:r>
              <a:rPr lang="en-GB" sz="3200" dirty="0" err="1" smtClean="0"/>
              <a:t>lig</a:t>
            </a:r>
            <a:r>
              <a:rPr lang="en-GB" sz="3200" dirty="0" smtClean="0"/>
              <a:t>.  </a:t>
            </a:r>
          </a:p>
          <a:p>
            <a:pPr algn="l"/>
            <a:r>
              <a:rPr lang="en-GB" sz="3200" dirty="0" smtClean="0"/>
              <a:t>At the femur, it is attached along inter-</a:t>
            </a:r>
            <a:r>
              <a:rPr lang="en-GB" sz="3200" dirty="0" err="1" smtClean="0"/>
              <a:t>trachanteric</a:t>
            </a:r>
            <a:r>
              <a:rPr lang="en-GB" sz="3200" dirty="0" smtClean="0"/>
              <a:t> line anteriorly.</a:t>
            </a:r>
            <a:endParaRPr lang="en-GB" sz="3200" dirty="0"/>
          </a:p>
        </p:txBody>
      </p:sp>
      <p:sp>
        <p:nvSpPr>
          <p:cNvPr id="2" name="Slide Number Placeholder 1"/>
          <p:cNvSpPr>
            <a:spLocks noGrp="1"/>
          </p:cNvSpPr>
          <p:nvPr>
            <p:ph type="sldNum" sz="quarter" idx="12"/>
          </p:nvPr>
        </p:nvSpPr>
        <p:spPr/>
        <p:txBody>
          <a:bodyPr/>
          <a:lstStyle/>
          <a:p>
            <a:fld id="{60BDE49B-3F08-4192-9D92-664D6B529E0A}" type="slidenum">
              <a:rPr lang="en-GB" smtClean="0"/>
              <a:t>3</a:t>
            </a:fld>
            <a:endParaRPr lang="en-GB"/>
          </a:p>
        </p:txBody>
      </p:sp>
    </p:spTree>
    <p:extLst>
      <p:ext uri="{BB962C8B-B14F-4D97-AF65-F5344CB8AC3E}">
        <p14:creationId xmlns:p14="http://schemas.microsoft.com/office/powerpoint/2010/main" val="3119971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1557" y="372533"/>
            <a:ext cx="11322754" cy="6039556"/>
          </a:xfrm>
        </p:spPr>
        <p:txBody>
          <a:bodyPr>
            <a:normAutofit/>
          </a:bodyPr>
          <a:lstStyle/>
          <a:p>
            <a:pPr algn="just"/>
            <a:r>
              <a:rPr lang="en-GB" sz="3200" dirty="0" smtClean="0"/>
              <a:t>Posteriorly is attached at the middle of the neck of femur short of inter-trochanteric crest. </a:t>
            </a:r>
          </a:p>
          <a:p>
            <a:pPr algn="just"/>
            <a:r>
              <a:rPr lang="en-GB" sz="3200" dirty="0" smtClean="0"/>
              <a:t>Neck of femur completely </a:t>
            </a:r>
            <a:r>
              <a:rPr lang="en-GB" sz="3200" dirty="0" err="1" smtClean="0"/>
              <a:t>intracapsular</a:t>
            </a:r>
            <a:r>
              <a:rPr lang="en-GB" sz="3200" dirty="0" smtClean="0"/>
              <a:t> anteriorly while partially </a:t>
            </a:r>
            <a:r>
              <a:rPr lang="en-GB" sz="3200" dirty="0" err="1" smtClean="0"/>
              <a:t>intracapsular</a:t>
            </a:r>
            <a:r>
              <a:rPr lang="en-GB" sz="3200" dirty="0" smtClean="0"/>
              <a:t> posteriorly.</a:t>
            </a:r>
          </a:p>
          <a:p>
            <a:pPr algn="just"/>
            <a:r>
              <a:rPr lang="en-GB" sz="3200" dirty="0" smtClean="0"/>
              <a:t>Hip capsule stronger than shoulder capsule.</a:t>
            </a:r>
          </a:p>
          <a:p>
            <a:pPr algn="just"/>
            <a:r>
              <a:rPr lang="en-GB" sz="3200" dirty="0" smtClean="0"/>
              <a:t>Anteriorly capsule thick and firmly attached to bone, subject to maximum tension in standing.</a:t>
            </a:r>
          </a:p>
          <a:p>
            <a:pPr algn="just"/>
            <a:r>
              <a:rPr lang="en-GB" sz="3200" dirty="0" smtClean="0"/>
              <a:t>Posterior thin and loosely attached to bone.</a:t>
            </a:r>
          </a:p>
          <a:p>
            <a:pPr algn="just"/>
            <a:r>
              <a:rPr lang="en-GB" sz="3200" dirty="0" smtClean="0"/>
              <a:t>The capsule fibres are arranged in two sets; outer longitudinal superficial best developed anterior superior and inner circular deep (</a:t>
            </a:r>
            <a:r>
              <a:rPr lang="en-GB" sz="3200" dirty="0" smtClean="0">
                <a:solidFill>
                  <a:srgbClr val="7030A0"/>
                </a:solidFill>
              </a:rPr>
              <a:t>zona orbicularis</a:t>
            </a:r>
            <a:r>
              <a:rPr lang="en-GB" sz="3200" dirty="0" smtClean="0"/>
              <a:t>).</a:t>
            </a:r>
            <a:endParaRPr lang="en-GB" sz="3200" dirty="0"/>
          </a:p>
        </p:txBody>
      </p:sp>
      <p:sp>
        <p:nvSpPr>
          <p:cNvPr id="2" name="Slide Number Placeholder 1"/>
          <p:cNvSpPr>
            <a:spLocks noGrp="1"/>
          </p:cNvSpPr>
          <p:nvPr>
            <p:ph type="sldNum" sz="quarter" idx="12"/>
          </p:nvPr>
        </p:nvSpPr>
        <p:spPr/>
        <p:txBody>
          <a:bodyPr/>
          <a:lstStyle/>
          <a:p>
            <a:fld id="{60BDE49B-3F08-4192-9D92-664D6B529E0A}" type="slidenum">
              <a:rPr lang="en-GB" smtClean="0"/>
              <a:t>4</a:t>
            </a:fld>
            <a:endParaRPr lang="en-GB"/>
          </a:p>
        </p:txBody>
      </p:sp>
    </p:spTree>
    <p:extLst>
      <p:ext uri="{BB962C8B-B14F-4D97-AF65-F5344CB8AC3E}">
        <p14:creationId xmlns:p14="http://schemas.microsoft.com/office/powerpoint/2010/main" val="3085253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33754" y="328246"/>
            <a:ext cx="11230708" cy="6178062"/>
          </a:xfrm>
        </p:spPr>
        <p:txBody>
          <a:bodyPr/>
          <a:lstStyle/>
          <a:p>
            <a:pPr algn="just"/>
            <a:endParaRPr lang="en-GB" sz="3200" dirty="0" smtClean="0">
              <a:solidFill>
                <a:srgbClr val="002060"/>
              </a:solidFill>
            </a:endParaRPr>
          </a:p>
          <a:p>
            <a:pPr algn="just"/>
            <a:r>
              <a:rPr lang="en-GB" sz="3200" dirty="0" smtClean="0">
                <a:solidFill>
                  <a:srgbClr val="002060"/>
                </a:solidFill>
              </a:rPr>
              <a:t>Ligaments</a:t>
            </a:r>
            <a:r>
              <a:rPr lang="en-GB" sz="3200" dirty="0" smtClean="0"/>
              <a:t>: Capsular ligament include, </a:t>
            </a:r>
            <a:r>
              <a:rPr lang="en-GB" sz="3200" dirty="0" err="1" smtClean="0">
                <a:solidFill>
                  <a:srgbClr val="00B0F0"/>
                </a:solidFill>
              </a:rPr>
              <a:t>ilio</a:t>
            </a:r>
            <a:r>
              <a:rPr lang="en-GB" sz="3200" dirty="0" smtClean="0">
                <a:solidFill>
                  <a:srgbClr val="00B0F0"/>
                </a:solidFill>
              </a:rPr>
              <a:t>-femoral, </a:t>
            </a:r>
            <a:r>
              <a:rPr lang="en-GB" sz="3200" dirty="0" err="1" smtClean="0">
                <a:solidFill>
                  <a:srgbClr val="00B0F0"/>
                </a:solidFill>
              </a:rPr>
              <a:t>ischio</a:t>
            </a:r>
            <a:r>
              <a:rPr lang="en-GB" sz="3200" dirty="0" smtClean="0">
                <a:solidFill>
                  <a:srgbClr val="00B0F0"/>
                </a:solidFill>
              </a:rPr>
              <a:t>-femoral, </a:t>
            </a:r>
            <a:endParaRPr lang="en-GB" sz="3200" dirty="0" smtClean="0">
              <a:solidFill>
                <a:srgbClr val="00B0F0"/>
              </a:solidFill>
            </a:endParaRPr>
          </a:p>
          <a:p>
            <a:pPr algn="just"/>
            <a:r>
              <a:rPr lang="en-GB" sz="3200" dirty="0" err="1" smtClean="0">
                <a:solidFill>
                  <a:srgbClr val="00B0F0"/>
                </a:solidFill>
              </a:rPr>
              <a:t>pubo</a:t>
            </a:r>
            <a:r>
              <a:rPr lang="en-GB" sz="3200" dirty="0" smtClean="0">
                <a:solidFill>
                  <a:srgbClr val="00B0F0"/>
                </a:solidFill>
              </a:rPr>
              <a:t>-femoral</a:t>
            </a:r>
            <a:r>
              <a:rPr lang="en-GB" sz="3200" dirty="0" smtClean="0"/>
              <a:t> </a:t>
            </a:r>
            <a:r>
              <a:rPr lang="en-GB" sz="3200" dirty="0" smtClean="0"/>
              <a:t>(</a:t>
            </a:r>
            <a:r>
              <a:rPr lang="en-GB" sz="3200" dirty="0" smtClean="0">
                <a:solidFill>
                  <a:schemeClr val="accent4">
                    <a:lumMod val="50000"/>
                  </a:schemeClr>
                </a:solidFill>
              </a:rPr>
              <a:t>thickened fibrous capsule band</a:t>
            </a:r>
            <a:r>
              <a:rPr lang="en-GB" sz="3200" dirty="0" smtClean="0"/>
              <a:t>), ligamentum </a:t>
            </a:r>
            <a:r>
              <a:rPr lang="en-GB" sz="3200" dirty="0" err="1" smtClean="0"/>
              <a:t>teres</a:t>
            </a:r>
            <a:r>
              <a:rPr lang="en-GB" sz="3200" dirty="0" smtClean="0"/>
              <a:t> </a:t>
            </a:r>
            <a:r>
              <a:rPr lang="en-GB" sz="3200" dirty="0" err="1" smtClean="0"/>
              <a:t>femoris</a:t>
            </a:r>
            <a:r>
              <a:rPr lang="en-GB" sz="3200" dirty="0" smtClean="0"/>
              <a:t>, transverse acetabular </a:t>
            </a:r>
            <a:r>
              <a:rPr lang="en-GB" sz="3200" dirty="0" err="1" smtClean="0"/>
              <a:t>lig</a:t>
            </a:r>
            <a:r>
              <a:rPr lang="en-GB" sz="3200" dirty="0" smtClean="0"/>
              <a:t>., </a:t>
            </a:r>
            <a:r>
              <a:rPr lang="en-GB" sz="3200" dirty="0" err="1" smtClean="0"/>
              <a:t>labrum</a:t>
            </a:r>
            <a:r>
              <a:rPr lang="en-GB" sz="3200" dirty="0" smtClean="0"/>
              <a:t> acetabular and </a:t>
            </a:r>
            <a:r>
              <a:rPr lang="en-GB" sz="3200" dirty="0" err="1" smtClean="0"/>
              <a:t>retinacular</a:t>
            </a:r>
            <a:r>
              <a:rPr lang="en-GB" sz="3200" dirty="0" smtClean="0"/>
              <a:t> ligament. </a:t>
            </a:r>
          </a:p>
        </p:txBody>
      </p:sp>
      <p:sp>
        <p:nvSpPr>
          <p:cNvPr id="2" name="Slide Number Placeholder 1"/>
          <p:cNvSpPr>
            <a:spLocks noGrp="1"/>
          </p:cNvSpPr>
          <p:nvPr>
            <p:ph type="sldNum" sz="quarter" idx="12"/>
          </p:nvPr>
        </p:nvSpPr>
        <p:spPr/>
        <p:txBody>
          <a:bodyPr/>
          <a:lstStyle/>
          <a:p>
            <a:fld id="{60BDE49B-3F08-4192-9D92-664D6B529E0A}" type="slidenum">
              <a:rPr lang="en-GB" smtClean="0"/>
              <a:t>5</a:t>
            </a:fld>
            <a:endParaRPr lang="en-GB"/>
          </a:p>
        </p:txBody>
      </p:sp>
    </p:spTree>
    <p:extLst>
      <p:ext uri="{BB962C8B-B14F-4D97-AF65-F5344CB8AC3E}">
        <p14:creationId xmlns:p14="http://schemas.microsoft.com/office/powerpoint/2010/main" val="2037784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76270" y="209320"/>
            <a:ext cx="5794872" cy="6356733"/>
          </a:xfrm>
        </p:spPr>
        <p:txBody>
          <a:bodyPr>
            <a:normAutofit/>
          </a:bodyPr>
          <a:lstStyle/>
          <a:p>
            <a:pPr algn="just"/>
            <a:r>
              <a:rPr lang="en-GB" sz="2800" dirty="0">
                <a:solidFill>
                  <a:srgbClr val="0070C0"/>
                </a:solidFill>
              </a:rPr>
              <a:t>Iliofemoral </a:t>
            </a:r>
            <a:r>
              <a:rPr lang="en-GB" sz="2800" dirty="0" err="1">
                <a:solidFill>
                  <a:srgbClr val="0070C0"/>
                </a:solidFill>
              </a:rPr>
              <a:t>lig</a:t>
            </a:r>
            <a:r>
              <a:rPr lang="en-GB" sz="2800" dirty="0"/>
              <a:t>.; Located in front of hip joint and is one of the strongest </a:t>
            </a:r>
            <a:r>
              <a:rPr lang="en-GB" sz="2800" dirty="0" err="1"/>
              <a:t>lig</a:t>
            </a:r>
            <a:r>
              <a:rPr lang="en-GB" sz="2800" dirty="0"/>
              <a:t>. In the body known as </a:t>
            </a:r>
            <a:r>
              <a:rPr lang="en-GB" sz="2800" dirty="0" err="1"/>
              <a:t>lig</a:t>
            </a:r>
            <a:r>
              <a:rPr lang="en-GB" sz="2800" dirty="0"/>
              <a:t>. of </a:t>
            </a:r>
            <a:r>
              <a:rPr lang="en-GB" sz="2800" dirty="0">
                <a:solidFill>
                  <a:srgbClr val="FF0000"/>
                </a:solidFill>
              </a:rPr>
              <a:t>Bigelow</a:t>
            </a:r>
            <a:r>
              <a:rPr lang="en-GB" sz="2800" dirty="0"/>
              <a:t>. It is an inverted Y-shaped. Apex of it is attached at lower part of anterior inferior iliac spine below straight head of rectus </a:t>
            </a:r>
            <a:r>
              <a:rPr lang="en-GB" sz="2800" dirty="0" err="1"/>
              <a:t>femoris</a:t>
            </a:r>
            <a:r>
              <a:rPr lang="en-GB" sz="2800" dirty="0"/>
              <a:t>. The two limbs are attached at upper and lower trochanteric line. It is medially inverted and laterally oblique.</a:t>
            </a:r>
          </a:p>
          <a:p>
            <a:pPr algn="just"/>
            <a:r>
              <a:rPr lang="en-GB" sz="2800" dirty="0">
                <a:solidFill>
                  <a:srgbClr val="00B050"/>
                </a:solidFill>
              </a:rPr>
              <a:t>Function</a:t>
            </a:r>
            <a:r>
              <a:rPr lang="en-GB" sz="2800" dirty="0"/>
              <a:t>: Add strength to capsule; prevent excessive extension; during standing help balance pelvis over head of femur; lat. help the limb prevent excessive adduction.</a:t>
            </a:r>
          </a:p>
          <a:p>
            <a:endParaRPr lang="en-GB" dirty="0"/>
          </a:p>
        </p:txBody>
      </p:sp>
      <p:sp>
        <p:nvSpPr>
          <p:cNvPr id="5" name="Slide Number Placeholder 4"/>
          <p:cNvSpPr>
            <a:spLocks noGrp="1"/>
          </p:cNvSpPr>
          <p:nvPr>
            <p:ph type="sldNum" sz="quarter" idx="12"/>
          </p:nvPr>
        </p:nvSpPr>
        <p:spPr/>
        <p:txBody>
          <a:bodyPr/>
          <a:lstStyle/>
          <a:p>
            <a:fld id="{60BDE49B-3F08-4192-9D92-664D6B529E0A}" type="slidenum">
              <a:rPr lang="en-GB" smtClean="0"/>
              <a:t>6</a:t>
            </a:fld>
            <a:endParaRPr lang="en-GB"/>
          </a:p>
        </p:txBody>
      </p:sp>
      <p:pic>
        <p:nvPicPr>
          <p:cNvPr id="6" name="Picture 5" descr="iliofemoral"/>
          <p:cNvPicPr/>
          <p:nvPr/>
        </p:nvPicPr>
        <p:blipFill>
          <a:blip r:embed="rId2">
            <a:extLst>
              <a:ext uri="{28A0092B-C50C-407E-A947-70E740481C1C}">
                <a14:useLocalDpi xmlns:a14="http://schemas.microsoft.com/office/drawing/2010/main" val="0"/>
              </a:ext>
            </a:extLst>
          </a:blip>
          <a:srcRect/>
          <a:stretch>
            <a:fillRect/>
          </a:stretch>
        </p:blipFill>
        <p:spPr bwMode="auto">
          <a:xfrm>
            <a:off x="6480160" y="429658"/>
            <a:ext cx="5528226" cy="5926692"/>
          </a:xfrm>
          <a:prstGeom prst="rect">
            <a:avLst/>
          </a:prstGeom>
          <a:noFill/>
          <a:ln>
            <a:noFill/>
          </a:ln>
        </p:spPr>
      </p:pic>
    </p:spTree>
    <p:extLst>
      <p:ext uri="{BB962C8B-B14F-4D97-AF65-F5344CB8AC3E}">
        <p14:creationId xmlns:p14="http://schemas.microsoft.com/office/powerpoint/2010/main" val="1574312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18642" y="451692"/>
            <a:ext cx="5420298" cy="5904658"/>
          </a:xfrm>
        </p:spPr>
        <p:txBody>
          <a:bodyPr>
            <a:normAutofit/>
          </a:bodyPr>
          <a:lstStyle/>
          <a:p>
            <a:pPr algn="just"/>
            <a:r>
              <a:rPr lang="en-GB" sz="3200" dirty="0">
                <a:solidFill>
                  <a:srgbClr val="0070C0"/>
                </a:solidFill>
              </a:rPr>
              <a:t>Pubo-femoral ligament</a:t>
            </a:r>
            <a:r>
              <a:rPr lang="en-GB" sz="3200" dirty="0"/>
              <a:t>: Runs between pubis and anterior inferior part of hip joint capsule. Many times psoas bursa communicates with joint cavity through a gap between </a:t>
            </a:r>
            <a:r>
              <a:rPr lang="en-GB" sz="3200" dirty="0" err="1"/>
              <a:t>pubo</a:t>
            </a:r>
            <a:r>
              <a:rPr lang="en-GB" sz="3200" dirty="0"/>
              <a:t>-femoral </a:t>
            </a:r>
            <a:r>
              <a:rPr lang="en-GB" sz="3200" dirty="0" err="1"/>
              <a:t>lig</a:t>
            </a:r>
            <a:r>
              <a:rPr lang="en-GB" sz="3200" dirty="0"/>
              <a:t>. and </a:t>
            </a:r>
            <a:r>
              <a:rPr lang="en-GB" sz="3200" dirty="0" err="1"/>
              <a:t>iliofemoral</a:t>
            </a:r>
            <a:r>
              <a:rPr lang="en-GB" sz="3200" dirty="0"/>
              <a:t> </a:t>
            </a:r>
            <a:r>
              <a:rPr lang="en-GB" sz="3200" dirty="0" err="1"/>
              <a:t>lig</a:t>
            </a:r>
            <a:r>
              <a:rPr lang="en-GB" sz="3200" dirty="0"/>
              <a:t>.</a:t>
            </a:r>
          </a:p>
          <a:p>
            <a:pPr algn="just"/>
            <a:r>
              <a:rPr lang="en-GB" sz="3200" dirty="0">
                <a:solidFill>
                  <a:srgbClr val="00B050"/>
                </a:solidFill>
              </a:rPr>
              <a:t>Function</a:t>
            </a:r>
            <a:r>
              <a:rPr lang="en-GB" sz="3200" dirty="0"/>
              <a:t>: Prevents excessive abduction. </a:t>
            </a:r>
          </a:p>
          <a:p>
            <a:endParaRPr lang="en-GB" sz="3200" dirty="0"/>
          </a:p>
        </p:txBody>
      </p:sp>
      <p:sp>
        <p:nvSpPr>
          <p:cNvPr id="5" name="Slide Number Placeholder 4"/>
          <p:cNvSpPr>
            <a:spLocks noGrp="1"/>
          </p:cNvSpPr>
          <p:nvPr>
            <p:ph type="sldNum" sz="quarter" idx="12"/>
          </p:nvPr>
        </p:nvSpPr>
        <p:spPr/>
        <p:txBody>
          <a:bodyPr/>
          <a:lstStyle/>
          <a:p>
            <a:fld id="{60BDE49B-3F08-4192-9D92-664D6B529E0A}" type="slidenum">
              <a:rPr lang="en-GB" smtClean="0"/>
              <a:t>7</a:t>
            </a:fld>
            <a:endParaRPr lang="en-GB"/>
          </a:p>
        </p:txBody>
      </p:sp>
      <p:pic>
        <p:nvPicPr>
          <p:cNvPr id="6" name="Picture 5"/>
          <p:cNvPicPr>
            <a:picLocks noChangeAspect="1"/>
          </p:cNvPicPr>
          <p:nvPr/>
        </p:nvPicPr>
        <p:blipFill>
          <a:blip r:embed="rId2"/>
          <a:stretch>
            <a:fillRect/>
          </a:stretch>
        </p:blipFill>
        <p:spPr>
          <a:xfrm>
            <a:off x="8108356" y="641350"/>
            <a:ext cx="2695575" cy="5715000"/>
          </a:xfrm>
          <a:prstGeom prst="rect">
            <a:avLst/>
          </a:prstGeom>
        </p:spPr>
      </p:pic>
    </p:spTree>
    <p:extLst>
      <p:ext uri="{BB962C8B-B14F-4D97-AF65-F5344CB8AC3E}">
        <p14:creationId xmlns:p14="http://schemas.microsoft.com/office/powerpoint/2010/main" val="228377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42372" y="440675"/>
            <a:ext cx="5321146" cy="5915675"/>
          </a:xfrm>
        </p:spPr>
        <p:txBody>
          <a:bodyPr>
            <a:normAutofit/>
          </a:bodyPr>
          <a:lstStyle/>
          <a:p>
            <a:pPr algn="just"/>
            <a:r>
              <a:rPr lang="en-GB" sz="3200" dirty="0">
                <a:solidFill>
                  <a:srgbClr val="0070C0"/>
                </a:solidFill>
              </a:rPr>
              <a:t>Ischio-femoral ligament</a:t>
            </a:r>
            <a:r>
              <a:rPr lang="en-GB" sz="3200" dirty="0"/>
              <a:t>: It runs from ischium to the posterior of hip joint capsule.</a:t>
            </a:r>
          </a:p>
          <a:p>
            <a:pPr algn="just"/>
            <a:r>
              <a:rPr lang="en-GB" sz="3200" dirty="0"/>
              <a:t> </a:t>
            </a:r>
            <a:r>
              <a:rPr lang="en-GB" sz="3200" dirty="0">
                <a:solidFill>
                  <a:srgbClr val="00B050"/>
                </a:solidFill>
              </a:rPr>
              <a:t>Function</a:t>
            </a:r>
            <a:r>
              <a:rPr lang="en-GB" sz="3200" dirty="0"/>
              <a:t>: Prevent excessive medial rotation. </a:t>
            </a:r>
          </a:p>
          <a:p>
            <a:endParaRPr lang="en-GB" dirty="0"/>
          </a:p>
        </p:txBody>
      </p:sp>
      <p:sp>
        <p:nvSpPr>
          <p:cNvPr id="5" name="Slide Number Placeholder 4"/>
          <p:cNvSpPr>
            <a:spLocks noGrp="1"/>
          </p:cNvSpPr>
          <p:nvPr>
            <p:ph type="sldNum" sz="quarter" idx="12"/>
          </p:nvPr>
        </p:nvSpPr>
        <p:spPr/>
        <p:txBody>
          <a:bodyPr/>
          <a:lstStyle/>
          <a:p>
            <a:fld id="{60BDE49B-3F08-4192-9D92-664D6B529E0A}" type="slidenum">
              <a:rPr lang="en-GB" smtClean="0"/>
              <a:t>8</a:t>
            </a:fld>
            <a:endParaRPr lang="en-GB"/>
          </a:p>
        </p:txBody>
      </p:sp>
      <p:pic>
        <p:nvPicPr>
          <p:cNvPr id="6" name="Picture 5"/>
          <p:cNvPicPr>
            <a:picLocks noChangeAspect="1"/>
          </p:cNvPicPr>
          <p:nvPr/>
        </p:nvPicPr>
        <p:blipFill>
          <a:blip r:embed="rId2"/>
          <a:stretch>
            <a:fillRect/>
          </a:stretch>
        </p:blipFill>
        <p:spPr>
          <a:xfrm>
            <a:off x="7612655" y="564824"/>
            <a:ext cx="3349128" cy="5667375"/>
          </a:xfrm>
          <a:prstGeom prst="rect">
            <a:avLst/>
          </a:prstGeom>
        </p:spPr>
      </p:pic>
    </p:spTree>
    <p:extLst>
      <p:ext uri="{BB962C8B-B14F-4D97-AF65-F5344CB8AC3E}">
        <p14:creationId xmlns:p14="http://schemas.microsoft.com/office/powerpoint/2010/main" val="1319010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30506" y="374573"/>
            <a:ext cx="5475383" cy="6114362"/>
          </a:xfrm>
        </p:spPr>
        <p:txBody>
          <a:bodyPr/>
          <a:lstStyle/>
          <a:p>
            <a:pPr algn="just"/>
            <a:r>
              <a:rPr lang="en-GB" sz="2800" dirty="0">
                <a:solidFill>
                  <a:srgbClr val="0070C0"/>
                </a:solidFill>
              </a:rPr>
              <a:t>Ligament of head of femur</a:t>
            </a:r>
            <a:r>
              <a:rPr lang="en-GB" sz="2800" dirty="0"/>
              <a:t>: Attaches to the pit in the head of femur and the transverse acetabular ligament. limiting the acetabular notch. </a:t>
            </a:r>
          </a:p>
          <a:p>
            <a:pPr algn="just"/>
            <a:r>
              <a:rPr lang="en-GB" sz="2800" dirty="0"/>
              <a:t>Broad at the acetabular attachment and narrow at the insertion at femur.</a:t>
            </a:r>
          </a:p>
          <a:p>
            <a:pPr algn="just"/>
            <a:r>
              <a:rPr lang="en-GB" sz="2800" dirty="0">
                <a:solidFill>
                  <a:srgbClr val="00B050"/>
                </a:solidFill>
              </a:rPr>
              <a:t>Function</a:t>
            </a:r>
            <a:r>
              <a:rPr lang="en-GB" sz="2800" dirty="0">
                <a:solidFill>
                  <a:srgbClr val="0070C0"/>
                </a:solidFill>
              </a:rPr>
              <a:t>: </a:t>
            </a:r>
            <a:r>
              <a:rPr lang="en-GB" sz="2800" dirty="0"/>
              <a:t>Carries blood to head of femur from acetabular.</a:t>
            </a:r>
          </a:p>
          <a:p>
            <a:pPr algn="just"/>
            <a:r>
              <a:rPr lang="en-GB" sz="2800" dirty="0">
                <a:solidFill>
                  <a:srgbClr val="0070C0"/>
                </a:solidFill>
              </a:rPr>
              <a:t>Transverse ligament</a:t>
            </a:r>
            <a:r>
              <a:rPr lang="en-GB" sz="2800" dirty="0"/>
              <a:t>: Attaches to the margins of acetabular notch converting it into a foramen. It is supplied by acetabular artery from obturator artery.</a:t>
            </a:r>
          </a:p>
          <a:p>
            <a:endParaRPr lang="en-GB" dirty="0"/>
          </a:p>
        </p:txBody>
      </p:sp>
      <p:sp>
        <p:nvSpPr>
          <p:cNvPr id="5" name="Slide Number Placeholder 4"/>
          <p:cNvSpPr>
            <a:spLocks noGrp="1"/>
          </p:cNvSpPr>
          <p:nvPr>
            <p:ph type="sldNum" sz="quarter" idx="12"/>
          </p:nvPr>
        </p:nvSpPr>
        <p:spPr/>
        <p:txBody>
          <a:bodyPr/>
          <a:lstStyle/>
          <a:p>
            <a:fld id="{60BDE49B-3F08-4192-9D92-664D6B529E0A}" type="slidenum">
              <a:rPr lang="en-GB" smtClean="0"/>
              <a:t>9</a:t>
            </a:fld>
            <a:endParaRPr lang="en-GB"/>
          </a:p>
        </p:txBody>
      </p:sp>
      <p:pic>
        <p:nvPicPr>
          <p:cNvPr id="6" name="Picture 5"/>
          <p:cNvPicPr>
            <a:picLocks noChangeAspect="1"/>
          </p:cNvPicPr>
          <p:nvPr/>
        </p:nvPicPr>
        <p:blipFill>
          <a:blip r:embed="rId2"/>
          <a:stretch>
            <a:fillRect/>
          </a:stretch>
        </p:blipFill>
        <p:spPr>
          <a:xfrm>
            <a:off x="6771185" y="457200"/>
            <a:ext cx="4752975" cy="5676900"/>
          </a:xfrm>
          <a:prstGeom prst="rect">
            <a:avLst/>
          </a:prstGeom>
        </p:spPr>
      </p:pic>
    </p:spTree>
    <p:extLst>
      <p:ext uri="{BB962C8B-B14F-4D97-AF65-F5344CB8AC3E}">
        <p14:creationId xmlns:p14="http://schemas.microsoft.com/office/powerpoint/2010/main" val="4261972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12957" y="367989"/>
            <a:ext cx="11128916" cy="5988205"/>
          </a:xfrm>
        </p:spPr>
        <p:txBody>
          <a:bodyPr/>
          <a:lstStyle/>
          <a:p>
            <a:pPr algn="just"/>
            <a:endParaRPr lang="en-GB" sz="3200" dirty="0" smtClean="0">
              <a:solidFill>
                <a:srgbClr val="0070C0"/>
              </a:solidFill>
            </a:endParaRPr>
          </a:p>
          <a:p>
            <a:pPr algn="just"/>
            <a:r>
              <a:rPr lang="en-GB" sz="3200" dirty="0" smtClean="0">
                <a:solidFill>
                  <a:srgbClr val="0070C0"/>
                </a:solidFill>
              </a:rPr>
              <a:t>Synovial </a:t>
            </a:r>
            <a:r>
              <a:rPr lang="en-GB" sz="3200" dirty="0" smtClean="0">
                <a:solidFill>
                  <a:srgbClr val="0070C0"/>
                </a:solidFill>
              </a:rPr>
              <a:t>membrane</a:t>
            </a:r>
            <a:r>
              <a:rPr lang="en-GB" sz="3200" dirty="0" smtClean="0"/>
              <a:t>: Covers the capsule of hip joint inside and non articular area of the femoral neck except articular area of the head with separate synovial </a:t>
            </a:r>
            <a:r>
              <a:rPr lang="en-GB" sz="3200" dirty="0" err="1" smtClean="0"/>
              <a:t>memb</a:t>
            </a:r>
            <a:r>
              <a:rPr lang="en-GB" sz="3200" dirty="0" smtClean="0"/>
              <a:t>. </a:t>
            </a:r>
          </a:p>
          <a:p>
            <a:pPr algn="just"/>
            <a:r>
              <a:rPr lang="en-GB" sz="3200" dirty="0" smtClean="0">
                <a:solidFill>
                  <a:srgbClr val="00B050"/>
                </a:solidFill>
              </a:rPr>
              <a:t>Innervation</a:t>
            </a:r>
            <a:r>
              <a:rPr lang="en-GB" sz="3200" dirty="0" smtClean="0"/>
              <a:t>: Accessory obturator N. if present</a:t>
            </a:r>
            <a:r>
              <a:rPr lang="en-GB" sz="3200" dirty="0"/>
              <a:t>;</a:t>
            </a:r>
            <a:r>
              <a:rPr lang="en-GB" sz="3200" dirty="0" smtClean="0"/>
              <a:t> Sciatic N; Nerve to rectus </a:t>
            </a:r>
            <a:r>
              <a:rPr lang="en-GB" sz="3200" dirty="0" err="1" smtClean="0"/>
              <a:t>femoris</a:t>
            </a:r>
            <a:r>
              <a:rPr lang="en-GB" sz="3200" dirty="0" smtClean="0"/>
              <a:t>; Nerve to quadratus </a:t>
            </a:r>
            <a:r>
              <a:rPr lang="en-GB" sz="3200" dirty="0" err="1" smtClean="0"/>
              <a:t>femoris</a:t>
            </a:r>
            <a:r>
              <a:rPr lang="en-GB" sz="3200" dirty="0" smtClean="0"/>
              <a:t> &amp; obturator N.</a:t>
            </a:r>
          </a:p>
          <a:p>
            <a:pPr algn="just"/>
            <a:r>
              <a:rPr lang="en-GB" sz="3200" dirty="0" smtClean="0">
                <a:solidFill>
                  <a:srgbClr val="00B050"/>
                </a:solidFill>
              </a:rPr>
              <a:t>Arterial supply</a:t>
            </a:r>
            <a:r>
              <a:rPr lang="en-GB" sz="3200" dirty="0" smtClean="0"/>
              <a:t>: Superior and inferior gluteal arteries, medial and lateral circumflex femoral arteries &amp; obturator artery.</a:t>
            </a:r>
          </a:p>
          <a:p>
            <a:pPr algn="l"/>
            <a:endParaRPr lang="en-GB" sz="3200" dirty="0"/>
          </a:p>
        </p:txBody>
      </p:sp>
      <p:sp>
        <p:nvSpPr>
          <p:cNvPr id="2" name="Slide Number Placeholder 1"/>
          <p:cNvSpPr>
            <a:spLocks noGrp="1"/>
          </p:cNvSpPr>
          <p:nvPr>
            <p:ph type="sldNum" sz="quarter" idx="12"/>
          </p:nvPr>
        </p:nvSpPr>
        <p:spPr/>
        <p:txBody>
          <a:bodyPr/>
          <a:lstStyle/>
          <a:p>
            <a:fld id="{60BDE49B-3F08-4192-9D92-664D6B529E0A}" type="slidenum">
              <a:rPr lang="en-GB" smtClean="0"/>
              <a:t>10</a:t>
            </a:fld>
            <a:endParaRPr lang="en-GB"/>
          </a:p>
        </p:txBody>
      </p:sp>
    </p:spTree>
    <p:extLst>
      <p:ext uri="{BB962C8B-B14F-4D97-AF65-F5344CB8AC3E}">
        <p14:creationId xmlns:p14="http://schemas.microsoft.com/office/powerpoint/2010/main" val="1495068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34898" y="367989"/>
            <a:ext cx="11396546" cy="6222381"/>
          </a:xfrm>
        </p:spPr>
        <p:txBody>
          <a:bodyPr>
            <a:normAutofit/>
          </a:bodyPr>
          <a:lstStyle/>
          <a:p>
            <a:pPr algn="just"/>
            <a:r>
              <a:rPr lang="en-GB" sz="3200" dirty="0" smtClean="0">
                <a:solidFill>
                  <a:srgbClr val="00B050"/>
                </a:solidFill>
              </a:rPr>
              <a:t>Applied Anatomy</a:t>
            </a:r>
            <a:r>
              <a:rPr lang="en-GB" sz="3200" dirty="0" smtClean="0"/>
              <a:t>: (</a:t>
            </a:r>
            <a:r>
              <a:rPr lang="en-GB" sz="3200" dirty="0" err="1" smtClean="0"/>
              <a:t>i</a:t>
            </a:r>
            <a:r>
              <a:rPr lang="en-GB" sz="3200" dirty="0" smtClean="0"/>
              <a:t>) Posterior dislocation of the joint is common and may or may not be associated with acetabular rim.</a:t>
            </a:r>
          </a:p>
          <a:p>
            <a:pPr algn="just"/>
            <a:r>
              <a:rPr lang="en-GB" sz="3200" dirty="0" smtClean="0"/>
              <a:t> (ii) Fracture of neck of femur occurs in old age due to osteoporosis.</a:t>
            </a:r>
          </a:p>
          <a:p>
            <a:pPr algn="just"/>
            <a:r>
              <a:rPr lang="en-GB" sz="3200" dirty="0" smtClean="0"/>
              <a:t>(iii) </a:t>
            </a:r>
            <a:r>
              <a:rPr lang="en-GB" sz="3200" dirty="0" smtClean="0">
                <a:solidFill>
                  <a:srgbClr val="0070C0"/>
                </a:solidFill>
              </a:rPr>
              <a:t>Coxa Vulgaris</a:t>
            </a:r>
            <a:r>
              <a:rPr lang="en-GB" sz="3200" dirty="0" smtClean="0"/>
              <a:t>; increase in the neck shaft angle and commonly seen in congenital dislocation of hip.</a:t>
            </a:r>
          </a:p>
          <a:p>
            <a:pPr algn="just"/>
            <a:r>
              <a:rPr lang="en-GB" sz="3200" dirty="0" smtClean="0"/>
              <a:t>(iv) </a:t>
            </a:r>
            <a:r>
              <a:rPr lang="en-GB" sz="3200" dirty="0" smtClean="0">
                <a:solidFill>
                  <a:srgbClr val="0070C0"/>
                </a:solidFill>
              </a:rPr>
              <a:t>Perth’s disease</a:t>
            </a:r>
            <a:r>
              <a:rPr lang="en-GB" sz="3200" dirty="0" smtClean="0"/>
              <a:t>, destruction and flattening of the head of femur, usually in children below 5yrs.</a:t>
            </a:r>
          </a:p>
          <a:p>
            <a:pPr algn="just"/>
            <a:r>
              <a:rPr lang="en-GB" sz="3200" dirty="0" smtClean="0"/>
              <a:t>(v) </a:t>
            </a:r>
            <a:r>
              <a:rPr lang="en-GB" sz="3200" dirty="0" smtClean="0">
                <a:solidFill>
                  <a:srgbClr val="0070C0"/>
                </a:solidFill>
              </a:rPr>
              <a:t>Coxa </a:t>
            </a:r>
            <a:r>
              <a:rPr lang="en-GB" sz="3200" dirty="0" err="1" smtClean="0">
                <a:solidFill>
                  <a:srgbClr val="0070C0"/>
                </a:solidFill>
              </a:rPr>
              <a:t>vara</a:t>
            </a:r>
            <a:r>
              <a:rPr lang="en-GB" sz="3200" dirty="0" smtClean="0"/>
              <a:t>; Normal neck shaft is 125° in adult and in children 150°. In this condition it decreases which limits movement of abduction seen in fractured neck.</a:t>
            </a:r>
          </a:p>
          <a:p>
            <a:pPr algn="just"/>
            <a:r>
              <a:rPr lang="en-GB" sz="3200" dirty="0" smtClean="0"/>
              <a:t>(vi) </a:t>
            </a:r>
            <a:r>
              <a:rPr lang="en-GB" sz="3200" dirty="0" smtClean="0">
                <a:solidFill>
                  <a:srgbClr val="0070C0"/>
                </a:solidFill>
              </a:rPr>
              <a:t>Irritable hip</a:t>
            </a:r>
            <a:r>
              <a:rPr lang="en-GB" sz="3200" dirty="0" smtClean="0"/>
              <a:t>; due to inflammation of synovial </a:t>
            </a:r>
            <a:r>
              <a:rPr lang="en-GB" sz="3200" dirty="0" err="1" smtClean="0"/>
              <a:t>memb</a:t>
            </a:r>
            <a:r>
              <a:rPr lang="en-GB" sz="3200" dirty="0" smtClean="0"/>
              <a:t>. Seen in children.   </a:t>
            </a:r>
            <a:endParaRPr lang="en-GB" sz="3200" dirty="0"/>
          </a:p>
        </p:txBody>
      </p:sp>
      <p:sp>
        <p:nvSpPr>
          <p:cNvPr id="2" name="Slide Number Placeholder 1"/>
          <p:cNvSpPr>
            <a:spLocks noGrp="1"/>
          </p:cNvSpPr>
          <p:nvPr>
            <p:ph type="sldNum" sz="quarter" idx="12"/>
          </p:nvPr>
        </p:nvSpPr>
        <p:spPr/>
        <p:txBody>
          <a:bodyPr/>
          <a:lstStyle/>
          <a:p>
            <a:fld id="{60BDE49B-3F08-4192-9D92-664D6B529E0A}" type="slidenum">
              <a:rPr lang="en-GB" smtClean="0"/>
              <a:t>11</a:t>
            </a:fld>
            <a:endParaRPr lang="en-GB"/>
          </a:p>
        </p:txBody>
      </p:sp>
    </p:spTree>
    <p:extLst>
      <p:ext uri="{BB962C8B-B14F-4D97-AF65-F5344CB8AC3E}">
        <p14:creationId xmlns:p14="http://schemas.microsoft.com/office/powerpoint/2010/main" val="80404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06062" y="218941"/>
            <a:ext cx="5681781" cy="6416035"/>
          </a:xfrm>
        </p:spPr>
        <p:txBody>
          <a:bodyPr>
            <a:noAutofit/>
          </a:bodyPr>
          <a:lstStyle/>
          <a:p>
            <a:r>
              <a:rPr lang="en-GB" sz="3000" dirty="0">
                <a:solidFill>
                  <a:srgbClr val="FF0000"/>
                </a:solidFill>
              </a:rPr>
              <a:t>Anastomosis around the hip joint</a:t>
            </a:r>
            <a:r>
              <a:rPr lang="en-GB" sz="3000" dirty="0"/>
              <a:t>: It includes trochanteric anastomosis and cruciate anastomosis</a:t>
            </a:r>
            <a:r>
              <a:rPr lang="en-GB" sz="3000" dirty="0" smtClean="0"/>
              <a:t>.</a:t>
            </a:r>
          </a:p>
          <a:p>
            <a:endParaRPr lang="en-GB" sz="3000" dirty="0"/>
          </a:p>
          <a:p>
            <a:pPr algn="just"/>
            <a:r>
              <a:rPr lang="en-GB" sz="3000" dirty="0"/>
              <a:t> </a:t>
            </a:r>
            <a:r>
              <a:rPr lang="en-GB" sz="3000" dirty="0">
                <a:solidFill>
                  <a:srgbClr val="0070C0"/>
                </a:solidFill>
              </a:rPr>
              <a:t>Trochanteric anastomosis: </a:t>
            </a:r>
            <a:r>
              <a:rPr lang="en-GB" sz="3000" dirty="0"/>
              <a:t>Situated near trochanteric fossa. The ascending branch of lateral femoral circumflex artery anastomosis with ascending branch of medial femoral circumflex artery with the deep branch of superior gluteal artery. They supply the head of femur.</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5472" y="334537"/>
            <a:ext cx="5898995" cy="6144321"/>
          </a:xfrm>
          <a:prstGeom prst="rect">
            <a:avLst/>
          </a:prstGeom>
        </p:spPr>
      </p:pic>
      <p:sp>
        <p:nvSpPr>
          <p:cNvPr id="2" name="Slide Number Placeholder 1"/>
          <p:cNvSpPr>
            <a:spLocks noGrp="1"/>
          </p:cNvSpPr>
          <p:nvPr>
            <p:ph type="sldNum" sz="quarter" idx="12"/>
          </p:nvPr>
        </p:nvSpPr>
        <p:spPr/>
        <p:txBody>
          <a:bodyPr/>
          <a:lstStyle/>
          <a:p>
            <a:fld id="{60BDE49B-3F08-4192-9D92-664D6B529E0A}" type="slidenum">
              <a:rPr lang="en-GB" smtClean="0"/>
              <a:t>12</a:t>
            </a:fld>
            <a:endParaRPr lang="en-GB"/>
          </a:p>
        </p:txBody>
      </p:sp>
    </p:spTree>
    <p:extLst>
      <p:ext uri="{BB962C8B-B14F-4D97-AF65-F5344CB8AC3E}">
        <p14:creationId xmlns:p14="http://schemas.microsoft.com/office/powerpoint/2010/main" val="4089840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57577" y="457199"/>
            <a:ext cx="5576553" cy="6020873"/>
          </a:xfrm>
        </p:spPr>
        <p:txBody>
          <a:bodyPr>
            <a:noAutofit/>
          </a:bodyPr>
          <a:lstStyle/>
          <a:p>
            <a:pPr algn="just"/>
            <a:r>
              <a:rPr lang="en-GB" sz="2800" dirty="0">
                <a:solidFill>
                  <a:srgbClr val="0070C0"/>
                </a:solidFill>
              </a:rPr>
              <a:t>Cruciate anastomosis</a:t>
            </a:r>
            <a:r>
              <a:rPr lang="en-GB" sz="2800" dirty="0"/>
              <a:t>: Situated upper back of thigh at </a:t>
            </a:r>
            <a:r>
              <a:rPr lang="en-GB" sz="2800" dirty="0" smtClean="0"/>
              <a:t>level </a:t>
            </a:r>
            <a:r>
              <a:rPr lang="en-GB" sz="2800" dirty="0"/>
              <a:t>of lesser </a:t>
            </a:r>
            <a:r>
              <a:rPr lang="en-GB" sz="2800" dirty="0" smtClean="0"/>
              <a:t>trochanter just below the attachment of quadratus </a:t>
            </a:r>
            <a:r>
              <a:rPr lang="en-GB" sz="2800" dirty="0" err="1" smtClean="0"/>
              <a:t>femoris</a:t>
            </a:r>
            <a:r>
              <a:rPr lang="en-GB" sz="2800" dirty="0" smtClean="0"/>
              <a:t>. </a:t>
            </a:r>
            <a:r>
              <a:rPr lang="en-GB" sz="2800" dirty="0"/>
              <a:t>The transverse branch of lateral femoral circumflex artery anastomosis with transverse branch of medial femoral circumflex artery. The 1</a:t>
            </a:r>
            <a:r>
              <a:rPr lang="en-GB" sz="2800" baseline="30000" dirty="0"/>
              <a:t>st</a:t>
            </a:r>
            <a:r>
              <a:rPr lang="en-GB" sz="2800" dirty="0"/>
              <a:t> perforating branch of </a:t>
            </a:r>
            <a:r>
              <a:rPr lang="en-GB" sz="2800" dirty="0" err="1"/>
              <a:t>profunda</a:t>
            </a:r>
            <a:r>
              <a:rPr lang="en-GB" sz="2800" dirty="0"/>
              <a:t> </a:t>
            </a:r>
            <a:r>
              <a:rPr lang="en-GB" sz="2800" dirty="0" err="1"/>
              <a:t>femoris</a:t>
            </a:r>
            <a:r>
              <a:rPr lang="en-GB" sz="2800" dirty="0"/>
              <a:t> anastomosing with a branch from inferior gluteal artery.</a:t>
            </a:r>
          </a:p>
          <a:p>
            <a:pPr algn="just"/>
            <a:r>
              <a:rPr lang="en-GB" sz="2800" dirty="0"/>
              <a:t>Its function is to provide an alternative supply to lower limb if there is blockage of blood b/w external iliac &amp; femoral arteries.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9143" y="457200"/>
            <a:ext cx="4743450" cy="5411788"/>
          </a:xfrm>
          <a:prstGeom prst="rect">
            <a:avLst/>
          </a:prstGeom>
        </p:spPr>
      </p:pic>
      <p:sp>
        <p:nvSpPr>
          <p:cNvPr id="2" name="Slide Number Placeholder 1"/>
          <p:cNvSpPr>
            <a:spLocks noGrp="1"/>
          </p:cNvSpPr>
          <p:nvPr>
            <p:ph type="sldNum" sz="quarter" idx="12"/>
          </p:nvPr>
        </p:nvSpPr>
        <p:spPr/>
        <p:txBody>
          <a:bodyPr/>
          <a:lstStyle/>
          <a:p>
            <a:fld id="{60BDE49B-3F08-4192-9D92-664D6B529E0A}" type="slidenum">
              <a:rPr lang="en-GB" smtClean="0"/>
              <a:t>13</a:t>
            </a:fld>
            <a:endParaRPr lang="en-GB"/>
          </a:p>
        </p:txBody>
      </p:sp>
    </p:spTree>
    <p:extLst>
      <p:ext uri="{BB962C8B-B14F-4D97-AF65-F5344CB8AC3E}">
        <p14:creationId xmlns:p14="http://schemas.microsoft.com/office/powerpoint/2010/main" val="2958191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 1.0 - The anatomical course of the femoral artery, and its branches."/>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23850"/>
            <a:ext cx="7924800" cy="6210300"/>
          </a:xfrm>
          <a:prstGeom prst="rect">
            <a:avLst/>
          </a:prstGeom>
          <a:noFill/>
          <a:ln>
            <a:noFill/>
          </a:ln>
        </p:spPr>
      </p:pic>
      <p:sp>
        <p:nvSpPr>
          <p:cNvPr id="2" name="Slide Number Placeholder 1"/>
          <p:cNvSpPr>
            <a:spLocks noGrp="1"/>
          </p:cNvSpPr>
          <p:nvPr>
            <p:ph type="sldNum" sz="quarter" idx="12"/>
          </p:nvPr>
        </p:nvSpPr>
        <p:spPr/>
        <p:txBody>
          <a:bodyPr/>
          <a:lstStyle/>
          <a:p>
            <a:fld id="{60BDE49B-3F08-4192-9D92-664D6B529E0A}" type="slidenum">
              <a:rPr lang="en-GB" smtClean="0"/>
              <a:t>14</a:t>
            </a:fld>
            <a:endParaRPr lang="en-GB"/>
          </a:p>
        </p:txBody>
      </p:sp>
    </p:spTree>
    <p:extLst>
      <p:ext uri="{BB962C8B-B14F-4D97-AF65-F5344CB8AC3E}">
        <p14:creationId xmlns:p14="http://schemas.microsoft.com/office/powerpoint/2010/main" val="1458703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630</TotalTime>
  <Words>913</Words>
  <Application>Microsoft Office PowerPoint</Application>
  <PresentationFormat>Widescreen</PresentationFormat>
  <Paragraphs>59</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Office Theme</vt:lpstr>
      <vt:lpstr> Hip joint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 201 Elbow joint By Dr. Mbaka G.O.</dc:title>
  <dc:creator>Microsoft</dc:creator>
  <cp:lastModifiedBy>Microsoft</cp:lastModifiedBy>
  <cp:revision>41</cp:revision>
  <dcterms:created xsi:type="dcterms:W3CDTF">2021-04-26T04:52:23Z</dcterms:created>
  <dcterms:modified xsi:type="dcterms:W3CDTF">2024-08-05T09:48:21Z</dcterms:modified>
</cp:coreProperties>
</file>