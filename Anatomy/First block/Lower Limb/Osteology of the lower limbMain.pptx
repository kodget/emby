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4"/>
  </p:notesMasterIdLst>
  <p:sldIdLst>
    <p:sldId id="257" r:id="rId2"/>
    <p:sldId id="292" r:id="rId3"/>
    <p:sldId id="258" r:id="rId4"/>
    <p:sldId id="296" r:id="rId5"/>
    <p:sldId id="297" r:id="rId6"/>
    <p:sldId id="298" r:id="rId7"/>
    <p:sldId id="301" r:id="rId8"/>
    <p:sldId id="302" r:id="rId9"/>
    <p:sldId id="303" r:id="rId10"/>
    <p:sldId id="299" r:id="rId11"/>
    <p:sldId id="304" r:id="rId12"/>
    <p:sldId id="305" r:id="rId13"/>
    <p:sldId id="306" r:id="rId14"/>
    <p:sldId id="410" r:id="rId15"/>
    <p:sldId id="411" r:id="rId16"/>
    <p:sldId id="412" r:id="rId17"/>
    <p:sldId id="413" r:id="rId18"/>
    <p:sldId id="414" r:id="rId19"/>
    <p:sldId id="415" r:id="rId20"/>
    <p:sldId id="416" r:id="rId21"/>
    <p:sldId id="417" r:id="rId22"/>
    <p:sldId id="418" r:id="rId23"/>
    <p:sldId id="419" r:id="rId24"/>
    <p:sldId id="420" r:id="rId25"/>
    <p:sldId id="421" r:id="rId26"/>
    <p:sldId id="422" r:id="rId27"/>
    <p:sldId id="423" r:id="rId28"/>
    <p:sldId id="424" r:id="rId29"/>
    <p:sldId id="425" r:id="rId30"/>
    <p:sldId id="426" r:id="rId31"/>
    <p:sldId id="427" r:id="rId32"/>
    <p:sldId id="428" r:id="rId33"/>
    <p:sldId id="429" r:id="rId34"/>
    <p:sldId id="430" r:id="rId35"/>
    <p:sldId id="431" r:id="rId36"/>
    <p:sldId id="432" r:id="rId37"/>
    <p:sldId id="433" r:id="rId38"/>
    <p:sldId id="434" r:id="rId39"/>
    <p:sldId id="435" r:id="rId40"/>
    <p:sldId id="436" r:id="rId41"/>
    <p:sldId id="437" r:id="rId42"/>
    <p:sldId id="438" r:id="rId43"/>
    <p:sldId id="439" r:id="rId44"/>
    <p:sldId id="440" r:id="rId45"/>
    <p:sldId id="441" r:id="rId46"/>
    <p:sldId id="442" r:id="rId47"/>
    <p:sldId id="443" r:id="rId48"/>
    <p:sldId id="444" r:id="rId49"/>
    <p:sldId id="445" r:id="rId50"/>
    <p:sldId id="291" r:id="rId51"/>
    <p:sldId id="307" r:id="rId52"/>
    <p:sldId id="308" r:id="rId53"/>
    <p:sldId id="309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6" r:id="rId120"/>
    <p:sldId id="377" r:id="rId121"/>
    <p:sldId id="378" r:id="rId122"/>
    <p:sldId id="379" r:id="rId123"/>
    <p:sldId id="380" r:id="rId124"/>
    <p:sldId id="381" r:id="rId125"/>
    <p:sldId id="382" r:id="rId126"/>
    <p:sldId id="383" r:id="rId127"/>
    <p:sldId id="384" r:id="rId128"/>
    <p:sldId id="385" r:id="rId129"/>
    <p:sldId id="386" r:id="rId130"/>
    <p:sldId id="387" r:id="rId131"/>
    <p:sldId id="388" r:id="rId132"/>
    <p:sldId id="389" r:id="rId133"/>
    <p:sldId id="390" r:id="rId134"/>
    <p:sldId id="391" r:id="rId135"/>
    <p:sldId id="392" r:id="rId136"/>
    <p:sldId id="393" r:id="rId137"/>
    <p:sldId id="394" r:id="rId138"/>
    <p:sldId id="395" r:id="rId139"/>
    <p:sldId id="396" r:id="rId140"/>
    <p:sldId id="397" r:id="rId141"/>
    <p:sldId id="398" r:id="rId142"/>
    <p:sldId id="399" r:id="rId143"/>
    <p:sldId id="400" r:id="rId144"/>
    <p:sldId id="401" r:id="rId145"/>
    <p:sldId id="402" r:id="rId146"/>
    <p:sldId id="403" r:id="rId147"/>
    <p:sldId id="404" r:id="rId148"/>
    <p:sldId id="405" r:id="rId149"/>
    <p:sldId id="406" r:id="rId150"/>
    <p:sldId id="407" r:id="rId151"/>
    <p:sldId id="408" r:id="rId152"/>
    <p:sldId id="409" r:id="rId1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5629A-A1D0-4A3E-B76C-17982391D3EB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FE259-7972-4D6B-8861-554135C57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9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550DA-81D7-4B97-924F-FD01D4F33F68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568FD-AE87-4716-8F58-BC093F0F96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00109"/>
            <a:ext cx="7772400" cy="1214445"/>
          </a:xfrm>
        </p:spPr>
        <p:txBody>
          <a:bodyPr>
            <a:noAutofit/>
          </a:bodyPr>
          <a:lstStyle/>
          <a:p>
            <a:r>
              <a:rPr lang="en-AU" sz="4000" dirty="0" err="1">
                <a:latin typeface="Arial Black" pitchFamily="34" charset="0"/>
              </a:rPr>
              <a:t>Osteology</a:t>
            </a:r>
            <a:r>
              <a:rPr lang="en-AU" sz="4000" dirty="0">
                <a:latin typeface="Arial Black" pitchFamily="34" charset="0"/>
              </a:rPr>
              <a:t> of the lower limb</a:t>
            </a:r>
            <a:endParaRPr lang="en-US" sz="4000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7562"/>
            <a:ext cx="6986614" cy="2714644"/>
          </a:xfrm>
        </p:spPr>
        <p:txBody>
          <a:bodyPr>
            <a:noAutofit/>
          </a:bodyPr>
          <a:lstStyle/>
          <a:p>
            <a:r>
              <a:rPr lang="en-AU" sz="4000" dirty="0">
                <a:latin typeface="Arial Black" pitchFamily="34" charset="0"/>
              </a:rPr>
              <a:t>BY</a:t>
            </a:r>
          </a:p>
          <a:p>
            <a:endParaRPr lang="en-AU" sz="4000" dirty="0">
              <a:latin typeface="Arial Black" pitchFamily="34" charset="0"/>
            </a:endParaRPr>
          </a:p>
          <a:p>
            <a:r>
              <a:rPr lang="en-AU" sz="4000" dirty="0">
                <a:latin typeface="Arial Black" pitchFamily="34" charset="0"/>
              </a:rPr>
              <a:t>DR OJEWALE A.O</a:t>
            </a:r>
            <a:endParaRPr lang="en-US" sz="40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162382"/>
          </a:xfrm>
        </p:spPr>
        <p:txBody>
          <a:bodyPr>
            <a:noAutofit/>
          </a:bodyPr>
          <a:lstStyle/>
          <a:p>
            <a:r>
              <a:rPr lang="en-AU" sz="3200" dirty="0">
                <a:latin typeface="Arial" pitchFamily="34" charset="0"/>
                <a:cs typeface="Arial" pitchFamily="34" charset="0"/>
              </a:rPr>
              <a:t>Intro’</a:t>
            </a:r>
          </a:p>
          <a:p>
            <a:r>
              <a:rPr lang="en-AU" sz="3200" dirty="0">
                <a:latin typeface="Arial" pitchFamily="34" charset="0"/>
                <a:cs typeface="Arial" pitchFamily="34" charset="0"/>
              </a:rPr>
              <a:t>Hip bone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Femur</a:t>
            </a:r>
          </a:p>
          <a:p>
            <a:r>
              <a:rPr lang="en-AU" sz="3200" dirty="0">
                <a:latin typeface="Arial" pitchFamily="34" charset="0"/>
                <a:cs typeface="Arial" pitchFamily="34" charset="0"/>
              </a:rPr>
              <a:t>Tibia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Fibula</a:t>
            </a:r>
          </a:p>
          <a:p>
            <a:r>
              <a:rPr lang="en-AU" sz="3200" dirty="0">
                <a:latin typeface="Arial" pitchFamily="34" charset="0"/>
                <a:cs typeface="Arial" pitchFamily="34" charset="0"/>
              </a:rPr>
              <a:t>Bones of the foot</a:t>
            </a:r>
          </a:p>
          <a:p>
            <a:r>
              <a:rPr lang="en-AU" sz="3200" dirty="0">
                <a:latin typeface="Arial" pitchFamily="34" charset="0"/>
                <a:cs typeface="Arial" pitchFamily="34" charset="0"/>
              </a:rPr>
              <a:t>Applied Anatomy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                  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64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INTRODUCTION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429288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Each lower limb contains 31 bones: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Hip bone, the bone of gluteal region (1).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Femur, the bone of thigh (1).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Patella or knee cap (1).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Tibia and fibula, the bones of leg (2).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Tarsal bones (7).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Metatarsals (5). 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Phalanges (14).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11222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ANATOMICAL POSITION AND SIDE DETERMINATION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0"/>
            <a:ext cx="8929718" cy="6286544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The side of the hip bone is determined by holding it in such way that: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is directed laterally.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foramen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lies below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flat expanded ilium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directed upward,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thin pubis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directed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anteromedially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thick ischium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directed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posteroinferiorly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pubic tubercle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 superior iliac spine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lie in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same coronal plane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85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329642" cy="5429288"/>
          </a:xfrm>
        </p:spPr>
        <p:txBody>
          <a:bodyPr/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ischial tuberosity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occupies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lowest position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9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itchFamily="34" charset="0"/>
              </a:rPr>
              <a:t>FEATURES AND ATTACHMENTS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71504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Ilium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It projects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upward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as an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expanded fan-shaped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plate of bone. It presents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following features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Two ends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-upper and lower.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Three borders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-anterior, posterior, and medial.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Three surfaces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-iliac fossa, gluteal, and sacropelvic.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84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Ends of the Ilium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572560" cy="7429552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Upper end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represented by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curved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thickened border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called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crest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highest point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lies at the level 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interval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between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L3 and L4 vertebrae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horizontal plane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concave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inward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convex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inward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ends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are termed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 superior iliac spine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superior iliac spine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respectively.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0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571480"/>
            <a:ext cx="8572560" cy="607223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Anterior superior iliac spine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provides attachment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 end of inguinal ligament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above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sartorius below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Posterior superior iliac spine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provides attachment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sacrotuberous ligament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divided into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larger ventral segment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(anterior two-third) and a 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smaller dorsal segment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(posterior one-third).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Ventral segment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presents an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outer lip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intermediate area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an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inner lip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46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428604"/>
            <a:ext cx="8643998" cy="6429396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Outer lip</a:t>
            </a:r>
          </a:p>
          <a:p>
            <a:pPr algn="just">
              <a:buNone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(i) It presents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tubercle of the iliac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5 cm behind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 superior iliac spine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(ii)  It provides attachment to the following structures: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Tensor fasciae </a:t>
            </a:r>
            <a:r>
              <a:rPr lang="en-AU" sz="3200" b="1" dirty="0" err="1">
                <a:latin typeface="Arial" pitchFamily="34" charset="0"/>
                <a:cs typeface="Arial" pitchFamily="34" charset="0"/>
              </a:rPr>
              <a:t>latae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originates in front 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tubercle of iliac crest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External oblique muscle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inserted in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 two-third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 err="1">
                <a:latin typeface="Arial" pitchFamily="34" charset="0"/>
                <a:cs typeface="Arial" pitchFamily="34" charset="0"/>
              </a:rPr>
              <a:t>Latissimus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 err="1">
                <a:latin typeface="Arial" pitchFamily="34" charset="0"/>
                <a:cs typeface="Arial" pitchFamily="34" charset="0"/>
              </a:rPr>
              <a:t>dorsi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originates just behind its highest point.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13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00108"/>
            <a:ext cx="8229600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71604" y="6000768"/>
            <a:ext cx="6215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General features of the ilium: A, outer surface; B, inner surface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95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664373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Intermediate area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: It provides origin to the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internal oblique muscle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along its whole extent.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Inner lip</a:t>
            </a:r>
          </a:p>
          <a:p>
            <a:pPr algn="just"/>
            <a:r>
              <a:rPr lang="en-US" sz="3200" dirty="0">
                <a:latin typeface="Arial" pitchFamily="34" charset="0"/>
                <a:cs typeface="Arial" pitchFamily="34" charset="0"/>
              </a:rPr>
              <a:t>(i) Its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anterior two-third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provides attachment to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transversus abdominis muscle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dirty="0">
                <a:latin typeface="Arial" pitchFamily="34" charset="0"/>
                <a:cs typeface="Arial" pitchFamily="34" charset="0"/>
              </a:rPr>
              <a:t>(ii) Its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posterior one-third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provides attachment to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quadratus lumborum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45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928670"/>
            <a:ext cx="8229600" cy="52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42910" y="6143644"/>
            <a:ext cx="7929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Special features (attachments) of the ilium: A, outer surface; B, inner surface.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64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401080" cy="592935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Dorsal segment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is divided by a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ridge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into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inner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outer sloping surfaces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US" sz="3200" b="1" dirty="0">
                <a:latin typeface="Arial" pitchFamily="34" charset="0"/>
                <a:cs typeface="Arial" pitchFamily="34" charset="0"/>
              </a:rPr>
              <a:t>Outer sloping surface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gives origin to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gluteus maximus muscle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b="1" dirty="0">
                <a:latin typeface="Arial" pitchFamily="34" charset="0"/>
                <a:cs typeface="Arial" pitchFamily="34" charset="0"/>
              </a:rPr>
              <a:t>Inner sloping surface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gives origin to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erector spinae muscle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928694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0042"/>
            <a:ext cx="8929718" cy="6357958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Lower end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end of ilium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forms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two-fifth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sz="32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Borders of the Ilium</a:t>
            </a:r>
          </a:p>
          <a:p>
            <a:pPr algn="just">
              <a:buFont typeface="Wingdings" pitchFamily="2" charset="2"/>
              <a:buChar char="Ø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Anterior border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extends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 superior iliac spine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Its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upper half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forms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notch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half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projects forward as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 inferior iliac spine,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which provides attachment 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the straight head of rectus femoris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81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000108"/>
            <a:ext cx="8715436" cy="6500858"/>
          </a:xfrm>
        </p:spPr>
        <p:txBody>
          <a:bodyPr>
            <a:noAutofit/>
          </a:bodyPr>
          <a:lstStyle/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iliofemoral ligament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part.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Posterior border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extends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superior iliac spine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border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presents from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above downward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inferior iliac spine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greater sciatic notch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ischial spine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lesser sciatic notch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36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6000768"/>
          </a:xfrm>
        </p:spPr>
        <p:txBody>
          <a:bodyPr>
            <a:norm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greater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lesser sciatic notches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are converted into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greater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lesser sciatic foramina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by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sacrospinous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sacrotuberous ligaments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dorsal aspect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ischial spine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crossed from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medial side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by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three structures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Pudendal nerve.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Internal pudendal vessels.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Nerve to obturator internus.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89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401080" cy="614366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Medial border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extends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downward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forward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iliopubic eminence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separates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fossa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sacropelvic surface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Lower one-third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medial border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forms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rounded arcuate line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11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Surfaces of the Ilium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692948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Iliac fossa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shallow concave surface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inner aspect of ilium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below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crest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 front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medial border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Iliacus muscle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arises from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two-third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b="1" dirty="0">
                <a:latin typeface="Arial" pitchFamily="34" charset="0"/>
                <a:cs typeface="Arial" pitchFamily="34" charset="0"/>
              </a:rPr>
              <a:t>Gluteal surface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outer aspect of the ilium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which is convex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in front and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concave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behind.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divided into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four areas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by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three gluteal lines: posterior, anterior, and inferior. 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786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1122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6215106"/>
          </a:xfrm>
        </p:spPr>
        <p:txBody>
          <a:bodyPr>
            <a:norm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All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these lines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radiate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margin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greater sciatic notch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gluteal line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meets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dorsal segment of the iliac crest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 gluteal line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meets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close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tubercle of the iliac crest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inferior gluteal line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meets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 inferior iliac spine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34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857232"/>
            <a:ext cx="8643998" cy="571504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gluteal surface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provides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origin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four muscles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Gluteus maximus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behind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gluteal line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Gluteus medius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between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gluteal lines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Gluteus minimus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between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inferior gluteal lines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Reflected head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rectus femoris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between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inferior gluteal line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margin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8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Sacropelvic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928670"/>
            <a:ext cx="8643998" cy="6357982"/>
          </a:xfrm>
        </p:spPr>
        <p:txBody>
          <a:bodyPr>
            <a:norm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situated behind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medial border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on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inner side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It is divided into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two parts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-sacral part,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dorsally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pelvic part,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ventrally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Sacral part of the sacropelvic surface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sacral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presents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tuberosity of the ilium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behind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the auricular surface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 front.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tuberosity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rough area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below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dorsal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iliac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provides attachment 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three ligaments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3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642918"/>
            <a:ext cx="8572560" cy="650085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(a)  iliolumbar, (b) dorsal sacroiliac, and (c) interosseous sacroiliac.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auricular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is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ear-shaped articular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articulates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corresponding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sacrum</a:t>
            </a:r>
            <a:r>
              <a:rPr lang="en-AU" dirty="0">
                <a:latin typeface="Arial" pitchFamily="34" charset="0"/>
                <a:cs typeface="Arial" pitchFamily="34" charset="0"/>
              </a:rPr>
              <a:t> to form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sacroiliac joint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Pelvic part of the sacropelvic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smooth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continuous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pelvic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ischium</a:t>
            </a:r>
            <a:r>
              <a:rPr lang="en-AU" dirty="0">
                <a:latin typeface="Arial" pitchFamily="34" charset="0"/>
                <a:cs typeface="Arial" pitchFamily="34" charset="0"/>
              </a:rPr>
              <a:t> to form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wall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lesser pelvis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pre-auricular sulcus </a:t>
            </a:r>
            <a:r>
              <a:rPr lang="en-AU" dirty="0">
                <a:latin typeface="Arial" pitchFamily="34" charset="0"/>
                <a:cs typeface="Arial" pitchFamily="34" charset="0"/>
              </a:rPr>
              <a:t>just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 front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auricular surface</a:t>
            </a:r>
            <a:r>
              <a:rPr lang="en-AU" dirty="0">
                <a:latin typeface="Arial" pitchFamily="34" charset="0"/>
                <a:cs typeface="Arial" pitchFamily="34" charset="0"/>
              </a:rPr>
              <a:t>, along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 sciatic notch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Most of this surface provides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origin</a:t>
            </a:r>
            <a:r>
              <a:rPr lang="en-AU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obturator internus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08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1000132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Ischium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429288"/>
          </a:xfrm>
        </p:spPr>
        <p:txBody>
          <a:bodyPr>
            <a:norm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thick posteroinferior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hip bone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consists of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body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ramus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Body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very thick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lies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presents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two ends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-upper and lower;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three borders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-anterior, posterior, and lateral;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three surfaces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-femoral, dorsal, and pelvic.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72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715436" cy="607220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Ends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Upper end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: It forms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posteroinferior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two-fifth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where it unites with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pubis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Lower end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forms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ischial tuberosity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gives off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ramus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which forms an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acute angle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with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body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Ischial tuberosity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rough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divided by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horizontal ridge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into an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quadrilateral area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triangular area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57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28652"/>
            <a:ext cx="8229600" cy="1143008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357166"/>
            <a:ext cx="8715436" cy="6500834"/>
          </a:xfrm>
        </p:spPr>
        <p:txBody>
          <a:bodyPr>
            <a:no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quadrilateral area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subdivided by an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oblique ridge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lateral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medial parts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triangular area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subdivided by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longitudinal ridge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outer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inner parts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ischial tuberosity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provides origin 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four muscles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Semimembranosus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arises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quadrilateral area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Semitendinosus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along with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long head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biceps femoris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arises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medial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quadrilateral area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1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928670"/>
            <a:ext cx="8572560" cy="571504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Adductor magnus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(ischial head), arises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outer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triangular area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inner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triangular area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covered by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fibrofatty tissue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transmits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body weight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sitting position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Medial margin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ischial tuberosity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sharp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provides attachment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sacrotuberous ligament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00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100013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786874" cy="678661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Borders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Anterior border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: It forms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margin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foramen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gives attachment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membrane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Posterior border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It is continuous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above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border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ends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below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ischial tuberosity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It presents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triangular projection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called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ischial spine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07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714356"/>
            <a:ext cx="8643998" cy="614364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tip of spine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provides attachment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sacrospinous ligament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levator ani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coccygeus muscles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arise from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pelvic surface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Ischial spine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forms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boundaries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greater sciatic notch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lesser sciatic notch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gemellus superior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gemellus inferior muscles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arise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ends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lesser sciatic notch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respectively.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58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42926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Lateral border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forms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 margin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ischial tuberosity.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notched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close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margin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lodges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tendon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externus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72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32"/>
            <a:ext cx="8472518" cy="592933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Surfaces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Femoral surface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directed forward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is situated between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 borders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Obturator externus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arises from this surface along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foramen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Quadratus femoris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arises from this surface along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 border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ischial tuberosity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78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Dorsal surface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continuous above with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gluteal surface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ilium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divided by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transverse groove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parts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Tendon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internus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along with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two gemelli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traverse through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groove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parts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Pelvic surface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smooth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lies between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borders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It gives origin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internus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83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928694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0042"/>
            <a:ext cx="8401080" cy="635795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Ramus of the Ischium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arises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body and runs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upward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forward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meets with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inferior ramus pubis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to form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conjoint ischiopubic ramus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Conjoint ischiopubic ramus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conjoint ischiopubic ramus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presents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two borders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two surfaces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-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outer and inner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Upper border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forms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margin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foramen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provides attachment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membrane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34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92933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Lower border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forms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 boundary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subpubic angle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everted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eversion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is more marked in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males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than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females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due to attachment of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crus of penis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Outer surface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is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concave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and provides linear attachment to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four muscles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 From above downward these are: (a) Obturator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externus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(b) Adductor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magnus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(c) Adductor brevis, (d)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Gracilis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61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b="1" dirty="0">
                <a:latin typeface="Arial Black" pitchFamily="34" charset="0"/>
              </a:rPr>
              <a:t>Cont’d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857232"/>
            <a:ext cx="8643998" cy="600076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Inner surface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convex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subdivided by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oblique bony ridges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three areas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-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middle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lower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b="1" dirty="0">
                <a:latin typeface="Arial" pitchFamily="34" charset="0"/>
                <a:cs typeface="Arial" pitchFamily="34" charset="0"/>
              </a:rPr>
              <a:t>Upper ridge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provides attachment to the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superior fascia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urogenital diaphragm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b="1" dirty="0">
                <a:latin typeface="Arial" pitchFamily="34" charset="0"/>
                <a:cs typeface="Arial" pitchFamily="34" charset="0"/>
              </a:rPr>
              <a:t>Lower ridge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provides attachment to the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perineal membrane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inferior fascia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urogenital diaphragm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) and </a:t>
            </a:r>
            <a:r>
              <a:rPr lang="en-US" sz="3200" b="1" dirty="0" err="1">
                <a:latin typeface="Arial" pitchFamily="34" charset="0"/>
                <a:cs typeface="Arial" pitchFamily="34" charset="0"/>
              </a:rPr>
              <a:t>falciform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 process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US" sz="3200" b="1" dirty="0" err="1">
                <a:latin typeface="Arial" pitchFamily="34" charset="0"/>
                <a:cs typeface="Arial" pitchFamily="34" charset="0"/>
              </a:rPr>
              <a:t>sacrotuberous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 ligament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Upper area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provides origin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</a:t>
            </a:r>
          </a:p>
          <a:p>
            <a:pPr algn="just">
              <a:buNone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   internus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04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401080" cy="5500726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>
                <a:latin typeface="Arial" pitchFamily="34" charset="0"/>
                <a:cs typeface="Arial" pitchFamily="34" charset="0"/>
              </a:rPr>
              <a:t>Middle area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provides attachments to the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sphincter urethrae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deep transversus perinei muscles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sz="3200" b="1" dirty="0">
                <a:latin typeface="Arial" pitchFamily="34" charset="0"/>
                <a:cs typeface="Arial" pitchFamily="34" charset="0"/>
              </a:rPr>
              <a:t>Lower area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provides attachments from before backward to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crus of penis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clitoris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ischiocavernosus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superficial transversus perinei muscles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682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071570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     Pubis (Pubic Bone)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715172"/>
          </a:xfrm>
        </p:spPr>
        <p:txBody>
          <a:bodyPr>
            <a:normAutofit/>
          </a:bodyPr>
          <a:lstStyle/>
          <a:p>
            <a:pPr algn="just"/>
            <a:r>
              <a:rPr lang="en-AU" sz="2800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anteroinferior part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hip bone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consists of three parts-body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superior ramus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inferior ramus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2800" b="1" dirty="0">
                <a:latin typeface="Arial" pitchFamily="34" charset="0"/>
                <a:cs typeface="Arial" pitchFamily="34" charset="0"/>
              </a:rPr>
              <a:t>Body</a:t>
            </a:r>
          </a:p>
          <a:p>
            <a:pPr algn="just"/>
            <a:r>
              <a:rPr lang="en-AU" sz="28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quadrilateral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in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outline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flattened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anteroposteriorly. </a:t>
            </a:r>
          </a:p>
          <a:p>
            <a:pPr algn="just"/>
            <a:r>
              <a:rPr lang="en-AU" sz="2800" dirty="0">
                <a:latin typeface="Arial" pitchFamily="34" charset="0"/>
                <a:cs typeface="Arial" pitchFamily="34" charset="0"/>
              </a:rPr>
              <a:t>It presents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following features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: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pubic crest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pubic tubercle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three surfaces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(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2800" b="1" dirty="0">
                <a:latin typeface="Arial" pitchFamily="34" charset="0"/>
                <a:cs typeface="Arial" pitchFamily="34" charset="0"/>
              </a:rPr>
              <a:t>Pubic crest and pubic tubercle</a:t>
            </a:r>
          </a:p>
          <a:p>
            <a:pPr algn="just"/>
            <a:r>
              <a:rPr lang="en-AU" sz="28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pubic crest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is the thickened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upper border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body of pubis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and its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lateral end projects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forward to form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tubercle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called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pubic tubercle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472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8401080" cy="5857916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Surfaces</a:t>
            </a:r>
          </a:p>
          <a:p>
            <a:r>
              <a:rPr lang="en-US" sz="3200" b="1" dirty="0">
                <a:latin typeface="Arial" pitchFamily="34" charset="0"/>
                <a:cs typeface="Arial" pitchFamily="34" charset="0"/>
              </a:rPr>
              <a:t>Anterior surface</a:t>
            </a:r>
          </a:p>
          <a:p>
            <a:pPr algn="just">
              <a:buFont typeface="Wingdings" pitchFamily="2" charset="2"/>
              <a:buChar char="Ø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directed downward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forward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AU" sz="3200" dirty="0">
                <a:latin typeface="Arial" pitchFamily="34" charset="0"/>
                <a:cs typeface="Arial" pitchFamily="34" charset="0"/>
              </a:rPr>
              <a:t>It provides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attachments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to the following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four muscles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Adductor longus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arises by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rounded tendon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angle between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pubic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pubic symphysis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Gracilis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arises from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extends further on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ischiopubic ramus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51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                 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928670"/>
            <a:ext cx="8643998" cy="5929330"/>
          </a:xfrm>
        </p:spPr>
        <p:txBody>
          <a:bodyPr>
            <a:normAutofit/>
          </a:bodyPr>
          <a:lstStyle/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Adductor brevis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arises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gracilis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extends further on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ischiopubic ramus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Obturator externus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arises from this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surface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adjacent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foramen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Posterior surface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smooth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forms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 wall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bony pelvis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hence also called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pelvic surface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directed upward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backward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is related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urinary bladder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22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00132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571480"/>
            <a:ext cx="8429716" cy="6715172"/>
          </a:xfrm>
        </p:spPr>
        <p:txBody>
          <a:bodyPr>
            <a:noAutofit/>
          </a:bodyPr>
          <a:lstStyle/>
          <a:p>
            <a:pPr algn="just"/>
            <a:r>
              <a:rPr lang="en-AU" sz="2800" b="1" dirty="0">
                <a:latin typeface="Arial" pitchFamily="34" charset="0"/>
                <a:cs typeface="Arial" pitchFamily="34" charset="0"/>
              </a:rPr>
              <a:t>Medial surface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(symphyseal surface): It articulates with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medial surface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of the opposite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pubic bone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to form secondary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cartilaginous joint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called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symphysis pubis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Superior Ramus of Pubis</a:t>
            </a:r>
          </a:p>
          <a:p>
            <a:pPr algn="just"/>
            <a:r>
              <a:rPr lang="en-AU" sz="2800" dirty="0">
                <a:latin typeface="Arial" pitchFamily="34" charset="0"/>
                <a:cs typeface="Arial" pitchFamily="34" charset="0"/>
              </a:rPr>
              <a:t>It arises from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superolateral angle of the body of pubis and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extends laterally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above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the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 obturator foramen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and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ends at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iliopubic eminence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where it unites with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ilium.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triangular in cross section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and presents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three borders-posterior (pectineal line), anterior (obturator crest),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and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 inferior; and three surfaces-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pectineal, pelvic, and obturator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.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451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715436" cy="607220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b="1" dirty="0">
                <a:latin typeface="Arial" pitchFamily="34" charset="0"/>
                <a:cs typeface="Arial" pitchFamily="34" charset="0"/>
              </a:rPr>
              <a:t>Borders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Pectineal line (posterior border)</a:t>
            </a:r>
          </a:p>
          <a:p>
            <a:pPr algn="just">
              <a:buFont typeface="Wingdings" pitchFamily="2" charset="2"/>
              <a:buChar char="Ø"/>
            </a:pPr>
            <a:r>
              <a:rPr lang="en-AU" dirty="0">
                <a:latin typeface="Arial" pitchFamily="34" charset="0"/>
                <a:cs typeface="Arial" pitchFamily="34" charset="0"/>
              </a:rPr>
              <a:t>It is also 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pecten pubis.</a:t>
            </a:r>
          </a:p>
          <a:p>
            <a:pPr algn="just">
              <a:buFont typeface="Wingdings" pitchFamily="2" charset="2"/>
              <a:buChar char="Ø"/>
            </a:pPr>
            <a:r>
              <a:rPr lang="en-AU" dirty="0">
                <a:latin typeface="Arial" pitchFamily="34" charset="0"/>
                <a:cs typeface="Arial" pitchFamily="34" charset="0"/>
              </a:rPr>
              <a:t>It extends laterally as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sharp line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pubic tubercle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iliopubic eminence </a:t>
            </a:r>
            <a:r>
              <a:rPr lang="en-AU" dirty="0">
                <a:latin typeface="Arial" pitchFamily="34" charset="0"/>
                <a:cs typeface="Arial" pitchFamily="34" charset="0"/>
              </a:rPr>
              <a:t>where it becomes continuous with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arcuate line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Pectineal line </a:t>
            </a:r>
            <a:r>
              <a:rPr lang="en-AU" dirty="0">
                <a:latin typeface="Arial" pitchFamily="34" charset="0"/>
                <a:cs typeface="Arial" pitchFamily="34" charset="0"/>
              </a:rPr>
              <a:t>provides attachment to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 number of structures</a:t>
            </a:r>
            <a:r>
              <a:rPr lang="en-AU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Medial part from before backward provide attachments to: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Lacunar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reflected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inguinal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conjoint tendon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fascia transversalis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14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857232"/>
            <a:ext cx="8643998" cy="6000768"/>
          </a:xfrm>
        </p:spPr>
        <p:txBody>
          <a:bodyPr>
            <a:normAutofit/>
          </a:bodyPr>
          <a:lstStyle/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Lateral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from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behind forward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provides attachment to: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pectineal ligament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(ligament of Cooper), </a:t>
            </a:r>
            <a:r>
              <a:rPr lang="en-AU" sz="3200" b="1" dirty="0" err="1">
                <a:latin typeface="Arial" pitchFamily="34" charset="0"/>
                <a:cs typeface="Arial" pitchFamily="34" charset="0"/>
              </a:rPr>
              <a:t>pectineus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muscle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 err="1">
                <a:latin typeface="Arial" pitchFamily="34" charset="0"/>
                <a:cs typeface="Arial" pitchFamily="34" charset="0"/>
              </a:rPr>
              <a:t>pectineus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fascia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psoas minor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(if present).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Obturator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(anterior border):It extends 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pubic tubercle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acetabular margin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near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acetabular notch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Inferior border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: It forms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upper margin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foramen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provides attachment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membrane leaving a gap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for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canal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98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85725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   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81112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000" b="1" dirty="0">
                <a:latin typeface="Arial" pitchFamily="34" charset="0"/>
                <a:cs typeface="Arial" pitchFamily="34" charset="0"/>
              </a:rPr>
              <a:t>Surfaces</a:t>
            </a:r>
          </a:p>
          <a:p>
            <a:pPr algn="just">
              <a:buFont typeface="Wingdings" pitchFamily="2" charset="2"/>
              <a:buChar char="Ø"/>
            </a:pPr>
            <a:r>
              <a:rPr lang="en-AU" sz="3000" b="1" dirty="0">
                <a:latin typeface="Arial" pitchFamily="34" charset="0"/>
                <a:cs typeface="Arial" pitchFamily="34" charset="0"/>
              </a:rPr>
              <a:t>Pectineal surface</a:t>
            </a:r>
          </a:p>
          <a:p>
            <a:pPr algn="just"/>
            <a:r>
              <a:rPr lang="en-AU" sz="3000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triangular area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obturator crest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pectineal line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000" dirty="0">
                <a:latin typeface="Arial" pitchFamily="34" charset="0"/>
                <a:cs typeface="Arial" pitchFamily="34" charset="0"/>
              </a:rPr>
              <a:t>It extends from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pubic tubercle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to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iliopubic eminence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000" dirty="0">
                <a:latin typeface="Arial" pitchFamily="34" charset="0"/>
                <a:cs typeface="Arial" pitchFamily="34" charset="0"/>
              </a:rPr>
              <a:t>Pectineus muscle arises from the upper part of this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surface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AU" sz="3000" b="1" dirty="0">
                <a:latin typeface="Arial" pitchFamily="34" charset="0"/>
                <a:cs typeface="Arial" pitchFamily="34" charset="0"/>
              </a:rPr>
              <a:t>Pelvic surface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: It lies between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pectineal line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inferior border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superior ramus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and continues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pelvic surface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body of pubis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0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featureless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covered by the peritoneum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809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 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857232"/>
            <a:ext cx="8643998" cy="571504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Obturator surface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situated between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crest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inferior border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Obturator nerve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vessels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traverse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groove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seen on this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surface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Inferior Ramus of Pubis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extends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downward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laterally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body of pubis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to join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ramus of ischium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form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conjoint ischiopubic ramus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251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OBTURATOR FORAMEN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715040"/>
          </a:xfrm>
        </p:spPr>
        <p:txBody>
          <a:bodyPr>
            <a:norm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large gap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hip bone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situated between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pubis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ischium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oval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larger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in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males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triangular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smaller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females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b="1" dirty="0">
                <a:latin typeface="Arial" pitchFamily="34" charset="0"/>
                <a:cs typeface="Arial" pitchFamily="34" charset="0"/>
              </a:rPr>
              <a:t>Obturator membrane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attached along to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margin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except where it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bridges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groove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to convert it into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canal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It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transmits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obturator nerves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vessels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08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000132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ACETABULUM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472518" cy="5715016"/>
          </a:xfrm>
        </p:spPr>
        <p:txBody>
          <a:bodyPr>
            <a:norm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large cup-shaped cavity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on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outer surface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middle constricted part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hip bone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 is directed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slightly anteroinferiorly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All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three parts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hip bone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contribute in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formation as follows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Pubis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forms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anterior one-fifth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Ischium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forms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posterior two-fifth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200" b="1" dirty="0">
                <a:latin typeface="Arial" pitchFamily="34" charset="0"/>
                <a:cs typeface="Arial" pitchFamily="34" charset="0"/>
              </a:rPr>
              <a:t>Ilium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forms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superior two-fifth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14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pPr algn="ctr"/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500726"/>
          </a:xfrm>
        </p:spPr>
        <p:txBody>
          <a:bodyPr>
            <a:norm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margin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is deficient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inferiorly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to form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acetabular notch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which is bridged by the 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transverse acetabular ligament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and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notch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is converted into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acetabular foramen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receives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head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 femur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to form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hip joint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fibrocartilaginous rim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acetabular </a:t>
            </a:r>
            <a:r>
              <a:rPr lang="en-AU" sz="3200" b="1" dirty="0" err="1">
                <a:latin typeface="Arial" pitchFamily="34" charset="0"/>
                <a:cs typeface="Arial" pitchFamily="34" charset="0"/>
              </a:rPr>
              <a:t>labrum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is attached to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margins of the 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44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357850"/>
          </a:xfrm>
        </p:spPr>
        <p:txBody>
          <a:bodyPr>
            <a:normAutofit/>
          </a:bodyPr>
          <a:lstStyle/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presents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horseshoe-shaped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articular surface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lunate surface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in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periphery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nonarticular area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in its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central part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acetabular fossa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sz="32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acetabular fossa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filled with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pad of fat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 and the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lunate surface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is covered by a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plate 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3200" b="1" dirty="0">
                <a:latin typeface="Arial" pitchFamily="34" charset="0"/>
                <a:cs typeface="Arial" pitchFamily="34" charset="0"/>
              </a:rPr>
              <a:t>hyaline cartilage</a:t>
            </a:r>
            <a:r>
              <a:rPr lang="en-AU" sz="3200" dirty="0"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686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AU" dirty="0">
                <a:latin typeface="Arial" pitchFamily="34" charset="0"/>
                <a:cs typeface="Arial" pitchFamily="34" charset="0"/>
              </a:rPr>
              <a:t>Differences between the male and female hip bones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4281" y="1500176"/>
          <a:ext cx="8715438" cy="5143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12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12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Greater sciatic notch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Wider (75°)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Narrower (&lt; 50°)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12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Ischial spine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Not inverted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Inverted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12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Ischiopubic ramus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Thin and not everted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Thick and everted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12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Obturator foramen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Triangular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Oval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12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Acetabular diameter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Less than 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More than 5 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4561">
                <a:tc>
                  <a:txBody>
                    <a:bodyPr/>
                    <a:lstStyle/>
                    <a:p>
                      <a:pPr algn="just"/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Distance between the pubic tubercle and </a:t>
                      </a:r>
                    </a:p>
                    <a:p>
                      <a:pPr algn="just"/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anterior acetabular margin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Less than transverse diameter of </a:t>
                      </a:r>
                    </a:p>
                    <a:p>
                      <a:pPr algn="just"/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acetabulum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Equal to the transverse diameter of </a:t>
                      </a:r>
                    </a:p>
                    <a:p>
                      <a:pPr algn="just"/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acetabulum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12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Pre-auricular sulcus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More conspicuous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Less conspicuous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12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Iliac fossa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Shallower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Deeper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992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Ossification of the hip bone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4665635"/>
              </p:ext>
            </p:extLst>
          </p:nvPr>
        </p:nvGraphicFramePr>
        <p:xfrm>
          <a:off x="457200" y="1196752"/>
          <a:ext cx="8229600" cy="5159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355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Centres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Age of appearance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Age of fusion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0317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Primary centres</a:t>
                      </a:r>
                    </a:p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•1 for ilium</a:t>
                      </a:r>
                    </a:p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•1 for ischium</a:t>
                      </a:r>
                    </a:p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•1 for pubis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2nd month of IUL</a:t>
                      </a:r>
                    </a:p>
                    <a:p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3rd month of IUL</a:t>
                      </a:r>
                    </a:p>
                    <a:p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4th month of IUL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AU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18th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8926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Secondary centres</a:t>
                      </a:r>
                    </a:p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•2 for iliac crest</a:t>
                      </a:r>
                    </a:p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•2 for Y-shaped acetabular cartilage</a:t>
                      </a:r>
                    </a:p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•1 for ischial tuberosity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AU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Puberty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AU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20–25 years (except acetabular cartilage </a:t>
                      </a:r>
                    </a:p>
                    <a:p>
                      <a:r>
                        <a:rPr lang="en-AU" dirty="0">
                          <a:latin typeface="Arial" pitchFamily="34" charset="0"/>
                          <a:cs typeface="Arial" pitchFamily="34" charset="0"/>
                        </a:rPr>
                        <a:t>which ossifies at the age of 17 years)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860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>
            <a:normAutofit/>
          </a:bodyPr>
          <a:lstStyle/>
          <a:p>
            <a:r>
              <a:rPr lang="en-AU" sz="6000" dirty="0">
                <a:latin typeface="Arial Black" pitchFamily="34" charset="0"/>
              </a:rPr>
              <a:t>THANK YOU ALL, FOR LISTENING.</a:t>
            </a:r>
            <a:endParaRPr lang="en-US" sz="6000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21798-2B70-4D52-AAAB-1F57BAAC6199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185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FEMUR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857916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femur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longest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strongest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bone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body</a:t>
            </a:r>
            <a:r>
              <a:rPr lang="en-AU" dirty="0">
                <a:latin typeface="Arial" pitchFamily="34" charset="0"/>
                <a:cs typeface="Arial" pitchFamily="34" charset="0"/>
              </a:rPr>
              <a:t>, present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thigh</a:t>
            </a:r>
            <a:r>
              <a:rPr lang="en-AU" dirty="0">
                <a:latin typeface="Arial" pitchFamily="34" charset="0"/>
                <a:cs typeface="Arial" pitchFamily="34" charset="0"/>
              </a:rPr>
              <a:t>. It is about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18 inches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45 cm long</a:t>
            </a:r>
            <a:r>
              <a:rPr lang="en-AU" dirty="0">
                <a:latin typeface="Arial" pitchFamily="34" charset="0"/>
                <a:cs typeface="Arial" pitchFamily="34" charset="0"/>
              </a:rPr>
              <a:t>), i.e., about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one-fourth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height of the individual</a:t>
            </a:r>
            <a:r>
              <a:rPr lang="en-AU" dirty="0">
                <a:latin typeface="Arial" pitchFamily="34" charset="0"/>
                <a:cs typeface="Arial" pitchFamily="34" charset="0"/>
              </a:rPr>
              <a:t>.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end, </a:t>
            </a:r>
            <a:r>
              <a:rPr lang="en-AU" dirty="0">
                <a:latin typeface="Arial" pitchFamily="34" charset="0"/>
                <a:cs typeface="Arial" pitchFamily="34" charset="0"/>
              </a:rPr>
              <a:t>it articulates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hip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to form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hip joint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</a:t>
            </a:r>
            <a:r>
              <a:rPr lang="en-AU" dirty="0">
                <a:latin typeface="Arial" pitchFamily="34" charset="0"/>
                <a:cs typeface="Arial" pitchFamily="34" charset="0"/>
              </a:rPr>
              <a:t>, 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articulates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transmits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body weight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hip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standing position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00132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500042"/>
            <a:ext cx="8715436" cy="7215238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 </a:t>
            </a:r>
            <a:r>
              <a:rPr lang="en-AU" dirty="0">
                <a:latin typeface="Arial" pitchFamily="34" charset="0"/>
                <a:cs typeface="Arial" pitchFamily="34" charset="0"/>
              </a:rPr>
              <a:t>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long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consists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parts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consists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lesser trochanter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is gently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convex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maximum convexity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 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where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dirty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narrowest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is enlarged to form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. Both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project backward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are separated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intercondylar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most prominent points </a:t>
            </a:r>
            <a:r>
              <a:rPr lang="en-AU" dirty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 are 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epicondyles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357850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Angle of inclination of femur</a:t>
            </a:r>
            <a:r>
              <a:rPr lang="en-AU" dirty="0">
                <a:latin typeface="Arial" pitchFamily="34" charset="0"/>
                <a:cs typeface="Arial" pitchFamily="34" charset="0"/>
              </a:rPr>
              <a:t>: It is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angle</a:t>
            </a:r>
            <a:r>
              <a:rPr lang="en-AU" dirty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long axes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 of the femur </a:t>
            </a:r>
            <a:r>
              <a:rPr lang="en-AU" dirty="0">
                <a:latin typeface="Arial" pitchFamily="34" charset="0"/>
                <a:cs typeface="Arial" pitchFamily="34" charset="0"/>
              </a:rPr>
              <a:t>hence also 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neck–shaft angle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normal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neck–shaft angle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125° </a:t>
            </a:r>
            <a:r>
              <a:rPr lang="en-AU" dirty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adults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160° </a:t>
            </a:r>
            <a:r>
              <a:rPr lang="en-AU" dirty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children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Angle of femoral torsion</a:t>
            </a:r>
            <a:r>
              <a:rPr lang="en-AU" dirty="0">
                <a:latin typeface="Arial" pitchFamily="34" charset="0"/>
                <a:cs typeface="Arial" pitchFamily="34" charset="0"/>
              </a:rPr>
              <a:t>: It is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angle</a:t>
            </a:r>
            <a:r>
              <a:rPr lang="en-AU" dirty="0">
                <a:latin typeface="Arial" pitchFamily="34" charset="0"/>
                <a:cs typeface="Arial" pitchFamily="34" charset="0"/>
              </a:rPr>
              <a:t> between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long axis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 of femur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transverse axis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femoral 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. It measures about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7° </a:t>
            </a:r>
            <a:r>
              <a:rPr lang="en-AU" dirty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males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12° </a:t>
            </a:r>
            <a:r>
              <a:rPr lang="en-AU" dirty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females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214422"/>
            <a:ext cx="4010025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85786" y="5857892"/>
            <a:ext cx="35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Angle of inclination of the femur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1428736"/>
            <a:ext cx="4124325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429125" y="5572140"/>
            <a:ext cx="4714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Angle of the femoral torsion (angle of declination of the femur)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929718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pitchFamily="34" charset="0"/>
              </a:rPr>
              <a:t>FEATURES AND ATTACHMENTS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357298"/>
            <a:ext cx="8715436" cy="550070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>
                <a:latin typeface="Arial Black" pitchFamily="34" charset="0"/>
              </a:rPr>
              <a:t>Upper End</a:t>
            </a:r>
          </a:p>
          <a:p>
            <a:r>
              <a:rPr lang="en-US" dirty="0">
                <a:latin typeface="Arial Black" pitchFamily="34" charset="0"/>
              </a:rPr>
              <a:t>Head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forms about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two-third of a sphere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articulates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acetabulum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hip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to form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hip joint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small pit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fovea</a:t>
            </a:r>
            <a:r>
              <a:rPr lang="en-AU" dirty="0">
                <a:latin typeface="Arial" pitchFamily="34" charset="0"/>
                <a:cs typeface="Arial" pitchFamily="34" charset="0"/>
              </a:rPr>
              <a:t>, just below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behind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centre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provides attachment to the ligament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 of femur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ligamentum teres femoris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572140"/>
          </a:xfrm>
        </p:spPr>
        <p:txBody>
          <a:bodyPr>
            <a:normAutofit fontScale="92500" lnSpcReduction="10000"/>
          </a:bodyPr>
          <a:lstStyle/>
          <a:p>
            <a:r>
              <a:rPr lang="en-AU" sz="3500" b="1" dirty="0">
                <a:latin typeface="Arial" pitchFamily="34" charset="0"/>
                <a:cs typeface="Arial" pitchFamily="34" charset="0"/>
              </a:rPr>
              <a:t>Neck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5 cm long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and connects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head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with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directed upward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,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slightly forward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angle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between its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lower border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medial border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of shaft is called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neck-shaft angle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neck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presents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two borders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-upper and lower, 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two surfaces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-anterior and posterior.</a:t>
            </a:r>
            <a:endParaRPr lang="en-US" sz="35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857232"/>
            <a:ext cx="7429552" cy="5268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142976" y="6286520"/>
            <a:ext cx="678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General features of the femur: A, anterior view; B, posterior view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715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642918"/>
            <a:ext cx="8643998" cy="6500858"/>
          </a:xfrm>
        </p:spPr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Upper border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concave and horizontal.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meets the shaft near the greater trochanter.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Lower border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straight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oblique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meets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dirty="0">
                <a:latin typeface="Arial" pitchFamily="34" charset="0"/>
                <a:cs typeface="Arial" pitchFamily="34" charset="0"/>
              </a:rPr>
              <a:t> near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lesser trochanter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Anterior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flat</a:t>
            </a:r>
            <a:r>
              <a:rPr lang="en-AU" dirty="0">
                <a:latin typeface="Arial" pitchFamily="34" charset="0"/>
                <a:cs typeface="Arial" pitchFamily="34" charset="0"/>
              </a:rPr>
              <a:t> and bears a number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oblique bony ridges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meets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 </a:t>
            </a:r>
            <a:r>
              <a:rPr lang="en-AU" dirty="0">
                <a:latin typeface="Arial" pitchFamily="34" charset="0"/>
                <a:cs typeface="Arial" pitchFamily="34" charset="0"/>
              </a:rPr>
              <a:t>at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intertrochanteric line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completely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intracapsular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715436" cy="6072206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Intertrochanteric line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continues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downward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dirty="0">
                <a:latin typeface="Arial" pitchFamily="34" charset="0"/>
                <a:cs typeface="Arial" pitchFamily="34" charset="0"/>
              </a:rPr>
              <a:t> below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lesser trochanter </a:t>
            </a:r>
            <a:r>
              <a:rPr lang="en-AU" dirty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aspect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 </a:t>
            </a:r>
            <a:r>
              <a:rPr lang="en-AU" dirty="0">
                <a:latin typeface="Arial" pitchFamily="34" charset="0"/>
                <a:cs typeface="Arial" pitchFamily="34" charset="0"/>
              </a:rPr>
              <a:t>as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spiral line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provides attachment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ligaments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muscles</a:t>
            </a:r>
            <a:r>
              <a:rPr lang="en-AU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Capsule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hip joint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Iliofemoral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(strongest ligament in the body).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Vastus lateralis </a:t>
            </a:r>
            <a:r>
              <a:rPr lang="en-AU" dirty="0">
                <a:latin typeface="Arial" pitchFamily="34" charset="0"/>
                <a:cs typeface="Arial" pitchFamily="34" charset="0"/>
              </a:rPr>
              <a:t>to its upper end.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Vastus medialis </a:t>
            </a:r>
            <a:r>
              <a:rPr lang="en-AU" dirty="0">
                <a:latin typeface="Arial" pitchFamily="34" charset="0"/>
                <a:cs typeface="Arial" pitchFamily="34" charset="0"/>
              </a:rPr>
              <a:t>to its lower end.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928670"/>
            <a:ext cx="7786742" cy="5197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928662" y="6286520"/>
            <a:ext cx="8148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Special features (attachments) of the femur: A, anterior view; B, posterior view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8572560" cy="578645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Posterior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convex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above downward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concave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side-to-side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meets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dirty="0">
                <a:latin typeface="Arial" pitchFamily="34" charset="0"/>
                <a:cs typeface="Arial" pitchFamily="34" charset="0"/>
              </a:rPr>
              <a:t> at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intertrochanteric crest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half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intracapsular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faint groove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lodges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obturator externus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785818"/>
          </a:xfrm>
        </p:spPr>
        <p:txBody>
          <a:bodyPr>
            <a:normAutofit/>
          </a:bodyPr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7166"/>
            <a:ext cx="8929718" cy="6500834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latin typeface="Arial" pitchFamily="34" charset="0"/>
                <a:cs typeface="Arial" pitchFamily="34" charset="0"/>
              </a:rPr>
              <a:t>Intertrochanteric crest</a:t>
            </a:r>
            <a:endParaRPr lang="en-AU" b="1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extends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posterosuperior angle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 trochanter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tip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lesser trochanter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rounded tubercle </a:t>
            </a:r>
            <a:r>
              <a:rPr lang="en-AU" dirty="0">
                <a:latin typeface="Arial" pitchFamily="34" charset="0"/>
                <a:cs typeface="Arial" pitchFamily="34" charset="0"/>
              </a:rPr>
              <a:t>near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</a:t>
            </a:r>
            <a:r>
              <a:rPr lang="en-AU" dirty="0">
                <a:latin typeface="Arial" pitchFamily="34" charset="0"/>
                <a:cs typeface="Arial" pitchFamily="34" charset="0"/>
              </a:rPr>
              <a:t> 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quadrate tubercle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provides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insertion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quadratus femoris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Greater Trochanter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quadrilateral elevation</a:t>
            </a:r>
            <a:r>
              <a:rPr lang="en-AU" dirty="0">
                <a:latin typeface="Arial" pitchFamily="34" charset="0"/>
                <a:cs typeface="Arial" pitchFamily="34" charset="0"/>
              </a:rPr>
              <a:t>, projecting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upward</a:t>
            </a:r>
            <a:r>
              <a:rPr lang="en-AU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aspect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junction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one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(upper)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329642" cy="585789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Upper border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presents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apex </a:t>
            </a:r>
            <a:r>
              <a:rPr lang="en-AU" dirty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tip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 trochanter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provides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attachment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piriformis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Anterior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gluteus minimus </a:t>
            </a:r>
            <a:r>
              <a:rPr lang="en-AU" dirty="0">
                <a:latin typeface="Arial" pitchFamily="34" charset="0"/>
                <a:cs typeface="Arial" pitchFamily="34" charset="0"/>
              </a:rPr>
              <a:t>on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ridge</a:t>
            </a:r>
            <a:r>
              <a:rPr lang="en-AU" dirty="0">
                <a:latin typeface="Arial" pitchFamily="34" charset="0"/>
                <a:cs typeface="Arial" pitchFamily="34" charset="0"/>
              </a:rPr>
              <a:t> in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part</a:t>
            </a:r>
            <a:r>
              <a:rPr lang="en-AU" dirty="0">
                <a:latin typeface="Arial" pitchFamily="34" charset="0"/>
                <a:cs typeface="Arial" pitchFamily="34" charset="0"/>
              </a:rPr>
              <a:t>.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is related to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synovial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bursa-trochanteric bursa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gluteus minimus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71504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b="1" dirty="0">
                <a:latin typeface="Arial" pitchFamily="34" charset="0"/>
                <a:cs typeface="Arial" pitchFamily="34" charset="0"/>
              </a:rPr>
              <a:t>Medial surface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It presents two depressions: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 depression (trochanteric fossa) at its junction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</a:t>
            </a:r>
            <a:r>
              <a:rPr lang="en-AU" dirty="0">
                <a:latin typeface="Arial" pitchFamily="34" charset="0"/>
                <a:cs typeface="Arial" pitchFamily="34" charset="0"/>
              </a:rPr>
              <a:t> for insertion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obturator externus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shallow depression above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trochanteric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for insertion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obturator internus </a:t>
            </a:r>
            <a:r>
              <a:rPr lang="en-AU" dirty="0">
                <a:latin typeface="Arial" pitchFamily="34" charset="0"/>
                <a:cs typeface="Arial" pitchFamily="34" charset="0"/>
              </a:rPr>
              <a:t>along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gemellus superior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gemellus inferior.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929354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en-AU" sz="3500" b="1" dirty="0">
                <a:latin typeface="Arial" pitchFamily="34" charset="0"/>
                <a:cs typeface="Arial" pitchFamily="34" charset="0"/>
              </a:rPr>
              <a:t>Lateral surface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quadrilateral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divided diagonally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by an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oblique ridge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into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upper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lower triangular areas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5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ridge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provides attachment to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gluteus medius muscle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5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triangular areas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-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ridge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are related to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trochanteric bursae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gluteus medius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gluteus maximus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, respectively.</a:t>
            </a:r>
            <a:endParaRPr lang="en-US" sz="35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b="1" dirty="0">
                <a:latin typeface="Arial" pitchFamily="34" charset="0"/>
                <a:cs typeface="Arial" pitchFamily="34" charset="0"/>
              </a:rPr>
              <a:t>Cont’d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35785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Lesser Trochanter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conical projection </a:t>
            </a:r>
            <a:r>
              <a:rPr lang="en-AU" dirty="0">
                <a:latin typeface="Arial" pitchFamily="34" charset="0"/>
                <a:cs typeface="Arial" pitchFamily="34" charset="0"/>
              </a:rPr>
              <a:t>arising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posteromedial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neck-shaft angle</a:t>
            </a:r>
            <a:r>
              <a:rPr lang="en-AU" dirty="0">
                <a:latin typeface="Arial" pitchFamily="34" charset="0"/>
                <a:cs typeface="Arial" pitchFamily="34" charset="0"/>
              </a:rPr>
              <a:t>. It is directed medially.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apex</a:t>
            </a:r>
            <a:r>
              <a:rPr lang="en-AU" dirty="0">
                <a:latin typeface="Arial" pitchFamily="34" charset="0"/>
                <a:cs typeface="Arial" pitchFamily="34" charset="0"/>
              </a:rPr>
              <a:t> 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psoas major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Iliacus</a:t>
            </a:r>
            <a:r>
              <a:rPr lang="en-AU" dirty="0">
                <a:latin typeface="Arial" pitchFamily="34" charset="0"/>
                <a:cs typeface="Arial" pitchFamily="34" charset="0"/>
              </a:rPr>
              <a:t> is attached to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base</a:t>
            </a:r>
            <a:r>
              <a:rPr lang="en-AU" dirty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785794"/>
            <a:ext cx="8401080" cy="642942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Features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Basically the shaft of femur presents three surfaces—anterior, medial, and lateral and three borders—medial, lateral, and posterior.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The middle third of posterior border is represented by a thick ridge called linea aspera, which acts as a buttress to resist the compressive forces and prevents the anterior bowing of the shaft. The linea aspera presents inner and outer lips and an intervening intermediate area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28604"/>
            <a:ext cx="8929718" cy="692948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When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linea aspera </a:t>
            </a:r>
            <a:r>
              <a:rPr lang="en-AU" dirty="0">
                <a:latin typeface="Arial" pitchFamily="34" charset="0"/>
                <a:cs typeface="Arial" pitchFamily="34" charset="0"/>
              </a:rPr>
              <a:t>is traced upward,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inner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outer lips </a:t>
            </a:r>
            <a:r>
              <a:rPr lang="en-AU" dirty="0">
                <a:latin typeface="Arial" pitchFamily="34" charset="0"/>
                <a:cs typeface="Arial" pitchFamily="34" charset="0"/>
              </a:rPr>
              <a:t>diverge and enclose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triangular posterior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one-third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inner</a:t>
            </a:r>
            <a:r>
              <a:rPr lang="en-AU" dirty="0">
                <a:latin typeface="Arial" pitchFamily="34" charset="0"/>
                <a:cs typeface="Arial" pitchFamily="34" charset="0"/>
              </a:rPr>
              <a:t> (medial)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lip</a:t>
            </a:r>
            <a:r>
              <a:rPr lang="en-AU" dirty="0">
                <a:latin typeface="Arial" pitchFamily="34" charset="0"/>
                <a:cs typeface="Arial" pitchFamily="34" charset="0"/>
              </a:rPr>
              <a:t> becomes continuous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spiral line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outer </a:t>
            </a:r>
            <a:r>
              <a:rPr lang="en-AU" dirty="0">
                <a:latin typeface="Arial" pitchFamily="34" charset="0"/>
                <a:cs typeface="Arial" pitchFamily="34" charset="0"/>
              </a:rPr>
              <a:t>(lateral)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lip</a:t>
            </a:r>
            <a:r>
              <a:rPr lang="en-AU" dirty="0">
                <a:latin typeface="Arial" pitchFamily="34" charset="0"/>
                <a:cs typeface="Arial" pitchFamily="34" charset="0"/>
              </a:rPr>
              <a:t> becomes continuous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gluteal tuberosity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extends up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root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 trochanter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When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linea aspera </a:t>
            </a:r>
            <a:r>
              <a:rPr lang="en-AU" dirty="0">
                <a:latin typeface="Arial" pitchFamily="34" charset="0"/>
                <a:cs typeface="Arial" pitchFamily="34" charset="0"/>
              </a:rPr>
              <a:t>is traced downward,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inner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outer lips</a:t>
            </a:r>
            <a:r>
              <a:rPr lang="en-AU" dirty="0">
                <a:latin typeface="Arial" pitchFamily="34" charset="0"/>
                <a:cs typeface="Arial" pitchFamily="34" charset="0"/>
              </a:rPr>
              <a:t>, diverge below, and enclose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triangular popliteal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one-third of the shaft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inner </a:t>
            </a:r>
            <a:r>
              <a:rPr lang="en-AU" dirty="0">
                <a:latin typeface="Arial" pitchFamily="34" charset="0"/>
                <a:cs typeface="Arial" pitchFamily="34" charset="0"/>
              </a:rPr>
              <a:t>(medial)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lip </a:t>
            </a:r>
            <a:r>
              <a:rPr lang="en-AU" dirty="0">
                <a:latin typeface="Arial" pitchFamily="34" charset="0"/>
                <a:cs typeface="Arial" pitchFamily="34" charset="0"/>
              </a:rPr>
              <a:t>becomes continuous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supracondylar line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ends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adductor tubercle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429288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outer </a:t>
            </a:r>
            <a:r>
              <a:rPr lang="en-AU" dirty="0">
                <a:latin typeface="Arial" pitchFamily="34" charset="0"/>
                <a:cs typeface="Arial" pitchFamily="34" charset="0"/>
              </a:rPr>
              <a:t>(lateral)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lip </a:t>
            </a:r>
            <a:r>
              <a:rPr lang="en-AU" dirty="0">
                <a:latin typeface="Arial" pitchFamily="34" charset="0"/>
                <a:cs typeface="Arial" pitchFamily="34" charset="0"/>
              </a:rPr>
              <a:t>becomes continuous with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supracondylar line</a:t>
            </a:r>
            <a:r>
              <a:rPr lang="en-AU" dirty="0">
                <a:latin typeface="Arial" pitchFamily="34" charset="0"/>
                <a:cs typeface="Arial" pitchFamily="34" charset="0"/>
              </a:rPr>
              <a:t>. Thus,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dirty="0">
                <a:latin typeface="Arial" pitchFamily="34" charset="0"/>
                <a:cs typeface="Arial" pitchFamily="34" charset="0"/>
              </a:rPr>
              <a:t> presents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five surfaces-anterior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posterior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popliteal surface</a:t>
            </a:r>
            <a:r>
              <a:rPr lang="en-AU" dirty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Attachments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643998" cy="5857916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 of femur </a:t>
            </a:r>
            <a:r>
              <a:rPr lang="en-AU" dirty="0">
                <a:latin typeface="Arial" pitchFamily="34" charset="0"/>
                <a:cs typeface="Arial" pitchFamily="34" charset="0"/>
              </a:rPr>
              <a:t>provides attachment to the following muscles and intermuscular septa: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Attachments of intermuscular septa: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 intermuscular septum</a:t>
            </a:r>
            <a:r>
              <a:rPr lang="en-AU" dirty="0">
                <a:latin typeface="Arial" pitchFamily="34" charset="0"/>
                <a:cs typeface="Arial" pitchFamily="34" charset="0"/>
              </a:rPr>
              <a:t> is attached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lip of linea aspera.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Lateral intermuscular septum </a:t>
            </a:r>
            <a:r>
              <a:rPr lang="en-AU" dirty="0">
                <a:latin typeface="Arial" pitchFamily="34" charset="0"/>
                <a:cs typeface="Arial" pitchFamily="34" charset="0"/>
              </a:rPr>
              <a:t>is attached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lip of the linea aspera.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>
                <a:latin typeface="Arial" pitchFamily="34" charset="0"/>
                <a:cs typeface="Arial" pitchFamily="34" charset="0"/>
              </a:rPr>
              <a:t>Muscular attachments: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Vastus intermedius </a:t>
            </a:r>
            <a:r>
              <a:rPr lang="en-AU" dirty="0">
                <a:latin typeface="Arial" pitchFamily="34" charset="0"/>
                <a:cs typeface="Arial" pitchFamily="34" charset="0"/>
              </a:rPr>
              <a:t>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three-fourth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adjoining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surface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500726"/>
          </a:xfrm>
        </p:spPr>
        <p:txBody>
          <a:bodyPr>
            <a:normAutofit/>
          </a:bodyPr>
          <a:lstStyle/>
          <a:p>
            <a:pPr algn="just"/>
            <a:r>
              <a:rPr lang="en-AU" b="1" dirty="0" err="1">
                <a:latin typeface="Arial" pitchFamily="34" charset="0"/>
                <a:cs typeface="Arial" pitchFamily="34" charset="0"/>
              </a:rPr>
              <a:t>Articularis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genu </a:t>
            </a:r>
            <a:r>
              <a:rPr lang="en-AU" dirty="0">
                <a:latin typeface="Arial" pitchFamily="34" charset="0"/>
                <a:cs typeface="Arial" pitchFamily="34" charset="0"/>
              </a:rPr>
              <a:t>arises by few small slips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one-fourth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immediately below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vastus intermedius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Vastus lateralis </a:t>
            </a:r>
            <a:r>
              <a:rPr lang="en-AU" dirty="0">
                <a:latin typeface="Arial" pitchFamily="34" charset="0"/>
                <a:cs typeface="Arial" pitchFamily="34" charset="0"/>
              </a:rPr>
              <a:t>arises in a linear fashion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intertrochanteric line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borders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greater trochanter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margin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gluteal tuberosity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lip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linea aspera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8670"/>
            <a:ext cx="9036496" cy="5929330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Vastus medialis </a:t>
            </a:r>
            <a:r>
              <a:rPr lang="en-AU" dirty="0">
                <a:latin typeface="Arial" pitchFamily="34" charset="0"/>
                <a:cs typeface="Arial" pitchFamily="34" charset="0"/>
              </a:rPr>
              <a:t>arises in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linear fashion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intertrochanteric line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spiral line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lip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linea aspera</a:t>
            </a:r>
            <a:r>
              <a:rPr lang="en-AU" dirty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one fourth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supracondylar line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Gluteus maximus </a:t>
            </a:r>
            <a:r>
              <a:rPr lang="en-AU" dirty="0">
                <a:latin typeface="Arial" pitchFamily="34" charset="0"/>
                <a:cs typeface="Arial" pitchFamily="34" charset="0"/>
              </a:rPr>
              <a:t>is inserted into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gluteal tuberosity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Adductor longus </a:t>
            </a:r>
            <a:r>
              <a:rPr lang="en-AU" dirty="0">
                <a:latin typeface="Arial" pitchFamily="34" charset="0"/>
                <a:cs typeface="Arial" pitchFamily="34" charset="0"/>
              </a:rPr>
              <a:t>is inserted into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lip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linea aspera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Pectineus</a:t>
            </a:r>
            <a:r>
              <a:rPr lang="en-AU" dirty="0">
                <a:latin typeface="Arial" pitchFamily="34" charset="0"/>
                <a:cs typeface="Arial" pitchFamily="34" charset="0"/>
              </a:rPr>
              <a:t> is inserted into a line extending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lesser trochanter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linea aspera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857233"/>
            <a:ext cx="7286676" cy="525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43174" y="6000768"/>
            <a:ext cx="478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Structures attached to the linea aspera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0715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428604"/>
            <a:ext cx="8572560" cy="664373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Adductor brevis </a:t>
            </a:r>
            <a:r>
              <a:rPr lang="en-AU" dirty="0">
                <a:latin typeface="Arial" pitchFamily="34" charset="0"/>
                <a:cs typeface="Arial" pitchFamily="34" charset="0"/>
              </a:rPr>
              <a:t>is inserted into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line</a:t>
            </a:r>
            <a:r>
              <a:rPr lang="en-AU" dirty="0">
                <a:latin typeface="Arial" pitchFamily="34" charset="0"/>
                <a:cs typeface="Arial" pitchFamily="34" charset="0"/>
              </a:rPr>
              <a:t> extending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lesser trochanter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linea aspera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Adductor magnus </a:t>
            </a:r>
            <a:r>
              <a:rPr lang="en-AU" dirty="0">
                <a:latin typeface="Arial" pitchFamily="34" charset="0"/>
                <a:cs typeface="Arial" pitchFamily="34" charset="0"/>
              </a:rPr>
              <a:t>is inserted into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margin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gluteal tuberosity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linea aspera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supracondylar line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adductor tubercle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head </a:t>
            </a:r>
            <a:r>
              <a:rPr lang="en-AU" dirty="0">
                <a:latin typeface="Arial" pitchFamily="34" charset="0"/>
                <a:cs typeface="Arial" pitchFamily="34" charset="0"/>
              </a:rPr>
              <a:t>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popliteal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just above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condyle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head </a:t>
            </a:r>
            <a:r>
              <a:rPr lang="en-AU" dirty="0">
                <a:latin typeface="Arial" pitchFamily="34" charset="0"/>
                <a:cs typeface="Arial" pitchFamily="34" charset="0"/>
              </a:rPr>
              <a:t>arises mainly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but also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extends over </a:t>
            </a: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supracondylar line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Plantaris</a:t>
            </a:r>
            <a:r>
              <a:rPr lang="en-AU" dirty="0">
                <a:latin typeface="Arial" pitchFamily="34" charset="0"/>
                <a:cs typeface="Arial" pitchFamily="34" charset="0"/>
              </a:rPr>
              <a:t> 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supracondylar line </a:t>
            </a:r>
            <a:r>
              <a:rPr lang="en-AU" dirty="0">
                <a:latin typeface="Arial" pitchFamily="34" charset="0"/>
                <a:cs typeface="Arial" pitchFamily="34" charset="0"/>
              </a:rPr>
              <a:t>just above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head of gastrocnemius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600076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Lower End</a:t>
            </a:r>
          </a:p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Medial Condyle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most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prominent point </a:t>
            </a:r>
            <a:r>
              <a:rPr lang="en-AU" dirty="0">
                <a:latin typeface="Arial" pitchFamily="34" charset="0"/>
                <a:cs typeface="Arial" pitchFamily="34" charset="0"/>
              </a:rPr>
              <a:t>is 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epicondyle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collateral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 A projection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posterosuperior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epicondyle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is 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adductor tubercle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provides insertion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ischial head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adductor magnus.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lateral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forms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medial boundary </a:t>
            </a:r>
            <a:r>
              <a:rPr lang="en-AU" dirty="0">
                <a:latin typeface="Arial" pitchFamily="34" charset="0"/>
                <a:cs typeface="Arial" pitchFamily="34" charset="0"/>
              </a:rPr>
              <a:t>of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intercondylar fossa.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0013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500042"/>
            <a:ext cx="8786874" cy="7643866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AU" sz="6700" b="1" dirty="0">
                <a:latin typeface="Arial" pitchFamily="34" charset="0"/>
                <a:cs typeface="Arial" pitchFamily="34" charset="0"/>
              </a:rPr>
              <a:t>Lateral Condyle</a:t>
            </a:r>
          </a:p>
          <a:p>
            <a:pPr algn="just"/>
            <a:r>
              <a:rPr lang="en-AU" sz="67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stouter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 and s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tronger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 than the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medial condyle 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but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less prominent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6700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lateral surface 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presents a prominence called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lateral epicondyle 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which provides attachment to the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fibular collateral ligament 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knee joint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6700" dirty="0">
                <a:latin typeface="Arial" pitchFamily="34" charset="0"/>
                <a:cs typeface="Arial" pitchFamily="34" charset="0"/>
              </a:rPr>
              <a:t>Smooth impression above and behind the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lateral epicondyle 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gives origin to the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lateral head 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gastrocnemius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6700" dirty="0">
                <a:latin typeface="Arial" pitchFamily="34" charset="0"/>
                <a:cs typeface="Arial" pitchFamily="34" charset="0"/>
              </a:rPr>
              <a:t>A groove below and behind the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lateral epicondyle 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provides attachment to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popliteus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 in its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anterior part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. Tendon of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popliteus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 occupies the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posterior part 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of this groove during full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flexion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 at the </a:t>
            </a:r>
            <a:r>
              <a:rPr lang="en-AU" sz="6700" b="1" dirty="0">
                <a:latin typeface="Arial" pitchFamily="34" charset="0"/>
                <a:cs typeface="Arial" pitchFamily="34" charset="0"/>
              </a:rPr>
              <a:t>knee joint</a:t>
            </a:r>
            <a:r>
              <a:rPr lang="en-AU" sz="67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0715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357166"/>
            <a:ext cx="8786874" cy="671517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medial surface forms the lateral boundary of intercondylar fossa.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Intercondylar Fossa (Intercondylar Notch)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 deep notch, </a:t>
            </a:r>
            <a:r>
              <a:rPr lang="en-AU" dirty="0">
                <a:latin typeface="Arial" pitchFamily="34" charset="0"/>
                <a:cs typeface="Arial" pitchFamily="34" charset="0"/>
              </a:rPr>
              <a:t>which separates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condyles posteriorly.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limited posteriorly above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intercondylar line.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</a:t>
            </a:r>
            <a:r>
              <a:rPr lang="en-AU" dirty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lateral walls </a:t>
            </a:r>
            <a:r>
              <a:rPr lang="en-AU" dirty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floor.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 wall of the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provides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attachments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of posterior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cruciate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in its anteroinferior part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Lateral wall of the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provides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attachment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of anterior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cruciate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in its posterosuperior part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b="1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100013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642918"/>
            <a:ext cx="8715436" cy="642942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latin typeface="Arial" pitchFamily="34" charset="0"/>
                <a:cs typeface="Arial" pitchFamily="34" charset="0"/>
              </a:rPr>
              <a:t>Articular Surface</a:t>
            </a:r>
          </a:p>
          <a:p>
            <a:pPr algn="just">
              <a:buFont typeface="Wingdings" pitchFamily="2" charset="2"/>
              <a:buChar char="Ø"/>
            </a:pP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of femur </a:t>
            </a:r>
            <a:r>
              <a:rPr lang="en-AU" dirty="0">
                <a:latin typeface="Arial" pitchFamily="34" charset="0"/>
                <a:cs typeface="Arial" pitchFamily="34" charset="0"/>
              </a:rPr>
              <a:t>presents a V-shaped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occupying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both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apex of ‘V’ </a:t>
            </a:r>
            <a:r>
              <a:rPr lang="en-AU" dirty="0">
                <a:latin typeface="Arial" pitchFamily="34" charset="0"/>
                <a:cs typeface="Arial" pitchFamily="34" charset="0"/>
              </a:rPr>
              <a:t>is 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which occupies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condyles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articulates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two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links of ‘V’ </a:t>
            </a:r>
            <a:r>
              <a:rPr lang="en-AU" dirty="0">
                <a:latin typeface="Arial" pitchFamily="34" charset="0"/>
                <a:cs typeface="Arial" pitchFamily="34" charset="0"/>
              </a:rPr>
              <a:t>form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which occupy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 and posterior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condyles </a:t>
            </a:r>
            <a:r>
              <a:rPr lang="en-AU" dirty="0">
                <a:latin typeface="Arial" pitchFamily="34" charset="0"/>
                <a:cs typeface="Arial" pitchFamily="34" charset="0"/>
              </a:rPr>
              <a:t>to come in contact with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corresponding articular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OSSIFICATION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femur ossifies from five centres: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one primary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four secondary centres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primary centre </a:t>
            </a:r>
            <a:r>
              <a:rPr lang="en-AU" dirty="0">
                <a:latin typeface="Arial" pitchFamily="34" charset="0"/>
                <a:cs typeface="Arial" pitchFamily="34" charset="0"/>
              </a:rPr>
              <a:t>appears in the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midshaft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</a:t>
            </a:r>
            <a:r>
              <a:rPr lang="en-AU" dirty="0">
                <a:latin typeface="Arial" pitchFamily="34" charset="0"/>
                <a:cs typeface="Arial" pitchFamily="34" charset="0"/>
              </a:rPr>
              <a:t> secondary centres appear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one</a:t>
            </a:r>
            <a:r>
              <a:rPr lang="en-AU" dirty="0">
                <a:latin typeface="Arial" pitchFamily="34" charset="0"/>
                <a:cs typeface="Arial" pitchFamily="34" charset="0"/>
              </a:rPr>
              <a:t> secondary centre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Ossification of the femur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4281" y="1500175"/>
          <a:ext cx="8786875" cy="5135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6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66034">
                <a:tc>
                  <a:txBody>
                    <a:bodyPr/>
                    <a:lstStyle/>
                    <a:p>
                      <a:r>
                        <a:rPr lang="en-US" dirty="0"/>
                        <a:t>Centres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of appearance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of fusion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6034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Arial" pitchFamily="34" charset="0"/>
                          <a:cs typeface="Arial" pitchFamily="34" charset="0"/>
                        </a:rPr>
                        <a:t>Primary centre</a:t>
                      </a:r>
                    </a:p>
                    <a:p>
                      <a:pPr algn="l"/>
                      <a:endParaRPr lang="en-AU" b="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l"/>
                      <a:r>
                        <a:rPr lang="en-US" b="0" dirty="0">
                          <a:latin typeface="Arial" pitchFamily="34" charset="0"/>
                          <a:cs typeface="Arial" pitchFamily="34" charset="0"/>
                        </a:rPr>
                        <a:t>In mid shaft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AU" b="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l"/>
                      <a:endParaRPr lang="en-AU" b="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l"/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7th to 8th week of IUL</a:t>
                      </a:r>
                      <a:endParaRPr lang="en-US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7566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Arial" pitchFamily="34" charset="0"/>
                          <a:cs typeface="Arial" pitchFamily="34" charset="0"/>
                        </a:rPr>
                        <a:t>Secondary centres</a:t>
                      </a:r>
                    </a:p>
                    <a:p>
                      <a:pPr algn="l"/>
                      <a:r>
                        <a:rPr lang="en-US" b="0" dirty="0">
                          <a:latin typeface="Arial" pitchFamily="34" charset="0"/>
                          <a:cs typeface="Arial" pitchFamily="34" charset="0"/>
                        </a:rPr>
                        <a:t>1 for head</a:t>
                      </a:r>
                    </a:p>
                    <a:p>
                      <a:pPr algn="l"/>
                      <a:r>
                        <a:rPr lang="en-US" b="0" dirty="0">
                          <a:latin typeface="Arial" pitchFamily="34" charset="0"/>
                          <a:cs typeface="Arial" pitchFamily="34" charset="0"/>
                        </a:rPr>
                        <a:t>1 for greater trochanter</a:t>
                      </a:r>
                    </a:p>
                    <a:p>
                      <a:pPr algn="l"/>
                      <a:r>
                        <a:rPr lang="en-US" b="0" dirty="0">
                          <a:latin typeface="Arial" pitchFamily="34" charset="0"/>
                          <a:cs typeface="Arial" pitchFamily="34" charset="0"/>
                        </a:rPr>
                        <a:t>1 for lesser trochanter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AU" b="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l"/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1 year</a:t>
                      </a:r>
                    </a:p>
                    <a:p>
                      <a:pPr algn="l"/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3 years</a:t>
                      </a:r>
                    </a:p>
                    <a:p>
                      <a:pPr algn="l"/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13 years</a:t>
                      </a:r>
                      <a:endParaRPr lang="en-US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AU" b="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l"/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Three separate epiphysis</a:t>
                      </a:r>
                      <a:r>
                        <a:rPr lang="en-AU" b="0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18th year</a:t>
                      </a:r>
                      <a:endParaRPr lang="en-US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6034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Arial" pitchFamily="34" charset="0"/>
                          <a:cs typeface="Arial" pitchFamily="34" charset="0"/>
                        </a:rPr>
                        <a:t>For lower end</a:t>
                      </a:r>
                    </a:p>
                    <a:p>
                      <a:pPr algn="l"/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AU" b="0" dirty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l"/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9 months (at the time of birth)</a:t>
                      </a:r>
                      <a:endParaRPr lang="en-US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</a:p>
                    <a:p>
                      <a:pPr algn="l"/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                                        </a:t>
                      </a:r>
                      <a:r>
                        <a:rPr lang="en-AU" b="0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b="0" dirty="0">
                          <a:latin typeface="Arial" pitchFamily="34" charset="0"/>
                          <a:cs typeface="Arial" pitchFamily="34" charset="0"/>
                        </a:rPr>
                        <a:t> 20 years</a:t>
                      </a:r>
                      <a:endParaRPr lang="en-US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000108"/>
            <a:ext cx="8786874" cy="5572164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Fracture neck of femur</a:t>
            </a:r>
            <a:r>
              <a:rPr lang="en-AU" dirty="0">
                <a:latin typeface="Arial" pitchFamily="34" charset="0"/>
                <a:cs typeface="Arial" pitchFamily="34" charset="0"/>
              </a:rPr>
              <a:t>: It is very common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elderly</a:t>
            </a:r>
            <a:r>
              <a:rPr lang="en-AU" dirty="0">
                <a:latin typeface="Arial" pitchFamily="34" charset="0"/>
                <a:cs typeface="Arial" pitchFamily="34" charset="0"/>
              </a:rPr>
              <a:t> particularly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women</a:t>
            </a:r>
            <a:r>
              <a:rPr lang="en-AU" dirty="0">
                <a:latin typeface="Arial" pitchFamily="34" charset="0"/>
                <a:cs typeface="Arial" pitchFamily="34" charset="0"/>
              </a:rPr>
              <a:t> due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osteoporotic changes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Types of fracture: The fracture may be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intracapsular</a:t>
            </a:r>
            <a:r>
              <a:rPr lang="en-AU" dirty="0">
                <a:latin typeface="Arial" pitchFamily="34" charset="0"/>
                <a:cs typeface="Arial" pitchFamily="34" charset="0"/>
              </a:rPr>
              <a:t> (subcapital, transverse cervical) or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extracapsular </a:t>
            </a:r>
            <a:r>
              <a:rPr lang="en-AU" dirty="0">
                <a:latin typeface="Arial" pitchFamily="34" charset="0"/>
                <a:cs typeface="Arial" pitchFamily="34" charset="0"/>
              </a:rPr>
              <a:t>(basal, intertrochanteric, and subtrochanteric).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intracapsular fracture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retinacular vessels</a:t>
            </a:r>
            <a:r>
              <a:rPr lang="en-AU" dirty="0">
                <a:latin typeface="Arial" pitchFamily="34" charset="0"/>
                <a:cs typeface="Arial" pitchFamily="34" charset="0"/>
              </a:rPr>
              <a:t>-the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chief source of blood supply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>
                <a:latin typeface="Arial" pitchFamily="34" charset="0"/>
                <a:cs typeface="Arial" pitchFamily="34" charset="0"/>
              </a:rPr>
              <a:t>-are injured. This leads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delayed healing </a:t>
            </a:r>
            <a:r>
              <a:rPr lang="en-AU" dirty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non-union of fracture</a:t>
            </a:r>
            <a:r>
              <a:rPr lang="en-AU" dirty="0">
                <a:latin typeface="Arial" pitchFamily="34" charset="0"/>
                <a:cs typeface="Arial" pitchFamily="34" charset="0"/>
              </a:rPr>
              <a:t>, or even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avascular necrosis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 of femur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8401080" cy="607220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intracapsular fracture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 of femur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affected limb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shortened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characteristically held </a:t>
            </a:r>
            <a:r>
              <a:rPr lang="en-AU" dirty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 rotated </a:t>
            </a:r>
            <a:r>
              <a:rPr lang="en-AU" dirty="0">
                <a:latin typeface="Arial" pitchFamily="34" charset="0"/>
                <a:cs typeface="Arial" pitchFamily="34" charset="0"/>
              </a:rPr>
              <a:t>position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toes</a:t>
            </a:r>
            <a:r>
              <a:rPr lang="en-AU" dirty="0">
                <a:latin typeface="Arial" pitchFamily="34" charset="0"/>
                <a:cs typeface="Arial" pitchFamily="34" charset="0"/>
              </a:rPr>
              <a:t> pointing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Medicolegal significance of ossification centre at the lower end of femur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secondary centre </a:t>
            </a:r>
            <a:r>
              <a:rPr lang="en-AU" dirty="0">
                <a:latin typeface="Arial" pitchFamily="34" charset="0"/>
                <a:cs typeface="Arial" pitchFamily="34" charset="0"/>
              </a:rPr>
              <a:t>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of 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unique in the sense </a:t>
            </a:r>
            <a:r>
              <a:rPr lang="en-AU" dirty="0">
                <a:latin typeface="Arial" pitchFamily="34" charset="0"/>
                <a:cs typeface="Arial" pitchFamily="34" charset="0"/>
              </a:rPr>
              <a:t>that it appears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during birth/just before birth </a:t>
            </a:r>
            <a:r>
              <a:rPr lang="en-AU" dirty="0">
                <a:latin typeface="Arial" pitchFamily="34" charset="0"/>
                <a:cs typeface="Arial" pitchFamily="34" charset="0"/>
              </a:rPr>
              <a:t>(ninth month of IUL). It is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medicolegal importance </a:t>
            </a:r>
            <a:r>
              <a:rPr lang="en-AU" dirty="0">
                <a:latin typeface="Arial" pitchFamily="34" charset="0"/>
                <a:cs typeface="Arial" pitchFamily="34" charset="0"/>
              </a:rPr>
              <a:t>because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its appearance </a:t>
            </a:r>
            <a:r>
              <a:rPr lang="en-AU" dirty="0">
                <a:latin typeface="Arial" pitchFamily="34" charset="0"/>
                <a:cs typeface="Arial" pitchFamily="34" charset="0"/>
              </a:rPr>
              <a:t>in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radiograph </a:t>
            </a:r>
            <a:r>
              <a:rPr lang="en-AU" dirty="0">
                <a:latin typeface="Arial" pitchFamily="34" charset="0"/>
                <a:cs typeface="Arial" pitchFamily="34" charset="0"/>
              </a:rPr>
              <a:t>indicates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maturity of the fetus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PATELLA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715016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largest sesamoid bone</a:t>
            </a:r>
            <a:r>
              <a:rPr lang="en-AU" dirty="0">
                <a:latin typeface="Arial" pitchFamily="34" charset="0"/>
                <a:cs typeface="Arial" pitchFamily="34" charset="0"/>
              </a:rPr>
              <a:t>, found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 of quadriceps femoris</a:t>
            </a:r>
            <a:r>
              <a:rPr lang="en-AU" dirty="0">
                <a:latin typeface="Arial" pitchFamily="34" charset="0"/>
                <a:cs typeface="Arial" pitchFamily="34" charset="0"/>
              </a:rPr>
              <a:t>. It is situated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knee joint</a:t>
            </a:r>
            <a:r>
              <a:rPr lang="en-AU" dirty="0">
                <a:latin typeface="Arial" pitchFamily="34" charset="0"/>
                <a:cs typeface="Arial" pitchFamily="34" charset="0"/>
              </a:rPr>
              <a:t>, hence it is also 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knee cap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flattened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triangular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base</a:t>
            </a:r>
            <a:r>
              <a:rPr lang="en-AU" dirty="0">
                <a:latin typeface="Arial" pitchFamily="34" charset="0"/>
                <a:cs typeface="Arial" pitchFamily="34" charset="0"/>
              </a:rPr>
              <a:t> facing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upward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apex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downward</a:t>
            </a:r>
            <a:r>
              <a:rPr lang="en-AU" dirty="0">
                <a:latin typeface="Arial" pitchFamily="34" charset="0"/>
                <a:cs typeface="Arial" pitchFamily="34" charset="0"/>
              </a:rPr>
              <a:t>.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aspect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convex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rough</a:t>
            </a:r>
            <a:r>
              <a:rPr lang="en-AU" dirty="0">
                <a:latin typeface="Arial" pitchFamily="34" charset="0"/>
                <a:cs typeface="Arial" pitchFamily="34" charset="0"/>
              </a:rPr>
              <a:t>, whereas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presents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 articular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divided into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small</a:t>
            </a:r>
            <a:r>
              <a:rPr lang="en-AU" dirty="0">
                <a:latin typeface="Arial" pitchFamily="34" charset="0"/>
                <a:cs typeface="Arial" pitchFamily="34" charset="0"/>
              </a:rPr>
              <a:t> medial part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</a:t>
            </a:r>
            <a:r>
              <a:rPr lang="en-AU" dirty="0">
                <a:latin typeface="Arial" pitchFamily="34" charset="0"/>
                <a:cs typeface="Arial" pitchFamily="34" charset="0"/>
              </a:rPr>
              <a:t> lateral part.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ANATOMICAL POSITION AND SIDE DETERMINATION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Hold the patella in such a way that: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apex </a:t>
            </a:r>
            <a:r>
              <a:rPr lang="en-AU" dirty="0">
                <a:latin typeface="Arial" pitchFamily="34" charset="0"/>
                <a:cs typeface="Arial" pitchFamily="34" charset="0"/>
              </a:rPr>
              <a:t>faces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downward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base</a:t>
            </a:r>
            <a:r>
              <a:rPr lang="en-AU" dirty="0">
                <a:latin typeface="Arial" pitchFamily="34" charset="0"/>
                <a:cs typeface="Arial" pitchFamily="34" charset="0"/>
              </a:rPr>
              <a:t> faces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upward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faces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 lateral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determines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side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929718" cy="1143000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itchFamily="34" charset="0"/>
              </a:rPr>
              <a:t>FEATURES AND ATTACHMENTS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600200"/>
            <a:ext cx="8715436" cy="547213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The patella presents the following features: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Apex.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Three borders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Two surfaces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Apex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directed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downward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ligamentum patellae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connects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tubercle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401080" cy="6000768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Borders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(also called base)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provides attachment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rectus femoris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vastus intermedius</a:t>
            </a:r>
            <a:r>
              <a:rPr lang="en-AU" dirty="0">
                <a:latin typeface="Arial" pitchFamily="34" charset="0"/>
                <a:cs typeface="Arial" pitchFamily="34" charset="0"/>
              </a:rPr>
              <a:t> in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part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Lateral border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provides attachment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vastus lateralis </a:t>
            </a:r>
            <a:r>
              <a:rPr lang="en-AU" dirty="0">
                <a:latin typeface="Arial" pitchFamily="34" charset="0"/>
                <a:cs typeface="Arial" pitchFamily="34" charset="0"/>
              </a:rPr>
              <a:t>in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one-third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patellar retinaculum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two-third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8162" y="1000108"/>
            <a:ext cx="8067675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57224" y="6072206"/>
            <a:ext cx="799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General features of the right patella: A, anterior aspect; B, posterior aspect.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071546"/>
            <a:ext cx="8715436" cy="578645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Medial border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provides attachment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vastus medialis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two-third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patellar retinaculum </a:t>
            </a:r>
            <a:r>
              <a:rPr lang="en-AU" dirty="0">
                <a:latin typeface="Arial" pitchFamily="34" charset="0"/>
                <a:cs typeface="Arial" pitchFamily="34" charset="0"/>
              </a:rPr>
              <a:t>in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one-third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patellar retinaculum </a:t>
            </a:r>
            <a:r>
              <a:rPr lang="en-AU" dirty="0">
                <a:latin typeface="Arial" pitchFamily="34" charset="0"/>
                <a:cs typeface="Arial" pitchFamily="34" charset="0"/>
              </a:rPr>
              <a:t>are the expansions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tendons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vastus lateralis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vastus medialis</a:t>
            </a:r>
            <a:r>
              <a:rPr lang="en-AU" dirty="0">
                <a:latin typeface="Arial" pitchFamily="34" charset="0"/>
                <a:cs typeface="Arial" pitchFamily="34" charset="0"/>
              </a:rPr>
              <a:t>, respectively.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0"/>
            <a:ext cx="8715436" cy="5857916"/>
          </a:xfrm>
        </p:spPr>
        <p:txBody>
          <a:bodyPr/>
          <a:lstStyle/>
          <a:p>
            <a:r>
              <a:rPr lang="en-AU" b="1" dirty="0">
                <a:latin typeface="Arial" pitchFamily="34" charset="0"/>
                <a:cs typeface="Arial" pitchFamily="34" charset="0"/>
              </a:rPr>
              <a:t>Surfaces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Anterior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rough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convex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longitudinally striated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presents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numerous vascular foramina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subcutaneous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subcutaneous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prepatellar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bursa </a:t>
            </a:r>
            <a:r>
              <a:rPr lang="en-AU" dirty="0">
                <a:latin typeface="Arial" pitchFamily="34" charset="0"/>
                <a:cs typeface="Arial" pitchFamily="34" charset="0"/>
              </a:rPr>
              <a:t>intervenes between it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skin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472518" cy="5500726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Posterior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one-fourth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rough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non-articular</a:t>
            </a:r>
            <a:r>
              <a:rPr lang="en-AU" dirty="0">
                <a:latin typeface="Arial" pitchFamily="34" charset="0"/>
                <a:cs typeface="Arial" pitchFamily="34" charset="0"/>
              </a:rPr>
              <a:t>, while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three-fourth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smooth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Small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non-articular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near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the apex </a:t>
            </a:r>
            <a:r>
              <a:rPr lang="en-AU" dirty="0">
                <a:latin typeface="Arial" pitchFamily="34" charset="0"/>
                <a:cs typeface="Arial" pitchFamily="34" charset="0"/>
              </a:rPr>
              <a:t>is divided into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areas</a:t>
            </a:r>
            <a:r>
              <a:rPr lang="en-AU" dirty="0">
                <a:latin typeface="Arial" pitchFamily="34" charset="0"/>
                <a:cs typeface="Arial" pitchFamily="34" charset="0"/>
              </a:rPr>
              <a:t>: lower and upper.</a:t>
            </a:r>
          </a:p>
          <a:p>
            <a:pPr algn="just"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Lower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provides attachment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ligamentum patellae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Upper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is related to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infrapatellar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pad of fat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428604"/>
            <a:ext cx="8715436" cy="6429396"/>
          </a:xfrm>
        </p:spPr>
        <p:txBody>
          <a:bodyPr>
            <a:normAutofit fontScale="925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 articular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is primarily divided by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vertical ridge </a:t>
            </a:r>
            <a:r>
              <a:rPr lang="en-AU" dirty="0">
                <a:latin typeface="Arial" pitchFamily="34" charset="0"/>
                <a:cs typeface="Arial" pitchFamily="34" charset="0"/>
              </a:rPr>
              <a:t>into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larger lateral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smaller medial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in order to fit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reciprocal articular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vertical ridge </a:t>
            </a:r>
            <a:r>
              <a:rPr lang="en-AU" dirty="0">
                <a:latin typeface="Arial" pitchFamily="34" charset="0"/>
                <a:cs typeface="Arial" pitchFamily="34" charset="0"/>
              </a:rPr>
              <a:t>itself occupies the groove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femoral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position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extension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Larger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articular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lies in contact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femoral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in all positions of the knee.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Small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articular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is further divided by another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vertical ridge </a:t>
            </a:r>
            <a:r>
              <a:rPr lang="en-AU" dirty="0">
                <a:latin typeface="Arial" pitchFamily="34" charset="0"/>
                <a:cs typeface="Arial" pitchFamily="34" charset="0"/>
              </a:rPr>
              <a:t>into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 lateral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narrow medial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strip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strip </a:t>
            </a:r>
            <a:r>
              <a:rPr lang="en-AU" dirty="0">
                <a:latin typeface="Arial" pitchFamily="34" charset="0"/>
                <a:cs typeface="Arial" pitchFamily="34" charset="0"/>
              </a:rPr>
              <a:t>comes in contact with the under surface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femoral condyle</a:t>
            </a:r>
            <a:r>
              <a:rPr lang="en-AU" dirty="0">
                <a:latin typeface="Arial" pitchFamily="34" charset="0"/>
                <a:cs typeface="Arial" pitchFamily="34" charset="0"/>
              </a:rPr>
              <a:t> during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full flexion at the knee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Leaving aside this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strip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whole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subdivided</a:t>
            </a:r>
            <a:r>
              <a:rPr lang="en-AU" dirty="0">
                <a:latin typeface="Arial" pitchFamily="34" charset="0"/>
                <a:cs typeface="Arial" pitchFamily="34" charset="0"/>
              </a:rPr>
              <a:t> into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areas </a:t>
            </a:r>
            <a:r>
              <a:rPr lang="en-AU" dirty="0">
                <a:latin typeface="Arial" pitchFamily="34" charset="0"/>
                <a:cs typeface="Arial" pitchFamily="34" charset="0"/>
              </a:rPr>
              <a:t>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faint horizontal lines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71546"/>
            <a:ext cx="8229600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14348" y="6000768"/>
            <a:ext cx="813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Special features of the right patella: A, anterior aspect; B, posterior aspect.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OSSIFICATION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ossifies 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several centres </a:t>
            </a:r>
            <a:r>
              <a:rPr lang="en-AU" dirty="0">
                <a:latin typeface="Arial" pitchFamily="34" charset="0"/>
                <a:cs typeface="Arial" pitchFamily="34" charset="0"/>
              </a:rPr>
              <a:t>which appear during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3-6 years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fuse quickly to form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single centre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ossification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is completed at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puberty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857232"/>
            <a:ext cx="8643998" cy="6643734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Dislocation of the 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patella has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natural tendency </a:t>
            </a:r>
            <a:r>
              <a:rPr lang="en-AU" dirty="0">
                <a:latin typeface="Arial" pitchFamily="34" charset="0"/>
                <a:cs typeface="Arial" pitchFamily="34" charset="0"/>
              </a:rPr>
              <a:t>to dislocate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due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upward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pull </a:t>
            </a:r>
            <a:r>
              <a:rPr lang="en-AU" dirty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quadriceps</a:t>
            </a:r>
            <a:r>
              <a:rPr lang="en-AU" dirty="0">
                <a:latin typeface="Arial" pitchFamily="34" charset="0"/>
                <a:cs typeface="Arial" pitchFamily="34" charset="0"/>
              </a:rPr>
              <a:t>. However, it is countered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factors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More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forward projection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femoral condyle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More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prolonged insertion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vastus medialis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than that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vastus lateralis </a:t>
            </a:r>
            <a:r>
              <a:rPr lang="en-AU" dirty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border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 pull </a:t>
            </a:r>
            <a:r>
              <a:rPr lang="en-AU" dirty="0">
                <a:latin typeface="Arial" pitchFamily="34" charset="0"/>
                <a:cs typeface="Arial" pitchFamily="34" charset="0"/>
              </a:rPr>
              <a:t>exerted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patellar retinaculum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78645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Fracture of the 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(a) A direct blow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 fractures </a:t>
            </a:r>
            <a:r>
              <a:rPr lang="en-AU" dirty="0">
                <a:latin typeface="Arial" pitchFamily="34" charset="0"/>
                <a:cs typeface="Arial" pitchFamily="34" charset="0"/>
              </a:rPr>
              <a:t>it into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</a:t>
            </a:r>
            <a:r>
              <a:rPr lang="en-AU" dirty="0">
                <a:latin typeface="Arial" pitchFamily="34" charset="0"/>
                <a:cs typeface="Arial" pitchFamily="34" charset="0"/>
              </a:rPr>
              <a:t> 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more pieces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(b)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sudden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forceful contraction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quadriceps femoris </a:t>
            </a:r>
            <a:r>
              <a:rPr lang="en-AU" dirty="0">
                <a:latin typeface="Arial" pitchFamily="34" charset="0"/>
                <a:cs typeface="Arial" pitchFamily="34" charset="0"/>
              </a:rPr>
              <a:t>causes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transverse fracture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patella being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sesamoid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is devoid of the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periosteum</a:t>
            </a:r>
            <a:r>
              <a:rPr lang="en-AU" dirty="0">
                <a:latin typeface="Arial" pitchFamily="34" charset="0"/>
                <a:cs typeface="Arial" pitchFamily="34" charset="0"/>
              </a:rPr>
              <a:t>, hence when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fractured bony union </a:t>
            </a:r>
            <a:r>
              <a:rPr lang="en-AU" dirty="0">
                <a:latin typeface="Arial" pitchFamily="34" charset="0"/>
                <a:cs typeface="Arial" pitchFamily="34" charset="0"/>
              </a:rPr>
              <a:t>does not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take place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rm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Abnormal ossification of the 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. Abnormal ossification centres in the patella may form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or three separate pieces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 (called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bipartite</a:t>
            </a:r>
            <a:r>
              <a:rPr lang="en-AU" dirty="0">
                <a:latin typeface="Arial" pitchFamily="34" charset="0"/>
                <a:cs typeface="Arial" pitchFamily="34" charset="0"/>
              </a:rPr>
              <a:t> 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tripartite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</a:t>
            </a:r>
            <a:r>
              <a:rPr lang="en-AU" dirty="0">
                <a:latin typeface="Arial" pitchFamily="34" charset="0"/>
                <a:cs typeface="Arial" pitchFamily="34" charset="0"/>
              </a:rPr>
              <a:t>). This condition can be differentiated from fracture of the patella as 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bilateral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the pieces </a:t>
            </a:r>
            <a:r>
              <a:rPr lang="en-AU" dirty="0">
                <a:latin typeface="Arial" pitchFamily="34" charset="0"/>
                <a:cs typeface="Arial" pitchFamily="34" charset="0"/>
              </a:rPr>
              <a:t>have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smooth margins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itchFamily="34" charset="0"/>
              </a:rPr>
              <a:t>TIBIA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tibia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second largest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body situated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side in the leg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tibia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pre-axial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homologous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forearm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radius</a:t>
            </a:r>
            <a:r>
              <a:rPr lang="en-AU" dirty="0">
                <a:latin typeface="Arial" pitchFamily="34" charset="0"/>
                <a:cs typeface="Arial" pitchFamily="34" charset="0"/>
              </a:rPr>
              <a:t>. It transmits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weight of the body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femur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foot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PARTS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long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consists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parts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intervening shaft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2144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28604"/>
            <a:ext cx="8929718" cy="6429396"/>
          </a:xfrm>
        </p:spPr>
        <p:txBody>
          <a:bodyPr>
            <a:no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is expanded and bears prominent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</a:t>
            </a:r>
            <a:r>
              <a:rPr lang="en-AU" dirty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lateral condyles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tuberosity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larger than </a:t>
            </a: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condyles articulate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condyle of the femur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shaft has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borders</a:t>
            </a:r>
            <a:r>
              <a:rPr lang="en-AU" dirty="0">
                <a:latin typeface="Arial" pitchFamily="34" charset="0"/>
                <a:cs typeface="Arial" pitchFamily="34" charset="0"/>
              </a:rPr>
              <a:t>-anterior, medial, and lateral;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surfaces</a:t>
            </a:r>
            <a:r>
              <a:rPr lang="en-AU" dirty="0">
                <a:latin typeface="Arial" pitchFamily="34" charset="0"/>
                <a:cs typeface="Arial" pitchFamily="34" charset="0"/>
              </a:rPr>
              <a:t>-medial, lateral, and posterior.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sharpest</a:t>
            </a:r>
            <a:r>
              <a:rPr lang="en-AU" dirty="0">
                <a:latin typeface="Arial" pitchFamily="34" charset="0"/>
                <a:cs typeface="Arial" pitchFamily="34" charset="0"/>
              </a:rPr>
              <a:t> and takes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sinuous course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tuberosity </a:t>
            </a:r>
            <a:r>
              <a:rPr lang="en-AU" dirty="0">
                <a:latin typeface="Arial" pitchFamily="34" charset="0"/>
                <a:cs typeface="Arial" pitchFamily="34" charset="0"/>
              </a:rPr>
              <a:t>and becomes continuous below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malleolus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14974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small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projects medially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inferiorly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 as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malleolus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ANATOMICAL POSITION AND SIDE DETERMINATION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554357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side of tibia </a:t>
            </a:r>
            <a:r>
              <a:rPr lang="en-AU" dirty="0">
                <a:latin typeface="Arial" pitchFamily="34" charset="0"/>
                <a:cs typeface="Arial" pitchFamily="34" charset="0"/>
              </a:rPr>
              <a:t>is determined by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holding the bone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vertically</a:t>
            </a:r>
            <a:r>
              <a:rPr lang="en-AU" dirty="0">
                <a:latin typeface="Arial" pitchFamily="34" charset="0"/>
                <a:cs typeface="Arial" pitchFamily="34" charset="0"/>
              </a:rPr>
              <a:t> in such a way that: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expanded end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 faces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upward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tuberosity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sharp sinuous anterior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dirty="0">
                <a:latin typeface="Arial" pitchFamily="34" charset="0"/>
                <a:cs typeface="Arial" pitchFamily="34" charset="0"/>
              </a:rPr>
              <a:t> faces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 malleolus </a:t>
            </a:r>
            <a:r>
              <a:rPr lang="en-AU" dirty="0">
                <a:latin typeface="Arial" pitchFamily="34" charset="0"/>
                <a:cs typeface="Arial" pitchFamily="34" charset="0"/>
              </a:rPr>
              <a:t>is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side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(tibial plateau) lies in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horizontal plane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Black" pitchFamily="34" charset="0"/>
              </a:rPr>
              <a:t>FEATURES AND ATTACHMENTS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0"/>
            <a:ext cx="8643998" cy="5572140"/>
          </a:xfrm>
        </p:spPr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Upper End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condyles </a:t>
            </a:r>
            <a:r>
              <a:rPr lang="en-AU" dirty="0">
                <a:latin typeface="Arial" pitchFamily="34" charset="0"/>
                <a:cs typeface="Arial" pitchFamily="34" charset="0"/>
              </a:rPr>
              <a:t>(medial and lateral),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intercondylar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tuberosity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Medial Condyle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larger</a:t>
            </a:r>
            <a:r>
              <a:rPr lang="en-AU" dirty="0">
                <a:latin typeface="Arial" pitchFamily="34" charset="0"/>
                <a:cs typeface="Arial" pitchFamily="34" charset="0"/>
              </a:rPr>
              <a:t> than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presents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four surfaces</a:t>
            </a:r>
            <a:r>
              <a:rPr lang="en-AU" dirty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92933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latin typeface="Arial" pitchFamily="34" charset="0"/>
                <a:cs typeface="Arial" pitchFamily="34" charset="0"/>
              </a:rPr>
              <a:t>Superior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has a smooth oval articular surface which articulates with the femoral condyle.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slightly concave in the centre and flattened at the periphery. The peripheral flattened part is covered by fibrocartilaginous plate, the medial meniscus.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Posterior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deep transverse groove </a:t>
            </a:r>
            <a:r>
              <a:rPr lang="en-AU" dirty="0">
                <a:latin typeface="Arial" pitchFamily="34" charset="0"/>
                <a:cs typeface="Arial" pitchFamily="34" charset="0"/>
              </a:rPr>
              <a:t>for the insertion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 of semimembranosus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071546"/>
            <a:ext cx="7858180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71604" y="6357958"/>
            <a:ext cx="671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General features of the tibia: A, anterior view; B, posterior view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929354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Anterior and medial surfaces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are marked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vascular foramina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adjoining margin 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patellar retinaculum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Lateral Condyle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Like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also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presents four surfaces</a:t>
            </a:r>
            <a:r>
              <a:rPr lang="en-AU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circular articular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for articulation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femoral condyle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607220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slightly concave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centre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flattened</a:t>
            </a:r>
            <a:r>
              <a:rPr lang="en-AU" dirty="0">
                <a:latin typeface="Arial" pitchFamily="34" charset="0"/>
                <a:cs typeface="Arial" pitchFamily="34" charset="0"/>
              </a:rPr>
              <a:t>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periphery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flattened peripheral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is covered by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plate of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fibrocartilage</a:t>
            </a:r>
            <a:r>
              <a:rPr lang="en-AU" dirty="0">
                <a:latin typeface="Arial" pitchFamily="34" charset="0"/>
                <a:cs typeface="Arial" pitchFamily="34" charset="0"/>
              </a:rPr>
              <a:t>-the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meniscus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Posterior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Inferolaterally, this surface presents a circular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smooth articular facet </a:t>
            </a:r>
            <a:r>
              <a:rPr lang="en-AU" dirty="0">
                <a:latin typeface="Arial" pitchFamily="34" charset="0"/>
                <a:cs typeface="Arial" pitchFamily="34" charset="0"/>
              </a:rPr>
              <a:t>for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 of fibula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facet </a:t>
            </a:r>
            <a:r>
              <a:rPr lang="en-AU" dirty="0">
                <a:latin typeface="Arial" pitchFamily="34" charset="0"/>
                <a:cs typeface="Arial" pitchFamily="34" charset="0"/>
              </a:rPr>
              <a:t>for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</a:t>
            </a:r>
            <a:r>
              <a:rPr lang="en-AU" dirty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margin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there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shallow groove </a:t>
            </a:r>
            <a:r>
              <a:rPr lang="en-AU" dirty="0">
                <a:latin typeface="Arial" pitchFamily="34" charset="0"/>
                <a:cs typeface="Arial" pitchFamily="34" charset="0"/>
              </a:rPr>
              <a:t>for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 of popliteus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</p:spPr>
        <p:txBody>
          <a:bodyPr/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Anterior and lateral surfaces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has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flat triangular facet </a:t>
            </a:r>
            <a:r>
              <a:rPr lang="en-AU" dirty="0">
                <a:latin typeface="Arial" pitchFamily="34" charset="0"/>
                <a:cs typeface="Arial" pitchFamily="34" charset="0"/>
              </a:rPr>
              <a:t>for the attachment of the iliotibial tract.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provide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patellar retinaculum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786478"/>
          </a:xfrm>
        </p:spPr>
        <p:txBody>
          <a:bodyPr>
            <a:normAutofit/>
          </a:bodyPr>
          <a:lstStyle/>
          <a:p>
            <a:r>
              <a:rPr lang="en-AU" b="1" dirty="0">
                <a:latin typeface="Arial" pitchFamily="34" charset="0"/>
                <a:cs typeface="Arial" pitchFamily="34" charset="0"/>
              </a:rPr>
              <a:t>Intercondylar Area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rough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intercondylar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narrow </a:t>
            </a:r>
            <a:r>
              <a:rPr lang="en-AU" dirty="0">
                <a:latin typeface="Arial" pitchFamily="34" charset="0"/>
                <a:cs typeface="Arial" pitchFamily="34" charset="0"/>
              </a:rPr>
              <a:t>and marked by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elevation </a:t>
            </a:r>
            <a:r>
              <a:rPr lang="en-AU" dirty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intercondylar eminence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parts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eminence</a:t>
            </a:r>
            <a:r>
              <a:rPr lang="en-AU" dirty="0">
                <a:latin typeface="Arial" pitchFamily="34" charset="0"/>
                <a:cs typeface="Arial" pitchFamily="34" charset="0"/>
              </a:rPr>
              <a:t> are more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prominent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constitute</a:t>
            </a:r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intercondylar tubercles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From before backward,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intercondylar area</a:t>
            </a:r>
            <a:r>
              <a:rPr lang="en-AU" dirty="0">
                <a:latin typeface="Arial" pitchFamily="34" charset="0"/>
                <a:cs typeface="Arial" pitchFamily="34" charset="0"/>
              </a:rPr>
              <a:t> provides attachments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six structures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Anterior horn of Medial meniscus.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Anterior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Cruciate</a:t>
            </a:r>
            <a:r>
              <a:rPr lang="en-US" dirty="0">
                <a:latin typeface="Arial" pitchFamily="34" charset="0"/>
                <a:cs typeface="Arial" pitchFamily="34" charset="0"/>
              </a:rPr>
              <a:t> ligament.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Anterior horn of Lateral meniscus.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Posterior horn of Lateral meniscus.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Posterior horn of Medial meniscus.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Posterior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Cruciate</a:t>
            </a:r>
            <a:r>
              <a:rPr lang="en-US" dirty="0">
                <a:latin typeface="Arial" pitchFamily="34" charset="0"/>
                <a:cs typeface="Arial" pitchFamily="34" charset="0"/>
              </a:rPr>
              <a:t> ligament.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357298"/>
            <a:ext cx="7620000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85720" y="5643578"/>
            <a:ext cx="11911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Structures attached in intercondylar area on the superior aspect of the tibia 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(MM = medial meniscus, LM = lateral meniscus).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714356"/>
            <a:ext cx="8215370" cy="5411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71472" y="6215082"/>
            <a:ext cx="8619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Special features (attachment) of the tibia: A, anterior aspect; B, posterior aspect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14356"/>
            <a:ext cx="8643998" cy="6143644"/>
          </a:xfrm>
        </p:spPr>
        <p:txBody>
          <a:bodyPr>
            <a:normAutofit fontScale="32500" lnSpcReduction="2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9800" b="1" dirty="0">
                <a:latin typeface="Arial" pitchFamily="34" charset="0"/>
                <a:cs typeface="Arial" pitchFamily="34" charset="0"/>
              </a:rPr>
              <a:t>Tibial Tuberosity</a:t>
            </a:r>
          </a:p>
          <a:p>
            <a:pPr algn="just"/>
            <a:r>
              <a:rPr lang="en-AU" sz="9800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projection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 at the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apex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rough triangular area 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located on the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anterior aspect upper end 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9800" dirty="0">
                <a:latin typeface="Arial" pitchFamily="34" charset="0"/>
                <a:cs typeface="Arial" pitchFamily="34" charset="0"/>
              </a:rPr>
              <a:t>It is divided into an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upper smooth 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and a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lower rough part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9800" dirty="0">
                <a:latin typeface="Arial" pitchFamily="34" charset="0"/>
                <a:cs typeface="Arial" pitchFamily="34" charset="0"/>
              </a:rPr>
              <a:t>Upper smooth part provides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attachment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ligamentum patellae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9800" b="1" dirty="0">
                <a:latin typeface="Arial" pitchFamily="34" charset="0"/>
                <a:cs typeface="Arial" pitchFamily="34" charset="0"/>
              </a:rPr>
              <a:t>Lower rough part 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is related to the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subcutaneous </a:t>
            </a:r>
            <a:r>
              <a:rPr lang="en-AU" sz="9800" b="1" dirty="0" err="1">
                <a:latin typeface="Arial" pitchFamily="34" charset="0"/>
                <a:cs typeface="Arial" pitchFamily="34" charset="0"/>
              </a:rPr>
              <a:t>infrapatellar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 bursa 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which separates it from the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skin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9800" b="1" dirty="0">
                <a:latin typeface="Arial" pitchFamily="34" charset="0"/>
                <a:cs typeface="Arial" pitchFamily="34" charset="0"/>
              </a:rPr>
              <a:t>Rough triangular area 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above the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tuberosity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 is related to the 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deep </a:t>
            </a:r>
            <a:r>
              <a:rPr lang="en-AU" sz="9800" b="1" dirty="0" err="1">
                <a:latin typeface="Arial" pitchFamily="34" charset="0"/>
                <a:cs typeface="Arial" pitchFamily="34" charset="0"/>
              </a:rPr>
              <a:t>infrapatellar</a:t>
            </a:r>
            <a:r>
              <a:rPr lang="en-AU" sz="9800" b="1" dirty="0">
                <a:latin typeface="Arial" pitchFamily="34" charset="0"/>
                <a:cs typeface="Arial" pitchFamily="34" charset="0"/>
              </a:rPr>
              <a:t> bursa</a:t>
            </a:r>
            <a:r>
              <a:rPr lang="en-AU" sz="9800" dirty="0">
                <a:latin typeface="Arial" pitchFamily="34" charset="0"/>
                <a:cs typeface="Arial" pitchFamily="34" charset="0"/>
              </a:rPr>
              <a:t>.</a:t>
            </a:r>
            <a:endParaRPr lang="en-US" sz="9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1214422"/>
            <a:ext cx="7215238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43174" y="6215082"/>
            <a:ext cx="428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Features on the upper aspect of the tibia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0013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785794"/>
            <a:ext cx="8715436" cy="607220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borders</a:t>
            </a:r>
            <a:r>
              <a:rPr lang="en-AU" dirty="0">
                <a:latin typeface="Arial" pitchFamily="34" charset="0"/>
                <a:cs typeface="Arial" pitchFamily="34" charset="0"/>
              </a:rPr>
              <a:t>-anterior, medial, and lateral;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surfaces</a:t>
            </a:r>
            <a:r>
              <a:rPr lang="en-AU" dirty="0">
                <a:latin typeface="Arial" pitchFamily="34" charset="0"/>
                <a:cs typeface="Arial" pitchFamily="34" charset="0"/>
              </a:rPr>
              <a:t>-lateral, medial, and posterior.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Borders</a:t>
            </a:r>
          </a:p>
          <a:p>
            <a:pPr algn="just">
              <a:buFont typeface="Wingdings" pitchFamily="2" charset="2"/>
              <a:buChar char="Ø"/>
            </a:pPr>
            <a:r>
              <a:rPr lang="en-AU" b="1" dirty="0">
                <a:latin typeface="Arial" pitchFamily="34" charset="0"/>
                <a:cs typeface="Arial" pitchFamily="34" charset="0"/>
              </a:rPr>
              <a:t>Anterior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(shin of the tibia)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sharpest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subcutaneous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sinuous in course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extends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tuberosity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malleolus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42900"/>
            <a:ext cx="9144000" cy="764386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Medial border</a:t>
            </a:r>
          </a:p>
          <a:p>
            <a:pPr algn="just"/>
            <a:r>
              <a:rPr lang="en-AU" sz="2800" dirty="0">
                <a:latin typeface="Arial" pitchFamily="34" charset="0"/>
                <a:cs typeface="Arial" pitchFamily="34" charset="0"/>
              </a:rPr>
              <a:t>It extends from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medial condyle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posterior border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medial malleolus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28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soleal line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joins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medial border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at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junction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of its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upper one-third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with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lower two-third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2800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(interosseous)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border</a:t>
            </a:r>
          </a:p>
          <a:p>
            <a:pPr algn="just"/>
            <a:r>
              <a:rPr lang="en-AU" sz="2800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sharp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extends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 from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lateral condyle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below the facet for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head of fibula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anterior border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of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fibular notch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2800" dirty="0">
                <a:latin typeface="Arial" pitchFamily="34" charset="0"/>
                <a:cs typeface="Arial" pitchFamily="34" charset="0"/>
              </a:rPr>
              <a:t>It provides attachment to the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interosseous membrane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which unites the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 tibia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fibula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2800" dirty="0">
                <a:latin typeface="Arial" pitchFamily="34" charset="0"/>
                <a:cs typeface="Arial" pitchFamily="34" charset="0"/>
              </a:rPr>
              <a:t>Its distal part divides to enclose a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triangular notch 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for the attachment of </a:t>
            </a:r>
            <a:r>
              <a:rPr lang="en-AU" sz="2800" b="1" dirty="0">
                <a:latin typeface="Arial" pitchFamily="34" charset="0"/>
                <a:cs typeface="Arial" pitchFamily="34" charset="0"/>
              </a:rPr>
              <a:t>interosseous inferior tibiofibular ligament</a:t>
            </a:r>
            <a:r>
              <a:rPr lang="en-AU" sz="2800" dirty="0">
                <a:latin typeface="Arial" pitchFamily="34" charset="0"/>
                <a:cs typeface="Arial" pitchFamily="34" charset="0"/>
              </a:rPr>
              <a:t>.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-714404"/>
            <a:ext cx="8786874" cy="79296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AU" sz="4400" b="1" dirty="0">
                <a:latin typeface="Arial" pitchFamily="34" charset="0"/>
                <a:cs typeface="Arial" pitchFamily="34" charset="0"/>
              </a:rPr>
              <a:t>  </a:t>
            </a:r>
            <a:endParaRPr lang="en-AU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Surfaces</a:t>
            </a:r>
          </a:p>
          <a:p>
            <a:pPr algn="just">
              <a:buFont typeface="Wingdings" pitchFamily="2" charset="2"/>
              <a:buChar char="Ø"/>
            </a:pPr>
            <a:r>
              <a:rPr lang="en-AU" dirty="0">
                <a:latin typeface="Arial" pitchFamily="34" charset="0"/>
                <a:cs typeface="Arial" pitchFamily="34" charset="0"/>
              </a:rPr>
              <a:t>Medial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faces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anteromedially</a:t>
            </a:r>
            <a:r>
              <a:rPr lang="en-AU" dirty="0">
                <a:latin typeface="Arial" pitchFamily="34" charset="0"/>
                <a:cs typeface="Arial" pitchFamily="34" charset="0"/>
              </a:rPr>
              <a:t> and lies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borders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almost entirely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subcutaneous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close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receives insertions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muscles</a:t>
            </a:r>
            <a:r>
              <a:rPr lang="en-AU" dirty="0">
                <a:latin typeface="Arial" pitchFamily="34" charset="0"/>
                <a:cs typeface="Arial" pitchFamily="34" charset="0"/>
              </a:rPr>
              <a:t>. From before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backward</a:t>
            </a:r>
            <a:r>
              <a:rPr lang="en-AU" dirty="0">
                <a:latin typeface="Arial" pitchFamily="34" charset="0"/>
                <a:cs typeface="Arial" pitchFamily="34" charset="0"/>
              </a:rPr>
              <a:t>, these are: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sartorius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gracilis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semitendinosus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Lateral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directed </a:t>
            </a:r>
            <a:r>
              <a:rPr lang="en-AU" dirty="0" err="1">
                <a:latin typeface="Arial" pitchFamily="34" charset="0"/>
                <a:cs typeface="Arial" pitchFamily="34" charset="0"/>
              </a:rPr>
              <a:t>anterolaterally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 and lies between anterior and interosseous borders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001156" cy="68580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2800" dirty="0">
                <a:latin typeface="Arial" pitchFamily="34" charset="0"/>
                <a:cs typeface="Arial" pitchFamily="34" charset="0"/>
              </a:rPr>
              <a:t>.</a:t>
            </a:r>
            <a:r>
              <a:rPr lang="en-AU" dirty="0">
                <a:latin typeface="Arial Black" pitchFamily="34" charset="0"/>
                <a:cs typeface="Arial" pitchFamily="34" charset="0"/>
              </a:rPr>
              <a:t>Cont’d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two-third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provides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origin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tibialis 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one-third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is crossed by the following structures 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sides </a:t>
            </a:r>
            <a:r>
              <a:rPr lang="en-AU" dirty="0">
                <a:latin typeface="Arial" pitchFamily="34" charset="0"/>
                <a:cs typeface="Arial" pitchFamily="34" charset="0"/>
              </a:rPr>
              <a:t>while passing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leg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foot</a:t>
            </a:r>
            <a:r>
              <a:rPr lang="en-AU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Tibialis anterior.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Extensor hallucis longus.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Anterior tibial artery.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Deep peroneal nerve/anterior tibial nerve.</a:t>
            </a:r>
          </a:p>
          <a:p>
            <a:pPr algn="just">
              <a:buFont typeface="Wingdings" pitchFamily="2" charset="2"/>
              <a:buChar char="§"/>
            </a:pPr>
            <a:r>
              <a:rPr lang="pt-BR" dirty="0">
                <a:latin typeface="Arial" pitchFamily="34" charset="0"/>
                <a:cs typeface="Arial" pitchFamily="34" charset="0"/>
              </a:rPr>
              <a:t>Extensor digitorum longus.</a:t>
            </a:r>
          </a:p>
          <a:p>
            <a:pPr algn="just">
              <a:buFont typeface="Wingdings" pitchFamily="2" charset="2"/>
              <a:buChar char="§"/>
            </a:pPr>
            <a:r>
              <a:rPr lang="pt-BR" dirty="0">
                <a:latin typeface="Arial" pitchFamily="34" charset="0"/>
                <a:cs typeface="Arial" pitchFamily="34" charset="0"/>
              </a:rPr>
              <a:t>Peroneus tertius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428604"/>
            <a:ext cx="8715436" cy="678661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Posterior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lies between the medial and lateral borders.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rough bony ridge </a:t>
            </a:r>
            <a:r>
              <a:rPr lang="en-AU" dirty="0">
                <a:latin typeface="Arial" pitchFamily="34" charset="0"/>
                <a:cs typeface="Arial" pitchFamily="34" charset="0"/>
              </a:rPr>
              <a:t>extends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fibular facet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junction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 thirds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soleal line</a:t>
            </a:r>
            <a:r>
              <a:rPr lang="en-AU" dirty="0">
                <a:latin typeface="Arial" pitchFamily="34" charset="0"/>
                <a:cs typeface="Arial" pitchFamily="34" charset="0"/>
              </a:rPr>
              <a:t>. This line provides attachments to the following structures from above downward: (a)  fascia covering popliteus, (b)  fascia covering soleus, (c) soleus (origin), (d)  deep transverse fascia.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shaft </a:t>
            </a:r>
            <a:r>
              <a:rPr lang="en-AU" dirty="0">
                <a:latin typeface="Arial" pitchFamily="34" charset="0"/>
                <a:cs typeface="Arial" pitchFamily="34" charset="0"/>
              </a:rPr>
              <a:t>is subdivided by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soleal line </a:t>
            </a:r>
            <a:r>
              <a:rPr lang="en-AU" dirty="0">
                <a:latin typeface="Arial" pitchFamily="34" charset="0"/>
                <a:cs typeface="Arial" pitchFamily="34" charset="0"/>
              </a:rPr>
              <a:t>into an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small triangular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large area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00013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28"/>
            <a:ext cx="8929718" cy="6572272"/>
          </a:xfrm>
        </p:spPr>
        <p:txBody>
          <a:bodyPr>
            <a:noAutofit/>
          </a:bodyPr>
          <a:lstStyle/>
          <a:p>
            <a:pPr algn="just"/>
            <a:r>
              <a:rPr lang="en-AU" sz="3000" dirty="0">
                <a:latin typeface="Arial" pitchFamily="34" charset="0"/>
                <a:cs typeface="Arial" pitchFamily="34" charset="0"/>
              </a:rPr>
              <a:t>A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triangular area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above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soleal line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provides insertion to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popliteus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000" dirty="0">
                <a:latin typeface="Arial" pitchFamily="34" charset="0"/>
                <a:cs typeface="Arial" pitchFamily="34" charset="0"/>
              </a:rPr>
              <a:t>A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large area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below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soleal line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is divided into a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and a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lateral part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by a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vertical ridge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0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nutrient foramen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 is located at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this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vertical ridge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 Nutrient canal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is directed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downward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Nutrient artery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is a branch 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posterior tibial artery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largest nutrient artery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body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0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flexor digitorum longus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arises from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medial area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below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soleal line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0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tibialis posterior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arises from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lateral area 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below the </a:t>
            </a:r>
            <a:r>
              <a:rPr lang="en-AU" sz="3000" b="1" dirty="0">
                <a:latin typeface="Arial" pitchFamily="34" charset="0"/>
                <a:cs typeface="Arial" pitchFamily="34" charset="0"/>
              </a:rPr>
              <a:t>soleal line</a:t>
            </a:r>
            <a:r>
              <a:rPr lang="en-AU" sz="3000" dirty="0">
                <a:latin typeface="Arial" pitchFamily="34" charset="0"/>
                <a:cs typeface="Arial" pitchFamily="34" charset="0"/>
              </a:rPr>
              <a:t>.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643602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lower one-fourth </a:t>
            </a:r>
            <a:r>
              <a:rPr lang="en-US" dirty="0">
                <a:latin typeface="Arial" pitchFamily="34" charset="0"/>
                <a:cs typeface="Arial" pitchFamily="34" charset="0"/>
              </a:rPr>
              <a:t>of the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US" dirty="0">
                <a:latin typeface="Arial" pitchFamily="34" charset="0"/>
                <a:cs typeface="Arial" pitchFamily="34" charset="0"/>
              </a:rPr>
              <a:t>beneath the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flexor retinaculum </a:t>
            </a:r>
            <a:r>
              <a:rPr lang="en-US" dirty="0">
                <a:latin typeface="Arial" pitchFamily="34" charset="0"/>
                <a:cs typeface="Arial" pitchFamily="34" charset="0"/>
              </a:rPr>
              <a:t>is related to the following structures from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medial to lateral</a:t>
            </a:r>
            <a:r>
              <a:rPr lang="en-US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Tibialis posterior.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Flexor digitorum longus.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Posterior tibial artery.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Tibial nerve.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Flexor hallucis longus.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715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435280" cy="6143644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Lower End</a:t>
            </a:r>
          </a:p>
          <a:p>
            <a:pPr algn="just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lower end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presents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five surfaces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anterior, posterior, medial, lateral,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 inferior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) and a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downward projection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from the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medial part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the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medial malleolus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Surfaces</a:t>
            </a:r>
          </a:p>
          <a:p>
            <a:pPr algn="just"/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Anterior surface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has an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upper smooth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featureless part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lower rough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grooved part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Posterior surface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in its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medial part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presents a groove for the 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tendon of tibialis posterior</a:t>
            </a:r>
            <a:r>
              <a:rPr lang="en-AU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857232"/>
            <a:ext cx="8643998" cy="6286544"/>
          </a:xfrm>
        </p:spPr>
        <p:txBody>
          <a:bodyPr>
            <a:norm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subcutaneous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continuous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malleolus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Lateral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presents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fibular notch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margins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fibular notch </a:t>
            </a:r>
            <a:r>
              <a:rPr lang="en-AU" dirty="0">
                <a:latin typeface="Arial" pitchFamily="34" charset="0"/>
                <a:cs typeface="Arial" pitchFamily="34" charset="0"/>
              </a:rPr>
              <a:t>provide attachment to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tibiofibular ligaments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fibular notch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rough </a:t>
            </a:r>
            <a:r>
              <a:rPr lang="en-AU" dirty="0">
                <a:latin typeface="Arial" pitchFamily="34" charset="0"/>
                <a:cs typeface="Arial" pitchFamily="34" charset="0"/>
              </a:rPr>
              <a:t>and provides attachments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interosseous tibiofibular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Inferior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smooth</a:t>
            </a:r>
            <a:r>
              <a:rPr lang="en-AU" dirty="0">
                <a:latin typeface="Arial" pitchFamily="34" charset="0"/>
                <a:cs typeface="Arial" pitchFamily="34" charset="0"/>
              </a:rPr>
              <a:t> and articulates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body of the talus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00013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428604"/>
            <a:ext cx="8572560" cy="6429396"/>
          </a:xfrm>
        </p:spPr>
        <p:txBody>
          <a:bodyPr>
            <a:normAutofit lnSpcReduction="10000"/>
          </a:bodyPr>
          <a:lstStyle/>
          <a:p>
            <a:r>
              <a:rPr lang="en-AU" dirty="0">
                <a:latin typeface="Arial Black" pitchFamily="34" charset="0"/>
              </a:rPr>
              <a:t>Medial Malleolus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tip</a:t>
            </a:r>
            <a:r>
              <a:rPr lang="en-AU" dirty="0">
                <a:latin typeface="Arial" pitchFamily="34" charset="0"/>
                <a:cs typeface="Arial" pitchFamily="34" charset="0"/>
              </a:rPr>
              <a:t> lies at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higher level than </a:t>
            </a:r>
            <a:r>
              <a:rPr lang="en-AU" dirty="0">
                <a:latin typeface="Arial" pitchFamily="34" charset="0"/>
                <a:cs typeface="Arial" pitchFamily="34" charset="0"/>
              </a:rPr>
              <a:t>that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malleolus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deltoid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present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comma-shaped articular facet </a:t>
            </a:r>
            <a:r>
              <a:rPr lang="en-AU" dirty="0">
                <a:latin typeface="Arial" pitchFamily="34" charset="0"/>
                <a:cs typeface="Arial" pitchFamily="34" charset="0"/>
              </a:rPr>
              <a:t>for articulation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similar facet </a:t>
            </a:r>
            <a:r>
              <a:rPr lang="en-AU" dirty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body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talus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presents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vertical groove </a:t>
            </a:r>
            <a:r>
              <a:rPr lang="en-AU" dirty="0">
                <a:latin typeface="Arial" pitchFamily="34" charset="0"/>
                <a:cs typeface="Arial" pitchFamily="34" charset="0"/>
              </a:rPr>
              <a:t>for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 of tibialis posterior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 margin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groove</a:t>
            </a:r>
            <a:r>
              <a:rPr lang="en-AU" dirty="0">
                <a:latin typeface="Arial" pitchFamily="34" charset="0"/>
                <a:cs typeface="Arial" pitchFamily="34" charset="0"/>
              </a:rPr>
              <a:t> is prominent and 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flexor retinaculum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214290"/>
            <a:ext cx="8401080" cy="1143000"/>
          </a:xfrm>
        </p:spPr>
        <p:txBody>
          <a:bodyPr>
            <a:noAutofit/>
          </a:bodyPr>
          <a:lstStyle/>
          <a:p>
            <a:r>
              <a:rPr lang="en-AU" sz="3600" dirty="0">
                <a:latin typeface="Arial Black" pitchFamily="34" charset="0"/>
              </a:rPr>
              <a:t>CAPSULAR ATTACHMENTS AT THE UPPER AND LOWER ENDS OF TIBIA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0"/>
            <a:ext cx="8715436" cy="5572140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At the upper end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capsule is attached to the margins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condyles medially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laterally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, it is attached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sides of triangular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aspect of condyles</a:t>
            </a:r>
            <a:r>
              <a:rPr lang="en-AU" dirty="0">
                <a:latin typeface="Arial" pitchFamily="34" charset="0"/>
                <a:cs typeface="Arial" pitchFamily="34" charset="0"/>
              </a:rPr>
              <a:t> blending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patellar retinacula </a:t>
            </a:r>
            <a:r>
              <a:rPr lang="en-AU" dirty="0">
                <a:latin typeface="Arial" pitchFamily="34" charset="0"/>
                <a:cs typeface="Arial" pitchFamily="34" charset="0"/>
              </a:rPr>
              <a:t>and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tubercle </a:t>
            </a:r>
            <a:r>
              <a:rPr lang="en-AU" dirty="0">
                <a:latin typeface="Arial" pitchFamily="34" charset="0"/>
                <a:cs typeface="Arial" pitchFamily="34" charset="0"/>
              </a:rPr>
              <a:t>where it blends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ligamentum patellae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Behind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capsule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deficient</a:t>
            </a:r>
            <a:r>
              <a:rPr lang="en-AU" dirty="0">
                <a:latin typeface="Arial" pitchFamily="34" charset="0"/>
                <a:cs typeface="Arial" pitchFamily="34" charset="0"/>
              </a:rPr>
              <a:t> for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passage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tendon of popliteus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268931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capsule is attached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margins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where it extends on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of fibula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71570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OSSIFICATION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571480"/>
            <a:ext cx="8715436" cy="6072230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ossifies from three centres-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one primary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two secondary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Primary centre </a:t>
            </a:r>
            <a:r>
              <a:rPr lang="en-AU" dirty="0">
                <a:latin typeface="Arial" pitchFamily="34" charset="0"/>
                <a:cs typeface="Arial" pitchFamily="34" charset="0"/>
              </a:rPr>
              <a:t>appears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 of shaft </a:t>
            </a:r>
            <a:r>
              <a:rPr lang="en-AU" dirty="0">
                <a:latin typeface="Arial" pitchFamily="34" charset="0"/>
                <a:cs typeface="Arial" pitchFamily="34" charset="0"/>
              </a:rPr>
              <a:t>at the age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seventh week of IUL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Secondary centres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For the upper end: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Appearance: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At birth or shortly after birth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Fusion with the shaft: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20 years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For the lower end: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Appearance: 2 years.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Fusion with the shaft: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18 years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00108"/>
            <a:ext cx="8401080" cy="621510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 err="1">
                <a:latin typeface="Arial" pitchFamily="34" charset="0"/>
                <a:cs typeface="Arial" pitchFamily="34" charset="0"/>
              </a:rPr>
              <a:t>Osteomyelitis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of the upper end of tibia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of tibia </a:t>
            </a:r>
            <a:r>
              <a:rPr lang="en-AU" dirty="0">
                <a:latin typeface="Arial" pitchFamily="34" charset="0"/>
                <a:cs typeface="Arial" pitchFamily="34" charset="0"/>
              </a:rPr>
              <a:t>is the commonest site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acute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osteomyelitis</a:t>
            </a:r>
            <a:r>
              <a:rPr lang="en-AU" dirty="0">
                <a:latin typeface="Arial" pitchFamily="34" charset="0"/>
                <a:cs typeface="Arial" pitchFamily="34" charset="0"/>
              </a:rPr>
              <a:t>, but knee joint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remain unaffected </a:t>
            </a:r>
            <a:r>
              <a:rPr lang="en-AU" dirty="0">
                <a:latin typeface="Arial" pitchFamily="34" charset="0"/>
                <a:cs typeface="Arial" pitchFamily="34" charset="0"/>
              </a:rPr>
              <a:t>because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capsule of knee joint </a:t>
            </a:r>
            <a:r>
              <a:rPr lang="en-AU" dirty="0">
                <a:latin typeface="Arial" pitchFamily="34" charset="0"/>
                <a:cs typeface="Arial" pitchFamily="34" charset="0"/>
              </a:rPr>
              <a:t>is attached near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margins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surfaces </a:t>
            </a:r>
            <a:r>
              <a:rPr lang="en-AU" dirty="0">
                <a:latin typeface="Arial" pitchFamily="34" charset="0"/>
                <a:cs typeface="Arial" pitchFamily="34" charset="0"/>
              </a:rPr>
              <a:t>proximal to the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epiphyseal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line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Fracture of tibia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tibia is commonly fractured at the junction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2/3rd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1/3rd </a:t>
            </a:r>
            <a:r>
              <a:rPr lang="en-AU" dirty="0">
                <a:latin typeface="Arial" pitchFamily="34" charset="0"/>
                <a:cs typeface="Arial" pitchFamily="34" charset="0"/>
              </a:rPr>
              <a:t>of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dirty="0">
                <a:latin typeface="Arial" pitchFamily="34" charset="0"/>
                <a:cs typeface="Arial" pitchFamily="34" charset="0"/>
              </a:rPr>
              <a:t>. (The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shaft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narrowest</a:t>
            </a:r>
            <a:r>
              <a:rPr lang="en-AU" dirty="0">
                <a:latin typeface="Arial" pitchFamily="34" charset="0"/>
                <a:cs typeface="Arial" pitchFamily="34" charset="0"/>
              </a:rPr>
              <a:t> at the junction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two-third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one-third</a:t>
            </a:r>
            <a:r>
              <a:rPr lang="en-AU" dirty="0">
                <a:latin typeface="Arial" pitchFamily="34" charset="0"/>
                <a:cs typeface="Arial" pitchFamily="34" charset="0"/>
              </a:rPr>
              <a:t>, hence the commonest site of fracture).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one-third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 shaft </a:t>
            </a:r>
            <a:r>
              <a:rPr lang="en-AU" dirty="0">
                <a:latin typeface="Arial" pitchFamily="34" charset="0"/>
                <a:cs typeface="Arial" pitchFamily="34" charset="0"/>
              </a:rPr>
              <a:t>is bare area (hence devoid of any muscular attachment)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have low blood supply</a:t>
            </a:r>
            <a:r>
              <a:rPr lang="en-AU" dirty="0">
                <a:latin typeface="Arial" pitchFamily="34" charset="0"/>
                <a:cs typeface="Arial" pitchFamily="34" charset="0"/>
              </a:rPr>
              <a:t>; for this reason, the fractures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1/3rd of the shaft </a:t>
            </a:r>
            <a:r>
              <a:rPr lang="en-AU" dirty="0">
                <a:latin typeface="Arial" pitchFamily="34" charset="0"/>
                <a:cs typeface="Arial" pitchFamily="34" charset="0"/>
              </a:rPr>
              <a:t>of tibia show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delayed union </a:t>
            </a:r>
            <a:r>
              <a:rPr lang="en-AU" dirty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non-union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71570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FIBULA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571480"/>
            <a:ext cx="8643998" cy="6286520"/>
          </a:xfrm>
        </p:spPr>
        <p:txBody>
          <a:bodyPr>
            <a:norm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</a:t>
            </a:r>
            <a:r>
              <a:rPr lang="en-AU" dirty="0">
                <a:latin typeface="Arial" pitchFamily="34" charset="0"/>
                <a:cs typeface="Arial" pitchFamily="34" charset="0"/>
              </a:rPr>
              <a:t> is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leg</a:t>
            </a:r>
            <a:r>
              <a:rPr lang="en-AU" dirty="0">
                <a:latin typeface="Arial" pitchFamily="34" charset="0"/>
                <a:cs typeface="Arial" pitchFamily="34" charset="0"/>
              </a:rPr>
              <a:t> and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homologous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ulna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forearm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long slender postaxial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leg and does not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take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transmission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body weight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It subserves two important functions: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provides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attachments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muscles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along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 forms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socket</a:t>
            </a:r>
            <a:r>
              <a:rPr lang="en-AU" dirty="0">
                <a:latin typeface="Arial" pitchFamily="34" charset="0"/>
                <a:cs typeface="Arial" pitchFamily="34" charset="0"/>
              </a:rPr>
              <a:t> (tibiofibular mortise), to hold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talus</a:t>
            </a:r>
            <a:r>
              <a:rPr lang="en-AU" dirty="0">
                <a:latin typeface="Arial" pitchFamily="34" charset="0"/>
                <a:cs typeface="Arial" pitchFamily="34" charset="0"/>
              </a:rPr>
              <a:t> in place.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600076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long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and consists of three parts: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intervening shaft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(head) is round and presents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circular articular facet</a:t>
            </a:r>
            <a:r>
              <a:rPr lang="en-AU" dirty="0">
                <a:latin typeface="Arial" pitchFamily="34" charset="0"/>
                <a:cs typeface="Arial" pitchFamily="34" charset="0"/>
              </a:rPr>
              <a:t>. An upward projection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posterolateral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facet</a:t>
            </a:r>
            <a:r>
              <a:rPr lang="en-AU" dirty="0">
                <a:latin typeface="Arial" pitchFamily="34" charset="0"/>
                <a:cs typeface="Arial" pitchFamily="34" charset="0"/>
              </a:rPr>
              <a:t> is 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styloid process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shaft is described to have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interosseous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borders</a:t>
            </a:r>
            <a:r>
              <a:rPr lang="en-AU" dirty="0">
                <a:latin typeface="Arial" pitchFamily="34" charset="0"/>
                <a:cs typeface="Arial" pitchFamily="34" charset="0"/>
              </a:rPr>
              <a:t>;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surfaces</a:t>
            </a:r>
            <a:r>
              <a:rPr lang="en-AU" dirty="0">
                <a:latin typeface="Arial" pitchFamily="34" charset="0"/>
                <a:cs typeface="Arial" pitchFamily="34" charset="0"/>
              </a:rPr>
              <a:t>. However, only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interosseous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clear-cut</a:t>
            </a:r>
            <a:r>
              <a:rPr lang="en-AU" dirty="0">
                <a:latin typeface="Arial" pitchFamily="34" charset="0"/>
                <a:cs typeface="Arial" pitchFamily="34" charset="0"/>
              </a:rPr>
              <a:t>; other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borders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surfaces</a:t>
            </a:r>
            <a:r>
              <a:rPr lang="en-AU" dirty="0">
                <a:latin typeface="Arial" pitchFamily="34" charset="0"/>
                <a:cs typeface="Arial" pitchFamily="34" charset="0"/>
              </a:rPr>
              <a:t> spiral so that it is difficult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ascertain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flattened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bears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triangular articular facet </a:t>
            </a:r>
            <a:r>
              <a:rPr lang="en-AU" dirty="0">
                <a:latin typeface="Arial" pitchFamily="34" charset="0"/>
                <a:cs typeface="Arial" pitchFamily="34" charset="0"/>
              </a:rPr>
              <a:t>on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for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articulation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talus</a:t>
            </a:r>
            <a:r>
              <a:rPr lang="en-AU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Behind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>
                <a:latin typeface="Arial" pitchFamily="34" charset="0"/>
                <a:cs typeface="Arial" pitchFamily="34" charset="0"/>
              </a:rPr>
              <a:t> this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roughened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malleolar fossa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SIDE DETERMINATION AND ANATOMICAL POSITION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715436" cy="592933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The side of fibula can be determined by holding it vertically in such a way that: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round end </a:t>
            </a:r>
            <a:r>
              <a:rPr lang="en-AU" dirty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directed upward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relatively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flattened end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directed downward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triangular articular facet </a:t>
            </a:r>
            <a:r>
              <a:rPr lang="en-AU" dirty="0">
                <a:latin typeface="Arial" pitchFamily="34" charset="0"/>
                <a:cs typeface="Arial" pitchFamily="34" charset="0"/>
              </a:rPr>
              <a:t>on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faces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medially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depression</a:t>
            </a:r>
            <a:r>
              <a:rPr lang="en-AU" dirty="0">
                <a:latin typeface="Arial" pitchFamily="34" charset="0"/>
                <a:cs typeface="Arial" pitchFamily="34" charset="0"/>
              </a:rPr>
              <a:t>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malleolar fossa</a:t>
            </a:r>
            <a:r>
              <a:rPr lang="en-AU" dirty="0">
                <a:latin typeface="Arial" pitchFamily="34" charset="0"/>
                <a:cs typeface="Arial" pitchFamily="34" charset="0"/>
              </a:rPr>
              <a:t>) lies behind and below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triangular articular facet </a:t>
            </a:r>
            <a:r>
              <a:rPr lang="en-AU" dirty="0">
                <a:latin typeface="Arial" pitchFamily="34" charset="0"/>
                <a:cs typeface="Arial" pitchFamily="34" charset="0"/>
              </a:rPr>
              <a:t>at this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end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"/>
            <a:ext cx="7715304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557214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General features of the right fibula: A, medial aspect; B, posterior aspect; C, lateral aspect of lower part. Figure in the inset is the transverse section of the lower part of shaft showing borders and surfaces (AS =  anterior surface, PS = posterior surface, LS = lateral surface).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-285776"/>
            <a:ext cx="8643998" cy="114300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Black" pitchFamily="34" charset="0"/>
              </a:rPr>
              <a:t>FEATURES AND ATTACHMENTS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500042"/>
            <a:ext cx="8786874" cy="700092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Upper End</a:t>
            </a:r>
          </a:p>
          <a:p>
            <a:r>
              <a:rPr lang="en-AU" dirty="0">
                <a:latin typeface="Arial" pitchFamily="34" charset="0"/>
                <a:cs typeface="Arial" pitchFamily="34" charset="0"/>
              </a:rPr>
              <a:t>It presents head and neck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Head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round </a:t>
            </a:r>
            <a:r>
              <a:rPr lang="en-AU" dirty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dirty="0">
                <a:latin typeface="Arial" pitchFamily="34" charset="0"/>
                <a:cs typeface="Arial" pitchFamily="34" charset="0"/>
              </a:rPr>
              <a:t>presents the following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features: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An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oval </a:t>
            </a:r>
            <a:r>
              <a:rPr lang="en-AU" dirty="0">
                <a:latin typeface="Arial" pitchFamily="34" charset="0"/>
                <a:cs typeface="Arial" pitchFamily="34" charset="0"/>
              </a:rPr>
              <a:t>or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circular articular facet </a:t>
            </a:r>
            <a:r>
              <a:rPr lang="en-AU" dirty="0">
                <a:latin typeface="Arial" pitchFamily="34" charset="0"/>
                <a:cs typeface="Arial" pitchFamily="34" charset="0"/>
              </a:rPr>
              <a:t>on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aspect for articulation </a:t>
            </a:r>
            <a:r>
              <a:rPr lang="en-AU" dirty="0">
                <a:latin typeface="Arial" pitchFamily="34" charset="0"/>
                <a:cs typeface="Arial" pitchFamily="34" charset="0"/>
              </a:rPr>
              <a:t>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condyle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styloid process </a:t>
            </a:r>
            <a:r>
              <a:rPr lang="en-AU" dirty="0">
                <a:latin typeface="Arial" pitchFamily="34" charset="0"/>
                <a:cs typeface="Arial" pitchFamily="34" charset="0"/>
              </a:rPr>
              <a:t>posterolateral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articular facet</a:t>
            </a:r>
            <a:r>
              <a:rPr lang="en-AU" dirty="0">
                <a:latin typeface="Arial" pitchFamily="34" charset="0"/>
                <a:cs typeface="Arial" pitchFamily="34" charset="0"/>
              </a:rPr>
              <a:t> which 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fibular collateral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sloping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in front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styloid process </a:t>
            </a:r>
            <a:r>
              <a:rPr lang="en-AU" dirty="0">
                <a:latin typeface="Arial" pitchFamily="34" charset="0"/>
                <a:cs typeface="Arial" pitchFamily="34" charset="0"/>
              </a:rPr>
              <a:t>for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C-shaped</a:t>
            </a:r>
            <a:r>
              <a:rPr lang="en-AU" dirty="0">
                <a:latin typeface="Arial" pitchFamily="34" charset="0"/>
                <a:cs typeface="Arial" pitchFamily="34" charset="0"/>
              </a:rPr>
              <a:t> insertion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biceps femoris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857232"/>
            <a:ext cx="8229600" cy="52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607220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Schematic diagram to show the attachments of muscles on the different surfaces of the fibula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Neck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constriction</a:t>
            </a:r>
            <a:r>
              <a:rPr lang="en-AU" dirty="0">
                <a:latin typeface="Arial" pitchFamily="34" charset="0"/>
                <a:cs typeface="Arial" pitchFamily="34" charset="0"/>
              </a:rPr>
              <a:t> below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head</a:t>
            </a:r>
            <a:r>
              <a:rPr lang="en-AU" dirty="0">
                <a:latin typeface="Arial" pitchFamily="34" charset="0"/>
                <a:cs typeface="Arial" pitchFamily="34" charset="0"/>
              </a:rPr>
              <a:t>, connecting it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shaft</a:t>
            </a:r>
            <a:r>
              <a:rPr lang="en-AU" dirty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common peroneal nerve </a:t>
            </a:r>
            <a:r>
              <a:rPr lang="en-AU" dirty="0">
                <a:latin typeface="Arial" pitchFamily="34" charset="0"/>
                <a:cs typeface="Arial" pitchFamily="34" charset="0"/>
              </a:rPr>
              <a:t>is related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posterolateral aspect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neck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tibial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on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aspect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428604"/>
            <a:ext cx="8643998" cy="6786610"/>
          </a:xfrm>
        </p:spPr>
        <p:txBody>
          <a:bodyPr>
            <a:normAutofit fontScale="85000"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 Black" pitchFamily="34" charset="0"/>
              </a:rPr>
              <a:t>Shaft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presents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borders</a:t>
            </a:r>
            <a:r>
              <a:rPr lang="en-AU" dirty="0">
                <a:latin typeface="Arial" pitchFamily="34" charset="0"/>
                <a:cs typeface="Arial" pitchFamily="34" charset="0"/>
              </a:rPr>
              <a:t>-anterior, posterior, and medial;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surfaces</a:t>
            </a:r>
            <a:r>
              <a:rPr lang="en-AU" dirty="0">
                <a:latin typeface="Arial" pitchFamily="34" charset="0"/>
                <a:cs typeface="Arial" pitchFamily="34" charset="0"/>
              </a:rPr>
              <a:t>-medial, lateral, and posterior.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Borders</a:t>
            </a:r>
          </a:p>
          <a:p>
            <a:pPr algn="just">
              <a:buFont typeface="Wingdings" pitchFamily="2" charset="2"/>
              <a:buChar char="Ø"/>
            </a:pPr>
            <a:r>
              <a:rPr lang="en-AU" dirty="0">
                <a:latin typeface="Arial" pitchFamily="34" charset="0"/>
                <a:cs typeface="Arial" pitchFamily="34" charset="0"/>
              </a:rPr>
              <a:t>Anterior border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intermuscular septum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leg in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three-fourth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begins just below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aspect of the head</a:t>
            </a:r>
            <a:r>
              <a:rPr lang="en-AU" dirty="0">
                <a:latin typeface="Arial" pitchFamily="34" charset="0"/>
                <a:cs typeface="Arial" pitchFamily="34" charset="0"/>
              </a:rPr>
              <a:t>. Inferiorly it splits to enclose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triangular area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continues 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malleolus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Superior extensor retinaculum </a:t>
            </a:r>
            <a:r>
              <a:rPr lang="en-AU" dirty="0">
                <a:latin typeface="Arial" pitchFamily="34" charset="0"/>
                <a:cs typeface="Arial" pitchFamily="34" charset="0"/>
              </a:rPr>
              <a:t>is attached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margin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triangular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superior peroneal retinaculum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margin of triangular area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78581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428604"/>
            <a:ext cx="8715436" cy="6429396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Posterior border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extends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aspect of head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margin of groove </a:t>
            </a:r>
            <a:r>
              <a:rPr lang="en-AU" dirty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malleolus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Posterior intermuscular septum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leg is attached to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three-fourth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Interosseous medial border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lies close and just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border </a:t>
            </a:r>
            <a:r>
              <a:rPr lang="en-AU" dirty="0">
                <a:latin typeface="Arial" pitchFamily="34" charset="0"/>
                <a:cs typeface="Arial" pitchFamily="34" charset="0"/>
              </a:rPr>
              <a:t>(separated from it only by 3 mm in the upper part).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Inferiorly it ends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roughened area </a:t>
            </a:r>
            <a:r>
              <a:rPr lang="en-AU" dirty="0">
                <a:latin typeface="Arial" pitchFamily="34" charset="0"/>
                <a:cs typeface="Arial" pitchFamily="34" charset="0"/>
              </a:rPr>
              <a:t>for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interosseous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/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Interosseous membrane </a:t>
            </a:r>
            <a:r>
              <a:rPr lang="en-AU" dirty="0">
                <a:latin typeface="Arial" pitchFamily="34" charset="0"/>
                <a:cs typeface="Arial" pitchFamily="34" charset="0"/>
              </a:rPr>
              <a:t>is attached along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whole length </a:t>
            </a:r>
            <a:r>
              <a:rPr lang="en-AU" dirty="0">
                <a:latin typeface="Arial" pitchFamily="34" charset="0"/>
                <a:cs typeface="Arial" pitchFamily="34" charset="0"/>
              </a:rPr>
              <a:t>except at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to leave a gap for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passage</a:t>
            </a:r>
            <a:r>
              <a:rPr lang="en-AU" dirty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tibial vessels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071570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428604"/>
            <a:ext cx="8715436" cy="642939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dirty="0">
                <a:latin typeface="Arial Black" pitchFamily="34" charset="0"/>
              </a:rPr>
              <a:t>Surfaces</a:t>
            </a:r>
          </a:p>
          <a:p>
            <a:pPr algn="just">
              <a:buFont typeface="Wingdings" pitchFamily="2" charset="2"/>
              <a:buChar char="Ø"/>
            </a:pPr>
            <a:r>
              <a:rPr lang="en-AU" sz="3800" dirty="0">
                <a:latin typeface="Arial" pitchFamily="34" charset="0"/>
                <a:cs typeface="Arial" pitchFamily="34" charset="0"/>
              </a:rPr>
              <a:t>Medial (extensor) surface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It is narrow and lies between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anterior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interosseous borders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It gives origin to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extensor digitorum longus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in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upper three-fourth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(whole width of its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upper fourth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anterior half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of its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middle two-fourth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sz="3500" b="1" dirty="0">
                <a:latin typeface="Arial" pitchFamily="34" charset="0"/>
                <a:cs typeface="Arial" pitchFamily="34" charset="0"/>
              </a:rPr>
              <a:t>Extensor hallucis longus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arises from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posterior half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middle two-fourth medial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extensor digitorum longus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lower one-fourth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provides origin to 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peroneus tertius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  <a:endParaRPr lang="en-US" sz="35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929330"/>
          </a:xfrm>
        </p:spPr>
        <p:txBody>
          <a:bodyPr>
            <a:normAutofit/>
          </a:bodyPr>
          <a:lstStyle/>
          <a:p>
            <a:r>
              <a:rPr lang="en-AU" b="1" dirty="0">
                <a:latin typeface="Arial" pitchFamily="34" charset="0"/>
                <a:cs typeface="Arial" pitchFamily="34" charset="0"/>
              </a:rPr>
              <a:t>Lateral (peroneal)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lies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borders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Peroneus longus </a:t>
            </a:r>
            <a:r>
              <a:rPr lang="en-AU" dirty="0">
                <a:latin typeface="Arial" pitchFamily="34" charset="0"/>
                <a:cs typeface="Arial" pitchFamily="34" charset="0"/>
              </a:rPr>
              <a:t>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two-third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(whole width of upper one-third and the posterior half of the middle one-third).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Peroneus brevis </a:t>
            </a:r>
            <a:r>
              <a:rPr lang="en-AU" dirty="0">
                <a:latin typeface="Arial" pitchFamily="34" charset="0"/>
                <a:cs typeface="Arial" pitchFamily="34" charset="0"/>
              </a:rPr>
              <a:t>arises from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half </a:t>
            </a:r>
            <a:r>
              <a:rPr lang="en-AU" dirty="0">
                <a:latin typeface="Arial" pitchFamily="34" charset="0"/>
                <a:cs typeface="Arial" pitchFamily="34" charset="0"/>
              </a:rPr>
              <a:t>of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 one-third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whole width </a:t>
            </a:r>
            <a:r>
              <a:rPr lang="en-AU" dirty="0">
                <a:latin typeface="Arial" pitchFamily="34" charset="0"/>
                <a:cs typeface="Arial" pitchFamily="34" charset="0"/>
              </a:rPr>
              <a:t>of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one-third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85725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428604"/>
            <a:ext cx="8715436" cy="6643734"/>
          </a:xfrm>
        </p:spPr>
        <p:txBody>
          <a:bodyPr>
            <a:normAutofit fontScale="92500"/>
          </a:bodyPr>
          <a:lstStyle/>
          <a:p>
            <a:r>
              <a:rPr lang="en-AU" b="1" dirty="0">
                <a:latin typeface="Arial" pitchFamily="34" charset="0"/>
                <a:cs typeface="Arial" pitchFamily="34" charset="0"/>
              </a:rPr>
              <a:t>Posterior (flexor) surface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extensive</a:t>
            </a:r>
            <a:r>
              <a:rPr lang="en-AU" dirty="0">
                <a:latin typeface="Arial" pitchFamily="34" charset="0"/>
                <a:cs typeface="Arial" pitchFamily="34" charset="0"/>
              </a:rPr>
              <a:t> and lies between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interosseous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borders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two-third </a:t>
            </a:r>
            <a:r>
              <a:rPr lang="en-AU" dirty="0">
                <a:latin typeface="Arial" pitchFamily="34" charset="0"/>
                <a:cs typeface="Arial" pitchFamily="34" charset="0"/>
              </a:rPr>
              <a:t>is divided into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concave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flattened lateral parts </a:t>
            </a:r>
            <a:r>
              <a:rPr lang="en-AU" dirty="0">
                <a:latin typeface="Arial" pitchFamily="34" charset="0"/>
                <a:cs typeface="Arial" pitchFamily="34" charset="0"/>
              </a:rPr>
              <a:t>by a sharp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vertical ridge medial crest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Fascia covering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tibialis posterior </a:t>
            </a:r>
            <a:r>
              <a:rPr lang="en-AU" dirty="0">
                <a:latin typeface="Arial" pitchFamily="34" charset="0"/>
                <a:cs typeface="Arial" pitchFamily="34" charset="0"/>
              </a:rPr>
              <a:t>is attached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crest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 concave </a:t>
            </a:r>
            <a:r>
              <a:rPr lang="en-AU" dirty="0">
                <a:latin typeface="Arial" pitchFamily="34" charset="0"/>
                <a:cs typeface="Arial" pitchFamily="34" charset="0"/>
              </a:rPr>
              <a:t>part gives origin to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tibialis posterior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Lateral flattened </a:t>
            </a:r>
            <a:r>
              <a:rPr lang="en-AU" dirty="0">
                <a:latin typeface="Arial" pitchFamily="34" charset="0"/>
                <a:cs typeface="Arial" pitchFamily="34" charset="0"/>
              </a:rPr>
              <a:t>part gives origin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soleus</a:t>
            </a:r>
            <a:r>
              <a:rPr lang="en-AU" dirty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one-fourth </a:t>
            </a:r>
            <a:r>
              <a:rPr lang="en-AU" dirty="0">
                <a:latin typeface="Arial" pitchFamily="34" charset="0"/>
                <a:cs typeface="Arial" pitchFamily="34" charset="0"/>
              </a:rPr>
              <a:t>and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flexor hallucis longus </a:t>
            </a:r>
            <a:r>
              <a:rPr lang="en-AU" dirty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three-fourth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929330"/>
          </a:xfrm>
        </p:spPr>
        <p:txBody>
          <a:bodyPr/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Peroneal artery </a:t>
            </a:r>
            <a:r>
              <a:rPr lang="en-AU" dirty="0">
                <a:latin typeface="Arial" pitchFamily="34" charset="0"/>
                <a:cs typeface="Arial" pitchFamily="34" charset="0"/>
              </a:rPr>
              <a:t>descends along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 crest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Nutrient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, a branch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peroneal artery</a:t>
            </a:r>
            <a:r>
              <a:rPr lang="en-AU" dirty="0">
                <a:latin typeface="Arial" pitchFamily="34" charset="0"/>
                <a:cs typeface="Arial" pitchFamily="34" charset="0"/>
              </a:rPr>
              <a:t>, enters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nutrient foramen </a:t>
            </a:r>
            <a:r>
              <a:rPr lang="en-AU" dirty="0">
                <a:latin typeface="Arial" pitchFamily="34" charset="0"/>
                <a:cs typeface="Arial" pitchFamily="34" charset="0"/>
              </a:rPr>
              <a:t>present just above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middle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surface</a:t>
            </a:r>
            <a:r>
              <a:rPr lang="en-AU" dirty="0">
                <a:latin typeface="Arial" pitchFamily="34" charset="0"/>
                <a:cs typeface="Arial" pitchFamily="34" charset="0"/>
              </a:rPr>
              <a:t>. Nutrient canal 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directed downward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643602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b="1" dirty="0">
                <a:latin typeface="Arial" pitchFamily="34" charset="0"/>
                <a:cs typeface="Arial" pitchFamily="34" charset="0"/>
              </a:rPr>
              <a:t>Lower End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</a:t>
            </a:r>
            <a:r>
              <a:rPr lang="en-AU" dirty="0">
                <a:latin typeface="Arial" pitchFamily="34" charset="0"/>
                <a:cs typeface="Arial" pitchFamily="34" charset="0"/>
              </a:rPr>
              <a:t> is expanded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anteroposteriorly</a:t>
            </a:r>
            <a:r>
              <a:rPr lang="en-AU" dirty="0">
                <a:latin typeface="Arial" pitchFamily="34" charset="0"/>
                <a:cs typeface="Arial" pitchFamily="34" charset="0"/>
              </a:rPr>
              <a:t> to form 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malleolus</a:t>
            </a:r>
            <a:r>
              <a:rPr lang="en-AU" dirty="0">
                <a:latin typeface="Arial" pitchFamily="34" charset="0"/>
                <a:cs typeface="Arial" pitchFamily="34" charset="0"/>
              </a:rPr>
              <a:t>, which presents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four surfaces</a:t>
            </a:r>
            <a:r>
              <a:rPr lang="en-AU" dirty="0">
                <a:latin typeface="Arial" pitchFamily="34" charset="0"/>
                <a:cs typeface="Arial" pitchFamily="34" charset="0"/>
              </a:rPr>
              <a:t>-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medial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Anterior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rough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round</a:t>
            </a:r>
            <a:r>
              <a:rPr lang="en-AU" dirty="0">
                <a:latin typeface="Arial" pitchFamily="34" charset="0"/>
                <a:cs typeface="Arial" pitchFamily="34" charset="0"/>
              </a:rPr>
              <a:t>. It 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anterior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talofibular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notch</a:t>
            </a:r>
            <a:r>
              <a:rPr lang="en-AU" dirty="0">
                <a:latin typeface="Arial" pitchFamily="34" charset="0"/>
                <a:cs typeface="Arial" pitchFamily="34" charset="0"/>
              </a:rPr>
              <a:t> at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border</a:t>
            </a:r>
            <a:r>
              <a:rPr lang="en-AU" dirty="0">
                <a:latin typeface="Arial" pitchFamily="34" charset="0"/>
                <a:cs typeface="Arial" pitchFamily="34" charset="0"/>
              </a:rPr>
              <a:t> provides attachment to the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calcaneofibular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285860"/>
            <a:ext cx="6215106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00166" y="6215082"/>
            <a:ext cx="6143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Special features of the lower end of right fibula (medial aspect).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785818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571480"/>
            <a:ext cx="8643998" cy="6072230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Posterior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presents a groove, which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lodges tendons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peroneus brevis </a:t>
            </a:r>
            <a:r>
              <a:rPr lang="en-AU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peroneus longus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peroneus longus </a:t>
            </a:r>
            <a:r>
              <a:rPr lang="en-AU" dirty="0">
                <a:latin typeface="Arial" pitchFamily="34" charset="0"/>
                <a:cs typeface="Arial" pitchFamily="34" charset="0"/>
              </a:rPr>
              <a:t>being superficial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peroneus brevis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Medial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presents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triangular articular surface</a:t>
            </a:r>
            <a:r>
              <a:rPr lang="en-AU" dirty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front </a:t>
            </a:r>
            <a:r>
              <a:rPr lang="en-AU" dirty="0">
                <a:latin typeface="Arial" pitchFamily="34" charset="0"/>
                <a:cs typeface="Arial" pitchFamily="34" charset="0"/>
              </a:rPr>
              <a:t>and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depression</a:t>
            </a:r>
            <a:r>
              <a:rPr lang="en-AU" dirty="0">
                <a:latin typeface="Arial" pitchFamily="34" charset="0"/>
                <a:cs typeface="Arial" pitchFamily="34" charset="0"/>
              </a:rPr>
              <a:t> (malleolar fossa) below and behind it.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malleolar fossa </a:t>
            </a:r>
            <a:r>
              <a:rPr lang="en-AU" dirty="0">
                <a:latin typeface="Arial" pitchFamily="34" charset="0"/>
                <a:cs typeface="Arial" pitchFamily="34" charset="0"/>
              </a:rPr>
              <a:t>provides attachment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tibiofibular ligament </a:t>
            </a:r>
            <a:r>
              <a:rPr lang="en-AU" dirty="0">
                <a:latin typeface="Arial" pitchFamily="34" charset="0"/>
                <a:cs typeface="Arial" pitchFamily="34" charset="0"/>
              </a:rPr>
              <a:t>and its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posterior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talofibular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ligament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Lateral surface </a:t>
            </a:r>
            <a:r>
              <a:rPr lang="en-AU" dirty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triangular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subcutaneous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OSSIFICATION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401080" cy="607223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sz="3500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fibula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 ossifies from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three centres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: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one primary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and </a:t>
            </a:r>
            <a:r>
              <a:rPr lang="en-AU" sz="3500" b="1" dirty="0">
                <a:latin typeface="Arial" pitchFamily="34" charset="0"/>
                <a:cs typeface="Arial" pitchFamily="34" charset="0"/>
              </a:rPr>
              <a:t>two secondary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500" b="1" dirty="0">
                <a:latin typeface="Arial" pitchFamily="34" charset="0"/>
                <a:cs typeface="Arial" pitchFamily="34" charset="0"/>
              </a:rPr>
              <a:t>Primary centre 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appears in the middle of the shaft: at the age of eighth week of IUL.</a:t>
            </a:r>
          </a:p>
          <a:p>
            <a:pPr algn="just"/>
            <a:r>
              <a:rPr lang="en-AU" sz="3500" b="1" dirty="0">
                <a:latin typeface="Arial" pitchFamily="34" charset="0"/>
                <a:cs typeface="Arial" pitchFamily="34" charset="0"/>
              </a:rPr>
              <a:t>Secondary centres</a:t>
            </a:r>
            <a:r>
              <a:rPr lang="en-AU" sz="3500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500" dirty="0">
                <a:latin typeface="Arial" pitchFamily="34" charset="0"/>
                <a:cs typeface="Arial" pitchFamily="34" charset="0"/>
              </a:rPr>
              <a:t>For the upper end: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Appearance:3–4 years.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Fusion with the shaft:20 years.</a:t>
            </a:r>
          </a:p>
          <a:p>
            <a:pPr algn="just">
              <a:buFont typeface="Wingdings" pitchFamily="2" charset="2"/>
              <a:buChar char="§"/>
            </a:pPr>
            <a:r>
              <a:rPr lang="en-AU" sz="3500" dirty="0">
                <a:latin typeface="Arial" pitchFamily="34" charset="0"/>
                <a:cs typeface="Arial" pitchFamily="34" charset="0"/>
              </a:rPr>
              <a:t>For the lower end: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Appearance:1–2 years.</a:t>
            </a:r>
          </a:p>
          <a:p>
            <a:pPr algn="just"/>
            <a:r>
              <a:rPr lang="en-AU" sz="3500" dirty="0">
                <a:latin typeface="Arial" pitchFamily="34" charset="0"/>
                <a:cs typeface="Arial" pitchFamily="34" charset="0"/>
              </a:rPr>
              <a:t>Fusion with the shaft:18 years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Bone grafts</a:t>
            </a:r>
            <a:r>
              <a:rPr lang="en-AU" dirty="0">
                <a:latin typeface="Arial" pitchFamily="34" charset="0"/>
                <a:cs typeface="Arial" pitchFamily="34" charset="0"/>
              </a:rPr>
              <a:t>: Since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fibula</a:t>
            </a:r>
            <a:r>
              <a:rPr lang="en-AU" dirty="0">
                <a:latin typeface="Arial" pitchFamily="34" charset="0"/>
                <a:cs typeface="Arial" pitchFamily="34" charset="0"/>
              </a:rPr>
              <a:t> does not take part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transmission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body weight</a:t>
            </a:r>
            <a:r>
              <a:rPr lang="en-AU" dirty="0">
                <a:latin typeface="Arial" pitchFamily="34" charset="0"/>
                <a:cs typeface="Arial" pitchFamily="34" charset="0"/>
              </a:rPr>
              <a:t>, it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common source of bone </a:t>
            </a:r>
            <a:r>
              <a:rPr lang="en-AU" dirty="0">
                <a:latin typeface="Arial" pitchFamily="34" charset="0"/>
                <a:cs typeface="Arial" pitchFamily="34" charset="0"/>
              </a:rPr>
              <a:t>for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grafting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Fibular fracture</a:t>
            </a:r>
            <a:r>
              <a:rPr lang="en-AU" dirty="0">
                <a:latin typeface="Arial" pitchFamily="34" charset="0"/>
                <a:cs typeface="Arial" pitchFamily="34" charset="0"/>
              </a:rPr>
              <a:t>: The fibula is commonly fractured,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2 to 5 cm proximal</a:t>
            </a:r>
            <a:r>
              <a:rPr lang="en-AU" dirty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distal end</a:t>
            </a:r>
            <a:r>
              <a:rPr lang="en-AU" dirty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lateral malleolus</a:t>
            </a:r>
            <a:r>
              <a:rPr lang="en-AU" dirty="0">
                <a:latin typeface="Arial" pitchFamily="34" charset="0"/>
                <a:cs typeface="Arial" pitchFamily="34" charset="0"/>
              </a:rPr>
              <a:t>. It is often associated with ‘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fracture dislocation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ankle joint</a:t>
            </a:r>
            <a:r>
              <a:rPr lang="en-AU" dirty="0">
                <a:latin typeface="Arial" pitchFamily="34" charset="0"/>
                <a:cs typeface="Arial" pitchFamily="34" charset="0"/>
              </a:rPr>
              <a:t>’.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SKELETON OF THE FOOT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643998" cy="592933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skeleton of the foot </a:t>
            </a:r>
            <a:r>
              <a:rPr lang="en-AU" dirty="0">
                <a:latin typeface="Arial" pitchFamily="34" charset="0"/>
                <a:cs typeface="Arial" pitchFamily="34" charset="0"/>
              </a:rPr>
              <a:t>from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behind forward </a:t>
            </a:r>
            <a:r>
              <a:rPr lang="en-AU" dirty="0">
                <a:latin typeface="Arial" pitchFamily="34" charset="0"/>
                <a:cs typeface="Arial" pitchFamily="34" charset="0"/>
              </a:rPr>
              <a:t>consists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following bones</a:t>
            </a:r>
            <a:r>
              <a:rPr lang="en-AU" dirty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dirty="0" err="1">
                <a:latin typeface="Arial" pitchFamily="34" charset="0"/>
                <a:cs typeface="Arial" pitchFamily="34" charset="0"/>
              </a:rPr>
              <a:t>Tarsals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Metatarsals.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Phalanges.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>
                <a:latin typeface="Arial" pitchFamily="34" charset="0"/>
                <a:cs typeface="Arial" pitchFamily="34" charset="0"/>
              </a:rPr>
              <a:t>TARSAL BONES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These are short bones which together form tarsus. These are arranged in three rows: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Proximal row </a:t>
            </a:r>
            <a:r>
              <a:rPr lang="en-AU" dirty="0">
                <a:latin typeface="Arial" pitchFamily="34" charset="0"/>
                <a:cs typeface="Arial" pitchFamily="34" charset="0"/>
              </a:rPr>
              <a:t>consists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talus</a:t>
            </a:r>
            <a:r>
              <a:rPr lang="en-AU" dirty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calcaneus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Middle row </a:t>
            </a:r>
            <a:r>
              <a:rPr lang="en-AU" dirty="0">
                <a:latin typeface="Arial" pitchFamily="34" charset="0"/>
                <a:cs typeface="Arial" pitchFamily="34" charset="0"/>
              </a:rPr>
              <a:t>consists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navicular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>
                <a:latin typeface="Arial" pitchFamily="34" charset="0"/>
                <a:cs typeface="Arial" pitchFamily="34" charset="0"/>
              </a:rPr>
              <a:t>Distal row </a:t>
            </a:r>
            <a:r>
              <a:rPr lang="en-AU" dirty="0">
                <a:latin typeface="Arial" pitchFamily="34" charset="0"/>
                <a:cs typeface="Arial" pitchFamily="34" charset="0"/>
              </a:rPr>
              <a:t>consists 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three cuneiforms </a:t>
            </a:r>
            <a:r>
              <a:rPr lang="en-AU" dirty="0">
                <a:latin typeface="Arial" pitchFamily="34" charset="0"/>
                <a:cs typeface="Arial" pitchFamily="34" charset="0"/>
              </a:rPr>
              <a:t>(medial, intermediate, and lateral)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cuboid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96198" y="571480"/>
            <a:ext cx="7090577" cy="5554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14282" y="6143644"/>
            <a:ext cx="1107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General features of the skeleton of the foot: A, dorsal aspect; B, plantar aspect 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(IC = intermediate cuneiform, LC = lateral cuneiform).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6144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537A-E5F0-411C-83C1-D51FB51B6D5D}" type="slidenum">
              <a:rPr lang="en-US" smtClean="0"/>
              <a:pPr/>
              <a:t>152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8821</Words>
  <Application>Microsoft Office PowerPoint</Application>
  <PresentationFormat>On-screen Show (4:3)</PresentationFormat>
  <Paragraphs>833</Paragraphs>
  <Slides>152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57" baseType="lpstr">
      <vt:lpstr>Arial</vt:lpstr>
      <vt:lpstr>Arial Black</vt:lpstr>
      <vt:lpstr>Calibri</vt:lpstr>
      <vt:lpstr>Wingdings</vt:lpstr>
      <vt:lpstr>Office Theme</vt:lpstr>
      <vt:lpstr>Osteology of the lower limb</vt:lpstr>
      <vt:lpstr>                  OUTLINE</vt:lpstr>
      <vt:lpstr>INTRODUCTION</vt:lpstr>
      <vt:lpstr>ANATOMICAL POSITION AND SIDE DETERMINATION</vt:lpstr>
      <vt:lpstr>PowerPoint Presentation</vt:lpstr>
      <vt:lpstr>FEATURES AND ATTACHMENTS</vt:lpstr>
      <vt:lpstr>Ends of the Ilium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Cont’d</vt:lpstr>
      <vt:lpstr>Cont’d</vt:lpstr>
      <vt:lpstr>Cont’d</vt:lpstr>
      <vt:lpstr>Cont’d</vt:lpstr>
      <vt:lpstr>Cont’d</vt:lpstr>
      <vt:lpstr>Surfaces of the Ilium</vt:lpstr>
      <vt:lpstr>Cont’d</vt:lpstr>
      <vt:lpstr>Cont’d</vt:lpstr>
      <vt:lpstr>Sacropelvic surface</vt:lpstr>
      <vt:lpstr>Cont’d</vt:lpstr>
      <vt:lpstr>Ischium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     Pubis (Pubic Bone)</vt:lpstr>
      <vt:lpstr>Cont’d</vt:lpstr>
      <vt:lpstr>                 Cont’d</vt:lpstr>
      <vt:lpstr>Cont’d</vt:lpstr>
      <vt:lpstr>Cont’d</vt:lpstr>
      <vt:lpstr>Cont’d</vt:lpstr>
      <vt:lpstr>   Cont’d</vt:lpstr>
      <vt:lpstr> Cont’d</vt:lpstr>
      <vt:lpstr>OBTURATOR FORAMEN</vt:lpstr>
      <vt:lpstr>ACETABULUM</vt:lpstr>
      <vt:lpstr>Cont’d</vt:lpstr>
      <vt:lpstr>Cont’d</vt:lpstr>
      <vt:lpstr>Differences between the male and female hip bones</vt:lpstr>
      <vt:lpstr>Ossification of the hip bone</vt:lpstr>
      <vt:lpstr>PowerPoint Presentation</vt:lpstr>
      <vt:lpstr>FEMUR</vt:lpstr>
      <vt:lpstr>PARTS</vt:lpstr>
      <vt:lpstr>Cont’d</vt:lpstr>
      <vt:lpstr>Cont’d</vt:lpstr>
      <vt:lpstr>PowerPoint Presentation</vt:lpstr>
      <vt:lpstr>FEATURES AND ATTACHMENTS</vt:lpstr>
      <vt:lpstr>Cont’d</vt:lpstr>
      <vt:lpstr>PowerPoint Presentation</vt:lpstr>
      <vt:lpstr>Cont’d</vt:lpstr>
      <vt:lpstr>Cont’d</vt:lpstr>
      <vt:lpstr>PowerPoint Presentation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Attachments</vt:lpstr>
      <vt:lpstr>Cont’d</vt:lpstr>
      <vt:lpstr>Cont’d</vt:lpstr>
      <vt:lpstr>PowerPoint Presentation</vt:lpstr>
      <vt:lpstr>Cont’d</vt:lpstr>
      <vt:lpstr>Cont’d</vt:lpstr>
      <vt:lpstr>Cont’d</vt:lpstr>
      <vt:lpstr>Cont’d</vt:lpstr>
      <vt:lpstr>Cont’d</vt:lpstr>
      <vt:lpstr>OSSIFICATION</vt:lpstr>
      <vt:lpstr>Ossification of the femur</vt:lpstr>
      <vt:lpstr>APPLIED ANATOMY</vt:lpstr>
      <vt:lpstr>Cont’d</vt:lpstr>
      <vt:lpstr>PATELLA</vt:lpstr>
      <vt:lpstr>ANATOMICAL POSITION AND SIDE DETERMINATION</vt:lpstr>
      <vt:lpstr>FEATURES AND ATTACHMENTS</vt:lpstr>
      <vt:lpstr>Cont’d</vt:lpstr>
      <vt:lpstr>PowerPoint Presentation</vt:lpstr>
      <vt:lpstr>Cont’d</vt:lpstr>
      <vt:lpstr>Cont’d</vt:lpstr>
      <vt:lpstr>Cont’d</vt:lpstr>
      <vt:lpstr>Cont’d</vt:lpstr>
      <vt:lpstr>Cont’d</vt:lpstr>
      <vt:lpstr>PowerPoint Presentation</vt:lpstr>
      <vt:lpstr>OSSIFICATION</vt:lpstr>
      <vt:lpstr>APPLIED ANATOMY</vt:lpstr>
      <vt:lpstr>Cont’d</vt:lpstr>
      <vt:lpstr>Cont’d</vt:lpstr>
      <vt:lpstr>TIBIA</vt:lpstr>
      <vt:lpstr>Cont’d</vt:lpstr>
      <vt:lpstr>Cont’d</vt:lpstr>
      <vt:lpstr>ANATOMICAL POSITION AND SIDE DETERMINATION</vt:lpstr>
      <vt:lpstr>FEATURES AND ATTACHMENTS 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PowerPoint Presentation</vt:lpstr>
      <vt:lpstr>PowerPoint Presentation</vt:lpstr>
      <vt:lpstr>Cont’d</vt:lpstr>
      <vt:lpstr>PowerPoint Presentation</vt:lpstr>
      <vt:lpstr>Cont’d</vt:lpstr>
      <vt:lpstr>PowerPoint Presentation</vt:lpstr>
      <vt:lpstr>PowerPoint Presentation</vt:lpstr>
      <vt:lpstr>PowerPoint Presentation</vt:lpstr>
      <vt:lpstr>Cont’d</vt:lpstr>
      <vt:lpstr>Cont’d</vt:lpstr>
      <vt:lpstr>Cont’d</vt:lpstr>
      <vt:lpstr>Cont’d</vt:lpstr>
      <vt:lpstr>Cont’d</vt:lpstr>
      <vt:lpstr>Cont’d</vt:lpstr>
      <vt:lpstr>CAPSULAR ATTACHMENTS AT THE UPPER AND LOWER ENDS OF TIBIA</vt:lpstr>
      <vt:lpstr>Cont’d</vt:lpstr>
      <vt:lpstr>OSSIFICATION</vt:lpstr>
      <vt:lpstr>APPLIED ANATOMY</vt:lpstr>
      <vt:lpstr>Cont’d</vt:lpstr>
      <vt:lpstr>FIBULA</vt:lpstr>
      <vt:lpstr>PARTS</vt:lpstr>
      <vt:lpstr>Cont’d</vt:lpstr>
      <vt:lpstr>SIDE DETERMINATION AND ANATOMICAL POSITION</vt:lpstr>
      <vt:lpstr>PowerPoint Presentation</vt:lpstr>
      <vt:lpstr>FEATURES AND ATTACHMENTS</vt:lpstr>
      <vt:lpstr>PowerPoint Presentation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Cont’d</vt:lpstr>
      <vt:lpstr>PowerPoint Presentation</vt:lpstr>
      <vt:lpstr>Cont’d</vt:lpstr>
      <vt:lpstr>OSSIFICATION</vt:lpstr>
      <vt:lpstr>APPLIED ANATOMY</vt:lpstr>
      <vt:lpstr>SKELETON OF THE FOOT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Osteology of the lower limb</dc:title>
  <dc:creator>Dr. Ojewale</dc:creator>
  <cp:lastModifiedBy>dell</cp:lastModifiedBy>
  <cp:revision>6</cp:revision>
  <dcterms:created xsi:type="dcterms:W3CDTF">2022-06-01T11:04:45Z</dcterms:created>
  <dcterms:modified xsi:type="dcterms:W3CDTF">2025-01-20T10:04:36Z</dcterms:modified>
</cp:coreProperties>
</file>