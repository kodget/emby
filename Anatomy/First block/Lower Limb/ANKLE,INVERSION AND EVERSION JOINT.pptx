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66" r:id="rId10"/>
    <p:sldId id="268" r:id="rId11"/>
    <p:sldId id="270" r:id="rId12"/>
    <p:sldId id="269" r:id="rId13"/>
    <p:sldId id="271" r:id="rId14"/>
    <p:sldId id="272" r:id="rId15"/>
    <p:sldId id="273" r:id="rId16"/>
    <p:sldId id="274" r:id="rId17"/>
    <p:sldId id="275" r:id="rId18"/>
    <p:sldId id="281" r:id="rId19"/>
    <p:sldId id="283" r:id="rId20"/>
    <p:sldId id="282" r:id="rId21"/>
    <p:sldId id="276" r:id="rId22"/>
    <p:sldId id="277" r:id="rId23"/>
    <p:sldId id="278" r:id="rId24"/>
    <p:sldId id="279" r:id="rId25"/>
    <p:sldId id="280" r:id="rId26"/>
    <p:sldId id="28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A0575-7737-8791-796C-D5D26C778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EC542-261C-946B-A76F-00D8385B9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866CA-222A-C657-7494-2DA222823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BB3D2-9E6D-ACC9-0E30-B64E7B2F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9F4E1-22C8-B586-901B-9918E4E24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0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2F4C-1627-13C3-5612-27B5AFFAB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0CE7C-858D-B013-FDE5-66435124F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64962-612D-EE7F-C675-E08CE915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BF530-5224-6EF2-B28A-C0354FCD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06670-5C88-7EC5-5662-3D6F7B1F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56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F472-6FB2-7A6E-333B-9429DA2D2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C3C54-1A3E-35A2-A7E0-41C7A8A17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C811A-F6DB-ACB3-A4A1-59855F583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A994D-FE5D-B61F-5227-2745A972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01266-80C1-1B2F-1946-46FE05BE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2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E0A4-225C-0C07-14BB-F192AE04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C75DF-7844-9308-0062-07B803FCE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9DAF5-B236-476B-4D3D-7434BC3A7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C2E38-B175-D436-C38F-807FDC078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0D30A-6E41-8A57-B441-AB52785D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29169-60C4-F1FB-9F32-A9AFA9D90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6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D980D-349B-793E-B60B-461739E99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08E28-674C-9370-C87A-1E952053E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ACA6D-D3CB-B0B6-1BFC-3B9D16F78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D034E-326D-8953-93BD-E02EC2185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68B163-DCC9-9873-C1B3-45593671C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711F8-B78A-14C9-E27D-48B75841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ACC7AD-9D2A-A27B-3933-56DF518A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5B33C8-CB12-AC27-5208-819FC3A2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23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60F8-8CBB-CF11-610A-C89B05B0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08C78-6D2A-8D5B-BF61-54BA40E5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52ABE-A52D-2299-C503-15D39560B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CFB94-9A8A-2047-272D-A37A1E19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94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9C11ED-3240-BC07-9771-F003A1EE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AE7827-9B31-77F5-5D8C-9C69F0D7E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9CEAC-72AB-1627-6C12-E87143F1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26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3636-FA8B-94E6-245B-AA7E9506C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4E1AD-894F-A7EA-DB4A-17427F68A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B4C20-EBC1-B191-214E-04CE48014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A3968-EDEE-529E-6C31-9BD259A3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7148A-1B84-5F59-25E2-ABF688C3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A9381-0154-B5FE-E1F4-89E95057B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7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2501-AAA1-B377-854A-D1090BB30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07A3E7-72FC-949C-7B94-143C0D60B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060B1-5E99-31B8-7BD6-8D5AD00FB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51D1A-2E71-5B4D-3C51-E93EC21B4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C81D6-0AC8-32FF-712D-57EBDEAE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F849D-386E-6410-616F-1C165427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0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F8D69-361D-36EE-B2CB-C864FA7C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75321-6E16-68C8-0810-E929803CE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10044-0DC2-1A07-A255-EA56EB84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F9246-C649-4734-B382-B1CCCA985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1E164-0411-B440-C2D6-2B08DBA0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1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4D9767-734F-90E1-0140-98298C590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C6894-A9D8-C1C5-7259-CD9B7218A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F18B4-CFC1-8158-F84C-3621D821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6068F-F6C6-1C52-ED42-A3786CFA3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3F821-3521-5F66-32C2-4559205C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09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0829A-2021-4E0F-4F9D-F3EAA71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678AE-2FB5-4B36-FFD1-AC0020FA7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36E12-B2D1-18A0-3686-DD3D90886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DAAA8-6C98-4AA6-B6F0-8460FBE10A4C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D1CCB-E227-22F2-A6FD-67BE2EEFE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B9C94-FC7E-2E20-8E44-8F3EC4B33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86037-4402-4CCB-A6CB-9C507982C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6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79C44-03F1-DDCC-B182-F159E27BE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87595"/>
          </a:xfrm>
        </p:spPr>
        <p:txBody>
          <a:bodyPr/>
          <a:lstStyle/>
          <a:p>
            <a:pPr algn="ctr"/>
            <a:r>
              <a:rPr lang="en-US" dirty="0"/>
              <a:t>ANKLE, INVERSION AND EVERSION JOINTS</a:t>
            </a:r>
            <a:br>
              <a:rPr lang="en-US" dirty="0"/>
            </a:br>
            <a:r>
              <a:rPr lang="en-US" dirty="0"/>
              <a:t>BY</a:t>
            </a:r>
            <a:br>
              <a:rPr lang="en-US" dirty="0"/>
            </a:br>
            <a:r>
              <a:rPr lang="en-US" dirty="0"/>
              <a:t>DR. OGWUCHE ELIJAH</a:t>
            </a:r>
            <a:br>
              <a:rPr lang="en-US" dirty="0"/>
            </a:br>
            <a:r>
              <a:rPr lang="en-US" dirty="0"/>
              <a:t>(BSc. MSc. MB,BS)</a:t>
            </a:r>
            <a:br>
              <a:rPr lang="en-US" dirty="0"/>
            </a:br>
            <a:r>
              <a:rPr lang="en-US" dirty="0"/>
              <a:t>LAGOS STATE UNIVERSITY COLLEGE OF MEDICINE (LASUCOM),IKEJA.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57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DE57-A609-5D1D-D051-E74B07F80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43542-3D93-E03E-530A-FBB15ABBA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ARTICULATING SURFACES</a:t>
            </a:r>
          </a:p>
          <a:p>
            <a:r>
              <a:rPr lang="en-US" dirty="0"/>
              <a:t>ARTICULAR CAPSULE</a:t>
            </a:r>
          </a:p>
          <a:p>
            <a:r>
              <a:rPr lang="en-US" dirty="0"/>
              <a:t>SYNOVIAL CAPSULE</a:t>
            </a:r>
          </a:p>
          <a:p>
            <a:r>
              <a:rPr lang="en-US" dirty="0"/>
              <a:t>LIGAMENTS</a:t>
            </a:r>
          </a:p>
          <a:p>
            <a:r>
              <a:rPr lang="en-US" dirty="0"/>
              <a:t>MOVEMENT</a:t>
            </a:r>
          </a:p>
          <a:p>
            <a:r>
              <a:rPr lang="en-US" dirty="0"/>
              <a:t>STABILITY</a:t>
            </a:r>
          </a:p>
          <a:p>
            <a:r>
              <a:rPr lang="en-US" dirty="0"/>
              <a:t>BLOOD SUPPLY</a:t>
            </a:r>
          </a:p>
          <a:p>
            <a:r>
              <a:rPr lang="en-US" dirty="0"/>
              <a:t>NERVE SUPPLY</a:t>
            </a:r>
          </a:p>
          <a:p>
            <a:r>
              <a:rPr lang="en-US" dirty="0"/>
              <a:t>BOHLER’S ANGLE</a:t>
            </a:r>
          </a:p>
          <a:p>
            <a:r>
              <a:rPr lang="en-US" dirty="0"/>
              <a:t>APPLIED ANATOMY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21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5654B-7FAD-FE4E-2A85-F0409E5F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11C84-240C-8C94-AE92-F17066738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ankle joint is a hinge type of synovial joint</a:t>
            </a:r>
          </a:p>
          <a:p>
            <a:r>
              <a:rPr lang="en-US" dirty="0"/>
              <a:t>Also called talocrural joint</a:t>
            </a:r>
          </a:p>
          <a:p>
            <a:r>
              <a:rPr lang="en-US" dirty="0"/>
              <a:t>Formed  by three bones; tibia, fibula and talus</a:t>
            </a:r>
          </a:p>
          <a:p>
            <a:r>
              <a:rPr lang="en-US" dirty="0"/>
              <a:t>Inferior ends of tibia and fibular and the superior surface of talus</a:t>
            </a:r>
          </a:p>
          <a:p>
            <a:r>
              <a:rPr lang="en-US" dirty="0"/>
              <a:t>The tibia and fibula form a bracket socket called MORTISE</a:t>
            </a:r>
          </a:p>
          <a:p>
            <a:r>
              <a:rPr lang="en-US" dirty="0"/>
              <a:t>The talus fits into the mortise to form the ankle joint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6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8BB8E-4528-1B31-A82B-6697882AF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ARTICULATING SURFACES</a:t>
            </a:r>
          </a:p>
        </p:txBody>
      </p:sp>
      <p:pic>
        <p:nvPicPr>
          <p:cNvPr id="1026" name="Picture 2" descr="Ankle Joint Anatomy: Talocrural, Subtalar and Tibiofibular Joints -  Brookbush Institute">
            <a:extLst>
              <a:ext uri="{FF2B5EF4-FFF2-40B4-BE49-F238E27FC236}">
                <a16:creationId xmlns:a16="http://schemas.microsoft.com/office/drawing/2014/main" id="{338638E1-2019-7DF0-E827-CE3FB9B3EB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690688"/>
            <a:ext cx="8961120" cy="505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245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27D22-8A98-638B-5180-FF0B2750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ARTICULATING SURFACES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8FFB5-6CCA-73AB-405B-3B1150D5B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trochlea notch of the talus fits into the deep bracket socket (mortise) formed by the inferior ends of tibia and fibula</a:t>
            </a:r>
          </a:p>
          <a:p>
            <a:r>
              <a:rPr lang="en-US" dirty="0"/>
              <a:t>The articulating surfaces are covered by hyaline cartilage</a:t>
            </a:r>
          </a:p>
          <a:p>
            <a:r>
              <a:rPr lang="en-US" dirty="0"/>
              <a:t>The trochlea bears on the malleoli and the distal end of the tibia bears a notch</a:t>
            </a:r>
          </a:p>
        </p:txBody>
      </p:sp>
    </p:spTree>
    <p:extLst>
      <p:ext uri="{BB962C8B-B14F-4D97-AF65-F5344CB8AC3E}">
        <p14:creationId xmlns:p14="http://schemas.microsoft.com/office/powerpoint/2010/main" val="3637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A3F9-56A2-A44D-8403-FF6C60C2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ARTICULATING SURFACES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79BE08-EB71-228F-7C17-CD8B44CC1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8400" y="1690688"/>
            <a:ext cx="9570720" cy="495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70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431A-FB95-B2AC-E414-47A7CC98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ARTICULAR CAPSULE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50559-CAAB-D1DF-6246-A02CC6D05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articulating surface is lined by fibrous capsule</a:t>
            </a:r>
          </a:p>
          <a:p>
            <a:r>
              <a:rPr lang="en-US" dirty="0"/>
              <a:t>Attached to the articular margins of all three bones </a:t>
            </a:r>
          </a:p>
          <a:p>
            <a:r>
              <a:rPr lang="en-US" dirty="0"/>
              <a:t>Except the anterior part of the talus</a:t>
            </a:r>
          </a:p>
          <a:p>
            <a:r>
              <a:rPr lang="en-US" dirty="0"/>
              <a:t>It is attached to the dorsum part of neck of talus</a:t>
            </a:r>
          </a:p>
        </p:txBody>
      </p:sp>
    </p:spTree>
    <p:extLst>
      <p:ext uri="{BB962C8B-B14F-4D97-AF65-F5344CB8AC3E}">
        <p14:creationId xmlns:p14="http://schemas.microsoft.com/office/powerpoint/2010/main" val="1321559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ADAF-466D-6858-90C2-9AA8440BD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ANKLE JOINT CAPSULE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D91E15-3FDE-3B0D-02AD-474AA04A3D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5520" y="1574800"/>
            <a:ext cx="779272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53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DE4C7-92BC-FE57-6DD2-B2A4ACF1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SYNOVIAL CAPSULE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73A28-4CB6-66C8-C4DE-0A5A6B1AC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lines the fibrous capsule </a:t>
            </a:r>
          </a:p>
          <a:p>
            <a:r>
              <a:rPr lang="en-US" dirty="0"/>
              <a:t>It is attached to the articular margin of the talus and intracapsular part of the neck</a:t>
            </a:r>
          </a:p>
          <a:p>
            <a:r>
              <a:rPr lang="en-US" dirty="0"/>
              <a:t>It is attached to all articular margins</a:t>
            </a:r>
          </a:p>
        </p:txBody>
      </p:sp>
    </p:spTree>
    <p:extLst>
      <p:ext uri="{BB962C8B-B14F-4D97-AF65-F5344CB8AC3E}">
        <p14:creationId xmlns:p14="http://schemas.microsoft.com/office/powerpoint/2010/main" val="205332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B2CC9-443D-BDDC-FBED-0298A9F5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LIGAMENTS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8279B-D12F-0200-393C-B4B613A97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Strong medial and lateral ligaments  strengthen the joint</a:t>
            </a:r>
          </a:p>
          <a:p>
            <a:pPr marL="0" indent="0">
              <a:buNone/>
            </a:pPr>
            <a:r>
              <a:rPr lang="en-US" u="sng" dirty="0"/>
              <a:t>Medial ligament</a:t>
            </a:r>
            <a:r>
              <a:rPr lang="en-US" dirty="0"/>
              <a:t>; This is also called deltoid ligament</a:t>
            </a:r>
          </a:p>
          <a:p>
            <a:pPr marL="0" indent="0">
              <a:buNone/>
            </a:pPr>
            <a:r>
              <a:rPr lang="en-US" dirty="0"/>
              <a:t>. Very strong triangular ligament</a:t>
            </a:r>
          </a:p>
          <a:p>
            <a:pPr marL="0" indent="0">
              <a:buNone/>
            </a:pPr>
            <a:r>
              <a:rPr lang="en-US" dirty="0"/>
              <a:t>. It is attached to medial malleolus and talus</a:t>
            </a:r>
          </a:p>
          <a:p>
            <a:pPr marL="0" indent="0">
              <a:buNone/>
            </a:pPr>
            <a:r>
              <a:rPr lang="en-US" dirty="0"/>
              <a:t>. It has 3 parts;</a:t>
            </a:r>
          </a:p>
          <a:p>
            <a:pPr marL="571500" indent="-571500">
              <a:buAutoNum type="romanLcPeriod"/>
            </a:pPr>
            <a:r>
              <a:rPr lang="en-US" dirty="0" err="1"/>
              <a:t>Tibionavicular</a:t>
            </a:r>
            <a:r>
              <a:rPr lang="en-US" dirty="0"/>
              <a:t> ligament</a:t>
            </a:r>
          </a:p>
          <a:p>
            <a:pPr marL="571500" indent="-571500">
              <a:buAutoNum type="romanLcPeriod"/>
            </a:pPr>
            <a:r>
              <a:rPr lang="en-US" dirty="0"/>
              <a:t>Anterior and posterior tibiotalar ligament</a:t>
            </a:r>
          </a:p>
          <a:p>
            <a:pPr marL="571500" indent="-571500">
              <a:buAutoNum type="romanLcPeriod"/>
            </a:pPr>
            <a:r>
              <a:rPr lang="en-US" dirty="0" err="1"/>
              <a:t>Tibiocalcanean</a:t>
            </a:r>
            <a:r>
              <a:rPr lang="en-US" dirty="0"/>
              <a:t> ligament</a:t>
            </a:r>
          </a:p>
          <a:p>
            <a:pPr marL="0" indent="0">
              <a:buNone/>
            </a:pPr>
            <a:r>
              <a:rPr lang="en-US" dirty="0"/>
              <a:t>.They hold the calcaneus and navicular bone against talus</a:t>
            </a:r>
          </a:p>
        </p:txBody>
      </p:sp>
    </p:spTree>
    <p:extLst>
      <p:ext uri="{BB962C8B-B14F-4D97-AF65-F5344CB8AC3E}">
        <p14:creationId xmlns:p14="http://schemas.microsoft.com/office/powerpoint/2010/main" val="4217505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B5C22-4322-C15B-6B5F-566EF9EB0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MEDIAL LIGAMENTS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113BB7-C2EF-42AA-D0DC-F5E2422C7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1825625"/>
            <a:ext cx="7437119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75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5504-11FC-E465-7418-03749EC3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LIGAMENTS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57427-73DE-CDB9-A083-177970927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Lateral ligament</a:t>
            </a:r>
            <a:r>
              <a:rPr lang="en-US" dirty="0"/>
              <a:t>; </a:t>
            </a:r>
          </a:p>
          <a:p>
            <a:pPr marL="0" indent="0">
              <a:buNone/>
            </a:pPr>
            <a:r>
              <a:rPr lang="en-US" dirty="0"/>
              <a:t>. Attach lateral malleolus to talus and calcaneus</a:t>
            </a:r>
          </a:p>
          <a:p>
            <a:pPr marL="0" indent="0">
              <a:buNone/>
            </a:pPr>
            <a:r>
              <a:rPr lang="en-US" dirty="0"/>
              <a:t>. It has 3 parts;</a:t>
            </a:r>
          </a:p>
          <a:p>
            <a:pPr marL="571500" indent="-571500">
              <a:buAutoNum type="romanLcPeriod"/>
            </a:pPr>
            <a:r>
              <a:rPr lang="en-US" dirty="0"/>
              <a:t>Anterior talofibular ligament</a:t>
            </a:r>
          </a:p>
          <a:p>
            <a:pPr marL="571500" indent="-571500">
              <a:buAutoNum type="romanLcPeriod"/>
            </a:pPr>
            <a:r>
              <a:rPr lang="en-US" dirty="0"/>
              <a:t>Posterior talofibular ligament</a:t>
            </a:r>
          </a:p>
          <a:p>
            <a:pPr marL="571500" indent="-571500">
              <a:buAutoNum type="romanLcPeriod"/>
            </a:pPr>
            <a:r>
              <a:rPr lang="en-US" dirty="0"/>
              <a:t>Calcaneofibular ligament</a:t>
            </a:r>
          </a:p>
        </p:txBody>
      </p:sp>
    </p:spTree>
    <p:extLst>
      <p:ext uri="{BB962C8B-B14F-4D97-AF65-F5344CB8AC3E}">
        <p14:creationId xmlns:p14="http://schemas.microsoft.com/office/powerpoint/2010/main" val="3214815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68587-C5C7-77B8-2764-DA6EE0F0A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LATERAL LIGAMENT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BEC40D-5E3B-8C14-BE4F-FDAC33252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3600" y="1825625"/>
            <a:ext cx="5364479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57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94E6-3332-C7F3-2AE4-46D1029D8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RELATIONS OF ANKLE JOINT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998F0-8F83-9271-B2D4-28F9CB6D9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ANTERIOR RELATIONS</a:t>
            </a:r>
            <a:r>
              <a:rPr lang="en-US" dirty="0"/>
              <a:t>; </a:t>
            </a:r>
          </a:p>
          <a:p>
            <a:pPr marL="514350" indent="-514350">
              <a:buAutoNum type="arabicPeriod"/>
            </a:pPr>
            <a:r>
              <a:rPr lang="en-US" dirty="0"/>
              <a:t>Muscles;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err="1"/>
              <a:t>i</a:t>
            </a:r>
            <a:r>
              <a:rPr lang="en-US" dirty="0"/>
              <a:t>. Tibialis anterior</a:t>
            </a:r>
          </a:p>
          <a:p>
            <a:pPr marL="0" indent="0">
              <a:buNone/>
            </a:pPr>
            <a:r>
              <a:rPr lang="en-US" dirty="0"/>
              <a:t>       ii. Extensor hallucis longus</a:t>
            </a:r>
          </a:p>
          <a:p>
            <a:pPr marL="0" indent="0">
              <a:buNone/>
            </a:pPr>
            <a:r>
              <a:rPr lang="en-US" dirty="0"/>
              <a:t>       iii. Extensor digitorum longus</a:t>
            </a:r>
          </a:p>
          <a:p>
            <a:pPr marL="0" indent="0">
              <a:buNone/>
            </a:pPr>
            <a:r>
              <a:rPr lang="en-US" dirty="0"/>
              <a:t>       iv. Peroneus tertius</a:t>
            </a:r>
          </a:p>
          <a:p>
            <a:pPr marL="514350" indent="-514350">
              <a:buAutoNum type="arabicPeriod" startAt="2"/>
            </a:pPr>
            <a:r>
              <a:rPr lang="en-US" dirty="0"/>
              <a:t>Anterior tibial vessels</a:t>
            </a:r>
          </a:p>
          <a:p>
            <a:pPr marL="514350" indent="-514350">
              <a:buAutoNum type="arabicPeriod" startAt="2"/>
            </a:pPr>
            <a:r>
              <a:rPr lang="en-US" dirty="0"/>
              <a:t>Deep peroneal nerves</a:t>
            </a:r>
          </a:p>
        </p:txBody>
      </p:sp>
    </p:spTree>
    <p:extLst>
      <p:ext uri="{BB962C8B-B14F-4D97-AF65-F5344CB8AC3E}">
        <p14:creationId xmlns:p14="http://schemas.microsoft.com/office/powerpoint/2010/main" val="4040581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AF71-C303-F902-64C4-F0877DF0F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ANTERIOR RELATIONS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FE9DDE-1FED-8775-44EE-09EB4AC6E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6320" y="1402080"/>
            <a:ext cx="88392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88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2213-AB28-DB90-9AB2-F2F634E2E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POSTERIOR RELATIONS OF ANKLE JOINT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CEE6E-ACF5-5EB5-29DB-92354F75F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u="sng" dirty="0"/>
              <a:t>POSTEROMEDIALLY; </a:t>
            </a:r>
          </a:p>
          <a:p>
            <a:pPr marL="514350" indent="-514350">
              <a:buAutoNum type="arabicPeriod"/>
            </a:pPr>
            <a:r>
              <a:rPr lang="en-US" dirty="0"/>
              <a:t>Muscles; 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i</a:t>
            </a:r>
            <a:r>
              <a:rPr lang="en-US" dirty="0"/>
              <a:t>. Tibialis posterior</a:t>
            </a:r>
          </a:p>
          <a:p>
            <a:pPr marL="0" indent="0">
              <a:buNone/>
            </a:pPr>
            <a:r>
              <a:rPr lang="en-US" dirty="0"/>
              <a:t>     ii. Flexor hallucis longus</a:t>
            </a:r>
          </a:p>
          <a:p>
            <a:pPr marL="0" indent="0">
              <a:buNone/>
            </a:pPr>
            <a:r>
              <a:rPr lang="en-US" dirty="0"/>
              <a:t>     iii. Flexor digitorum longus</a:t>
            </a:r>
          </a:p>
          <a:p>
            <a:pPr marL="514350" indent="-514350">
              <a:buAutoNum type="arabicPeriod" startAt="2"/>
            </a:pPr>
            <a:r>
              <a:rPr lang="en-US" dirty="0"/>
              <a:t>Posterior tibial vessels</a:t>
            </a:r>
          </a:p>
          <a:p>
            <a:pPr marL="514350" indent="-514350">
              <a:buAutoNum type="arabicPeriod" startAt="2"/>
            </a:pPr>
            <a:r>
              <a:rPr lang="en-US" dirty="0"/>
              <a:t>Tibial nerve</a:t>
            </a:r>
          </a:p>
          <a:p>
            <a:pPr marL="0" indent="0">
              <a:buNone/>
            </a:pPr>
            <a:r>
              <a:rPr lang="en-US" u="sng" dirty="0"/>
              <a:t>POSTEROLATERALLY;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- Peroneus longus</a:t>
            </a:r>
          </a:p>
          <a:p>
            <a:pPr marL="0" indent="0">
              <a:buNone/>
            </a:pPr>
            <a:r>
              <a:rPr lang="en-US" dirty="0"/>
              <a:t>   - peroneus brevis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97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EC23-B0C2-E8E0-8A15-2281468D9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9E0DA-B0A0-2740-1215-7E9A2B47E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ankle joint is capable of being flexed and extended</a:t>
            </a:r>
          </a:p>
          <a:p>
            <a:r>
              <a:rPr lang="en-US" dirty="0"/>
              <a:t>The 2 active movements are; dorsiflexion and plantarflexion</a:t>
            </a:r>
          </a:p>
          <a:p>
            <a:r>
              <a:rPr lang="en-US" dirty="0"/>
              <a:t>Dorsiflexion; the foot is raised</a:t>
            </a:r>
          </a:p>
          <a:p>
            <a:r>
              <a:rPr lang="en-US" dirty="0"/>
              <a:t>Planter flexion; the foot is depressed</a:t>
            </a:r>
          </a:p>
          <a:p>
            <a:r>
              <a:rPr lang="en-US" dirty="0"/>
              <a:t>Principle muscles acting at ankle joint include;</a:t>
            </a:r>
          </a:p>
          <a:p>
            <a:pPr marL="0" indent="0">
              <a:buNone/>
            </a:pPr>
            <a:r>
              <a:rPr lang="en-US" u="sng" dirty="0"/>
              <a:t>Dorsiflexors; </a:t>
            </a:r>
            <a:r>
              <a:rPr lang="en-US" dirty="0"/>
              <a:t>tibialis anterior, assisted by extensor digitorum longus,  extensor hallucis longus and peroneus tertius</a:t>
            </a:r>
          </a:p>
          <a:p>
            <a:pPr marL="0" indent="0">
              <a:buNone/>
            </a:pPr>
            <a:r>
              <a:rPr lang="en-US" u="sng" dirty="0" err="1"/>
              <a:t>Plantarflexors</a:t>
            </a:r>
            <a:r>
              <a:rPr lang="en-US" u="sng" dirty="0"/>
              <a:t>; </a:t>
            </a:r>
            <a:r>
              <a:rPr lang="en-US" dirty="0"/>
              <a:t>gastrocnemius and soleus, assisted by tibialis posterior, flexor hallucis longus and flexor digitorum longus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759240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F2D07-EAD2-1D8F-C170-32508805F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INVERSION AND EVERSION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DD2D0-CC11-D689-C22E-A15B3E31B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are side way movements that </a:t>
            </a:r>
            <a:r>
              <a:rPr lang="en-US" dirty="0" err="1"/>
              <a:t>occour</a:t>
            </a:r>
            <a:r>
              <a:rPr lang="en-US" dirty="0"/>
              <a:t> at the subtalar joint</a:t>
            </a:r>
          </a:p>
          <a:p>
            <a:r>
              <a:rPr lang="en-US" dirty="0"/>
              <a:t>The subtalar joint is formed between the talus and calcaneus</a:t>
            </a:r>
          </a:p>
          <a:p>
            <a:pPr marL="0" indent="0">
              <a:buNone/>
            </a:pPr>
            <a:r>
              <a:rPr lang="en-US" u="sng" dirty="0"/>
              <a:t>Eversion;</a:t>
            </a:r>
            <a:r>
              <a:rPr lang="en-US" dirty="0"/>
              <a:t> movement of the foot laterally. There is dorsiflexion and abduction.</a:t>
            </a:r>
          </a:p>
          <a:p>
            <a:pPr marL="0" indent="0">
              <a:buNone/>
            </a:pPr>
            <a:r>
              <a:rPr lang="en-US" dirty="0"/>
              <a:t>                Muscles; fibularis longus, fibularis tertius, fibularis brevis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/>
              <a:t>Inversion</a:t>
            </a:r>
            <a:r>
              <a:rPr lang="en-US" dirty="0"/>
              <a:t>; the foot is medially rotated, there is plantar flexion and adduction.</a:t>
            </a:r>
          </a:p>
          <a:p>
            <a:pPr marL="0" indent="0">
              <a:buNone/>
            </a:pPr>
            <a:r>
              <a:rPr lang="en-US" dirty="0"/>
              <a:t>                Muscles; tibialis anterior, tibialis posterior</a:t>
            </a:r>
          </a:p>
        </p:txBody>
      </p:sp>
    </p:spTree>
    <p:extLst>
      <p:ext uri="{BB962C8B-B14F-4D97-AF65-F5344CB8AC3E}">
        <p14:creationId xmlns:p14="http://schemas.microsoft.com/office/powerpoint/2010/main" val="392154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55CDB-6BE1-8D54-DDD6-ED1D3D96D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INVERSION AND EVERSION MOVEMENTS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C9DD25-5EDA-AD88-62F0-976ADDD55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120" y="1371600"/>
            <a:ext cx="9530080" cy="524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21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E2460-1912-CA46-636D-E93E5EB0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INVERSION AND EVERSION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37E8E9-5850-A1C5-AB18-502ECCD933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2960" y="1825625"/>
            <a:ext cx="749808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06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5604-9705-463D-8797-0DD711654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2FB70-65BA-1BB7-F8D3-C8FB35929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ankle joint is strengthened by ligaments and tendons that cross it bounded by thickenings of deep fascia retinacula.</a:t>
            </a:r>
          </a:p>
          <a:p>
            <a:r>
              <a:rPr lang="en-US" dirty="0"/>
              <a:t>It is most stable in dorsiflexion</a:t>
            </a:r>
          </a:p>
          <a:p>
            <a:r>
              <a:rPr lang="en-US" dirty="0"/>
              <a:t>Trochlea assists ankle in preventing posterior movement of foot in sudden jump.</a:t>
            </a:r>
          </a:p>
          <a:p>
            <a:r>
              <a:rPr lang="en-US" dirty="0"/>
              <a:t>The joint is unstable in plantar flexion</a:t>
            </a:r>
          </a:p>
        </p:txBody>
      </p:sp>
    </p:spTree>
    <p:extLst>
      <p:ext uri="{BB962C8B-B14F-4D97-AF65-F5344CB8AC3E}">
        <p14:creationId xmlns:p14="http://schemas.microsoft.com/office/powerpoint/2010/main" val="3378650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B189-BDBD-E975-AF6A-4D6C2B9E6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BLOOD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C967D-30B2-8A59-3557-9BD05B128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Articular arteries from;  </a:t>
            </a:r>
          </a:p>
          <a:p>
            <a:pPr marL="571500" indent="-571500">
              <a:buAutoNum type="romanLcPeriod"/>
            </a:pPr>
            <a:r>
              <a:rPr lang="en-US" dirty="0"/>
              <a:t>Malleolar branches of fibular artery</a:t>
            </a:r>
          </a:p>
          <a:p>
            <a:pPr marL="571500" indent="-571500">
              <a:buAutoNum type="romanLcPeriod"/>
            </a:pPr>
            <a:r>
              <a:rPr lang="en-US" dirty="0"/>
              <a:t>Malleolar branches from anterior and posterior tibial artery</a:t>
            </a:r>
          </a:p>
          <a:p>
            <a:pPr marL="571500" indent="-571500">
              <a:buAutoNum type="romanLcPeriod"/>
            </a:pPr>
            <a:r>
              <a:rPr lang="en-US" dirty="0"/>
              <a:t>Peroneal arteries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98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FE77-1CD9-11D2-22FC-CAAA4D9F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NERVE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23539-68E2-28E6-C233-C5D63F8A5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receives its nerve supply from tibial nerve and deep peroneal nerve a division of </a:t>
            </a:r>
            <a:r>
              <a:rPr lang="en-US" dirty="0" err="1"/>
              <a:t>coomon</a:t>
            </a:r>
            <a:r>
              <a:rPr lang="en-US" dirty="0"/>
              <a:t> peroneal nerve</a:t>
            </a:r>
          </a:p>
          <a:p>
            <a:r>
              <a:rPr lang="en-US" dirty="0" err="1"/>
              <a:t>Occassionally</a:t>
            </a:r>
            <a:r>
              <a:rPr lang="en-US" dirty="0"/>
              <a:t>, superficial nerves also supplies the ankle joint</a:t>
            </a:r>
          </a:p>
        </p:txBody>
      </p:sp>
    </p:spTree>
    <p:extLst>
      <p:ext uri="{BB962C8B-B14F-4D97-AF65-F5344CB8AC3E}">
        <p14:creationId xmlns:p14="http://schemas.microsoft.com/office/powerpoint/2010/main" val="527909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3602B-8C57-FFB4-B1CF-611E77F8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APPLIED ANATOMY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10F54-F25C-C3F9-6FC4-315CD895F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Fractures and dislocation; forceful bending and twisting forces may result in fractures or dislocation of ankle joint. Tip of the lateral malleolus is avulsed</a:t>
            </a:r>
          </a:p>
          <a:p>
            <a:r>
              <a:rPr lang="en-US" dirty="0"/>
              <a:t>Ankle sprain; this is partial or complete tear in the ligaments of the ankle joint, may result from forceful abduction or adduction, affecting the collateral or lateral ligaments of the ankle joint</a:t>
            </a:r>
          </a:p>
          <a:p>
            <a:r>
              <a:rPr lang="en-US" dirty="0"/>
              <a:t>Pott’s  fracture-dislocation; it is </a:t>
            </a:r>
            <a:r>
              <a:rPr lang="en-US" dirty="0" err="1"/>
              <a:t>bimalleoli</a:t>
            </a:r>
            <a:r>
              <a:rPr lang="en-US" dirty="0"/>
              <a:t> fracture. forceful eversion of the foot, pulling on the medial ligament, tearing off medial malleolus</a:t>
            </a:r>
          </a:p>
        </p:txBody>
      </p:sp>
    </p:spTree>
    <p:extLst>
      <p:ext uri="{BB962C8B-B14F-4D97-AF65-F5344CB8AC3E}">
        <p14:creationId xmlns:p14="http://schemas.microsoft.com/office/powerpoint/2010/main" val="166347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8D2D-EE9A-7A6F-E26D-4330CE95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3CD86-9F1E-AEE9-8A35-1C434D7C8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40000" lnSpcReduction="20000"/>
          </a:bodyPr>
          <a:lstStyle/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495354"/>
                </a:solidFill>
                <a:effectLst/>
                <a:latin typeface="PlutoSansLight"/>
              </a:rPr>
              <a:t>Hall, S. J. (2015). Basic biomechanics (7th ed.). New York, NY: McGraw-Hill Education.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5100" b="0" i="0" dirty="0" err="1">
                <a:solidFill>
                  <a:srgbClr val="495354"/>
                </a:solidFill>
                <a:effectLst/>
                <a:latin typeface="PlutoSansLight"/>
              </a:rPr>
              <a:t>Palastanga</a:t>
            </a:r>
            <a:r>
              <a:rPr lang="en-US" sz="5100" b="0" i="0" dirty="0">
                <a:solidFill>
                  <a:srgbClr val="495354"/>
                </a:solidFill>
                <a:effectLst/>
                <a:latin typeface="PlutoSansLight"/>
              </a:rPr>
              <a:t>, N., &amp; Soames, R. (2012). Anatomy and human movement: structure and function (6th ed.). Edinburgh: Churchill Livingstone.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495354"/>
                </a:solidFill>
                <a:effectLst/>
                <a:latin typeface="PlutoSansLight"/>
              </a:rPr>
              <a:t>Lippert, L. S. (2011). Clinical Kinesiology and Anatomy (5th ed.). Philadelphia, PA: F. A. Davis Company.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495354"/>
                </a:solidFill>
                <a:effectLst/>
                <a:latin typeface="PlutoSansLight"/>
              </a:rPr>
              <a:t>Standring, S. (2016). Gray's Anatomy (41st ed.). Edinburgh: Elsevier Churchill Livingstone.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495354"/>
                </a:solidFill>
                <a:effectLst/>
                <a:latin typeface="PlutoSansLight"/>
              </a:rPr>
              <a:t>Moore, K. L., Dalley, A. F., &amp; Agur, A. M. R. (2014). Clinically Oriented Anatomy (7th ed.). Philadelphia, PA: Lippincott Williams &amp; Wilkins.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495354"/>
                </a:solidFill>
                <a:effectLst/>
                <a:latin typeface="PlutoSansLight"/>
              </a:rPr>
              <a:t>Nordin, M., &amp; Frankel V. H. (2012). Basic biomechanics of the musculoskeletal system (4th ed.). Philadelphia, PA: Wolters Kluwer Health/Lippincott, Williams &amp; Wilkins.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sz="5100" b="0" i="0" dirty="0" err="1">
                <a:solidFill>
                  <a:srgbClr val="495354"/>
                </a:solidFill>
                <a:effectLst/>
                <a:latin typeface="PlutoSansLight"/>
              </a:rPr>
              <a:t>Sabalbal</a:t>
            </a:r>
            <a:r>
              <a:rPr lang="en-US" sz="5100" b="0" i="0" dirty="0">
                <a:solidFill>
                  <a:srgbClr val="495354"/>
                </a:solidFill>
                <a:effectLst/>
                <a:latin typeface="PlutoSansLight"/>
              </a:rPr>
              <a:t>, M, Johnson, M., McAlister, V. (2013), Absence of the genicular arterial anastomosis as generally depicted in textbooks. Annals of the Royal College of Surgeons, England, 95, 405–409. </a:t>
            </a:r>
          </a:p>
          <a:p>
            <a:pPr marL="0" indent="0" algn="l">
              <a:spcAft>
                <a:spcPts val="1500"/>
              </a:spcAft>
              <a:buNone/>
            </a:pPr>
            <a:endParaRPr lang="en-US" sz="5100" b="0" i="0" dirty="0">
              <a:solidFill>
                <a:srgbClr val="495354"/>
              </a:solidFill>
              <a:effectLst/>
              <a:latin typeface="PlutoSansRegula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171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0EE3-6483-4C3A-E78C-452CA4E9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FCBE1-F28F-8F04-B96A-24818F369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i="1" dirty="0"/>
              <a:t>THANK YOU, 4 LISTENING.</a:t>
            </a:r>
          </a:p>
        </p:txBody>
      </p:sp>
    </p:spTree>
    <p:extLst>
      <p:ext uri="{BB962C8B-B14F-4D97-AF65-F5344CB8AC3E}">
        <p14:creationId xmlns:p14="http://schemas.microsoft.com/office/powerpoint/2010/main" val="1868141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968</Words>
  <Application>Microsoft Office PowerPoint</Application>
  <PresentationFormat>Widescreen</PresentationFormat>
  <Paragraphs>125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PlutoSansLight</vt:lpstr>
      <vt:lpstr>PlutoSansRegular</vt:lpstr>
      <vt:lpstr>Office Theme</vt:lpstr>
      <vt:lpstr>ANKLE, INVERSION AND EVERSION JOINTS BY DR. OGWUCHE ELIJAH (BSc. MSc. MB,BS) LAGOS STATE UNIVERSITY COLLEGE OF MEDICINE (LASUCOM),IKEJA. </vt:lpstr>
      <vt:lpstr>OUTLINE</vt:lpstr>
      <vt:lpstr>INTRODUCTION</vt:lpstr>
      <vt:lpstr>ARTICULATING SURFACES</vt:lpstr>
      <vt:lpstr>ARTICULATING SURFACES</vt:lpstr>
      <vt:lpstr>ARTICULATING SURFACES</vt:lpstr>
      <vt:lpstr>ARTICULAR CAPSULE</vt:lpstr>
      <vt:lpstr>ANKLE JOINT CAPSULE</vt:lpstr>
      <vt:lpstr>SYNOVIAL CAPSULE</vt:lpstr>
      <vt:lpstr>LIGAMENTS</vt:lpstr>
      <vt:lpstr>MEDIAL LIGAMENTS</vt:lpstr>
      <vt:lpstr>LIGAMENTS</vt:lpstr>
      <vt:lpstr>LATERAL LIGAMENT</vt:lpstr>
      <vt:lpstr>RELATIONS OF ANKLE JOINT</vt:lpstr>
      <vt:lpstr>ANTERIOR RELATIONS </vt:lpstr>
      <vt:lpstr>POSTERIOR RELATIONS OF ANKLE JOINT</vt:lpstr>
      <vt:lpstr>MOVEMENTS</vt:lpstr>
      <vt:lpstr>INVERSION AND EVERSION</vt:lpstr>
      <vt:lpstr>INVERSION AND EVERSION MOVEMENTS</vt:lpstr>
      <vt:lpstr>INVERSION AND EVERSION</vt:lpstr>
      <vt:lpstr>STABILITY </vt:lpstr>
      <vt:lpstr>BLOOD SUPPLY</vt:lpstr>
      <vt:lpstr>NERVE SUPPLY</vt:lpstr>
      <vt:lpstr>APPLIED ANATOMY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Elijah Ogwuche</dc:creator>
  <cp:lastModifiedBy>Elijah Ogwuche</cp:lastModifiedBy>
  <cp:revision>2</cp:revision>
  <dcterms:created xsi:type="dcterms:W3CDTF">2025-05-28T12:05:08Z</dcterms:created>
  <dcterms:modified xsi:type="dcterms:W3CDTF">2025-07-24T11:59:58Z</dcterms:modified>
</cp:coreProperties>
</file>