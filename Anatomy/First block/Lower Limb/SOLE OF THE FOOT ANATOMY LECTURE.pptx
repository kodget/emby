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1" r:id="rId17"/>
    <p:sldId id="272" r:id="rId18"/>
    <p:sldId id="276" r:id="rId19"/>
    <p:sldId id="277" r:id="rId20"/>
    <p:sldId id="278" r:id="rId21"/>
    <p:sldId id="273" r:id="rId22"/>
    <p:sldId id="274" r:id="rId23"/>
    <p:sldId id="275" r:id="rId24"/>
    <p:sldId id="281" r:id="rId25"/>
    <p:sldId id="282" r:id="rId26"/>
    <p:sldId id="283" r:id="rId27"/>
    <p:sldId id="287" r:id="rId28"/>
    <p:sldId id="284" r:id="rId29"/>
    <p:sldId id="286" r:id="rId30"/>
    <p:sldId id="285" r:id="rId31"/>
    <p:sldId id="288" r:id="rId32"/>
    <p:sldId id="290" r:id="rId33"/>
    <p:sldId id="289" r:id="rId34"/>
    <p:sldId id="279" r:id="rId35"/>
    <p:sldId id="28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76DCE-CECB-2074-C5A5-A5DDB7B39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DF312-BDB1-10E9-EB1E-EEDE54F59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724F2-4F25-0CA4-747C-8F629AE42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C250-6820-4E11-A632-E47221D6F47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819AD-3C82-4B6E-6203-1E69F0533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EA256-05FE-6E12-3846-F2DC842D1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9A03-53D2-4FED-BE7E-0C4FF4E1A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7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CA1BB-D244-DFD4-C04F-FB64E4145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34602-CE17-E4D8-3FA3-8138375DB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0A2CE-72F0-D328-33E2-53DA4D65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C250-6820-4E11-A632-E47221D6F47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62D9A-12A4-4AAD-429B-C539FFA5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AAA99-35B0-B183-7BBB-7D649FFDB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9A03-53D2-4FED-BE7E-0C4FF4E1A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2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2BA3-FE17-A654-DE52-1606E2591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704EA-813A-5D3C-3513-1A2EA010C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B95C4-5969-C511-8260-13E3959FE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C250-6820-4E11-A632-E47221D6F47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3A56F-84DC-B75A-0985-BE4323533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A1185-2409-0D4B-9BEC-80583E2C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9A03-53D2-4FED-BE7E-0C4FF4E1A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5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33281-F53C-2E26-DF6B-428924EAA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428E9-ED7E-0BB2-BFD2-CBCFCBE87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358E5-1F1A-AA93-F15F-D9DBE4D22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D0410-F290-C7E8-4E5A-2B5DB946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C250-6820-4E11-A632-E47221D6F47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66F8B-57CB-A1A2-76BF-9EE91825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4B1B3-4416-108F-9C6F-68CFF76B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9A03-53D2-4FED-BE7E-0C4FF4E1A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5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0FC63-AC18-EE44-405C-44C18B02A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EE26C-6F6F-9E13-EA78-3561528D8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5C97E-8AAD-B61A-A64A-E0C6C7B27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C87BE-26C7-9041-6B94-41533ED5C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4DD710-7372-879D-979C-D0C100782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5C286F-DDAC-72FC-24E5-493FB7D6F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C250-6820-4E11-A632-E47221D6F47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9833F2-8152-5650-7F77-60F14719B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0B6601-3F9C-5108-75D7-03F96EA1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9A03-53D2-4FED-BE7E-0C4FF4E1A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74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338B-4C9B-3FA2-0321-C253AC31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A64FD-094B-A219-D986-3C2D90A7B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C250-6820-4E11-A632-E47221D6F47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30868-26F1-4EC0-4869-5A83E5D1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FE904-D48D-9CE0-5A81-75DFD4B7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9A03-53D2-4FED-BE7E-0C4FF4E1A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83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BEC6-B62D-7B98-4B40-90160C855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C250-6820-4E11-A632-E47221D6F47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7D09AA-EF86-B724-8349-AC9350359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34F1F-08CA-4722-C0C2-7E7435F5B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9A03-53D2-4FED-BE7E-0C4FF4E1A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6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B83C-A424-D39E-D9BD-C7B9F49E0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535E3-4ECE-B1F5-E624-8E155046E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2EA89-6383-5656-3C3A-C6964794C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BAD09-19A1-5920-19AD-E04CC43B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C250-6820-4E11-A632-E47221D6F47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190E9-9B53-2CFC-1662-AD48634D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46D4B-B990-4236-EF75-BD74B72A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9A03-53D2-4FED-BE7E-0C4FF4E1A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5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05409-C435-EB48-D399-CA6AA4E0C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83E2D-91C7-74E9-5048-679A70077D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BEE68-C0C8-D7F7-DE98-D364B61E5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03CBC-91AE-9104-64CC-683976733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C250-6820-4E11-A632-E47221D6F47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3EB8D-26F0-196F-D461-FAB7FBB1D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E1C6A-E13F-EEC7-F6B3-7BC917B8B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9A03-53D2-4FED-BE7E-0C4FF4E1A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3E08E-7FBE-34E6-554C-14A18213B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9E447-630F-C124-A83B-08D512A2A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3996E-0991-F39E-4844-0E4DB7DE8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C250-6820-4E11-A632-E47221D6F47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277A8-EEE8-8EAE-0B19-CFCA094CE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4DFCF-3954-67A1-162D-5A737C9C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9A03-53D2-4FED-BE7E-0C4FF4E1A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0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E911FC-26E2-DE3C-F54D-22D6E9F33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612F1-348B-E143-7862-2826857C3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C5E32-6D49-5A00-9DD3-A0D428668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C250-6820-4E11-A632-E47221D6F47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30408-7AAA-DD02-1B5D-545B1AB6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A862E-B27B-E4A2-191B-399242E3A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9A03-53D2-4FED-BE7E-0C4FF4E1A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66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88934F-53A4-FFFE-4EDC-F2D3AABD4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6B557-3136-A20D-FBA1-359A166C8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2C492-9034-357F-C019-31DC397DE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BC250-6820-4E11-A632-E47221D6F47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1D53-C435-8C6A-F9BE-15485183A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05906-26A6-4D82-082D-0A86985DB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99A03-53D2-4FED-BE7E-0C4FF4E1A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165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B363-16BA-AAA3-1F40-B934EBEBA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81280"/>
            <a:ext cx="9144000" cy="6690043"/>
          </a:xfrm>
        </p:spPr>
        <p:txBody>
          <a:bodyPr>
            <a:normAutofit/>
          </a:bodyPr>
          <a:lstStyle/>
          <a:p>
            <a:r>
              <a:rPr lang="en-US" dirty="0"/>
              <a:t>SOLE OF THE FOOT</a:t>
            </a:r>
            <a:br>
              <a:rPr lang="en-US" dirty="0"/>
            </a:br>
            <a:r>
              <a:rPr lang="en-US" dirty="0"/>
              <a:t>BY</a:t>
            </a:r>
            <a:br>
              <a:rPr lang="en-US" dirty="0"/>
            </a:br>
            <a:r>
              <a:rPr lang="en-US" dirty="0"/>
              <a:t>DR. OGWUCHE ELIJAH</a:t>
            </a:r>
            <a:br>
              <a:rPr lang="en-US" dirty="0"/>
            </a:br>
            <a:r>
              <a:rPr lang="en-US" dirty="0"/>
              <a:t>(BSc. MSc. MB,BS)</a:t>
            </a:r>
            <a:br>
              <a:rPr lang="en-US" dirty="0"/>
            </a:br>
            <a:r>
              <a:rPr lang="en-US" dirty="0"/>
              <a:t>LAGOS STATE UNIVERSITY COLLEGE OF MEDICINE (LASUCOM),IKEJA.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55E37-17EA-9EEE-4DC8-DD3A002988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42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A3AAB-0656-9687-D588-4871108F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3AE90-7488-667D-6DB8-6DA2BBC57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SKIN</a:t>
            </a:r>
          </a:p>
          <a:p>
            <a:r>
              <a:rPr lang="en-US" dirty="0"/>
              <a:t>FASCIA</a:t>
            </a:r>
          </a:p>
          <a:p>
            <a:r>
              <a:rPr lang="en-US" dirty="0"/>
              <a:t>SKELECTAL FRAMEWORK</a:t>
            </a:r>
          </a:p>
          <a:p>
            <a:r>
              <a:rPr lang="en-US" dirty="0"/>
              <a:t>LAYERS</a:t>
            </a:r>
          </a:p>
          <a:p>
            <a:r>
              <a:rPr lang="en-US" dirty="0"/>
              <a:t>COMPARTMENTS</a:t>
            </a:r>
          </a:p>
          <a:p>
            <a:r>
              <a:rPr lang="en-US" dirty="0"/>
              <a:t>NERVE SUPPLY</a:t>
            </a:r>
          </a:p>
          <a:p>
            <a:r>
              <a:rPr lang="en-US" dirty="0"/>
              <a:t>BLOOD SUPPLY</a:t>
            </a:r>
          </a:p>
          <a:p>
            <a:r>
              <a:rPr lang="en-US" dirty="0"/>
              <a:t>CLINICAL SIGNIFICANCE</a:t>
            </a:r>
          </a:p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953101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260C-B257-06F9-50D4-C4E167263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5B73-B11F-2659-E223-9E656E987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SOLE OF THE FOOT</a:t>
            </a:r>
            <a:r>
              <a:rPr lang="en-US" dirty="0"/>
              <a:t>; This is the plantar surface of the foot and correspond to the palm of the hand. </a:t>
            </a:r>
          </a:p>
          <a:p>
            <a:r>
              <a:rPr lang="en-US" dirty="0"/>
              <a:t>It is the part of the foot that makes contact with the floor when standing barefooted. </a:t>
            </a:r>
          </a:p>
          <a:p>
            <a:r>
              <a:rPr lang="en-US" dirty="0"/>
              <a:t>The skin of the sole like the palm is hairless with numerous sweat gland</a:t>
            </a:r>
          </a:p>
        </p:txBody>
      </p:sp>
    </p:spTree>
    <p:extLst>
      <p:ext uri="{BB962C8B-B14F-4D97-AF65-F5344CB8AC3E}">
        <p14:creationId xmlns:p14="http://schemas.microsoft.com/office/powerpoint/2010/main" val="3575452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2033A-3324-B1D4-376B-83225C4B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 CONT’D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74AA38-0533-9E75-6BC0-6DB025943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8321" y="1595120"/>
            <a:ext cx="7924800" cy="503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42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D4EE-602D-969D-565C-7800E7BB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246BE-7D5A-6E71-D94B-48E62735B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thick for protection</a:t>
            </a:r>
          </a:p>
          <a:p>
            <a:r>
              <a:rPr lang="en-US" dirty="0"/>
              <a:t>Firmly adherent to the underlying plantar aponeurosis</a:t>
            </a:r>
          </a:p>
          <a:p>
            <a:r>
              <a:rPr lang="en-US" dirty="0"/>
              <a:t>It is creased</a:t>
            </a:r>
          </a:p>
          <a:p>
            <a:r>
              <a:rPr lang="en-US" dirty="0"/>
              <a:t>The nerve supply of the skin include; </a:t>
            </a:r>
          </a:p>
          <a:p>
            <a:pPr marL="0" indent="0">
              <a:buNone/>
            </a:pPr>
            <a:r>
              <a:rPr lang="en-US" dirty="0"/>
              <a:t>       - medial plantar nerve</a:t>
            </a:r>
          </a:p>
          <a:p>
            <a:pPr marL="0" indent="0">
              <a:buNone/>
            </a:pPr>
            <a:r>
              <a:rPr lang="en-US" dirty="0"/>
              <a:t>       - lateral plantar nerve</a:t>
            </a:r>
          </a:p>
          <a:p>
            <a:pPr marL="0" indent="0">
              <a:buNone/>
            </a:pPr>
            <a:r>
              <a:rPr lang="en-US" dirty="0"/>
              <a:t>       - medial calcanean branches of tibial nerve</a:t>
            </a:r>
          </a:p>
          <a:p>
            <a:pPr marL="0" indent="0">
              <a:buNone/>
            </a:pPr>
            <a:r>
              <a:rPr lang="en-US" dirty="0"/>
              <a:t>       - saphenous and sural nerves; innervates small areas on the medial </a:t>
            </a:r>
          </a:p>
          <a:p>
            <a:pPr marL="0" indent="0">
              <a:buNone/>
            </a:pPr>
            <a:r>
              <a:rPr lang="en-US" dirty="0"/>
              <a:t>          and lateral aspect of the sole     </a:t>
            </a:r>
          </a:p>
        </p:txBody>
      </p:sp>
    </p:spTree>
    <p:extLst>
      <p:ext uri="{BB962C8B-B14F-4D97-AF65-F5344CB8AC3E}">
        <p14:creationId xmlns:p14="http://schemas.microsoft.com/office/powerpoint/2010/main" val="1629591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D92D-714C-C4E7-DF69-CF5EF70E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DERMATONES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19B48C7-0D39-3503-B1BF-DD7ED73CD4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0" y="1300480"/>
            <a:ext cx="6563360" cy="519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54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F457E-F2E3-6C1E-0474-EC813145E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FASCIA COMPARTMENTS OF THE SOLE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F59F0-2AEB-CD7E-B9FE-705F3863D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sole of foot consist of two fascia compartments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u="sng" dirty="0"/>
              <a:t>SUPERFICIAL FACIA; </a:t>
            </a:r>
            <a:r>
              <a:rPr lang="en-US" dirty="0"/>
              <a:t>Contains cutaneous nerves and superficial transvers metatarsal ligaments</a:t>
            </a:r>
          </a:p>
          <a:p>
            <a:pPr marL="0" indent="0">
              <a:buNone/>
            </a:pPr>
            <a:r>
              <a:rPr lang="en-US" u="sng" dirty="0"/>
              <a:t>DEEP FASCIA; </a:t>
            </a:r>
          </a:p>
          <a:p>
            <a:pPr>
              <a:buFontTx/>
              <a:buChar char="-"/>
            </a:pPr>
            <a:r>
              <a:rPr lang="en-US" dirty="0"/>
              <a:t>Plantar aponeurosis</a:t>
            </a:r>
          </a:p>
          <a:p>
            <a:pPr>
              <a:buFontTx/>
              <a:buChar char="-"/>
            </a:pPr>
            <a:r>
              <a:rPr lang="en-US" dirty="0"/>
              <a:t>Deep transverse metatarsal </a:t>
            </a:r>
            <a:r>
              <a:rPr lang="en-US" dirty="0" err="1"/>
              <a:t>lgaments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Fibrous flexor sheaths in the toes</a:t>
            </a:r>
          </a:p>
        </p:txBody>
      </p:sp>
    </p:spTree>
    <p:extLst>
      <p:ext uri="{BB962C8B-B14F-4D97-AF65-F5344CB8AC3E}">
        <p14:creationId xmlns:p14="http://schemas.microsoft.com/office/powerpoint/2010/main" val="1681032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B629-130C-B4ED-1CB6-2DC8C801F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PLANTAR APONEUROSIS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92A67-EE0D-7E92-5D2C-55A6D1C5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a longitudinally arranged bundles of dense fibrous connective tissue investing the central plantar muscles</a:t>
            </a:r>
          </a:p>
          <a:p>
            <a:r>
              <a:rPr lang="en-US" dirty="0"/>
              <a:t>It is tougher, denser and longer compared to palmar aponeurosis</a:t>
            </a:r>
          </a:p>
          <a:p>
            <a:r>
              <a:rPr lang="en-US" dirty="0"/>
              <a:t>Arises posteriorly from calcaneus and functions like a superficial ligament</a:t>
            </a:r>
          </a:p>
          <a:p>
            <a:r>
              <a:rPr lang="en-US" dirty="0"/>
              <a:t>Longitudinal bundles of collagen </a:t>
            </a:r>
            <a:r>
              <a:rPr lang="en-US" dirty="0" err="1"/>
              <a:t>fibres</a:t>
            </a:r>
            <a:r>
              <a:rPr lang="en-US" dirty="0"/>
              <a:t> of the aponeurosis distally divides into five bands continuous with the fibrous digital sheath that enclosed the flexor tendons that passes to the toes</a:t>
            </a:r>
          </a:p>
          <a:p>
            <a:r>
              <a:rPr lang="en-US" dirty="0"/>
              <a:t>It is reinforced at the anterior end of the sole by superficial transverse metatarsal ligament</a:t>
            </a:r>
          </a:p>
        </p:txBody>
      </p:sp>
    </p:spTree>
    <p:extLst>
      <p:ext uri="{BB962C8B-B14F-4D97-AF65-F5344CB8AC3E}">
        <p14:creationId xmlns:p14="http://schemas.microsoft.com/office/powerpoint/2010/main" val="4169872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CC10-E381-624B-4351-7D559E58D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PLANTAR APONEUROSIS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0938AD-DE2C-9476-5B9D-D65F0D06DC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8640" y="1442719"/>
            <a:ext cx="6654800" cy="505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99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DC222-4ACD-0861-D21A-82A16F5DB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SKELETAL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C85AF-CA55-2E26-BDC2-2E85BC1F8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foot is made up of 28 bones</a:t>
            </a:r>
          </a:p>
          <a:p>
            <a:r>
              <a:rPr lang="en-US" u="sng" dirty="0"/>
              <a:t>Hindfoot;</a:t>
            </a:r>
            <a:r>
              <a:rPr lang="en-US" dirty="0"/>
              <a:t> Talus and Calcaneus</a:t>
            </a:r>
          </a:p>
          <a:p>
            <a:r>
              <a:rPr lang="en-US" u="sng" dirty="0"/>
              <a:t>Midfoot; </a:t>
            </a:r>
            <a:r>
              <a:rPr lang="en-US" dirty="0"/>
              <a:t>navicular, cuboid and cuneiforms (3 bones)</a:t>
            </a:r>
          </a:p>
          <a:p>
            <a:r>
              <a:rPr lang="en-US" u="sng" dirty="0"/>
              <a:t>Forefoot; </a:t>
            </a:r>
            <a:r>
              <a:rPr lang="en-US" dirty="0"/>
              <a:t>metatarsals (5 bones) and phalanges (14 bones)</a:t>
            </a:r>
          </a:p>
          <a:p>
            <a:r>
              <a:rPr lang="en-US" u="sng" dirty="0"/>
              <a:t>Two sesamoids</a:t>
            </a:r>
          </a:p>
        </p:txBody>
      </p:sp>
    </p:spTree>
    <p:extLst>
      <p:ext uri="{BB962C8B-B14F-4D97-AF65-F5344CB8AC3E}">
        <p14:creationId xmlns:p14="http://schemas.microsoft.com/office/powerpoint/2010/main" val="316372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5BBF-495F-90A1-18EB-BEA32674C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BONES OF THE FOOT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AD6E4A-1C0F-614B-A0FF-E318E7B779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8640" y="1690688"/>
            <a:ext cx="7274560" cy="447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39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F3AA-DDAE-F970-05AB-28CF3B57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LAYERS OF THE FOOT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A4083-EA44-92C3-B06A-C3DF0FD90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foot is made up of 4 layers from superficial to deep</a:t>
            </a:r>
          </a:p>
          <a:p>
            <a:pPr marL="0" indent="0">
              <a:buNone/>
            </a:pPr>
            <a:r>
              <a:rPr lang="en-US" u="sng" dirty="0"/>
              <a:t>FIRST LAYER; </a:t>
            </a:r>
            <a:r>
              <a:rPr lang="en-US" dirty="0"/>
              <a:t>Made up of the following muscles</a:t>
            </a:r>
          </a:p>
          <a:p>
            <a:pPr marL="0" indent="0">
              <a:buNone/>
            </a:pPr>
            <a:r>
              <a:rPr lang="en-US" dirty="0"/>
              <a:t>    - Abductor hallucis</a:t>
            </a:r>
          </a:p>
          <a:p>
            <a:pPr marL="0" indent="0">
              <a:buNone/>
            </a:pPr>
            <a:r>
              <a:rPr lang="en-US" dirty="0"/>
              <a:t>    - Flexor digitorum brevis</a:t>
            </a:r>
          </a:p>
          <a:p>
            <a:pPr marL="0" indent="0">
              <a:buNone/>
            </a:pPr>
            <a:r>
              <a:rPr lang="en-US" dirty="0"/>
              <a:t>    - Abductor digiti </a:t>
            </a:r>
            <a:r>
              <a:rPr lang="en-US" dirty="0" err="1"/>
              <a:t>minimi</a:t>
            </a:r>
            <a:endParaRPr lang="en-US" dirty="0"/>
          </a:p>
          <a:p>
            <a:pPr marL="0" indent="0">
              <a:buNone/>
            </a:pPr>
            <a:r>
              <a:rPr lang="en-US" u="sng" dirty="0"/>
              <a:t> SECOND LAYER; </a:t>
            </a:r>
            <a:r>
              <a:rPr lang="en-US" dirty="0"/>
              <a:t>Contains the following muscles</a:t>
            </a:r>
          </a:p>
          <a:p>
            <a:pPr marL="0" indent="0">
              <a:buNone/>
            </a:pPr>
            <a:r>
              <a:rPr lang="en-US" dirty="0"/>
              <a:t>   - Quadratus plantae (accessory flexors)</a:t>
            </a:r>
          </a:p>
          <a:p>
            <a:pPr marL="0" indent="0">
              <a:buNone/>
            </a:pPr>
            <a:r>
              <a:rPr lang="en-US" dirty="0"/>
              <a:t>   - Lumbricals </a:t>
            </a:r>
          </a:p>
          <a:p>
            <a:pPr marL="0" indent="0">
              <a:buNone/>
            </a:pPr>
            <a:r>
              <a:rPr lang="en-US" dirty="0"/>
              <a:t>   -Tendons of flexor digitorum longus</a:t>
            </a:r>
          </a:p>
          <a:p>
            <a:pPr marL="0" indent="0"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746332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D911-1C11-F46B-1E50-3DA61300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LAYERS OF THE FOOT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C5702-7162-75B4-7DCC-A6B02795F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 dirty="0"/>
              <a:t>THIRD LAYER; </a:t>
            </a:r>
            <a:r>
              <a:rPr lang="en-US" dirty="0"/>
              <a:t>Consist of the following muscles-</a:t>
            </a:r>
          </a:p>
          <a:p>
            <a:pPr marL="0" indent="0">
              <a:buNone/>
            </a:pPr>
            <a:r>
              <a:rPr lang="en-US" dirty="0"/>
              <a:t>   -Flexor hallucis brevis</a:t>
            </a:r>
          </a:p>
          <a:p>
            <a:pPr marL="0" indent="0">
              <a:buNone/>
            </a:pPr>
            <a:r>
              <a:rPr lang="en-US" dirty="0"/>
              <a:t>   - Adductor hallucis</a:t>
            </a:r>
          </a:p>
          <a:p>
            <a:pPr marL="0" indent="0">
              <a:buNone/>
            </a:pPr>
            <a:r>
              <a:rPr lang="en-US" dirty="0"/>
              <a:t>   - Oblique head</a:t>
            </a:r>
          </a:p>
          <a:p>
            <a:pPr marL="0" indent="0">
              <a:buNone/>
            </a:pPr>
            <a:r>
              <a:rPr lang="en-US" dirty="0"/>
              <a:t>   - Transverse head</a:t>
            </a:r>
          </a:p>
          <a:p>
            <a:pPr marL="0" indent="0">
              <a:buNone/>
            </a:pPr>
            <a:r>
              <a:rPr lang="en-US" dirty="0"/>
              <a:t>   - Flexor digiti </a:t>
            </a:r>
            <a:r>
              <a:rPr lang="en-US" dirty="0" err="1"/>
              <a:t>minimi</a:t>
            </a:r>
            <a:r>
              <a:rPr lang="en-US" dirty="0"/>
              <a:t> brevis</a:t>
            </a:r>
          </a:p>
          <a:p>
            <a:pPr marL="0" indent="0">
              <a:buNone/>
            </a:pPr>
            <a:r>
              <a:rPr lang="en-US" u="sng" dirty="0"/>
              <a:t>FOURTH LAYER; </a:t>
            </a:r>
          </a:p>
          <a:p>
            <a:pPr marL="0" indent="0">
              <a:buNone/>
            </a:pPr>
            <a:r>
              <a:rPr lang="en-US" dirty="0"/>
              <a:t>     -Dorsal interossei (dab)</a:t>
            </a:r>
          </a:p>
          <a:p>
            <a:pPr marL="0" indent="0">
              <a:buNone/>
            </a:pPr>
            <a:r>
              <a:rPr lang="en-US" dirty="0"/>
              <a:t>     -Plantar interossei (pad)</a:t>
            </a:r>
          </a:p>
          <a:p>
            <a:pPr marL="0" indent="0">
              <a:buNone/>
            </a:pPr>
            <a:r>
              <a:rPr lang="en-US" dirty="0"/>
              <a:t>     -</a:t>
            </a:r>
            <a:r>
              <a:rPr lang="en-US" dirty="0" err="1"/>
              <a:t>Peroneous</a:t>
            </a:r>
            <a:r>
              <a:rPr lang="en-US" dirty="0"/>
              <a:t> longus</a:t>
            </a:r>
          </a:p>
          <a:p>
            <a:pPr marL="0" indent="0">
              <a:buNone/>
            </a:pPr>
            <a:r>
              <a:rPr lang="en-US" dirty="0"/>
              <a:t>     -Tibialis posterior</a:t>
            </a:r>
          </a:p>
        </p:txBody>
      </p:sp>
    </p:spTree>
    <p:extLst>
      <p:ext uri="{BB962C8B-B14F-4D97-AF65-F5344CB8AC3E}">
        <p14:creationId xmlns:p14="http://schemas.microsoft.com/office/powerpoint/2010/main" val="4035322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FDD7A-D7F0-BFC1-537F-57AA2081C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Muscles of first layer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082F7F-5625-5639-45CE-7C93A0B48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2240" y="1825625"/>
            <a:ext cx="659384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26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759D-3628-F8D4-A325-D390150B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Muscles of 2</a:t>
            </a:r>
            <a:r>
              <a:rPr lang="en-US" baseline="30000" dirty="0"/>
              <a:t>nd</a:t>
            </a:r>
            <a:r>
              <a:rPr lang="en-US" dirty="0"/>
              <a:t> layer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EA07CD-C2D2-A90F-FCB2-9A1FC92BF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1280" y="1825624"/>
            <a:ext cx="7101840" cy="483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48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BC30E-0909-1015-8D45-55856AC6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Muscles of 3</a:t>
            </a:r>
            <a:r>
              <a:rPr lang="en-US" baseline="30000" dirty="0"/>
              <a:t>rd</a:t>
            </a:r>
            <a:r>
              <a:rPr lang="en-US" dirty="0"/>
              <a:t> layer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B133A8-A2B6-EE89-46C7-1987AFA93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000" y="1825625"/>
            <a:ext cx="689864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17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337A-A217-F936-69FA-56E2E969D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Muscles of 4</a:t>
            </a:r>
            <a:r>
              <a:rPr lang="en-US" baseline="30000" dirty="0"/>
              <a:t>th</a:t>
            </a:r>
            <a:r>
              <a:rPr lang="en-US" dirty="0"/>
              <a:t> layer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8AEB93-8021-B3F0-9D37-2E2B29944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7760" y="1442720"/>
            <a:ext cx="5445760" cy="52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33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C751E-EA6C-263A-5B4C-4F5713334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COMPARTMENTS OF THE SOLE OF FOOT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DC9AB-57C0-4ECC-18F6-EA01E708C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sole of the midfoot and forefoot is divided into 3 compartments by a vertical intermuscular septum extending deeply from the margins of the plantar aponeurosis toward the 1</a:t>
            </a:r>
            <a:r>
              <a:rPr lang="en-US" baseline="30000" dirty="0"/>
              <a:t>st</a:t>
            </a:r>
            <a:r>
              <a:rPr lang="en-US" dirty="0"/>
              <a:t> and 5</a:t>
            </a:r>
            <a:r>
              <a:rPr lang="en-US" baseline="30000" dirty="0"/>
              <a:t>th</a:t>
            </a:r>
            <a:r>
              <a:rPr lang="en-US" dirty="0"/>
              <a:t> metatarsals</a:t>
            </a:r>
          </a:p>
          <a:p>
            <a:pPr marL="514350" indent="-514350">
              <a:buAutoNum type="alphaLcParenBoth"/>
            </a:pPr>
            <a:r>
              <a:rPr lang="en-US" dirty="0"/>
              <a:t>Medial compartment of the sole; on the medial side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u="sng" dirty="0"/>
              <a:t>contents;</a:t>
            </a:r>
            <a:r>
              <a:rPr lang="en-US" dirty="0"/>
              <a:t> Abductor hallucis, flexor hallucis brevis, tendon of the </a:t>
            </a:r>
          </a:p>
          <a:p>
            <a:pPr marL="0" indent="0">
              <a:buNone/>
            </a:pPr>
            <a:r>
              <a:rPr lang="en-US" dirty="0"/>
              <a:t>      flexor hallucis longus, medial plantar nerves and vessels</a:t>
            </a:r>
          </a:p>
        </p:txBody>
      </p:sp>
    </p:spTree>
    <p:extLst>
      <p:ext uri="{BB962C8B-B14F-4D97-AF65-F5344CB8AC3E}">
        <p14:creationId xmlns:p14="http://schemas.microsoft.com/office/powerpoint/2010/main" val="2467891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82BA-B7BA-09D8-12AF-1E44575CA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COMPARTMENTS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5D3E0-4775-1293-3E40-126777AC1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(b) Central compartments; </a:t>
            </a:r>
          </a:p>
          <a:p>
            <a:pPr marL="0" indent="0">
              <a:buNone/>
            </a:pPr>
            <a:r>
              <a:rPr lang="en-US" u="sng" dirty="0"/>
              <a:t>CONTENTS;</a:t>
            </a:r>
            <a:r>
              <a:rPr lang="en-US" dirty="0"/>
              <a:t> flexor digitorum brevis, tendons of flexor hallucis longus, flexor digitorum longus and associated muscles, quadratus plantae, lumbricals, adductor hallucis, lateral plantar nerves and vessels</a:t>
            </a:r>
          </a:p>
          <a:p>
            <a:pPr marL="0" indent="0">
              <a:buNone/>
            </a:pPr>
            <a:r>
              <a:rPr lang="en-US" dirty="0"/>
              <a:t>(c) Lateral compartments; on the lateral side</a:t>
            </a:r>
          </a:p>
          <a:p>
            <a:pPr marL="0" indent="0">
              <a:buNone/>
            </a:pPr>
            <a:r>
              <a:rPr lang="en-US" u="sng" dirty="0"/>
              <a:t>CONTENTS</a:t>
            </a:r>
            <a:r>
              <a:rPr lang="en-US" dirty="0"/>
              <a:t>; Abductor digiti </a:t>
            </a:r>
            <a:r>
              <a:rPr lang="en-US" dirty="0" err="1"/>
              <a:t>minimi</a:t>
            </a:r>
            <a:r>
              <a:rPr lang="en-US" dirty="0"/>
              <a:t>, flexor digiti </a:t>
            </a:r>
            <a:r>
              <a:rPr lang="en-US" dirty="0" err="1"/>
              <a:t>minimi</a:t>
            </a:r>
            <a:r>
              <a:rPr lang="en-US" dirty="0"/>
              <a:t> brevis</a:t>
            </a:r>
          </a:p>
        </p:txBody>
      </p:sp>
    </p:spTree>
    <p:extLst>
      <p:ext uri="{BB962C8B-B14F-4D97-AF65-F5344CB8AC3E}">
        <p14:creationId xmlns:p14="http://schemas.microsoft.com/office/powerpoint/2010/main" val="3974916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72AF-A7EE-41C8-8DBC-561CB90A5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RETINACULAR CURTIS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785B8-65D6-4F3F-53C1-918403209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fibrous septa or highly developed skin ligament that divide the sole into fat-filled areas of shock-absorbing pad</a:t>
            </a:r>
          </a:p>
          <a:p>
            <a:r>
              <a:rPr lang="en-US" dirty="0"/>
              <a:t>It </a:t>
            </a:r>
            <a:r>
              <a:rPr lang="en-US" dirty="0" err="1"/>
              <a:t>anchores</a:t>
            </a:r>
            <a:r>
              <a:rPr lang="en-US" dirty="0"/>
              <a:t> the skin to the underlying deep fascia called PLANTAR APONEUROSIS</a:t>
            </a:r>
          </a:p>
          <a:p>
            <a:r>
              <a:rPr lang="en-US" dirty="0"/>
              <a:t>Improves the ‘grip’ of the sole</a:t>
            </a:r>
          </a:p>
        </p:txBody>
      </p:sp>
    </p:spTree>
    <p:extLst>
      <p:ext uri="{BB962C8B-B14F-4D97-AF65-F5344CB8AC3E}">
        <p14:creationId xmlns:p14="http://schemas.microsoft.com/office/powerpoint/2010/main" val="2611215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B298-9548-E7F1-238F-8D4DC9BF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NERVE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9AFD8-827D-5C3E-F61C-553BC5EE8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sole of foot is supplied by; </a:t>
            </a:r>
          </a:p>
          <a:p>
            <a:pPr marL="0" indent="0">
              <a:buNone/>
            </a:pPr>
            <a:r>
              <a:rPr lang="en-US" dirty="0"/>
              <a:t>   -Medial plantar nerve; give rise to digital branches, common digital </a:t>
            </a:r>
          </a:p>
          <a:p>
            <a:pPr marL="0" indent="0">
              <a:buNone/>
            </a:pPr>
            <a:r>
              <a:rPr lang="en-US" dirty="0"/>
              <a:t>     and terminal branches. Supplies the medial 2/3</a:t>
            </a:r>
            <a:r>
              <a:rPr lang="en-US" baseline="30000" dirty="0"/>
              <a:t>rd</a:t>
            </a:r>
            <a:r>
              <a:rPr lang="en-US" dirty="0"/>
              <a:t> of the sole</a:t>
            </a:r>
          </a:p>
          <a:p>
            <a:pPr marL="0" indent="0">
              <a:buNone/>
            </a:pPr>
            <a:r>
              <a:rPr lang="en-US" dirty="0"/>
              <a:t>   - Lateral plantar nerve; gives rise to motor branches, a deep branch</a:t>
            </a:r>
          </a:p>
          <a:p>
            <a:pPr marL="0" indent="0">
              <a:buNone/>
            </a:pPr>
            <a:r>
              <a:rPr lang="en-US" dirty="0"/>
              <a:t>     and skin of the lateral 1 ½ of the digits</a:t>
            </a:r>
          </a:p>
          <a:p>
            <a:pPr marL="0" indent="0">
              <a:buNone/>
            </a:pPr>
            <a:r>
              <a:rPr lang="en-US" dirty="0"/>
              <a:t>-All interossei are supplied by lateral plantar nerve (S2, S3)</a:t>
            </a:r>
          </a:p>
        </p:txBody>
      </p:sp>
    </p:spTree>
    <p:extLst>
      <p:ext uri="{BB962C8B-B14F-4D97-AF65-F5344CB8AC3E}">
        <p14:creationId xmlns:p14="http://schemas.microsoft.com/office/powerpoint/2010/main" val="2156847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806D3-DF5E-6C16-73F3-D46CB007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	BLOOD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0D73F-ED60-BEA5-453D-50CE70F77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sole is supplied by medial and lateral plantar arteries which are branches from posterior tibial artery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078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E06F-4812-7A15-9AAE-D64B5F45E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BLOOD SUPPLY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E19840-8D37-D179-45CC-FC2FA2495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8480" y="1554480"/>
            <a:ext cx="5902960" cy="509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391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F926-6056-272F-40CE-02A0C5AD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ARCHES OF THE FOOT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D2F8B-5AB5-CF10-DEC4-AC5CBF26A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INTRODUCTION; The arches of the foot are curve-like arrangement of the bones of the foot.</a:t>
            </a:r>
          </a:p>
          <a:p>
            <a:r>
              <a:rPr lang="en-US" dirty="0"/>
              <a:t>It allows for weight distributions, acts as shock absorber and spring board for propelling the foot during walking, running and jumping</a:t>
            </a:r>
          </a:p>
          <a:p>
            <a:r>
              <a:rPr lang="en-US" dirty="0"/>
              <a:t>The resilient arches add to the foot’s ability to adopt to changes in surface contour</a:t>
            </a:r>
          </a:p>
          <a:p>
            <a:r>
              <a:rPr lang="en-US" dirty="0"/>
              <a:t>FORMATION- The bones of the foot are arranged in form of 2 longitudinal arches and one transverse  arch</a:t>
            </a:r>
          </a:p>
          <a:p>
            <a:r>
              <a:rPr lang="en-US" dirty="0"/>
              <a:t>Giving it the unique structural adaptation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269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5FAC-5851-4DDF-80F4-B4D2F23C0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ARCHES OF THE FOOT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61F174-9ED3-E06E-0E6C-805A8D8AD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3036" y="1825625"/>
            <a:ext cx="70059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99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4631F-7780-305B-A2AD-D3E2322FB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LONGITUDINAL ARCHES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0C9AE-C286-15F7-C338-7B00D72CE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Consist of the medial and lateral longitudinal arch</a:t>
            </a:r>
          </a:p>
          <a:p>
            <a:pPr marL="0" indent="0">
              <a:buNone/>
            </a:pPr>
            <a:r>
              <a:rPr lang="en-US" u="sng" dirty="0"/>
              <a:t>MEDIAL LONGITUDINAL ARCH; </a:t>
            </a:r>
            <a:r>
              <a:rPr lang="en-US" dirty="0"/>
              <a:t>formed by calcaneus, talus, navicular, the 3 cuneiform bones and their 3 metatarsals</a:t>
            </a:r>
          </a:p>
          <a:p>
            <a:pPr marL="0" indent="0">
              <a:buNone/>
            </a:pPr>
            <a:r>
              <a:rPr lang="en-US" u="sng" dirty="0"/>
              <a:t>Pillars; </a:t>
            </a:r>
          </a:p>
          <a:p>
            <a:pPr marL="0" indent="0">
              <a:buNone/>
            </a:pPr>
            <a:r>
              <a:rPr lang="en-US" dirty="0"/>
              <a:t>  posteriorly; tuberosity of the calcaneus </a:t>
            </a:r>
          </a:p>
          <a:p>
            <a:pPr marL="0" indent="0">
              <a:buNone/>
            </a:pPr>
            <a:r>
              <a:rPr lang="en-US" dirty="0"/>
              <a:t>  anteriorly; heads of medial 3 metatarsal</a:t>
            </a:r>
          </a:p>
          <a:p>
            <a:pPr marL="0" indent="0">
              <a:buNone/>
            </a:pPr>
            <a:r>
              <a:rPr lang="en-US" dirty="0"/>
              <a:t>                     anterior pillar is long and weak</a:t>
            </a:r>
          </a:p>
          <a:p>
            <a:pPr marL="0" indent="0">
              <a:buNone/>
            </a:pPr>
            <a:r>
              <a:rPr lang="en-US" u="sng" dirty="0"/>
              <a:t>Ends ; </a:t>
            </a:r>
            <a:r>
              <a:rPr lang="en-US" dirty="0"/>
              <a:t>has 2 ends which are anterior and posterior ends</a:t>
            </a:r>
          </a:p>
          <a:p>
            <a:pPr marL="0" indent="0">
              <a:buNone/>
            </a:pPr>
            <a:r>
              <a:rPr lang="en-US" u="sng" dirty="0" err="1"/>
              <a:t>Sumits</a:t>
            </a:r>
            <a:r>
              <a:rPr lang="en-US" u="sng" dirty="0"/>
              <a:t> ;</a:t>
            </a:r>
            <a:r>
              <a:rPr lang="en-US" dirty="0"/>
              <a:t> is the superior articular surface of the body of talus</a:t>
            </a:r>
          </a:p>
          <a:p>
            <a:pPr marL="0" indent="0">
              <a:buNone/>
            </a:pPr>
            <a:r>
              <a:rPr lang="en-US" u="sng" dirty="0"/>
              <a:t>Joint ; </a:t>
            </a:r>
            <a:r>
              <a:rPr lang="en-US" dirty="0"/>
              <a:t>Talocalcaneonavicular joint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504374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7EE4C-C331-BE05-DD74-38005E7D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LONGITUDINAL ARCHES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7FC479-B69B-6EF5-1737-F0F893A8E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2080" y="2509520"/>
            <a:ext cx="7853680" cy="275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673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0452-4BA6-3BFC-DC7B-29303ACD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LONGITUDINAL ARCHES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1E44B-4D2A-EC34-B7A5-9BA255458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LATERAL LONGITUDINAL ARCH; </a:t>
            </a:r>
            <a:r>
              <a:rPr lang="en-US" dirty="0"/>
              <a:t>Formed by calcaneus, cuboid and the lateral 2 metatarsal bones</a:t>
            </a:r>
          </a:p>
          <a:p>
            <a:r>
              <a:rPr lang="en-US" u="sng" dirty="0"/>
              <a:t>Sumit; </a:t>
            </a:r>
            <a:r>
              <a:rPr lang="en-US" dirty="0"/>
              <a:t>is the cuboid </a:t>
            </a:r>
          </a:p>
          <a:p>
            <a:r>
              <a:rPr lang="en-US" dirty="0"/>
              <a:t>Its inferior surface is grooved by tendon of peroneus longus which passes transversely across the foot beneath it</a:t>
            </a:r>
          </a:p>
          <a:p>
            <a:r>
              <a:rPr lang="en-US" dirty="0"/>
              <a:t>For weight bearing and transfer</a:t>
            </a:r>
          </a:p>
        </p:txBody>
      </p:sp>
    </p:spTree>
    <p:extLst>
      <p:ext uri="{BB962C8B-B14F-4D97-AF65-F5344CB8AC3E}">
        <p14:creationId xmlns:p14="http://schemas.microsoft.com/office/powerpoint/2010/main" val="64742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7410A-A303-65E0-F4A2-DC22B7F52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LONGITUDINAL ARCHES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2E1003-F3B1-76A8-15F3-5534FA08F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4480"/>
            <a:ext cx="10515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14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5605-B867-9609-A929-14AC8DC4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TRANSVERSE 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B3BD8-537D-EC4C-2293-7C08FFD48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not a complete arch, more like half an arch.</a:t>
            </a:r>
          </a:p>
          <a:p>
            <a:r>
              <a:rPr lang="en-US" dirty="0"/>
              <a:t>Completed as an arch by the other foot</a:t>
            </a:r>
          </a:p>
          <a:p>
            <a:r>
              <a:rPr lang="en-US" u="sng" dirty="0"/>
              <a:t>Formation; </a:t>
            </a:r>
            <a:r>
              <a:rPr lang="en-US" dirty="0"/>
              <a:t>bases of the 5 metatarsals, the adjacent cuboid and cuneiform</a:t>
            </a:r>
          </a:p>
          <a:p>
            <a:r>
              <a:rPr lang="en-US" dirty="0"/>
              <a:t>This arched arrangement of the foot like the shape of a half dome, protect the structures in the sole of the foot, prevents compression.</a:t>
            </a:r>
          </a:p>
        </p:txBody>
      </p:sp>
    </p:spTree>
    <p:extLst>
      <p:ext uri="{BB962C8B-B14F-4D97-AF65-F5344CB8AC3E}">
        <p14:creationId xmlns:p14="http://schemas.microsoft.com/office/powerpoint/2010/main" val="1483506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EC29-6479-7AEA-FEBF-122F9967C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MAINTENANCE OF THE ARCHES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73528-0982-18ED-730E-6D690D755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Arches of the foot is maintained by tie, slings and beams formed by;</a:t>
            </a:r>
          </a:p>
          <a:p>
            <a:pPr marL="514350" indent="-514350">
              <a:buAutoNum type="arabicPeriod"/>
            </a:pPr>
            <a:r>
              <a:rPr lang="en-US" dirty="0"/>
              <a:t>Shape of the interlocking bones</a:t>
            </a:r>
          </a:p>
          <a:p>
            <a:pPr marL="514350" indent="-514350">
              <a:buAutoNum type="arabicPeriod"/>
            </a:pPr>
            <a:r>
              <a:rPr lang="en-US" dirty="0"/>
              <a:t>The ligaments; 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i</a:t>
            </a:r>
            <a:r>
              <a:rPr lang="en-US" dirty="0"/>
              <a:t>. dorsal plantar and interosseous ligaments</a:t>
            </a:r>
          </a:p>
          <a:p>
            <a:pPr marL="0" indent="0">
              <a:buNone/>
            </a:pPr>
            <a:r>
              <a:rPr lang="en-US" dirty="0"/>
              <a:t>      ii. Spring ligament from the sustentacular </a:t>
            </a:r>
            <a:r>
              <a:rPr lang="en-US" dirty="0" err="1"/>
              <a:t>tali</a:t>
            </a:r>
            <a:r>
              <a:rPr lang="en-US" dirty="0"/>
              <a:t> of the calcaneus</a:t>
            </a:r>
          </a:p>
          <a:p>
            <a:pPr marL="0" indent="0">
              <a:buNone/>
            </a:pPr>
            <a:r>
              <a:rPr lang="en-US" dirty="0"/>
              <a:t>      iii. Short plantar ligament</a:t>
            </a:r>
          </a:p>
          <a:p>
            <a:pPr marL="0" indent="0">
              <a:buNone/>
            </a:pPr>
            <a:r>
              <a:rPr lang="en-US" dirty="0"/>
              <a:t>      iv. Long plantar ligament</a:t>
            </a:r>
          </a:p>
          <a:p>
            <a:pPr marL="0" indent="0">
              <a:buNone/>
            </a:pPr>
            <a:r>
              <a:rPr lang="en-US" dirty="0"/>
              <a:t>3. Tendons; fibularis longus tendon and tibialis posterior tendon</a:t>
            </a:r>
          </a:p>
          <a:p>
            <a:pPr marL="0" indent="0">
              <a:buNone/>
            </a:pPr>
            <a:r>
              <a:rPr lang="en-US" dirty="0"/>
              <a:t>4. muscles; peroneus longus, tibialis anterior and posterior, flexor </a:t>
            </a:r>
          </a:p>
          <a:p>
            <a:pPr marL="0" indent="0">
              <a:buNone/>
            </a:pPr>
            <a:r>
              <a:rPr lang="en-US" dirty="0"/>
              <a:t>     hallucis longus, intrinsic muscles of the foot</a:t>
            </a:r>
          </a:p>
        </p:txBody>
      </p:sp>
    </p:spTree>
    <p:extLst>
      <p:ext uri="{BB962C8B-B14F-4D97-AF65-F5344CB8AC3E}">
        <p14:creationId xmlns:p14="http://schemas.microsoft.com/office/powerpoint/2010/main" val="297081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A6B1-ABB2-E909-DFBB-D4DD52CAB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MENTAINANCE OF ARCHES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972747-6617-7735-B5D6-C18FF81D9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0" y="1825624"/>
            <a:ext cx="6319519" cy="477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82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26D1-54D9-68C8-B193-F615747A8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FUNCTIONS OF THE ARCHES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132E5-0FA5-40B9-1ED8-CC7AA4B84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allows for weight distributions, </a:t>
            </a:r>
          </a:p>
          <a:p>
            <a:r>
              <a:rPr lang="en-US" dirty="0"/>
              <a:t>Acts as shock absorber and spring board for propelling the foot during walking, running and jumping</a:t>
            </a:r>
          </a:p>
          <a:p>
            <a:r>
              <a:rPr lang="en-US" dirty="0"/>
              <a:t>The resilient arches add to the foot’s ability to adopt to changes in surface contour</a:t>
            </a:r>
          </a:p>
        </p:txBody>
      </p:sp>
    </p:spTree>
    <p:extLst>
      <p:ext uri="{BB962C8B-B14F-4D97-AF65-F5344CB8AC3E}">
        <p14:creationId xmlns:p14="http://schemas.microsoft.com/office/powerpoint/2010/main" val="2813164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AFE6-4052-074E-35F5-A0D8B7061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CLINICAL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0795A-DA45-5A45-0524-13E1B29A4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Medial plantar nerve entrapment; the medial plantar nerve can become compressed and irritated as it passes deep to the abductor hallucis muscle </a:t>
            </a:r>
          </a:p>
          <a:p>
            <a:r>
              <a:rPr lang="en-US" dirty="0"/>
              <a:t>This can cause aching, numbness, </a:t>
            </a:r>
            <a:r>
              <a:rPr lang="en-US" dirty="0" err="1"/>
              <a:t>paraesthesia</a:t>
            </a:r>
            <a:r>
              <a:rPr lang="en-US" dirty="0"/>
              <a:t> on the medial side of the sole of the foot</a:t>
            </a:r>
          </a:p>
          <a:p>
            <a:r>
              <a:rPr lang="en-US" dirty="0"/>
              <a:t>Repetitive eversion of the foot in some sports like gymnastics can compress the nerve</a:t>
            </a:r>
          </a:p>
          <a:p>
            <a:endParaRPr lang="en-US" dirty="0"/>
          </a:p>
          <a:p>
            <a:r>
              <a:rPr lang="en-US" dirty="0"/>
              <a:t>Pes planus (flat foot); absence of the longitudinal arch</a:t>
            </a:r>
          </a:p>
          <a:p>
            <a:r>
              <a:rPr lang="en-US" dirty="0"/>
              <a:t>Pes </a:t>
            </a:r>
            <a:r>
              <a:rPr lang="en-US" dirty="0" err="1"/>
              <a:t>cavus</a:t>
            </a:r>
            <a:r>
              <a:rPr lang="en-US" dirty="0"/>
              <a:t> ( high arches); the medial longitudinal arch become unusually high</a:t>
            </a:r>
          </a:p>
          <a:p>
            <a:r>
              <a:rPr lang="en-US" dirty="0"/>
              <a:t>CAUSES;  idiopathic, hereditary, congenital (club foot)</a:t>
            </a:r>
          </a:p>
        </p:txBody>
      </p:sp>
    </p:spTree>
    <p:extLst>
      <p:ext uri="{BB962C8B-B14F-4D97-AF65-F5344CB8AC3E}">
        <p14:creationId xmlns:p14="http://schemas.microsoft.com/office/powerpoint/2010/main" val="3853389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ABFC0-2B01-1074-98BB-0A008F74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14043-4191-5C99-874B-E034D6E6C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95354"/>
                </a:solidFill>
                <a:effectLst/>
                <a:latin typeface="PlutoSansLight"/>
              </a:rPr>
              <a:t>Drake, R., Vogl, W., Mitchell, A. &amp; Gray, H. (2015). Gray's anatomy for students. Philadelphia, PA: Churchill Livingstone/Elsevier.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95354"/>
                </a:solidFill>
                <a:effectLst/>
                <a:latin typeface="PlutoSansLight"/>
              </a:rPr>
              <a:t>Moore, K. L., Dalley, A. F., &amp; Agur, A. M. R. (2014). Clinically Oriented Anatomy (7th ed.). Philadelphia, PA: Lippincott Williams &amp; Wilkins.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95354"/>
                </a:solidFill>
                <a:effectLst/>
                <a:latin typeface="PlutoSansLight"/>
              </a:rPr>
              <a:t>Standring, S. (2016). Gray's Anatomy (41st ed.). Edinburgh: Elsevier Churchill Livingstone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1332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B78A-3859-15B7-6EAC-772955E6C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E4747-8203-ADB4-5E6F-ED599F2A3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i="1" dirty="0"/>
              <a:t>THANK YOU 4 LISTENING</a:t>
            </a:r>
          </a:p>
        </p:txBody>
      </p:sp>
    </p:spTree>
    <p:extLst>
      <p:ext uri="{BB962C8B-B14F-4D97-AF65-F5344CB8AC3E}">
        <p14:creationId xmlns:p14="http://schemas.microsoft.com/office/powerpoint/2010/main" val="1273756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1359</Words>
  <Application>Microsoft Office PowerPoint</Application>
  <PresentationFormat>Widescreen</PresentationFormat>
  <Paragraphs>163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PlutoSansLight</vt:lpstr>
      <vt:lpstr>Office Theme</vt:lpstr>
      <vt:lpstr>SOLE OF THE FOOT BY DR. OGWUCHE ELIJAH (BSc. MSc. MB,BS) LAGOS STATE UNIVERSITY COLLEGE OF MEDICINE (LASUCOM),IKEJA. </vt:lpstr>
      <vt:lpstr>OUTLINE</vt:lpstr>
      <vt:lpstr>INTRODUCTION</vt:lpstr>
      <vt:lpstr>INTRODUCTION CONT’D</vt:lpstr>
      <vt:lpstr>SKIN</vt:lpstr>
      <vt:lpstr>DERMATONES</vt:lpstr>
      <vt:lpstr>FASCIA COMPARTMENTS OF THE SOLE</vt:lpstr>
      <vt:lpstr>PLANTAR APONEUROSIS</vt:lpstr>
      <vt:lpstr>PLANTAR APONEUROSIS</vt:lpstr>
      <vt:lpstr>SKELETAL FRAMEWORK</vt:lpstr>
      <vt:lpstr>BONES OF THE FOOT</vt:lpstr>
      <vt:lpstr>LAYERS OF THE FOOT</vt:lpstr>
      <vt:lpstr>LAYERS OF THE FOOT CONT’D</vt:lpstr>
      <vt:lpstr>Muscles of first layer</vt:lpstr>
      <vt:lpstr>Muscles of 2nd layer</vt:lpstr>
      <vt:lpstr>Muscles of 3rd layer</vt:lpstr>
      <vt:lpstr>Muscles of 4th layer</vt:lpstr>
      <vt:lpstr>COMPARTMENTS OF THE SOLE OF FOOT</vt:lpstr>
      <vt:lpstr>COMPARTMENTS CONT’D</vt:lpstr>
      <vt:lpstr>RETINACULAR CURTIS</vt:lpstr>
      <vt:lpstr>NERVE SUPPLY</vt:lpstr>
      <vt:lpstr> BLOOD SUPPLY</vt:lpstr>
      <vt:lpstr>BLOOD SUPPLY</vt:lpstr>
      <vt:lpstr>ARCHES OF THE FOOT</vt:lpstr>
      <vt:lpstr>ARCHES OF THE FOOT</vt:lpstr>
      <vt:lpstr>LONGITUDINAL ARCHES</vt:lpstr>
      <vt:lpstr>LONGITUDINAL ARCHES</vt:lpstr>
      <vt:lpstr>LONGITUDINAL ARCHES CONT’D</vt:lpstr>
      <vt:lpstr>LONGITUDINAL ARCHES</vt:lpstr>
      <vt:lpstr>TRANSVERSE ARCH</vt:lpstr>
      <vt:lpstr>MAINTENANCE OF THE ARCHES</vt:lpstr>
      <vt:lpstr>MENTAINANCE OF ARCHES </vt:lpstr>
      <vt:lpstr>FUNCTIONS OF THE ARCHES</vt:lpstr>
      <vt:lpstr>CLINICAL SIGNIFICANCE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Elijah Ogwuche</dc:creator>
  <cp:lastModifiedBy>Elijah Ogwuche</cp:lastModifiedBy>
  <cp:revision>2</cp:revision>
  <dcterms:created xsi:type="dcterms:W3CDTF">2025-05-25T16:21:02Z</dcterms:created>
  <dcterms:modified xsi:type="dcterms:W3CDTF">2025-05-27T11:50:30Z</dcterms:modified>
</cp:coreProperties>
</file>