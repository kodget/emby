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zIE4rydON9ZnOMjVkEvWq4R8e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A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1142985"/>
            <a:ext cx="7772400" cy="1785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ADDUCTOR CANAL 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000100" y="3886200"/>
            <a:ext cx="7072362" cy="1971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</a:pPr>
            <a:r>
              <a:rPr lang="en-AU" sz="3600">
                <a:latin typeface="Arial Black"/>
                <a:ea typeface="Arial Black"/>
                <a:cs typeface="Arial Black"/>
                <a:sym typeface="Arial Black"/>
              </a:rPr>
              <a:t>BY</a:t>
            </a:r>
            <a:endParaRPr/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</a:pPr>
            <a:r>
              <a:t/>
            </a:r>
            <a:endParaRPr sz="36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</a:pPr>
            <a:r>
              <a:rPr lang="en-AU" sz="3600">
                <a:latin typeface="Arial Black"/>
                <a:ea typeface="Arial Black"/>
                <a:cs typeface="Arial Black"/>
                <a:sym typeface="Arial Black"/>
              </a:rPr>
              <a:t>DR OJEWALE A.O</a:t>
            </a:r>
            <a:endParaRPr sz="3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785926"/>
            <a:ext cx="8229600" cy="43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Char char="•"/>
            </a:pPr>
            <a:r>
              <a:rPr lang="en-AU" sz="4400">
                <a:latin typeface="Arial"/>
                <a:ea typeface="Arial"/>
                <a:cs typeface="Arial"/>
                <a:sym typeface="Arial"/>
              </a:rPr>
              <a:t>Intro’</a:t>
            </a:r>
            <a:endParaRPr sz="44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Char char="•"/>
            </a:pPr>
            <a:r>
              <a:rPr lang="en-AU" sz="4400">
                <a:latin typeface="Arial"/>
                <a:ea typeface="Arial"/>
                <a:cs typeface="Arial"/>
                <a:sym typeface="Arial"/>
              </a:rPr>
              <a:t>Boundaries</a:t>
            </a:r>
            <a:endParaRPr/>
          </a:p>
          <a:p>
            <a:pPr indent="-342900" lvl="0" marL="34290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Char char="•"/>
            </a:pPr>
            <a:r>
              <a:rPr lang="en-AU" sz="4400">
                <a:latin typeface="Arial"/>
                <a:ea typeface="Arial"/>
                <a:cs typeface="Arial"/>
                <a:sym typeface="Arial"/>
              </a:rPr>
              <a:t>Contents</a:t>
            </a:r>
            <a:endParaRPr/>
          </a:p>
          <a:p>
            <a:pPr indent="-342900" lvl="0" marL="34290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Char char="•"/>
            </a:pPr>
            <a:r>
              <a:rPr lang="en-AU" sz="4400">
                <a:latin typeface="Arial"/>
                <a:ea typeface="Arial"/>
                <a:cs typeface="Arial"/>
                <a:sym typeface="Arial"/>
              </a:rPr>
              <a:t>Applied Anatomy</a:t>
            </a:r>
            <a:endParaRPr/>
          </a:p>
          <a:p>
            <a:pPr indent="-342900" lvl="0" marL="34290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sz="4400"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3500430" y="714356"/>
            <a:ext cx="240963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4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Outline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0" y="214290"/>
            <a:ext cx="9001156" cy="1203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ADDUCTOR (SUBSARTORIAL) CANAL (HUNTER’S CANAL</a:t>
            </a:r>
            <a:r>
              <a:rPr lang="en-AU"/>
              <a:t>)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285720" y="1357298"/>
            <a:ext cx="8643998" cy="528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aponeurotic tunnel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located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one-third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thigh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deep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one-third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sartorius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triangle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above,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tendinous opening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magnus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below. It provides passage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vessels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triangle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popliteal fossa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357298"/>
            <a:ext cx="8229600" cy="5072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measures about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15 cm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proximodistal extent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triangular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cross-section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its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fascial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being supported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muscles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contains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vessels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nerves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these include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saphenous 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vastus medialis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id="116" name="Google Shape;116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480" y="1500174"/>
            <a:ext cx="5643602" cy="433944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2285984" y="6143644"/>
            <a:ext cx="41601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Femoral triangle and adductor canal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57200" y="142852"/>
            <a:ext cx="8229600" cy="107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Boundaries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214282" y="1142984"/>
            <a:ext cx="8643998" cy="54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bounded: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Anterolaterally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vastus medialis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(floor)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longus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above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magnus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below.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Anteromedial wall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(roof): It is formed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strong fibrous membrane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stretching across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anterolateral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boundaries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roof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overlapped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sartorius muscle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Contents of the adductor canal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214282" y="1357298"/>
            <a:ext cx="8715436" cy="5214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Femoral artery.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Femoral vein.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Saphenous nerve.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Nerve to vastus medialis.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Anterior and posterior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  divisions of the obturator nerve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Descending genicular artery,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   a branch of the femoral artery.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12" y="1071546"/>
            <a:ext cx="2857488" cy="5072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 txBox="1"/>
          <p:nvPr/>
        </p:nvSpPr>
        <p:spPr>
          <a:xfrm>
            <a:off x="5072066" y="6143644"/>
            <a:ext cx="36433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Contents of the adductor canal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285720" y="214290"/>
            <a:ext cx="8229600" cy="1357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Regarding the contents of adductor canal, note that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285720" y="1571612"/>
            <a:ext cx="8572560" cy="5500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enters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 of the femoral triangle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traverses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whole length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leaves it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passing 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tendinous opening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hiatus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magnus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gives off muscular branches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descending genicular branch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descending genicular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arises before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leaves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48" y="714356"/>
            <a:ext cx="7786742" cy="5411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9"/>
          <p:cNvSpPr txBox="1"/>
          <p:nvPr/>
        </p:nvSpPr>
        <p:spPr>
          <a:xfrm>
            <a:off x="2357422" y="5929330"/>
            <a:ext cx="3288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Branches of the femoral artery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idx="1" type="body"/>
          </p:nvPr>
        </p:nvSpPr>
        <p:spPr>
          <a:xfrm>
            <a:off x="142789" y="-136808"/>
            <a:ext cx="9001200" cy="6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posterolateral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saphenous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longest cutaneous nerve of the body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crosses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initially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finally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leaves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proximal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opening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piercing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fibrous membrane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gives off infrapatellar branch as it exits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canal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pierces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sartorius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joins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patellar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supplies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prepatellar skin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3857620" y="0"/>
            <a:ext cx="314327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457200" y="-285776"/>
            <a:ext cx="8229600" cy="1214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0" y="357166"/>
            <a:ext cx="9001156" cy="7000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32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saphenous nerve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longest and largest branch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femoral nerve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32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arises from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femoral nerve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femoral triangle; here,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it descends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lateral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femoral artery.</a:t>
            </a:r>
            <a:endParaRPr/>
          </a:p>
          <a:p>
            <a:pPr indent="-342932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leaves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femoral triangle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at its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apex,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to enter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adductor canal.</a:t>
            </a:r>
            <a:endParaRPr/>
          </a:p>
          <a:p>
            <a:pPr indent="-342932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pierces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fascial medial wall of the canal, proximal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adductor opening,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to emerge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medial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knee (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between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sartorius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 gracilis),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where it becomes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subcutaneous.</a:t>
            </a:r>
            <a:endParaRPr/>
          </a:p>
          <a:p>
            <a:pPr indent="-342932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continues to descend on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medial aspect of the knee and leg,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where it is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accompanied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great saphenous vein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idx="1" type="body"/>
          </p:nvPr>
        </p:nvSpPr>
        <p:spPr>
          <a:xfrm>
            <a:off x="0" y="642918"/>
            <a:ext cx="9144000" cy="6786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32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passes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ankle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, to enter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medial aspect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foot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32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innervates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the skin of the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 medial aspect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knee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leg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foot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32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gives a branch 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subsartorial plexus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nerve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thigh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; this plexus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innervates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the skin 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medial aspect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thigh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32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nerve to vastus medialis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thickest muscular branch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femoral nerve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) lies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lateral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saphenous nerve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femoral vessels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nerve to vastus medialis enters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vastus medialis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 mid-way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along that muscle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being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first structure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to leave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canal,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followed by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saphenous nerve)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 sz="3500">
              <a:latin typeface="Arial"/>
              <a:ea typeface="Arial"/>
              <a:cs typeface="Arial"/>
              <a:sym typeface="Arial"/>
            </a:endParaRPr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66" name="Google Shape;166;p12"/>
          <p:cNvSpPr txBox="1"/>
          <p:nvPr/>
        </p:nvSpPr>
        <p:spPr>
          <a:xfrm>
            <a:off x="3714744" y="0"/>
            <a:ext cx="243730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id="173" name="Google Shape;17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96" y="928670"/>
            <a:ext cx="8286808" cy="507209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 txBox="1"/>
          <p:nvPr/>
        </p:nvSpPr>
        <p:spPr>
          <a:xfrm>
            <a:off x="142845" y="5929330"/>
            <a:ext cx="85725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Boundaries and contents of the adductor canal as seen in the transverse section through middle one-third of the thigh.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>
            <p:ph type="title"/>
          </p:nvPr>
        </p:nvSpPr>
        <p:spPr>
          <a:xfrm>
            <a:off x="457200" y="274638"/>
            <a:ext cx="8229600" cy="1296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 sz="4900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br>
              <a:rPr lang="en-AU">
                <a:latin typeface="Arial Black"/>
                <a:ea typeface="Arial Black"/>
                <a:cs typeface="Arial Black"/>
                <a:sym typeface="Arial Black"/>
              </a:rPr>
            </a:br>
            <a:endParaRPr/>
          </a:p>
        </p:txBody>
      </p:sp>
      <p:sp>
        <p:nvSpPr>
          <p:cNvPr id="180" name="Google Shape;180;p14"/>
          <p:cNvSpPr txBox="1"/>
          <p:nvPr>
            <p:ph idx="1" type="body"/>
          </p:nvPr>
        </p:nvSpPr>
        <p:spPr>
          <a:xfrm>
            <a:off x="457200" y="928670"/>
            <a:ext cx="8229600" cy="5197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division of obturator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passes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downwards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thigh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front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obturator externus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then descends behind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pectineus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longus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 front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brevis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division of obturator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runs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magnus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ends by supplying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knee joint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type="title"/>
          </p:nvPr>
        </p:nvSpPr>
        <p:spPr>
          <a:xfrm>
            <a:off x="457200" y="500042"/>
            <a:ext cx="82296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APPLIED ANATOMY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457200" y="1643050"/>
            <a:ext cx="8229600" cy="4929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femoral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exposed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ligated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adductor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during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surgery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aneurysm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popliteal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This is because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at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side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healthy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does not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tear when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tied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may occur if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 is tied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popliteal fossa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immediately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popliteal aneurysm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457200" y="2071678"/>
            <a:ext cx="8229600" cy="405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</a:pPr>
            <a:r>
              <a:rPr lang="en-AU" sz="6000">
                <a:latin typeface="Arial Black"/>
                <a:ea typeface="Arial Black"/>
                <a:cs typeface="Arial Black"/>
                <a:sym typeface="Arial Black"/>
              </a:rPr>
              <a:t>THANK YOU ALL, FOR LISTENING.</a:t>
            </a:r>
            <a:endParaRPr sz="6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00" name="Google Shape;2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69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2023-01-16T09:45:14Z</dcterms:created>
  <dc:creator>Dr. Ojewale</dc:creator>
</cp:coreProperties>
</file>