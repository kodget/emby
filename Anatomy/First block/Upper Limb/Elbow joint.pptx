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1E55B-0DD4-428D-A222-FA76601F201D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A0347-99F9-4957-B209-450CAA8A073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85795"/>
            <a:ext cx="7772400" cy="1428759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ELBOW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538" y="3886200"/>
            <a:ext cx="6858048" cy="175260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BY</a:t>
            </a:r>
          </a:p>
          <a:p>
            <a:endParaRPr lang="en-AU" dirty="0">
              <a:latin typeface="Arial Black" pitchFamily="34" charset="0"/>
            </a:endParaRPr>
          </a:p>
          <a:p>
            <a:r>
              <a:rPr lang="en-AU" dirty="0" smtClean="0">
                <a:latin typeface="Arial Black" pitchFamily="34" charset="0"/>
              </a:rPr>
              <a:t>DR. OJEWALE A.O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Type 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Articular surfaces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Ligaments</a:t>
            </a:r>
          </a:p>
          <a:p>
            <a:r>
              <a:rPr lang="en-AU" dirty="0" err="1" smtClean="0">
                <a:latin typeface="Arial" pitchFamily="34" charset="0"/>
                <a:cs typeface="Arial" pitchFamily="34" charset="0"/>
              </a:rPr>
              <a:t>Bursae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Stability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Blood Supply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Movements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00132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4290"/>
            <a:ext cx="9144000" cy="6643710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joint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end of the 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ends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actually includes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articulations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H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umero-ulnar articulation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trochlear notch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H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umero-radial articulation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capitulum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of 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situated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2 cm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joining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epicondyles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surface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430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complexity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further increased by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continuity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radio-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ulnar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here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articulations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region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err="1">
                <a:latin typeface="Arial" pitchFamily="34" charset="0"/>
                <a:cs typeface="Arial" pitchFamily="34" charset="0"/>
              </a:rPr>
              <a:t>H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umero-ulnar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dirty="0" err="1" smtClean="0">
                <a:latin typeface="Arial" pitchFamily="34" charset="0"/>
                <a:cs typeface="Arial" pitchFamily="34" charset="0"/>
              </a:rPr>
              <a:t>Humero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-radial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uperior (proximal) radio-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ulnar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These are called 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cubital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articulations.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hinge type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synovial joint</a:t>
            </a:r>
          </a:p>
          <a:p>
            <a:endParaRPr lang="en-AU" dirty="0" smtClean="0"/>
          </a:p>
          <a:p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071678"/>
            <a:ext cx="642942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ARTICULAR SURFACES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articular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capitulum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articular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trochlear notch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capitulum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rounded hemispherical eminence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possesses smooth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only on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aspects.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50070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capitulum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resembles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pulley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flange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projects to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level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than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flange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trochlear notch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 process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circular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outline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slightly depressed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center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LIGAMENTS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472518" cy="4857784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CAPSULAR LIGAMENT (JOINT CAPSULE)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fibrous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enclosing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cavity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inner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capsule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lined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synovial membrane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39850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Attachment</a:t>
            </a:r>
            <a:r>
              <a:rPr lang="en-AU" dirty="0" smtClean="0"/>
              <a:t/>
            </a:r>
            <a:br>
              <a:rPr lang="en-AU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71501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margins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fossae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i.e.,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encloses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all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non-articular fossae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margins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 process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annular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margins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Note,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not attached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500042"/>
            <a:ext cx="8429684" cy="5626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2844" y="6072206"/>
            <a:ext cx="10562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Attachment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capsular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A, anterior aspect; B, posterior aspect; 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C, anterosuperior aspect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To facilitate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movements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flexion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anterior and posterior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aspects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capsule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thinner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than the sides.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inner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capsule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non-articular bony parts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inside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lined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synovial membrane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forms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crescentic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humero-radial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humero-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ulnar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parts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contains an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extrasynovial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fat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joint capsule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there are 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three other fat pads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occupying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olecranon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coronoid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radial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fossae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synovial membrane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elbow joint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is continuous inferiorly with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superior radio-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ulnar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joint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85794"/>
            <a:ext cx="8643998" cy="657229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MEDIAL LIGAMENT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triangular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shape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with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bands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-united by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thin region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band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(strongest and stiffness) extends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tubercle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286544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erior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extends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band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oblique band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extends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 processes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bands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intermediate fibres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descend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oblique band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50112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285852" y="6215082"/>
            <a:ext cx="607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Attachments of ulnar collateral ligament of the elbow joint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71546"/>
            <a:ext cx="8229600" cy="4857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71604" y="6000768"/>
            <a:ext cx="5786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Elbow joint: A; Saggital section, B; Synovial sac (distended)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357166"/>
            <a:ext cx="8786874" cy="700092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LATERAL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extends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annular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which it blends.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RELATIONS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Anterior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Brachialis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Median nerve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Brachial artery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Tendon of biceps brachii. The last three structures are separated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capsule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brachialis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2500306"/>
            <a:ext cx="3529015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2144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642918"/>
            <a:ext cx="8501122" cy="642942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Tendon of triceps</a:t>
            </a:r>
          </a:p>
          <a:p>
            <a:pPr algn="just"/>
            <a:r>
              <a:rPr lang="en-AU" dirty="0" err="1" smtClean="0">
                <a:latin typeface="Arial" pitchFamily="34" charset="0"/>
                <a:cs typeface="Arial" pitchFamily="34" charset="0"/>
              </a:rPr>
              <a:t>Anconeus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Flexor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carpi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ulnaris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Ulnar nerve (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posteromedially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Common flexor origin of the muscles of the forearm (anteromedially)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Laterally</a:t>
            </a:r>
          </a:p>
          <a:p>
            <a:pPr algn="just"/>
            <a:r>
              <a:rPr lang="en-AU" dirty="0" err="1" smtClean="0">
                <a:latin typeface="Arial" pitchFamily="34" charset="0"/>
                <a:cs typeface="Arial" pitchFamily="34" charset="0"/>
              </a:rPr>
              <a:t>Supinator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Common extensor origin of the muscles of the forearm (posterolaterally)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xtensor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carpi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radialis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brevis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7858179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488" y="6286520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Relations of the elbow joint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BURSAE RELATED TO THE ELBOW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6072230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There are four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important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bursae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related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 two in relation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triceps insertion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two in relation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biceps insertion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err="1" smtClean="0">
                <a:latin typeface="Arial" pitchFamily="34" charset="0"/>
                <a:cs typeface="Arial" pitchFamily="34" charset="0"/>
              </a:rPr>
              <a:t>Subtendinous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olecranon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triceps tendon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olecranon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triangular 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/>
          <a:lstStyle/>
          <a:p>
            <a:pPr algn="just"/>
            <a:r>
              <a:rPr lang="en-AU" b="1" dirty="0" err="1" smtClean="0">
                <a:latin typeface="Arial" pitchFamily="34" charset="0"/>
                <a:cs typeface="Arial" pitchFamily="34" charset="0"/>
              </a:rPr>
              <a:t>Bicipitoradial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separating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biceps tendon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smooth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radial tuberosity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separating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biceps tendon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oblique cord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STABILITY OF THE ELBOW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quite stable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due to the following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factors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Pulley-shaped trochlea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fits properly into jaw-like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trochlear notch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Strong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ulnar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radial collateral ligaments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29718" cy="1142984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itchFamily="34" charset="0"/>
              </a:rPr>
              <a:t>BLOOD (ARTERIAL) SUPPLY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01122" cy="607223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by arterial anastomosis around the elbow formed by the branches of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Brachial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[Profunda brachii artery (radial collateral artery, posterior descending artery and middle collateral artery), superior 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inferior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ulnar collateral arteries]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Ulnar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(anterior and posterior ulnar recurrent arteries, a branch of common interosseous artery)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Radial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(radial recurrent artery)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24</a:t>
            </a:fld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857232"/>
            <a:ext cx="7429552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28728" y="6215082"/>
            <a:ext cx="6500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Arterial anastomosis around the elbow joint (L=lateral epicondyle, M=medial epicondyle).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NERVE SUPPLY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by articular branches from: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adial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(through its branch to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anconeus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</a:t>
            </a:r>
          </a:p>
          <a:p>
            <a:pPr algn="just"/>
            <a:r>
              <a:rPr lang="en-AU" b="1" dirty="0" err="1">
                <a:latin typeface="Arial" pitchFamily="34" charset="0"/>
                <a:cs typeface="Arial" pitchFamily="34" charset="0"/>
              </a:rPr>
              <a:t>M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usculocutaneous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(through its branch to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brachialis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U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lnar nerve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edian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82726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MOVEMENTS OF THE ELBOW JOINT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928802"/>
          <a:ext cx="8229600" cy="35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87991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Movements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Muscles producing movements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69641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Flexion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 Brachialis</a:t>
                      </a:r>
                    </a:p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 Biceps brachii</a:t>
                      </a:r>
                    </a:p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 Brachioradialis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18749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Extension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 Triceps</a:t>
                      </a:r>
                    </a:p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 Anconeus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329642" cy="628654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Elbow effusion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distension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effusion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within its cavity occurs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because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joint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covering fascia is also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thin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aspirated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inserting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needle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posterolateral side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above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of radius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angle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Dislocation of 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dislocations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more common and are often associated 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fracture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coronoid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dislocation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invariably occurs by falling on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outstretched hand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triangular relationship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epicondyles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lost. Note,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normal flexed elbow,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 tip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two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epicondyles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 an ‘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equilateral triangle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’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reduction, if done early, is achieved fairly easily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giving traction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overcome spasm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then flexing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lever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joint back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place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642918"/>
            <a:ext cx="8501122" cy="621508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Nursemaid’s elbow/pulled elbow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subluxation of head of 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occurs in 1–3 years 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(preschool children)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suddenly pulled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pronation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of radius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comes out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annular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kept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slightly flexed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pronated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An attempt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supinate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causes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severe pain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reduction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easily achieved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supinating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simultaneously applying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direct pressure posteriorly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of radius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5" y="1785926"/>
            <a:ext cx="5895998" cy="3386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71538" y="5357826"/>
            <a:ext cx="642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Pulled  elbow:  A, head of radius within cup-shaped annular ligament; B, head of radius displaced down from the annular ligament.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571480"/>
            <a:ext cx="8401080" cy="657229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Tennis 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a clinical condition characterized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tenderness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over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sudden pronation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occurs due to: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sprain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collateral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elbow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fibres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extensor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carpi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radialis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brevis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inflammation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underneath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extensor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carpi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radialis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brevis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strain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common extensor origin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650085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Golfer’s elbow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It is a clinical condition characterized by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pain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tenderness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over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 of the humerus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occurs 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strain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common flexor origin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subsequent inflammation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epicondyle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following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repetitive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use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flexors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as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playing golf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Student’s elbow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(Miner’s elbow) is characterized by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round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oscillating painful swelling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over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occurs due to inflammation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olecranon bursa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lying over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triangular 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aspect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olecranon process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5143504" cy="3563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57158" y="5786454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Lateral and medial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epicondylitis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5350" y="1714488"/>
            <a:ext cx="443865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857752" y="5786454"/>
            <a:ext cx="357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Student’s elbow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(Miner’s elbow)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643998" cy="642942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compressions around elbow: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nerve entrapments around elbow are common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cause pain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muscle atrophy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weakness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supplied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entrapped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examples are: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Median nerve entrapment,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Ulnar nerve entrapment and posterior interosseous nerve entrapment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0D46-DA42-4B58-8CB6-BCDB7541C01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0F521-DCCF-4D69-9E62-A91F7C40960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1598</Words>
  <Application>Microsoft Office PowerPoint</Application>
  <PresentationFormat>On-screen Show (4:3)</PresentationFormat>
  <Paragraphs>183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ELBOW JOINT</vt:lpstr>
      <vt:lpstr>OUTLINE</vt:lpstr>
      <vt:lpstr>Intro’</vt:lpstr>
      <vt:lpstr>Cont’d</vt:lpstr>
      <vt:lpstr>Cont’d</vt:lpstr>
      <vt:lpstr>ARTICULAR SURFACES</vt:lpstr>
      <vt:lpstr>Cont’d</vt:lpstr>
      <vt:lpstr>LIGAMENTS</vt:lpstr>
      <vt:lpstr>Attachment </vt:lpstr>
      <vt:lpstr>Slide 10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BURSAE RELATED TO THE ELBOW JOINT</vt:lpstr>
      <vt:lpstr>Cont’d</vt:lpstr>
      <vt:lpstr>STABILITY OF THE ELBOW JOINT</vt:lpstr>
      <vt:lpstr>BLOOD (ARTERIAL) SUPPLY</vt:lpstr>
      <vt:lpstr>Slide 24</vt:lpstr>
      <vt:lpstr>NERVE SUPPLY</vt:lpstr>
      <vt:lpstr>MOVEMENTS OF THE ELBOW JOINT</vt:lpstr>
      <vt:lpstr>APPLIED ANATOMY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ELBOW JOINT</dc:title>
  <dc:creator>Dr. Ojewale</dc:creator>
  <cp:lastModifiedBy>Dr. Ojewale</cp:lastModifiedBy>
  <cp:revision>2</cp:revision>
  <dcterms:created xsi:type="dcterms:W3CDTF">2022-10-11T09:37:04Z</dcterms:created>
  <dcterms:modified xsi:type="dcterms:W3CDTF">2022-10-11T10:08:58Z</dcterms:modified>
</cp:coreProperties>
</file>