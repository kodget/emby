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y="6858000" cx="12192000"/>
  <p:notesSz cx="6858000" cy="9144000"/>
  <p:embeddedFontLst>
    <p:embeddedFont>
      <p:font typeface="Arial Black"/>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jhLySmW/NVHIAPiVwAYadEC8xC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customschemas.google.com/relationships/presentationmetadata" Target="metadata"/><Relationship Id="rId10" Type="http://schemas.openxmlformats.org/officeDocument/2006/relationships/slide" Target="slides/slide6.xml"/><Relationship Id="rId54" Type="http://schemas.openxmlformats.org/officeDocument/2006/relationships/font" Target="fonts/ArialBlack-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9"/>
          <p:cNvSpPr/>
          <p:nvPr>
            <p:ph idx="2" type="pic"/>
          </p:nvPr>
        </p:nvSpPr>
        <p:spPr>
          <a:xfrm>
            <a:off x="5183188" y="987425"/>
            <a:ext cx="6172200" cy="4873625"/>
          </a:xfrm>
          <a:prstGeom prst="rect">
            <a:avLst/>
          </a:prstGeom>
          <a:noFill/>
          <a:ln>
            <a:noFill/>
          </a:ln>
        </p:spPr>
      </p:sp>
      <p:sp>
        <p:nvSpPr>
          <p:cNvPr id="64" name="Google Shape;64;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C00000"/>
              </a:buClr>
              <a:buSzPts val="6000"/>
              <a:buFont typeface="Times New Roman"/>
              <a:buNone/>
            </a:pPr>
            <a:r>
              <a:rPr b="1" lang="en-AU">
                <a:solidFill>
                  <a:srgbClr val="C00000"/>
                </a:solidFill>
                <a:latin typeface="Times New Roman"/>
                <a:ea typeface="Times New Roman"/>
                <a:cs typeface="Times New Roman"/>
                <a:sym typeface="Times New Roman"/>
              </a:rPr>
              <a:t>OSTEOLOGY OF THE UPPER LIMB</a:t>
            </a:r>
            <a:endParaRPr b="1">
              <a:solidFill>
                <a:srgbClr val="C00000"/>
              </a:solidFill>
              <a:latin typeface="Times New Roman"/>
              <a:ea typeface="Times New Roman"/>
              <a:cs typeface="Times New Roman"/>
              <a:sym typeface="Times New Roman"/>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AU">
                <a:latin typeface="Times New Roman"/>
                <a:ea typeface="Times New Roman"/>
                <a:cs typeface="Times New Roman"/>
                <a:sym typeface="Times New Roman"/>
              </a:rPr>
              <a:t>BY</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AU">
                <a:latin typeface="Times New Roman"/>
                <a:ea typeface="Times New Roman"/>
                <a:cs typeface="Times New Roman"/>
                <a:sym typeface="Times New Roman"/>
              </a:rPr>
              <a:t>Dr. F.O. OPOOLA</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INTRODUCTION</a:t>
            </a:r>
            <a:endParaRPr b="1">
              <a:solidFill>
                <a:srgbClr val="C00000"/>
              </a:solidFill>
              <a:latin typeface="Times New Roman"/>
              <a:ea typeface="Times New Roman"/>
              <a:cs typeface="Times New Roman"/>
              <a:sym typeface="Times New Roman"/>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Each upper limb contains 32 bones namely:</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lang="en-AU" sz="2800">
                <a:latin typeface="Times New Roman"/>
                <a:ea typeface="Times New Roman"/>
                <a:cs typeface="Times New Roman"/>
                <a:sym typeface="Times New Roman"/>
              </a:rPr>
              <a:t>Bones of the pectoral girdle: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Scapula, the shoulder blade (1).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Clavicle, the collar bone (1).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Humerus, the bone of arm (1).</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Radius and ulna, the bones of forearm (2).</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Carpal bones, the bones of wrist (8).</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Metacarpals, the bones of hand (5).</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Phalanges, the bones of digits (fingers) (14).</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92" name="Google Shape;92;p2"/>
          <p:cNvPicPr preferRelativeResize="0"/>
          <p:nvPr/>
        </p:nvPicPr>
        <p:blipFill rotWithShape="1">
          <a:blip r:embed="rId3">
            <a:alphaModFix/>
          </a:blip>
          <a:srcRect b="0" l="0" r="0" t="0"/>
          <a:stretch/>
        </p:blipFill>
        <p:spPr>
          <a:xfrm>
            <a:off x="8154701" y="681037"/>
            <a:ext cx="3571900" cy="55721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CLAVICLE</a:t>
            </a:r>
            <a:endParaRPr b="1">
              <a:solidFill>
                <a:srgbClr val="C00000"/>
              </a:solidFill>
              <a:latin typeface="Times New Roman"/>
              <a:ea typeface="Times New Roman"/>
              <a:cs typeface="Times New Roman"/>
              <a:sym typeface="Times New Roman"/>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clavicle or collar bone is the </a:t>
            </a:r>
            <a:r>
              <a:rPr b="1" lang="en-AU" sz="2800">
                <a:latin typeface="Times New Roman"/>
                <a:ea typeface="Times New Roman"/>
                <a:cs typeface="Times New Roman"/>
                <a:sym typeface="Times New Roman"/>
              </a:rPr>
              <a:t>long bone</a:t>
            </a:r>
            <a:r>
              <a:rPr lang="en-AU" sz="2800">
                <a:latin typeface="Times New Roman"/>
                <a:ea typeface="Times New Roman"/>
                <a:cs typeface="Times New Roman"/>
                <a:sym typeface="Times New Roman"/>
              </a:rPr>
              <a:t>, with a </a:t>
            </a:r>
            <a:r>
              <a:rPr b="1" lang="en-AU" sz="2800">
                <a:latin typeface="Times New Roman"/>
                <a:ea typeface="Times New Roman"/>
                <a:cs typeface="Times New Roman"/>
                <a:sym typeface="Times New Roman"/>
              </a:rPr>
              <a:t>slight S-shaped curve</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located </a:t>
            </a:r>
            <a:r>
              <a:rPr b="1" lang="en-AU" sz="2800">
                <a:latin typeface="Times New Roman"/>
                <a:ea typeface="Times New Roman"/>
                <a:cs typeface="Times New Roman"/>
                <a:sym typeface="Times New Roman"/>
              </a:rPr>
              <a:t>horizontally</a:t>
            </a:r>
            <a:r>
              <a:rPr lang="en-AU" sz="2800">
                <a:latin typeface="Times New Roman"/>
                <a:ea typeface="Times New Roman"/>
                <a:cs typeface="Times New Roman"/>
                <a:sym typeface="Times New Roman"/>
              </a:rPr>
              <a:t> on the </a:t>
            </a:r>
            <a:r>
              <a:rPr b="1" lang="en-AU" sz="2800">
                <a:latin typeface="Times New Roman"/>
                <a:ea typeface="Times New Roman"/>
                <a:cs typeface="Times New Roman"/>
                <a:sym typeface="Times New Roman"/>
              </a:rPr>
              <a:t>anterior aspect of the body </a:t>
            </a:r>
            <a:r>
              <a:rPr lang="en-AU" sz="2800">
                <a:latin typeface="Times New Roman"/>
                <a:ea typeface="Times New Roman"/>
                <a:cs typeface="Times New Roman"/>
                <a:sym typeface="Times New Roman"/>
              </a:rPr>
              <a:t>at the </a:t>
            </a:r>
            <a:r>
              <a:rPr b="1" lang="en-AU" sz="2800">
                <a:latin typeface="Times New Roman"/>
                <a:ea typeface="Times New Roman"/>
                <a:cs typeface="Times New Roman"/>
                <a:sym typeface="Times New Roman"/>
              </a:rPr>
              <a:t>junction of root of the neck and trunk</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articulates </a:t>
            </a:r>
            <a:r>
              <a:rPr b="1" lang="en-AU" sz="2800">
                <a:latin typeface="Times New Roman"/>
                <a:ea typeface="Times New Roman"/>
                <a:cs typeface="Times New Roman"/>
                <a:sym typeface="Times New Roman"/>
              </a:rPr>
              <a:t>medially with the sternum </a:t>
            </a:r>
            <a:r>
              <a:rPr lang="en-AU" sz="2800">
                <a:latin typeface="Times New Roman"/>
                <a:ea typeface="Times New Roman"/>
                <a:cs typeface="Times New Roman"/>
                <a:sym typeface="Times New Roman"/>
              </a:rPr>
              <a:t>and </a:t>
            </a:r>
            <a:r>
              <a:rPr b="1" lang="en-AU" sz="2800">
                <a:latin typeface="Times New Roman"/>
                <a:ea typeface="Times New Roman"/>
                <a:cs typeface="Times New Roman"/>
                <a:sym typeface="Times New Roman"/>
              </a:rPr>
              <a:t>1st rib cartilage </a:t>
            </a:r>
            <a:r>
              <a:rPr lang="en-AU" sz="2800">
                <a:latin typeface="Times New Roman"/>
                <a:ea typeface="Times New Roman"/>
                <a:cs typeface="Times New Roman"/>
                <a:sym typeface="Times New Roman"/>
              </a:rPr>
              <a:t>and </a:t>
            </a:r>
            <a:r>
              <a:rPr b="1" lang="en-AU" sz="2800">
                <a:latin typeface="Times New Roman"/>
                <a:ea typeface="Times New Roman"/>
                <a:cs typeface="Times New Roman"/>
                <a:sym typeface="Times New Roman"/>
              </a:rPr>
              <a:t>laterally with the acromion process of the scapula</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a:t>
            </a:r>
            <a:r>
              <a:rPr b="1" lang="en-AU" sz="2800">
                <a:latin typeface="Times New Roman"/>
                <a:ea typeface="Times New Roman"/>
                <a:cs typeface="Times New Roman"/>
                <a:sym typeface="Times New Roman"/>
              </a:rPr>
              <a:t>subcutaneous</a:t>
            </a:r>
            <a:r>
              <a:rPr lang="en-AU" sz="2800">
                <a:latin typeface="Times New Roman"/>
                <a:ea typeface="Times New Roman"/>
                <a:cs typeface="Times New Roman"/>
                <a:sym typeface="Times New Roman"/>
              </a:rPr>
              <a:t> and hence it can be palpated through its entire extent.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the only </a:t>
            </a:r>
            <a:r>
              <a:rPr b="1" lang="en-AU" sz="2800">
                <a:latin typeface="Times New Roman"/>
                <a:ea typeface="Times New Roman"/>
                <a:cs typeface="Times New Roman"/>
                <a:sym typeface="Times New Roman"/>
              </a:rPr>
              <a:t>bony attachment </a:t>
            </a:r>
            <a:r>
              <a:rPr lang="en-AU" sz="2800">
                <a:latin typeface="Times New Roman"/>
                <a:ea typeface="Times New Roman"/>
                <a:cs typeface="Times New Roman"/>
                <a:sym typeface="Times New Roman"/>
              </a:rPr>
              <a:t>between the </a:t>
            </a:r>
            <a:r>
              <a:rPr b="1" lang="en-AU" sz="2800">
                <a:latin typeface="Times New Roman"/>
                <a:ea typeface="Times New Roman"/>
                <a:cs typeface="Times New Roman"/>
                <a:sym typeface="Times New Roman"/>
              </a:rPr>
              <a:t>trunk and upper limb</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FUNCTIONS OF THE CLAVICLE</a:t>
            </a:r>
            <a:endParaRPr b="1">
              <a:solidFill>
                <a:srgbClr val="C00000"/>
              </a:solidFill>
              <a:latin typeface="Times New Roman"/>
              <a:ea typeface="Times New Roman"/>
              <a:cs typeface="Times New Roman"/>
              <a:sym typeface="Times New Roman"/>
            </a:endParaRPr>
          </a:p>
        </p:txBody>
      </p:sp>
      <p:sp>
        <p:nvSpPr>
          <p:cNvPr id="104" name="Google Shape;10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acts as a strut for holding the upper limb far from the trunk so that it can move freely. This allows free swing of the upper limb and holding, catching, etc.</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transmits forces from the upper limb to the axial skeleton (sternum).</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provides an area for the attachment of muscles.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The features of the clavicle</a:t>
            </a:r>
            <a:endParaRPr b="1">
              <a:solidFill>
                <a:srgbClr val="C00000"/>
              </a:solidFill>
              <a:latin typeface="Times New Roman"/>
              <a:ea typeface="Times New Roman"/>
              <a:cs typeface="Times New Roman"/>
              <a:sym typeface="Times New Roman"/>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is the only long bone which lies horizontally.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has no medullary cavity.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is subcutaneous throughout its extent.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is the first bone to start ossifying (between the fifth and sixth week of intrauterine life) and last bone to complete its ossification (at 25 years).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is the only long bone which ossifies by two primary centers.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is the only long bone which ossifies in membrane except for its medial end (long bones ossify in cartilage).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It may be pierced through and through by cutaneous nerve (supraclavicular nerve).</a:t>
            </a:r>
            <a:endParaRPr sz="2800">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CLAVICLE</a:t>
            </a:r>
            <a:endParaRPr/>
          </a:p>
        </p:txBody>
      </p:sp>
      <p:sp>
        <p:nvSpPr>
          <p:cNvPr id="116" name="Google Shape;116;p6"/>
          <p:cNvSpPr txBox="1"/>
          <p:nvPr>
            <p:ph idx="1" type="body"/>
          </p:nvPr>
        </p:nvSpPr>
        <p:spPr>
          <a:xfrm>
            <a:off x="838200" y="1825625"/>
            <a:ext cx="5695765" cy="4351338"/>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90000"/>
              </a:lnSpc>
              <a:spcBef>
                <a:spcPts val="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The clavicle consists of three parts: two ends (medial and lateral) and a shaft.</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rPr b="1" lang="en-AU" sz="2800">
                <a:latin typeface="Times New Roman"/>
                <a:ea typeface="Times New Roman"/>
                <a:cs typeface="Times New Roman"/>
                <a:sym typeface="Times New Roman"/>
              </a:rPr>
              <a:t>Ends:</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The lateral (acromial) end is flattened above downwards and articulates with medial margin of the acromion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AU" sz="2800">
                <a:latin typeface="Times New Roman"/>
                <a:ea typeface="Times New Roman"/>
                <a:cs typeface="Times New Roman"/>
                <a:sym typeface="Times New Roman"/>
              </a:rPr>
              <a:t>The medial (sternal) end is enlarged and quadrilateral. It articulates with the clavicular notch of the manubrium sterni</a:t>
            </a:r>
            <a:r>
              <a:rPr lang="en-AU" sz="3200">
                <a:latin typeface="Times New Roman"/>
                <a:ea typeface="Times New Roman"/>
                <a:cs typeface="Times New Roman"/>
                <a:sym typeface="Times New Roman"/>
              </a:rPr>
              <a:t>.</a:t>
            </a:r>
            <a:endParaRPr sz="3200">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pic>
        <p:nvPicPr>
          <p:cNvPr id="117" name="Google Shape;117;p6"/>
          <p:cNvPicPr preferRelativeResize="0"/>
          <p:nvPr/>
        </p:nvPicPr>
        <p:blipFill rotWithShape="1">
          <a:blip r:embed="rId3">
            <a:alphaModFix/>
          </a:blip>
          <a:srcRect b="0" l="0" r="0" t="0"/>
          <a:stretch/>
        </p:blipFill>
        <p:spPr>
          <a:xfrm>
            <a:off x="7045408" y="1446491"/>
            <a:ext cx="3643306" cy="4429156"/>
          </a:xfrm>
          <a:prstGeom prst="rect">
            <a:avLst/>
          </a:prstGeom>
          <a:noFill/>
          <a:ln>
            <a:noFill/>
          </a:ln>
        </p:spPr>
      </p:pic>
      <p:sp>
        <p:nvSpPr>
          <p:cNvPr id="118" name="Google Shape;118;p6"/>
          <p:cNvSpPr txBox="1"/>
          <p:nvPr/>
        </p:nvSpPr>
        <p:spPr>
          <a:xfrm>
            <a:off x="5889595" y="5955423"/>
            <a:ext cx="60945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800" u="none" cap="none" strike="noStrike">
                <a:solidFill>
                  <a:schemeClr val="dk1"/>
                </a:solidFill>
                <a:latin typeface="Calibri"/>
                <a:ea typeface="Calibri"/>
                <a:cs typeface="Calibri"/>
                <a:sym typeface="Calibri"/>
              </a:rPr>
              <a:t>Right clavicle: Upper one, superior aspect; Lower one, inferior aspect.</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CLAVICLE</a:t>
            </a:r>
            <a:endParaRPr/>
          </a:p>
        </p:txBody>
      </p:sp>
      <p:sp>
        <p:nvSpPr>
          <p:cNvPr id="124" name="Google Shape;124;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Shaft</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Arial"/>
              <a:buChar char="•"/>
            </a:pPr>
            <a:r>
              <a:rPr lang="en-AU" sz="2800">
                <a:latin typeface="Times New Roman"/>
                <a:ea typeface="Times New Roman"/>
                <a:cs typeface="Times New Roman"/>
                <a:sym typeface="Times New Roman"/>
              </a:rPr>
              <a:t>The shaft is </a:t>
            </a:r>
            <a:r>
              <a:rPr b="1" lang="en-AU" sz="2800">
                <a:latin typeface="Times New Roman"/>
                <a:ea typeface="Times New Roman"/>
                <a:cs typeface="Times New Roman"/>
                <a:sym typeface="Times New Roman"/>
              </a:rPr>
              <a:t>curved</a:t>
            </a:r>
            <a:r>
              <a:rPr lang="en-AU" sz="2800">
                <a:latin typeface="Times New Roman"/>
                <a:ea typeface="Times New Roman"/>
                <a:cs typeface="Times New Roman"/>
                <a:sym typeface="Times New Roman"/>
              </a:rPr>
              <a:t>. Its </a:t>
            </a:r>
            <a:r>
              <a:rPr b="1" lang="en-AU" sz="2800">
                <a:latin typeface="Times New Roman"/>
                <a:ea typeface="Times New Roman"/>
                <a:cs typeface="Times New Roman"/>
                <a:sym typeface="Times New Roman"/>
              </a:rPr>
              <a:t>medial two-third </a:t>
            </a:r>
            <a:r>
              <a:rPr lang="en-AU" sz="2800">
                <a:latin typeface="Times New Roman"/>
                <a:ea typeface="Times New Roman"/>
                <a:cs typeface="Times New Roman"/>
                <a:sym typeface="Times New Roman"/>
              </a:rPr>
              <a:t>is </a:t>
            </a:r>
            <a:r>
              <a:rPr b="1" lang="en-AU" sz="2800">
                <a:latin typeface="Times New Roman"/>
                <a:ea typeface="Times New Roman"/>
                <a:cs typeface="Times New Roman"/>
                <a:sym typeface="Times New Roman"/>
              </a:rPr>
              <a:t>round</a:t>
            </a:r>
            <a:r>
              <a:rPr lang="en-AU" sz="2800">
                <a:latin typeface="Times New Roman"/>
                <a:ea typeface="Times New Roman"/>
                <a:cs typeface="Times New Roman"/>
                <a:sym typeface="Times New Roman"/>
              </a:rPr>
              <a:t> and </a:t>
            </a:r>
            <a:r>
              <a:rPr b="1" lang="en-AU" sz="2800">
                <a:latin typeface="Times New Roman"/>
                <a:ea typeface="Times New Roman"/>
                <a:cs typeface="Times New Roman"/>
                <a:sym typeface="Times New Roman"/>
              </a:rPr>
              <a:t>convex</a:t>
            </a:r>
            <a:r>
              <a:rPr lang="en-AU" sz="2800">
                <a:latin typeface="Times New Roman"/>
                <a:ea typeface="Times New Roman"/>
                <a:cs typeface="Times New Roman"/>
                <a:sym typeface="Times New Roman"/>
              </a:rPr>
              <a:t> forwards, and its </a:t>
            </a:r>
            <a:r>
              <a:rPr b="1" lang="en-AU" sz="2800">
                <a:latin typeface="Times New Roman"/>
                <a:ea typeface="Times New Roman"/>
                <a:cs typeface="Times New Roman"/>
                <a:sym typeface="Times New Roman"/>
              </a:rPr>
              <a:t>lateral one-third </a:t>
            </a:r>
            <a:r>
              <a:rPr lang="en-AU" sz="2800">
                <a:latin typeface="Times New Roman"/>
                <a:ea typeface="Times New Roman"/>
                <a:cs typeface="Times New Roman"/>
                <a:sym typeface="Times New Roman"/>
              </a:rPr>
              <a:t>is </a:t>
            </a:r>
            <a:r>
              <a:rPr b="1" lang="en-AU" sz="2800">
                <a:latin typeface="Times New Roman"/>
                <a:ea typeface="Times New Roman"/>
                <a:cs typeface="Times New Roman"/>
                <a:sym typeface="Times New Roman"/>
              </a:rPr>
              <a:t>flattened</a:t>
            </a:r>
            <a:r>
              <a:rPr lang="en-AU" sz="2800">
                <a:latin typeface="Times New Roman"/>
                <a:ea typeface="Times New Roman"/>
                <a:cs typeface="Times New Roman"/>
                <a:sym typeface="Times New Roman"/>
              </a:rPr>
              <a:t> and </a:t>
            </a:r>
            <a:r>
              <a:rPr b="1" lang="en-AU" sz="2800">
                <a:latin typeface="Times New Roman"/>
                <a:ea typeface="Times New Roman"/>
                <a:cs typeface="Times New Roman"/>
                <a:sym typeface="Times New Roman"/>
              </a:rPr>
              <a:t>concave</a:t>
            </a:r>
            <a:r>
              <a:rPr lang="en-AU" sz="2800">
                <a:latin typeface="Times New Roman"/>
                <a:ea typeface="Times New Roman"/>
                <a:cs typeface="Times New Roman"/>
                <a:sym typeface="Times New Roman"/>
              </a:rPr>
              <a:t> forwards. The inferior surface of the shaft possesses a small </a:t>
            </a:r>
            <a:r>
              <a:rPr b="1" lang="en-AU" sz="2800">
                <a:latin typeface="Times New Roman"/>
                <a:ea typeface="Times New Roman"/>
                <a:cs typeface="Times New Roman"/>
                <a:sym typeface="Times New Roman"/>
              </a:rPr>
              <a:t>longitudinal groove </a:t>
            </a:r>
            <a:r>
              <a:rPr lang="en-AU" sz="2800">
                <a:latin typeface="Times New Roman"/>
                <a:ea typeface="Times New Roman"/>
                <a:cs typeface="Times New Roman"/>
                <a:sym typeface="Times New Roman"/>
              </a:rPr>
              <a:t>in its middle third.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125" name="Google Shape;125;p7"/>
          <p:cNvPicPr preferRelativeResize="0"/>
          <p:nvPr/>
        </p:nvPicPr>
        <p:blipFill rotWithShape="1">
          <a:blip r:embed="rId3">
            <a:alphaModFix/>
          </a:blip>
          <a:srcRect b="0" l="0" r="0" t="0"/>
          <a:stretch/>
        </p:blipFill>
        <p:spPr>
          <a:xfrm>
            <a:off x="1110078" y="4088360"/>
            <a:ext cx="6172200" cy="2009775"/>
          </a:xfrm>
          <a:prstGeom prst="rect">
            <a:avLst/>
          </a:prstGeom>
          <a:noFill/>
          <a:ln>
            <a:noFill/>
          </a:ln>
        </p:spPr>
      </p:pic>
      <p:sp>
        <p:nvSpPr>
          <p:cNvPr id="126" name="Google Shape;126;p7"/>
          <p:cNvSpPr txBox="1"/>
          <p:nvPr/>
        </p:nvSpPr>
        <p:spPr>
          <a:xfrm>
            <a:off x="3233690" y="6211669"/>
            <a:ext cx="83960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 Right clavicle showing attachments of the muscles and ligaments:Superior surface.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Ossification of the clavicle</a:t>
            </a:r>
            <a:endParaRPr b="1">
              <a:solidFill>
                <a:srgbClr val="C00000"/>
              </a:solidFill>
              <a:latin typeface="Times New Roman"/>
              <a:ea typeface="Times New Roman"/>
              <a:cs typeface="Times New Roman"/>
              <a:sym typeface="Times New Roman"/>
            </a:endParaRPr>
          </a:p>
        </p:txBody>
      </p:sp>
      <p:sp>
        <p:nvSpPr>
          <p:cNvPr id="132" name="Google Shape;132;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ossification of clavicle is membranocartilaginous. </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ossifies in the membrane except its medial end which ossifies in the cartilage. The clavicle begins to ossify before any other bone in the body. It ossifies by four ossification centres – two primary centres for shaft and two secondary centres, one for each end.</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pic>
        <p:nvPicPr>
          <p:cNvPr id="133" name="Google Shape;133;p8"/>
          <p:cNvPicPr preferRelativeResize="0"/>
          <p:nvPr/>
        </p:nvPicPr>
        <p:blipFill rotWithShape="1">
          <a:blip r:embed="rId3">
            <a:alphaModFix/>
          </a:blip>
          <a:srcRect b="0" l="0" r="0" t="0"/>
          <a:stretch/>
        </p:blipFill>
        <p:spPr>
          <a:xfrm>
            <a:off x="2928926" y="4929198"/>
            <a:ext cx="5500725" cy="19288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b="1">
              <a:solidFill>
                <a:srgbClr val="C00000"/>
              </a:solidFill>
              <a:latin typeface="Times New Roman"/>
              <a:ea typeface="Times New Roman"/>
              <a:cs typeface="Times New Roman"/>
              <a:sym typeface="Times New Roman"/>
            </a:endParaRPr>
          </a:p>
        </p:txBody>
      </p:sp>
      <p:sp>
        <p:nvSpPr>
          <p:cNvPr id="139" name="Google Shape;13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Fracture of clavicle: The clavicle is the most commonly fractured bone in the body. It commonly fractures at the junction of its lateral one-third and medial two-third due to blows to the shoulder or indirect forces, usually as a result of strong impact on the hand or shoulder, when person falls on the outstretched hand or the shoulder.</a:t>
            </a:r>
            <a:endParaRPr sz="2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 When fracture occurs, the lateral fragment is displaced downward by the weight of the upper limb because trapezius alone is unable to support the weight of the upper limb.</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a:p>
        </p:txBody>
      </p:sp>
      <p:sp>
        <p:nvSpPr>
          <p:cNvPr id="145" name="Google Shape;145;p10"/>
          <p:cNvSpPr txBox="1"/>
          <p:nvPr>
            <p:ph idx="1" type="body"/>
          </p:nvPr>
        </p:nvSpPr>
        <p:spPr>
          <a:xfrm>
            <a:off x="600053" y="2070077"/>
            <a:ext cx="5376874"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fracture at the junction of lateral one-third and medial two-third occurs because: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This is the weakest site.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Two curvatures of clavicle meet at this site.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transmission of forces (due to impact) from the clavicle to scapula occur at this site through coracoclavicular ligament.</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146" name="Google Shape;146;p10"/>
          <p:cNvPicPr preferRelativeResize="0"/>
          <p:nvPr/>
        </p:nvPicPr>
        <p:blipFill rotWithShape="1">
          <a:blip r:embed="rId3">
            <a:alphaModFix/>
          </a:blip>
          <a:srcRect b="0" l="0" r="0" t="0"/>
          <a:stretch/>
        </p:blipFill>
        <p:spPr>
          <a:xfrm>
            <a:off x="6215074" y="1928802"/>
            <a:ext cx="2928926" cy="4143404"/>
          </a:xfrm>
          <a:prstGeom prst="rect">
            <a:avLst/>
          </a:prstGeom>
          <a:noFill/>
          <a:ln>
            <a:noFill/>
          </a:ln>
        </p:spPr>
      </p:pic>
      <p:sp>
        <p:nvSpPr>
          <p:cNvPr id="147" name="Google Shape;147;p10"/>
          <p:cNvSpPr txBox="1"/>
          <p:nvPr/>
        </p:nvSpPr>
        <p:spPr>
          <a:xfrm>
            <a:off x="6215074" y="5852217"/>
            <a:ext cx="60945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Clavicle fracture: A, medial fragment;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AU" sz="1800">
                <a:solidFill>
                  <a:schemeClr val="dk1"/>
                </a:solidFill>
                <a:latin typeface="Calibri"/>
                <a:ea typeface="Calibri"/>
                <a:cs typeface="Calibri"/>
                <a:sym typeface="Calibri"/>
              </a:rPr>
              <a:t>B, lateral fragment</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Congenital anomalies</a:t>
            </a:r>
            <a:br>
              <a:rPr b="1" lang="en-AU">
                <a:solidFill>
                  <a:srgbClr val="C00000"/>
                </a:solidFill>
                <a:latin typeface="Times New Roman"/>
                <a:ea typeface="Times New Roman"/>
                <a:cs typeface="Times New Roman"/>
                <a:sym typeface="Times New Roman"/>
              </a:rPr>
            </a:br>
            <a:endParaRPr b="1">
              <a:solidFill>
                <a:srgbClr val="C00000"/>
              </a:solidFill>
              <a:latin typeface="Times New Roman"/>
              <a:ea typeface="Times New Roman"/>
              <a:cs typeface="Times New Roman"/>
              <a:sym typeface="Times New Roman"/>
            </a:endParaRPr>
          </a:p>
        </p:txBody>
      </p:sp>
      <p:sp>
        <p:nvSpPr>
          <p:cNvPr id="153" name="Google Shape;15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Clavicular dysostosis: It is a clinical condition in which medial and lateral parts of clavicle remain separate due to non-union of two primary centers of ossification.</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Cleidocranial dysostosis:  It is a clinical condition characterized by partial or complete absence of clavicle associated with defective ossification of the skull bones.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SCAPULA</a:t>
            </a:r>
            <a:endParaRPr b="1">
              <a:solidFill>
                <a:srgbClr val="C00000"/>
              </a:solidFill>
              <a:latin typeface="Times New Roman"/>
              <a:ea typeface="Times New Roman"/>
              <a:cs typeface="Times New Roman"/>
              <a:sym typeface="Times New Roman"/>
            </a:endParaRPr>
          </a:p>
        </p:txBody>
      </p:sp>
      <p:sp>
        <p:nvSpPr>
          <p:cNvPr id="159" name="Google Shape;159;p12"/>
          <p:cNvSpPr txBox="1"/>
          <p:nvPr>
            <p:ph idx="1" type="body"/>
          </p:nvPr>
        </p:nvSpPr>
        <p:spPr>
          <a:xfrm>
            <a:off x="0" y="1626235"/>
            <a:ext cx="7480300" cy="485584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scapula (shoulder blade) is a large, flattened, and triangular bone located on the upper part of the posterolateral aspect of the thorax, against 2nd to 7th ribs.</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PARTS</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scapula is highly mobile and consists of four parts: a body and three processes-spinous, acromion, and coracoid.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160" name="Google Shape;160;p12"/>
          <p:cNvPicPr preferRelativeResize="0"/>
          <p:nvPr/>
        </p:nvPicPr>
        <p:blipFill rotWithShape="1">
          <a:blip r:embed="rId3">
            <a:alphaModFix/>
          </a:blip>
          <a:srcRect b="0" l="0" r="0" t="0"/>
          <a:stretch/>
        </p:blipFill>
        <p:spPr>
          <a:xfrm>
            <a:off x="7480300" y="148590"/>
            <a:ext cx="4784725" cy="6094730"/>
          </a:xfrm>
          <a:prstGeom prst="rect">
            <a:avLst/>
          </a:prstGeom>
          <a:noFill/>
          <a:ln>
            <a:noFill/>
          </a:ln>
        </p:spPr>
      </p:pic>
      <p:sp>
        <p:nvSpPr>
          <p:cNvPr id="161" name="Google Shape;161;p12"/>
          <p:cNvSpPr txBox="1"/>
          <p:nvPr/>
        </p:nvSpPr>
        <p:spPr>
          <a:xfrm>
            <a:off x="4920448" y="6294956"/>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 </a:t>
            </a:r>
            <a:r>
              <a:rPr lang="en-AU" sz="1800">
                <a:solidFill>
                  <a:schemeClr val="dk1"/>
                </a:solidFill>
                <a:latin typeface="Arial"/>
                <a:ea typeface="Arial"/>
                <a:cs typeface="Arial"/>
                <a:sym typeface="Arial"/>
              </a:rPr>
              <a:t>Right scapula: A, anterior aspect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SCAPULA</a:t>
            </a:r>
            <a:endParaRPr/>
          </a:p>
        </p:txBody>
      </p:sp>
      <p:sp>
        <p:nvSpPr>
          <p:cNvPr id="167" name="Google Shape;16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body is triangular, thin, and transparent. It presents the following features: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Two surfaces: (a) costal and (b) dorsal.</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Three borders: (a) superior, (b) lateral, and (c) medial.</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Three angles: (a) inferior, (b) superior, and (c) lateral.</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dorsal surface presents a shelf-like projection on its upper part called spinous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lateral angle is truncated to form an articular surface-the glenoid cavity.</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Arial"/>
              <a:buNone/>
            </a:pPr>
            <a:r>
              <a:rPr lang="en-AU" sz="2400">
                <a:latin typeface="Arial"/>
                <a:ea typeface="Arial"/>
                <a:cs typeface="Arial"/>
                <a:sym typeface="Arial"/>
              </a:rPr>
              <a:t>The lateral angle is thickened and called head of the scapula, which is connected to the plate-like body by an inconspicuous neck.</a:t>
            </a:r>
            <a:br>
              <a:rPr lang="en-AU" sz="2400">
                <a:latin typeface="Arial"/>
                <a:ea typeface="Arial"/>
                <a:cs typeface="Arial"/>
                <a:sym typeface="Arial"/>
              </a:rPr>
            </a:br>
            <a:br>
              <a:rPr lang="en-AU" sz="2400"/>
            </a:br>
            <a:endParaRPr sz="2400"/>
          </a:p>
        </p:txBody>
      </p:sp>
      <p:sp>
        <p:nvSpPr>
          <p:cNvPr id="173" name="Google Shape;17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74" name="Google Shape;174;p14"/>
          <p:cNvPicPr preferRelativeResize="0"/>
          <p:nvPr/>
        </p:nvPicPr>
        <p:blipFill rotWithShape="1">
          <a:blip r:embed="rId3">
            <a:alphaModFix/>
          </a:blip>
          <a:srcRect b="0" l="0" r="0" t="0"/>
          <a:stretch/>
        </p:blipFill>
        <p:spPr>
          <a:xfrm>
            <a:off x="571472" y="1785926"/>
            <a:ext cx="4214842" cy="4714907"/>
          </a:xfrm>
          <a:prstGeom prst="rect">
            <a:avLst/>
          </a:prstGeom>
          <a:noFill/>
          <a:ln>
            <a:noFill/>
          </a:ln>
        </p:spPr>
      </p:pic>
      <p:pic>
        <p:nvPicPr>
          <p:cNvPr id="175" name="Google Shape;175;p14"/>
          <p:cNvPicPr preferRelativeResize="0"/>
          <p:nvPr/>
        </p:nvPicPr>
        <p:blipFill rotWithShape="1">
          <a:blip r:embed="rId4">
            <a:alphaModFix/>
          </a:blip>
          <a:srcRect b="0" l="0" r="0" t="0"/>
          <a:stretch/>
        </p:blipFill>
        <p:spPr>
          <a:xfrm>
            <a:off x="7210396" y="1502458"/>
            <a:ext cx="4143404" cy="4714908"/>
          </a:xfrm>
          <a:prstGeom prst="rect">
            <a:avLst/>
          </a:prstGeom>
          <a:noFill/>
          <a:ln>
            <a:noFill/>
          </a:ln>
        </p:spPr>
      </p:pic>
      <p:sp>
        <p:nvSpPr>
          <p:cNvPr id="176" name="Google Shape;176;p14"/>
          <p:cNvSpPr txBox="1"/>
          <p:nvPr/>
        </p:nvSpPr>
        <p:spPr>
          <a:xfrm>
            <a:off x="999979" y="6217366"/>
            <a:ext cx="9351384"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AU" sz="1800">
                <a:solidFill>
                  <a:schemeClr val="dk1"/>
                </a:solidFill>
                <a:latin typeface="Arial Black"/>
                <a:ea typeface="Arial Black"/>
                <a:cs typeface="Arial Black"/>
                <a:sym typeface="Arial Black"/>
              </a:rPr>
              <a:t>Right scapula:  anterior aspect;    posterior aspect.</a:t>
            </a:r>
            <a:endParaRPr sz="1800">
              <a:solidFill>
                <a:schemeClr val="dk1"/>
              </a:solidFill>
              <a:latin typeface="Arial Black"/>
              <a:ea typeface="Arial Black"/>
              <a:cs typeface="Arial Black"/>
              <a:sym typeface="Arial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SCAPULA</a:t>
            </a:r>
            <a:endParaRPr/>
          </a:p>
        </p:txBody>
      </p:sp>
      <p:sp>
        <p:nvSpPr>
          <p:cNvPr id="182" name="Google Shape;18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lang="en-AU" sz="2800">
                <a:latin typeface="Times New Roman"/>
                <a:ea typeface="Times New Roman"/>
                <a:cs typeface="Times New Roman"/>
                <a:sym typeface="Times New Roman"/>
              </a:rPr>
              <a:t>There are three processes. These are as follows: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Spinous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Acromion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Coracoid process.</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rPr lang="en-AU" sz="2800">
                <a:latin typeface="Times New Roman"/>
                <a:ea typeface="Times New Roman"/>
                <a:cs typeface="Times New Roman"/>
                <a:sym typeface="Times New Roman"/>
              </a:rPr>
              <a:t>The </a:t>
            </a:r>
            <a:r>
              <a:rPr b="1" lang="en-AU" sz="2800">
                <a:latin typeface="Times New Roman"/>
                <a:ea typeface="Times New Roman"/>
                <a:cs typeface="Times New Roman"/>
                <a:sym typeface="Times New Roman"/>
              </a:rPr>
              <a:t>spinous process </a:t>
            </a:r>
            <a:r>
              <a:rPr lang="en-AU" sz="2800">
                <a:latin typeface="Times New Roman"/>
                <a:ea typeface="Times New Roman"/>
                <a:cs typeface="Times New Roman"/>
                <a:sym typeface="Times New Roman"/>
              </a:rPr>
              <a:t>is a shelf-like bony projection on the dorsal aspect of the body.</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rPr lang="en-AU" sz="2800">
                <a:latin typeface="Times New Roman"/>
                <a:ea typeface="Times New Roman"/>
                <a:cs typeface="Times New Roman"/>
                <a:sym typeface="Times New Roman"/>
              </a:rPr>
              <a:t>The </a:t>
            </a:r>
            <a:r>
              <a:rPr b="1" lang="en-AU" sz="2800">
                <a:latin typeface="Times New Roman"/>
                <a:ea typeface="Times New Roman"/>
                <a:cs typeface="Times New Roman"/>
                <a:sym typeface="Times New Roman"/>
              </a:rPr>
              <a:t>acromion process </a:t>
            </a:r>
            <a:r>
              <a:rPr lang="en-AU" sz="2800">
                <a:latin typeface="Times New Roman"/>
                <a:ea typeface="Times New Roman"/>
                <a:cs typeface="Times New Roman"/>
                <a:sym typeface="Times New Roman"/>
              </a:rPr>
              <a:t>projects forwards almost at right angle from the lateral end of the spine.</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rPr lang="en-AU" sz="2800">
                <a:latin typeface="Times New Roman"/>
                <a:ea typeface="Times New Roman"/>
                <a:cs typeface="Times New Roman"/>
                <a:sym typeface="Times New Roman"/>
              </a:rPr>
              <a:t>The </a:t>
            </a:r>
            <a:r>
              <a:rPr b="1" lang="en-AU" sz="2800">
                <a:latin typeface="Times New Roman"/>
                <a:ea typeface="Times New Roman"/>
                <a:cs typeface="Times New Roman"/>
                <a:sym typeface="Times New Roman"/>
              </a:rPr>
              <a:t>coracoid process </a:t>
            </a:r>
            <a:r>
              <a:rPr lang="en-AU" sz="2800">
                <a:latin typeface="Times New Roman"/>
                <a:ea typeface="Times New Roman"/>
                <a:cs typeface="Times New Roman"/>
                <a:sym typeface="Times New Roman"/>
              </a:rPr>
              <a:t>is like a bird’s beak. It arises from the upper border of the head and bends sharply to project superoanteriorly.</a:t>
            </a:r>
            <a:endParaRPr sz="2800">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			SCAPULA</a:t>
            </a:r>
            <a:endParaRPr/>
          </a:p>
        </p:txBody>
      </p:sp>
      <p:sp>
        <p:nvSpPr>
          <p:cNvPr id="188" name="Google Shape;18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Surfaces</a:t>
            </a:r>
            <a:endParaRPr b="1"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lang="en-AU" sz="2800">
                <a:latin typeface="Times New Roman"/>
                <a:ea typeface="Times New Roman"/>
                <a:cs typeface="Times New Roman"/>
                <a:sym typeface="Times New Roman"/>
              </a:rPr>
              <a:t>Costal surface (subscapular fossa)</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concave and directed medially and forwards.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presents three longitudinal ridges, which provide attachment to the intramuscular tendons of subscapularis muscle.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subscapularis muscle (a multipennate muscle) arises from the medial two-third of subscapular fossa/ costal surface except near the neck where a subscapular bursa intervenes between the neck and the subscapular tendon.</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OSSIFICATION</a:t>
            </a:r>
            <a:endParaRPr b="1">
              <a:solidFill>
                <a:srgbClr val="C00000"/>
              </a:solidFill>
              <a:latin typeface="Times New Roman"/>
              <a:ea typeface="Times New Roman"/>
              <a:cs typeface="Times New Roman"/>
              <a:sym typeface="Times New Roman"/>
            </a:endParaRPr>
          </a:p>
        </p:txBody>
      </p:sp>
      <p:sp>
        <p:nvSpPr>
          <p:cNvPr id="194" name="Google Shape;19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ossification of scapula is cartilaginous.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cartilaginous scapula is ossified by eight centres-one primary and seven secondary.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primary centre appears in the body.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secondary centres appear as follows: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Two centres appear in the coracoid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Two centres appear in the acromion process.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One centre appears each in the (a) medial border, (b) inferior angle, and (c) in the lower part of the rim of glenoid cavity.</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OSSIFICATION</a:t>
            </a:r>
            <a:endParaRPr/>
          </a:p>
        </p:txBody>
      </p:sp>
      <p:sp>
        <p:nvSpPr>
          <p:cNvPr id="200" name="Google Shape;20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primary centre in the body and first secondary centre in the coracoid process appears in eighth week of intrauterine life (IUL) and first year of postnatal life, respectively and they fuse at the age of 15 years.</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All other secondary centres appear at about puberty and fuse by 20th year.</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b="1">
              <a:solidFill>
                <a:srgbClr val="C00000"/>
              </a:solidFill>
              <a:latin typeface="Times New Roman"/>
              <a:ea typeface="Times New Roman"/>
              <a:cs typeface="Times New Roman"/>
              <a:sym typeface="Times New Roman"/>
            </a:endParaRPr>
          </a:p>
        </p:txBody>
      </p:sp>
      <p:sp>
        <p:nvSpPr>
          <p:cNvPr id="206" name="Google Shape;20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humerus is a long bone and consists of three parts: upper end, lower end, and shaft.</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Upper End</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upper end presents the following five features: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Head.</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Neck.</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Greater tubercle.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Lesser tubercle.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Intertubercular sulcus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pic>
        <p:nvPicPr>
          <p:cNvPr id="212" name="Google Shape;212;p20"/>
          <p:cNvPicPr preferRelativeResize="0"/>
          <p:nvPr>
            <p:ph idx="1" type="body"/>
          </p:nvPr>
        </p:nvPicPr>
        <p:blipFill rotWithShape="1">
          <a:blip r:embed="rId3">
            <a:alphaModFix/>
          </a:blip>
          <a:srcRect b="0" l="0" r="0" t="0"/>
          <a:stretch/>
        </p:blipFill>
        <p:spPr>
          <a:xfrm>
            <a:off x="1415726" y="1949912"/>
            <a:ext cx="2258412" cy="4351338"/>
          </a:xfrm>
          <a:prstGeom prst="rect">
            <a:avLst/>
          </a:prstGeom>
          <a:noFill/>
          <a:ln>
            <a:noFill/>
          </a:ln>
        </p:spPr>
      </p:pic>
      <p:pic>
        <p:nvPicPr>
          <p:cNvPr id="213" name="Google Shape;213;p20"/>
          <p:cNvPicPr preferRelativeResize="0"/>
          <p:nvPr/>
        </p:nvPicPr>
        <p:blipFill rotWithShape="1">
          <a:blip r:embed="rId4">
            <a:alphaModFix/>
          </a:blip>
          <a:srcRect b="0" l="0" r="0" t="0"/>
          <a:stretch/>
        </p:blipFill>
        <p:spPr>
          <a:xfrm>
            <a:off x="6589038" y="1027906"/>
            <a:ext cx="3857651" cy="5000660"/>
          </a:xfrm>
          <a:prstGeom prst="rect">
            <a:avLst/>
          </a:prstGeom>
          <a:noFill/>
          <a:ln>
            <a:noFill/>
          </a:ln>
        </p:spPr>
      </p:pic>
      <p:sp>
        <p:nvSpPr>
          <p:cNvPr id="214" name="Google Shape;214;p20"/>
          <p:cNvSpPr txBox="1"/>
          <p:nvPr/>
        </p:nvSpPr>
        <p:spPr>
          <a:xfrm>
            <a:off x="2896339" y="6276836"/>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Right humerus: anterior view;                             posterior view</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sp>
        <p:nvSpPr>
          <p:cNvPr id="220" name="Google Shape;220;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head is </a:t>
            </a:r>
            <a:r>
              <a:rPr b="1" lang="en-AU" sz="2800">
                <a:latin typeface="Times New Roman"/>
                <a:ea typeface="Times New Roman"/>
                <a:cs typeface="Times New Roman"/>
                <a:sym typeface="Times New Roman"/>
              </a:rPr>
              <a:t>smooth and rounded</a:t>
            </a:r>
            <a:r>
              <a:rPr lang="en-AU" sz="2800">
                <a:latin typeface="Times New Roman"/>
                <a:ea typeface="Times New Roman"/>
                <a:cs typeface="Times New Roman"/>
                <a:sym typeface="Times New Roman"/>
              </a:rPr>
              <a:t>, and forms less than half of a sphere. It is directed </a:t>
            </a:r>
            <a:r>
              <a:rPr b="1" lang="en-AU" sz="2800">
                <a:latin typeface="Times New Roman"/>
                <a:ea typeface="Times New Roman"/>
                <a:cs typeface="Times New Roman"/>
                <a:sym typeface="Times New Roman"/>
              </a:rPr>
              <a:t>medially backwards </a:t>
            </a:r>
            <a:r>
              <a:rPr lang="en-AU" sz="2800">
                <a:latin typeface="Times New Roman"/>
                <a:ea typeface="Times New Roman"/>
                <a:cs typeface="Times New Roman"/>
                <a:sym typeface="Times New Roman"/>
              </a:rPr>
              <a:t>and </a:t>
            </a:r>
            <a:r>
              <a:rPr b="1" lang="en-AU" sz="2800">
                <a:latin typeface="Times New Roman"/>
                <a:ea typeface="Times New Roman"/>
                <a:cs typeface="Times New Roman"/>
                <a:sym typeface="Times New Roman"/>
              </a:rPr>
              <a:t>upwards</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lang="en-AU" sz="2800">
                <a:latin typeface="Times New Roman"/>
                <a:ea typeface="Times New Roman"/>
                <a:cs typeface="Times New Roman"/>
                <a:sym typeface="Times New Roman"/>
              </a:rPr>
              <a:t>It articulates with the </a:t>
            </a:r>
            <a:r>
              <a:rPr b="1" lang="en-AU" sz="2800">
                <a:latin typeface="Times New Roman"/>
                <a:ea typeface="Times New Roman"/>
                <a:cs typeface="Times New Roman"/>
                <a:sym typeface="Times New Roman"/>
              </a:rPr>
              <a:t>glenoid cavity </a:t>
            </a:r>
            <a:r>
              <a:rPr lang="en-AU" sz="2800">
                <a:latin typeface="Times New Roman"/>
                <a:ea typeface="Times New Roman"/>
                <a:cs typeface="Times New Roman"/>
                <a:sym typeface="Times New Roman"/>
              </a:rPr>
              <a:t>of </a:t>
            </a:r>
            <a:r>
              <a:rPr b="1" lang="en-AU" sz="2800">
                <a:latin typeface="Times New Roman"/>
                <a:ea typeface="Times New Roman"/>
                <a:cs typeface="Times New Roman"/>
                <a:sym typeface="Times New Roman"/>
              </a:rPr>
              <a:t>scapula</a:t>
            </a:r>
            <a:r>
              <a:rPr lang="en-AU" sz="2800">
                <a:latin typeface="Times New Roman"/>
                <a:ea typeface="Times New Roman"/>
                <a:cs typeface="Times New Roman"/>
                <a:sym typeface="Times New Roman"/>
              </a:rPr>
              <a:t> to form the </a:t>
            </a:r>
            <a:r>
              <a:rPr b="1" lang="en-AU" sz="2800">
                <a:latin typeface="Times New Roman"/>
                <a:ea typeface="Times New Roman"/>
                <a:cs typeface="Times New Roman"/>
                <a:sym typeface="Times New Roman"/>
              </a:rPr>
              <a:t>glenohumeral</a:t>
            </a:r>
            <a:r>
              <a:rPr lang="en-AU" sz="2800">
                <a:latin typeface="Times New Roman"/>
                <a:ea typeface="Times New Roman"/>
                <a:cs typeface="Times New Roman"/>
                <a:sym typeface="Times New Roman"/>
              </a:rPr>
              <a:t> (shoulder) </a:t>
            </a:r>
            <a:r>
              <a:rPr b="1" lang="en-AU" sz="2800">
                <a:latin typeface="Times New Roman"/>
                <a:ea typeface="Times New Roman"/>
                <a:cs typeface="Times New Roman"/>
                <a:sym typeface="Times New Roman"/>
              </a:rPr>
              <a:t>joint.</a:t>
            </a:r>
            <a:endParaRPr b="1"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Lower End Of Humerus</a:t>
            </a:r>
            <a:endParaRPr b="1">
              <a:solidFill>
                <a:srgbClr val="C00000"/>
              </a:solidFill>
              <a:latin typeface="Times New Roman"/>
              <a:ea typeface="Times New Roman"/>
              <a:cs typeface="Times New Roman"/>
              <a:sym typeface="Times New Roman"/>
            </a:endParaRPr>
          </a:p>
        </p:txBody>
      </p:sp>
      <p:sp>
        <p:nvSpPr>
          <p:cNvPr id="226" name="Google Shape;226;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lower end presents the following features: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Capitulum, a lateral rounded convex projection.</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Trochlea, a medial pulley-shaped structure.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Radial fossa, a small fossa above the capitulum.</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Coronoid fossa, a small fossa above the trochlea.</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Medial epicondyle, a prominent projection on the medial side.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Lateral epicondyle, a prominent projection on the lateral side but less than the medial epicondyle.</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FEATURES AND ATTACHMENTS</a:t>
            </a:r>
            <a:endParaRPr b="1">
              <a:solidFill>
                <a:srgbClr val="C00000"/>
              </a:solidFill>
              <a:latin typeface="Times New Roman"/>
              <a:ea typeface="Times New Roman"/>
              <a:cs typeface="Times New Roman"/>
              <a:sym typeface="Times New Roman"/>
            </a:endParaRPr>
          </a:p>
        </p:txBody>
      </p:sp>
      <p:sp>
        <p:nvSpPr>
          <p:cNvPr id="232" name="Google Shape;232;p23"/>
          <p:cNvSpPr txBox="1"/>
          <p:nvPr>
            <p:ph idx="1" type="body"/>
          </p:nvPr>
        </p:nvSpPr>
        <p:spPr>
          <a:xfrm>
            <a:off x="581111" y="1897425"/>
            <a:ext cx="10515600" cy="4351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90000"/>
              </a:lnSpc>
              <a:spcBef>
                <a:spcPts val="0"/>
              </a:spcBef>
              <a:spcAft>
                <a:spcPts val="0"/>
              </a:spcAft>
              <a:buClr>
                <a:schemeClr val="dk1"/>
              </a:buClr>
              <a:buSzPct val="100000"/>
              <a:buNone/>
            </a:pPr>
            <a:r>
              <a:rPr lang="en-AU" sz="2800">
                <a:latin typeface="Times New Roman"/>
                <a:ea typeface="Times New Roman"/>
                <a:cs typeface="Times New Roman"/>
                <a:sym typeface="Times New Roman"/>
              </a:rPr>
              <a:t>Upper End Head</a:t>
            </a:r>
            <a:endParaRPr sz="2800">
              <a:latin typeface="Times New Roman"/>
              <a:ea typeface="Times New Roman"/>
              <a:cs typeface="Times New Roman"/>
              <a:sym typeface="Times New Roman"/>
            </a:endParaRPr>
          </a:p>
          <a:p>
            <a:pPr indent="-20193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It is smooth, rounded and forms one-third of a sphere.</a:t>
            </a:r>
            <a:endParaRPr sz="2800">
              <a:latin typeface="Times New Roman"/>
              <a:ea typeface="Times New Roman"/>
              <a:cs typeface="Times New Roman"/>
              <a:sym typeface="Times New Roman"/>
            </a:endParaRPr>
          </a:p>
          <a:p>
            <a:pPr indent="-20193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It is covered by an articular hyaline cartilage, which is thicker in the center and thinner at the periphery</a:t>
            </a:r>
            <a:endParaRPr sz="2800">
              <a:latin typeface="Times New Roman"/>
              <a:ea typeface="Times New Roman"/>
              <a:cs typeface="Times New Roman"/>
              <a:sym typeface="Times New Roman"/>
            </a:endParaRPr>
          </a:p>
          <a:p>
            <a:pPr indent="-64135" lvl="0" marL="228600" rtl="0" algn="just">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a:p>
            <a:pPr indent="-20193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Olecranon fossa, a large, deep hollow on the posterior aspect above the trochlea</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None/>
            </a:pPr>
            <a:r>
              <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ct val="100000"/>
              <a:buNone/>
            </a:pPr>
            <a:r>
              <a:rPr b="1" lang="en-AU" sz="2800">
                <a:latin typeface="Times New Roman"/>
                <a:ea typeface="Times New Roman"/>
                <a:cs typeface="Times New Roman"/>
                <a:sym typeface="Times New Roman"/>
              </a:rPr>
              <a:t>Shaft</a:t>
            </a:r>
            <a:endParaRPr b="1" sz="2800">
              <a:latin typeface="Times New Roman"/>
              <a:ea typeface="Times New Roman"/>
              <a:cs typeface="Times New Roman"/>
              <a:sym typeface="Times New Roman"/>
            </a:endParaRPr>
          </a:p>
          <a:p>
            <a:pPr indent="-201930" lvl="0" marL="228600" rtl="0" algn="just">
              <a:lnSpc>
                <a:spcPct val="90000"/>
              </a:lnSpc>
              <a:spcBef>
                <a:spcPts val="1000"/>
              </a:spcBef>
              <a:spcAft>
                <a:spcPts val="0"/>
              </a:spcAft>
              <a:buClr>
                <a:schemeClr val="dk1"/>
              </a:buClr>
              <a:buSzPct val="100000"/>
              <a:buChar char="•"/>
            </a:pPr>
            <a:r>
              <a:rPr lang="en-AU" sz="2800">
                <a:latin typeface="Times New Roman"/>
                <a:ea typeface="Times New Roman"/>
                <a:cs typeface="Times New Roman"/>
                <a:sym typeface="Times New Roman"/>
              </a:rPr>
              <a:t>The shaft is a </a:t>
            </a:r>
            <a:r>
              <a:rPr b="1" lang="en-AU" sz="2800">
                <a:latin typeface="Times New Roman"/>
                <a:ea typeface="Times New Roman"/>
                <a:cs typeface="Times New Roman"/>
                <a:sym typeface="Times New Roman"/>
              </a:rPr>
              <a:t>long part of bone </a:t>
            </a:r>
            <a:r>
              <a:rPr lang="en-AU" sz="2800">
                <a:latin typeface="Times New Roman"/>
                <a:ea typeface="Times New Roman"/>
                <a:cs typeface="Times New Roman"/>
                <a:sym typeface="Times New Roman"/>
              </a:rPr>
              <a:t>extending between its </a:t>
            </a:r>
            <a:r>
              <a:rPr b="1" lang="en-AU" sz="2800">
                <a:latin typeface="Times New Roman"/>
                <a:ea typeface="Times New Roman"/>
                <a:cs typeface="Times New Roman"/>
                <a:sym typeface="Times New Roman"/>
              </a:rPr>
              <a:t>upper and lower ends</a:t>
            </a:r>
            <a:r>
              <a:rPr lang="en-AU" sz="2800">
                <a:latin typeface="Times New Roman"/>
                <a:ea typeface="Times New Roman"/>
                <a:cs typeface="Times New Roman"/>
                <a:sym typeface="Times New Roman"/>
              </a:rPr>
              <a:t>. It is cylindrical in the upper half and flattened anteroposteriorly in the lower half.</a:t>
            </a:r>
            <a:endParaRPr sz="2800">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4"/>
          <p:cNvPicPr preferRelativeResize="0"/>
          <p:nvPr/>
        </p:nvPicPr>
        <p:blipFill rotWithShape="1">
          <a:blip r:embed="rId3">
            <a:alphaModFix/>
          </a:blip>
          <a:srcRect b="0" l="0" r="0" t="0"/>
          <a:stretch/>
        </p:blipFill>
        <p:spPr>
          <a:xfrm>
            <a:off x="582615" y="365125"/>
            <a:ext cx="4357718" cy="5929354"/>
          </a:xfrm>
          <a:prstGeom prst="rect">
            <a:avLst/>
          </a:prstGeom>
          <a:noFill/>
          <a:ln>
            <a:noFill/>
          </a:ln>
        </p:spPr>
      </p:pic>
      <p:pic>
        <p:nvPicPr>
          <p:cNvPr id="238" name="Google Shape;238;p24"/>
          <p:cNvPicPr preferRelativeResize="0"/>
          <p:nvPr/>
        </p:nvPicPr>
        <p:blipFill rotWithShape="1">
          <a:blip r:embed="rId4">
            <a:alphaModFix/>
          </a:blip>
          <a:srcRect b="0" l="0" r="0" t="0"/>
          <a:stretch/>
        </p:blipFill>
        <p:spPr>
          <a:xfrm>
            <a:off x="6440658" y="547240"/>
            <a:ext cx="3724273" cy="5107836"/>
          </a:xfrm>
          <a:prstGeom prst="rect">
            <a:avLst/>
          </a:prstGeom>
          <a:noFill/>
          <a:ln>
            <a:noFill/>
          </a:ln>
        </p:spPr>
      </p:pic>
      <p:sp>
        <p:nvSpPr>
          <p:cNvPr id="239" name="Google Shape;239;p24"/>
          <p:cNvSpPr txBox="1"/>
          <p:nvPr/>
        </p:nvSpPr>
        <p:spPr>
          <a:xfrm>
            <a:off x="4334522" y="5849095"/>
            <a:ext cx="7857478"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AU" sz="1800">
                <a:solidFill>
                  <a:schemeClr val="dk1"/>
                </a:solidFill>
                <a:latin typeface="Arial Black"/>
                <a:ea typeface="Arial Black"/>
                <a:cs typeface="Arial Black"/>
                <a:sym typeface="Arial Black"/>
              </a:rPr>
              <a:t>Right humerus showing attachments of the muscles and ligaments: </a:t>
            </a:r>
            <a:endParaRPr sz="1800">
              <a:solidFill>
                <a:schemeClr val="dk1"/>
              </a:solidFill>
              <a:latin typeface="Arial Black"/>
              <a:ea typeface="Arial Black"/>
              <a:cs typeface="Arial Black"/>
              <a:sym typeface="Arial Black"/>
            </a:endParaRPr>
          </a:p>
          <a:p>
            <a:pPr indent="0" lvl="0" marL="0" marR="0" rtl="0" algn="just">
              <a:spcBef>
                <a:spcPts val="0"/>
              </a:spcBef>
              <a:spcAft>
                <a:spcPts val="0"/>
              </a:spcAft>
              <a:buNone/>
            </a:pPr>
            <a:r>
              <a:rPr lang="en-AU" sz="1800">
                <a:solidFill>
                  <a:schemeClr val="dk1"/>
                </a:solidFill>
                <a:latin typeface="Arial Black"/>
                <a:ea typeface="Arial Black"/>
                <a:cs typeface="Arial Black"/>
                <a:sym typeface="Arial Black"/>
              </a:rPr>
              <a:t>A, anterior aspect; B, posterior aspect</a:t>
            </a:r>
            <a:endParaRPr sz="1800">
              <a:solidFill>
                <a:schemeClr val="dk1"/>
              </a:solidFill>
              <a:latin typeface="Arial Black"/>
              <a:ea typeface="Arial Black"/>
              <a:cs typeface="Arial Black"/>
              <a:sym typeface="Arial Blac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sp>
        <p:nvSpPr>
          <p:cNvPr id="245" name="Google Shape;24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humerus has three necks: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Anatomical neck</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constriction at the margins of the rounded head.</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provides attachment to the capsular ligament of the shoulder joint, except-superiorly where the capsule is deficient, for the passage of tendon of long head of biceps brachii, medially the capsule extends down from the anatomical neck to the shaft for about 1–2 cm.</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sp>
        <p:nvSpPr>
          <p:cNvPr id="251" name="Google Shape;251;p26"/>
          <p:cNvSpPr txBox="1"/>
          <p:nvPr>
            <p:ph idx="1" type="body"/>
          </p:nvPr>
        </p:nvSpPr>
        <p:spPr>
          <a:xfrm>
            <a:off x="213064" y="1384916"/>
            <a:ext cx="11978936" cy="5379867"/>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en-AU">
                <a:latin typeface="Times New Roman"/>
                <a:ea typeface="Times New Roman"/>
                <a:cs typeface="Times New Roman"/>
                <a:sym typeface="Times New Roman"/>
              </a:rPr>
              <a:t>Surgical neck</a:t>
            </a:r>
            <a:endParaRPr b="1">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t/>
            </a:r>
            <a:endParaRPr b="1"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short constriction in the upper end of the shaft below the greater and lesser tubercles/below the epiphyseal line.</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related to axillary nerve and posterior and anterior circumflex humeral vessels.</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the most important feature of the proximal end of the humerus because it is weaker than the more proximal regions of the bone, hence it is one of sites where the humerus commonly fractures leading to damage of associated nerves and vessels.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sp>
        <p:nvSpPr>
          <p:cNvPr id="257" name="Google Shape;25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Morphological neck</a:t>
            </a:r>
            <a:endParaRPr b="1" sz="2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the junction between diaphysis and epiphysis.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represented by an epiphyseal line in the adult bone.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a true junction of head with the shaft.</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HUMERUS</a:t>
            </a:r>
            <a:endParaRPr/>
          </a:p>
        </p:txBody>
      </p:sp>
      <p:sp>
        <p:nvSpPr>
          <p:cNvPr id="263" name="Google Shape;26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Greater tubercle</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the most lateral part of the proximal end of humerus.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Its </a:t>
            </a:r>
            <a:r>
              <a:rPr b="1" lang="en-AU" sz="2800">
                <a:latin typeface="Times New Roman"/>
                <a:ea typeface="Times New Roman"/>
                <a:cs typeface="Times New Roman"/>
                <a:sym typeface="Times New Roman"/>
              </a:rPr>
              <a:t>posterosuperior </a:t>
            </a:r>
            <a:r>
              <a:rPr lang="en-AU" sz="2800">
                <a:latin typeface="Times New Roman"/>
                <a:ea typeface="Times New Roman"/>
                <a:cs typeface="Times New Roman"/>
                <a:sym typeface="Times New Roman"/>
              </a:rPr>
              <a:t>aspect bears three flattened facet-like impressions: </a:t>
            </a:r>
            <a:r>
              <a:rPr b="1" lang="en-AU" sz="2800">
                <a:latin typeface="Times New Roman"/>
                <a:ea typeface="Times New Roman"/>
                <a:cs typeface="Times New Roman"/>
                <a:sym typeface="Times New Roman"/>
              </a:rPr>
              <a:t>upper</a:t>
            </a:r>
            <a:r>
              <a:rPr lang="en-AU" sz="2800">
                <a:latin typeface="Times New Roman"/>
                <a:ea typeface="Times New Roman"/>
                <a:cs typeface="Times New Roman"/>
                <a:sym typeface="Times New Roman"/>
              </a:rPr>
              <a:t>, </a:t>
            </a:r>
            <a:r>
              <a:rPr b="1" lang="en-AU" sz="2800">
                <a:latin typeface="Times New Roman"/>
                <a:ea typeface="Times New Roman"/>
                <a:cs typeface="Times New Roman"/>
                <a:sym typeface="Times New Roman"/>
              </a:rPr>
              <a:t>middle</a:t>
            </a:r>
            <a:r>
              <a:rPr lang="en-AU" sz="2800">
                <a:latin typeface="Times New Roman"/>
                <a:ea typeface="Times New Roman"/>
                <a:cs typeface="Times New Roman"/>
                <a:sym typeface="Times New Roman"/>
              </a:rPr>
              <a:t>, and </a:t>
            </a:r>
            <a:r>
              <a:rPr b="1" lang="en-AU" sz="2800">
                <a:latin typeface="Times New Roman"/>
                <a:ea typeface="Times New Roman"/>
                <a:cs typeface="Times New Roman"/>
                <a:sym typeface="Times New Roman"/>
              </a:rPr>
              <a:t>lower</a:t>
            </a:r>
            <a:r>
              <a:rPr lang="en-AU" sz="2800">
                <a:latin typeface="Times New Roman"/>
                <a:ea typeface="Times New Roman"/>
                <a:cs typeface="Times New Roman"/>
                <a:sym typeface="Times New Roman"/>
              </a:rPr>
              <a:t>, which provide attachment to </a:t>
            </a:r>
            <a:r>
              <a:rPr b="1" lang="en-AU" sz="2800">
                <a:latin typeface="Times New Roman"/>
                <a:ea typeface="Times New Roman"/>
                <a:cs typeface="Times New Roman"/>
                <a:sym typeface="Times New Roman"/>
              </a:rPr>
              <a:t>supraspinatus, infraspinatus, and teres minor muscles</a:t>
            </a:r>
            <a:r>
              <a:rPr lang="en-AU" sz="2800">
                <a:latin typeface="Times New Roman"/>
                <a:ea typeface="Times New Roman"/>
                <a:cs typeface="Times New Roman"/>
                <a:sym typeface="Times New Roman"/>
              </a:rPr>
              <a:t>, respectively.</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Lesser tubercle</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is small elevation on the front of upper end of humerus, just above the surgical neck.</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It provides attachment to </a:t>
            </a:r>
            <a:r>
              <a:rPr b="1" lang="en-AU" sz="2800">
                <a:latin typeface="Times New Roman"/>
                <a:ea typeface="Times New Roman"/>
                <a:cs typeface="Times New Roman"/>
                <a:sym typeface="Times New Roman"/>
              </a:rPr>
              <a:t>subscapularis muscle</a:t>
            </a:r>
            <a:endParaRPr b="1"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OSSIFICATION</a:t>
            </a:r>
            <a:endParaRPr b="1">
              <a:solidFill>
                <a:srgbClr val="C00000"/>
              </a:solidFill>
              <a:latin typeface="Times New Roman"/>
              <a:ea typeface="Times New Roman"/>
              <a:cs typeface="Times New Roman"/>
              <a:sym typeface="Times New Roman"/>
            </a:endParaRPr>
          </a:p>
        </p:txBody>
      </p:sp>
      <p:sp>
        <p:nvSpPr>
          <p:cNvPr id="269" name="Google Shape;26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humerus is ossified by the following ossification centres: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One primary centre for shaft.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Three secondary centres for upper end.</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Four secondary centres for lower end.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838200" y="33849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b="1">
              <a:solidFill>
                <a:srgbClr val="C00000"/>
              </a:solidFill>
              <a:latin typeface="Times New Roman"/>
              <a:ea typeface="Times New Roman"/>
              <a:cs typeface="Times New Roman"/>
              <a:sym typeface="Times New Roman"/>
            </a:endParaRPr>
          </a:p>
        </p:txBody>
      </p:sp>
      <p:sp>
        <p:nvSpPr>
          <p:cNvPr id="275" name="Google Shape;275;p30"/>
          <p:cNvSpPr txBox="1"/>
          <p:nvPr>
            <p:ph idx="1" type="body"/>
          </p:nvPr>
        </p:nvSpPr>
        <p:spPr>
          <a:xfrm>
            <a:off x="838200" y="1825625"/>
            <a:ext cx="7453544"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three nerve (axillary, radial, and ulnar) are closely related to the back of humerus as follows: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Axillary nerve around the surgical neck.</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Radial nerve in the radial/spiral groove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Ulnar nerve behind the medial epicondyle.</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These nerves are often involved in the fracture of humerus at the above sites: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Common sites of fracture of the humerus: These are (a) surgical neck (b) shaft, and (c) supracondylar region</a:t>
            </a:r>
            <a:r>
              <a:rPr lang="en-AU"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152400" lvl="0" marL="228600" rtl="0" algn="just">
              <a:lnSpc>
                <a:spcPct val="90000"/>
              </a:lnSpc>
              <a:spcBef>
                <a:spcPts val="1000"/>
              </a:spcBef>
              <a:spcAft>
                <a:spcPts val="0"/>
              </a:spcAft>
              <a:buClr>
                <a:schemeClr val="dk1"/>
              </a:buClr>
              <a:buSzPts val="1200"/>
              <a:buNone/>
            </a:pPr>
            <a:r>
              <a:t/>
            </a:r>
            <a:endParaRPr sz="12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276" name="Google Shape;276;p30"/>
          <p:cNvPicPr preferRelativeResize="0"/>
          <p:nvPr/>
        </p:nvPicPr>
        <p:blipFill rotWithShape="1">
          <a:blip r:embed="rId3">
            <a:alphaModFix/>
          </a:blip>
          <a:srcRect b="0" l="0" r="0" t="0"/>
          <a:stretch/>
        </p:blipFill>
        <p:spPr>
          <a:xfrm>
            <a:off x="8461541" y="1643840"/>
            <a:ext cx="2643174" cy="4714908"/>
          </a:xfrm>
          <a:prstGeom prst="rect">
            <a:avLst/>
          </a:prstGeom>
          <a:noFill/>
          <a:ln>
            <a:noFill/>
          </a:ln>
        </p:spPr>
      </p:pic>
      <p:sp>
        <p:nvSpPr>
          <p:cNvPr id="277" name="Google Shape;277;p30"/>
          <p:cNvSpPr txBox="1"/>
          <p:nvPr/>
        </p:nvSpPr>
        <p:spPr>
          <a:xfrm>
            <a:off x="5506375" y="6311900"/>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Three nerves closely related to the back of the humerus</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a:p>
        </p:txBody>
      </p:sp>
      <p:sp>
        <p:nvSpPr>
          <p:cNvPr id="283" name="Google Shape;283;p31"/>
          <p:cNvSpPr txBox="1"/>
          <p:nvPr>
            <p:ph idx="1" type="body"/>
          </p:nvPr>
        </p:nvSpPr>
        <p:spPr>
          <a:xfrm>
            <a:off x="500109" y="1941035"/>
            <a:ext cx="6788458"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b="1" lang="en-AU" sz="2800">
                <a:latin typeface="Times New Roman"/>
                <a:ea typeface="Times New Roman"/>
                <a:cs typeface="Times New Roman"/>
                <a:sym typeface="Times New Roman"/>
              </a:rPr>
              <a:t>Supracondylar fracture of the humerus</a:t>
            </a:r>
            <a:r>
              <a:rPr lang="en-AU" sz="2800">
                <a:latin typeface="Times New Roman"/>
                <a:ea typeface="Times New Roman"/>
                <a:cs typeface="Times New Roman"/>
                <a:sym typeface="Times New Roman"/>
              </a:rPr>
              <a:t>: It is caused by a fall on the outstretched hand and commonly occurs in young age. Anatomically, it presents as backwards displacement of the lower fragment with unduly prominent elbow, however the three bony points of elbow (medial epicondyle, lateral epicondyle, and olecranon process) form the usual equilateral triangle because the olecranon process always moves with the lower fragment. </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284" name="Google Shape;284;p31"/>
          <p:cNvPicPr preferRelativeResize="0"/>
          <p:nvPr/>
        </p:nvPicPr>
        <p:blipFill rotWithShape="1">
          <a:blip r:embed="rId3">
            <a:alphaModFix/>
          </a:blip>
          <a:srcRect b="0" l="0" r="0" t="0"/>
          <a:stretch/>
        </p:blipFill>
        <p:spPr>
          <a:xfrm>
            <a:off x="7832477" y="1690688"/>
            <a:ext cx="2643174" cy="4143404"/>
          </a:xfrm>
          <a:prstGeom prst="rect">
            <a:avLst/>
          </a:prstGeom>
          <a:noFill/>
          <a:ln>
            <a:noFill/>
          </a:ln>
        </p:spPr>
      </p:pic>
      <p:sp>
        <p:nvSpPr>
          <p:cNvPr id="285" name="Google Shape;285;p31"/>
          <p:cNvSpPr txBox="1"/>
          <p:nvPr/>
        </p:nvSpPr>
        <p:spPr>
          <a:xfrm>
            <a:off x="6106804" y="5896389"/>
            <a:ext cx="60945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AU" sz="1800">
                <a:solidFill>
                  <a:schemeClr val="dk1"/>
                </a:solidFill>
                <a:latin typeface="Arial"/>
                <a:ea typeface="Arial"/>
                <a:cs typeface="Arial"/>
                <a:sym typeface="Arial"/>
              </a:rPr>
              <a:t>Supracondylar fracture of </a:t>
            </a:r>
            <a:endParaRPr b="1" sz="1800">
              <a:solidFill>
                <a:schemeClr val="dk1"/>
              </a:solidFill>
              <a:latin typeface="Arial"/>
              <a:ea typeface="Arial"/>
              <a:cs typeface="Arial"/>
              <a:sym typeface="Arial"/>
            </a:endParaRPr>
          </a:p>
          <a:p>
            <a:pPr indent="0" lvl="0" marL="0" marR="0" rtl="0" algn="l">
              <a:spcBef>
                <a:spcPts val="0"/>
              </a:spcBef>
              <a:spcAft>
                <a:spcPts val="0"/>
              </a:spcAft>
              <a:buNone/>
            </a:pPr>
            <a:r>
              <a:rPr b="1" lang="en-AU" sz="1800">
                <a:solidFill>
                  <a:schemeClr val="dk1"/>
                </a:solidFill>
                <a:latin typeface="Arial"/>
                <a:ea typeface="Arial"/>
                <a:cs typeface="Arial"/>
                <a:sym typeface="Arial"/>
              </a:rPr>
              <a:t>the humerus</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a:p>
        </p:txBody>
      </p:sp>
      <p:sp>
        <p:nvSpPr>
          <p:cNvPr id="291" name="Google Shape;29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AU" sz="2800">
                <a:latin typeface="Times New Roman"/>
                <a:ea typeface="Times New Roman"/>
                <a:cs typeface="Times New Roman"/>
                <a:sym typeface="Times New Roman"/>
              </a:rPr>
              <a:t>This fracture may cause injury to median nerve and brachial artery. The injury to the brachial artery may cause </a:t>
            </a:r>
            <a:r>
              <a:rPr b="1" lang="en-AU" sz="2800">
                <a:latin typeface="Times New Roman"/>
                <a:ea typeface="Times New Roman"/>
                <a:cs typeface="Times New Roman"/>
                <a:sym typeface="Times New Roman"/>
              </a:rPr>
              <a:t>Volkmann’s ischemic contracture </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Median nerve is most commonly involved in the Supracondylar fracture of the humerus</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The separate centre for medial epicondyle and its late union with the shaft may be mistaken for the fracture of medial epicondyle of humerus.</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RADIUS</a:t>
            </a:r>
            <a:endParaRPr b="1">
              <a:solidFill>
                <a:srgbClr val="C00000"/>
              </a:solidFill>
              <a:latin typeface="Times New Roman"/>
              <a:ea typeface="Times New Roman"/>
              <a:cs typeface="Times New Roman"/>
              <a:sym typeface="Times New Roman"/>
            </a:endParaRPr>
          </a:p>
        </p:txBody>
      </p:sp>
      <p:sp>
        <p:nvSpPr>
          <p:cNvPr id="297" name="Google Shape;29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radius is the lateral bone of the forearm and is homologous to the medial bone of the leg, the tibia.</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PARTS</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radius is a long bone and consists of three parts: upper end, shaft, and lower end.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RADIUS</a:t>
            </a:r>
            <a:endParaRPr/>
          </a:p>
        </p:txBody>
      </p:sp>
      <p:sp>
        <p:nvSpPr>
          <p:cNvPr id="303" name="Google Shape;303;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Upper End</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upper end presents head, neck, and radial tuberosity.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head is </a:t>
            </a:r>
            <a:r>
              <a:rPr b="1" lang="en-AU" sz="2800">
                <a:latin typeface="Times New Roman"/>
                <a:ea typeface="Times New Roman"/>
                <a:cs typeface="Times New Roman"/>
                <a:sym typeface="Times New Roman"/>
              </a:rPr>
              <a:t>disc shaped </a:t>
            </a:r>
            <a:r>
              <a:rPr lang="en-AU" sz="2800">
                <a:latin typeface="Times New Roman"/>
                <a:ea typeface="Times New Roman"/>
                <a:cs typeface="Times New Roman"/>
                <a:sym typeface="Times New Roman"/>
              </a:rPr>
              <a:t>and articulates above with the </a:t>
            </a:r>
            <a:r>
              <a:rPr b="1" lang="en-AU" sz="2800">
                <a:latin typeface="Times New Roman"/>
                <a:ea typeface="Times New Roman"/>
                <a:cs typeface="Times New Roman"/>
                <a:sym typeface="Times New Roman"/>
              </a:rPr>
              <a:t>capitulum of humerus</a:t>
            </a:r>
            <a:r>
              <a:rPr lang="en-AU" sz="2800">
                <a:latin typeface="Times New Roman"/>
                <a:ea typeface="Times New Roman"/>
                <a:cs typeface="Times New Roman"/>
                <a:sym typeface="Times New Roman"/>
              </a:rPr>
              <a:t>. The neck is constricted part below the head. The </a:t>
            </a:r>
            <a:r>
              <a:rPr b="1" lang="en-AU" sz="2800">
                <a:latin typeface="Times New Roman"/>
                <a:ea typeface="Times New Roman"/>
                <a:cs typeface="Times New Roman"/>
                <a:sym typeface="Times New Roman"/>
              </a:rPr>
              <a:t>radial tuberosity </a:t>
            </a:r>
            <a:r>
              <a:rPr lang="en-AU" sz="2800">
                <a:latin typeface="Times New Roman"/>
                <a:ea typeface="Times New Roman"/>
                <a:cs typeface="Times New Roman"/>
                <a:sym typeface="Times New Roman"/>
              </a:rPr>
              <a:t>is just below the </a:t>
            </a:r>
            <a:r>
              <a:rPr b="1" lang="en-AU" sz="2800">
                <a:latin typeface="Times New Roman"/>
                <a:ea typeface="Times New Roman"/>
                <a:cs typeface="Times New Roman"/>
                <a:sym typeface="Times New Roman"/>
              </a:rPr>
              <a:t>medial part of the neck</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Shaft</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long shaft extends between the upper and lower ends and presents a lateral convexity. It widens rapidly towards the distal end and is concave anteriorly in its distal part. Its sharpest interosseous border is located on the medial side.</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RADIUS</a:t>
            </a:r>
            <a:endParaRPr/>
          </a:p>
        </p:txBody>
      </p:sp>
      <p:sp>
        <p:nvSpPr>
          <p:cNvPr id="309" name="Google Shape;309;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lang="en-AU" sz="3600">
                <a:latin typeface="Times New Roman"/>
                <a:ea typeface="Times New Roman"/>
                <a:cs typeface="Times New Roman"/>
                <a:sym typeface="Times New Roman"/>
              </a:rPr>
              <a:t>Lower End</a:t>
            </a:r>
            <a:endParaRPr sz="36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a:latin typeface="Times New Roman"/>
                <a:ea typeface="Times New Roman"/>
                <a:cs typeface="Times New Roman"/>
                <a:sym typeface="Times New Roman"/>
              </a:rPr>
              <a:t>The lower end is the </a:t>
            </a:r>
            <a:r>
              <a:rPr b="1" lang="en-AU">
                <a:latin typeface="Times New Roman"/>
                <a:ea typeface="Times New Roman"/>
                <a:cs typeface="Times New Roman"/>
                <a:sym typeface="Times New Roman"/>
              </a:rPr>
              <a:t>widest part </a:t>
            </a:r>
            <a:r>
              <a:rPr lang="en-AU">
                <a:latin typeface="Times New Roman"/>
                <a:ea typeface="Times New Roman"/>
                <a:cs typeface="Times New Roman"/>
                <a:sym typeface="Times New Roman"/>
              </a:rPr>
              <a:t>and presents five surfaces.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a:latin typeface="Times New Roman"/>
                <a:ea typeface="Times New Roman"/>
                <a:cs typeface="Times New Roman"/>
                <a:sym typeface="Times New Roman"/>
              </a:rPr>
              <a:t>The lateral surface projects </a:t>
            </a:r>
            <a:r>
              <a:rPr b="1" lang="en-AU">
                <a:latin typeface="Times New Roman"/>
                <a:ea typeface="Times New Roman"/>
                <a:cs typeface="Times New Roman"/>
                <a:sym typeface="Times New Roman"/>
              </a:rPr>
              <a:t>distally</a:t>
            </a:r>
            <a:r>
              <a:rPr lang="en-AU">
                <a:latin typeface="Times New Roman"/>
                <a:ea typeface="Times New Roman"/>
                <a:cs typeface="Times New Roman"/>
                <a:sym typeface="Times New Roman"/>
              </a:rPr>
              <a:t> as the </a:t>
            </a:r>
            <a:r>
              <a:rPr b="1" lang="en-AU">
                <a:latin typeface="Times New Roman"/>
                <a:ea typeface="Times New Roman"/>
                <a:cs typeface="Times New Roman"/>
                <a:sym typeface="Times New Roman"/>
              </a:rPr>
              <a:t>styloid process</a:t>
            </a:r>
            <a:r>
              <a:rPr lang="en-AU">
                <a:latin typeface="Times New Roman"/>
                <a:ea typeface="Times New Roman"/>
                <a:cs typeface="Times New Roman"/>
                <a:sym typeface="Times New Roman"/>
              </a:rPr>
              <a:t>. The dorsal surface presents a palpable dorsal tubercle (Lister’s tubercle), which is limited medially by an oblique groove.</a:t>
            </a:r>
            <a:endParaRPr>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6"/>
          <p:cNvPicPr preferRelativeResize="0"/>
          <p:nvPr/>
        </p:nvPicPr>
        <p:blipFill rotWithShape="1">
          <a:blip r:embed="rId3">
            <a:alphaModFix/>
          </a:blip>
          <a:srcRect b="0" l="0" r="0" t="0"/>
          <a:stretch/>
        </p:blipFill>
        <p:spPr>
          <a:xfrm>
            <a:off x="81533" y="0"/>
            <a:ext cx="4286280" cy="5643602"/>
          </a:xfrm>
          <a:prstGeom prst="rect">
            <a:avLst/>
          </a:prstGeom>
          <a:noFill/>
          <a:ln>
            <a:noFill/>
          </a:ln>
        </p:spPr>
      </p:pic>
      <p:pic>
        <p:nvPicPr>
          <p:cNvPr id="315" name="Google Shape;315;p36"/>
          <p:cNvPicPr preferRelativeResize="0"/>
          <p:nvPr/>
        </p:nvPicPr>
        <p:blipFill rotWithShape="1">
          <a:blip r:embed="rId4">
            <a:alphaModFix/>
          </a:blip>
          <a:srcRect b="0" l="0" r="0" t="0"/>
          <a:stretch/>
        </p:blipFill>
        <p:spPr>
          <a:xfrm>
            <a:off x="6488147" y="306400"/>
            <a:ext cx="4386259" cy="5643602"/>
          </a:xfrm>
          <a:prstGeom prst="rect">
            <a:avLst/>
          </a:prstGeom>
          <a:noFill/>
          <a:ln>
            <a:noFill/>
          </a:ln>
        </p:spPr>
      </p:pic>
      <p:sp>
        <p:nvSpPr>
          <p:cNvPr id="316" name="Google Shape;316;p36"/>
          <p:cNvSpPr txBox="1"/>
          <p:nvPr/>
        </p:nvSpPr>
        <p:spPr>
          <a:xfrm>
            <a:off x="3048740" y="6182268"/>
            <a:ext cx="60945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Right radius and ulna: Anterior view </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ANATOMICAL POSITION</a:t>
            </a:r>
            <a:endParaRPr b="1">
              <a:solidFill>
                <a:srgbClr val="C00000"/>
              </a:solidFill>
              <a:latin typeface="Times New Roman"/>
              <a:ea typeface="Times New Roman"/>
              <a:cs typeface="Times New Roman"/>
              <a:sym typeface="Times New Roman"/>
            </a:endParaRPr>
          </a:p>
        </p:txBody>
      </p:sp>
      <p:sp>
        <p:nvSpPr>
          <p:cNvPr id="322" name="Google Shape;322;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side of radius can be determined by keeping the bone vertically in such a way that: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narrow disc-shaped end(head) is directed upwards.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sharpest border (interosseous border) of the shaft is kept medially.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a:t>
            </a:r>
            <a:r>
              <a:rPr b="1" lang="en-AU" sz="2800">
                <a:latin typeface="Times New Roman"/>
                <a:ea typeface="Times New Roman"/>
                <a:cs typeface="Times New Roman"/>
                <a:sym typeface="Times New Roman"/>
              </a:rPr>
              <a:t>styloid process </a:t>
            </a:r>
            <a:r>
              <a:rPr lang="en-AU" sz="2800">
                <a:latin typeface="Times New Roman"/>
                <a:ea typeface="Times New Roman"/>
                <a:cs typeface="Times New Roman"/>
                <a:sym typeface="Times New Roman"/>
              </a:rPr>
              <a:t>at the </a:t>
            </a:r>
            <a:r>
              <a:rPr b="1" lang="en-AU" sz="2800">
                <a:latin typeface="Times New Roman"/>
                <a:ea typeface="Times New Roman"/>
                <a:cs typeface="Times New Roman"/>
                <a:sym typeface="Times New Roman"/>
              </a:rPr>
              <a:t>lower end </a:t>
            </a:r>
            <a:r>
              <a:rPr lang="en-AU" sz="2800">
                <a:latin typeface="Times New Roman"/>
                <a:ea typeface="Times New Roman"/>
                <a:cs typeface="Times New Roman"/>
                <a:sym typeface="Times New Roman"/>
              </a:rPr>
              <a:t>is </a:t>
            </a:r>
            <a:r>
              <a:rPr b="1" lang="en-AU" sz="2800">
                <a:latin typeface="Times New Roman"/>
                <a:ea typeface="Times New Roman"/>
                <a:cs typeface="Times New Roman"/>
                <a:sym typeface="Times New Roman"/>
              </a:rPr>
              <a:t>directed laterally </a:t>
            </a:r>
            <a:r>
              <a:rPr lang="en-AU" sz="2800">
                <a:latin typeface="Times New Roman"/>
                <a:ea typeface="Times New Roman"/>
                <a:cs typeface="Times New Roman"/>
                <a:sym typeface="Times New Roman"/>
              </a:rPr>
              <a:t>and </a:t>
            </a:r>
            <a:r>
              <a:rPr b="1" lang="en-AU" sz="2800">
                <a:latin typeface="Times New Roman"/>
                <a:ea typeface="Times New Roman"/>
                <a:cs typeface="Times New Roman"/>
                <a:sym typeface="Times New Roman"/>
              </a:rPr>
              <a:t>prominent tubercle </a:t>
            </a:r>
            <a:r>
              <a:rPr lang="en-AU" sz="2800">
                <a:latin typeface="Times New Roman"/>
                <a:ea typeface="Times New Roman"/>
                <a:cs typeface="Times New Roman"/>
                <a:sym typeface="Times New Roman"/>
              </a:rPr>
              <a:t>(Lister’s tubercle) at </a:t>
            </a:r>
            <a:r>
              <a:rPr b="1" lang="en-AU" sz="2800">
                <a:latin typeface="Times New Roman"/>
                <a:ea typeface="Times New Roman"/>
                <a:cs typeface="Times New Roman"/>
                <a:sym typeface="Times New Roman"/>
              </a:rPr>
              <a:t>lower end faces dorsally</a:t>
            </a:r>
            <a:r>
              <a:rPr lang="en-AU" sz="2800">
                <a:latin typeface="Times New Roman"/>
                <a:ea typeface="Times New Roman"/>
                <a:cs typeface="Times New Roman"/>
                <a:sym typeface="Times New Roman"/>
              </a:rPr>
              <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convexity of shaft faces laterally, and concave anterior surface of shaft faces anteriorly.</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Ossification</a:t>
            </a:r>
            <a:endParaRPr b="1">
              <a:solidFill>
                <a:srgbClr val="C00000"/>
              </a:solidFill>
              <a:latin typeface="Times New Roman"/>
              <a:ea typeface="Times New Roman"/>
              <a:cs typeface="Times New Roman"/>
              <a:sym typeface="Times New Roman"/>
            </a:endParaRPr>
          </a:p>
        </p:txBody>
      </p:sp>
      <p:sp>
        <p:nvSpPr>
          <p:cNvPr id="328" name="Google Shape;328;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radius ossifies from the following three centres: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One primary centre appears in the mid-shaft during 8th week of IUL.</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Two secondary centres, one for each end:</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Centre for lower end appears at the age of first year.</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Centre for upper end appears during fifth year.</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upper epiphysis fuses at the age of 12 years.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lower epiphysis fuses at the age of 20th year.</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endParaRPr b="1">
              <a:solidFill>
                <a:srgbClr val="C00000"/>
              </a:solidFill>
              <a:latin typeface="Times New Roman"/>
              <a:ea typeface="Times New Roman"/>
              <a:cs typeface="Times New Roman"/>
              <a:sym typeface="Times New Roman"/>
            </a:endParaRPr>
          </a:p>
        </p:txBody>
      </p:sp>
      <p:sp>
        <p:nvSpPr>
          <p:cNvPr id="334" name="Google Shape;334;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radius is a weight-bearing bone of the forearm; hence fractures of radius are more common than ulna.</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In fracture shaft of radius, with fracture line below the insertion of biceps and above the insertion of pronator teres the upper fragment is supinated by supinator and lower fragment is pronated by the pronator teres.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In fracture at the distal end of radius (Colles’ fracture) the distal fragment is displaced backwards and upwards. The reverse of Colles’ fracture is called Smith’s fracture.</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40"/>
          <p:cNvPicPr preferRelativeResize="0"/>
          <p:nvPr/>
        </p:nvPicPr>
        <p:blipFill rotWithShape="1">
          <a:blip r:embed="rId3">
            <a:alphaModFix/>
          </a:blip>
          <a:srcRect b="0" l="0" r="0" t="0"/>
          <a:stretch/>
        </p:blipFill>
        <p:spPr>
          <a:xfrm>
            <a:off x="7092970" y="1970979"/>
            <a:ext cx="4572032" cy="3214710"/>
          </a:xfrm>
          <a:prstGeom prst="rect">
            <a:avLst/>
          </a:prstGeom>
          <a:noFill/>
          <a:ln>
            <a:noFill/>
          </a:ln>
        </p:spPr>
      </p:pic>
      <p:sp>
        <p:nvSpPr>
          <p:cNvPr id="340" name="Google Shape;340;p40"/>
          <p:cNvSpPr txBox="1"/>
          <p:nvPr/>
        </p:nvSpPr>
        <p:spPr>
          <a:xfrm>
            <a:off x="233039" y="1431926"/>
            <a:ext cx="8786674"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AU" sz="2400">
                <a:solidFill>
                  <a:schemeClr val="dk1"/>
                </a:solidFill>
                <a:latin typeface="Times New Roman"/>
                <a:ea typeface="Times New Roman"/>
                <a:cs typeface="Times New Roman"/>
                <a:sym typeface="Times New Roman"/>
              </a:rPr>
              <a:t>Fracture of styloid process of radius is termed ‘Chauffeur’s fracture’</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AU" sz="2400">
                <a:solidFill>
                  <a:schemeClr val="dk1"/>
                </a:solidFill>
                <a:latin typeface="Times New Roman"/>
                <a:ea typeface="Times New Roman"/>
                <a:cs typeface="Times New Roman"/>
                <a:sym typeface="Times New Roman"/>
              </a:rPr>
              <a:t>The radius is most commonly fractured bone in people over 50 years of age. It is often fractured as a result of a fall on outstretched hand.</a:t>
            </a:r>
            <a:endParaRPr sz="2400">
              <a:solidFill>
                <a:schemeClr val="dk1"/>
              </a:solidFill>
              <a:latin typeface="Times New Roman"/>
              <a:ea typeface="Times New Roman"/>
              <a:cs typeface="Times New Roman"/>
              <a:sym typeface="Times New Roman"/>
            </a:endParaRPr>
          </a:p>
        </p:txBody>
      </p:sp>
      <p:sp>
        <p:nvSpPr>
          <p:cNvPr id="341" name="Google Shape;341;p40"/>
          <p:cNvSpPr txBox="1"/>
          <p:nvPr/>
        </p:nvSpPr>
        <p:spPr>
          <a:xfrm>
            <a:off x="3562164" y="5593801"/>
            <a:ext cx="77302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Times New Roman"/>
                <a:ea typeface="Times New Roman"/>
                <a:cs typeface="Times New Roman"/>
                <a:sym typeface="Times New Roman"/>
              </a:rPr>
              <a:t>Fracture at distal end of the radius: A,Colles’ fracture;  B, Smith’s fracture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ULNA</a:t>
            </a:r>
            <a:endParaRPr b="1">
              <a:solidFill>
                <a:srgbClr val="C00000"/>
              </a:solidFill>
              <a:latin typeface="Times New Roman"/>
              <a:ea typeface="Times New Roman"/>
              <a:cs typeface="Times New Roman"/>
              <a:sym typeface="Times New Roman"/>
            </a:endParaRPr>
          </a:p>
        </p:txBody>
      </p:sp>
      <p:sp>
        <p:nvSpPr>
          <p:cNvPr id="347" name="Google Shape;34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The ulna is the medial bone of forearm and is homologous to the lateral bone of leg-the fibula.</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PARTS</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Arial"/>
              <a:buChar char="•"/>
            </a:pPr>
            <a:r>
              <a:rPr lang="en-AU" sz="2800">
                <a:latin typeface="Times New Roman"/>
                <a:ea typeface="Times New Roman"/>
                <a:cs typeface="Times New Roman"/>
                <a:sym typeface="Times New Roman"/>
              </a:rPr>
              <a:t>The ulna is a long bone and consists of three parts: upper end, lower end, and shaft.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Arial"/>
              <a:buChar char="•"/>
            </a:pPr>
            <a:r>
              <a:rPr b="1" lang="en-AU" sz="2800">
                <a:latin typeface="Times New Roman"/>
                <a:ea typeface="Times New Roman"/>
                <a:cs typeface="Times New Roman"/>
                <a:sym typeface="Times New Roman"/>
              </a:rPr>
              <a:t>Upper End</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Arial"/>
              <a:buChar char="•"/>
            </a:pPr>
            <a:r>
              <a:rPr lang="en-AU" sz="2800">
                <a:latin typeface="Times New Roman"/>
                <a:ea typeface="Times New Roman"/>
                <a:cs typeface="Times New Roman"/>
                <a:sym typeface="Times New Roman"/>
              </a:rPr>
              <a:t>The </a:t>
            </a:r>
            <a:r>
              <a:rPr b="1" lang="en-AU" sz="2800">
                <a:latin typeface="Times New Roman"/>
                <a:ea typeface="Times New Roman"/>
                <a:cs typeface="Times New Roman"/>
                <a:sym typeface="Times New Roman"/>
              </a:rPr>
              <a:t>upper end </a:t>
            </a:r>
            <a:r>
              <a:rPr lang="en-AU" sz="2800">
                <a:latin typeface="Times New Roman"/>
                <a:ea typeface="Times New Roman"/>
                <a:cs typeface="Times New Roman"/>
                <a:sym typeface="Times New Roman"/>
              </a:rPr>
              <a:t>is expanded and hook-like with </a:t>
            </a:r>
            <a:r>
              <a:rPr b="1" lang="en-AU" sz="2800">
                <a:latin typeface="Times New Roman"/>
                <a:ea typeface="Times New Roman"/>
                <a:cs typeface="Times New Roman"/>
                <a:sym typeface="Times New Roman"/>
              </a:rPr>
              <a:t>concavity of hook facing forwards</a:t>
            </a:r>
            <a:r>
              <a:rPr lang="en-AU" sz="2800">
                <a:latin typeface="Times New Roman"/>
                <a:ea typeface="Times New Roman"/>
                <a:cs typeface="Times New Roman"/>
                <a:sym typeface="Times New Roman"/>
              </a:rPr>
              <a:t>. The concavity of upper end (trochlear notch) lies between large </a:t>
            </a:r>
            <a:r>
              <a:rPr b="1" lang="en-AU" sz="2800">
                <a:latin typeface="Times New Roman"/>
                <a:ea typeface="Times New Roman"/>
                <a:cs typeface="Times New Roman"/>
                <a:sym typeface="Times New Roman"/>
              </a:rPr>
              <a:t>olecranon process </a:t>
            </a:r>
            <a:r>
              <a:rPr lang="en-AU" sz="2800">
                <a:latin typeface="Times New Roman"/>
                <a:ea typeface="Times New Roman"/>
                <a:cs typeface="Times New Roman"/>
                <a:sym typeface="Times New Roman"/>
              </a:rPr>
              <a:t>above and the small</a:t>
            </a:r>
            <a:r>
              <a:rPr b="1" lang="en-AU" sz="2800">
                <a:latin typeface="Times New Roman"/>
                <a:ea typeface="Times New Roman"/>
                <a:cs typeface="Times New Roman"/>
                <a:sym typeface="Times New Roman"/>
              </a:rPr>
              <a:t> coronoid process </a:t>
            </a:r>
            <a:r>
              <a:rPr lang="en-AU" sz="2800">
                <a:latin typeface="Times New Roman"/>
                <a:ea typeface="Times New Roman"/>
                <a:cs typeface="Times New Roman"/>
                <a:sym typeface="Times New Roman"/>
              </a:rPr>
              <a:t>below.</a:t>
            </a:r>
            <a:endParaRPr sz="28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ULNA</a:t>
            </a:r>
            <a:endParaRPr/>
          </a:p>
        </p:txBody>
      </p:sp>
      <p:sp>
        <p:nvSpPr>
          <p:cNvPr id="353" name="Google Shape;353;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600"/>
              <a:buFont typeface="Noto Sans Symbols"/>
              <a:buChar char="▪"/>
            </a:pPr>
            <a:r>
              <a:rPr lang="en-AU" sz="3600">
                <a:latin typeface="Arial Black"/>
                <a:ea typeface="Arial Black"/>
                <a:cs typeface="Arial Black"/>
                <a:sym typeface="Arial Black"/>
              </a:rPr>
              <a:t>Shaft</a:t>
            </a:r>
            <a:endParaRPr sz="3600">
              <a:latin typeface="Arial Black"/>
              <a:ea typeface="Arial Black"/>
              <a:cs typeface="Arial Black"/>
              <a:sym typeface="Arial Black"/>
            </a:endParaRPr>
          </a:p>
          <a:p>
            <a:pPr indent="-228600" lvl="0" marL="228600" rtl="0" algn="just">
              <a:lnSpc>
                <a:spcPct val="90000"/>
              </a:lnSpc>
              <a:spcBef>
                <a:spcPts val="1000"/>
              </a:spcBef>
              <a:spcAft>
                <a:spcPts val="0"/>
              </a:spcAft>
              <a:buClr>
                <a:schemeClr val="dk1"/>
              </a:buClr>
              <a:buSzPts val="2800"/>
              <a:buChar char="•"/>
            </a:pPr>
            <a:r>
              <a:rPr lang="en-AU">
                <a:latin typeface="Arial"/>
                <a:ea typeface="Arial"/>
                <a:cs typeface="Arial"/>
                <a:sym typeface="Arial"/>
              </a:rPr>
              <a:t>The long shaft extends between the upper and lower ends. Its thickness diminishes progressively from above downwards throughout its length. The lateral border (interosseous border) is sharp crest-like.</a:t>
            </a:r>
            <a:endParaRPr>
              <a:latin typeface="Arial"/>
              <a:ea typeface="Arial"/>
              <a:cs typeface="Arial"/>
              <a:sym typeface="Arial"/>
            </a:endParaRPr>
          </a:p>
          <a:p>
            <a:pPr indent="-228600" lvl="0" marL="228600" rtl="0" algn="just">
              <a:lnSpc>
                <a:spcPct val="90000"/>
              </a:lnSpc>
              <a:spcBef>
                <a:spcPts val="1000"/>
              </a:spcBef>
              <a:spcAft>
                <a:spcPts val="0"/>
              </a:spcAft>
              <a:buClr>
                <a:schemeClr val="dk1"/>
              </a:buClr>
              <a:buSzPts val="2800"/>
              <a:buFont typeface="Noto Sans Symbols"/>
              <a:buChar char="▪"/>
            </a:pPr>
            <a:r>
              <a:rPr b="1" lang="en-AU">
                <a:latin typeface="Arial Black"/>
                <a:ea typeface="Arial Black"/>
                <a:cs typeface="Arial Black"/>
                <a:sym typeface="Arial Black"/>
              </a:rPr>
              <a:t>Lower End</a:t>
            </a:r>
            <a:endParaRPr b="1">
              <a:latin typeface="Arial Black"/>
              <a:ea typeface="Arial Black"/>
              <a:cs typeface="Arial Black"/>
              <a:sym typeface="Arial Black"/>
            </a:endParaRPr>
          </a:p>
          <a:p>
            <a:pPr indent="-228600" lvl="0" marL="228600" rtl="0" algn="just">
              <a:lnSpc>
                <a:spcPct val="90000"/>
              </a:lnSpc>
              <a:spcBef>
                <a:spcPts val="1000"/>
              </a:spcBef>
              <a:spcAft>
                <a:spcPts val="0"/>
              </a:spcAft>
              <a:buClr>
                <a:schemeClr val="dk1"/>
              </a:buClr>
              <a:buSzPts val="2800"/>
              <a:buChar char="•"/>
            </a:pPr>
            <a:r>
              <a:rPr lang="en-AU">
                <a:latin typeface="Arial"/>
                <a:ea typeface="Arial"/>
                <a:cs typeface="Arial"/>
                <a:sym typeface="Arial"/>
              </a:rPr>
              <a:t>The lower end is slightly expanded and has a head and styloid process. The styloid process is posteromedial to the head.</a:t>
            </a:r>
            <a:endParaRPr>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ANATOMICAL POSITION</a:t>
            </a:r>
            <a:endParaRPr b="1">
              <a:solidFill>
                <a:srgbClr val="C00000"/>
              </a:solidFill>
              <a:latin typeface="Times New Roman"/>
              <a:ea typeface="Times New Roman"/>
              <a:cs typeface="Times New Roman"/>
              <a:sym typeface="Times New Roman"/>
            </a:endParaRPr>
          </a:p>
        </p:txBody>
      </p:sp>
      <p:sp>
        <p:nvSpPr>
          <p:cNvPr id="359" name="Google Shape;359;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AU" sz="2800">
                <a:latin typeface="Times New Roman"/>
                <a:ea typeface="Times New Roman"/>
                <a:cs typeface="Times New Roman"/>
                <a:sym typeface="Times New Roman"/>
              </a:rPr>
              <a:t>It can be determined by keeping the side of ulna bone vertically in such a way that: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broad hook-like end is directed upwards.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sharp crest-like interosseous border of shaft is directed laterally.</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concavity of the hook-like upper end and the coronoid process are facing forwards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FEATURES AND ATTACHMENTS</a:t>
            </a:r>
            <a:endParaRPr b="1">
              <a:solidFill>
                <a:srgbClr val="C00000"/>
              </a:solidFill>
              <a:latin typeface="Times New Roman"/>
              <a:ea typeface="Times New Roman"/>
              <a:cs typeface="Times New Roman"/>
              <a:sym typeface="Times New Roman"/>
            </a:endParaRPr>
          </a:p>
        </p:txBody>
      </p:sp>
      <p:sp>
        <p:nvSpPr>
          <p:cNvPr id="365" name="Google Shape;365;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AU" sz="2800">
                <a:latin typeface="Times New Roman"/>
                <a:ea typeface="Times New Roman"/>
                <a:cs typeface="Times New Roman"/>
                <a:sym typeface="Times New Roman"/>
              </a:rPr>
              <a:t>Upper End</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upper end has two processes: coronoid and olecranon, and two notches: trochlear and radial.</a:t>
            </a:r>
            <a:endParaRPr sz="2800">
              <a:latin typeface="Times New Roman"/>
              <a:ea typeface="Times New Roman"/>
              <a:cs typeface="Times New Roman"/>
              <a:sym typeface="Times New Roman"/>
            </a:endParaRPr>
          </a:p>
          <a:p>
            <a:pPr indent="0" lvl="0" marL="0" rtl="0" algn="just">
              <a:lnSpc>
                <a:spcPct val="90000"/>
              </a:lnSpc>
              <a:spcBef>
                <a:spcPts val="1000"/>
              </a:spcBef>
              <a:spcAft>
                <a:spcPts val="0"/>
              </a:spcAft>
              <a:buClr>
                <a:schemeClr val="dk1"/>
              </a:buClr>
              <a:buSzPts val="2800"/>
              <a:buNone/>
            </a:pPr>
            <a:r>
              <a:rPr b="1" lang="en-AU" sz="2800">
                <a:latin typeface="Times New Roman"/>
                <a:ea typeface="Times New Roman"/>
                <a:cs typeface="Times New Roman"/>
                <a:sym typeface="Times New Roman"/>
              </a:rPr>
              <a:t>Processes</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Olecranon process: It projects upwards from the upper end and bends forward at its summit like a beak. It has the following five surfaces:</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Notches (articular surfaces)</a:t>
            </a:r>
            <a:br>
              <a:rPr b="1" lang="en-AU" sz="4400">
                <a:solidFill>
                  <a:srgbClr val="C00000"/>
                </a:solidFill>
                <a:latin typeface="Times New Roman"/>
                <a:ea typeface="Times New Roman"/>
                <a:cs typeface="Times New Roman"/>
                <a:sym typeface="Times New Roman"/>
              </a:rPr>
            </a:br>
            <a:endParaRPr b="1">
              <a:solidFill>
                <a:srgbClr val="C00000"/>
              </a:solidFill>
            </a:endParaRPr>
          </a:p>
        </p:txBody>
      </p:sp>
      <p:sp>
        <p:nvSpPr>
          <p:cNvPr id="371" name="Google Shape;37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Noto Sans Symbols"/>
              <a:buChar char="⮚"/>
            </a:pPr>
            <a:r>
              <a:rPr b="1" lang="en-AU" sz="2800">
                <a:latin typeface="Times New Roman"/>
                <a:ea typeface="Times New Roman"/>
                <a:cs typeface="Times New Roman"/>
                <a:sym typeface="Times New Roman"/>
              </a:rPr>
              <a:t>Trochlear notch</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is C-shaped (semilunar) and articulates with the trochlea of humerus.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has a non-articular strip at the junction of its olecranon and coronoid parts.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Its superior, medial, and anterior margins provide attachment to capsule of the elbow joint.</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b="1" lang="en-AU" sz="2800">
                <a:latin typeface="Times New Roman"/>
                <a:ea typeface="Times New Roman"/>
                <a:cs typeface="Times New Roman"/>
                <a:sym typeface="Times New Roman"/>
              </a:rPr>
              <a:t>Radial notch</a:t>
            </a:r>
            <a:endParaRPr b="1"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It articulates with the head of radius to form the superior radio-ulnar joint.</a:t>
            </a:r>
            <a:endParaRPr sz="28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a:solidFill>
                  <a:srgbClr val="C00000"/>
                </a:solidFill>
                <a:latin typeface="Times New Roman"/>
                <a:ea typeface="Times New Roman"/>
                <a:cs typeface="Times New Roman"/>
                <a:sym typeface="Times New Roman"/>
              </a:rPr>
              <a:t>Ossification</a:t>
            </a:r>
            <a:endParaRPr b="1">
              <a:solidFill>
                <a:srgbClr val="C00000"/>
              </a:solidFill>
              <a:latin typeface="Times New Roman"/>
              <a:ea typeface="Times New Roman"/>
              <a:cs typeface="Times New Roman"/>
              <a:sym typeface="Times New Roman"/>
            </a:endParaRPr>
          </a:p>
        </p:txBody>
      </p:sp>
      <p:sp>
        <p:nvSpPr>
          <p:cNvPr id="377" name="Google Shape;377;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AU" sz="2800">
                <a:latin typeface="Times New Roman"/>
                <a:ea typeface="Times New Roman"/>
                <a:cs typeface="Times New Roman"/>
                <a:sym typeface="Times New Roman"/>
              </a:rPr>
              <a:t>The ulna ossifies from the three main centres: one primary centre for the shaft and two secondary centres, one each for the lower end and the upper end.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br>
              <a:rPr b="1" lang="en-AU" sz="4400">
                <a:solidFill>
                  <a:srgbClr val="C00000"/>
                </a:solidFill>
                <a:latin typeface="Times New Roman"/>
                <a:ea typeface="Times New Roman"/>
                <a:cs typeface="Times New Roman"/>
                <a:sym typeface="Times New Roman"/>
              </a:rPr>
            </a:br>
            <a:endParaRPr b="1">
              <a:solidFill>
                <a:srgbClr val="C00000"/>
              </a:solidFill>
              <a:latin typeface="Times New Roman"/>
              <a:ea typeface="Times New Roman"/>
              <a:cs typeface="Times New Roman"/>
              <a:sym typeface="Times New Roman"/>
            </a:endParaRPr>
          </a:p>
        </p:txBody>
      </p:sp>
      <p:sp>
        <p:nvSpPr>
          <p:cNvPr id="383" name="Google Shape;383;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A fracture of the shaft of ulna due to direct injury when a night watchman reflex raises his forearm to ward off the blow of the stick is termed night-stick fracture. </a:t>
            </a:r>
            <a:endParaRPr sz="2800">
              <a:latin typeface="Times New Roman"/>
              <a:ea typeface="Times New Roman"/>
              <a:cs typeface="Times New Roman"/>
              <a:sym typeface="Times New Roman"/>
            </a:endParaRPr>
          </a:p>
          <a:p>
            <a:pPr indent="-50800" lvl="0" marL="228600" rtl="0" algn="just">
              <a:lnSpc>
                <a:spcPct val="90000"/>
              </a:lnSpc>
              <a:spcBef>
                <a:spcPts val="1000"/>
              </a:spcBef>
              <a:spcAft>
                <a:spcPts val="0"/>
              </a:spcAft>
              <a:buClr>
                <a:schemeClr val="dk1"/>
              </a:buClr>
              <a:buSzPts val="2800"/>
              <a:buFont typeface="Noto Sans Symbols"/>
              <a:buNone/>
            </a:pPr>
            <a:r>
              <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When the elbow is fully extended, the tip of olecranon process and medial and lateral epicondyles of the humerus lie in a same horizontal line. When the elbow is fully flexed the three bony points form an equilateral triangle. In dislocation of elbow this relationship is disturbed.</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AU" sz="4400">
                <a:solidFill>
                  <a:srgbClr val="C00000"/>
                </a:solidFill>
                <a:latin typeface="Times New Roman"/>
                <a:ea typeface="Times New Roman"/>
                <a:cs typeface="Times New Roman"/>
                <a:sym typeface="Times New Roman"/>
              </a:rPr>
              <a:t>APPLIED ANATOMY</a:t>
            </a:r>
            <a:br>
              <a:rPr b="1" lang="en-AU" sz="4400">
                <a:solidFill>
                  <a:srgbClr val="C00000"/>
                </a:solidFill>
                <a:latin typeface="Times New Roman"/>
                <a:ea typeface="Times New Roman"/>
                <a:cs typeface="Times New Roman"/>
                <a:sym typeface="Times New Roman"/>
              </a:rPr>
            </a:br>
            <a:endParaRPr/>
          </a:p>
        </p:txBody>
      </p:sp>
      <p:sp>
        <p:nvSpPr>
          <p:cNvPr id="389" name="Google Shape;389;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Ulna stabilizes the forearm by gripping the lower end of humerus by its trochlear notch and provides foundation for radius to produce supination and pronation at superior and inferior radio-ulnar joints.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fracture of upper third of shaft of ulna with dislocation of radial head at superior radio-ulnar joint is called Monteggia fracture dislocations.</a:t>
            </a:r>
            <a:endParaRPr sz="2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Noto Sans Symbols"/>
              <a:buChar char="⮚"/>
            </a:pPr>
            <a:r>
              <a:rPr lang="en-AU" sz="2800">
                <a:latin typeface="Times New Roman"/>
                <a:ea typeface="Times New Roman"/>
                <a:cs typeface="Times New Roman"/>
                <a:sym typeface="Times New Roman"/>
              </a:rPr>
              <a:t>The fracture of lower third of the shaft of radius associated with dislocation of inferior radio-ulnar joint is called Galeazzi fracture dislocation.</a:t>
            </a:r>
            <a:endParaRPr sz="2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49"/>
          <p:cNvPicPr preferRelativeResize="0"/>
          <p:nvPr/>
        </p:nvPicPr>
        <p:blipFill rotWithShape="1">
          <a:blip r:embed="rId3">
            <a:alphaModFix/>
          </a:blip>
          <a:srcRect b="0" l="0" r="0" t="0"/>
          <a:stretch/>
        </p:blipFill>
        <p:spPr>
          <a:xfrm>
            <a:off x="1553592" y="387549"/>
            <a:ext cx="7171106" cy="5357850"/>
          </a:xfrm>
          <a:prstGeom prst="rect">
            <a:avLst/>
          </a:prstGeom>
          <a:noFill/>
          <a:ln>
            <a:noFill/>
          </a:ln>
        </p:spPr>
      </p:pic>
      <p:sp>
        <p:nvSpPr>
          <p:cNvPr id="395" name="Google Shape;395;p49"/>
          <p:cNvSpPr txBox="1"/>
          <p:nvPr/>
        </p:nvSpPr>
        <p:spPr>
          <a:xfrm>
            <a:off x="1251751" y="5934670"/>
            <a:ext cx="1041350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800">
                <a:solidFill>
                  <a:schemeClr val="dk1"/>
                </a:solidFill>
                <a:latin typeface="Calibri"/>
                <a:ea typeface="Calibri"/>
                <a:cs typeface="Calibri"/>
                <a:sym typeface="Calibri"/>
              </a:rPr>
              <a:t>Right scapula showing attachments of the muscles and ligaments: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AU" sz="1800">
                <a:solidFill>
                  <a:schemeClr val="dk1"/>
                </a:solidFill>
                <a:latin typeface="Calibri"/>
                <a:ea typeface="Calibri"/>
                <a:cs typeface="Calibri"/>
                <a:sym typeface="Calibri"/>
              </a:rPr>
              <a:t>costal surface.</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2023-08-28T16:55:00Z</dcterms:created>
  <dc:creator>Florence Igelige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D55FFDEB9849470E9605F242AFC50B73_12</vt:lpwstr>
  </property>
  <property fmtid="{D5CDD505-2E9C-101B-9397-08002B2CF9AE}" pid="3" name="KSOProductBuildVer">
    <vt:lpwstr>1033-12.2.0.20326</vt:lpwstr>
  </property>
</Properties>
</file>