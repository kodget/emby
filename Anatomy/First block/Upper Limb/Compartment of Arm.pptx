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91017-9FD4-A258-96D3-9A45DF338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37500-8F76-C499-95BC-718FF4151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E6468-3422-DC3F-4F03-A22EE396A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AD5AD-AEA8-4F89-BFCF-A725A3528D6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2D63F-04CE-F582-6F9F-D2B67BE1B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94A21-5627-E227-E848-4BEBD417A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3F493-435B-40AA-AB92-D5D6058AA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9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93A00-9037-43B0-3DE4-D9BD2908A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6F067-D761-4555-03AA-D6DAA3180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A60CC-208A-B775-9430-BFFB35CE3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AD5AD-AEA8-4F89-BFCF-A725A3528D6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B24A7-4AB6-C1B6-11BB-504CBB070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EE35F-E85B-6F08-A2D5-F092969A5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3F493-435B-40AA-AB92-D5D6058AA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559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B5AA3-43B6-CB30-C2BE-9ECD915DB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9E975-DD13-64BE-6B09-7AD0A863A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718F7-8956-8EA4-C83F-AE992991F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AD5AD-AEA8-4F89-BFCF-A725A3528D6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D99D0-6689-69F5-7162-0B2638A36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DF52F-B9D2-8E15-47BF-CF280CCBD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3F493-435B-40AA-AB92-D5D6058AA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60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2A11F-657C-D0A3-8378-396B25897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72CEF-C27C-8B5E-E8C7-A28F1AA9F2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6F82F0-6E2F-5AEF-73AB-7DDA65E81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BF5992-4974-0324-6580-DEF4B67A7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AD5AD-AEA8-4F89-BFCF-A725A3528D6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223404-F706-FEB4-F9CA-34F98BCAD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F3693-89AF-75D6-AA47-33CCB101F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3F493-435B-40AA-AB92-D5D6058AA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270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C62F7-2A32-0696-B545-4B7768F9D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5EF02-C8D0-61D3-A51A-7A02D66BA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AAF4E5-D635-E1D8-E199-0D1597B03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D14D5D-14C3-4664-1895-3B964FC047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E123F2-C1AD-FC13-911F-A615CD1763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1EDED-529E-94EF-4923-85BFDF845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AD5AD-AEA8-4F89-BFCF-A725A3528D6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0CFEE-0BDF-B56C-F1A6-2B39A5116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257A6D-202F-C52B-D410-C9B17CF31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3F493-435B-40AA-AB92-D5D6058AA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07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0F7CD-B76F-5F02-0346-3E58B56A1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09AA11-1551-55A6-7D8C-540A396C6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AD5AD-AEA8-4F89-BFCF-A725A3528D6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1D3275-2DBC-6409-6A49-C40C3B9B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5DAEAD-0A4E-5F71-007A-31A3D2A3D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3F493-435B-40AA-AB92-D5D6058AA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957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ABB049-A402-6F61-599A-22B10E072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AD5AD-AEA8-4F89-BFCF-A725A3528D6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29C068-EB8A-2F1B-67BF-D5DCF627A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A152F-6F25-3765-2EC7-4D4C53E1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3F493-435B-40AA-AB92-D5D6058AA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314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063BD-B2EB-7705-EED1-C6817ACCA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1ECD1-DAF9-BB81-4732-8F970446D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819C22-8E8F-807B-EB02-1608F0580F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DB3D28-69E5-A944-E584-A34BA1B85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AD5AD-AEA8-4F89-BFCF-A725A3528D6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BB496D-9D21-77C9-BF63-144094315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F194E6-9DE4-F3B8-0EE3-8A17B12D0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3F493-435B-40AA-AB92-D5D6058AA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015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F8D6F-C22A-E1D5-B2C0-C7FF44B0A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943ED8-8E5B-71DB-C8AC-6C751C8B33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0DCAB2-4D33-30A6-0ED9-651417074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C32DF1-367A-22A8-9ABA-153B4AF73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AD5AD-AEA8-4F89-BFCF-A725A3528D6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3936A-1BC3-6BE4-FD8F-E9487AEF2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A1958F-C5FA-27F1-79B2-C33BEF2A2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3F493-435B-40AA-AB92-D5D6058AA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694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1E252-A954-E0D6-95AE-7FF2C1423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2A91E4-E539-DE91-AEF6-C3BD33A5A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B03C9-8D44-3E46-3786-F0A76A9B7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AD5AD-AEA8-4F89-BFCF-A725A3528D6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8D976-06B0-811C-DF5F-C05EC9A08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DE3A6-E22B-5012-DC54-FE7F0DCA2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3F493-435B-40AA-AB92-D5D6058AA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239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E5E0BF-8183-4964-9CE1-9377F98E6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8EF85F-4C60-7650-1449-FA025526A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6C551-B678-BCCA-2371-0A6299E92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AD5AD-AEA8-4F89-BFCF-A725A3528D6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6B01C-5241-9158-F1F7-1EA62B867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6F530-A246-E8F9-5E32-245F13DF8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3F493-435B-40AA-AB92-D5D6058AA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692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0A4BB6-34D9-BF3F-6518-2B94692CA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CF2C6-F454-DE85-59A4-43B2EABB7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5220E-8268-2844-C37B-7ED1D12AA4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AD5AD-AEA8-4F89-BFCF-A725A3528D6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DFEF8-99AB-0D0D-AF05-BE0FEFD050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35EC2-D047-8D68-9900-B3B985F5F2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03F493-435B-40AA-AB92-D5D6058AA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783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cbi.nlm.nih.gov/pmc/articles/PMC537056/" TargetMode="External"/><Relationship Id="rId3" Type="http://schemas.openxmlformats.org/officeDocument/2006/relationships/hyperlink" Target="https://pubmed.ncbi.nlm.nih.gov/30725887" TargetMode="External"/><Relationship Id="rId7" Type="http://schemas.openxmlformats.org/officeDocument/2006/relationships/hyperlink" Target="https://pubmed.ncbi.nlm.nih.gov/30725833" TargetMode="External"/><Relationship Id="rId2" Type="http://schemas.openxmlformats.org/officeDocument/2006/relationships/hyperlink" Target="https://www.ncbi.nlm.nih.gov/pmc/articles/PMC537202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cbi.nlm.nih.gov/pmc/articles/PMC537148/" TargetMode="External"/><Relationship Id="rId11" Type="http://schemas.openxmlformats.org/officeDocument/2006/relationships/hyperlink" Target="https://pubmed.ncbi.nlm.nih.gov/31134719" TargetMode="External"/><Relationship Id="rId5" Type="http://schemas.openxmlformats.org/officeDocument/2006/relationships/hyperlink" Target="https://pubmed.ncbi.nlm.nih.gov/30725850" TargetMode="External"/><Relationship Id="rId10" Type="http://schemas.openxmlformats.org/officeDocument/2006/relationships/hyperlink" Target="https://www.ncbi.nlm.nih.gov/pmc/articles/PMC6618170/" TargetMode="External"/><Relationship Id="rId4" Type="http://schemas.openxmlformats.org/officeDocument/2006/relationships/hyperlink" Target="https://www.ncbi.nlm.nih.gov/pmc/articles/PMC537165/" TargetMode="External"/><Relationship Id="rId9" Type="http://schemas.openxmlformats.org/officeDocument/2006/relationships/hyperlink" Target="https://pubmed.ncbi.nlm.nih.gov/30725741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FF3323-A4CA-CFBD-2F4C-B4CAEE61B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ANTERIOR AND POSTERIOR COMPARTMENT OF ARM</a:t>
            </a:r>
            <a:br>
              <a:rPr lang="en-US" dirty="0"/>
            </a:br>
            <a:r>
              <a:rPr lang="en-US" dirty="0"/>
              <a:t>BY</a:t>
            </a:r>
            <a:br>
              <a:rPr lang="en-US" dirty="0"/>
            </a:br>
            <a:r>
              <a:rPr lang="en-US" dirty="0"/>
              <a:t>DR. OGWUCHE ELIJAH</a:t>
            </a:r>
            <a:br>
              <a:rPr lang="en-US" dirty="0"/>
            </a:br>
            <a:r>
              <a:rPr lang="en-US" dirty="0"/>
              <a:t>(BSc. MSc. MBBS)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E266F9-9265-F838-8972-9BBC5BA43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LAGOS STATE UNIVERSITY COLLEGE OF MEDICINE (LASUCOM),</a:t>
            </a:r>
          </a:p>
          <a:p>
            <a:pPr marL="0" indent="0" algn="ctr">
              <a:buNone/>
            </a:pPr>
            <a:r>
              <a:rPr lang="en-US" dirty="0"/>
              <a:t>IKEJA.</a:t>
            </a:r>
          </a:p>
        </p:txBody>
      </p:sp>
    </p:spTree>
    <p:extLst>
      <p:ext uri="{BB962C8B-B14F-4D97-AF65-F5344CB8AC3E}">
        <p14:creationId xmlns:p14="http://schemas.microsoft.com/office/powerpoint/2010/main" val="1436246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C2DC9-82A2-8FA4-8091-F0269ABE5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7DC29-76B5-9C6A-BEB3-EB64E845C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ANTERIOR COMPARTMENTS</a:t>
            </a:r>
          </a:p>
          <a:p>
            <a:r>
              <a:rPr lang="en-US" dirty="0"/>
              <a:t>POSTERIOR COMPARTMENTS</a:t>
            </a:r>
          </a:p>
          <a:p>
            <a:r>
              <a:rPr lang="en-US" dirty="0"/>
              <a:t>BLOOD VESSELS</a:t>
            </a:r>
          </a:p>
          <a:p>
            <a:r>
              <a:rPr lang="en-US" dirty="0"/>
              <a:t>NERVES</a:t>
            </a:r>
          </a:p>
          <a:p>
            <a:r>
              <a:rPr lang="en-US" dirty="0"/>
              <a:t>ACTIONS</a:t>
            </a:r>
          </a:p>
          <a:p>
            <a:r>
              <a:rPr lang="en-US" dirty="0"/>
              <a:t>CLINICAL RELEVANCE</a:t>
            </a:r>
          </a:p>
        </p:txBody>
      </p:sp>
    </p:spTree>
    <p:extLst>
      <p:ext uri="{BB962C8B-B14F-4D97-AF65-F5344CB8AC3E}">
        <p14:creationId xmlns:p14="http://schemas.microsoft.com/office/powerpoint/2010/main" val="4112633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9FEE9-C90C-1F52-7B38-CA67EB125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94635-E816-5F49-EF46-2E030B4D7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ARM is the structural and functional part of the upper limb extending from the shoulder joint to the elbow joint</a:t>
            </a:r>
          </a:p>
          <a:p>
            <a:r>
              <a:rPr lang="en-US" dirty="0"/>
              <a:t>Consist of two compartments; anterior compartment and posterior compartment, separated by lateral and medial intermuscular septa</a:t>
            </a:r>
          </a:p>
          <a:p>
            <a:r>
              <a:rPr lang="en-US" dirty="0"/>
              <a:t>It is made up of four muscles; Biceps brachii, brachialis, coracobrachialis and triceps brachii</a:t>
            </a:r>
          </a:p>
          <a:p>
            <a:r>
              <a:rPr lang="en-US" dirty="0"/>
              <a:t>The bone of the arm is the humerus</a:t>
            </a:r>
          </a:p>
          <a:p>
            <a:r>
              <a:rPr lang="en-US" dirty="0"/>
              <a:t>There are also blood vessels and nerves that passes through and supply the structures of the arm</a:t>
            </a:r>
          </a:p>
        </p:txBody>
      </p:sp>
    </p:spTree>
    <p:extLst>
      <p:ext uri="{BB962C8B-B14F-4D97-AF65-F5344CB8AC3E}">
        <p14:creationId xmlns:p14="http://schemas.microsoft.com/office/powerpoint/2010/main" val="2261928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39CC5-F8F4-01B3-D549-93F3C66CA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ARM</a:t>
            </a:r>
          </a:p>
        </p:txBody>
      </p:sp>
      <p:pic>
        <p:nvPicPr>
          <p:cNvPr id="1028" name="Picture 4" descr="Vector Main Bones &amp; Muscles of the Upper Arm Useful for Education Hospitals and Clinics">
            <a:extLst>
              <a:ext uri="{FF2B5EF4-FFF2-40B4-BE49-F238E27FC236}">
                <a16:creationId xmlns:a16="http://schemas.microsoft.com/office/drawing/2014/main" id="{D44C3045-722B-7C88-10FE-EE18A038921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9771" y="1404257"/>
            <a:ext cx="8284029" cy="5192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1176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73688-128C-2520-1EF6-3F7224DB2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ANTERIOR COMPARTMENT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0AB43-6AE0-243B-31D7-05378343F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the flexor compartment of the arm</a:t>
            </a:r>
          </a:p>
          <a:p>
            <a:r>
              <a:rPr lang="en-US" dirty="0"/>
              <a:t>Made up of three muscles; Biceps brachii, brachialis and coracobrachialis</a:t>
            </a:r>
          </a:p>
        </p:txBody>
      </p:sp>
    </p:spTree>
    <p:extLst>
      <p:ext uri="{BB962C8B-B14F-4D97-AF65-F5344CB8AC3E}">
        <p14:creationId xmlns:p14="http://schemas.microsoft.com/office/powerpoint/2010/main" val="2658199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A0168-51AF-60E2-6C7C-7CE5E3885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Muscles of anterior compartment of the arm</a:t>
            </a:r>
          </a:p>
        </p:txBody>
      </p:sp>
      <p:pic>
        <p:nvPicPr>
          <p:cNvPr id="1026" name="Picture 2" descr="Fig 1 - The coracobrachialis, biceps brachii and brachialis muscles of the anterior upper arm.">
            <a:extLst>
              <a:ext uri="{FF2B5EF4-FFF2-40B4-BE49-F238E27FC236}">
                <a16:creationId xmlns:a16="http://schemas.microsoft.com/office/drawing/2014/main" id="{B6852740-3291-2F8A-631E-3C98E1A184D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3310" y="1825625"/>
            <a:ext cx="6720130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8875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3C7D7-A366-ED30-4744-769F985A1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BICEPS BRACHII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5ED53-F795-4DBC-CA5E-3EBC49DA3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u="sng" dirty="0"/>
              <a:t>BICEPS BRACHII; </a:t>
            </a:r>
            <a:r>
              <a:rPr lang="en-US" dirty="0"/>
              <a:t>These has two heads ( the long head and short head)</a:t>
            </a:r>
          </a:p>
          <a:p>
            <a:pPr marL="0" indent="0">
              <a:buNone/>
            </a:pPr>
            <a:r>
              <a:rPr lang="en-US" dirty="0"/>
              <a:t>ORIGIN; </a:t>
            </a:r>
          </a:p>
          <a:p>
            <a:pPr marL="0" indent="0">
              <a:buNone/>
            </a:pPr>
            <a:r>
              <a:rPr lang="en-US" dirty="0"/>
              <a:t>. </a:t>
            </a:r>
            <a:r>
              <a:rPr lang="en-US" u="sng" dirty="0"/>
              <a:t>Long head; </a:t>
            </a:r>
            <a:r>
              <a:rPr lang="en-US" dirty="0"/>
              <a:t>Intracapsular, originates from the supraglenoid tubercle of the scapula</a:t>
            </a:r>
          </a:p>
          <a:p>
            <a:pPr marL="0" indent="0">
              <a:buNone/>
            </a:pPr>
            <a:r>
              <a:rPr lang="en-US" u="sng" dirty="0"/>
              <a:t>. Short head;</a:t>
            </a:r>
            <a:r>
              <a:rPr lang="en-US" dirty="0"/>
              <a:t> coracoid process of scapula, with conjoint origin of coracobrachialis</a:t>
            </a:r>
          </a:p>
          <a:p>
            <a:pPr marL="0" indent="0">
              <a:buNone/>
            </a:pPr>
            <a:r>
              <a:rPr lang="en-US" dirty="0"/>
              <a:t>INSERTION; radial tuberosity and fascia of  forearm via </a:t>
            </a:r>
            <a:r>
              <a:rPr lang="en-US" dirty="0" err="1"/>
              <a:t>biciptal</a:t>
            </a:r>
            <a:r>
              <a:rPr lang="en-US" dirty="0"/>
              <a:t> aponeurosis</a:t>
            </a:r>
          </a:p>
          <a:p>
            <a:pPr marL="0" indent="0">
              <a:buNone/>
            </a:pPr>
            <a:r>
              <a:rPr lang="en-US" dirty="0"/>
              <a:t>BLOOD SUPPLY; Brachial artery</a:t>
            </a:r>
          </a:p>
          <a:p>
            <a:pPr marL="0" indent="0">
              <a:buNone/>
            </a:pPr>
            <a:r>
              <a:rPr lang="en-US" dirty="0"/>
              <a:t>NERVE SUPPLY; Musculocutaneous nerve (C5, C6 &amp; C7)</a:t>
            </a:r>
          </a:p>
          <a:p>
            <a:pPr marL="0" indent="0">
              <a:buNone/>
            </a:pPr>
            <a:r>
              <a:rPr lang="en-US" dirty="0"/>
              <a:t>ACTION; Flexion of the arm and supination of forearm</a:t>
            </a:r>
          </a:p>
          <a:p>
            <a:pPr marL="0" indent="0">
              <a:buNone/>
            </a:pPr>
            <a:r>
              <a:rPr lang="en-US" dirty="0"/>
              <a:t>CLINICAL; .Rupture of the biceps tendon produces a characteristic sign called  “Popeye sign” on flexing the elbow</a:t>
            </a:r>
          </a:p>
          <a:p>
            <a:pPr marL="0" indent="0">
              <a:buNone/>
            </a:pPr>
            <a:r>
              <a:rPr lang="en-US" dirty="0"/>
              <a:t>. Biceps tenotomy;  a surgical procedure that involves </a:t>
            </a:r>
            <a:r>
              <a:rPr lang="en-US" dirty="0" err="1"/>
              <a:t>dettachement</a:t>
            </a:r>
            <a:r>
              <a:rPr lang="en-US" dirty="0"/>
              <a:t> of the biceps tendon at the origin to relieve persistent shoulder pain</a:t>
            </a:r>
          </a:p>
        </p:txBody>
      </p:sp>
    </p:spTree>
    <p:extLst>
      <p:ext uri="{BB962C8B-B14F-4D97-AF65-F5344CB8AC3E}">
        <p14:creationId xmlns:p14="http://schemas.microsoft.com/office/powerpoint/2010/main" val="4115537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3092E-A978-C538-76C1-D295565C3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BRACHIALIS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92E73-3910-7CF2-BF84-D455E54BF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This is located distally in the arm and form the floor of cubital fossa</a:t>
            </a:r>
          </a:p>
          <a:p>
            <a:pPr marL="0" indent="0">
              <a:buNone/>
            </a:pPr>
            <a:r>
              <a:rPr lang="en-US" u="sng" dirty="0"/>
              <a:t>ORIGIN;</a:t>
            </a:r>
            <a:r>
              <a:rPr lang="en-US" dirty="0"/>
              <a:t> Lower part of the anteromedial and anterolateral part of humeral shaft</a:t>
            </a:r>
          </a:p>
          <a:p>
            <a:pPr marL="0" indent="0">
              <a:buNone/>
            </a:pPr>
            <a:r>
              <a:rPr lang="en-US" dirty="0"/>
              <a:t>.From the lower part of spiral groove</a:t>
            </a:r>
          </a:p>
          <a:p>
            <a:pPr marL="0" indent="0">
              <a:buNone/>
            </a:pPr>
            <a:r>
              <a:rPr lang="en-US" dirty="0"/>
              <a:t>. From medial intermuscular septum</a:t>
            </a:r>
          </a:p>
          <a:p>
            <a:pPr marL="0" indent="0">
              <a:buNone/>
            </a:pPr>
            <a:r>
              <a:rPr lang="en-US" dirty="0"/>
              <a:t>INSERTION; Ulnar tuberosity and coronoid process of ulnar</a:t>
            </a:r>
          </a:p>
          <a:p>
            <a:pPr marL="0" indent="0">
              <a:buNone/>
            </a:pPr>
            <a:r>
              <a:rPr lang="en-US" dirty="0"/>
              <a:t>BLOOD SUPPLY; Brachial artery</a:t>
            </a:r>
          </a:p>
          <a:p>
            <a:pPr marL="0" indent="0">
              <a:buNone/>
            </a:pPr>
            <a:r>
              <a:rPr lang="en-US" dirty="0"/>
              <a:t>NERVE SUPPL; Majorly by the musculocutaneous nerve, it also receive contribution from the radial nerve</a:t>
            </a:r>
          </a:p>
          <a:p>
            <a:pPr marL="0" indent="0">
              <a:buNone/>
            </a:pPr>
            <a:r>
              <a:rPr lang="en-US" dirty="0"/>
              <a:t>ACTION; It flexes the elbow joint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985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3D161-A70F-DCD3-B89D-E42F6A722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CORACOBRACHIALIS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6210E-DC91-DFC0-F494-4CC6521AD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Located more proximally in the arm, pierced in the axilla by the musculocutaneous nerve</a:t>
            </a:r>
          </a:p>
          <a:p>
            <a:pPr marL="0" indent="0">
              <a:buNone/>
            </a:pPr>
            <a:r>
              <a:rPr lang="en-US" u="sng" dirty="0"/>
              <a:t>ORIGIN; </a:t>
            </a:r>
            <a:r>
              <a:rPr lang="en-US" dirty="0"/>
              <a:t>Coracoid process of scapula. Have common origin with the short head of biceps brachii</a:t>
            </a:r>
          </a:p>
          <a:p>
            <a:pPr marL="0" indent="0">
              <a:buNone/>
            </a:pPr>
            <a:r>
              <a:rPr lang="en-US" dirty="0"/>
              <a:t>INSERTION; medial side of humeral shaft at the level of deltoid tuberosity</a:t>
            </a:r>
          </a:p>
          <a:p>
            <a:pPr marL="0" indent="0">
              <a:buNone/>
            </a:pPr>
            <a:r>
              <a:rPr lang="en-US" dirty="0"/>
              <a:t>BLOOD SUPPLY; Brachial artery</a:t>
            </a:r>
          </a:p>
          <a:p>
            <a:pPr marL="0" indent="0">
              <a:buNone/>
            </a:pPr>
            <a:r>
              <a:rPr lang="en-US" dirty="0"/>
              <a:t>NERVE SUPPLY; musculocutaneous nerve </a:t>
            </a:r>
          </a:p>
          <a:p>
            <a:pPr marL="0" indent="0">
              <a:buNone/>
            </a:pPr>
            <a:r>
              <a:rPr lang="en-US" dirty="0"/>
              <a:t>ACTION; Flexes the arm</a:t>
            </a:r>
          </a:p>
        </p:txBody>
      </p:sp>
    </p:spTree>
    <p:extLst>
      <p:ext uri="{BB962C8B-B14F-4D97-AF65-F5344CB8AC3E}">
        <p14:creationId xmlns:p14="http://schemas.microsoft.com/office/powerpoint/2010/main" val="3882324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AE498-08F0-7F48-1A47-B57DC9BC7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POSTERIOR COMPARTMENT OF THE ARM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48CCD-78FA-686D-3D3A-A4A9123C1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posterior compartment of the arm is made up of majorly the triceps brachii. The </a:t>
            </a:r>
            <a:r>
              <a:rPr lang="en-US" dirty="0" err="1"/>
              <a:t>anconeous</a:t>
            </a:r>
            <a:r>
              <a:rPr lang="en-US" dirty="0"/>
              <a:t> is also located in the posterior compartment of the arm</a:t>
            </a:r>
          </a:p>
          <a:p>
            <a:r>
              <a:rPr lang="en-US" dirty="0"/>
              <a:t>Also called extensor compartment</a:t>
            </a:r>
          </a:p>
          <a:p>
            <a:r>
              <a:rPr lang="en-US" dirty="0"/>
              <a:t>The triceps brachii have three heads; the long head, medial head and lateral head</a:t>
            </a:r>
          </a:p>
        </p:txBody>
      </p:sp>
    </p:spTree>
    <p:extLst>
      <p:ext uri="{BB962C8B-B14F-4D97-AF65-F5344CB8AC3E}">
        <p14:creationId xmlns:p14="http://schemas.microsoft.com/office/powerpoint/2010/main" val="1170212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5E006-0B82-7878-AC9C-E2C38CA5A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POSTERIOR COMPARTMENT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8057C5C-6370-67C3-3FE9-4E0FAB37398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2400" y="1825625"/>
            <a:ext cx="6634480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2100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9617C-21F8-C55F-B7B1-2C0F539DC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TRICEPS BRACHII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44EF5-F285-F67C-13BC-D15B7C258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/>
              <a:t>ORIGINS</a:t>
            </a:r>
          </a:p>
          <a:p>
            <a:r>
              <a:rPr lang="en-US" dirty="0"/>
              <a:t>Long head; originates from the </a:t>
            </a:r>
            <a:r>
              <a:rPr lang="en-US" dirty="0" err="1"/>
              <a:t>infraglenoid</a:t>
            </a:r>
            <a:r>
              <a:rPr lang="en-US" dirty="0"/>
              <a:t> tubercle of the scapula</a:t>
            </a:r>
          </a:p>
          <a:p>
            <a:r>
              <a:rPr lang="en-US" dirty="0"/>
              <a:t>Lateral head; originates superior to the radial groove of the humerus</a:t>
            </a:r>
          </a:p>
          <a:p>
            <a:r>
              <a:rPr lang="en-US" dirty="0"/>
              <a:t>Medial head; originates inferior to the radial groove of the humerus</a:t>
            </a:r>
          </a:p>
          <a:p>
            <a:pPr marL="0" indent="0">
              <a:buNone/>
            </a:pPr>
            <a:r>
              <a:rPr lang="en-US" dirty="0"/>
              <a:t>INSERTION; Collectively the three heads converge into a common tendon and inserts on to the olecranon process of ulnar</a:t>
            </a:r>
          </a:p>
        </p:txBody>
      </p:sp>
    </p:spTree>
    <p:extLst>
      <p:ext uri="{BB962C8B-B14F-4D97-AF65-F5344CB8AC3E}">
        <p14:creationId xmlns:p14="http://schemas.microsoft.com/office/powerpoint/2010/main" val="3092790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53574-F69D-2F58-284B-73B3BB921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TRICEPS BRACHII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70EF9-AEBD-D31B-E111-FB1605125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BLOOD SUPPLY; Profunda brachii and ulnar collateral arteries</a:t>
            </a:r>
          </a:p>
          <a:p>
            <a:r>
              <a:rPr lang="en-US" dirty="0"/>
              <a:t>NERVE SUPPLY; Radial nerve </a:t>
            </a:r>
          </a:p>
          <a:p>
            <a:r>
              <a:rPr lang="en-US" dirty="0"/>
              <a:t>ACTION; Extension of the forearm at the elbow joint</a:t>
            </a:r>
          </a:p>
          <a:p>
            <a:r>
              <a:rPr lang="en-US" dirty="0"/>
              <a:t>STRUCTURES PASSING THROUGH; Radial nerve and ulnar nerve</a:t>
            </a:r>
          </a:p>
        </p:txBody>
      </p:sp>
    </p:spTree>
    <p:extLst>
      <p:ext uri="{BB962C8B-B14F-4D97-AF65-F5344CB8AC3E}">
        <p14:creationId xmlns:p14="http://schemas.microsoft.com/office/powerpoint/2010/main" val="2826022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68FF6-7658-531C-4FE1-6138E5759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CLINICAL SIGNIFICANCE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482CD-ECE5-D6DC-67DF-D5DBCFB87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Biceps; Rupture of the biceps tendon leads to weakness of the muscle as it detach from the origin. With flexion of elbow, it gives a characteristic sign called “Popeye sign”</a:t>
            </a:r>
          </a:p>
          <a:p>
            <a:r>
              <a:rPr lang="en-US" dirty="0"/>
              <a:t>Biceps tenotomy is surgical detachment of biceps tendon to relieve persistent shoulder pain</a:t>
            </a:r>
          </a:p>
          <a:p>
            <a:r>
              <a:rPr lang="en-US" dirty="0" err="1"/>
              <a:t>Yergason’s</a:t>
            </a:r>
            <a:r>
              <a:rPr lang="en-US" dirty="0"/>
              <a:t> test; supination and lateral rotation of the arm leading to pain or clicking sound in the bicipital groove suggest biceps pathology such as bicipital tendonitis.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383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9A7C6-753A-61CC-7D29-582447204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CLINICAL SIGNIFICANCE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15C11-984A-DDCD-A908-F1418E328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Speed’s Test; flexion of the shoulder joint against resistance with the elbow extended and forearm supinated. Severe pain in the bicipital groove is a positive test and indicates biceps tendinopathy and SLAP (SLAP- superior labrum anterior to posterior) lesion</a:t>
            </a:r>
          </a:p>
          <a:p>
            <a:r>
              <a:rPr lang="en-US" dirty="0"/>
              <a:t>Ludington’s Test; flexion and extension of the elbow joint while the examiner palpates the biceps. A positive sign is a visible retraction of the biceps muscle and it indicates a potential tendon </a:t>
            </a:r>
            <a:r>
              <a:rPr lang="en-US" dirty="0" err="1"/>
              <a:t>ruprure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827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67A40-B5F1-7B3D-EDE1-FD6B89128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B1ED2-0D0C-6D1F-32A5-CFAAE0725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i="1" dirty="0"/>
              <a:t>THANK YOU FOR LISTENING</a:t>
            </a:r>
          </a:p>
        </p:txBody>
      </p:sp>
    </p:spTree>
    <p:extLst>
      <p:ext uri="{BB962C8B-B14F-4D97-AF65-F5344CB8AC3E}">
        <p14:creationId xmlns:p14="http://schemas.microsoft.com/office/powerpoint/2010/main" val="850734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CB395-7628-5E75-8FFA-2A13D2722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7AD91-5BD0-2260-734C-392F4BC5B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</a:p>
          <a:p>
            <a:pPr marL="457200" marR="0" lvl="1" indent="-45720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Jeno SH, Munjal A, Schindler GS.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StatPearls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[Internet].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StatPearls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Publishing; Treasure Island (FL): Aug 28, 2023. Anatomy, Shoulder and Upper Limb, Arm Supraspinatus Muscle. [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F4A8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PMC free article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[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F4A8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PubMed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</a:p>
          <a:p>
            <a:pPr marL="457200" marR="0" lvl="1" indent="-45720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Valenzuela M, Bordoni B.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StatPearls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[Internet].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StatPearls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Publishing; Treasure Island (FL): Jul 24, 2023. Anatomy, Shoulder and Upper Limb, Hand Palmar Interosseous Muscle. [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F4A8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PMC free article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[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F4A8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PubMed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</a:p>
          <a:p>
            <a:pPr marL="457200" marR="0" lvl="1" indent="-45720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Lam JH, Bordoni B.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StatPearls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[Internet].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StatPearls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Publishing; Treasure Island (FL): May 4, 2023. Anatomy, Shoulder and Upper Limb, Arm Abductor Muscles. [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F4A8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PMC free article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[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F4A8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PubMed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</a:p>
          <a:p>
            <a:pPr marL="457200" marR="0" lvl="1" indent="-45720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Elzanie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Varacallo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M.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StatPearls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[Internet].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StatPearls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Publishing; Treasure Island (FL): Jan 30, 2024. Anatomy, Shoulder and Upper Limb, Deltoid Muscle. [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F4A8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PMC free article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[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F4A8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PubMed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</a:p>
          <a:p>
            <a:pPr marL="457200" marR="0" lvl="1" indent="-45720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Ojima K. Myosin: Formation and maintenance of thick filaments. Anim Sci J. 2019 Jul;90(7):801-807. [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F4A8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PMC free article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[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F4A8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PubMed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189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02B5B-E6D1-7A2A-27D9-987761E92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1EDF9-1F4E-B738-C26B-853E6707D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i="1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2701101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952</Words>
  <Application>Microsoft Office PowerPoint</Application>
  <PresentationFormat>Widescreen</PresentationFormat>
  <Paragraphs>95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    ANTERIOR AND POSTERIOR COMPARTMENT OF ARM BY DR. OGWUCHE ELIJAH (BSc. MSc. MBBS)</vt:lpstr>
      <vt:lpstr>OUTLINE</vt:lpstr>
      <vt:lpstr>INTRODUCTION</vt:lpstr>
      <vt:lpstr>THE ARM</vt:lpstr>
      <vt:lpstr>ANTERIOR COMPARTMENT</vt:lpstr>
      <vt:lpstr>Muscles of anterior compartment of the arm</vt:lpstr>
      <vt:lpstr>BICEPS BRACHII</vt:lpstr>
      <vt:lpstr>BRACHIALIS</vt:lpstr>
      <vt:lpstr>CORACOBRACHIALIS</vt:lpstr>
      <vt:lpstr>POSTERIOR COMPARTMENT OF THE ARM</vt:lpstr>
      <vt:lpstr>POSTERIOR COMPARTMENT</vt:lpstr>
      <vt:lpstr>TRICEPS BRACHII</vt:lpstr>
      <vt:lpstr>TRICEPS BRACHII</vt:lpstr>
      <vt:lpstr>CLINICAL SIGNIFICANCE</vt:lpstr>
      <vt:lpstr>CLINICAL SIGNIFICANCE</vt:lpstr>
      <vt:lpstr>PowerPoint Presentation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Elijah Ogwuche</dc:creator>
  <cp:lastModifiedBy>Elijah Ogwuche</cp:lastModifiedBy>
  <cp:revision>2</cp:revision>
  <dcterms:created xsi:type="dcterms:W3CDTF">2025-04-12T08:04:19Z</dcterms:created>
  <dcterms:modified xsi:type="dcterms:W3CDTF">2025-04-14T09:30:54Z</dcterms:modified>
</cp:coreProperties>
</file>