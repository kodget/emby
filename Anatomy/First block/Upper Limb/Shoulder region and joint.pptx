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3"/>
    <p:sldId id="257" r:id="rId4"/>
    <p:sldId id="258" r:id="rId5"/>
    <p:sldId id="259" r:id="rId6"/>
    <p:sldId id="280" r:id="rId7"/>
    <p:sldId id="279" r:id="rId8"/>
    <p:sldId id="281" r:id="rId9"/>
    <p:sldId id="275" r:id="rId10"/>
    <p:sldId id="273" r:id="rId11"/>
    <p:sldId id="276" r:id="rId13"/>
    <p:sldId id="277" r:id="rId14"/>
    <p:sldId id="282" r:id="rId15"/>
    <p:sldId id="260" r:id="rId16"/>
    <p:sldId id="272" r:id="rId17"/>
    <p:sldId id="283" r:id="rId18"/>
    <p:sldId id="271" r:id="rId19"/>
    <p:sldId id="270" r:id="rId20"/>
    <p:sldId id="285"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5256" autoAdjust="0"/>
  </p:normalViewPr>
  <p:slideViewPr>
    <p:cSldViewPr snapToGrid="0">
      <p:cViewPr varScale="1">
        <p:scale>
          <a:sx n="89" d="100"/>
          <a:sy n="89" d="100"/>
        </p:scale>
        <p:origin x="43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C48399-3446-4CEE-BE90-B9120455430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B213B-A5E0-4EE0-ADAF-4B4408B0003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CB213B-A5E0-4EE0-ADAF-4B4408B00031}"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7FD1288-BCBD-4869-9559-40FA0F71053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6E072-131A-4B8B-B468-AF35D9DA91E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7FD1288-BCBD-4869-9559-40FA0F71053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6E072-131A-4B8B-B468-AF35D9DA91E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7FD1288-BCBD-4869-9559-40FA0F71053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6E072-131A-4B8B-B468-AF35D9DA91E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7FD1288-BCBD-4869-9559-40FA0F71053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96E072-131A-4B8B-B468-AF35D9DA91E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7FD1288-BCBD-4869-9559-40FA0F71053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96E072-131A-4B8B-B468-AF35D9DA91E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7FD1288-BCBD-4869-9559-40FA0F71053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96E072-131A-4B8B-B468-AF35D9DA91E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FD1288-BCBD-4869-9559-40FA0F71053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96E072-131A-4B8B-B468-AF35D9DA91E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7FD1288-BCBD-4869-9559-40FA0F71053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96E072-131A-4B8B-B468-AF35D9DA91E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7FD1288-BCBD-4869-9559-40FA0F71053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96E072-131A-4B8B-B468-AF35D9DA91E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7FD1288-BCBD-4869-9559-40FA0F71053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6E072-131A-4B8B-B468-AF35D9DA91E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7FD1288-BCBD-4869-9559-40FA0F71053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6E072-131A-4B8B-B468-AF35D9DA91E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FD1288-BCBD-4869-9559-40FA0F71053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96E072-131A-4B8B-B468-AF35D9DA91E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SHOULDER REGOIN AND JOINTS</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BY</a:t>
            </a:r>
            <a:endParaRPr lang="en-US" dirty="0">
              <a:latin typeface="Times New Roman" panose="02020603050405020304" pitchFamily="18" charset="0"/>
              <a:cs typeface="Times New Roman" panose="02020603050405020304" pitchFamily="18" charset="0"/>
            </a:endParaRPr>
          </a:p>
          <a:p>
            <a:r>
              <a:rPr lang="en-GB" altLang="en-US" dirty="0">
                <a:latin typeface="Times New Roman" panose="02020603050405020304" pitchFamily="18" charset="0"/>
                <a:cs typeface="Times New Roman" panose="02020603050405020304" pitchFamily="18" charset="0"/>
              </a:rPr>
              <a:t> Dr. </a:t>
            </a:r>
            <a:r>
              <a:rPr lang="en-US" dirty="0">
                <a:latin typeface="Times New Roman" panose="02020603050405020304" pitchFamily="18" charset="0"/>
                <a:cs typeface="Times New Roman" panose="02020603050405020304" pitchFamily="18" charset="0"/>
              </a:rPr>
              <a:t>F.O. OPOOLA</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OBJECTIVES</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52258"/>
            <a:ext cx="10515600" cy="4351338"/>
          </a:xfrm>
        </p:spPr>
        <p:txBody>
          <a:bodyPr/>
          <a:lstStyle/>
          <a:p>
            <a:pPr>
              <a:buFont typeface="Wingdings" panose="05000000000000000000" pitchFamily="2" charset="2"/>
              <a:buChar char="Ø"/>
            </a:pPr>
            <a:r>
              <a:rPr lang="en-US" b="0" i="0" dirty="0">
                <a:solidFill>
                  <a:srgbClr val="212529"/>
                </a:solidFill>
                <a:effectLst/>
                <a:latin typeface="Times New Roman" panose="02020603050405020304" pitchFamily="18" charset="0"/>
                <a:cs typeface="Times New Roman" panose="02020603050405020304" pitchFamily="18" charset="0"/>
              </a:rPr>
              <a:t>List the name of muscles of the shoulder region.  </a:t>
            </a:r>
            <a:endParaRPr lang="en-US" b="0" i="0" dirty="0">
              <a:solidFill>
                <a:srgbClr val="212529"/>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0" i="0" dirty="0">
                <a:solidFill>
                  <a:srgbClr val="212529"/>
                </a:solidFill>
                <a:effectLst/>
                <a:latin typeface="Times New Roman" panose="02020603050405020304" pitchFamily="18" charset="0"/>
                <a:cs typeface="Times New Roman" panose="02020603050405020304" pitchFamily="18" charset="0"/>
              </a:rPr>
              <a:t>Describe the anatomy of muscles of shoulder region:</a:t>
            </a:r>
            <a:endParaRPr lang="en-US" b="0" i="0" dirty="0">
              <a:solidFill>
                <a:srgbClr val="212529"/>
              </a:solidFill>
              <a:effectLst/>
              <a:latin typeface="Times New Roman" panose="02020603050405020304" pitchFamily="18" charset="0"/>
              <a:cs typeface="Times New Roman" panose="02020603050405020304" pitchFamily="18" charset="0"/>
            </a:endParaRPr>
          </a:p>
          <a:p>
            <a:pPr marL="0" indent="0">
              <a:buNone/>
            </a:pPr>
            <a:r>
              <a:rPr lang="en-US" b="0" i="0" dirty="0">
                <a:solidFill>
                  <a:srgbClr val="212529"/>
                </a:solidFill>
                <a:effectLst/>
                <a:latin typeface="Times New Roman" panose="02020603050405020304" pitchFamily="18" charset="0"/>
                <a:cs typeface="Times New Roman" panose="02020603050405020304" pitchFamily="18" charset="0"/>
              </a:rPr>
              <a:t>     attachments of each of them to scapula &amp; humerus </a:t>
            </a:r>
            <a:endParaRPr lang="en-US" b="0" i="0" dirty="0">
              <a:solidFill>
                <a:srgbClr val="212529"/>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0" i="0" dirty="0">
                <a:solidFill>
                  <a:srgbClr val="212529"/>
                </a:solidFill>
                <a:effectLst/>
                <a:latin typeface="Times New Roman" panose="02020603050405020304" pitchFamily="18" charset="0"/>
                <a:cs typeface="Times New Roman" panose="02020603050405020304" pitchFamily="18" charset="0"/>
              </a:rPr>
              <a:t>nerve supply and actions on shoulder joint.</a:t>
            </a:r>
            <a:endParaRPr lang="en-US" b="0" i="0" dirty="0">
              <a:solidFill>
                <a:srgbClr val="212529"/>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0" i="0" dirty="0">
                <a:solidFill>
                  <a:srgbClr val="212529"/>
                </a:solidFill>
                <a:effectLst/>
                <a:latin typeface="Times New Roman" panose="02020603050405020304" pitchFamily="18" charset="0"/>
                <a:cs typeface="Times New Roman" panose="02020603050405020304" pitchFamily="18" charset="0"/>
              </a:rPr>
              <a:t>List the muscles forming the rotator cuff and describe the relation of each of them to the shoulder joint. </a:t>
            </a:r>
            <a:endParaRPr lang="en-US" b="0" i="0" dirty="0">
              <a:solidFill>
                <a:srgbClr val="212529"/>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0" i="0" dirty="0">
                <a:solidFill>
                  <a:srgbClr val="212529"/>
                </a:solidFill>
                <a:effectLst/>
                <a:latin typeface="Times New Roman" panose="02020603050405020304" pitchFamily="18" charset="0"/>
                <a:cs typeface="Times New Roman" panose="02020603050405020304" pitchFamily="18" charset="0"/>
              </a:rPr>
              <a:t>Describe the anatomy of shoulder joint regarding: type, articular surfaces, stability, relations &amp; movements.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INTRODUCTION</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0" i="0" dirty="0">
                <a:solidFill>
                  <a:srgbClr val="231F20"/>
                </a:solidFill>
                <a:effectLst/>
                <a:latin typeface="Times New Roman" panose="02020603050405020304" pitchFamily="18" charset="0"/>
                <a:cs typeface="Times New Roman" panose="02020603050405020304" pitchFamily="18" charset="0"/>
              </a:rPr>
              <a:t>The shoulder is a complex combination of bones and joints where many muscles act to provide the widest range of motion of any part of the body. </a:t>
            </a:r>
            <a:endParaRPr lang="en-US" b="0" i="0" dirty="0">
              <a:solidFill>
                <a:srgbClr val="231F20"/>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0" i="0" dirty="0">
                <a:solidFill>
                  <a:srgbClr val="231F20"/>
                </a:solidFill>
                <a:effectLst/>
                <a:latin typeface="Times New Roman" panose="02020603050405020304" pitchFamily="18" charset="0"/>
                <a:cs typeface="Times New Roman" panose="02020603050405020304" pitchFamily="18" charset="0"/>
              </a:rPr>
              <a:t>Numerous muscles help stabilize the three joints of the shoulder while giving it motion</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Bones of the shoulder:</a:t>
            </a:r>
            <a:endParaRPr lang="en-US" dirty="0">
              <a:latin typeface="Times New Roman" panose="02020603050405020304" pitchFamily="18" charset="0"/>
              <a:cs typeface="Times New Roman" panose="02020603050405020304" pitchFamily="18" charset="0"/>
            </a:endParaRPr>
          </a:p>
          <a:p>
            <a:pPr marL="0" indent="0">
              <a:buNone/>
            </a:pPr>
            <a:r>
              <a:rPr lang="en-US" b="0" i="0" dirty="0">
                <a:solidFill>
                  <a:srgbClr val="212529"/>
                </a:solidFill>
                <a:effectLst/>
                <a:latin typeface="Times New Roman" panose="02020603050405020304" pitchFamily="18" charset="0"/>
                <a:cs typeface="Times New Roman" panose="02020603050405020304" pitchFamily="18" charset="0"/>
              </a:rPr>
              <a:t> • Clavicle </a:t>
            </a:r>
            <a:endParaRPr lang="en-US" b="0" i="0" dirty="0">
              <a:solidFill>
                <a:srgbClr val="212529"/>
              </a:solidFill>
              <a:effectLst/>
              <a:latin typeface="Times New Roman" panose="02020603050405020304" pitchFamily="18" charset="0"/>
              <a:cs typeface="Times New Roman" panose="02020603050405020304" pitchFamily="18" charset="0"/>
            </a:endParaRPr>
          </a:p>
          <a:p>
            <a:pPr marL="0" indent="0">
              <a:buNone/>
            </a:pPr>
            <a:r>
              <a:rPr lang="en-US" b="0" i="0" dirty="0">
                <a:solidFill>
                  <a:srgbClr val="212529"/>
                </a:solidFill>
                <a:effectLst/>
                <a:latin typeface="Times New Roman" panose="02020603050405020304" pitchFamily="18" charset="0"/>
                <a:cs typeface="Times New Roman" panose="02020603050405020304" pitchFamily="18" charset="0"/>
              </a:rPr>
              <a:t>• Scapula </a:t>
            </a:r>
            <a:endParaRPr lang="en-US" b="0" i="0" dirty="0">
              <a:solidFill>
                <a:srgbClr val="212529"/>
              </a:solidFill>
              <a:effectLst/>
              <a:latin typeface="Times New Roman" panose="02020603050405020304" pitchFamily="18" charset="0"/>
              <a:cs typeface="Times New Roman" panose="02020603050405020304" pitchFamily="18" charset="0"/>
            </a:endParaRPr>
          </a:p>
          <a:p>
            <a:pPr marL="0" indent="0">
              <a:buNone/>
            </a:pPr>
            <a:r>
              <a:rPr lang="en-US" b="0" i="0" dirty="0">
                <a:solidFill>
                  <a:srgbClr val="212529"/>
                </a:solidFill>
                <a:effectLst/>
                <a:latin typeface="Times New Roman" panose="02020603050405020304" pitchFamily="18" charset="0"/>
                <a:cs typeface="Times New Roman" panose="02020603050405020304" pitchFamily="18" charset="0"/>
              </a:rPr>
              <a:t>• Humerus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BONES OF THE SHOULDER</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l">
              <a:buFont typeface="Wingdings" panose="05000000000000000000" pitchFamily="2" charset="2"/>
              <a:buChar char="Ø"/>
            </a:pPr>
            <a:r>
              <a:rPr lang="en-US" b="1" i="0" dirty="0">
                <a:solidFill>
                  <a:srgbClr val="231F20"/>
                </a:solidFill>
                <a:effectLst/>
                <a:latin typeface="Times New Roman" panose="02020603050405020304" pitchFamily="18" charset="0"/>
                <a:cs typeface="Times New Roman" panose="02020603050405020304" pitchFamily="18" charset="0"/>
              </a:rPr>
              <a:t>Clavicle</a:t>
            </a:r>
            <a:r>
              <a:rPr lang="en-US" b="0" i="0" dirty="0">
                <a:solidFill>
                  <a:srgbClr val="231F20"/>
                </a:solidFill>
                <a:effectLst/>
                <a:latin typeface="Times New Roman" panose="02020603050405020304" pitchFamily="18" charset="0"/>
                <a:cs typeface="Times New Roman" panose="02020603050405020304" pitchFamily="18" charset="0"/>
              </a:rPr>
              <a:t>: Also known as the </a:t>
            </a:r>
            <a:r>
              <a:rPr lang="en-US" b="1" i="0" dirty="0">
                <a:solidFill>
                  <a:srgbClr val="231F20"/>
                </a:solidFill>
                <a:effectLst/>
                <a:latin typeface="Times New Roman" panose="02020603050405020304" pitchFamily="18" charset="0"/>
                <a:cs typeface="Times New Roman" panose="02020603050405020304" pitchFamily="18" charset="0"/>
              </a:rPr>
              <a:t>collarbone</a:t>
            </a:r>
            <a:r>
              <a:rPr lang="en-US" b="0" i="0" dirty="0">
                <a:solidFill>
                  <a:srgbClr val="231F20"/>
                </a:solidFill>
                <a:effectLst/>
                <a:latin typeface="Times New Roman" panose="02020603050405020304" pitchFamily="18" charset="0"/>
                <a:cs typeface="Times New Roman" panose="02020603050405020304" pitchFamily="18" charset="0"/>
              </a:rPr>
              <a:t>, the clavicle extends across the front of the shoulder from the sternum to the scapula. It helps stabilize the shoulder’s movements.</a:t>
            </a:r>
            <a:endParaRPr lang="en-US" b="0" i="0" dirty="0">
              <a:solidFill>
                <a:srgbClr val="231F20"/>
              </a:solidFill>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b="1" i="0" dirty="0">
                <a:solidFill>
                  <a:srgbClr val="231F20"/>
                </a:solidFill>
                <a:effectLst/>
                <a:latin typeface="Times New Roman" panose="02020603050405020304" pitchFamily="18" charset="0"/>
                <a:cs typeface="Times New Roman" panose="02020603050405020304" pitchFamily="18" charset="0"/>
              </a:rPr>
              <a:t>Scapula</a:t>
            </a:r>
            <a:r>
              <a:rPr lang="en-US" b="0" i="0" dirty="0">
                <a:solidFill>
                  <a:srgbClr val="231F20"/>
                </a:solidFill>
                <a:effectLst/>
                <a:latin typeface="Times New Roman" panose="02020603050405020304" pitchFamily="18" charset="0"/>
                <a:cs typeface="Times New Roman" panose="02020603050405020304" pitchFamily="18" charset="0"/>
              </a:rPr>
              <a:t>: More commonly known as the </a:t>
            </a:r>
            <a:r>
              <a:rPr lang="en-US" b="1" i="0" dirty="0">
                <a:solidFill>
                  <a:srgbClr val="231F20"/>
                </a:solidFill>
                <a:effectLst/>
                <a:latin typeface="Times New Roman" panose="02020603050405020304" pitchFamily="18" charset="0"/>
                <a:cs typeface="Times New Roman" panose="02020603050405020304" pitchFamily="18" charset="0"/>
              </a:rPr>
              <a:t>shoulder blade</a:t>
            </a:r>
            <a:r>
              <a:rPr lang="en-US" b="0" i="0" dirty="0">
                <a:solidFill>
                  <a:srgbClr val="231F20"/>
                </a:solidFill>
                <a:effectLst/>
                <a:latin typeface="Times New Roman" panose="02020603050405020304" pitchFamily="18" charset="0"/>
                <a:cs typeface="Times New Roman" panose="02020603050405020304" pitchFamily="18" charset="0"/>
              </a:rPr>
              <a:t>, the scapula is a flat triangular bone located in the upper back. It connects with the collarbone at the front of the body.</a:t>
            </a:r>
            <a:endParaRPr lang="en-US" b="0" i="0" dirty="0">
              <a:solidFill>
                <a:srgbClr val="231F20"/>
              </a:solidFill>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b="1" i="0" dirty="0">
                <a:solidFill>
                  <a:srgbClr val="231F20"/>
                </a:solidFill>
                <a:effectLst/>
                <a:latin typeface="Times New Roman" panose="02020603050405020304" pitchFamily="18" charset="0"/>
                <a:cs typeface="Times New Roman" panose="02020603050405020304" pitchFamily="18" charset="0"/>
              </a:rPr>
              <a:t>Humerus</a:t>
            </a:r>
            <a:r>
              <a:rPr lang="en-US" b="0" i="0" dirty="0">
                <a:solidFill>
                  <a:srgbClr val="231F20"/>
                </a:solidFill>
                <a:effectLst/>
                <a:latin typeface="Times New Roman" panose="02020603050405020304" pitchFamily="18" charset="0"/>
                <a:cs typeface="Times New Roman" panose="02020603050405020304" pitchFamily="18" charset="0"/>
              </a:rPr>
              <a:t>: The largest bone of the arm, the humerus connects to the scapula and clavicle in the shoulder. The head of the bone has a ball-like knob to create a ball-and-socket joint with the scapula.</a:t>
            </a:r>
            <a:endParaRPr lang="en-US" b="0" i="0" dirty="0">
              <a:solidFill>
                <a:srgbClr val="231F20"/>
              </a:solidFill>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6532" y="-11413"/>
            <a:ext cx="12064753" cy="66962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flipH="1">
            <a:off x="1261959" y="568171"/>
            <a:ext cx="9302468" cy="523220"/>
          </a:xfrm>
          <a:prstGeom prst="rect">
            <a:avLst/>
          </a:prstGeom>
          <a:noFill/>
        </p:spPr>
        <p:txBody>
          <a:bodyPr wrap="square" rtlCol="0">
            <a:spAutoFit/>
          </a:bodyPr>
          <a:lstStyle/>
          <a:p>
            <a:r>
              <a:rPr lang="en-US" sz="2800" b="1" dirty="0">
                <a:solidFill>
                  <a:srgbClr val="C00000"/>
                </a:solidFill>
                <a:latin typeface="Times New Roman" panose="02020603050405020304" pitchFamily="18" charset="0"/>
                <a:cs typeface="Times New Roman" panose="02020603050405020304" pitchFamily="18" charset="0"/>
              </a:rPr>
              <a:t>MUSCLES OF SHOULDER REGION</a:t>
            </a:r>
            <a:endParaRPr lang="en-US" sz="2800" b="1" dirty="0">
              <a:solidFill>
                <a:srgbClr val="C0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473693" y="1837678"/>
            <a:ext cx="8620950" cy="4247317"/>
          </a:xfrm>
          <a:prstGeom prst="rect">
            <a:avLst/>
          </a:prstGeom>
          <a:noFill/>
        </p:spPr>
        <p:txBody>
          <a:bodyPr wrap="none" rtlCol="0">
            <a:spAutoFit/>
          </a:bodyPr>
          <a:lstStyle/>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These muscles connect scapula to humerus (move humerus through shoulder joint)</a:t>
            </a:r>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indent="-342900">
              <a:lnSpc>
                <a:spcPct val="200000"/>
              </a:lnSpc>
              <a:buAutoNum type="arabicPeriod"/>
            </a:pPr>
            <a:r>
              <a:rPr lang="en-US" dirty="0">
                <a:latin typeface="Times New Roman" panose="02020603050405020304" pitchFamily="18" charset="0"/>
                <a:cs typeface="Times New Roman" panose="02020603050405020304" pitchFamily="18" charset="0"/>
              </a:rPr>
              <a:t>Deltoid</a:t>
            </a:r>
            <a:endParaRPr lang="en-US" dirty="0">
              <a:latin typeface="Times New Roman" panose="02020603050405020304" pitchFamily="18" charset="0"/>
              <a:cs typeface="Times New Roman" panose="02020603050405020304" pitchFamily="18" charset="0"/>
            </a:endParaRPr>
          </a:p>
          <a:p>
            <a:pPr marL="342900" indent="-342900">
              <a:lnSpc>
                <a:spcPct val="200000"/>
              </a:lnSpc>
              <a:buAutoNum type="arabicPeriod"/>
            </a:pPr>
            <a:r>
              <a:rPr lang="en-US" dirty="0">
                <a:latin typeface="Times New Roman" panose="02020603050405020304" pitchFamily="18" charset="0"/>
                <a:cs typeface="Times New Roman" panose="02020603050405020304" pitchFamily="18" charset="0"/>
              </a:rPr>
              <a:t>Supraspinatus</a:t>
            </a:r>
            <a:endParaRPr lang="en-US" dirty="0">
              <a:latin typeface="Times New Roman" panose="02020603050405020304" pitchFamily="18" charset="0"/>
              <a:cs typeface="Times New Roman" panose="02020603050405020304" pitchFamily="18" charset="0"/>
            </a:endParaRPr>
          </a:p>
          <a:p>
            <a:pPr marL="342900" indent="-342900">
              <a:lnSpc>
                <a:spcPct val="200000"/>
              </a:lnSpc>
              <a:buAutoNum type="arabicPeriod"/>
            </a:pPr>
            <a:r>
              <a:rPr lang="en-US" dirty="0">
                <a:latin typeface="Times New Roman" panose="02020603050405020304" pitchFamily="18" charset="0"/>
                <a:cs typeface="Times New Roman" panose="02020603050405020304" pitchFamily="18" charset="0"/>
              </a:rPr>
              <a:t>Infraspinatus</a:t>
            </a:r>
            <a:endParaRPr lang="en-US" dirty="0">
              <a:latin typeface="Times New Roman" panose="02020603050405020304" pitchFamily="18" charset="0"/>
              <a:cs typeface="Times New Roman" panose="02020603050405020304" pitchFamily="18" charset="0"/>
            </a:endParaRPr>
          </a:p>
          <a:p>
            <a:pPr marL="342900" indent="-342900">
              <a:lnSpc>
                <a:spcPct val="200000"/>
              </a:lnSpc>
              <a:buAutoNum type="arabicPeriod"/>
            </a:pPr>
            <a:r>
              <a:rPr lang="en-US" dirty="0">
                <a:latin typeface="Times New Roman" panose="02020603050405020304" pitchFamily="18" charset="0"/>
                <a:cs typeface="Times New Roman" panose="02020603050405020304" pitchFamily="18" charset="0"/>
              </a:rPr>
              <a:t>Teres minor</a:t>
            </a:r>
            <a:endParaRPr lang="en-US" dirty="0">
              <a:latin typeface="Times New Roman" panose="02020603050405020304" pitchFamily="18" charset="0"/>
              <a:cs typeface="Times New Roman" panose="02020603050405020304" pitchFamily="18" charset="0"/>
            </a:endParaRPr>
          </a:p>
          <a:p>
            <a:pPr marL="342900" indent="-342900">
              <a:lnSpc>
                <a:spcPct val="200000"/>
              </a:lnSpc>
              <a:buAutoNum type="arabicPeriod"/>
            </a:pPr>
            <a:r>
              <a:rPr lang="en-US" dirty="0">
                <a:latin typeface="Times New Roman" panose="02020603050405020304" pitchFamily="18" charset="0"/>
                <a:cs typeface="Times New Roman" panose="02020603050405020304" pitchFamily="18" charset="0"/>
              </a:rPr>
              <a:t>Teres major</a:t>
            </a:r>
            <a:endParaRPr lang="en-US" dirty="0">
              <a:latin typeface="Times New Roman" panose="02020603050405020304" pitchFamily="18" charset="0"/>
              <a:cs typeface="Times New Roman" panose="02020603050405020304" pitchFamily="18" charset="0"/>
            </a:endParaRPr>
          </a:p>
          <a:p>
            <a:pPr marL="342900" indent="-342900">
              <a:lnSpc>
                <a:spcPct val="200000"/>
              </a:lnSpc>
              <a:buAutoNum type="arabicPeriod"/>
            </a:pPr>
            <a:r>
              <a:rPr lang="en-US" dirty="0">
                <a:latin typeface="Times New Roman" panose="02020603050405020304" pitchFamily="18" charset="0"/>
                <a:cs typeface="Times New Roman" panose="02020603050405020304" pitchFamily="18" charset="0"/>
              </a:rPr>
              <a:t>Subscapularis</a:t>
            </a:r>
            <a:endParaRPr lang="en-US" dirty="0">
              <a:latin typeface="Times New Roman" panose="02020603050405020304" pitchFamily="18" charset="0"/>
              <a:cs typeface="Times New Roman" panose="02020603050405020304" pitchFamily="18" charset="0"/>
            </a:endParaRPr>
          </a:p>
          <a:p>
            <a:pPr marL="342900" indent="-342900">
              <a:buAutoNum type="arabicPeriod"/>
            </a:pP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77753" y="2392632"/>
            <a:ext cx="5537090" cy="4514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0070" y="679306"/>
            <a:ext cx="4763011" cy="5755422"/>
          </a:xfrm>
          <a:prstGeom prst="rect">
            <a:avLst/>
          </a:prstGeom>
          <a:noFill/>
        </p:spPr>
        <p:txBody>
          <a:bodyPr wrap="square" rtlCol="0">
            <a:spAutoFit/>
          </a:bodyPr>
          <a:lstStyle/>
          <a:p>
            <a:pPr algn="ctr"/>
            <a:r>
              <a:rPr lang="en-US" sz="4000" b="1" dirty="0">
                <a:solidFill>
                  <a:srgbClr val="C00000"/>
                </a:solidFill>
                <a:latin typeface="Times New Roman" panose="02020603050405020304" pitchFamily="18" charset="0"/>
                <a:cs typeface="Times New Roman" panose="02020603050405020304" pitchFamily="18" charset="0"/>
              </a:rPr>
              <a:t>DELTOID</a:t>
            </a:r>
            <a:endParaRPr lang="en-US" sz="4000" b="1" dirty="0">
              <a:solidFill>
                <a:srgbClr val="C00000"/>
              </a:solidFill>
              <a:latin typeface="Times New Roman" panose="02020603050405020304" pitchFamily="18" charset="0"/>
              <a:cs typeface="Times New Roman" panose="02020603050405020304" pitchFamily="18" charset="0"/>
            </a:endParaRPr>
          </a:p>
          <a:p>
            <a:pPr algn="ctr"/>
            <a:endParaRPr lang="en-US" sz="4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triangular muscle  forms the contour of the shoulder.</a:t>
            </a:r>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Origin</a:t>
            </a:r>
            <a:r>
              <a:rPr lang="en-US" dirty="0">
                <a:latin typeface="Times New Roman" panose="02020603050405020304" pitchFamily="18" charset="0"/>
                <a:cs typeface="Times New Roman" panose="02020603050405020304" pitchFamily="18" charset="0"/>
              </a:rPr>
              <a:t>: Lateral 1/3 of clavicle + acromion and spine of scapula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Insertion</a:t>
            </a:r>
            <a:r>
              <a:rPr lang="en-US" dirty="0">
                <a:latin typeface="Times New Roman" panose="02020603050405020304" pitchFamily="18" charset="0"/>
                <a:cs typeface="Times New Roman" panose="02020603050405020304" pitchFamily="18" charset="0"/>
              </a:rPr>
              <a:t>: Deltoid tuberosity of humerus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Nerve Supply</a:t>
            </a:r>
            <a:r>
              <a:rPr lang="en-US" dirty="0">
                <a:latin typeface="Times New Roman" panose="02020603050405020304" pitchFamily="18" charset="0"/>
                <a:cs typeface="Times New Roman" panose="02020603050405020304" pitchFamily="18" charset="0"/>
              </a:rPr>
              <a:t>: Axillary nerve</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Actions:</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Anterior fibers: flexion  and medial rotation of humerus(arm, shoulder joint)</a:t>
            </a: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Middle fiber : abduction of humerus from 15</a:t>
            </a:r>
            <a:r>
              <a:rPr lang="en-US" baseline="30000" dirty="0">
                <a:latin typeface="Times New Roman" panose="02020603050405020304" pitchFamily="18" charset="0"/>
                <a:cs typeface="Times New Roman" panose="02020603050405020304" pitchFamily="18" charset="0"/>
              </a:rPr>
              <a:t>o </a:t>
            </a:r>
            <a:r>
              <a:rPr lang="en-US" dirty="0">
                <a:latin typeface="Times New Roman" panose="02020603050405020304" pitchFamily="18" charset="0"/>
                <a:cs typeface="Times New Roman" panose="02020603050405020304" pitchFamily="18" charset="0"/>
              </a:rPr>
              <a:t>– 90</a:t>
            </a:r>
            <a:r>
              <a:rPr lang="en-US" baseline="30000" dirty="0">
                <a:latin typeface="Times New Roman" panose="02020603050405020304" pitchFamily="18" charset="0"/>
                <a:cs typeface="Times New Roman" panose="02020603050405020304" pitchFamily="18" charset="0"/>
              </a:rPr>
              <a:t>O </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Posterior </a:t>
            </a:r>
            <a:r>
              <a:rPr lang="en-US" dirty="0" err="1">
                <a:latin typeface="Times New Roman" panose="02020603050405020304" pitchFamily="18" charset="0"/>
                <a:cs typeface="Times New Roman" panose="02020603050405020304" pitchFamily="18" charset="0"/>
              </a:rPr>
              <a:t>Fibres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extention</a:t>
            </a:r>
            <a:r>
              <a:rPr lang="en-US" dirty="0">
                <a:latin typeface="Times New Roman" panose="02020603050405020304" pitchFamily="18" charset="0"/>
                <a:cs typeface="Times New Roman" panose="02020603050405020304" pitchFamily="18" charset="0"/>
              </a:rPr>
              <a:t> &amp; lateral rotation of humerus.</a:t>
            </a:r>
            <a:endParaRPr lang="en-US"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32430" y="2105024"/>
            <a:ext cx="4419500" cy="4752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SUPRASPNATUS &amp; INFRASPINATUS</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flipH="1">
            <a:off x="924607" y="1690688"/>
            <a:ext cx="4650570" cy="341632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ORIGIN</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	Supraspinatus: </a:t>
            </a:r>
            <a:r>
              <a:rPr lang="en-US" dirty="0">
                <a:latin typeface="Times New Roman" panose="02020603050405020304" pitchFamily="18" charset="0"/>
                <a:cs typeface="Times New Roman" panose="02020603050405020304" pitchFamily="18" charset="0"/>
              </a:rPr>
              <a:t>Supraspinous fossa.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Infraspinatus: </a:t>
            </a:r>
            <a:r>
              <a:rPr lang="en-US" dirty="0">
                <a:latin typeface="Times New Roman" panose="02020603050405020304" pitchFamily="18" charset="0"/>
                <a:cs typeface="Times New Roman" panose="02020603050405020304" pitchFamily="18" charset="0"/>
              </a:rPr>
              <a:t>Infraspinous fossa.</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Insertion: greater tuberosity of humerus</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Nerve supply: suprascapular nerve</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Action:</a:t>
            </a:r>
            <a:endParaRPr lang="en-US" b="1" dirty="0">
              <a:latin typeface="Times New Roman" panose="02020603050405020304" pitchFamily="18" charset="0"/>
              <a:cs typeface="Times New Roman" panose="02020603050405020304" pitchFamily="18" charset="0"/>
            </a:endParaRPr>
          </a:p>
          <a:p>
            <a:pPr marL="342900" indent="-342900">
              <a:buAutoNum type="arabicPeriod"/>
            </a:pPr>
            <a:r>
              <a:rPr lang="en-US" b="1" dirty="0">
                <a:latin typeface="Times New Roman" panose="02020603050405020304" pitchFamily="18" charset="0"/>
                <a:cs typeface="Times New Roman" panose="02020603050405020304" pitchFamily="18" charset="0"/>
              </a:rPr>
              <a:t>Supraspinatus: </a:t>
            </a:r>
            <a:r>
              <a:rPr lang="en-US" dirty="0">
                <a:latin typeface="Times New Roman" panose="02020603050405020304" pitchFamily="18" charset="0"/>
                <a:cs typeface="Times New Roman" panose="02020603050405020304" pitchFamily="18" charset="0"/>
              </a:rPr>
              <a:t>abduction of humerus from 0</a:t>
            </a:r>
            <a:r>
              <a:rPr lang="en-US" baseline="30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 15</a:t>
            </a:r>
            <a:r>
              <a:rPr lang="en-US" baseline="30000" dirty="0">
                <a:latin typeface="Times New Roman" panose="02020603050405020304" pitchFamily="18" charset="0"/>
                <a:cs typeface="Times New Roman" panose="02020603050405020304" pitchFamily="18" charset="0"/>
              </a:rPr>
              <a:t>0</a:t>
            </a:r>
            <a:endParaRPr lang="en-US" baseline="30000" dirty="0">
              <a:latin typeface="Times New Roman" panose="02020603050405020304" pitchFamily="18" charset="0"/>
              <a:cs typeface="Times New Roman" panose="02020603050405020304" pitchFamily="18" charset="0"/>
            </a:endParaRPr>
          </a:p>
          <a:p>
            <a:pPr marL="342900" indent="-342900">
              <a:buAutoNum type="arabicPeriod"/>
            </a:pPr>
            <a:r>
              <a:rPr lang="en-US" b="1" dirty="0">
                <a:latin typeface="Times New Roman" panose="02020603050405020304" pitchFamily="18" charset="0"/>
                <a:cs typeface="Times New Roman" panose="02020603050405020304" pitchFamily="18" charset="0"/>
              </a:rPr>
              <a:t>Infraspinatus: </a:t>
            </a:r>
            <a:r>
              <a:rPr lang="en-US" dirty="0">
                <a:latin typeface="Times New Roman" panose="02020603050405020304" pitchFamily="18" charset="0"/>
                <a:cs typeface="Times New Roman" panose="02020603050405020304" pitchFamily="18" charset="0"/>
              </a:rPr>
              <a:t>lateral rotation of humerus</a:t>
            </a:r>
            <a:endParaRPr lang="en-US" dirty="0">
              <a:latin typeface="Times New Roman" panose="02020603050405020304" pitchFamily="18" charset="0"/>
              <a:cs typeface="Times New Roman" panose="02020603050405020304" pitchFamily="18" charset="0"/>
            </a:endParaRPr>
          </a:p>
        </p:txBody>
      </p:sp>
      <p:pic>
        <p:nvPicPr>
          <p:cNvPr id="10" name="Content Placeholder 9"/>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501044" y="2131481"/>
            <a:ext cx="4461492" cy="4361394"/>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SUBSCAPULARIS</a:t>
            </a:r>
            <a:endParaRPr lang="en-US" sz="4000" b="1" dirty="0">
              <a:solidFill>
                <a:srgbClr val="C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056443" y="1825625"/>
            <a:ext cx="5295360" cy="1477328"/>
          </a:xfrm>
          <a:prstGeom prst="rect">
            <a:avLst/>
          </a:prstGeom>
          <a:noFill/>
        </p:spPr>
        <p:txBody>
          <a:bodyPr wrap="none" rtlCol="0">
            <a:spAutoFit/>
          </a:bodyPr>
          <a:lstStyle/>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Insertion: lesser tuberosity of humerus</a:t>
            </a:r>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Nerve supply: upper &amp; lower subscapular nerves</a:t>
            </a:r>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Action: medial rotation of humerus</a:t>
            </a:r>
            <a:endParaRPr lang="en-US" b="1"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33245" y="1123660"/>
            <a:ext cx="5102615" cy="52251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C00000"/>
                </a:solidFill>
                <a:latin typeface="Times New Roman" panose="02020603050405020304" pitchFamily="18" charset="0"/>
                <a:cs typeface="Times New Roman" panose="02020603050405020304" pitchFamily="18" charset="0"/>
              </a:rPr>
              <a:t>TERES MAJOR</a:t>
            </a:r>
            <a:endParaRPr lang="en-US" sz="3600" b="1" dirty="0">
              <a:solidFill>
                <a:srgbClr val="C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905522" y="1926454"/>
            <a:ext cx="3524435" cy="3970318"/>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ORIGIN</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Lateral border of scapula</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Insertion:</a:t>
            </a:r>
            <a:r>
              <a:rPr lang="en-US" dirty="0">
                <a:latin typeface="Times New Roman" panose="02020603050405020304" pitchFamily="18" charset="0"/>
                <a:cs typeface="Times New Roman" panose="02020603050405020304" pitchFamily="18" charset="0"/>
              </a:rPr>
              <a:t> bicipital groove of humerus (look to insertion of latissimus dorsi &amp; pectoralis major).</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Nerve supply: </a:t>
            </a:r>
            <a:r>
              <a:rPr lang="en-US" dirty="0">
                <a:latin typeface="Times New Roman" panose="02020603050405020304" pitchFamily="18" charset="0"/>
                <a:cs typeface="Times New Roman" panose="02020603050405020304" pitchFamily="18" charset="0"/>
              </a:rPr>
              <a:t>lower subscapular nerve.</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Actions: </a:t>
            </a:r>
            <a:r>
              <a:rPr lang="en-US" dirty="0">
                <a:latin typeface="Times New Roman" panose="02020603050405020304" pitchFamily="18" charset="0"/>
                <a:cs typeface="Times New Roman" panose="02020603050405020304" pitchFamily="18" charset="0"/>
              </a:rPr>
              <a:t>extension, adduction &amp; medial rotation of humerus (look to action of latissimus dorsi)</a:t>
            </a:r>
            <a:endParaRPr lang="en-US" dirty="0">
              <a:latin typeface="Times New Roman" panose="02020603050405020304" pitchFamily="18" charset="0"/>
              <a:cs typeface="Times New Roman" panose="02020603050405020304" pitchFamily="18" charset="0"/>
            </a:endParaRPr>
          </a:p>
        </p:txBody>
      </p:sp>
      <p:pic>
        <p:nvPicPr>
          <p:cNvPr id="10" name="Content Placeholder 9"/>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095999" y="980903"/>
            <a:ext cx="3812771" cy="4682504"/>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03681" y="790112"/>
            <a:ext cx="4527611" cy="646331"/>
          </a:xfrm>
          <a:prstGeom prst="rect">
            <a:avLst/>
          </a:prstGeom>
          <a:noFill/>
        </p:spPr>
        <p:txBody>
          <a:bodyPr wrap="square" rtlCol="0">
            <a:spAutoFit/>
          </a:bodyPr>
          <a:lstStyle/>
          <a:p>
            <a:r>
              <a:rPr lang="en-US" sz="3600" b="1" dirty="0">
                <a:solidFill>
                  <a:srgbClr val="C00000"/>
                </a:solidFill>
                <a:latin typeface="Times New Roman" panose="02020603050405020304" pitchFamily="18" charset="0"/>
                <a:cs typeface="Times New Roman" panose="02020603050405020304" pitchFamily="18" charset="0"/>
              </a:rPr>
              <a:t>TERES</a:t>
            </a:r>
            <a:r>
              <a:rPr lang="en-US" sz="3200" b="1" dirty="0">
                <a:solidFill>
                  <a:srgbClr val="C00000"/>
                </a:solidFill>
                <a:latin typeface="Times New Roman" panose="02020603050405020304" pitchFamily="18" charset="0"/>
                <a:cs typeface="Times New Roman" panose="02020603050405020304" pitchFamily="18" charset="0"/>
              </a:rPr>
              <a:t> </a:t>
            </a:r>
            <a:r>
              <a:rPr lang="en-US" sz="3600" b="1" dirty="0">
                <a:solidFill>
                  <a:srgbClr val="C00000"/>
                </a:solidFill>
                <a:latin typeface="Times New Roman" panose="02020603050405020304" pitchFamily="18" charset="0"/>
                <a:cs typeface="Times New Roman" panose="02020603050405020304" pitchFamily="18" charset="0"/>
              </a:rPr>
              <a:t>MINOR</a:t>
            </a:r>
            <a:endParaRPr lang="en-US" sz="3600" b="1" dirty="0">
              <a:solidFill>
                <a:srgbClr val="C0000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065320" y="2121763"/>
            <a:ext cx="3542191" cy="2585323"/>
          </a:xfrm>
          <a:prstGeom prst="rect">
            <a:avLst/>
          </a:prstGeom>
          <a:noFill/>
        </p:spPr>
        <p:txBody>
          <a:bodyPr wrap="square" rtlCol="0">
            <a:spAutoFit/>
          </a:bodyPr>
          <a:lstStyle/>
          <a:p>
            <a:pPr marL="285750" indent="-285750">
              <a:buFont typeface="Wingdings" panose="05000000000000000000" pitchFamily="2" charset="2"/>
              <a:buChar char="q"/>
            </a:pPr>
            <a:r>
              <a:rPr lang="en-US" sz="1800" b="1" dirty="0"/>
              <a:t>ORIGIN</a:t>
            </a:r>
            <a:endParaRPr lang="en-US" sz="1800" b="1" dirty="0"/>
          </a:p>
          <a:p>
            <a:r>
              <a:rPr lang="en-US" dirty="0"/>
              <a:t>Lateral border of scapula</a:t>
            </a:r>
            <a:br>
              <a:rPr lang="en-US" sz="1800" b="1" dirty="0"/>
            </a:br>
            <a:br>
              <a:rPr lang="en-US" sz="1800" b="1" dirty="0"/>
            </a:br>
            <a:r>
              <a:rPr lang="en-US" sz="1800" b="1" dirty="0"/>
              <a:t>Insertion:</a:t>
            </a:r>
            <a:r>
              <a:rPr lang="en-US" sz="1800" dirty="0"/>
              <a:t> greater tuberosity of humerus</a:t>
            </a:r>
            <a:br>
              <a:rPr lang="en-US" sz="1800" dirty="0"/>
            </a:br>
            <a:br>
              <a:rPr lang="en-US" sz="1800" dirty="0"/>
            </a:br>
            <a:r>
              <a:rPr lang="en-US" sz="1800" b="1" dirty="0"/>
              <a:t>Nerve supply: </a:t>
            </a:r>
            <a:r>
              <a:rPr lang="en-US" sz="1800" dirty="0"/>
              <a:t>axillary nerve</a:t>
            </a:r>
            <a:br>
              <a:rPr lang="en-US" sz="1800" dirty="0"/>
            </a:br>
            <a:br>
              <a:rPr lang="en-US" sz="1800" dirty="0"/>
            </a:br>
            <a:r>
              <a:rPr lang="en-US" sz="1800" b="1" dirty="0"/>
              <a:t>Actions: </a:t>
            </a:r>
            <a:r>
              <a:rPr lang="en-US" sz="1800" dirty="0"/>
              <a:t>lateral rotation of humerus</a:t>
            </a:r>
            <a:endParaRPr lang="en-US" dirty="0"/>
          </a:p>
        </p:txBody>
      </p:sp>
      <p:pic>
        <p:nvPicPr>
          <p:cNvPr id="13" name="Content Placeholder 12"/>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277369" y="1436443"/>
            <a:ext cx="4847532" cy="4130631"/>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8492"/>
            <a:ext cx="10515600"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SHOULDER JOINTS</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322" y="1825625"/>
            <a:ext cx="8385699" cy="4351338"/>
          </a:xfrm>
        </p:spPr>
        <p:txBody>
          <a:bodyPr>
            <a:normAutofit fontScale="92500"/>
          </a:bodyPr>
          <a:lstStyle/>
          <a:p>
            <a:pPr algn="just"/>
            <a:r>
              <a:rPr lang="en-US" b="0" i="0" dirty="0">
                <a:solidFill>
                  <a:srgbClr val="32323C"/>
                </a:solidFill>
                <a:effectLst/>
                <a:latin typeface="Times New Roman" panose="02020603050405020304" pitchFamily="18" charset="0"/>
                <a:cs typeface="Times New Roman" panose="02020603050405020304" pitchFamily="18" charset="0"/>
              </a:rPr>
              <a:t>The </a:t>
            </a:r>
            <a:r>
              <a:rPr lang="en-US" b="1" i="0" dirty="0">
                <a:solidFill>
                  <a:srgbClr val="32323C"/>
                </a:solidFill>
                <a:effectLst/>
                <a:latin typeface="Times New Roman" panose="02020603050405020304" pitchFamily="18" charset="0"/>
                <a:cs typeface="Times New Roman" panose="02020603050405020304" pitchFamily="18" charset="0"/>
              </a:rPr>
              <a:t>shoulder joint</a:t>
            </a:r>
            <a:r>
              <a:rPr lang="en-US" b="0" i="0" dirty="0">
                <a:solidFill>
                  <a:srgbClr val="32323C"/>
                </a:solidFill>
                <a:effectLst/>
                <a:latin typeface="Times New Roman" panose="02020603050405020304" pitchFamily="18" charset="0"/>
                <a:cs typeface="Times New Roman" panose="02020603050405020304" pitchFamily="18" charset="0"/>
              </a:rPr>
              <a:t> is formed by an articulation between the head of the humerus and the glenoid cavity (or fossa) of the scapula. This gives rise to the alternate name for the shoulder joint – </a:t>
            </a:r>
            <a:r>
              <a:rPr lang="en-US" b="1" i="0" dirty="0">
                <a:solidFill>
                  <a:srgbClr val="32323C"/>
                </a:solidFill>
                <a:effectLst/>
                <a:latin typeface="Times New Roman" panose="02020603050405020304" pitchFamily="18" charset="0"/>
                <a:cs typeface="Times New Roman" panose="02020603050405020304" pitchFamily="18" charset="0"/>
              </a:rPr>
              <a:t>the glenohumeral joint</a:t>
            </a:r>
            <a:r>
              <a:rPr lang="en-US" b="0" i="0" dirty="0">
                <a:solidFill>
                  <a:srgbClr val="32323C"/>
                </a:solidFill>
                <a:effectLst/>
                <a:latin typeface="Times New Roman" panose="02020603050405020304" pitchFamily="18" charset="0"/>
                <a:cs typeface="Times New Roman" panose="02020603050405020304" pitchFamily="18" charset="0"/>
              </a:rPr>
              <a:t>.</a:t>
            </a:r>
            <a:endParaRPr lang="en-US" b="0" i="0" dirty="0">
              <a:solidFill>
                <a:srgbClr val="32323C"/>
              </a:solidFill>
              <a:effectLst/>
              <a:latin typeface="Times New Roman" panose="02020603050405020304" pitchFamily="18" charset="0"/>
              <a:cs typeface="Times New Roman" panose="02020603050405020304" pitchFamily="18" charset="0"/>
            </a:endParaRPr>
          </a:p>
          <a:p>
            <a:pPr algn="just"/>
            <a:r>
              <a:rPr lang="en-US" b="0" i="0" dirty="0">
                <a:solidFill>
                  <a:srgbClr val="32323C"/>
                </a:solidFill>
                <a:effectLst/>
                <a:latin typeface="Times New Roman" panose="02020603050405020304" pitchFamily="18" charset="0"/>
                <a:cs typeface="Times New Roman" panose="02020603050405020304" pitchFamily="18" charset="0"/>
              </a:rPr>
              <a:t>Like most synovial joints, the articulating surfaces are covered with </a:t>
            </a:r>
            <a:r>
              <a:rPr lang="en-US" b="1" i="0" dirty="0">
                <a:solidFill>
                  <a:srgbClr val="32323C"/>
                </a:solidFill>
                <a:effectLst/>
                <a:latin typeface="Times New Roman" panose="02020603050405020304" pitchFamily="18" charset="0"/>
                <a:cs typeface="Times New Roman" panose="02020603050405020304" pitchFamily="18" charset="0"/>
              </a:rPr>
              <a:t>hyaline cartilage</a:t>
            </a:r>
            <a:r>
              <a:rPr lang="en-US" b="0" i="0" dirty="0">
                <a:solidFill>
                  <a:srgbClr val="32323C"/>
                </a:solidFill>
                <a:effectLst/>
                <a:latin typeface="Times New Roman" panose="02020603050405020304" pitchFamily="18" charset="0"/>
                <a:cs typeface="Times New Roman" panose="02020603050405020304" pitchFamily="18" charset="0"/>
              </a:rPr>
              <a:t>.</a:t>
            </a:r>
            <a:endParaRPr lang="en-US" b="0" i="0" dirty="0">
              <a:solidFill>
                <a:srgbClr val="32323C"/>
              </a:solidFill>
              <a:effectLst/>
              <a:latin typeface="Times New Roman" panose="02020603050405020304" pitchFamily="18" charset="0"/>
              <a:cs typeface="Times New Roman" panose="02020603050405020304" pitchFamily="18" charset="0"/>
            </a:endParaRPr>
          </a:p>
          <a:p>
            <a:pPr algn="just"/>
            <a:r>
              <a:rPr lang="en-US" b="0" i="0" dirty="0">
                <a:solidFill>
                  <a:srgbClr val="32323C"/>
                </a:solidFill>
                <a:effectLst/>
                <a:latin typeface="Times New Roman" panose="02020603050405020304" pitchFamily="18" charset="0"/>
                <a:cs typeface="Times New Roman" panose="02020603050405020304" pitchFamily="18" charset="0"/>
              </a:rPr>
              <a:t>The head of the humerus is much larger than the glenoid fossa, giving the joint a wide range of movement at the cost of instability. To reduce the disproportion in surfaces, the glenoid fossa is deepened by a fibrocartilage rim –  called the </a:t>
            </a:r>
            <a:r>
              <a:rPr lang="en-US" b="1" i="0" dirty="0">
                <a:solidFill>
                  <a:srgbClr val="32323C"/>
                </a:solidFill>
                <a:effectLst/>
                <a:latin typeface="Times New Roman" panose="02020603050405020304" pitchFamily="18" charset="0"/>
                <a:cs typeface="Times New Roman" panose="02020603050405020304" pitchFamily="18" charset="0"/>
              </a:rPr>
              <a:t>glenoid labrum</a:t>
            </a:r>
            <a:endParaRPr lang="en-US" dirty="0">
              <a:latin typeface="Times New Roman" panose="02020603050405020304" pitchFamily="18" charset="0"/>
              <a:cs typeface="Times New Roman" panose="02020603050405020304" pitchFamily="18" charset="0"/>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20721" y="0"/>
            <a:ext cx="4816213" cy="4351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SHOULDER JOINTS</a:t>
            </a:r>
            <a:endParaRPr lang="en-US" dirty="0"/>
          </a:p>
        </p:txBody>
      </p:sp>
      <p:sp>
        <p:nvSpPr>
          <p:cNvPr id="3" name="Content Placeholder 2"/>
          <p:cNvSpPr>
            <a:spLocks noGrp="1"/>
          </p:cNvSpPr>
          <p:nvPr>
            <p:ph idx="1"/>
          </p:nvPr>
        </p:nvSpPr>
        <p:spPr>
          <a:xfrm>
            <a:off x="838200" y="1825625"/>
            <a:ext cx="8101614" cy="4351338"/>
          </a:xfrm>
        </p:spPr>
        <p:txBody>
          <a:bodyPr>
            <a:normAutofit fontScale="85000" lnSpcReduction="20000"/>
          </a:bodyPr>
          <a:lstStyle/>
          <a:p>
            <a:pPr algn="l"/>
            <a:r>
              <a:rPr lang="en-US" b="0" i="0" dirty="0">
                <a:solidFill>
                  <a:srgbClr val="231F20"/>
                </a:solidFill>
                <a:effectLst/>
                <a:latin typeface="Times New Roman" panose="02020603050405020304" pitchFamily="18" charset="0"/>
                <a:cs typeface="Times New Roman" panose="02020603050405020304" pitchFamily="18" charset="0"/>
              </a:rPr>
              <a:t>The junctions of these three bones and the sternum (chest bone) form three joints:</a:t>
            </a:r>
            <a:endParaRPr lang="en-US" b="0" i="0" dirty="0">
              <a:solidFill>
                <a:srgbClr val="231F2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1" i="0" dirty="0">
                <a:solidFill>
                  <a:srgbClr val="231F20"/>
                </a:solidFill>
                <a:effectLst/>
                <a:latin typeface="Times New Roman" panose="02020603050405020304" pitchFamily="18" charset="0"/>
                <a:cs typeface="Times New Roman" panose="02020603050405020304" pitchFamily="18" charset="0"/>
              </a:rPr>
              <a:t>Glenohumeral joint</a:t>
            </a:r>
            <a:r>
              <a:rPr lang="en-US" b="0" i="0" dirty="0">
                <a:solidFill>
                  <a:srgbClr val="231F20"/>
                </a:solidFill>
                <a:effectLst/>
                <a:latin typeface="Times New Roman" panose="02020603050405020304" pitchFamily="18" charset="0"/>
                <a:cs typeface="Times New Roman" panose="02020603050405020304" pitchFamily="18" charset="0"/>
              </a:rPr>
              <a:t>: This shallow ball-and-socket-style joint created by the humerus and scapula allows the arm to rotate circularly and to move up and out from the body. It is surrounded by soft tissue and strengthened by fibrous ligaments.</a:t>
            </a:r>
            <a:endParaRPr lang="en-US" b="0" i="0" dirty="0">
              <a:solidFill>
                <a:srgbClr val="231F2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1" i="0" dirty="0">
                <a:solidFill>
                  <a:srgbClr val="231F20"/>
                </a:solidFill>
                <a:effectLst/>
                <a:latin typeface="Times New Roman" panose="02020603050405020304" pitchFamily="18" charset="0"/>
                <a:cs typeface="Times New Roman" panose="02020603050405020304" pitchFamily="18" charset="0"/>
              </a:rPr>
              <a:t>Acromioclavicular (AC) joint</a:t>
            </a:r>
            <a:r>
              <a:rPr lang="en-US" b="0" i="0" dirty="0">
                <a:solidFill>
                  <a:srgbClr val="231F20"/>
                </a:solidFill>
                <a:effectLst/>
                <a:latin typeface="Times New Roman" panose="02020603050405020304" pitchFamily="18" charset="0"/>
                <a:cs typeface="Times New Roman" panose="02020603050405020304" pitchFamily="18" charset="0"/>
              </a:rPr>
              <a:t>: This joint forms the highest point of the shoulder and provides the ability to raise the arm above the head. The meeting of the scapula and clavicle forms it.</a:t>
            </a:r>
            <a:endParaRPr lang="en-US" b="0" i="0" dirty="0">
              <a:solidFill>
                <a:srgbClr val="231F2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1" i="0" dirty="0">
                <a:solidFill>
                  <a:srgbClr val="231F20"/>
                </a:solidFill>
                <a:effectLst/>
                <a:latin typeface="Times New Roman" panose="02020603050405020304" pitchFamily="18" charset="0"/>
                <a:cs typeface="Times New Roman" panose="02020603050405020304" pitchFamily="18" charset="0"/>
              </a:rPr>
              <a:t>Sternoclavicular joint</a:t>
            </a:r>
            <a:r>
              <a:rPr lang="en-US" b="0" i="0" dirty="0">
                <a:solidFill>
                  <a:srgbClr val="231F20"/>
                </a:solidFill>
                <a:effectLst/>
                <a:latin typeface="Times New Roman" panose="02020603050405020304" pitchFamily="18" charset="0"/>
                <a:cs typeface="Times New Roman" panose="02020603050405020304" pitchFamily="18" charset="0"/>
              </a:rPr>
              <a:t>: This joint is at the center of the chest where the clavicle meets the sternum. It allows the clavicles to move.</a:t>
            </a:r>
            <a:endParaRPr lang="en-US" b="0" i="0" dirty="0">
              <a:solidFill>
                <a:srgbClr val="231F20"/>
              </a:solidFill>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329909" cy="886626"/>
          </a:xfrm>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SHOULDER (Glenohumeral) JOINT</a:t>
            </a:r>
            <a:endParaRPr lang="en-US" sz="4000" b="1" dirty="0">
              <a:solidFill>
                <a:srgbClr val="C0000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639192" y="2379215"/>
            <a:ext cx="7217546" cy="2585323"/>
          </a:xfrm>
          <a:prstGeom prst="rect">
            <a:avLst/>
          </a:prstGeom>
          <a:noFill/>
        </p:spPr>
        <p:txBody>
          <a:bodyPr wrap="square" rtlCol="0">
            <a:spAutoFit/>
          </a:bodyPr>
          <a:lstStyle/>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TYPE:</a:t>
            </a:r>
            <a:r>
              <a:rPr lang="en-US" dirty="0">
                <a:latin typeface="Times New Roman" panose="02020603050405020304" pitchFamily="18" charset="0"/>
                <a:cs typeface="Times New Roman" panose="02020603050405020304" pitchFamily="18" charset="0"/>
              </a:rPr>
              <a:t> Synovial, multiaxial, ball &amp; socket</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ARTICULAR SURFACES:</a:t>
            </a:r>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Head of humerus</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Glenoid cavity (fossa) of scapula</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Covered with hyaline cartilage</a:t>
            </a:r>
            <a:endParaRPr lang="en-US" dirty="0">
              <a:latin typeface="Times New Roman" panose="02020603050405020304" pitchFamily="18" charset="0"/>
              <a:cs typeface="Times New Roman" panose="02020603050405020304" pitchFamily="18" charset="0"/>
            </a:endParaRPr>
          </a:p>
        </p:txBody>
      </p:sp>
      <p:pic>
        <p:nvPicPr>
          <p:cNvPr id="11" name="Content Placeholder 10"/>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7924390" y="2063915"/>
            <a:ext cx="4163126" cy="3742223"/>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SHOULDER JOINTS</a:t>
            </a:r>
            <a:endParaRPr lang="en-US" dirty="0"/>
          </a:p>
        </p:txBody>
      </p:sp>
      <p:sp>
        <p:nvSpPr>
          <p:cNvPr id="3" name="Content Placeholder 2"/>
          <p:cNvSpPr>
            <a:spLocks noGrp="1"/>
          </p:cNvSpPr>
          <p:nvPr>
            <p:ph idx="1"/>
          </p:nvPr>
        </p:nvSpPr>
        <p:spPr/>
        <p:txBody>
          <a:bodyPr>
            <a:normAutofit lnSpcReduction="10000"/>
          </a:bodyPr>
          <a:lstStyle/>
          <a:p>
            <a:pPr algn="l">
              <a:buFont typeface="Wingdings" panose="05000000000000000000" pitchFamily="2" charset="2"/>
              <a:buChar char="Ø"/>
            </a:pPr>
            <a:r>
              <a:rPr lang="en-US" b="0" i="0" dirty="0">
                <a:solidFill>
                  <a:srgbClr val="231F20"/>
                </a:solidFill>
                <a:effectLst/>
                <a:latin typeface="Times New Roman" panose="02020603050405020304" pitchFamily="18" charset="0"/>
                <a:cs typeface="Times New Roman" panose="02020603050405020304" pitchFamily="18" charset="0"/>
              </a:rPr>
              <a:t>Each joint is surrounded by:</a:t>
            </a:r>
            <a:endParaRPr lang="en-US" b="0" i="0" dirty="0">
              <a:solidFill>
                <a:srgbClr val="231F20"/>
              </a:solidFill>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b="0" i="0" dirty="0">
                <a:solidFill>
                  <a:srgbClr val="231F20"/>
                </a:solidFill>
                <a:effectLst/>
                <a:latin typeface="Times New Roman" panose="02020603050405020304" pitchFamily="18" charset="0"/>
                <a:cs typeface="Times New Roman" panose="02020603050405020304" pitchFamily="18" charset="0"/>
              </a:rPr>
              <a:t>cartilage, to pad the meetings of the bones;</a:t>
            </a:r>
            <a:endParaRPr lang="en-US" b="0" i="0" dirty="0">
              <a:solidFill>
                <a:srgbClr val="231F20"/>
              </a:solidFill>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b="0" i="0" dirty="0">
                <a:solidFill>
                  <a:srgbClr val="231F20"/>
                </a:solidFill>
                <a:effectLst/>
                <a:latin typeface="Times New Roman" panose="02020603050405020304" pitchFamily="18" charset="0"/>
                <a:cs typeface="Times New Roman" panose="02020603050405020304" pitchFamily="18" charset="0"/>
              </a:rPr>
              <a:t>ligaments, to connect the bones;</a:t>
            </a:r>
            <a:endParaRPr lang="en-US" b="0" i="0" dirty="0">
              <a:solidFill>
                <a:srgbClr val="231F20"/>
              </a:solidFill>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b="0" i="0" dirty="0">
                <a:solidFill>
                  <a:srgbClr val="231F20"/>
                </a:solidFill>
                <a:effectLst/>
                <a:latin typeface="Times New Roman" panose="02020603050405020304" pitchFamily="18" charset="0"/>
                <a:cs typeface="Times New Roman" panose="02020603050405020304" pitchFamily="18" charset="0"/>
              </a:rPr>
              <a:t>muscles; and</a:t>
            </a:r>
            <a:endParaRPr lang="en-US" b="0" i="0" dirty="0">
              <a:solidFill>
                <a:srgbClr val="231F20"/>
              </a:solidFill>
              <a:effectLst/>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b="0" i="0" dirty="0">
                <a:solidFill>
                  <a:srgbClr val="231F20"/>
                </a:solidFill>
                <a:effectLst/>
                <a:latin typeface="Times New Roman" panose="02020603050405020304" pitchFamily="18" charset="0"/>
                <a:cs typeface="Times New Roman" panose="02020603050405020304" pitchFamily="18" charset="0"/>
              </a:rPr>
              <a:t>tendons, to attach the muscles to the bones.</a:t>
            </a:r>
            <a:endParaRPr lang="en-US" b="0" i="0" dirty="0">
              <a:solidFill>
                <a:srgbClr val="231F20"/>
              </a:solidFill>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US" b="0" i="0" dirty="0">
                <a:solidFill>
                  <a:srgbClr val="231F20"/>
                </a:solidFill>
                <a:effectLst/>
                <a:latin typeface="Times New Roman" panose="02020603050405020304" pitchFamily="18" charset="0"/>
                <a:cs typeface="Times New Roman" panose="02020603050405020304" pitchFamily="18" charset="0"/>
              </a:rPr>
              <a:t>The collection of muscles and tendons in the shoulder is known as the </a:t>
            </a:r>
            <a:r>
              <a:rPr lang="en-US" b="1" i="0" dirty="0">
                <a:solidFill>
                  <a:srgbClr val="231F20"/>
                </a:solidFill>
                <a:effectLst/>
                <a:latin typeface="Times New Roman" panose="02020603050405020304" pitchFamily="18" charset="0"/>
                <a:cs typeface="Times New Roman" panose="02020603050405020304" pitchFamily="18" charset="0"/>
              </a:rPr>
              <a:t>rotator cuff</a:t>
            </a:r>
            <a:r>
              <a:rPr lang="en-US" b="0" i="0" dirty="0">
                <a:solidFill>
                  <a:srgbClr val="231F20"/>
                </a:solidFill>
                <a:effectLst/>
                <a:latin typeface="Times New Roman" panose="02020603050405020304" pitchFamily="18" charset="0"/>
                <a:cs typeface="Times New Roman" panose="02020603050405020304" pitchFamily="18" charset="0"/>
              </a:rPr>
              <a:t>. It stabilizes the shoulder and holds the head of the humerus in the glenoid, a shallow cavity in the scapula. The muscles of the rotator cuff include </a:t>
            </a:r>
            <a:r>
              <a:rPr lang="en-US" b="0" i="0">
                <a:solidFill>
                  <a:srgbClr val="231F20"/>
                </a:solidFill>
                <a:effectLst/>
                <a:latin typeface="Times New Roman" panose="02020603050405020304" pitchFamily="18" charset="0"/>
                <a:cs typeface="Times New Roman" panose="02020603050405020304" pitchFamily="18" charset="0"/>
              </a:rPr>
              <a:t>the </a:t>
            </a:r>
            <a:r>
              <a:rPr lang="en-US" b="0" i="0" smtClean="0">
                <a:solidFill>
                  <a:srgbClr val="231F20"/>
                </a:solidFill>
                <a:effectLst/>
                <a:latin typeface="Times New Roman" panose="02020603050405020304" pitchFamily="18" charset="0"/>
                <a:cs typeface="Times New Roman" panose="02020603050405020304" pitchFamily="18" charset="0"/>
              </a:rPr>
              <a:t>supraspinatus</a:t>
            </a:r>
            <a:r>
              <a:rPr lang="en-US" b="0" i="0" dirty="0">
                <a:solidFill>
                  <a:srgbClr val="231F20"/>
                </a:solidFill>
                <a:effectLst/>
                <a:latin typeface="Times New Roman" panose="02020603050405020304" pitchFamily="18" charset="0"/>
                <a:cs typeface="Times New Roman" panose="02020603050405020304" pitchFamily="18" charset="0"/>
              </a:rPr>
              <a:t>, infraspinatus, teres minor, and subscapularis.</a:t>
            </a:r>
            <a:endParaRPr lang="en-US" b="0" i="0" dirty="0">
              <a:solidFill>
                <a:srgbClr val="231F20"/>
              </a:solidFill>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8492"/>
            <a:ext cx="10515600" cy="1325563"/>
          </a:xfrm>
        </p:spPr>
        <p:txBody>
          <a:bodyPr>
            <a:normAutofit/>
          </a:bodyPr>
          <a:lstStyle/>
          <a:p>
            <a:r>
              <a:rPr lang="en-US" sz="3600" b="1" dirty="0">
                <a:solidFill>
                  <a:srgbClr val="C00000"/>
                </a:solidFill>
                <a:latin typeface="Times New Roman" panose="02020603050405020304" pitchFamily="18" charset="0"/>
                <a:cs typeface="Times New Roman" panose="02020603050405020304" pitchFamily="18" charset="0"/>
              </a:rPr>
              <a:t>ROTATOR CUFF</a:t>
            </a:r>
            <a:endParaRPr lang="en-US" sz="3600" b="1" dirty="0">
              <a:solidFill>
                <a:srgbClr val="C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967666" y="1690688"/>
            <a:ext cx="6001305" cy="2308324"/>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tendinous cuff around the shoulder joint covering its anterior, posterior and superior aspects.</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cuff is deficient inferiorly and this is the site of potential weakness of the joint.</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formed of 4 muscles: supraspinatus, infraspinatus, teres minor &amp; subscapularis (SITS).</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tone of these muscles helps in stabilizing the shoulder joint.</a:t>
            </a:r>
            <a:endParaRPr lang="en-US" dirty="0">
              <a:latin typeface="Times New Roman" panose="02020603050405020304" pitchFamily="18" charset="0"/>
              <a:cs typeface="Times New Roman" panose="02020603050405020304" pitchFamily="18" charset="0"/>
            </a:endParaRPr>
          </a:p>
        </p:txBody>
      </p:sp>
      <p:pic>
        <p:nvPicPr>
          <p:cNvPr id="10" name="Content Placeholder 9"/>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7637757" y="2090183"/>
            <a:ext cx="4547668" cy="4073857"/>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C00000"/>
                </a:solidFill>
                <a:latin typeface="Times New Roman" panose="02020603050405020304" pitchFamily="18" charset="0"/>
                <a:cs typeface="Times New Roman" panose="02020603050405020304" pitchFamily="18" charset="0"/>
              </a:rPr>
              <a:t>RELATIONS OF SHOULDER JOINT</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4020731" y="4938359"/>
            <a:ext cx="4749553" cy="1200329"/>
          </a:xfrm>
          <a:prstGeom prst="rect">
            <a:avLst/>
          </a:prstGeom>
          <a:noFill/>
        </p:spPr>
        <p:txBody>
          <a:bodyPr wrap="square" rtlCol="0">
            <a:spAutoFit/>
          </a:bodyPr>
          <a:lstStyle/>
          <a:p>
            <a:pPr marL="285750" indent="-285750">
              <a:buFont typeface="Wingdings" panose="05000000000000000000" pitchFamily="2" charset="2"/>
              <a:buChar char="q"/>
            </a:pPr>
            <a:r>
              <a:rPr lang="en-US" b="1" dirty="0"/>
              <a:t>ANTERIOR: </a:t>
            </a:r>
            <a:r>
              <a:rPr lang="en-US" dirty="0"/>
              <a:t>subscapularis</a:t>
            </a:r>
            <a:endParaRPr lang="en-US" dirty="0"/>
          </a:p>
          <a:p>
            <a:pPr marL="285750" indent="-285750">
              <a:buFont typeface="Wingdings" panose="05000000000000000000" pitchFamily="2" charset="2"/>
              <a:buChar char="q"/>
            </a:pPr>
            <a:r>
              <a:rPr lang="en-US" b="1" dirty="0"/>
              <a:t>POSTERIOR: </a:t>
            </a:r>
            <a:r>
              <a:rPr lang="en-US" dirty="0"/>
              <a:t>infraspinatus, teres minor</a:t>
            </a:r>
            <a:endParaRPr lang="en-US" dirty="0"/>
          </a:p>
          <a:p>
            <a:pPr marL="285750" indent="-285750">
              <a:buFont typeface="Wingdings" panose="05000000000000000000" pitchFamily="2" charset="2"/>
              <a:buChar char="q"/>
            </a:pPr>
            <a:r>
              <a:rPr lang="en-US" b="1" dirty="0"/>
              <a:t>SUPERIOR: </a:t>
            </a:r>
            <a:r>
              <a:rPr lang="en-US" dirty="0"/>
              <a:t>supraspinatus</a:t>
            </a:r>
            <a:endParaRPr lang="en-US" dirty="0"/>
          </a:p>
          <a:p>
            <a:pPr marL="285750" indent="-285750">
              <a:buFont typeface="Wingdings" panose="05000000000000000000" pitchFamily="2" charset="2"/>
              <a:buChar char="q"/>
            </a:pPr>
            <a:r>
              <a:rPr lang="en-US" b="1" dirty="0"/>
              <a:t>INFERIOR: </a:t>
            </a:r>
            <a:r>
              <a:rPr lang="en-US" dirty="0"/>
              <a:t>axillary nerve</a:t>
            </a:r>
            <a:endParaRPr lang="en-US" dirty="0"/>
          </a:p>
        </p:txBody>
      </p:sp>
      <p:pic>
        <p:nvPicPr>
          <p:cNvPr id="12" name="Content Placeholder 11"/>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915053" y="1499262"/>
            <a:ext cx="7609947" cy="3223658"/>
          </a:xfrm>
        </p:spPr>
      </p:pic>
      <p:sp>
        <p:nvSpPr>
          <p:cNvPr id="13" name="TextBox 12"/>
          <p:cNvSpPr txBox="1"/>
          <p:nvPr/>
        </p:nvSpPr>
        <p:spPr>
          <a:xfrm>
            <a:off x="7585115" y="4645974"/>
            <a:ext cx="2370338" cy="369332"/>
          </a:xfrm>
          <a:prstGeom prst="rect">
            <a:avLst/>
          </a:prstGeom>
          <a:noFill/>
        </p:spPr>
        <p:txBody>
          <a:bodyPr wrap="square" rtlCol="0">
            <a:spAutoFit/>
          </a:bodyPr>
          <a:lstStyle/>
          <a:p>
            <a:r>
              <a:rPr lang="en-US" b="1" dirty="0">
                <a:solidFill>
                  <a:srgbClr val="FF0000"/>
                </a:solidFill>
              </a:rPr>
              <a:t>axillary nerve</a:t>
            </a:r>
            <a:endParaRPr lang="en-US" b="1"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4085" y="753563"/>
            <a:ext cx="10475651" cy="5355312"/>
          </a:xfrm>
          <a:prstGeom prst="rect">
            <a:avLst/>
          </a:prstGeom>
          <a:noFill/>
        </p:spPr>
        <p:txBody>
          <a:bodyPr wrap="square">
            <a:spAutoFit/>
          </a:bodyPr>
          <a:lstStyle/>
          <a:p>
            <a:pPr marL="285750" indent="-285750">
              <a:buFont typeface="Wingdings" panose="05000000000000000000" pitchFamily="2" charset="2"/>
              <a:buChar char="q"/>
            </a:pPr>
            <a:r>
              <a:rPr lang="en-US" sz="1800" b="1" dirty="0">
                <a:solidFill>
                  <a:schemeClr val="accent2">
                    <a:lumMod val="75000"/>
                  </a:schemeClr>
                </a:solidFill>
                <a:latin typeface="Times New Roman" panose="02020603050405020304" pitchFamily="18" charset="0"/>
                <a:cs typeface="Times New Roman" panose="02020603050405020304" pitchFamily="18" charset="0"/>
              </a:rPr>
              <a:t>FLEXION:</a:t>
            </a:r>
            <a:endParaRPr lang="en-US" sz="1800" b="1" dirty="0">
              <a:solidFill>
                <a:schemeClr val="accent2">
                  <a:lumMod val="75000"/>
                </a:schemeClr>
              </a:solidFill>
              <a:latin typeface="Times New Roman" panose="02020603050405020304" pitchFamily="18" charset="0"/>
              <a:cs typeface="Times New Roman" panose="02020603050405020304" pitchFamily="18" charset="0"/>
            </a:endParaRPr>
          </a:p>
          <a:p>
            <a:pPr marL="342900" indent="-342900">
              <a:buAutoNum type="arabicPeriod"/>
            </a:pPr>
            <a:r>
              <a:rPr lang="en-US" sz="1800" b="1" dirty="0">
                <a:latin typeface="Times New Roman" panose="02020603050405020304" pitchFamily="18" charset="0"/>
                <a:cs typeface="Times New Roman" panose="02020603050405020304" pitchFamily="18" charset="0"/>
              </a:rPr>
              <a:t>Anterior fibers of deltoid</a:t>
            </a:r>
            <a:endParaRPr lang="en-US" sz="1800" b="1" dirty="0">
              <a:latin typeface="Times New Roman" panose="02020603050405020304" pitchFamily="18" charset="0"/>
              <a:cs typeface="Times New Roman" panose="02020603050405020304" pitchFamily="18" charset="0"/>
            </a:endParaRPr>
          </a:p>
          <a:p>
            <a:pPr marL="342900" indent="-342900">
              <a:buAutoNum type="arabicPeriod"/>
            </a:pPr>
            <a:r>
              <a:rPr lang="en-US" sz="1800" b="1" dirty="0">
                <a:latin typeface="Times New Roman" panose="02020603050405020304" pitchFamily="18" charset="0"/>
                <a:cs typeface="Times New Roman" panose="02020603050405020304" pitchFamily="18" charset="0"/>
              </a:rPr>
              <a:t>Pectoralis major</a:t>
            </a:r>
            <a:endParaRPr lang="en-US" sz="1800" b="1" dirty="0">
              <a:latin typeface="Times New Roman" panose="02020603050405020304" pitchFamily="18" charset="0"/>
              <a:cs typeface="Times New Roman" panose="02020603050405020304" pitchFamily="18" charset="0"/>
            </a:endParaRPr>
          </a:p>
          <a:p>
            <a:pPr marL="342900" indent="-342900">
              <a:buAutoNum type="arabicPeriod"/>
            </a:pPr>
            <a:r>
              <a:rPr lang="en-US" sz="1800" b="1" dirty="0">
                <a:latin typeface="Times New Roman" panose="02020603050405020304" pitchFamily="18" charset="0"/>
                <a:cs typeface="Times New Roman" panose="02020603050405020304" pitchFamily="18" charset="0"/>
              </a:rPr>
              <a:t>Coracobrachialis (muscle of arm)</a:t>
            </a:r>
            <a:endParaRPr lang="en-US" sz="1800" b="1" dirty="0">
              <a:latin typeface="Times New Roman" panose="02020603050405020304" pitchFamily="18" charset="0"/>
              <a:cs typeface="Times New Roman" panose="02020603050405020304" pitchFamily="18" charset="0"/>
            </a:endParaRPr>
          </a:p>
          <a:p>
            <a:pPr marL="342900" indent="-342900">
              <a:buAutoNum type="arabicPeriod"/>
            </a:pPr>
            <a:r>
              <a:rPr lang="en-US" sz="1800" b="1" dirty="0">
                <a:latin typeface="Times New Roman" panose="02020603050405020304" pitchFamily="18" charset="0"/>
                <a:cs typeface="Times New Roman" panose="02020603050405020304" pitchFamily="18" charset="0"/>
              </a:rPr>
              <a:t>Short head of biceps brachii (muscle of arm)</a:t>
            </a:r>
            <a:endParaRPr lang="en-US" sz="1800" b="1" dirty="0">
              <a:latin typeface="Times New Roman" panose="02020603050405020304" pitchFamily="18" charset="0"/>
              <a:cs typeface="Times New Roman" panose="02020603050405020304" pitchFamily="18" charset="0"/>
            </a:endParaRPr>
          </a:p>
          <a:p>
            <a:pPr marL="342900" indent="-342900">
              <a:buAutoNum type="arabicPeriod"/>
            </a:pPr>
            <a:endParaRPr lang="en-US" sz="1800" b="1" dirty="0">
              <a:solidFill>
                <a:schemeClr val="accent2">
                  <a:lumMod val="7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1800" b="1" dirty="0">
                <a:solidFill>
                  <a:schemeClr val="accent2">
                    <a:lumMod val="75000"/>
                  </a:schemeClr>
                </a:solidFill>
                <a:latin typeface="Times New Roman" panose="02020603050405020304" pitchFamily="18" charset="0"/>
                <a:cs typeface="Times New Roman" panose="02020603050405020304" pitchFamily="18" charset="0"/>
              </a:rPr>
              <a:t>EXTENSION:</a:t>
            </a:r>
            <a:endParaRPr lang="en-US" sz="1800" b="1" dirty="0">
              <a:solidFill>
                <a:schemeClr val="accent2">
                  <a:lumMod val="75000"/>
                </a:schemeClr>
              </a:solidFill>
              <a:latin typeface="Times New Roman" panose="02020603050405020304" pitchFamily="18" charset="0"/>
              <a:cs typeface="Times New Roman" panose="02020603050405020304" pitchFamily="18" charset="0"/>
            </a:endParaRPr>
          </a:p>
          <a:p>
            <a:pPr marL="342900" indent="-342900">
              <a:buAutoNum type="arabicPeriod"/>
            </a:pPr>
            <a:r>
              <a:rPr lang="en-US" sz="1800" b="1" dirty="0">
                <a:latin typeface="Times New Roman" panose="02020603050405020304" pitchFamily="18" charset="0"/>
                <a:cs typeface="Times New Roman" panose="02020603050405020304" pitchFamily="18" charset="0"/>
              </a:rPr>
              <a:t>Posterior fibers of deltoid</a:t>
            </a:r>
            <a:endParaRPr lang="en-US" sz="1800" b="1" dirty="0">
              <a:latin typeface="Times New Roman" panose="02020603050405020304" pitchFamily="18" charset="0"/>
              <a:cs typeface="Times New Roman" panose="02020603050405020304" pitchFamily="18" charset="0"/>
            </a:endParaRPr>
          </a:p>
          <a:p>
            <a:pPr marL="342900" indent="-342900">
              <a:buAutoNum type="arabicPeriod"/>
            </a:pPr>
            <a:r>
              <a:rPr lang="en-US" sz="1800" b="1" dirty="0">
                <a:latin typeface="Times New Roman" panose="02020603050405020304" pitchFamily="18" charset="0"/>
                <a:cs typeface="Times New Roman" panose="02020603050405020304" pitchFamily="18" charset="0"/>
              </a:rPr>
              <a:t>Latissimus dorsi</a:t>
            </a:r>
            <a:endParaRPr lang="en-US" sz="1800" b="1" dirty="0">
              <a:latin typeface="Times New Roman" panose="02020603050405020304" pitchFamily="18" charset="0"/>
              <a:cs typeface="Times New Roman" panose="02020603050405020304" pitchFamily="18" charset="0"/>
            </a:endParaRPr>
          </a:p>
          <a:p>
            <a:pPr marL="342900" indent="-342900">
              <a:buAutoNum type="arabicPeriod"/>
            </a:pPr>
            <a:r>
              <a:rPr lang="en-US" sz="1800" b="1" dirty="0">
                <a:latin typeface="Times New Roman" panose="02020603050405020304" pitchFamily="18" charset="0"/>
                <a:cs typeface="Times New Roman" panose="02020603050405020304" pitchFamily="18" charset="0"/>
              </a:rPr>
              <a:t>Teres major</a:t>
            </a:r>
            <a:endParaRPr lang="en-US" sz="1800" b="1" dirty="0">
              <a:latin typeface="Times New Roman" panose="02020603050405020304" pitchFamily="18" charset="0"/>
              <a:cs typeface="Times New Roman" panose="02020603050405020304" pitchFamily="18" charset="0"/>
            </a:endParaRPr>
          </a:p>
          <a:p>
            <a:pPr marL="342900" indent="-342900">
              <a:buAutoNum type="arabicPeriod"/>
            </a:pPr>
            <a:endParaRPr lang="en-US" sz="18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1800" b="1" dirty="0">
                <a:solidFill>
                  <a:schemeClr val="accent2">
                    <a:lumMod val="75000"/>
                  </a:schemeClr>
                </a:solidFill>
                <a:latin typeface="Times New Roman" panose="02020603050405020304" pitchFamily="18" charset="0"/>
                <a:cs typeface="Times New Roman" panose="02020603050405020304" pitchFamily="18" charset="0"/>
              </a:rPr>
              <a:t>ABDUCTION:</a:t>
            </a:r>
            <a:endParaRPr lang="en-US" sz="1800" b="1" dirty="0">
              <a:solidFill>
                <a:schemeClr val="accent2">
                  <a:lumMod val="75000"/>
                </a:schemeClr>
              </a:solidFill>
              <a:latin typeface="Times New Roman" panose="02020603050405020304" pitchFamily="18" charset="0"/>
              <a:cs typeface="Times New Roman" panose="02020603050405020304" pitchFamily="18" charset="0"/>
            </a:endParaRPr>
          </a:p>
          <a:p>
            <a:pPr marL="457200" indent="-457200">
              <a:buAutoNum type="arabicPeriod"/>
            </a:pPr>
            <a:r>
              <a:rPr lang="en-US" sz="1800" b="1" dirty="0">
                <a:latin typeface="Times New Roman" panose="02020603050405020304" pitchFamily="18" charset="0"/>
                <a:cs typeface="Times New Roman" panose="02020603050405020304" pitchFamily="18" charset="0"/>
              </a:rPr>
              <a:t>From 0</a:t>
            </a:r>
            <a:r>
              <a:rPr lang="en-US" sz="1800" b="1" baseline="30000" dirty="0">
                <a:latin typeface="Times New Roman" panose="02020603050405020304" pitchFamily="18" charset="0"/>
                <a:cs typeface="Times New Roman" panose="02020603050405020304" pitchFamily="18" charset="0"/>
              </a:rPr>
              <a:t>o</a:t>
            </a:r>
            <a:r>
              <a:rPr lang="en-US" sz="1800" b="1" dirty="0">
                <a:latin typeface="Times New Roman" panose="02020603050405020304" pitchFamily="18" charset="0"/>
                <a:cs typeface="Times New Roman" panose="02020603050405020304" pitchFamily="18" charset="0"/>
              </a:rPr>
              <a:t> – 15</a:t>
            </a:r>
            <a:r>
              <a:rPr lang="en-US" sz="1800" b="1" baseline="30000" dirty="0">
                <a:latin typeface="Times New Roman" panose="02020603050405020304" pitchFamily="18" charset="0"/>
                <a:cs typeface="Times New Roman" panose="02020603050405020304" pitchFamily="18" charset="0"/>
              </a:rPr>
              <a:t>o</a:t>
            </a:r>
            <a:r>
              <a:rPr lang="en-US" sz="1800" b="1" dirty="0">
                <a:latin typeface="Times New Roman" panose="02020603050405020304" pitchFamily="18" charset="0"/>
                <a:cs typeface="Times New Roman" panose="02020603050405020304" pitchFamily="18" charset="0"/>
              </a:rPr>
              <a:t>: Supraspinatus</a:t>
            </a:r>
            <a:endParaRPr lang="en-US" sz="1800" b="1" dirty="0">
              <a:latin typeface="Times New Roman" panose="02020603050405020304" pitchFamily="18" charset="0"/>
              <a:cs typeface="Times New Roman" panose="02020603050405020304" pitchFamily="18" charset="0"/>
            </a:endParaRPr>
          </a:p>
          <a:p>
            <a:pPr marL="457200" indent="-457200">
              <a:buAutoNum type="arabicPeriod"/>
            </a:pPr>
            <a:r>
              <a:rPr lang="en-US" sz="1800" b="1" dirty="0">
                <a:latin typeface="Times New Roman" panose="02020603050405020304" pitchFamily="18" charset="0"/>
                <a:cs typeface="Times New Roman" panose="02020603050405020304" pitchFamily="18" charset="0"/>
              </a:rPr>
              <a:t>From 15</a:t>
            </a:r>
            <a:r>
              <a:rPr lang="en-US" sz="1800" b="1" baseline="30000" dirty="0">
                <a:latin typeface="Times New Roman" panose="02020603050405020304" pitchFamily="18" charset="0"/>
                <a:cs typeface="Times New Roman" panose="02020603050405020304" pitchFamily="18" charset="0"/>
              </a:rPr>
              <a:t>o </a:t>
            </a:r>
            <a:r>
              <a:rPr lang="en-US" sz="1800" b="1" dirty="0">
                <a:latin typeface="Times New Roman" panose="02020603050405020304" pitchFamily="18" charset="0"/>
                <a:cs typeface="Times New Roman" panose="02020603050405020304" pitchFamily="18" charset="0"/>
              </a:rPr>
              <a:t>– 90</a:t>
            </a:r>
            <a:r>
              <a:rPr lang="en-US" sz="1800" b="1" baseline="30000" dirty="0">
                <a:latin typeface="Times New Roman" panose="02020603050405020304" pitchFamily="18" charset="0"/>
                <a:cs typeface="Times New Roman" panose="02020603050405020304" pitchFamily="18" charset="0"/>
              </a:rPr>
              <a:t>o</a:t>
            </a:r>
            <a:r>
              <a:rPr lang="en-US" sz="1800" b="1" dirty="0">
                <a:latin typeface="Times New Roman" panose="02020603050405020304" pitchFamily="18" charset="0"/>
                <a:cs typeface="Times New Roman" panose="02020603050405020304" pitchFamily="18" charset="0"/>
              </a:rPr>
              <a:t>: Middle fibers of deltoid</a:t>
            </a:r>
            <a:endParaRPr lang="en-US" sz="1800" b="1"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1800" b="1" dirty="0">
                <a:solidFill>
                  <a:schemeClr val="accent2">
                    <a:lumMod val="75000"/>
                  </a:schemeClr>
                </a:solidFill>
                <a:latin typeface="Times New Roman" panose="02020603050405020304" pitchFamily="18" charset="0"/>
                <a:cs typeface="Times New Roman" panose="02020603050405020304" pitchFamily="18" charset="0"/>
              </a:rPr>
              <a:t>ADDUCTION:</a:t>
            </a:r>
            <a:endParaRPr lang="en-US" sz="1800" b="1" dirty="0">
              <a:solidFill>
                <a:schemeClr val="accent2">
                  <a:lumMod val="75000"/>
                </a:schemeClr>
              </a:solidFill>
              <a:latin typeface="Times New Roman" panose="02020603050405020304" pitchFamily="18" charset="0"/>
              <a:cs typeface="Times New Roman" panose="02020603050405020304" pitchFamily="18" charset="0"/>
            </a:endParaRPr>
          </a:p>
          <a:p>
            <a:pPr marL="457200" indent="-457200">
              <a:buAutoNum type="arabicPeriod"/>
            </a:pPr>
            <a:r>
              <a:rPr lang="en-US" sz="1800" b="1" dirty="0">
                <a:latin typeface="Times New Roman" panose="02020603050405020304" pitchFamily="18" charset="0"/>
                <a:cs typeface="Times New Roman" panose="02020603050405020304" pitchFamily="18" charset="0"/>
              </a:rPr>
              <a:t>Pectoralis major</a:t>
            </a:r>
            <a:endParaRPr lang="en-US" sz="1800" b="1" dirty="0">
              <a:latin typeface="Times New Roman" panose="02020603050405020304" pitchFamily="18" charset="0"/>
              <a:cs typeface="Times New Roman" panose="02020603050405020304" pitchFamily="18" charset="0"/>
            </a:endParaRPr>
          </a:p>
          <a:p>
            <a:pPr marL="457200" indent="-457200">
              <a:buAutoNum type="arabicPeriod"/>
            </a:pPr>
            <a:r>
              <a:rPr lang="en-US" sz="1800" b="1" dirty="0">
                <a:latin typeface="Times New Roman" panose="02020603050405020304" pitchFamily="18" charset="0"/>
                <a:cs typeface="Times New Roman" panose="02020603050405020304" pitchFamily="18" charset="0"/>
              </a:rPr>
              <a:t>Latissimus dorsi</a:t>
            </a:r>
            <a:endParaRPr lang="en-US" sz="1800" b="1" dirty="0">
              <a:latin typeface="Times New Roman" panose="02020603050405020304" pitchFamily="18" charset="0"/>
              <a:cs typeface="Times New Roman" panose="02020603050405020304" pitchFamily="18" charset="0"/>
            </a:endParaRPr>
          </a:p>
          <a:p>
            <a:pPr marL="457200" indent="-457200">
              <a:buAutoNum type="arabicPeriod"/>
            </a:pPr>
            <a:r>
              <a:rPr lang="en-US" sz="1800" b="1" dirty="0">
                <a:latin typeface="Times New Roman" panose="02020603050405020304" pitchFamily="18" charset="0"/>
                <a:cs typeface="Times New Roman" panose="02020603050405020304" pitchFamily="18" charset="0"/>
              </a:rPr>
              <a:t>Teres major</a:t>
            </a:r>
            <a:endParaRPr lang="en-US" sz="18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39192" y="183757"/>
            <a:ext cx="9703293" cy="369332"/>
          </a:xfrm>
          <a:prstGeom prst="rect">
            <a:avLst/>
          </a:prstGeom>
          <a:noFill/>
        </p:spPr>
        <p:txBody>
          <a:bodyPr wrap="square">
            <a:spAutoFit/>
          </a:bodyPr>
          <a:lstStyle/>
          <a:p>
            <a:r>
              <a:rPr lang="en-US" sz="1800" b="1" dirty="0">
                <a:solidFill>
                  <a:srgbClr val="C00000"/>
                </a:solidFill>
                <a:latin typeface="Times New Roman" panose="02020603050405020304" pitchFamily="18" charset="0"/>
                <a:cs typeface="Times New Roman" panose="02020603050405020304" pitchFamily="18" charset="0"/>
              </a:rPr>
              <a:t>MOVEMENTS OF SHOULDER JOINT</a:t>
            </a:r>
            <a:endParaRPr lang="en-US"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C00000"/>
                </a:solidFill>
                <a:latin typeface="Times New Roman" panose="02020603050405020304" pitchFamily="18" charset="0"/>
                <a:cs typeface="Times New Roman" panose="02020603050405020304" pitchFamily="18" charset="0"/>
              </a:rPr>
              <a:t>SUMMARY</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381740" y="1332791"/>
            <a:ext cx="11248007" cy="5573192"/>
          </a:xfrm>
          <a:prstGeom prst="rect">
            <a:avLst/>
          </a:prstGeom>
          <a:noFill/>
        </p:spPr>
        <p:txBody>
          <a:bodyPr wrap="square" rtlCol="0">
            <a:spAutoFit/>
          </a:bodyPr>
          <a:lstStyle/>
          <a:p>
            <a:pPr marL="285750" indent="-28575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Shoulder joint:</a:t>
            </a:r>
            <a:endParaRPr lang="en-US" sz="2800" dirty="0">
              <a:latin typeface="Times New Roman" panose="02020603050405020304" pitchFamily="18" charset="0"/>
              <a:cs typeface="Times New Roman" panose="02020603050405020304" pitchFamily="18" charset="0"/>
            </a:endParaRPr>
          </a:p>
          <a:p>
            <a:pPr marL="342900" indent="-342900">
              <a:lnSpc>
                <a:spcPct val="200000"/>
              </a:lnSpc>
              <a:buAutoNum type="arabicPeriod"/>
            </a:pPr>
            <a:r>
              <a:rPr lang="en-US" sz="2800" dirty="0">
                <a:latin typeface="Times New Roman" panose="02020603050405020304" pitchFamily="18" charset="0"/>
                <a:cs typeface="Times New Roman" panose="02020603050405020304" pitchFamily="18" charset="0"/>
              </a:rPr>
              <a:t>Types: synovial, ball &amp; socket</a:t>
            </a:r>
            <a:endParaRPr lang="en-US" sz="2800" dirty="0">
              <a:latin typeface="Times New Roman" panose="02020603050405020304" pitchFamily="18" charset="0"/>
              <a:cs typeface="Times New Roman" panose="02020603050405020304" pitchFamily="18" charset="0"/>
            </a:endParaRPr>
          </a:p>
          <a:p>
            <a:pPr marL="342900" indent="-342900">
              <a:lnSpc>
                <a:spcPct val="200000"/>
              </a:lnSpc>
              <a:buAutoNum type="arabicPeriod"/>
            </a:pPr>
            <a:r>
              <a:rPr lang="en-US" sz="2800" dirty="0">
                <a:latin typeface="Times New Roman" panose="02020603050405020304" pitchFamily="18" charset="0"/>
                <a:cs typeface="Times New Roman" panose="02020603050405020304" pitchFamily="18" charset="0"/>
              </a:rPr>
              <a:t>Articular surfaces: head of humerus &amp; scapula</a:t>
            </a:r>
            <a:endParaRPr lang="en-US" sz="2800" dirty="0">
              <a:latin typeface="Times New Roman" panose="02020603050405020304" pitchFamily="18" charset="0"/>
              <a:cs typeface="Times New Roman" panose="02020603050405020304" pitchFamily="18" charset="0"/>
            </a:endParaRPr>
          </a:p>
          <a:p>
            <a:pPr marL="342900" indent="-342900">
              <a:lnSpc>
                <a:spcPct val="200000"/>
              </a:lnSpc>
              <a:buAutoNum type="arabicPeriod"/>
            </a:pPr>
            <a:r>
              <a:rPr lang="en-US" sz="2800" dirty="0">
                <a:latin typeface="Times New Roman" panose="02020603050405020304" pitchFamily="18" charset="0"/>
                <a:cs typeface="Times New Roman" panose="02020603050405020304" pitchFamily="18" charset="0"/>
              </a:rPr>
              <a:t>Stability: depends on rotator cuff</a:t>
            </a:r>
            <a:endParaRPr lang="en-US" sz="2800" dirty="0">
              <a:latin typeface="Times New Roman" panose="02020603050405020304" pitchFamily="18" charset="0"/>
              <a:cs typeface="Times New Roman" panose="02020603050405020304" pitchFamily="18" charset="0"/>
            </a:endParaRPr>
          </a:p>
          <a:p>
            <a:pPr marL="342900" indent="-342900">
              <a:lnSpc>
                <a:spcPct val="200000"/>
              </a:lnSpc>
              <a:buAutoNum type="arabicPeriod"/>
            </a:pPr>
            <a:r>
              <a:rPr lang="en-US" sz="2800" dirty="0">
                <a:latin typeface="Times New Roman" panose="02020603050405020304" pitchFamily="18" charset="0"/>
                <a:cs typeface="Times New Roman" panose="02020603050405020304" pitchFamily="18" charset="0"/>
              </a:rPr>
              <a:t>Relations: rotator cuff and axillary nerve</a:t>
            </a:r>
            <a:endParaRPr lang="en-US" sz="2800" dirty="0">
              <a:latin typeface="Times New Roman" panose="02020603050405020304" pitchFamily="18" charset="0"/>
              <a:cs typeface="Times New Roman" panose="02020603050405020304" pitchFamily="18" charset="0"/>
            </a:endParaRPr>
          </a:p>
          <a:p>
            <a:pPr marL="342900" indent="-342900">
              <a:lnSpc>
                <a:spcPct val="200000"/>
              </a:lnSpc>
              <a:buAutoNum type="arabicPeriod"/>
            </a:pPr>
            <a:r>
              <a:rPr lang="en-US" sz="2800" dirty="0">
                <a:latin typeface="Times New Roman" panose="02020603050405020304" pitchFamily="18" charset="0"/>
                <a:cs typeface="Times New Roman" panose="02020603050405020304" pitchFamily="18" charset="0"/>
              </a:rPr>
              <a:t>Movement: flexion, extension, abduction, adduction, medial &amp; lateral rotation</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5703</Words>
  <Application>WPS Presentation</Application>
  <PresentationFormat>Widescreen</PresentationFormat>
  <Paragraphs>177</Paragraphs>
  <Slides>19</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SimSun</vt:lpstr>
      <vt:lpstr>Wingdings</vt:lpstr>
      <vt:lpstr>Times New Roman</vt:lpstr>
      <vt:lpstr>Microsoft YaHei</vt:lpstr>
      <vt:lpstr>Arial Unicode MS</vt:lpstr>
      <vt:lpstr>Calibri Light</vt:lpstr>
      <vt:lpstr>Calibri</vt:lpstr>
      <vt:lpstr>Office Theme</vt:lpstr>
      <vt:lpstr>SHOULDER REGOIN AND JOINTS</vt:lpstr>
      <vt:lpstr>OBJECTIVES</vt:lpstr>
      <vt:lpstr>INTRODUCTION</vt:lpstr>
      <vt:lpstr>BONES OF THE SHOULDER</vt:lpstr>
      <vt:lpstr>PowerPoint 演示文稿</vt:lpstr>
      <vt:lpstr>PowerPoint 演示文稿</vt:lpstr>
      <vt:lpstr>PowerPoint 演示文稿</vt:lpstr>
      <vt:lpstr>SUPRASPNATUS &amp; INFRASPINATUS</vt:lpstr>
      <vt:lpstr>SUBSCAPULARIS</vt:lpstr>
      <vt:lpstr>TERES MAJOR</vt:lpstr>
      <vt:lpstr>PowerPoint 演示文稿</vt:lpstr>
      <vt:lpstr>SHOULDER JOINTS</vt:lpstr>
      <vt:lpstr>SHOULDER JOINTS</vt:lpstr>
      <vt:lpstr>SHOULDER (Glenohumeral) JOINT</vt:lpstr>
      <vt:lpstr>SHOULDER JOINTS</vt:lpstr>
      <vt:lpstr>ROTATOR CUFF</vt:lpstr>
      <vt:lpstr>RELATIONS OF SHOULDER JOINT</vt:lpstr>
      <vt:lpstr>PowerPoint 演示文稿</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SHOULDER REGOIN AND JOINTS</dc:title>
  <dc:creator>Florence Igelige</dc:creator>
  <cp:lastModifiedBy>HP</cp:lastModifiedBy>
  <cp:revision>80</cp:revision>
  <dcterms:created xsi:type="dcterms:W3CDTF">2023-08-21T14:32:00Z</dcterms:created>
  <dcterms:modified xsi:type="dcterms:W3CDTF">2025-03-10T21:54:30Z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B154A7DA26914DC58E7DBB10658BF258_12</vt:lpwstr>
  </property>
  <property fmtid="{D5CDD505-2E9C-101B-9397-08002B2CF9AE}" pid="3" name="KSOProductBuildVer">
    <vt:lpwstr>1033-12.2.0.20326</vt:lpwstr>
  </property>
</Properties>
</file>