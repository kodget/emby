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6E6EE-8129-4BEB-B71F-E7DE83B31128}" type="datetimeFigureOut">
              <a:rPr lang="en-US" smtClean="0"/>
              <a:pPr/>
              <a:t>7/9/2023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D10A2-AF18-49E2-88A0-9E0699555D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024E-8F90-486E-BBC0-D48BAAB32F18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4EB0-F447-4692-8D25-87A0BFD43F26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5B38-EC97-418C-A028-02B835040E53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2367C-6F4D-4D2C-ABAB-26975A181D72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6734-8777-4454-835C-C3DE7CED3E37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695E-C915-4441-8A89-AB4B304B93A2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0348-9277-4CD9-B710-A9148893EA20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63AC-2BE7-4D48-AE4E-911240663D28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89AB-FDC8-4F13-B723-C13AF012003B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216F-15CB-40C5-9124-D27BDEFC9B11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0068-A3DD-4DD1-B49C-B2F519BD6963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0A2F8-9854-4A74-8F37-F3AEE76C96F8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22DD5-6667-44F2-85BE-DEF5AB9CF8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71547"/>
            <a:ext cx="7772400" cy="1643073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ANATOMY OF THE BRACHIAL PLEXUS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BY</a:t>
            </a:r>
          </a:p>
          <a:p>
            <a:endParaRPr lang="en-AU" dirty="0">
              <a:latin typeface="Arial Black" pitchFamily="34" charset="0"/>
            </a:endParaRPr>
          </a:p>
          <a:p>
            <a:r>
              <a:rPr lang="en-AU" dirty="0" smtClean="0">
                <a:latin typeface="Arial Black" pitchFamily="34" charset="0"/>
              </a:rPr>
              <a:t>DR. </a:t>
            </a:r>
            <a:r>
              <a:rPr lang="en-AU" dirty="0" smtClean="0">
                <a:latin typeface="Arial Black" pitchFamily="34" charset="0"/>
              </a:rPr>
              <a:t>OJEWALE A.O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Components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Branches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11430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0240"/>
            <a:ext cx="8229600" cy="4500594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brachial plexus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plexus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(ventral) rami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four cervical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thoracic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(i.e., C5, C6, C7, C8, and T1)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spinal nerves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little contribution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C4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T2 spinal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 Black" pitchFamily="34" charset="0"/>
              </a:rPr>
              <a:t>Components of the brachial plexus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4143404" cy="550070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consists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four components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(a)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(b)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trunks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(c)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divisions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(d)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trunks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located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divisions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behind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clavicle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axilla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2950" y="1285860"/>
            <a:ext cx="4591050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0"/>
            <a:ext cx="8929718" cy="792959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Roots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(five) are constituted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primary rami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C5 to T1 spinal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are located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to scalenus anterior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Trunks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trunks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(three) are formed as follows: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C5 and C6 roots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join 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trunk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C7 root alone forms the middle trunk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C8 and T1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roots join 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trunk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lie in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neck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occupying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scalenus medius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behind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scalenus anterior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500042"/>
            <a:ext cx="8643998" cy="614366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Divisions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Each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trunk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divides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divisions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lie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behind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clavicle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Cords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(three) are formed as follows: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divisions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and middle trunks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unite 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lateral cord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division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trunk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continues as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cord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divisions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trunks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unite 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cord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86182" y="0"/>
            <a:ext cx="1928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>
                <a:latin typeface="Arial Black" pitchFamily="34" charset="0"/>
              </a:rPr>
              <a:t>Cont’d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upload.wikimedia.org/wikipedia/commons/thumb/0/0e/Brachial_plexus_2.svg/750px-Brachial_plexus_2.svg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64409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Branches of the brachial plexus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572560" cy="5214974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roots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Long thoracic nerve/nerve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serratus anterior (C5, C6, and C7).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Dorsal scapular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 to rhomboids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In addition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 thoracic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dorsal scapular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branches are given by the roots to supply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scalene muscles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longus colli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(C5, C6, C7, and C8) and there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contribution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phrenic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0"/>
            <a:ext cx="8858280" cy="6858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trunks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Suprascapular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C6)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Nerve to subclavius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C6)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branches arising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trunks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supraclavicular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brachial plexus.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cords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From lateral cord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Lateral pectoral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(C5, C6, and C7).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Lateral root of median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(C5, C6, and C7).</a:t>
            </a:r>
          </a:p>
          <a:p>
            <a:pPr algn="just"/>
            <a:r>
              <a:rPr lang="en-AU" b="1" dirty="0" err="1" smtClean="0">
                <a:latin typeface="Arial" pitchFamily="34" charset="0"/>
                <a:cs typeface="Arial" pitchFamily="34" charset="0"/>
              </a:rPr>
              <a:t>Musculocutaneous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(C5, C6, and C7).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929222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From medial cord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Medial pectoral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(C8 and 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Medial cutaneous nerve of arm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Medial cutaneous nerve of forearm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(C8 and 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Medial root of median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(C8 and 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Ulnar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(C7, C8, and T1)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50059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From posterior cord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Radial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(C5, C6, C7, C8, and 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Axillary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Thoraco-dorsal nerve/nerve to latissimus dorsi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(C6, C7, and C8).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Upper subscapular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Lower subscapular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786478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Erb’s point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the region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trunk of brachial plexus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where six nerves meet as follows: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5th and 6th cervical roots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join 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trunk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gives off two nerves—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suprascapular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nerve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subclavius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then divides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and posterior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divisions.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4357694"/>
            <a:ext cx="3357586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357166"/>
            <a:ext cx="8501122" cy="6500834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Erb’s paralysis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plexus injury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): It is caused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excessive increase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angle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shoulder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may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occur by fall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back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horse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landing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shoulder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birth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child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This involves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trunk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(C5 and C6 roots) and leads to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typical deformity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limb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policeman’s tip hand/porter’s tip hand/waiter's tip hand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In this deformity, the arm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hangs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side,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adducted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medially rotated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forearm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pronated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142984"/>
            <a:ext cx="6858048" cy="393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214414" y="5143512"/>
            <a:ext cx="6572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Injury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brachial plexus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leading to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excessive increase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angle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shoulder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A, fall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landing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shoulder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B,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hyperextension of the neck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9001156" cy="607220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detailed account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Erb’s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paralysis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as follows: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Adduction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arm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due to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paralysis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deltoid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muscle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Medial rotation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arm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due to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paralysis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supraspinatus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infraspinatus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teres minor muscles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Extension of elbow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due to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paralysis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biceps brachii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Pronation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forearm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due to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paralysis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biceps brachii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14744" y="214290"/>
            <a:ext cx="2143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>
                <a:latin typeface="Arial Black" pitchFamily="34" charset="0"/>
              </a:rPr>
              <a:t>Cont’d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Loss of sensation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(minimal) along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outer aspect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arm due to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involvement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roots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C6 spinal nerve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Klumpke’s paralysis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plexus injury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):It is caused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hyperabduction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may occur when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 falls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outstretched hand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an arm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pulled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machinery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delivery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extended arm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breech presentation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 roots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involved in this injury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C8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T1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sometimes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C7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86182" y="500042"/>
            <a:ext cx="1785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>
                <a:latin typeface="Arial Black" pitchFamily="34" charset="0"/>
              </a:rPr>
              <a:t>Cont’d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643998" cy="6643734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detailed account of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Klumpke’s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paralysis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as follows: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Claw hand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paralysis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flexors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wrist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fingers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(C6, C7, and C8), and all intrinsic muscles of the hand (C8 and T1).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Loss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sensations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forearm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(T1).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Horner’s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syndrome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,(characterized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partial ptosis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miosis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anhydrosis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enophthalmos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due to involvement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sympathetic fibres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supplying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head and neck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leave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spinal cord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T1.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357686" y="285728"/>
            <a:ext cx="125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 Black" pitchFamily="34" charset="0"/>
              </a:rPr>
              <a:t>Cont’d</a:t>
            </a:r>
            <a:endParaRPr lang="en-US" sz="2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Surgical approach to axilla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axilla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approached surgically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floor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axilla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excision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axillary 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treat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cancer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breast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structures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risk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during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procedure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(a)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intercostobrachial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(b)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 thoracic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(c)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thoraco-dorsal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(d)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thoraco-dorsal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28992" y="785794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Features of Erb’s and Klumpke’s paralyses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14281" y="1357298"/>
          <a:ext cx="8715438" cy="5286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146"/>
                <a:gridCol w="2905146"/>
                <a:gridCol w="2905146"/>
              </a:tblGrid>
              <a:tr h="445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Erb’s</a:t>
                      </a:r>
                      <a:r>
                        <a:rPr lang="en-US" dirty="0" smtClean="0"/>
                        <a:t> paralysis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Klumpke’s paralysis</a:t>
                      </a:r>
                      <a:endParaRPr lang="en-US" dirty="0"/>
                    </a:p>
                  </a:txBody>
                  <a:tcPr/>
                </a:tc>
              </a:tr>
              <a:tr h="44562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Nerve roots involved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C5 and C6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C8 and T1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208770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Muscles paralyzed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Deltoid, supraspinatus infraspinatus, biceps brachii, brachialis, brachioradialis, supinator and extensor carpi </a:t>
                      </a:r>
                    </a:p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radialis longus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All intrinsic muscles of the hand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69154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Position of the upper limb/hand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Policeman’s tip/Porter’s tip/Waiter’s tip position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Claw hand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6915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Sensory loss (sometimes)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Along the outer aspect of the arm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Along the medial border of forearm and hand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6915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Autonomic signs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Absent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Present (Horner’s syndrome)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22DD5-6667-44F2-85BE-DEF5AB9CF80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3338"/>
            <a:ext cx="9085263" cy="681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67920</TotalTime>
  <Words>1141</Words>
  <Application>Microsoft Office PowerPoint</Application>
  <PresentationFormat>On-screen Show (4:3)</PresentationFormat>
  <Paragraphs>110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ANATOMY OF THE BRACHIAL PLEXUS</vt:lpstr>
      <vt:lpstr>Outline</vt:lpstr>
      <vt:lpstr>Intro’</vt:lpstr>
      <vt:lpstr>Components of the brachial plexus</vt:lpstr>
      <vt:lpstr>Slide 5</vt:lpstr>
      <vt:lpstr>Slide 6</vt:lpstr>
      <vt:lpstr>Slide 7</vt:lpstr>
      <vt:lpstr>Branches of the brachial plexus</vt:lpstr>
      <vt:lpstr>Slide 9</vt:lpstr>
      <vt:lpstr>Cont’d</vt:lpstr>
      <vt:lpstr>Cont’d</vt:lpstr>
      <vt:lpstr>APPLIED ANATOMY</vt:lpstr>
      <vt:lpstr>Slide 13</vt:lpstr>
      <vt:lpstr>Slide 14</vt:lpstr>
      <vt:lpstr>Slide 15</vt:lpstr>
      <vt:lpstr>Slide 16</vt:lpstr>
      <vt:lpstr>Slide 17</vt:lpstr>
      <vt:lpstr>Slide 18</vt:lpstr>
      <vt:lpstr>Features of Erb’s and Klumpke’s paralyses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BRACHIAL PLEXUS</dc:title>
  <dc:creator>olakunle</dc:creator>
  <cp:lastModifiedBy>Dr. Ojewale</cp:lastModifiedBy>
  <cp:revision>6</cp:revision>
  <dcterms:created xsi:type="dcterms:W3CDTF">2021-12-07T07:28:44Z</dcterms:created>
  <dcterms:modified xsi:type="dcterms:W3CDTF">2023-08-22T10:23:23Z</dcterms:modified>
</cp:coreProperties>
</file>