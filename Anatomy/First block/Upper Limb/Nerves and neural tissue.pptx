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74" r:id="rId4"/>
    <p:sldId id="276" r:id="rId5"/>
    <p:sldId id="280" r:id="rId6"/>
    <p:sldId id="277" r:id="rId7"/>
    <p:sldId id="278" r:id="rId8"/>
    <p:sldId id="257" r:id="rId9"/>
    <p:sldId id="258" r:id="rId10"/>
    <p:sldId id="273" r:id="rId11"/>
    <p:sldId id="259" r:id="rId12"/>
    <p:sldId id="262" r:id="rId13"/>
    <p:sldId id="270" r:id="rId14"/>
    <p:sldId id="260" r:id="rId15"/>
    <p:sldId id="261" r:id="rId16"/>
    <p:sldId id="265" r:id="rId17"/>
    <p:sldId id="266" r:id="rId18"/>
    <p:sldId id="267" r:id="rId19"/>
    <p:sldId id="271" r:id="rId20"/>
    <p:sldId id="272" r:id="rId21"/>
    <p:sldId id="268" r:id="rId22"/>
    <p:sldId id="28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snapToGrid="0">
      <p:cViewPr varScale="1">
        <p:scale>
          <a:sx n="79" d="100"/>
          <a:sy n="79" d="100"/>
        </p:scale>
        <p:origin x="77"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EF951B7-8ABF-4F56-B965-A09AD53E023D}" type="datetimeFigureOut">
              <a:rPr lang="en-US" smtClean="0"/>
              <a:t>3/3/2025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F9F998-36A3-484C-B995-B79E428D4CE2}" type="slidenum">
              <a:rPr lang="en-US" smtClean="0"/>
              <a:t>‹#›</a:t>
            </a:fld>
            <a:endParaRPr lang="en-US"/>
          </a:p>
        </p:txBody>
      </p:sp>
    </p:spTree>
    <p:extLst>
      <p:ext uri="{BB962C8B-B14F-4D97-AF65-F5344CB8AC3E}">
        <p14:creationId xmlns:p14="http://schemas.microsoft.com/office/powerpoint/2010/main" val="1676071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F951B7-8ABF-4F56-B965-A09AD53E023D}" type="datetimeFigureOut">
              <a:rPr lang="en-US" smtClean="0"/>
              <a:t>3/3/2025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F9F998-36A3-484C-B995-B79E428D4CE2}" type="slidenum">
              <a:rPr lang="en-US" smtClean="0"/>
              <a:t>‹#›</a:t>
            </a:fld>
            <a:endParaRPr lang="en-US"/>
          </a:p>
        </p:txBody>
      </p:sp>
    </p:spTree>
    <p:extLst>
      <p:ext uri="{BB962C8B-B14F-4D97-AF65-F5344CB8AC3E}">
        <p14:creationId xmlns:p14="http://schemas.microsoft.com/office/powerpoint/2010/main" val="1358054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F951B7-8ABF-4F56-B965-A09AD53E023D}" type="datetimeFigureOut">
              <a:rPr lang="en-US" smtClean="0"/>
              <a:t>3/3/2025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F9F998-36A3-484C-B995-B79E428D4CE2}" type="slidenum">
              <a:rPr lang="en-US" smtClean="0"/>
              <a:t>‹#›</a:t>
            </a:fld>
            <a:endParaRPr lang="en-US"/>
          </a:p>
        </p:txBody>
      </p:sp>
    </p:spTree>
    <p:extLst>
      <p:ext uri="{BB962C8B-B14F-4D97-AF65-F5344CB8AC3E}">
        <p14:creationId xmlns:p14="http://schemas.microsoft.com/office/powerpoint/2010/main" val="1009941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EF951B7-8ABF-4F56-B965-A09AD53E023D}" type="datetimeFigureOut">
              <a:rPr lang="en-US" smtClean="0"/>
              <a:t>3/3/2025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F9F998-36A3-484C-B995-B79E428D4CE2}" type="slidenum">
              <a:rPr lang="en-US" smtClean="0"/>
              <a:t>‹#›</a:t>
            </a:fld>
            <a:endParaRPr lang="en-US"/>
          </a:p>
        </p:txBody>
      </p:sp>
    </p:spTree>
    <p:extLst>
      <p:ext uri="{BB962C8B-B14F-4D97-AF65-F5344CB8AC3E}">
        <p14:creationId xmlns:p14="http://schemas.microsoft.com/office/powerpoint/2010/main" val="921683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EF951B7-8ABF-4F56-B965-A09AD53E023D}" type="datetimeFigureOut">
              <a:rPr lang="en-US" smtClean="0"/>
              <a:t>3/3/2025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F9F998-36A3-484C-B995-B79E428D4CE2}" type="slidenum">
              <a:rPr lang="en-US" smtClean="0"/>
              <a:t>‹#›</a:t>
            </a:fld>
            <a:endParaRPr lang="en-US"/>
          </a:p>
        </p:txBody>
      </p:sp>
    </p:spTree>
    <p:extLst>
      <p:ext uri="{BB962C8B-B14F-4D97-AF65-F5344CB8AC3E}">
        <p14:creationId xmlns:p14="http://schemas.microsoft.com/office/powerpoint/2010/main" val="1788338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EF951B7-8ABF-4F56-B965-A09AD53E023D}" type="datetimeFigureOut">
              <a:rPr lang="en-US" smtClean="0"/>
              <a:t>3/3/2025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F9F998-36A3-484C-B995-B79E428D4CE2}" type="slidenum">
              <a:rPr lang="en-US" smtClean="0"/>
              <a:t>‹#›</a:t>
            </a:fld>
            <a:endParaRPr lang="en-US"/>
          </a:p>
        </p:txBody>
      </p:sp>
    </p:spTree>
    <p:extLst>
      <p:ext uri="{BB962C8B-B14F-4D97-AF65-F5344CB8AC3E}">
        <p14:creationId xmlns:p14="http://schemas.microsoft.com/office/powerpoint/2010/main" val="2769376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51B7-8ABF-4F56-B965-A09AD53E023D}" type="datetimeFigureOut">
              <a:rPr lang="en-US" smtClean="0"/>
              <a:t>3/3/2025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F9F998-36A3-484C-B995-B79E428D4CE2}" type="slidenum">
              <a:rPr lang="en-US" smtClean="0"/>
              <a:t>‹#›</a:t>
            </a:fld>
            <a:endParaRPr lang="en-US"/>
          </a:p>
        </p:txBody>
      </p:sp>
    </p:spTree>
    <p:extLst>
      <p:ext uri="{BB962C8B-B14F-4D97-AF65-F5344CB8AC3E}">
        <p14:creationId xmlns:p14="http://schemas.microsoft.com/office/powerpoint/2010/main" val="33443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F951B7-8ABF-4F56-B965-A09AD53E023D}" type="datetimeFigureOut">
              <a:rPr lang="en-US" smtClean="0"/>
              <a:t>3/3/2025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F9F998-36A3-484C-B995-B79E428D4CE2}" type="slidenum">
              <a:rPr lang="en-US" smtClean="0"/>
              <a:t>‹#›</a:t>
            </a:fld>
            <a:endParaRPr lang="en-US"/>
          </a:p>
        </p:txBody>
      </p:sp>
    </p:spTree>
    <p:extLst>
      <p:ext uri="{BB962C8B-B14F-4D97-AF65-F5344CB8AC3E}">
        <p14:creationId xmlns:p14="http://schemas.microsoft.com/office/powerpoint/2010/main" val="941867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F951B7-8ABF-4F56-B965-A09AD53E023D}" type="datetimeFigureOut">
              <a:rPr lang="en-US" smtClean="0"/>
              <a:t>3/3/2025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F9F998-36A3-484C-B995-B79E428D4CE2}" type="slidenum">
              <a:rPr lang="en-US" smtClean="0"/>
              <a:t>‹#›</a:t>
            </a:fld>
            <a:endParaRPr lang="en-US"/>
          </a:p>
        </p:txBody>
      </p:sp>
    </p:spTree>
    <p:extLst>
      <p:ext uri="{BB962C8B-B14F-4D97-AF65-F5344CB8AC3E}">
        <p14:creationId xmlns:p14="http://schemas.microsoft.com/office/powerpoint/2010/main" val="3373559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F951B7-8ABF-4F56-B965-A09AD53E023D}" type="datetimeFigureOut">
              <a:rPr lang="en-US" smtClean="0"/>
              <a:t>3/3/2025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F9F998-36A3-484C-B995-B79E428D4CE2}" type="slidenum">
              <a:rPr lang="en-US" smtClean="0"/>
              <a:t>‹#›</a:t>
            </a:fld>
            <a:endParaRPr lang="en-US"/>
          </a:p>
        </p:txBody>
      </p:sp>
    </p:spTree>
    <p:extLst>
      <p:ext uri="{BB962C8B-B14F-4D97-AF65-F5344CB8AC3E}">
        <p14:creationId xmlns:p14="http://schemas.microsoft.com/office/powerpoint/2010/main" val="1945105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F951B7-8ABF-4F56-B965-A09AD53E023D}" type="datetimeFigureOut">
              <a:rPr lang="en-US" smtClean="0"/>
              <a:t>3/3/2025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F9F998-36A3-484C-B995-B79E428D4CE2}" type="slidenum">
              <a:rPr lang="en-US" smtClean="0"/>
              <a:t>‹#›</a:t>
            </a:fld>
            <a:endParaRPr lang="en-US"/>
          </a:p>
        </p:txBody>
      </p:sp>
    </p:spTree>
    <p:extLst>
      <p:ext uri="{BB962C8B-B14F-4D97-AF65-F5344CB8AC3E}">
        <p14:creationId xmlns:p14="http://schemas.microsoft.com/office/powerpoint/2010/main" val="1519856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51B7-8ABF-4F56-B965-A09AD53E023D}" type="datetimeFigureOut">
              <a:rPr lang="en-US" smtClean="0"/>
              <a:t>3/3/2025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F9F998-36A3-484C-B995-B79E428D4CE2}" type="slidenum">
              <a:rPr lang="en-US" smtClean="0"/>
              <a:t>‹#›</a:t>
            </a:fld>
            <a:endParaRPr lang="en-US"/>
          </a:p>
        </p:txBody>
      </p:sp>
    </p:spTree>
    <p:extLst>
      <p:ext uri="{BB962C8B-B14F-4D97-AF65-F5344CB8AC3E}">
        <p14:creationId xmlns:p14="http://schemas.microsoft.com/office/powerpoint/2010/main" val="10406971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my.clevelandclinic.org/health/articles/21202-nervous-system"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b="1" dirty="0" smtClean="0">
                <a:solidFill>
                  <a:srgbClr val="C00000"/>
                </a:solidFill>
                <a:latin typeface="Times New Roman" panose="02020603050405020304" pitchFamily="18" charset="0"/>
                <a:cs typeface="Times New Roman" panose="02020603050405020304" pitchFamily="18" charset="0"/>
              </a:rPr>
              <a:t>NERVES AND NEURAL TISSUE</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GB" dirty="0" smtClean="0">
                <a:latin typeface="Times New Roman" panose="02020603050405020304" pitchFamily="18" charset="0"/>
                <a:cs typeface="Times New Roman" panose="02020603050405020304" pitchFamily="18" charset="0"/>
              </a:rPr>
              <a:t>BY</a:t>
            </a:r>
          </a:p>
          <a:p>
            <a:r>
              <a:rPr lang="en-GB" dirty="0" err="1" smtClean="0">
                <a:latin typeface="Times New Roman" panose="02020603050405020304" pitchFamily="18" charset="0"/>
                <a:cs typeface="Times New Roman" panose="02020603050405020304" pitchFamily="18" charset="0"/>
              </a:rPr>
              <a:t>Dr.</a:t>
            </a:r>
            <a:r>
              <a:rPr lang="en-GB" dirty="0" smtClean="0">
                <a:latin typeface="Times New Roman" panose="02020603050405020304" pitchFamily="18" charset="0"/>
                <a:cs typeface="Times New Roman" panose="02020603050405020304" pitchFamily="18" charset="0"/>
              </a:rPr>
              <a:t> F.O OPOOLA</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381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3796"/>
            <a:ext cx="12192000" cy="6309420"/>
          </a:xfrm>
          <a:prstGeom prst="rect">
            <a:avLst/>
          </a:prstGeom>
        </p:spPr>
        <p:txBody>
          <a:bodyPr wrap="square">
            <a:spAutoFit/>
          </a:bodyPr>
          <a:lstStyle/>
          <a:p>
            <a:r>
              <a:rPr lang="en-GB" sz="4000" b="1" i="0" dirty="0" smtClean="0">
                <a:solidFill>
                  <a:srgbClr val="C00000"/>
                </a:solidFill>
                <a:effectLst/>
                <a:latin typeface="Times New Roman" panose="02020603050405020304" pitchFamily="18" charset="0"/>
                <a:cs typeface="Times New Roman" panose="02020603050405020304" pitchFamily="18" charset="0"/>
              </a:rPr>
              <a:t>INTRODUCTION  </a:t>
            </a:r>
          </a:p>
          <a:p>
            <a:r>
              <a:rPr lang="en-GB" sz="2800" dirty="0">
                <a:solidFill>
                  <a:srgbClr val="555555"/>
                </a:solidFill>
                <a:latin typeface="Times New Roman" panose="02020603050405020304" pitchFamily="18" charset="0"/>
                <a:cs typeface="Times New Roman" panose="02020603050405020304" pitchFamily="18" charset="0"/>
              </a:rPr>
              <a:t>	</a:t>
            </a:r>
            <a:r>
              <a:rPr lang="en-GB" sz="2800" dirty="0" smtClean="0">
                <a:solidFill>
                  <a:srgbClr val="555555"/>
                </a:solidFill>
                <a:latin typeface="Times New Roman" panose="02020603050405020304" pitchFamily="18" charset="0"/>
                <a:cs typeface="Times New Roman" panose="02020603050405020304" pitchFamily="18" charset="0"/>
              </a:rPr>
              <a:t>			</a:t>
            </a:r>
          </a:p>
          <a:p>
            <a:r>
              <a:rPr lang="en-GB" sz="2800" b="0" i="0" dirty="0">
                <a:solidFill>
                  <a:srgbClr val="555555"/>
                </a:solidFill>
                <a:effectLst/>
                <a:latin typeface="Times New Roman" panose="02020603050405020304" pitchFamily="18" charset="0"/>
                <a:cs typeface="Times New Roman" panose="02020603050405020304" pitchFamily="18" charset="0"/>
              </a:rPr>
              <a:t>	</a:t>
            </a:r>
            <a:r>
              <a:rPr lang="en-GB" sz="2800" b="0" i="0" dirty="0" smtClean="0">
                <a:solidFill>
                  <a:srgbClr val="555555"/>
                </a:solidFill>
                <a:effectLst/>
                <a:latin typeface="Times New Roman" panose="02020603050405020304" pitchFamily="18" charset="0"/>
                <a:cs typeface="Times New Roman" panose="02020603050405020304" pitchFamily="18" charset="0"/>
              </a:rPr>
              <a:t>			</a:t>
            </a:r>
            <a:r>
              <a:rPr lang="en-GB" sz="2800" b="1" i="0" dirty="0" smtClean="0">
                <a:solidFill>
                  <a:srgbClr val="555555"/>
                </a:solidFill>
                <a:effectLst/>
                <a:latin typeface="Times New Roman" panose="02020603050405020304" pitchFamily="18" charset="0"/>
                <a:cs typeface="Times New Roman" panose="02020603050405020304" pitchFamily="18" charset="0"/>
              </a:rPr>
              <a:t>NERVES</a:t>
            </a:r>
            <a:endParaRPr lang="en-US" sz="2800" b="1" i="0" dirty="0" smtClean="0">
              <a:solidFill>
                <a:srgbClr val="555555"/>
              </a:solidFill>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b="0" i="0" dirty="0" smtClean="0">
                <a:solidFill>
                  <a:srgbClr val="555555"/>
                </a:solidFill>
                <a:effectLst/>
                <a:latin typeface="Times New Roman" panose="02020603050405020304" pitchFamily="18" charset="0"/>
                <a:cs typeface="Times New Roman" panose="02020603050405020304" pitchFamily="18" charset="0"/>
              </a:rPr>
              <a:t>Nerves are like cables that carry electrical impulses between your brain and the rest of your body. </a:t>
            </a:r>
          </a:p>
          <a:p>
            <a:pPr marL="457200" indent="-457200">
              <a:buFont typeface="Wingdings" panose="05000000000000000000" pitchFamily="2" charset="2"/>
              <a:buChar char="Ø"/>
            </a:pPr>
            <a:r>
              <a:rPr lang="en-US" sz="2800" b="0" i="0" dirty="0" smtClean="0">
                <a:solidFill>
                  <a:srgbClr val="555555"/>
                </a:solidFill>
                <a:effectLst/>
                <a:latin typeface="Times New Roman" panose="02020603050405020304" pitchFamily="18" charset="0"/>
                <a:cs typeface="Times New Roman" panose="02020603050405020304" pitchFamily="18" charset="0"/>
              </a:rPr>
              <a:t>These impulses help you feel sensations and move your muscles. They also maintain certain autonomic functions like breathing, sweating or digesting food.</a:t>
            </a:r>
          </a:p>
          <a:p>
            <a:pPr marL="457200" indent="-457200">
              <a:buFont typeface="Wingdings" panose="05000000000000000000" pitchFamily="2" charset="2"/>
              <a:buChar char="Ø"/>
            </a:pPr>
            <a:r>
              <a:rPr lang="en-US" sz="2800" b="0" i="0" dirty="0" smtClean="0">
                <a:solidFill>
                  <a:srgbClr val="555555"/>
                </a:solidFill>
                <a:effectLst/>
                <a:latin typeface="Times New Roman" panose="02020603050405020304" pitchFamily="18" charset="0"/>
                <a:cs typeface="Times New Roman" panose="02020603050405020304" pitchFamily="18" charset="0"/>
              </a:rPr>
              <a:t>Nerve cells are also called neurons. Neurons are present all over your body, especially in your brain and spinal cord. </a:t>
            </a:r>
          </a:p>
          <a:p>
            <a:pPr marL="457200" indent="-457200">
              <a:buFont typeface="Wingdings" panose="05000000000000000000" pitchFamily="2" charset="2"/>
              <a:buChar char="Ø"/>
            </a:pPr>
            <a:r>
              <a:rPr lang="en-US" sz="2800" b="0" i="0" dirty="0" smtClean="0">
                <a:solidFill>
                  <a:srgbClr val="555555"/>
                </a:solidFill>
                <a:effectLst/>
                <a:latin typeface="Times New Roman" panose="02020603050405020304" pitchFamily="18" charset="0"/>
                <a:cs typeface="Times New Roman" panose="02020603050405020304" pitchFamily="18" charset="0"/>
              </a:rPr>
              <a:t>Nerves, together with the brain and spinal cord, are the foundation of your </a:t>
            </a:r>
            <a:r>
              <a:rPr lang="en-US" sz="2800" b="0" i="0" dirty="0" smtClean="0">
                <a:solidFill>
                  <a:srgbClr val="007BC2"/>
                </a:solidFill>
                <a:effectLst/>
                <a:latin typeface="Times New Roman" panose="02020603050405020304" pitchFamily="18" charset="0"/>
                <a:cs typeface="Times New Roman" panose="02020603050405020304" pitchFamily="18" charset="0"/>
                <a:hlinkClick r:id="rId2"/>
              </a:rPr>
              <a:t>nervous system</a:t>
            </a:r>
            <a:r>
              <a:rPr lang="en-US" sz="2800" b="0" i="0" dirty="0" smtClean="0">
                <a:solidFill>
                  <a:srgbClr val="555555"/>
                </a:solidFill>
                <a:effectLst/>
                <a:latin typeface="Times New Roman" panose="02020603050405020304" pitchFamily="18" charset="0"/>
                <a:cs typeface="Times New Roman" panose="02020603050405020304" pitchFamily="18" charset="0"/>
              </a:rPr>
              <a:t>. </a:t>
            </a:r>
          </a:p>
          <a:p>
            <a:pPr marL="457200" indent="-457200">
              <a:buFont typeface="Wingdings" panose="05000000000000000000" pitchFamily="2" charset="2"/>
              <a:buChar char="Ø"/>
            </a:pPr>
            <a:r>
              <a:rPr lang="en-US" sz="2800" b="0" i="0" dirty="0" smtClean="0">
                <a:solidFill>
                  <a:srgbClr val="555555"/>
                </a:solidFill>
                <a:effectLst/>
                <a:latin typeface="Times New Roman" panose="02020603050405020304" pitchFamily="18" charset="0"/>
                <a:cs typeface="Times New Roman" panose="02020603050405020304" pitchFamily="18" charset="0"/>
              </a:rPr>
              <a:t>Most of the time when doctors use the term “nerve,” they’re referring to the part of your nervous system outside of your brain and spinal cord. This is called your peripheral nervous system.</a:t>
            </a:r>
            <a:endParaRPr lang="en-US" sz="2800" b="0" i="0" dirty="0">
              <a:solidFill>
                <a:srgbClr val="555555"/>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8873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C00000"/>
                </a:solidFill>
                <a:latin typeface="Times New Roman" panose="02020603050405020304" pitchFamily="18" charset="0"/>
                <a:cs typeface="Times New Roman" panose="02020603050405020304" pitchFamily="18" charset="0"/>
              </a:rPr>
              <a:t>INTRODUCTION</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Nerves</a:t>
            </a:r>
          </a:p>
          <a:p>
            <a:r>
              <a:rPr lang="en-US" dirty="0" smtClean="0">
                <a:latin typeface="Times New Roman" panose="02020603050405020304" pitchFamily="18" charset="0"/>
                <a:cs typeface="Times New Roman" panose="02020603050405020304" pitchFamily="18" charset="0"/>
              </a:rPr>
              <a:t>Nerves </a:t>
            </a:r>
            <a:r>
              <a:rPr lang="en-US" dirty="0">
                <a:latin typeface="Times New Roman" panose="02020603050405020304" pitchFamily="18" charset="0"/>
                <a:cs typeface="Times New Roman" panose="02020603050405020304" pitchFamily="18" charset="0"/>
              </a:rPr>
              <a:t>send electrical signals that help you feel sensations and move your muscles.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Nerves </a:t>
            </a:r>
            <a:r>
              <a:rPr lang="en-US" dirty="0">
                <a:latin typeface="Times New Roman" panose="02020603050405020304" pitchFamily="18" charset="0"/>
                <a:cs typeface="Times New Roman" panose="02020603050405020304" pitchFamily="18" charset="0"/>
              </a:rPr>
              <a:t>also control body functions like digesting food and maintaining your heart rate.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Nerves </a:t>
            </a:r>
            <a:r>
              <a:rPr lang="en-US" dirty="0">
                <a:latin typeface="Times New Roman" panose="02020603050405020304" pitchFamily="18" charset="0"/>
                <a:cs typeface="Times New Roman" panose="02020603050405020304" pitchFamily="18" charset="0"/>
              </a:rPr>
              <a:t>are one of the foundational parts of your nervous system.</a:t>
            </a:r>
          </a:p>
        </p:txBody>
      </p:sp>
    </p:spTree>
    <p:extLst>
      <p:ext uri="{BB962C8B-B14F-4D97-AF65-F5344CB8AC3E}">
        <p14:creationId xmlns:p14="http://schemas.microsoft.com/office/powerpoint/2010/main" val="1667562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74345"/>
            <a:ext cx="12192000" cy="5509200"/>
          </a:xfrm>
          <a:prstGeom prst="rect">
            <a:avLst/>
          </a:prstGeom>
        </p:spPr>
        <p:txBody>
          <a:bodyPr wrap="square">
            <a:spAutoFit/>
          </a:bodyPr>
          <a:lstStyle/>
          <a:p>
            <a:r>
              <a:rPr lang="en-US" sz="3600" b="1" i="0" dirty="0" smtClean="0">
                <a:solidFill>
                  <a:srgbClr val="C00000"/>
                </a:solidFill>
                <a:effectLst/>
                <a:latin typeface="Times New Roman" panose="02020603050405020304" pitchFamily="18" charset="0"/>
                <a:cs typeface="Times New Roman" panose="02020603050405020304" pitchFamily="18" charset="0"/>
              </a:rPr>
              <a:t> </a:t>
            </a:r>
            <a:r>
              <a:rPr lang="en-US" sz="3600" b="1" dirty="0">
                <a:solidFill>
                  <a:srgbClr val="C00000"/>
                </a:solidFill>
                <a:latin typeface="Times New Roman" panose="02020603050405020304" pitchFamily="18" charset="0"/>
                <a:cs typeface="Times New Roman" panose="02020603050405020304" pitchFamily="18" charset="0"/>
              </a:rPr>
              <a:t>T</a:t>
            </a:r>
            <a:r>
              <a:rPr lang="en-US" sz="3600" b="1" i="0" dirty="0" smtClean="0">
                <a:solidFill>
                  <a:srgbClr val="C00000"/>
                </a:solidFill>
                <a:effectLst/>
                <a:latin typeface="Times New Roman" panose="02020603050405020304" pitchFamily="18" charset="0"/>
                <a:cs typeface="Times New Roman" panose="02020603050405020304" pitchFamily="18" charset="0"/>
              </a:rPr>
              <a:t>ypes of Nerves</a:t>
            </a:r>
          </a:p>
          <a:p>
            <a:endParaRPr lang="en-US" sz="3600" b="1" i="0" dirty="0" smtClean="0">
              <a:solidFill>
                <a:srgbClr val="C00000"/>
              </a:solidFill>
              <a:effectLst/>
              <a:latin typeface="Times New Roman" panose="02020603050405020304" pitchFamily="18" charset="0"/>
              <a:cs typeface="Times New Roman" panose="02020603050405020304" pitchFamily="18" charset="0"/>
            </a:endParaRPr>
          </a:p>
          <a:p>
            <a:r>
              <a:rPr lang="en-US" sz="2800" b="0" i="0" dirty="0" smtClean="0">
                <a:solidFill>
                  <a:srgbClr val="555555"/>
                </a:solidFill>
                <a:effectLst/>
                <a:latin typeface="Times New Roman" panose="02020603050405020304" pitchFamily="18" charset="0"/>
                <a:cs typeface="Times New Roman" panose="02020603050405020304" pitchFamily="18" charset="0"/>
              </a:rPr>
              <a:t> two main types of nerves:</a:t>
            </a:r>
          </a:p>
          <a:p>
            <a:pPr>
              <a:buFont typeface="Arial" panose="020B0604020202020204" pitchFamily="34" charset="0"/>
              <a:buChar char="•"/>
            </a:pPr>
            <a:r>
              <a:rPr lang="en-US" sz="2800" b="1" i="0" dirty="0" smtClean="0">
                <a:solidFill>
                  <a:srgbClr val="555555"/>
                </a:solidFill>
                <a:effectLst/>
                <a:latin typeface="Times New Roman" panose="02020603050405020304" pitchFamily="18" charset="0"/>
                <a:cs typeface="Times New Roman" panose="02020603050405020304" pitchFamily="18" charset="0"/>
              </a:rPr>
              <a:t>Sensory nerves </a:t>
            </a:r>
            <a:r>
              <a:rPr lang="en-US" sz="2800" b="0" i="0" dirty="0" smtClean="0">
                <a:solidFill>
                  <a:srgbClr val="555555"/>
                </a:solidFill>
                <a:effectLst/>
                <a:latin typeface="Times New Roman" panose="02020603050405020304" pitchFamily="18" charset="0"/>
                <a:cs typeface="Times New Roman" panose="02020603050405020304" pitchFamily="18" charset="0"/>
              </a:rPr>
              <a:t>carry signals to the brain to help touch, taste, smell and see.</a:t>
            </a:r>
          </a:p>
          <a:p>
            <a:pPr>
              <a:buFont typeface="Arial" panose="020B0604020202020204" pitchFamily="34" charset="0"/>
              <a:buChar char="•"/>
            </a:pPr>
            <a:r>
              <a:rPr lang="en-US" sz="2800" b="1" i="0" dirty="0" smtClean="0">
                <a:solidFill>
                  <a:srgbClr val="555555"/>
                </a:solidFill>
                <a:effectLst/>
                <a:latin typeface="Times New Roman" panose="02020603050405020304" pitchFamily="18" charset="0"/>
                <a:cs typeface="Times New Roman" panose="02020603050405020304" pitchFamily="18" charset="0"/>
              </a:rPr>
              <a:t>Motor nerves </a:t>
            </a:r>
            <a:r>
              <a:rPr lang="en-US" sz="2800" b="0" i="0" dirty="0" smtClean="0">
                <a:solidFill>
                  <a:srgbClr val="555555"/>
                </a:solidFill>
                <a:effectLst/>
                <a:latin typeface="Times New Roman" panose="02020603050405020304" pitchFamily="18" charset="0"/>
                <a:cs typeface="Times New Roman" panose="02020603050405020304" pitchFamily="18" charset="0"/>
              </a:rPr>
              <a:t>carry signals to the muscles or glands to help move and function.</a:t>
            </a:r>
          </a:p>
          <a:p>
            <a:r>
              <a:rPr lang="en-US" sz="2800" dirty="0" smtClean="0">
                <a:solidFill>
                  <a:srgbClr val="555555"/>
                </a:solidFill>
                <a:latin typeface="Times New Roman" panose="02020603050405020304" pitchFamily="18" charset="0"/>
                <a:cs typeface="Times New Roman" panose="02020603050405020304" pitchFamily="18" charset="0"/>
              </a:rPr>
              <a:t>There are also </a:t>
            </a:r>
            <a:r>
              <a:rPr lang="en-US" sz="2800" b="0" i="0" dirty="0" smtClean="0">
                <a:solidFill>
                  <a:srgbClr val="555555"/>
                </a:solidFill>
                <a:effectLst/>
                <a:latin typeface="Times New Roman" panose="02020603050405020304" pitchFamily="18" charset="0"/>
                <a:cs typeface="Times New Roman" panose="02020603050405020304" pitchFamily="18" charset="0"/>
              </a:rPr>
              <a:t>two main groups of nerves branching out from the brain and spinal cord:</a:t>
            </a:r>
          </a:p>
          <a:p>
            <a:pPr>
              <a:buFont typeface="Arial" panose="020B0604020202020204" pitchFamily="34" charset="0"/>
              <a:buChar char="•"/>
            </a:pPr>
            <a:r>
              <a:rPr lang="en-US" sz="2800" b="1" i="0" dirty="0" smtClean="0">
                <a:solidFill>
                  <a:srgbClr val="C00000"/>
                </a:solidFill>
                <a:effectLst/>
                <a:latin typeface="Times New Roman" panose="02020603050405020304" pitchFamily="18" charset="0"/>
                <a:cs typeface="Times New Roman" panose="02020603050405020304" pitchFamily="18" charset="0"/>
              </a:rPr>
              <a:t>Cranial nerves</a:t>
            </a:r>
            <a:r>
              <a:rPr lang="en-US" sz="2800" b="1" i="0" dirty="0" smtClean="0">
                <a:solidFill>
                  <a:srgbClr val="555555"/>
                </a:solidFill>
                <a:effectLst/>
                <a:latin typeface="Times New Roman" panose="02020603050405020304" pitchFamily="18" charset="0"/>
                <a:cs typeface="Times New Roman" panose="02020603050405020304" pitchFamily="18" charset="0"/>
              </a:rPr>
              <a:t>:</a:t>
            </a:r>
            <a:r>
              <a:rPr lang="en-US" sz="2800" b="0" i="0" dirty="0" smtClean="0">
                <a:solidFill>
                  <a:srgbClr val="555555"/>
                </a:solidFill>
                <a:effectLst/>
                <a:latin typeface="Times New Roman" panose="02020603050405020304" pitchFamily="18" charset="0"/>
                <a:cs typeface="Times New Roman" panose="02020603050405020304" pitchFamily="18" charset="0"/>
              </a:rPr>
              <a:t> These 12 nerve pairs originate in </a:t>
            </a:r>
            <a:r>
              <a:rPr lang="en-US" sz="2800" dirty="0" smtClean="0">
                <a:solidFill>
                  <a:srgbClr val="555555"/>
                </a:solidFill>
                <a:latin typeface="Times New Roman" panose="02020603050405020304" pitchFamily="18" charset="0"/>
                <a:cs typeface="Times New Roman" panose="02020603050405020304" pitchFamily="18" charset="0"/>
              </a:rPr>
              <a:t>the </a:t>
            </a:r>
            <a:r>
              <a:rPr lang="en-US" sz="2800" b="0" i="0" dirty="0" smtClean="0">
                <a:solidFill>
                  <a:srgbClr val="555555"/>
                </a:solidFill>
                <a:effectLst/>
                <a:latin typeface="Times New Roman" panose="02020603050405020304" pitchFamily="18" charset="0"/>
                <a:cs typeface="Times New Roman" panose="02020603050405020304" pitchFamily="18" charset="0"/>
              </a:rPr>
              <a:t>brain and extend through the face, head and neck. </a:t>
            </a:r>
          </a:p>
          <a:p>
            <a:pPr>
              <a:buFont typeface="Arial" panose="020B0604020202020204" pitchFamily="34" charset="0"/>
              <a:buChar char="•"/>
            </a:pPr>
            <a:endParaRPr lang="en-US" sz="2800" dirty="0">
              <a:solidFill>
                <a:srgbClr val="555555"/>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0" i="0" dirty="0" smtClean="0">
                <a:solidFill>
                  <a:srgbClr val="555555"/>
                </a:solidFill>
                <a:effectLst/>
                <a:latin typeface="Times New Roman" panose="02020603050405020304" pitchFamily="18" charset="0"/>
                <a:cs typeface="Times New Roman" panose="02020603050405020304" pitchFamily="18" charset="0"/>
              </a:rPr>
              <a:t>Cranial nerves can have sensory functions, motor functions or both. For example, cranial nerves help to make facial expressions, move your eyes and process smells.</a:t>
            </a:r>
          </a:p>
        </p:txBody>
      </p:sp>
    </p:spTree>
    <p:extLst>
      <p:ext uri="{BB962C8B-B14F-4D97-AF65-F5344CB8AC3E}">
        <p14:creationId xmlns:p14="http://schemas.microsoft.com/office/powerpoint/2010/main" val="2455416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413338"/>
            <a:ext cx="12192000" cy="3108543"/>
          </a:xfrm>
          <a:prstGeom prst="rect">
            <a:avLst/>
          </a:prstGeom>
        </p:spPr>
        <p:txBody>
          <a:bodyPr wrap="square">
            <a:spAutoFit/>
          </a:bodyPr>
          <a:lstStyle/>
          <a:p>
            <a:r>
              <a:rPr lang="en-US" sz="2800" b="1" i="0" dirty="0" smtClean="0">
                <a:solidFill>
                  <a:srgbClr val="C00000"/>
                </a:solidFill>
                <a:effectLst/>
                <a:latin typeface="Times New Roman" panose="02020603050405020304" pitchFamily="18" charset="0"/>
                <a:cs typeface="Times New Roman" panose="02020603050405020304" pitchFamily="18" charset="0"/>
              </a:rPr>
              <a:t>Spinal nerves</a:t>
            </a:r>
            <a:r>
              <a:rPr lang="en-US" sz="2800" b="1" i="0" dirty="0" smtClean="0">
                <a:solidFill>
                  <a:srgbClr val="555555"/>
                </a:solidFill>
                <a:effectLst/>
                <a:latin typeface="Times New Roman" panose="02020603050405020304" pitchFamily="18" charset="0"/>
                <a:cs typeface="Times New Roman" panose="02020603050405020304" pitchFamily="18" charset="0"/>
              </a:rPr>
              <a:t>:</a:t>
            </a:r>
            <a:r>
              <a:rPr lang="en-US" sz="2800" b="0" i="0" dirty="0" smtClean="0">
                <a:solidFill>
                  <a:srgbClr val="555555"/>
                </a:solidFill>
                <a:effectLst/>
                <a:latin typeface="Times New Roman" panose="02020603050405020304" pitchFamily="18" charset="0"/>
                <a:cs typeface="Times New Roman" panose="02020603050405020304" pitchFamily="18" charset="0"/>
              </a:rPr>
              <a:t> 31 pairs of spinal nerves branching out from the spinal cord. </a:t>
            </a:r>
          </a:p>
          <a:p>
            <a:endParaRPr lang="en-US" sz="2800" b="0" i="0" dirty="0" smtClean="0">
              <a:solidFill>
                <a:srgbClr val="555555"/>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0" i="0" dirty="0" smtClean="0">
                <a:solidFill>
                  <a:srgbClr val="555555"/>
                </a:solidFill>
                <a:effectLst/>
                <a:latin typeface="Times New Roman" panose="02020603050405020304" pitchFamily="18" charset="0"/>
                <a:cs typeface="Times New Roman" panose="02020603050405020304" pitchFamily="18" charset="0"/>
              </a:rPr>
              <a:t>These nerves can provide sensory function, motor function or both. For example, spinal nerves may carry sensations from the joints and muscles to the spinal cord. </a:t>
            </a:r>
          </a:p>
          <a:p>
            <a:pPr>
              <a:buFont typeface="Arial" panose="020B0604020202020204" pitchFamily="34" charset="0"/>
              <a:buChar char="•"/>
            </a:pPr>
            <a:endParaRPr lang="en-US" sz="2800" dirty="0">
              <a:solidFill>
                <a:srgbClr val="555555"/>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0" i="0" dirty="0" smtClean="0">
                <a:solidFill>
                  <a:srgbClr val="555555"/>
                </a:solidFill>
                <a:effectLst/>
                <a:latin typeface="Times New Roman" panose="02020603050405020304" pitchFamily="18" charset="0"/>
                <a:cs typeface="Times New Roman" panose="02020603050405020304" pitchFamily="18" charset="0"/>
              </a:rPr>
              <a:t>Spinal nerves also control some of reflexes or involuntary responses, such as pulling your hand away from a hot stove.</a:t>
            </a:r>
            <a:endParaRPr lang="en-US" sz="2800" b="0" i="0" dirty="0">
              <a:solidFill>
                <a:srgbClr val="555555"/>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9959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377" y="0"/>
            <a:ext cx="12259377" cy="5755422"/>
          </a:xfrm>
          <a:prstGeom prst="rect">
            <a:avLst/>
          </a:prstGeom>
        </p:spPr>
        <p:txBody>
          <a:bodyPr wrap="square">
            <a:spAutoFit/>
          </a:bodyPr>
          <a:lstStyle/>
          <a:p>
            <a:r>
              <a:rPr lang="en-US" sz="4400" b="1" i="0" dirty="0" smtClean="0">
                <a:solidFill>
                  <a:srgbClr val="C00000"/>
                </a:solidFill>
                <a:effectLst/>
                <a:latin typeface="Times New Roman" panose="02020603050405020304" pitchFamily="18" charset="0"/>
                <a:cs typeface="Times New Roman" panose="02020603050405020304" pitchFamily="18" charset="0"/>
              </a:rPr>
              <a:t>Functions of the Nerves</a:t>
            </a:r>
          </a:p>
          <a:p>
            <a:endParaRPr lang="en-US" sz="4400" b="1" i="0" dirty="0" smtClean="0">
              <a:effectLst/>
              <a:latin typeface="Times New Roman" panose="02020603050405020304" pitchFamily="18" charset="0"/>
              <a:cs typeface="Times New Roman" panose="02020603050405020304" pitchFamily="18" charset="0"/>
            </a:endParaRPr>
          </a:p>
          <a:p>
            <a:r>
              <a:rPr lang="en-US" sz="2800" b="0" i="0" dirty="0" smtClean="0">
                <a:effectLst/>
                <a:latin typeface="Times New Roman" panose="02020603050405020304" pitchFamily="18" charset="0"/>
                <a:cs typeface="Times New Roman" panose="02020603050405020304" pitchFamily="18" charset="0"/>
              </a:rPr>
              <a:t>Nerves send electrical signals from one part of the body to another. These signals control:</a:t>
            </a:r>
          </a:p>
          <a:p>
            <a:pPr>
              <a:buFont typeface="Arial" panose="020B0604020202020204" pitchFamily="34" charset="0"/>
              <a:buChar char="•"/>
            </a:pPr>
            <a:r>
              <a:rPr lang="en-US" sz="2800" b="0" i="0" dirty="0" smtClean="0">
                <a:effectLst/>
                <a:latin typeface="Times New Roman" panose="02020603050405020304" pitchFamily="18" charset="0"/>
                <a:cs typeface="Times New Roman" panose="02020603050405020304" pitchFamily="18" charset="0"/>
              </a:rPr>
              <a:t>Voluntary movement.</a:t>
            </a:r>
          </a:p>
          <a:p>
            <a:pPr>
              <a:buFont typeface="Arial" panose="020B0604020202020204" pitchFamily="34" charset="0"/>
              <a:buChar char="•"/>
            </a:pPr>
            <a:r>
              <a:rPr lang="en-US" sz="2800" b="0" i="0" dirty="0" smtClean="0">
                <a:effectLst/>
                <a:latin typeface="Times New Roman" panose="02020603050405020304" pitchFamily="18" charset="0"/>
                <a:cs typeface="Times New Roman" panose="02020603050405020304" pitchFamily="18" charset="0"/>
              </a:rPr>
              <a:t>Senses (touch, pain, feeling hot or cold, vibration, hearing, sense of balance, taste, smell and sight).</a:t>
            </a:r>
          </a:p>
          <a:p>
            <a:pPr>
              <a:buFont typeface="Arial" panose="020B0604020202020204" pitchFamily="34" charset="0"/>
              <a:buChar char="•"/>
            </a:pPr>
            <a:r>
              <a:rPr lang="en-US" sz="2800" b="0" i="0" dirty="0" smtClean="0">
                <a:effectLst/>
                <a:latin typeface="Times New Roman" panose="02020603050405020304" pitchFamily="18" charset="0"/>
                <a:cs typeface="Times New Roman" panose="02020603050405020304" pitchFamily="18" charset="0"/>
              </a:rPr>
              <a:t>Blood pressure.</a:t>
            </a:r>
          </a:p>
          <a:p>
            <a:pPr>
              <a:buFont typeface="Arial" panose="020B0604020202020204" pitchFamily="34" charset="0"/>
              <a:buChar char="•"/>
            </a:pPr>
            <a:r>
              <a:rPr lang="en-US" sz="2800" b="0" i="0" dirty="0" smtClean="0">
                <a:effectLst/>
                <a:latin typeface="Times New Roman" panose="02020603050405020304" pitchFamily="18" charset="0"/>
                <a:cs typeface="Times New Roman" panose="02020603050405020304" pitchFamily="18" charset="0"/>
              </a:rPr>
              <a:t>Breathing.</a:t>
            </a:r>
          </a:p>
          <a:p>
            <a:pPr>
              <a:buFont typeface="Arial" panose="020B0604020202020204" pitchFamily="34" charset="0"/>
              <a:buChar char="•"/>
            </a:pPr>
            <a:r>
              <a:rPr lang="en-US" sz="2800" b="0" i="0" dirty="0" smtClean="0">
                <a:effectLst/>
                <a:latin typeface="Times New Roman" panose="02020603050405020304" pitchFamily="18" charset="0"/>
                <a:cs typeface="Times New Roman" panose="02020603050405020304" pitchFamily="18" charset="0"/>
              </a:rPr>
              <a:t>Digestion.</a:t>
            </a:r>
          </a:p>
          <a:p>
            <a:pPr>
              <a:buFont typeface="Arial" panose="020B0604020202020204" pitchFamily="34" charset="0"/>
              <a:buChar char="•"/>
            </a:pPr>
            <a:r>
              <a:rPr lang="en-US" sz="2800" b="0" i="0" dirty="0" smtClean="0">
                <a:effectLst/>
                <a:latin typeface="Times New Roman" panose="02020603050405020304" pitchFamily="18" charset="0"/>
                <a:cs typeface="Times New Roman" panose="02020603050405020304" pitchFamily="18" charset="0"/>
              </a:rPr>
              <a:t>Heart rate.</a:t>
            </a:r>
          </a:p>
          <a:p>
            <a:pPr>
              <a:buFont typeface="Arial" panose="020B0604020202020204" pitchFamily="34" charset="0"/>
              <a:buChar char="•"/>
            </a:pPr>
            <a:r>
              <a:rPr lang="en-US" sz="2800" b="0" i="0" dirty="0" smtClean="0">
                <a:effectLst/>
                <a:latin typeface="Times New Roman" panose="02020603050405020304" pitchFamily="18" charset="0"/>
                <a:cs typeface="Times New Roman" panose="02020603050405020304" pitchFamily="18" charset="0"/>
              </a:rPr>
              <a:t>Stress response.</a:t>
            </a:r>
            <a:endParaRPr lang="en-US" sz="28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7893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878" y="0"/>
            <a:ext cx="12002703" cy="6124754"/>
          </a:xfrm>
          <a:prstGeom prst="rect">
            <a:avLst/>
          </a:prstGeom>
        </p:spPr>
        <p:txBody>
          <a:bodyPr wrap="square">
            <a:spAutoFit/>
          </a:bodyPr>
          <a:lstStyle/>
          <a:p>
            <a:r>
              <a:rPr lang="en-US" sz="2800" b="0" i="0" dirty="0" smtClean="0">
                <a:solidFill>
                  <a:srgbClr val="555555"/>
                </a:solidFill>
                <a:effectLst/>
                <a:latin typeface="Times New Roman" panose="02020603050405020304" pitchFamily="18" charset="0"/>
                <a:cs typeface="Times New Roman" panose="02020603050405020304" pitchFamily="18" charset="0"/>
              </a:rPr>
              <a:t>nerves help the two parts of the nervous system communicate with each other:</a:t>
            </a:r>
          </a:p>
          <a:p>
            <a:endParaRPr lang="en-US" sz="2800" b="0" i="0" dirty="0" smtClean="0">
              <a:solidFill>
                <a:srgbClr val="555555"/>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0" i="0" dirty="0" smtClean="0">
                <a:solidFill>
                  <a:srgbClr val="555555"/>
                </a:solidFill>
                <a:effectLst/>
                <a:latin typeface="Times New Roman" panose="02020603050405020304" pitchFamily="18" charset="0"/>
                <a:cs typeface="Times New Roman" panose="02020603050405020304" pitchFamily="18" charset="0"/>
              </a:rPr>
              <a:t> </a:t>
            </a:r>
            <a:r>
              <a:rPr lang="en-US" sz="2800" b="1" i="0" dirty="0" smtClean="0">
                <a:solidFill>
                  <a:srgbClr val="555555"/>
                </a:solidFill>
                <a:effectLst/>
                <a:latin typeface="Times New Roman" panose="02020603050405020304" pitchFamily="18" charset="0"/>
                <a:cs typeface="Times New Roman" panose="02020603050405020304" pitchFamily="18" charset="0"/>
              </a:rPr>
              <a:t>peripheral nervous system </a:t>
            </a:r>
            <a:r>
              <a:rPr lang="en-US" sz="2800" b="0" i="0" dirty="0" smtClean="0">
                <a:solidFill>
                  <a:srgbClr val="555555"/>
                </a:solidFill>
                <a:effectLst/>
                <a:latin typeface="Times New Roman" panose="02020603050405020304" pitchFamily="18" charset="0"/>
                <a:cs typeface="Times New Roman" panose="02020603050405020304" pitchFamily="18" charset="0"/>
              </a:rPr>
              <a:t>is the network of nerves that transmit (carry) signals from all over the body to the spinal cord, which is part of the central nervous system.</a:t>
            </a:r>
          </a:p>
          <a:p>
            <a:pPr>
              <a:buFont typeface="Arial" panose="020B0604020202020204" pitchFamily="34" charset="0"/>
              <a:buChar char="•"/>
            </a:pPr>
            <a:endParaRPr lang="en-US" sz="2800" b="0" i="0" dirty="0" smtClean="0">
              <a:solidFill>
                <a:srgbClr val="555555"/>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0" i="0" dirty="0" smtClean="0">
                <a:solidFill>
                  <a:srgbClr val="555555"/>
                </a:solidFill>
                <a:effectLst/>
                <a:latin typeface="Times New Roman" panose="02020603050405020304" pitchFamily="18" charset="0"/>
                <a:cs typeface="Times New Roman" panose="02020603050405020304" pitchFamily="18" charset="0"/>
              </a:rPr>
              <a:t> </a:t>
            </a:r>
            <a:r>
              <a:rPr lang="en-US" sz="2800" b="1" i="0" dirty="0" smtClean="0">
                <a:solidFill>
                  <a:srgbClr val="555555"/>
                </a:solidFill>
                <a:effectLst/>
                <a:latin typeface="Times New Roman" panose="02020603050405020304" pitchFamily="18" charset="0"/>
                <a:cs typeface="Times New Roman" panose="02020603050405020304" pitchFamily="18" charset="0"/>
              </a:rPr>
              <a:t>central nervous system </a:t>
            </a:r>
            <a:r>
              <a:rPr lang="en-US" sz="2800" b="0" i="0" dirty="0" smtClean="0">
                <a:solidFill>
                  <a:srgbClr val="555555"/>
                </a:solidFill>
                <a:effectLst/>
                <a:latin typeface="Times New Roman" panose="02020603050405020304" pitchFamily="18" charset="0"/>
                <a:cs typeface="Times New Roman" panose="02020603050405020304" pitchFamily="18" charset="0"/>
              </a:rPr>
              <a:t>is the brain and spinal cord. It receives and interprets nerve signals from the peripheral nervous system.</a:t>
            </a:r>
          </a:p>
          <a:p>
            <a:pPr>
              <a:buFont typeface="Arial" panose="020B0604020202020204" pitchFamily="34" charset="0"/>
              <a:buChar char="•"/>
            </a:pPr>
            <a:endParaRPr lang="en-US" sz="2800" b="0" i="0" dirty="0" smtClean="0">
              <a:solidFill>
                <a:srgbClr val="555555"/>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0" i="0" dirty="0" smtClean="0">
                <a:solidFill>
                  <a:srgbClr val="555555"/>
                </a:solidFill>
                <a:effectLst/>
                <a:latin typeface="Times New Roman" panose="02020603050405020304" pitchFamily="18" charset="0"/>
                <a:cs typeface="Times New Roman" panose="02020603050405020304" pitchFamily="18" charset="0"/>
              </a:rPr>
              <a:t> </a:t>
            </a:r>
            <a:r>
              <a:rPr lang="en-US" sz="2800" dirty="0" smtClean="0">
                <a:solidFill>
                  <a:srgbClr val="555555"/>
                </a:solidFill>
                <a:latin typeface="Times New Roman" panose="02020603050405020304" pitchFamily="18" charset="0"/>
                <a:cs typeface="Times New Roman" panose="02020603050405020304" pitchFamily="18" charset="0"/>
              </a:rPr>
              <a:t>the</a:t>
            </a:r>
            <a:r>
              <a:rPr lang="en-US" sz="2800" b="0" i="0" dirty="0" smtClean="0">
                <a:solidFill>
                  <a:srgbClr val="555555"/>
                </a:solidFill>
                <a:effectLst/>
                <a:latin typeface="Times New Roman" panose="02020603050405020304" pitchFamily="18" charset="0"/>
                <a:cs typeface="Times New Roman" panose="02020603050405020304" pitchFamily="18" charset="0"/>
              </a:rPr>
              <a:t> brain integrates these messages (inputs) to inform everything done, including  movements, feeling, behavior and thinking. </a:t>
            </a:r>
          </a:p>
          <a:p>
            <a:pPr>
              <a:buFont typeface="Arial" panose="020B0604020202020204" pitchFamily="34" charset="0"/>
              <a:buChar char="•"/>
            </a:pPr>
            <a:endParaRPr lang="en-US" sz="2800" b="0" i="0" dirty="0" smtClean="0">
              <a:solidFill>
                <a:srgbClr val="555555"/>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0" i="0" dirty="0" smtClean="0">
                <a:solidFill>
                  <a:srgbClr val="555555"/>
                </a:solidFill>
                <a:effectLst/>
                <a:latin typeface="Times New Roman" panose="02020603050405020304" pitchFamily="18" charset="0"/>
                <a:cs typeface="Times New Roman" panose="02020603050405020304" pitchFamily="18" charset="0"/>
              </a:rPr>
              <a:t>Some reactions are reflexive, happening below the level of consciousness, like moving your hand away from a hot stove.</a:t>
            </a:r>
            <a:endParaRPr lang="en-US" sz="2800" b="0" i="0" dirty="0">
              <a:solidFill>
                <a:srgbClr val="555555"/>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8410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lide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12021953" cy="6689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750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5878"/>
            <a:ext cx="12192000" cy="6071085"/>
          </a:xfrm>
        </p:spPr>
        <p:txBody>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nervous system</a:t>
            </a:r>
            <a:r>
              <a:rPr lang="en-US" dirty="0">
                <a:latin typeface="Times New Roman" panose="02020603050405020304" pitchFamily="18" charset="0"/>
                <a:cs typeface="Times New Roman" panose="02020603050405020304" pitchFamily="18" charset="0"/>
              </a:rPr>
              <a:t> allows us to perceive, understand, and respond to our environment. It comprises two different types of cells</a:t>
            </a:r>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Nerve cells (</a:t>
            </a:r>
            <a:r>
              <a:rPr lang="en-US" b="1" dirty="0" err="1">
                <a:latin typeface="Times New Roman" panose="02020603050405020304" pitchFamily="18" charset="0"/>
                <a:cs typeface="Times New Roman" panose="02020603050405020304" pitchFamily="18" charset="0"/>
              </a:rPr>
              <a:t>neurones</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 these form the functional basis of the nervous system, responsible for transmitting signals as electrical or chemical signals</a:t>
            </a:r>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Glial cells</a:t>
            </a:r>
            <a:r>
              <a:rPr lang="en-US" dirty="0">
                <a:latin typeface="Times New Roman" panose="02020603050405020304" pitchFamily="18" charset="0"/>
                <a:cs typeface="Times New Roman" panose="02020603050405020304" pitchFamily="18" charset="0"/>
              </a:rPr>
              <a:t> – these provide functional and structural support for the </a:t>
            </a:r>
            <a:r>
              <a:rPr lang="en-US" dirty="0" err="1">
                <a:latin typeface="Times New Roman" panose="02020603050405020304" pitchFamily="18" charset="0"/>
                <a:cs typeface="Times New Roman" panose="02020603050405020304" pitchFamily="18" charset="0"/>
              </a:rPr>
              <a:t>neurones</a:t>
            </a:r>
            <a:r>
              <a:rPr lang="en-US" dirty="0">
                <a:latin typeface="Times New Roman" panose="02020603050405020304" pitchFamily="18" charset="0"/>
                <a:cs typeface="Times New Roman" panose="02020603050405020304" pitchFamily="18" charset="0"/>
              </a:rPr>
              <a:t>. One example is a Schwann cell, which produces the lipid sheath of peripheral </a:t>
            </a:r>
            <a:r>
              <a:rPr lang="en-US" dirty="0" err="1">
                <a:latin typeface="Times New Roman" panose="02020603050405020304" pitchFamily="18" charset="0"/>
                <a:cs typeface="Times New Roman" panose="02020603050405020304" pitchFamily="18" charset="0"/>
              </a:rPr>
              <a:t>neurones</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61178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lide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8383" y="279133"/>
            <a:ext cx="11502189" cy="5888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8865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9185" y="67377"/>
            <a:ext cx="11809396" cy="6622180"/>
          </a:xfrm>
        </p:spPr>
        <p:txBody>
          <a:bodyPr>
            <a:noAutofit/>
          </a:bodyPr>
          <a:lstStyle/>
          <a:p>
            <a:pPr marL="0" indent="0">
              <a:buNone/>
            </a:pPr>
            <a:r>
              <a:rPr lang="en-US" b="1" dirty="0">
                <a:solidFill>
                  <a:srgbClr val="C00000"/>
                </a:solidFill>
                <a:latin typeface="Times New Roman" panose="02020603050405020304" pitchFamily="18" charset="0"/>
                <a:cs typeface="Times New Roman" panose="02020603050405020304" pitchFamily="18" charset="0"/>
              </a:rPr>
              <a:t>Neuronal </a:t>
            </a:r>
            <a:r>
              <a:rPr lang="en-US" b="1" dirty="0" smtClean="0">
                <a:solidFill>
                  <a:srgbClr val="C00000"/>
                </a:solidFill>
                <a:latin typeface="Times New Roman" panose="02020603050405020304" pitchFamily="18" charset="0"/>
                <a:cs typeface="Times New Roman" panose="02020603050405020304" pitchFamily="18" charset="0"/>
              </a:rPr>
              <a:t>Structure</a:t>
            </a:r>
          </a:p>
          <a:p>
            <a:pPr marL="0" indent="0">
              <a:buNone/>
            </a:pPr>
            <a:endParaRPr lang="en-US" b="1" dirty="0">
              <a:solidFill>
                <a:srgbClr val="C0000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There are several different types of </a:t>
            </a:r>
            <a:r>
              <a:rPr lang="en-US" dirty="0" err="1">
                <a:latin typeface="Times New Roman" panose="02020603050405020304" pitchFamily="18" charset="0"/>
                <a:cs typeface="Times New Roman" panose="02020603050405020304" pitchFamily="18" charset="0"/>
              </a:rPr>
              <a:t>neurones</a:t>
            </a:r>
            <a:r>
              <a:rPr lang="en-US" dirty="0">
                <a:latin typeface="Times New Roman" panose="02020603050405020304" pitchFamily="18" charset="0"/>
                <a:cs typeface="Times New Roman" panose="02020603050405020304" pitchFamily="18" charset="0"/>
              </a:rPr>
              <a:t> found in the nervous system. They all contain the same key structural components – the cell body, dendrites, the axon and the axon terminals.</a:t>
            </a:r>
          </a:p>
          <a:p>
            <a:r>
              <a:rPr lang="en-US" b="1" dirty="0">
                <a:latin typeface="Times New Roman" panose="02020603050405020304" pitchFamily="18" charset="0"/>
                <a:cs typeface="Times New Roman" panose="02020603050405020304" pitchFamily="18" charset="0"/>
              </a:rPr>
              <a:t>Cell Body</a:t>
            </a:r>
          </a:p>
          <a:p>
            <a:r>
              <a:rPr lang="en-US" dirty="0">
                <a:latin typeface="Times New Roman" panose="02020603050405020304" pitchFamily="18" charset="0"/>
                <a:cs typeface="Times New Roman" panose="02020603050405020304" pitchFamily="18" charset="0"/>
              </a:rPr>
              <a:t>The cell body holds the nucleus. It is the site of protein synthesis, which occurs on small granules of rough endoplasmic reticulum called </a:t>
            </a:r>
            <a:r>
              <a:rPr lang="en-US" b="1" dirty="0" err="1">
                <a:latin typeface="Times New Roman" panose="02020603050405020304" pitchFamily="18" charset="0"/>
                <a:cs typeface="Times New Roman" panose="02020603050405020304" pitchFamily="18" charset="0"/>
              </a:rPr>
              <a:t>nissl</a:t>
            </a:r>
            <a:r>
              <a:rPr lang="en-US" b="1" dirty="0">
                <a:latin typeface="Times New Roman" panose="02020603050405020304" pitchFamily="18" charset="0"/>
                <a:cs typeface="Times New Roman" panose="02020603050405020304" pitchFamily="18" charset="0"/>
              </a:rPr>
              <a:t> substance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In the nervous system, many neuronal cell bodies can group together to form a distinct structure. In the CNS, this is known as a </a:t>
            </a:r>
            <a:r>
              <a:rPr lang="en-US" b="1" dirty="0">
                <a:latin typeface="Times New Roman" panose="02020603050405020304" pitchFamily="18" charset="0"/>
                <a:cs typeface="Times New Roman" panose="02020603050405020304" pitchFamily="18" charset="0"/>
              </a:rPr>
              <a:t>nucleus</a:t>
            </a:r>
            <a:r>
              <a:rPr lang="en-US" dirty="0">
                <a:latin typeface="Times New Roman" panose="02020603050405020304" pitchFamily="18" charset="0"/>
                <a:cs typeface="Times New Roman" panose="02020603050405020304" pitchFamily="18" charset="0"/>
              </a:rPr>
              <a:t>, and in the PNS as a </a:t>
            </a:r>
            <a:r>
              <a:rPr lang="en-US" b="1" dirty="0">
                <a:latin typeface="Times New Roman" panose="02020603050405020304" pitchFamily="18" charset="0"/>
                <a:cs typeface="Times New Roman" panose="02020603050405020304" pitchFamily="18" charset="0"/>
              </a:rPr>
              <a:t>ganglion</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07918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14500" y="866775"/>
            <a:ext cx="8763000" cy="5124450"/>
          </a:xfrm>
          <a:prstGeom prst="rect">
            <a:avLst/>
          </a:prstGeom>
        </p:spPr>
      </p:pic>
    </p:spTree>
    <p:extLst>
      <p:ext uri="{BB962C8B-B14F-4D97-AF65-F5344CB8AC3E}">
        <p14:creationId xmlns:p14="http://schemas.microsoft.com/office/powerpoint/2010/main" val="3847706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player.slideplayer.com/97/16860250/slides/slide_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4753"/>
            <a:ext cx="12349213" cy="6535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3834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5063" y="381834"/>
            <a:ext cx="10515600" cy="6476165"/>
          </a:xfrm>
        </p:spPr>
        <p:txBody>
          <a:bodyPr>
            <a:noAutofit/>
          </a:bodyPr>
          <a:lstStyle/>
          <a:p>
            <a:pPr marL="0" indent="0">
              <a:buNone/>
            </a:pPr>
            <a:r>
              <a:rPr lang="en-US" b="1" dirty="0">
                <a:solidFill>
                  <a:srgbClr val="C00000"/>
                </a:solidFill>
                <a:latin typeface="Times New Roman" panose="02020603050405020304" pitchFamily="18" charset="0"/>
                <a:cs typeface="Times New Roman" panose="02020603050405020304" pitchFamily="18" charset="0"/>
              </a:rPr>
              <a:t>Dendrites</a:t>
            </a: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dendrites</a:t>
            </a:r>
            <a:r>
              <a:rPr lang="en-US" dirty="0">
                <a:latin typeface="Times New Roman" panose="02020603050405020304" pitchFamily="18" charset="0"/>
                <a:cs typeface="Times New Roman" panose="02020603050405020304" pitchFamily="18" charset="0"/>
              </a:rPr>
              <a:t> are elongated portions of the cell body. They extend outwards, receiving input from the environment and from other </a:t>
            </a:r>
            <a:r>
              <a:rPr lang="en-US" dirty="0" err="1">
                <a:latin typeface="Times New Roman" panose="02020603050405020304" pitchFamily="18" charset="0"/>
                <a:cs typeface="Times New Roman" panose="02020603050405020304" pitchFamily="18" charset="0"/>
              </a:rPr>
              <a:t>neurones</a:t>
            </a:r>
            <a:r>
              <a:rPr lang="en-US" dirty="0">
                <a:latin typeface="Times New Roman" panose="02020603050405020304" pitchFamily="18" charset="0"/>
                <a:cs typeface="Times New Roman" panose="02020603050405020304" pitchFamily="18" charset="0"/>
              </a:rPr>
              <a:t>.</a:t>
            </a:r>
          </a:p>
          <a:p>
            <a:pPr marL="0" indent="0">
              <a:buNone/>
            </a:pPr>
            <a:r>
              <a:rPr lang="en-US" b="1" dirty="0">
                <a:solidFill>
                  <a:srgbClr val="C00000"/>
                </a:solidFill>
                <a:latin typeface="Times New Roman" panose="02020603050405020304" pitchFamily="18" charset="0"/>
                <a:cs typeface="Times New Roman" panose="02020603050405020304" pitchFamily="18" charset="0"/>
              </a:rPr>
              <a:t>Axons</a:t>
            </a: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axon</a:t>
            </a:r>
            <a:r>
              <a:rPr lang="en-US" dirty="0">
                <a:latin typeface="Times New Roman" panose="02020603050405020304" pitchFamily="18" charset="0"/>
                <a:cs typeface="Times New Roman" panose="02020603050405020304" pitchFamily="18" charset="0"/>
              </a:rPr>
              <a:t> is a long, thin structure down which action potentials (the nerve impulse) are conducted. Whilst </a:t>
            </a:r>
            <a:r>
              <a:rPr lang="en-US" dirty="0" err="1">
                <a:latin typeface="Times New Roman" panose="02020603050405020304" pitchFamily="18" charset="0"/>
                <a:cs typeface="Times New Roman" panose="02020603050405020304" pitchFamily="18" charset="0"/>
              </a:rPr>
              <a:t>neurones</a:t>
            </a:r>
            <a:r>
              <a:rPr lang="en-US" dirty="0">
                <a:latin typeface="Times New Roman" panose="02020603050405020304" pitchFamily="18" charset="0"/>
                <a:cs typeface="Times New Roman" panose="02020603050405020304" pitchFamily="18" charset="0"/>
              </a:rPr>
              <a:t> have many dendrites, most cells only have one axon.</a:t>
            </a:r>
          </a:p>
          <a:p>
            <a:r>
              <a:rPr lang="en-US" dirty="0">
                <a:latin typeface="Times New Roman" panose="02020603050405020304" pitchFamily="18" charset="0"/>
                <a:cs typeface="Times New Roman" panose="02020603050405020304" pitchFamily="18" charset="0"/>
              </a:rPr>
              <a:t>Each axon is coated in </a:t>
            </a:r>
            <a:r>
              <a:rPr lang="en-US" b="1" dirty="0">
                <a:latin typeface="Times New Roman" panose="02020603050405020304" pitchFamily="18" charset="0"/>
                <a:cs typeface="Times New Roman" panose="02020603050405020304" pitchFamily="18" charset="0"/>
              </a:rPr>
              <a:t>myelin </a:t>
            </a:r>
            <a:r>
              <a:rPr lang="en-US" dirty="0">
                <a:latin typeface="Times New Roman" panose="02020603050405020304" pitchFamily="18" charset="0"/>
                <a:cs typeface="Times New Roman" panose="02020603050405020304" pitchFamily="18" charset="0"/>
              </a:rPr>
              <a:t>– a layer of insulating lipid. Myelin is formed by cells wrapping themselves around the nerve axon. In the CNS, this is performed by </a:t>
            </a:r>
            <a:r>
              <a:rPr lang="en-US" b="1" dirty="0" err="1">
                <a:latin typeface="Times New Roman" panose="02020603050405020304" pitchFamily="18" charset="0"/>
                <a:cs typeface="Times New Roman" panose="02020603050405020304" pitchFamily="18" charset="0"/>
              </a:rPr>
              <a:t>oligodendrocyte</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cells. In the PNS, </a:t>
            </a:r>
            <a:r>
              <a:rPr lang="en-US" b="1" dirty="0">
                <a:latin typeface="Times New Roman" panose="02020603050405020304" pitchFamily="18" charset="0"/>
                <a:cs typeface="Times New Roman" panose="02020603050405020304" pitchFamily="18" charset="0"/>
              </a:rPr>
              <a:t>Schwann cells</a:t>
            </a:r>
            <a:r>
              <a:rPr lang="en-US" dirty="0">
                <a:latin typeface="Times New Roman" panose="02020603050405020304" pitchFamily="18" charset="0"/>
                <a:cs typeface="Times New Roman" panose="02020603050405020304" pitchFamily="18" charset="0"/>
              </a:rPr>
              <a:t> are responsible for this action.</a:t>
            </a:r>
          </a:p>
          <a:p>
            <a:r>
              <a:rPr lang="en-US" dirty="0">
                <a:latin typeface="Times New Roman" panose="02020603050405020304" pitchFamily="18" charset="0"/>
                <a:cs typeface="Times New Roman" panose="02020603050405020304" pitchFamily="18" charset="0"/>
              </a:rPr>
              <a:t>There are gaps between the myelin sheaths formed by different cells. These gaps are known as </a:t>
            </a:r>
            <a:r>
              <a:rPr lang="en-US" b="1" dirty="0">
                <a:latin typeface="Times New Roman" panose="02020603050405020304" pitchFamily="18" charset="0"/>
                <a:cs typeface="Times New Roman" panose="02020603050405020304" pitchFamily="18" charset="0"/>
              </a:rPr>
              <a:t>nodes of Ranvier</a:t>
            </a:r>
            <a:r>
              <a:rPr lang="en-US" dirty="0">
                <a:latin typeface="Times New Roman" panose="02020603050405020304" pitchFamily="18" charset="0"/>
                <a:cs typeface="Times New Roman" panose="02020603050405020304" pitchFamily="18" charset="0"/>
              </a:rPr>
              <a:t>. They allow for </a:t>
            </a:r>
            <a:r>
              <a:rPr lang="en-US" dirty="0" err="1">
                <a:latin typeface="Times New Roman" panose="02020603050405020304" pitchFamily="18" charset="0"/>
                <a:cs typeface="Times New Roman" panose="02020603050405020304" pitchFamily="18" charset="0"/>
              </a:rPr>
              <a:t>saltatory</a:t>
            </a:r>
            <a:r>
              <a:rPr lang="en-US" dirty="0">
                <a:latin typeface="Times New Roman" panose="02020603050405020304" pitchFamily="18" charset="0"/>
                <a:cs typeface="Times New Roman" panose="02020603050405020304" pitchFamily="18" charset="0"/>
              </a:rPr>
              <a:t> conduction of </a:t>
            </a:r>
            <a:r>
              <a:rPr lang="en-US" dirty="0" smtClean="0">
                <a:latin typeface="Times New Roman" panose="02020603050405020304" pitchFamily="18" charset="0"/>
                <a:cs typeface="Times New Roman" panose="02020603050405020304" pitchFamily="18" charset="0"/>
              </a:rPr>
              <a:t>impulses.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9836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377" y="182880"/>
            <a:ext cx="11993078" cy="5994083"/>
          </a:xfrm>
        </p:spPr>
        <p:txBody>
          <a:bodyPr/>
          <a:lstStyle/>
          <a:p>
            <a:pPr marL="0" indent="0">
              <a:buNone/>
            </a:pPr>
            <a:r>
              <a:rPr lang="en-US" b="1" dirty="0">
                <a:latin typeface="Times New Roman" panose="02020603050405020304" pitchFamily="18" charset="0"/>
                <a:cs typeface="Times New Roman" panose="02020603050405020304" pitchFamily="18" charset="0"/>
              </a:rPr>
              <a:t>Axon Terminals</a:t>
            </a:r>
          </a:p>
          <a:p>
            <a:r>
              <a:rPr lang="en-US" dirty="0">
                <a:latin typeface="Times New Roman" panose="02020603050405020304" pitchFamily="18" charset="0"/>
                <a:cs typeface="Times New Roman" panose="02020603050405020304" pitchFamily="18" charset="0"/>
              </a:rPr>
              <a:t>The</a:t>
            </a:r>
            <a:r>
              <a:rPr lang="en-US" b="1" dirty="0">
                <a:latin typeface="Times New Roman" panose="02020603050405020304" pitchFamily="18" charset="0"/>
                <a:cs typeface="Times New Roman" panose="02020603050405020304" pitchFamily="18" charset="0"/>
              </a:rPr>
              <a:t> axon terminal</a:t>
            </a:r>
            <a:r>
              <a:rPr lang="en-US" dirty="0">
                <a:latin typeface="Times New Roman" panose="02020603050405020304" pitchFamily="18" charset="0"/>
                <a:cs typeface="Times New Roman" panose="02020603050405020304" pitchFamily="18" charset="0"/>
              </a:rPr>
              <a:t> is the most distal part of the axon. It is from here that the </a:t>
            </a:r>
            <a:r>
              <a:rPr lang="en-US" dirty="0" err="1">
                <a:latin typeface="Times New Roman" panose="02020603050405020304" pitchFamily="18" charset="0"/>
                <a:cs typeface="Times New Roman" panose="02020603050405020304" pitchFamily="18" charset="0"/>
              </a:rPr>
              <a:t>neurone</a:t>
            </a:r>
            <a:r>
              <a:rPr lang="en-US" dirty="0">
                <a:latin typeface="Times New Roman" panose="02020603050405020304" pitchFamily="18" charset="0"/>
                <a:cs typeface="Times New Roman" panose="02020603050405020304" pitchFamily="18" charset="0"/>
              </a:rPr>
              <a:t> sends chemical signals to other cells – usually via neurotransmitter release.</a:t>
            </a:r>
          </a:p>
          <a:p>
            <a:r>
              <a:rPr lang="en-US" dirty="0">
                <a:latin typeface="Times New Roman" panose="02020603050405020304" pitchFamily="18" charset="0"/>
                <a:cs typeface="Times New Roman" panose="02020603050405020304" pitchFamily="18" charset="0"/>
              </a:rPr>
              <a:t>To facilitate the secretion of neurotransmitters, the axon terminals contain a large number of </a:t>
            </a:r>
            <a:r>
              <a:rPr lang="en-US" b="1" dirty="0">
                <a:latin typeface="Times New Roman" panose="02020603050405020304" pitchFamily="18" charset="0"/>
                <a:cs typeface="Times New Roman" panose="02020603050405020304" pitchFamily="18" charset="0"/>
              </a:rPr>
              <a:t>mitochondria</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48439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96303"/>
            <a:ext cx="12192000" cy="6247864"/>
          </a:xfrm>
          <a:prstGeom prst="rect">
            <a:avLst/>
          </a:prstGeom>
        </p:spPr>
        <p:txBody>
          <a:bodyPr wrap="square">
            <a:spAutoFit/>
          </a:bodyPr>
          <a:lstStyle/>
          <a:p>
            <a:r>
              <a:rPr lang="en-US" sz="3600" b="1" i="0" dirty="0" smtClean="0">
                <a:solidFill>
                  <a:srgbClr val="C00000"/>
                </a:solidFill>
                <a:effectLst/>
                <a:latin typeface="Times New Roman" panose="02020603050405020304" pitchFamily="18" charset="0"/>
                <a:cs typeface="Times New Roman" panose="02020603050405020304" pitchFamily="18" charset="0"/>
              </a:rPr>
              <a:t>Classification</a:t>
            </a:r>
          </a:p>
          <a:p>
            <a:r>
              <a:rPr lang="en-US" sz="2800" b="0" i="0" dirty="0" err="1" smtClean="0">
                <a:solidFill>
                  <a:srgbClr val="000000"/>
                </a:solidFill>
                <a:effectLst/>
                <a:latin typeface="Times New Roman" panose="02020603050405020304" pitchFamily="18" charset="0"/>
                <a:cs typeface="Times New Roman" panose="02020603050405020304" pitchFamily="18" charset="0"/>
              </a:rPr>
              <a:t>Neurones</a:t>
            </a:r>
            <a:r>
              <a:rPr lang="en-US" sz="2800" b="0" i="0" dirty="0" smtClean="0">
                <a:solidFill>
                  <a:srgbClr val="000000"/>
                </a:solidFill>
                <a:effectLst/>
                <a:latin typeface="Times New Roman" panose="02020603050405020304" pitchFamily="18" charset="0"/>
                <a:cs typeface="Times New Roman" panose="02020603050405020304" pitchFamily="18" charset="0"/>
              </a:rPr>
              <a:t> can be classified by </a:t>
            </a:r>
            <a:r>
              <a:rPr lang="en-US" sz="2800" b="1" i="0" dirty="0" smtClean="0">
                <a:solidFill>
                  <a:srgbClr val="C00000"/>
                </a:solidFill>
                <a:effectLst/>
                <a:latin typeface="Times New Roman" panose="02020603050405020304" pitchFamily="18" charset="0"/>
                <a:cs typeface="Times New Roman" panose="02020603050405020304" pitchFamily="18" charset="0"/>
              </a:rPr>
              <a:t>structure</a:t>
            </a:r>
            <a:r>
              <a:rPr lang="en-US" sz="2800" b="0" i="0" dirty="0" smtClean="0">
                <a:solidFill>
                  <a:srgbClr val="000000"/>
                </a:solidFill>
                <a:effectLst/>
                <a:latin typeface="Times New Roman" panose="02020603050405020304" pitchFamily="18" charset="0"/>
                <a:cs typeface="Times New Roman" panose="02020603050405020304" pitchFamily="18" charset="0"/>
              </a:rPr>
              <a:t> or by </a:t>
            </a:r>
            <a:r>
              <a:rPr lang="en-US" sz="2800" b="0" i="0" dirty="0" smtClean="0">
                <a:solidFill>
                  <a:srgbClr val="C00000"/>
                </a:solidFill>
                <a:effectLst/>
                <a:latin typeface="Times New Roman" panose="02020603050405020304" pitchFamily="18" charset="0"/>
                <a:cs typeface="Times New Roman" panose="02020603050405020304" pitchFamily="18" charset="0"/>
              </a:rPr>
              <a:t>function</a:t>
            </a:r>
            <a:r>
              <a:rPr lang="en-US" sz="2800" b="0" i="0" dirty="0" smtClean="0">
                <a:solidFill>
                  <a:srgbClr val="000000"/>
                </a:solidFill>
                <a:effectLst/>
                <a:latin typeface="Times New Roman" panose="02020603050405020304" pitchFamily="18" charset="0"/>
                <a:cs typeface="Times New Roman" panose="02020603050405020304" pitchFamily="18" charset="0"/>
              </a:rPr>
              <a:t>. </a:t>
            </a:r>
            <a:r>
              <a:rPr lang="en-US" sz="2800" b="0" i="0" dirty="0" err="1" smtClean="0">
                <a:solidFill>
                  <a:srgbClr val="000000"/>
                </a:solidFill>
                <a:effectLst/>
                <a:latin typeface="Times New Roman" panose="02020603050405020304" pitchFamily="18" charset="0"/>
                <a:cs typeface="Times New Roman" panose="02020603050405020304" pitchFamily="18" charset="0"/>
              </a:rPr>
              <a:t>Neurones</a:t>
            </a:r>
            <a:r>
              <a:rPr lang="en-US" sz="2800" b="0" i="0" dirty="0" smtClean="0">
                <a:solidFill>
                  <a:srgbClr val="000000"/>
                </a:solidFill>
                <a:effectLst/>
                <a:latin typeface="Times New Roman" panose="02020603050405020304" pitchFamily="18" charset="0"/>
                <a:cs typeface="Times New Roman" panose="02020603050405020304" pitchFamily="18" charset="0"/>
              </a:rPr>
              <a:t> with different functions  have differing structures, which is visible histologically.</a:t>
            </a:r>
          </a:p>
          <a:p>
            <a:r>
              <a:rPr lang="en-US" sz="2800" b="1" i="0" dirty="0" smtClean="0">
                <a:solidFill>
                  <a:srgbClr val="C00000"/>
                </a:solidFill>
                <a:effectLst/>
                <a:latin typeface="Times New Roman" panose="02020603050405020304" pitchFamily="18" charset="0"/>
                <a:cs typeface="Times New Roman" panose="02020603050405020304" pitchFamily="18" charset="0"/>
              </a:rPr>
              <a:t>Structural Classification</a:t>
            </a:r>
          </a:p>
          <a:p>
            <a:r>
              <a:rPr lang="en-US" sz="2800" b="0" i="0" dirty="0" err="1" smtClean="0">
                <a:solidFill>
                  <a:srgbClr val="000000"/>
                </a:solidFill>
                <a:effectLst/>
                <a:latin typeface="Times New Roman" panose="02020603050405020304" pitchFamily="18" charset="0"/>
                <a:cs typeface="Times New Roman" panose="02020603050405020304" pitchFamily="18" charset="0"/>
              </a:rPr>
              <a:t>Neurones</a:t>
            </a:r>
            <a:r>
              <a:rPr lang="en-US" sz="2800" b="0" i="0" dirty="0" smtClean="0">
                <a:solidFill>
                  <a:srgbClr val="000000"/>
                </a:solidFill>
                <a:effectLst/>
                <a:latin typeface="Times New Roman" panose="02020603050405020304" pitchFamily="18" charset="0"/>
                <a:cs typeface="Times New Roman" panose="02020603050405020304" pitchFamily="18" charset="0"/>
              </a:rPr>
              <a:t> can be either unipolar, </a:t>
            </a:r>
            <a:r>
              <a:rPr lang="en-US" sz="2800" b="0" i="0" dirty="0" err="1" smtClean="0">
                <a:solidFill>
                  <a:srgbClr val="000000"/>
                </a:solidFill>
                <a:effectLst/>
                <a:latin typeface="Times New Roman" panose="02020603050405020304" pitchFamily="18" charset="0"/>
                <a:cs typeface="Times New Roman" panose="02020603050405020304" pitchFamily="18" charset="0"/>
              </a:rPr>
              <a:t>pseudounipolar</a:t>
            </a:r>
            <a:r>
              <a:rPr lang="en-US" sz="2800" b="0" i="0" dirty="0" smtClean="0">
                <a:solidFill>
                  <a:srgbClr val="000000"/>
                </a:solidFill>
                <a:effectLst/>
                <a:latin typeface="Times New Roman" panose="02020603050405020304" pitchFamily="18" charset="0"/>
                <a:cs typeface="Times New Roman" panose="02020603050405020304" pitchFamily="18" charset="0"/>
              </a:rPr>
              <a:t>, bipolar or multipolar.</a:t>
            </a:r>
          </a:p>
          <a:p>
            <a:pPr>
              <a:buFont typeface="Arial" panose="020B0604020202020204" pitchFamily="34" charset="0"/>
              <a:buChar char="•"/>
            </a:pPr>
            <a:r>
              <a:rPr lang="en-US" sz="2800" b="1" i="0" dirty="0" smtClean="0">
                <a:solidFill>
                  <a:srgbClr val="000000"/>
                </a:solidFill>
                <a:effectLst/>
                <a:latin typeface="Times New Roman" panose="02020603050405020304" pitchFamily="18" charset="0"/>
                <a:cs typeface="Times New Roman" panose="02020603050405020304" pitchFamily="18" charset="0"/>
              </a:rPr>
              <a:t>Unipolar </a:t>
            </a:r>
            <a:r>
              <a:rPr lang="en-US" sz="2800" b="0" i="0" dirty="0" smtClean="0">
                <a:solidFill>
                  <a:srgbClr val="000000"/>
                </a:solidFill>
                <a:effectLst/>
                <a:latin typeface="Times New Roman" panose="02020603050405020304" pitchFamily="18" charset="0"/>
                <a:cs typeface="Times New Roman" panose="02020603050405020304" pitchFamily="18" charset="0"/>
              </a:rPr>
              <a:t>– Here the cell body is at one end of a single unbranched axon, and there are no dendrites. These can be found in the cochlear nucleus of the brain.</a:t>
            </a:r>
          </a:p>
          <a:p>
            <a:pPr>
              <a:buFont typeface="Arial" panose="020B0604020202020204" pitchFamily="34" charset="0"/>
              <a:buChar char="•"/>
            </a:pPr>
            <a:r>
              <a:rPr lang="en-US" sz="2800" b="1" i="0" dirty="0" err="1" smtClean="0">
                <a:solidFill>
                  <a:srgbClr val="000000"/>
                </a:solidFill>
                <a:effectLst/>
                <a:latin typeface="Times New Roman" panose="02020603050405020304" pitchFamily="18" charset="0"/>
                <a:cs typeface="Times New Roman" panose="02020603050405020304" pitchFamily="18" charset="0"/>
              </a:rPr>
              <a:t>Pseudounipolar</a:t>
            </a:r>
            <a:r>
              <a:rPr lang="en-US" sz="2800" b="0" i="0" dirty="0" smtClean="0">
                <a:solidFill>
                  <a:srgbClr val="000000"/>
                </a:solidFill>
                <a:effectLst/>
                <a:latin typeface="Times New Roman" panose="02020603050405020304" pitchFamily="18" charset="0"/>
                <a:cs typeface="Times New Roman" panose="02020603050405020304" pitchFamily="18" charset="0"/>
              </a:rPr>
              <a:t> – They have one axon which is divided into two branches by the presence of the cell body. Sensory </a:t>
            </a:r>
            <a:r>
              <a:rPr lang="en-US" sz="2800" b="0" i="0" dirty="0" err="1" smtClean="0">
                <a:solidFill>
                  <a:srgbClr val="000000"/>
                </a:solidFill>
                <a:effectLst/>
                <a:latin typeface="Times New Roman" panose="02020603050405020304" pitchFamily="18" charset="0"/>
                <a:cs typeface="Times New Roman" panose="02020603050405020304" pitchFamily="18" charset="0"/>
              </a:rPr>
              <a:t>neurones</a:t>
            </a:r>
            <a:r>
              <a:rPr lang="en-US" sz="2800" b="0" i="0" dirty="0" smtClean="0">
                <a:solidFill>
                  <a:srgbClr val="000000"/>
                </a:solidFill>
                <a:effectLst/>
                <a:latin typeface="Times New Roman" panose="02020603050405020304" pitchFamily="18" charset="0"/>
                <a:cs typeface="Times New Roman" panose="02020603050405020304" pitchFamily="18" charset="0"/>
              </a:rPr>
              <a:t> are all </a:t>
            </a:r>
            <a:r>
              <a:rPr lang="en-US" sz="2800" b="0" i="0" dirty="0" err="1" smtClean="0">
                <a:solidFill>
                  <a:srgbClr val="000000"/>
                </a:solidFill>
                <a:effectLst/>
                <a:latin typeface="Times New Roman" panose="02020603050405020304" pitchFamily="18" charset="0"/>
                <a:cs typeface="Times New Roman" panose="02020603050405020304" pitchFamily="18" charset="0"/>
              </a:rPr>
              <a:t>pseudounipolar</a:t>
            </a:r>
            <a:r>
              <a:rPr lang="en-US" sz="2800" b="0" i="0" dirty="0" smtClean="0">
                <a:solidFill>
                  <a:srgbClr val="000000"/>
                </a:solidFill>
                <a:effectLst/>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Bipolar </a:t>
            </a:r>
            <a:r>
              <a:rPr lang="en-US" sz="2800" dirty="0">
                <a:latin typeface="Times New Roman" panose="02020603050405020304" pitchFamily="18" charset="0"/>
                <a:cs typeface="Times New Roman" panose="02020603050405020304" pitchFamily="18" charset="0"/>
              </a:rPr>
              <a:t>– These </a:t>
            </a:r>
            <a:r>
              <a:rPr lang="en-US" sz="2800" dirty="0" err="1">
                <a:latin typeface="Times New Roman" panose="02020603050405020304" pitchFamily="18" charset="0"/>
                <a:cs typeface="Times New Roman" panose="02020603050405020304" pitchFamily="18" charset="0"/>
              </a:rPr>
              <a:t>neurones</a:t>
            </a:r>
            <a:r>
              <a:rPr lang="en-US" sz="2800" dirty="0">
                <a:latin typeface="Times New Roman" panose="02020603050405020304" pitchFamily="18" charset="0"/>
                <a:cs typeface="Times New Roman" panose="02020603050405020304" pitchFamily="18" charset="0"/>
              </a:rPr>
              <a:t> have two processes arising from a central cell body – typically one axon and one dendrite. These cells are found in the retina.</a:t>
            </a:r>
          </a:p>
          <a:p>
            <a:r>
              <a:rPr lang="en-US" sz="2800" b="1" dirty="0">
                <a:latin typeface="Times New Roman" panose="02020603050405020304" pitchFamily="18" charset="0"/>
                <a:cs typeface="Times New Roman" panose="02020603050405020304" pitchFamily="18" charset="0"/>
              </a:rPr>
              <a:t>Multipolar </a:t>
            </a:r>
            <a:r>
              <a:rPr lang="en-US" sz="2800" dirty="0">
                <a:latin typeface="Times New Roman" panose="02020603050405020304" pitchFamily="18" charset="0"/>
                <a:cs typeface="Times New Roman" panose="02020603050405020304" pitchFamily="18" charset="0"/>
              </a:rPr>
              <a:t>– They have one axon and many dendrites, with a cell body displaced to one side of the axon. Motor </a:t>
            </a:r>
            <a:r>
              <a:rPr lang="en-US" sz="2800" dirty="0" err="1">
                <a:latin typeface="Times New Roman" panose="02020603050405020304" pitchFamily="18" charset="0"/>
                <a:cs typeface="Times New Roman" panose="02020603050405020304" pitchFamily="18" charset="0"/>
              </a:rPr>
              <a:t>neurones</a:t>
            </a:r>
            <a:r>
              <a:rPr lang="en-US" sz="2800" dirty="0">
                <a:latin typeface="Times New Roman" panose="02020603050405020304" pitchFamily="18" charset="0"/>
                <a:cs typeface="Times New Roman" panose="02020603050405020304" pitchFamily="18" charset="0"/>
              </a:rPr>
              <a:t> are a prime example of this.</a:t>
            </a:r>
          </a:p>
          <a:p>
            <a:pPr>
              <a:buFont typeface="Arial" panose="020B0604020202020204" pitchFamily="34" charset="0"/>
              <a:buChar char="•"/>
            </a:pPr>
            <a:endParaRPr lang="en-US" sz="28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0149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38500" y="361950"/>
            <a:ext cx="5715000" cy="6134100"/>
          </a:xfrm>
          <a:prstGeom prst="rect">
            <a:avLst/>
          </a:prstGeom>
        </p:spPr>
      </p:pic>
    </p:spTree>
    <p:extLst>
      <p:ext uri="{BB962C8B-B14F-4D97-AF65-F5344CB8AC3E}">
        <p14:creationId xmlns:p14="http://schemas.microsoft.com/office/powerpoint/2010/main" val="3711675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5129" y="0"/>
            <a:ext cx="11906450" cy="5386090"/>
          </a:xfrm>
          <a:prstGeom prst="rect">
            <a:avLst/>
          </a:prstGeom>
        </p:spPr>
        <p:txBody>
          <a:bodyPr wrap="square">
            <a:spAutoFit/>
          </a:bodyPr>
          <a:lstStyle/>
          <a:p>
            <a:r>
              <a:rPr lang="en-US" sz="3600" b="1" i="0" dirty="0" smtClean="0">
                <a:solidFill>
                  <a:srgbClr val="C00000"/>
                </a:solidFill>
                <a:effectLst/>
                <a:latin typeface="Times New Roman" panose="02020603050405020304" pitchFamily="18" charset="0"/>
                <a:cs typeface="Times New Roman" panose="02020603050405020304" pitchFamily="18" charset="0"/>
              </a:rPr>
              <a:t>Functional Classification</a:t>
            </a:r>
          </a:p>
          <a:p>
            <a:endParaRPr lang="en-US" sz="2800" b="1" i="0" dirty="0" smtClean="0">
              <a:solidFill>
                <a:srgbClr val="000000"/>
              </a:solidFill>
              <a:effectLst/>
              <a:latin typeface="Times New Roman" panose="02020603050405020304" pitchFamily="18" charset="0"/>
              <a:cs typeface="Times New Roman" panose="02020603050405020304" pitchFamily="18" charset="0"/>
            </a:endParaRPr>
          </a:p>
          <a:p>
            <a:r>
              <a:rPr lang="en-US" sz="2800" b="0" i="0" dirty="0" smtClean="0">
                <a:solidFill>
                  <a:srgbClr val="000000"/>
                </a:solidFill>
                <a:effectLst/>
                <a:latin typeface="Times New Roman" panose="02020603050405020304" pitchFamily="18" charset="0"/>
                <a:cs typeface="Times New Roman" panose="02020603050405020304" pitchFamily="18" charset="0"/>
              </a:rPr>
              <a:t>There are three broad functional classifications of nerves – </a:t>
            </a:r>
            <a:r>
              <a:rPr lang="en-US" sz="2800" b="1" i="0" dirty="0" smtClean="0">
                <a:solidFill>
                  <a:srgbClr val="000000"/>
                </a:solidFill>
                <a:effectLst/>
                <a:latin typeface="Times New Roman" panose="02020603050405020304" pitchFamily="18" charset="0"/>
                <a:cs typeface="Times New Roman" panose="02020603050405020304" pitchFamily="18" charset="0"/>
              </a:rPr>
              <a:t> sensory</a:t>
            </a:r>
            <a:r>
              <a:rPr lang="en-US" sz="2800" b="0" i="0" dirty="0" smtClean="0">
                <a:solidFill>
                  <a:srgbClr val="000000"/>
                </a:solidFill>
                <a:effectLst/>
                <a:latin typeface="Times New Roman" panose="02020603050405020304" pitchFamily="18" charset="0"/>
                <a:cs typeface="Times New Roman" panose="02020603050405020304" pitchFamily="18" charset="0"/>
              </a:rPr>
              <a:t> (afferent),</a:t>
            </a:r>
            <a:r>
              <a:rPr lang="en-US" sz="2800" b="1" i="0" dirty="0" smtClean="0">
                <a:solidFill>
                  <a:srgbClr val="000000"/>
                </a:solidFill>
                <a:effectLst/>
                <a:latin typeface="Times New Roman" panose="02020603050405020304" pitchFamily="18" charset="0"/>
                <a:cs typeface="Times New Roman" panose="02020603050405020304" pitchFamily="18" charset="0"/>
              </a:rPr>
              <a:t> intermediate </a:t>
            </a:r>
            <a:r>
              <a:rPr lang="en-US" sz="2800" b="0" i="0" dirty="0" smtClean="0">
                <a:solidFill>
                  <a:srgbClr val="000000"/>
                </a:solidFill>
                <a:effectLst/>
                <a:latin typeface="Times New Roman" panose="02020603050405020304" pitchFamily="18" charset="0"/>
                <a:cs typeface="Times New Roman" panose="02020603050405020304" pitchFamily="18" charset="0"/>
              </a:rPr>
              <a:t>and </a:t>
            </a:r>
            <a:r>
              <a:rPr lang="en-US" sz="2800" b="1" i="0" dirty="0" smtClean="0">
                <a:solidFill>
                  <a:srgbClr val="000000"/>
                </a:solidFill>
                <a:effectLst/>
                <a:latin typeface="Times New Roman" panose="02020603050405020304" pitchFamily="18" charset="0"/>
                <a:cs typeface="Times New Roman" panose="02020603050405020304" pitchFamily="18" charset="0"/>
              </a:rPr>
              <a:t>motor</a:t>
            </a:r>
            <a:r>
              <a:rPr lang="en-US" sz="2800" b="0" i="0" dirty="0" smtClean="0">
                <a:solidFill>
                  <a:srgbClr val="000000"/>
                </a:solidFill>
                <a:effectLst/>
                <a:latin typeface="Times New Roman" panose="02020603050405020304" pitchFamily="18" charset="0"/>
                <a:cs typeface="Times New Roman" panose="02020603050405020304" pitchFamily="18" charset="0"/>
              </a:rPr>
              <a:t> (efferent). There are key structural differences between these three types:</a:t>
            </a:r>
          </a:p>
          <a:p>
            <a:pPr>
              <a:buFont typeface="Arial" panose="020B0604020202020204" pitchFamily="34" charset="0"/>
              <a:buChar char="•"/>
            </a:pPr>
            <a:r>
              <a:rPr lang="en-US" sz="2800" b="1" i="0" dirty="0" smtClean="0">
                <a:solidFill>
                  <a:srgbClr val="000000"/>
                </a:solidFill>
                <a:effectLst/>
                <a:latin typeface="Times New Roman" panose="02020603050405020304" pitchFamily="18" charset="0"/>
                <a:cs typeface="Times New Roman" panose="02020603050405020304" pitchFamily="18" charset="0"/>
              </a:rPr>
              <a:t>Sensory nerves</a:t>
            </a:r>
            <a:r>
              <a:rPr lang="en-US" sz="2800" b="0" i="0" dirty="0" smtClean="0">
                <a:solidFill>
                  <a:srgbClr val="000000"/>
                </a:solidFill>
                <a:effectLst/>
                <a:latin typeface="Times New Roman" panose="02020603050405020304" pitchFamily="18" charset="0"/>
                <a:cs typeface="Times New Roman" panose="02020603050405020304" pitchFamily="18" charset="0"/>
              </a:rPr>
              <a:t> – small axons and </a:t>
            </a:r>
            <a:r>
              <a:rPr lang="en-US" sz="2800" b="0" i="0" dirty="0" err="1" smtClean="0">
                <a:solidFill>
                  <a:srgbClr val="000000"/>
                </a:solidFill>
                <a:effectLst/>
                <a:latin typeface="Times New Roman" panose="02020603050405020304" pitchFamily="18" charset="0"/>
                <a:cs typeface="Times New Roman" panose="02020603050405020304" pitchFamily="18" charset="0"/>
              </a:rPr>
              <a:t>psuedounipolar</a:t>
            </a:r>
            <a:r>
              <a:rPr lang="en-US" sz="2800" b="0" i="0" dirty="0" smtClean="0">
                <a:solidFill>
                  <a:srgbClr val="000000"/>
                </a:solidFill>
                <a:effectLst/>
                <a:latin typeface="Times New Roman" panose="02020603050405020304" pitchFamily="18" charset="0"/>
                <a:cs typeface="Times New Roman" panose="02020603050405020304" pitchFamily="18" charset="0"/>
              </a:rPr>
              <a:t> structure.</a:t>
            </a:r>
          </a:p>
          <a:p>
            <a:pPr>
              <a:buFont typeface="Arial" panose="020B0604020202020204" pitchFamily="34" charset="0"/>
              <a:buChar char="•"/>
            </a:pPr>
            <a:r>
              <a:rPr lang="en-US" sz="2800" b="1" i="0" dirty="0" smtClean="0">
                <a:solidFill>
                  <a:srgbClr val="000000"/>
                </a:solidFill>
                <a:effectLst/>
                <a:latin typeface="Times New Roman" panose="02020603050405020304" pitchFamily="18" charset="0"/>
                <a:cs typeface="Times New Roman" panose="02020603050405020304" pitchFamily="18" charset="0"/>
              </a:rPr>
              <a:t>Motor nerves</a:t>
            </a:r>
            <a:r>
              <a:rPr lang="en-US" sz="2800" b="0" i="0" dirty="0" smtClean="0">
                <a:solidFill>
                  <a:srgbClr val="000000"/>
                </a:solidFill>
                <a:effectLst/>
                <a:latin typeface="Times New Roman" panose="02020603050405020304" pitchFamily="18" charset="0"/>
                <a:cs typeface="Times New Roman" panose="02020603050405020304" pitchFamily="18" charset="0"/>
              </a:rPr>
              <a:t> – larger axons and multipolar structure.</a:t>
            </a:r>
          </a:p>
          <a:p>
            <a:pPr>
              <a:buFont typeface="Arial" panose="020B0604020202020204" pitchFamily="34" charset="0"/>
              <a:buChar char="•"/>
            </a:pPr>
            <a:r>
              <a:rPr lang="en-US" sz="2800" b="1" i="0" dirty="0" smtClean="0">
                <a:solidFill>
                  <a:srgbClr val="000000"/>
                </a:solidFill>
                <a:effectLst/>
                <a:latin typeface="Times New Roman" panose="02020603050405020304" pitchFamily="18" charset="0"/>
                <a:cs typeface="Times New Roman" panose="02020603050405020304" pitchFamily="18" charset="0"/>
              </a:rPr>
              <a:t>Intermediate </a:t>
            </a:r>
            <a:r>
              <a:rPr lang="en-US" sz="2800" b="1" i="0" dirty="0" err="1" smtClean="0">
                <a:solidFill>
                  <a:srgbClr val="000000"/>
                </a:solidFill>
                <a:effectLst/>
                <a:latin typeface="Times New Roman" panose="02020603050405020304" pitchFamily="18" charset="0"/>
                <a:cs typeface="Times New Roman" panose="02020603050405020304" pitchFamily="18" charset="0"/>
              </a:rPr>
              <a:t>neurones</a:t>
            </a:r>
            <a:r>
              <a:rPr lang="en-US" sz="2800" b="0" i="0" dirty="0" smtClean="0">
                <a:solidFill>
                  <a:srgbClr val="000000"/>
                </a:solidFill>
                <a:effectLst/>
                <a:latin typeface="Times New Roman" panose="02020603050405020304" pitchFamily="18" charset="0"/>
                <a:cs typeface="Times New Roman" panose="02020603050405020304" pitchFamily="18" charset="0"/>
              </a:rPr>
              <a:t> – central cell body and many dendrites.</a:t>
            </a:r>
          </a:p>
          <a:p>
            <a:r>
              <a:rPr lang="en-US" sz="2800" b="0" i="0" dirty="0" smtClean="0">
                <a:solidFill>
                  <a:srgbClr val="000000"/>
                </a:solidFill>
                <a:effectLst/>
                <a:latin typeface="Times New Roman" panose="02020603050405020304" pitchFamily="18" charset="0"/>
                <a:cs typeface="Times New Roman" panose="02020603050405020304" pitchFamily="18" charset="0"/>
              </a:rPr>
              <a:t>Sensory and motor nerves are located within the PNS, whereas intermediate nerves are found in the CNS.</a:t>
            </a:r>
          </a:p>
          <a:p>
            <a:r>
              <a:rPr lang="en-US" sz="2800" b="0" i="0" dirty="0" smtClean="0">
                <a:solidFill>
                  <a:srgbClr val="000000"/>
                </a:solidFill>
                <a:effectLst/>
                <a:latin typeface="Times New Roman" panose="02020603050405020304" pitchFamily="18" charset="0"/>
                <a:cs typeface="Times New Roman" panose="02020603050405020304" pitchFamily="18" charset="0"/>
              </a:rPr>
              <a:t/>
            </a:r>
            <a:br>
              <a:rPr lang="en-US" sz="2800" b="0" i="0" dirty="0" smtClean="0">
                <a:solidFill>
                  <a:srgbClr val="000000"/>
                </a:solidFill>
                <a:effectLst/>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1553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19200" y="685800"/>
            <a:ext cx="9753600" cy="5486400"/>
          </a:xfrm>
          <a:prstGeom prst="rect">
            <a:avLst/>
          </a:prstGeom>
        </p:spPr>
      </p:pic>
    </p:spTree>
    <p:extLst>
      <p:ext uri="{BB962C8B-B14F-4D97-AF65-F5344CB8AC3E}">
        <p14:creationId xmlns:p14="http://schemas.microsoft.com/office/powerpoint/2010/main" val="2748229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19200" y="705050"/>
            <a:ext cx="9753600" cy="5486400"/>
          </a:xfrm>
          <a:prstGeom prst="rect">
            <a:avLst/>
          </a:prstGeom>
        </p:spPr>
      </p:pic>
    </p:spTree>
    <p:extLst>
      <p:ext uri="{BB962C8B-B14F-4D97-AF65-F5344CB8AC3E}">
        <p14:creationId xmlns:p14="http://schemas.microsoft.com/office/powerpoint/2010/main" val="1182711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626" y="-79653"/>
            <a:ext cx="12105373" cy="4832092"/>
          </a:xfrm>
          <a:prstGeom prst="rect">
            <a:avLst/>
          </a:prstGeom>
        </p:spPr>
        <p:txBody>
          <a:bodyPr wrap="square">
            <a:spAutoFit/>
          </a:bodyPr>
          <a:lstStyle/>
          <a:p>
            <a:r>
              <a:rPr lang="en-US" sz="2800" dirty="0" smtClean="0">
                <a:latin typeface="Times New Roman" panose="02020603050405020304" pitchFamily="18" charset="0"/>
                <a:cs typeface="Times New Roman" panose="02020603050405020304" pitchFamily="18" charset="0"/>
              </a:rPr>
              <a:t>Clinical Relevance</a:t>
            </a:r>
          </a:p>
          <a:p>
            <a:r>
              <a:rPr lang="en-US" sz="2800" dirty="0" smtClean="0">
                <a:latin typeface="Times New Roman" panose="02020603050405020304" pitchFamily="18" charset="0"/>
                <a:cs typeface="Times New Roman" panose="02020603050405020304" pitchFamily="18" charset="0"/>
              </a:rPr>
              <a:t>Disorders of Nerve Tissue</a:t>
            </a:r>
          </a:p>
          <a:p>
            <a:r>
              <a:rPr lang="en-US" sz="2800" dirty="0" smtClean="0">
                <a:latin typeface="Times New Roman" panose="02020603050405020304" pitchFamily="18" charset="0"/>
                <a:cs typeface="Times New Roman" panose="02020603050405020304" pitchFamily="18" charset="0"/>
              </a:rPr>
              <a:t>Multiple Sclerosis</a:t>
            </a:r>
          </a:p>
          <a:p>
            <a:r>
              <a:rPr lang="en-US" sz="2800" dirty="0" smtClean="0">
                <a:latin typeface="Times New Roman" panose="02020603050405020304" pitchFamily="18" charset="0"/>
                <a:cs typeface="Times New Roman" panose="02020603050405020304" pitchFamily="18" charset="0"/>
              </a:rPr>
              <a:t>In multiple sclerosis, the myelin covering of </a:t>
            </a:r>
            <a:r>
              <a:rPr lang="en-US" sz="2800" dirty="0" err="1" smtClean="0">
                <a:latin typeface="Times New Roman" panose="02020603050405020304" pitchFamily="18" charset="0"/>
                <a:cs typeface="Times New Roman" panose="02020603050405020304" pitchFamily="18" charset="0"/>
              </a:rPr>
              <a:t>neurones</a:t>
            </a:r>
            <a:r>
              <a:rPr lang="en-US" sz="2800" dirty="0" smtClean="0">
                <a:latin typeface="Times New Roman" panose="02020603050405020304" pitchFamily="18" charset="0"/>
                <a:cs typeface="Times New Roman" panose="02020603050405020304" pitchFamily="18" charset="0"/>
              </a:rPr>
              <a:t> in the central nervous system is lost. This means that the relay of action potentials between sensory and motor </a:t>
            </a:r>
            <a:r>
              <a:rPr lang="en-US" sz="2800" dirty="0" err="1" smtClean="0">
                <a:latin typeface="Times New Roman" panose="02020603050405020304" pitchFamily="18" charset="0"/>
                <a:cs typeface="Times New Roman" panose="02020603050405020304" pitchFamily="18" charset="0"/>
              </a:rPr>
              <a:t>neurones</a:t>
            </a:r>
            <a:r>
              <a:rPr lang="en-US" sz="2800" dirty="0" smtClean="0">
                <a:latin typeface="Times New Roman" panose="02020603050405020304" pitchFamily="18" charset="0"/>
                <a:cs typeface="Times New Roman" panose="02020603050405020304" pitchFamily="18" charset="0"/>
              </a:rPr>
              <a:t> is affected. This can lead to visual, motor and auditory problems.</a:t>
            </a:r>
          </a:p>
          <a:p>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The etiology of Multiple Sclerosis (MS) is still uncertain. However, the causes are thought to either be as a result of autoimmune destruction of myelin, or the failure of </a:t>
            </a:r>
            <a:r>
              <a:rPr lang="en-US" sz="2800" dirty="0" err="1" smtClean="0">
                <a:latin typeface="Times New Roman" panose="02020603050405020304" pitchFamily="18" charset="0"/>
                <a:cs typeface="Times New Roman" panose="02020603050405020304" pitchFamily="18" charset="0"/>
              </a:rPr>
              <a:t>oligodendrocytes</a:t>
            </a:r>
            <a:r>
              <a:rPr lang="en-US" sz="2800" dirty="0" smtClean="0">
                <a:latin typeface="Times New Roman" panose="02020603050405020304" pitchFamily="18" charset="0"/>
                <a:cs typeface="Times New Roman" panose="02020603050405020304" pitchFamily="18" charset="0"/>
              </a:rPr>
              <a:t> to </a:t>
            </a:r>
            <a:r>
              <a:rPr lang="en-US" sz="2800" dirty="0" err="1" smtClean="0">
                <a:latin typeface="Times New Roman" panose="02020603050405020304" pitchFamily="18" charset="0"/>
                <a:cs typeface="Times New Roman" panose="02020603050405020304" pitchFamily="18" charset="0"/>
              </a:rPr>
              <a:t>myelinate</a:t>
            </a:r>
            <a:r>
              <a:rPr lang="en-US" sz="2800" dirty="0" smtClean="0">
                <a:latin typeface="Times New Roman" panose="02020603050405020304" pitchFamily="18" charset="0"/>
                <a:cs typeface="Times New Roman" panose="02020603050405020304" pitchFamily="18" charset="0"/>
              </a:rPr>
              <a:t> the interneurons.</a:t>
            </a:r>
          </a:p>
          <a:p>
            <a:endParaRPr lang="en-US"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687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377" y="1720840"/>
            <a:ext cx="12124623" cy="4401205"/>
          </a:xfrm>
          <a:prstGeom prst="rect">
            <a:avLst/>
          </a:prstGeom>
        </p:spPr>
        <p:txBody>
          <a:bodyPr wrap="square">
            <a:spAutoFit/>
          </a:bodyPr>
          <a:lstStyle/>
          <a:p>
            <a:r>
              <a:rPr lang="en-US" sz="2800" dirty="0" smtClean="0">
                <a:latin typeface="Times New Roman" panose="02020603050405020304" pitchFamily="18" charset="0"/>
                <a:cs typeface="Times New Roman" panose="02020603050405020304" pitchFamily="18" charset="0"/>
              </a:rPr>
              <a:t>Motor </a:t>
            </a:r>
            <a:r>
              <a:rPr lang="en-US" sz="2800" dirty="0" err="1" smtClean="0">
                <a:latin typeface="Times New Roman" panose="02020603050405020304" pitchFamily="18" charset="0"/>
                <a:cs typeface="Times New Roman" panose="02020603050405020304" pitchFamily="18" charset="0"/>
              </a:rPr>
              <a:t>Neurone</a:t>
            </a:r>
            <a:r>
              <a:rPr lang="en-US" sz="2800" dirty="0" smtClean="0">
                <a:latin typeface="Times New Roman" panose="02020603050405020304" pitchFamily="18" charset="0"/>
                <a:cs typeface="Times New Roman" panose="02020603050405020304" pitchFamily="18" charset="0"/>
              </a:rPr>
              <a:t> Disease</a:t>
            </a:r>
          </a:p>
          <a:p>
            <a:r>
              <a:rPr lang="en-US" sz="2800" dirty="0" smtClean="0">
                <a:latin typeface="Times New Roman" panose="02020603050405020304" pitchFamily="18" charset="0"/>
                <a:cs typeface="Times New Roman" panose="02020603050405020304" pitchFamily="18" charset="0"/>
              </a:rPr>
              <a:t>Motor </a:t>
            </a:r>
            <a:r>
              <a:rPr lang="en-US" sz="2800" dirty="0" err="1" smtClean="0">
                <a:latin typeface="Times New Roman" panose="02020603050405020304" pitchFamily="18" charset="0"/>
                <a:cs typeface="Times New Roman" panose="02020603050405020304" pitchFamily="18" charset="0"/>
              </a:rPr>
              <a:t>Neurone</a:t>
            </a:r>
            <a:r>
              <a:rPr lang="en-US" sz="2800" dirty="0" smtClean="0">
                <a:latin typeface="Times New Roman" panose="02020603050405020304" pitchFamily="18" charset="0"/>
                <a:cs typeface="Times New Roman" panose="02020603050405020304" pitchFamily="18" charset="0"/>
              </a:rPr>
              <a:t> Disease describes a group of conditions that include Amyotrophic lateral sclerosis, better known as ALS. In these diseases, motor </a:t>
            </a:r>
            <a:r>
              <a:rPr lang="en-US" sz="2800" dirty="0" err="1" smtClean="0">
                <a:latin typeface="Times New Roman" panose="02020603050405020304" pitchFamily="18" charset="0"/>
                <a:cs typeface="Times New Roman" panose="02020603050405020304" pitchFamily="18" charset="0"/>
              </a:rPr>
              <a:t>neurones</a:t>
            </a:r>
            <a:r>
              <a:rPr lang="en-US" sz="2800" dirty="0" smtClean="0">
                <a:latin typeface="Times New Roman" panose="02020603050405020304" pitchFamily="18" charset="0"/>
                <a:cs typeface="Times New Roman" panose="02020603050405020304" pitchFamily="18" charset="0"/>
              </a:rPr>
              <a:t> become damaged for reasons that are not entirely clear, but are thought to include dysfunctional mitochondria.</a:t>
            </a:r>
          </a:p>
          <a:p>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The damage to the motor </a:t>
            </a:r>
            <a:r>
              <a:rPr lang="en-US" sz="2800" dirty="0" err="1" smtClean="0">
                <a:latin typeface="Times New Roman" panose="02020603050405020304" pitchFamily="18" charset="0"/>
                <a:cs typeface="Times New Roman" panose="02020603050405020304" pitchFamily="18" charset="0"/>
              </a:rPr>
              <a:t>neurones</a:t>
            </a:r>
            <a:r>
              <a:rPr lang="en-US" sz="2800" dirty="0" smtClean="0">
                <a:latin typeface="Times New Roman" panose="02020603050405020304" pitchFamily="18" charset="0"/>
                <a:cs typeface="Times New Roman" panose="02020603050405020304" pitchFamily="18" charset="0"/>
              </a:rPr>
              <a:t> is progressive, making this a degenerative disease. It often begins with damage to peripheral nerves, and works its way up through the limbs until the central nervous system is compromised. This disease is fatal, with a median survival length of 3-5 years post diagnosis.</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02211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674</TotalTime>
  <Words>473</Words>
  <Application>Microsoft Office PowerPoint</Application>
  <PresentationFormat>Widescreen</PresentationFormat>
  <Paragraphs>95</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Times New Roman</vt:lpstr>
      <vt:lpstr>Wingdings</vt:lpstr>
      <vt:lpstr>Office Theme</vt:lpstr>
      <vt:lpstr>NERVES AND NEURAL TISSUE</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NERVESAND NEURAL TISSUE</dc:title>
  <dc:creator>HP</dc:creator>
  <cp:lastModifiedBy>HP</cp:lastModifiedBy>
  <cp:revision>58</cp:revision>
  <dcterms:created xsi:type="dcterms:W3CDTF">2025-03-03T21:30:25Z</dcterms:created>
  <dcterms:modified xsi:type="dcterms:W3CDTF">2025-03-04T08:44:45Z</dcterms:modified>
</cp:coreProperties>
</file>