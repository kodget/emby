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1" r:id="rId4"/>
    <p:sldId id="258" r:id="rId5"/>
    <p:sldId id="259" r:id="rId6"/>
    <p:sldId id="260" r:id="rId7"/>
    <p:sldId id="261" r:id="rId8"/>
    <p:sldId id="262" r:id="rId9"/>
    <p:sldId id="269" r:id="rId10"/>
    <p:sldId id="266" r:id="rId11"/>
    <p:sldId id="267" r:id="rId12"/>
    <p:sldId id="272" r:id="rId13"/>
    <p:sldId id="273" r:id="rId14"/>
    <p:sldId id="27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6" d="100"/>
          <a:sy n="86" d="100"/>
        </p:scale>
        <p:origin x="13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772286A5-0A1B-4767-990C-E6F315E279D3}" type="datetimeFigureOut">
              <a:rPr lang="en-GB" smtClean="0"/>
              <a:t>18/07/2022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9E774EE-7F5D-4268-8DD3-7C31C3141A99}" type="slidenum">
              <a:rPr lang="en-GB" smtClean="0"/>
              <a:t>‹#›</a:t>
            </a:fld>
            <a:endParaRPr lang="en-GB"/>
          </a:p>
        </p:txBody>
      </p:sp>
    </p:spTree>
    <p:extLst>
      <p:ext uri="{BB962C8B-B14F-4D97-AF65-F5344CB8AC3E}">
        <p14:creationId xmlns:p14="http://schemas.microsoft.com/office/powerpoint/2010/main" val="9075938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772286A5-0A1B-4767-990C-E6F315E279D3}" type="datetimeFigureOut">
              <a:rPr lang="en-GB" smtClean="0"/>
              <a:t>18/07/2022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9E774EE-7F5D-4268-8DD3-7C31C3141A99}" type="slidenum">
              <a:rPr lang="en-GB" smtClean="0"/>
              <a:t>‹#›</a:t>
            </a:fld>
            <a:endParaRPr lang="en-GB"/>
          </a:p>
        </p:txBody>
      </p:sp>
    </p:spTree>
    <p:extLst>
      <p:ext uri="{BB962C8B-B14F-4D97-AF65-F5344CB8AC3E}">
        <p14:creationId xmlns:p14="http://schemas.microsoft.com/office/powerpoint/2010/main" val="3056058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72286A5-0A1B-4767-990C-E6F315E279D3}" type="datetimeFigureOut">
              <a:rPr lang="en-GB" smtClean="0"/>
              <a:t>18/07/2022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9E774EE-7F5D-4268-8DD3-7C31C3141A99}" type="slidenum">
              <a:rPr lang="en-GB" smtClean="0"/>
              <a:t>‹#›</a:t>
            </a:fld>
            <a:endParaRPr lang="en-GB"/>
          </a:p>
        </p:txBody>
      </p:sp>
    </p:spTree>
    <p:extLst>
      <p:ext uri="{BB962C8B-B14F-4D97-AF65-F5344CB8AC3E}">
        <p14:creationId xmlns:p14="http://schemas.microsoft.com/office/powerpoint/2010/main" val="1400091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772286A5-0A1B-4767-990C-E6F315E279D3}" type="datetimeFigureOut">
              <a:rPr lang="en-GB" smtClean="0"/>
              <a:t>18/07/2022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9E774EE-7F5D-4268-8DD3-7C31C3141A99}" type="slidenum">
              <a:rPr lang="en-GB" smtClean="0"/>
              <a:t>‹#›</a:t>
            </a:fld>
            <a:endParaRPr lang="en-GB"/>
          </a:p>
        </p:txBody>
      </p:sp>
    </p:spTree>
    <p:extLst>
      <p:ext uri="{BB962C8B-B14F-4D97-AF65-F5344CB8AC3E}">
        <p14:creationId xmlns:p14="http://schemas.microsoft.com/office/powerpoint/2010/main" val="1487069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772286A5-0A1B-4767-990C-E6F315E279D3}" type="datetimeFigureOut">
              <a:rPr lang="en-GB" smtClean="0"/>
              <a:t>18/07/2022</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D9E774EE-7F5D-4268-8DD3-7C31C3141A99}" type="slidenum">
              <a:rPr lang="en-GB" smtClean="0"/>
              <a:t>‹#›</a:t>
            </a:fld>
            <a:endParaRPr lang="en-GB"/>
          </a:p>
        </p:txBody>
      </p:sp>
    </p:spTree>
    <p:extLst>
      <p:ext uri="{BB962C8B-B14F-4D97-AF65-F5344CB8AC3E}">
        <p14:creationId xmlns:p14="http://schemas.microsoft.com/office/powerpoint/2010/main" val="12716847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772286A5-0A1B-4767-990C-E6F315E279D3}" type="datetimeFigureOut">
              <a:rPr lang="en-GB" smtClean="0"/>
              <a:t>18/07/2022</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9E774EE-7F5D-4268-8DD3-7C31C3141A99}" type="slidenum">
              <a:rPr lang="en-GB" smtClean="0"/>
              <a:t>‹#›</a:t>
            </a:fld>
            <a:endParaRPr lang="en-GB"/>
          </a:p>
        </p:txBody>
      </p:sp>
    </p:spTree>
    <p:extLst>
      <p:ext uri="{BB962C8B-B14F-4D97-AF65-F5344CB8AC3E}">
        <p14:creationId xmlns:p14="http://schemas.microsoft.com/office/powerpoint/2010/main" val="2964282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2286A5-0A1B-4767-990C-E6F315E279D3}" type="datetimeFigureOut">
              <a:rPr lang="en-GB" smtClean="0"/>
              <a:t>18/07/2022</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D9E774EE-7F5D-4268-8DD3-7C31C3141A99}" type="slidenum">
              <a:rPr lang="en-GB" smtClean="0"/>
              <a:t>‹#›</a:t>
            </a:fld>
            <a:endParaRPr lang="en-GB"/>
          </a:p>
        </p:txBody>
      </p:sp>
    </p:spTree>
    <p:extLst>
      <p:ext uri="{BB962C8B-B14F-4D97-AF65-F5344CB8AC3E}">
        <p14:creationId xmlns:p14="http://schemas.microsoft.com/office/powerpoint/2010/main" val="9374579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72286A5-0A1B-4767-990C-E6F315E279D3}" type="datetimeFigureOut">
              <a:rPr lang="en-GB" smtClean="0"/>
              <a:t>18/07/2022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9E774EE-7F5D-4268-8DD3-7C31C3141A99}" type="slidenum">
              <a:rPr lang="en-GB" smtClean="0"/>
              <a:t>‹#›</a:t>
            </a:fld>
            <a:endParaRPr lang="en-GB"/>
          </a:p>
        </p:txBody>
      </p:sp>
    </p:spTree>
    <p:extLst>
      <p:ext uri="{BB962C8B-B14F-4D97-AF65-F5344CB8AC3E}">
        <p14:creationId xmlns:p14="http://schemas.microsoft.com/office/powerpoint/2010/main" val="13380619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72286A5-0A1B-4767-990C-E6F315E279D3}" type="datetimeFigureOut">
              <a:rPr lang="en-GB" smtClean="0"/>
              <a:t>18/07/2022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9E774EE-7F5D-4268-8DD3-7C31C3141A99}" type="slidenum">
              <a:rPr lang="en-GB" smtClean="0"/>
              <a:t>‹#›</a:t>
            </a:fld>
            <a:endParaRPr lang="en-GB"/>
          </a:p>
        </p:txBody>
      </p:sp>
    </p:spTree>
    <p:extLst>
      <p:ext uri="{BB962C8B-B14F-4D97-AF65-F5344CB8AC3E}">
        <p14:creationId xmlns:p14="http://schemas.microsoft.com/office/powerpoint/2010/main" val="2759533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772286A5-0A1B-4767-990C-E6F315E279D3}" type="datetimeFigureOut">
              <a:rPr lang="en-GB" smtClean="0"/>
              <a:t>18/07/2022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9E774EE-7F5D-4268-8DD3-7C31C3141A99}" type="slidenum">
              <a:rPr lang="en-GB" smtClean="0"/>
              <a:t>‹#›</a:t>
            </a:fld>
            <a:endParaRPr lang="en-GB"/>
          </a:p>
        </p:txBody>
      </p:sp>
    </p:spTree>
    <p:extLst>
      <p:ext uri="{BB962C8B-B14F-4D97-AF65-F5344CB8AC3E}">
        <p14:creationId xmlns:p14="http://schemas.microsoft.com/office/powerpoint/2010/main" val="162679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772286A5-0A1B-4767-990C-E6F315E279D3}" type="datetimeFigureOut">
              <a:rPr lang="en-GB" smtClean="0"/>
              <a:t>18/07/2022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9E774EE-7F5D-4268-8DD3-7C31C3141A99}" type="slidenum">
              <a:rPr lang="en-GB" smtClean="0"/>
              <a:t>‹#›</a:t>
            </a:fld>
            <a:endParaRPr lang="en-GB"/>
          </a:p>
        </p:txBody>
      </p:sp>
    </p:spTree>
    <p:extLst>
      <p:ext uri="{BB962C8B-B14F-4D97-AF65-F5344CB8AC3E}">
        <p14:creationId xmlns:p14="http://schemas.microsoft.com/office/powerpoint/2010/main" val="309477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2286A5-0A1B-4767-990C-E6F315E279D3}" type="datetimeFigureOut">
              <a:rPr lang="en-GB" smtClean="0"/>
              <a:t>18/07/2022</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E774EE-7F5D-4268-8DD3-7C31C3141A99}" type="slidenum">
              <a:rPr lang="en-GB" smtClean="0"/>
              <a:t>‹#›</a:t>
            </a:fld>
            <a:endParaRPr lang="en-GB"/>
          </a:p>
        </p:txBody>
      </p:sp>
    </p:spTree>
    <p:extLst>
      <p:ext uri="{BB962C8B-B14F-4D97-AF65-F5344CB8AC3E}">
        <p14:creationId xmlns:p14="http://schemas.microsoft.com/office/powerpoint/2010/main" val="15767854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23493" y="0"/>
            <a:ext cx="7907627" cy="1223493"/>
          </a:xfrm>
        </p:spPr>
        <p:txBody>
          <a:bodyPr>
            <a:normAutofit fontScale="90000"/>
          </a:bodyPr>
          <a:lstStyle/>
          <a:p>
            <a:r>
              <a:rPr lang="en-GB" b="1" dirty="0" smtClean="0">
                <a:latin typeface="Blackadder ITC" panose="04020505051007020D02" pitchFamily="82" charset="0"/>
              </a:rPr>
              <a:t>Introduction </a:t>
            </a:r>
            <a:r>
              <a:rPr lang="en-GB" b="1" dirty="0" smtClean="0">
                <a:latin typeface="Blackadder ITC" panose="04020505051007020D02" pitchFamily="82" charset="0"/>
              </a:rPr>
              <a:t>to Anatomy</a:t>
            </a:r>
            <a:br>
              <a:rPr lang="en-GB" b="1" dirty="0" smtClean="0">
                <a:latin typeface="Blackadder ITC" panose="04020505051007020D02" pitchFamily="82" charset="0"/>
              </a:rPr>
            </a:br>
            <a:endParaRPr lang="en-GB" sz="3100" b="1" dirty="0">
              <a:solidFill>
                <a:srgbClr val="00B050"/>
              </a:solidFill>
              <a:latin typeface="Bell MT" panose="02020503060305020303" pitchFamily="18" charset="0"/>
            </a:endParaRPr>
          </a:p>
        </p:txBody>
      </p:sp>
      <p:sp>
        <p:nvSpPr>
          <p:cNvPr id="3" name="Subtitle 2"/>
          <p:cNvSpPr>
            <a:spLocks noGrp="1"/>
          </p:cNvSpPr>
          <p:nvPr>
            <p:ph type="subTitle" idx="1"/>
          </p:nvPr>
        </p:nvSpPr>
        <p:spPr>
          <a:xfrm>
            <a:off x="502276" y="1493949"/>
            <a:ext cx="11127347" cy="5100034"/>
          </a:xfrm>
        </p:spPr>
        <p:txBody>
          <a:bodyPr>
            <a:normAutofit/>
          </a:bodyPr>
          <a:lstStyle/>
          <a:p>
            <a:pPr algn="just"/>
            <a:r>
              <a:rPr lang="en-GB" sz="2800" dirty="0" smtClean="0"/>
              <a:t>The word Anatomy has Indo-European root. In Greek, called </a:t>
            </a:r>
            <a:r>
              <a:rPr lang="en-GB" sz="2800" i="1" dirty="0" err="1" smtClean="0">
                <a:solidFill>
                  <a:srgbClr val="FFC000"/>
                </a:solidFill>
              </a:rPr>
              <a:t>anatome</a:t>
            </a:r>
            <a:r>
              <a:rPr lang="en-GB" sz="2800" dirty="0" smtClean="0"/>
              <a:t> meaning “dissection”. Latin as </a:t>
            </a:r>
            <a:r>
              <a:rPr lang="en-GB" sz="2800" i="1" dirty="0" err="1" smtClean="0">
                <a:solidFill>
                  <a:srgbClr val="FFC000"/>
                </a:solidFill>
              </a:rPr>
              <a:t>anatomia</a:t>
            </a:r>
            <a:r>
              <a:rPr lang="en-GB" sz="2800" dirty="0" smtClean="0"/>
              <a:t>; Old French as </a:t>
            </a:r>
            <a:r>
              <a:rPr lang="en-GB" sz="2800" i="1" dirty="0" err="1" smtClean="0">
                <a:solidFill>
                  <a:srgbClr val="FFC000"/>
                </a:solidFill>
              </a:rPr>
              <a:t>anatomie</a:t>
            </a:r>
            <a:r>
              <a:rPr lang="en-GB" sz="2800" dirty="0"/>
              <a:t>;</a:t>
            </a:r>
            <a:r>
              <a:rPr lang="en-GB" sz="2800" dirty="0" smtClean="0"/>
              <a:t> English still as </a:t>
            </a:r>
            <a:r>
              <a:rPr lang="en-GB" sz="2800" i="1" dirty="0" err="1" smtClean="0">
                <a:solidFill>
                  <a:srgbClr val="FFC000"/>
                </a:solidFill>
              </a:rPr>
              <a:t>anatomie</a:t>
            </a:r>
            <a:r>
              <a:rPr lang="en-GB" sz="2800" dirty="0" smtClean="0"/>
              <a:t>.</a:t>
            </a:r>
          </a:p>
          <a:p>
            <a:pPr algn="just"/>
            <a:r>
              <a:rPr lang="en-GB" sz="2800" dirty="0" smtClean="0"/>
              <a:t>It’s a subject seen as enigma surrounded in mystery. The notion because of the intricate nature of human body. Hence the need to carefully dissect and inspect cadaver. It revolves around dissection in keeping with old tradition. Dissection, an environment in which sense of touch and sight enhances understanding of human body. </a:t>
            </a:r>
          </a:p>
          <a:p>
            <a:pPr algn="just"/>
            <a:r>
              <a:rPr lang="en-GB" sz="2800" dirty="0" smtClean="0">
                <a:solidFill>
                  <a:srgbClr val="00B0F0"/>
                </a:solidFill>
              </a:rPr>
              <a:t>Definition</a:t>
            </a:r>
            <a:r>
              <a:rPr lang="en-GB" sz="2800" dirty="0" smtClean="0"/>
              <a:t>: Study of normal body structure. It consist of the knowledge of exert form, position, size and relationship of the various structures of the human body in healthy condition.</a:t>
            </a:r>
          </a:p>
          <a:p>
            <a:pPr algn="l"/>
            <a:endParaRPr lang="en-GB" dirty="0" smtClean="0"/>
          </a:p>
          <a:p>
            <a:pPr algn="l"/>
            <a:endParaRPr lang="en-GB" dirty="0" smtClean="0"/>
          </a:p>
          <a:p>
            <a:pPr algn="l"/>
            <a:endParaRPr lang="en-GB" dirty="0" smtClean="0"/>
          </a:p>
          <a:p>
            <a:pPr algn="l"/>
            <a:endParaRPr lang="en-GB" dirty="0" smtClean="0"/>
          </a:p>
          <a:p>
            <a:pPr algn="l"/>
            <a:endParaRPr lang="en-GB" dirty="0"/>
          </a:p>
        </p:txBody>
      </p:sp>
    </p:spTree>
    <p:extLst>
      <p:ext uri="{BB962C8B-B14F-4D97-AF65-F5344CB8AC3E}">
        <p14:creationId xmlns:p14="http://schemas.microsoft.com/office/powerpoint/2010/main" val="36342999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71626" y="95652"/>
            <a:ext cx="8267699" cy="888643"/>
          </a:xfrm>
        </p:spPr>
        <p:txBody>
          <a:bodyPr>
            <a:normAutofit fontScale="90000"/>
          </a:bodyPr>
          <a:lstStyle/>
          <a:p>
            <a:r>
              <a:rPr lang="en-US" b="1" dirty="0">
                <a:latin typeface="Blackadder ITC" panose="04020505051007020D02" pitchFamily="82" charset="0"/>
              </a:rPr>
              <a:t>History of anatomy</a:t>
            </a:r>
            <a:endParaRPr lang="en-GB" dirty="0">
              <a:latin typeface="Blackadder ITC" panose="04020505051007020D02" pitchFamily="82" charset="0"/>
            </a:endParaRPr>
          </a:p>
        </p:txBody>
      </p:sp>
      <p:sp>
        <p:nvSpPr>
          <p:cNvPr id="3" name="Subtitle 2"/>
          <p:cNvSpPr>
            <a:spLocks noGrp="1"/>
          </p:cNvSpPr>
          <p:nvPr>
            <p:ph type="subTitle" idx="1"/>
          </p:nvPr>
        </p:nvSpPr>
        <p:spPr>
          <a:xfrm>
            <a:off x="590549" y="1165270"/>
            <a:ext cx="10961799" cy="5396248"/>
          </a:xfrm>
        </p:spPr>
        <p:txBody>
          <a:bodyPr>
            <a:normAutofit/>
          </a:bodyPr>
          <a:lstStyle/>
          <a:p>
            <a:pPr algn="just"/>
            <a:r>
              <a:rPr lang="en-US" sz="2800" dirty="0"/>
              <a:t>The </a:t>
            </a:r>
            <a:r>
              <a:rPr lang="en-US" sz="2800" dirty="0" smtClean="0"/>
              <a:t>study </a:t>
            </a:r>
            <a:r>
              <a:rPr lang="en-US" sz="2800" dirty="0"/>
              <a:t>began as early as 1600 BC. </a:t>
            </a:r>
            <a:r>
              <a:rPr lang="en-US" sz="2800" dirty="0" smtClean="0">
                <a:solidFill>
                  <a:schemeClr val="accent2">
                    <a:lumMod val="50000"/>
                  </a:schemeClr>
                </a:solidFill>
              </a:rPr>
              <a:t>Hippocrates</a:t>
            </a:r>
            <a:r>
              <a:rPr lang="en-US" sz="2800" dirty="0" smtClean="0"/>
              <a:t> </a:t>
            </a:r>
            <a:r>
              <a:rPr lang="en-US" sz="2800" dirty="0"/>
              <a:t>earliest medical </a:t>
            </a:r>
            <a:r>
              <a:rPr lang="en-US" sz="2800" dirty="0" smtClean="0"/>
              <a:t>scientist demonstrated </a:t>
            </a:r>
            <a:r>
              <a:rPr lang="en-US" sz="2800" dirty="0"/>
              <a:t>basic understanding of musculoskeletal </a:t>
            </a:r>
            <a:r>
              <a:rPr lang="en-US" sz="2800" dirty="0" smtClean="0"/>
              <a:t>structures </a:t>
            </a:r>
            <a:r>
              <a:rPr lang="en-US" sz="2800" dirty="0"/>
              <a:t>(</a:t>
            </a:r>
            <a:r>
              <a:rPr lang="en-US" sz="2800" dirty="0" err="1" smtClean="0"/>
              <a:t>Carola</a:t>
            </a:r>
            <a:r>
              <a:rPr lang="en-US" sz="2800" dirty="0"/>
              <a:t> </a:t>
            </a:r>
            <a:r>
              <a:rPr lang="en-US" sz="2800" dirty="0" smtClean="0"/>
              <a:t>et al., </a:t>
            </a:r>
            <a:r>
              <a:rPr lang="en-US" sz="2800" dirty="0"/>
              <a:t>1992</a:t>
            </a:r>
            <a:r>
              <a:rPr lang="en-US" sz="2800" dirty="0" smtClean="0"/>
              <a:t>). Though much </a:t>
            </a:r>
            <a:r>
              <a:rPr lang="en-US" sz="2800" dirty="0"/>
              <a:t>of his work </a:t>
            </a:r>
            <a:r>
              <a:rPr lang="en-US" sz="2800" dirty="0" smtClean="0"/>
              <a:t>was </a:t>
            </a:r>
            <a:r>
              <a:rPr lang="en-US" sz="2800" dirty="0"/>
              <a:t>based on </a:t>
            </a:r>
            <a:r>
              <a:rPr lang="en-US" sz="2800" dirty="0" smtClean="0"/>
              <a:t>speculation.</a:t>
            </a:r>
          </a:p>
          <a:p>
            <a:pPr algn="just"/>
            <a:r>
              <a:rPr lang="en-US" sz="2800" dirty="0" smtClean="0">
                <a:solidFill>
                  <a:schemeClr val="accent2">
                    <a:lumMod val="50000"/>
                  </a:schemeClr>
                </a:solidFill>
              </a:rPr>
              <a:t>Galen</a:t>
            </a:r>
            <a:r>
              <a:rPr lang="en-US" sz="2800" dirty="0" smtClean="0"/>
              <a:t> compiled </a:t>
            </a:r>
            <a:r>
              <a:rPr lang="en-US" sz="2800" dirty="0"/>
              <a:t>much of the knowledge obtained by previous </a:t>
            </a:r>
            <a:r>
              <a:rPr lang="en-US" sz="2800" dirty="0" smtClean="0"/>
              <a:t>writers furthered inquiry into function of organs by </a:t>
            </a:r>
            <a:r>
              <a:rPr lang="en-US" sz="2800" dirty="0"/>
              <a:t>performing vivisection on </a:t>
            </a:r>
            <a:r>
              <a:rPr lang="en-US" sz="2800" dirty="0" smtClean="0"/>
              <a:t>animals.</a:t>
            </a:r>
          </a:p>
          <a:p>
            <a:pPr algn="just"/>
            <a:endParaRPr lang="en-US" sz="2800" dirty="0" smtClean="0"/>
          </a:p>
          <a:p>
            <a:pPr algn="just"/>
            <a:r>
              <a:rPr lang="en-US" sz="2800" dirty="0"/>
              <a:t>S</a:t>
            </a:r>
            <a:r>
              <a:rPr lang="en-US" sz="2800" dirty="0" smtClean="0"/>
              <a:t>ixteenth </a:t>
            </a:r>
            <a:r>
              <a:rPr lang="en-US" sz="2800" dirty="0"/>
              <a:t>century </a:t>
            </a:r>
            <a:r>
              <a:rPr lang="en-US" sz="2800" dirty="0" smtClean="0"/>
              <a:t>witnessed </a:t>
            </a:r>
            <a:r>
              <a:rPr lang="en-US" sz="2800" dirty="0"/>
              <a:t>major conceptual </a:t>
            </a:r>
            <a:r>
              <a:rPr lang="en-US" sz="2800" dirty="0" smtClean="0"/>
              <a:t>change </a:t>
            </a:r>
            <a:r>
              <a:rPr lang="en-US" sz="2800" dirty="0"/>
              <a:t>the era of modern anatomy. </a:t>
            </a:r>
            <a:r>
              <a:rPr lang="en-US" sz="2800" dirty="0" err="1">
                <a:solidFill>
                  <a:schemeClr val="accent2">
                    <a:lumMod val="50000"/>
                  </a:schemeClr>
                </a:solidFill>
              </a:rPr>
              <a:t>Mondino</a:t>
            </a:r>
            <a:r>
              <a:rPr lang="en-US" sz="2800" dirty="0">
                <a:solidFill>
                  <a:schemeClr val="accent2">
                    <a:lumMod val="50000"/>
                  </a:schemeClr>
                </a:solidFill>
              </a:rPr>
              <a:t> de </a:t>
            </a:r>
            <a:r>
              <a:rPr lang="en-US" sz="2800" dirty="0" err="1">
                <a:solidFill>
                  <a:schemeClr val="accent2">
                    <a:lumMod val="50000"/>
                  </a:schemeClr>
                </a:solidFill>
              </a:rPr>
              <a:t>Liuzzi</a:t>
            </a:r>
            <a:r>
              <a:rPr lang="en-US" sz="2800" dirty="0">
                <a:solidFill>
                  <a:schemeClr val="accent2">
                    <a:lumMod val="50000"/>
                  </a:schemeClr>
                </a:solidFill>
              </a:rPr>
              <a:t> and Alessandro </a:t>
            </a:r>
            <a:r>
              <a:rPr lang="en-US" sz="2800" dirty="0" err="1">
                <a:solidFill>
                  <a:schemeClr val="accent2">
                    <a:lumMod val="50000"/>
                  </a:schemeClr>
                </a:solidFill>
              </a:rPr>
              <a:t>Achillini</a:t>
            </a:r>
            <a:r>
              <a:rPr lang="en-US" sz="2800" dirty="0">
                <a:solidFill>
                  <a:schemeClr val="accent2">
                    <a:lumMod val="50000"/>
                  </a:schemeClr>
                </a:solidFill>
              </a:rPr>
              <a:t> </a:t>
            </a:r>
            <a:r>
              <a:rPr lang="en-US" sz="2800" dirty="0"/>
              <a:t>were the first to dissect cadavers and conduct public anatomical demonstrations (</a:t>
            </a:r>
            <a:r>
              <a:rPr lang="en-US" sz="2800" dirty="0" err="1"/>
              <a:t>Carola</a:t>
            </a:r>
            <a:r>
              <a:rPr lang="en-US" sz="2800" dirty="0"/>
              <a:t> </a:t>
            </a:r>
            <a:r>
              <a:rPr lang="en-US" sz="2800" i="1" dirty="0"/>
              <a:t>et al.</a:t>
            </a:r>
            <a:r>
              <a:rPr lang="en-US" sz="2800" dirty="0"/>
              <a:t>, 1992</a:t>
            </a:r>
            <a:r>
              <a:rPr lang="en-US" sz="2800" dirty="0" smtClean="0"/>
              <a:t>).</a:t>
            </a:r>
          </a:p>
          <a:p>
            <a:pPr algn="just"/>
            <a:endParaRPr lang="en-US" sz="2800" dirty="0" smtClean="0"/>
          </a:p>
        </p:txBody>
      </p:sp>
    </p:spTree>
    <p:extLst>
      <p:ext uri="{BB962C8B-B14F-4D97-AF65-F5344CB8AC3E}">
        <p14:creationId xmlns:p14="http://schemas.microsoft.com/office/powerpoint/2010/main" val="3182177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00049" y="495300"/>
            <a:ext cx="10817450" cy="5905499"/>
          </a:xfrm>
        </p:spPr>
        <p:txBody>
          <a:bodyPr>
            <a:noAutofit/>
          </a:bodyPr>
          <a:lstStyle/>
          <a:p>
            <a:pPr algn="just"/>
            <a:r>
              <a:rPr lang="en-US" sz="2800" dirty="0">
                <a:solidFill>
                  <a:srgbClr val="00B0F0"/>
                </a:solidFill>
              </a:rPr>
              <a:t>The rebirth of anatomy era</a:t>
            </a:r>
            <a:r>
              <a:rPr lang="en-US" sz="2800" dirty="0"/>
              <a:t>: </a:t>
            </a:r>
            <a:r>
              <a:rPr lang="en-US" sz="2800" dirty="0">
                <a:solidFill>
                  <a:schemeClr val="accent2">
                    <a:lumMod val="50000"/>
                  </a:schemeClr>
                </a:solidFill>
              </a:rPr>
              <a:t>Andreas Vesalius </a:t>
            </a:r>
            <a:r>
              <a:rPr lang="en-US" sz="2800" dirty="0"/>
              <a:t>was the first challenge to the </a:t>
            </a:r>
            <a:r>
              <a:rPr lang="en-US" sz="2800" dirty="0" err="1">
                <a:solidFill>
                  <a:srgbClr val="00B050"/>
                </a:solidFill>
              </a:rPr>
              <a:t>Galenic</a:t>
            </a:r>
            <a:r>
              <a:rPr lang="en-US" sz="2800" dirty="0">
                <a:solidFill>
                  <a:srgbClr val="00B050"/>
                </a:solidFill>
              </a:rPr>
              <a:t> </a:t>
            </a:r>
            <a:r>
              <a:rPr lang="en-US" sz="2800" dirty="0" smtClean="0"/>
              <a:t>doctrine</a:t>
            </a:r>
          </a:p>
          <a:p>
            <a:pPr algn="just"/>
            <a:endParaRPr lang="en-US" sz="2800" dirty="0"/>
          </a:p>
          <a:p>
            <a:pPr algn="just"/>
            <a:r>
              <a:rPr lang="en-US" sz="2800" dirty="0"/>
              <a:t>The treatise, </a:t>
            </a:r>
            <a:r>
              <a:rPr lang="en-US" sz="2800" i="1" dirty="0">
                <a:solidFill>
                  <a:srgbClr val="FFC000"/>
                </a:solidFill>
              </a:rPr>
              <a:t>De </a:t>
            </a:r>
            <a:r>
              <a:rPr lang="en-US" sz="2800" i="1" dirty="0" err="1">
                <a:solidFill>
                  <a:srgbClr val="FFC000"/>
                </a:solidFill>
              </a:rPr>
              <a:t>humani</a:t>
            </a:r>
            <a:r>
              <a:rPr lang="en-US" sz="2800" i="1" dirty="0">
                <a:solidFill>
                  <a:srgbClr val="FFC000"/>
                </a:solidFill>
              </a:rPr>
              <a:t> </a:t>
            </a:r>
            <a:r>
              <a:rPr lang="en-US" sz="2800" i="1" dirty="0" err="1">
                <a:solidFill>
                  <a:srgbClr val="FFC000"/>
                </a:solidFill>
              </a:rPr>
              <a:t>corporis</a:t>
            </a:r>
            <a:r>
              <a:rPr lang="en-US" sz="2800" i="1" dirty="0">
                <a:solidFill>
                  <a:srgbClr val="FFC000"/>
                </a:solidFill>
              </a:rPr>
              <a:t> </a:t>
            </a:r>
            <a:r>
              <a:rPr lang="en-US" sz="2800" i="1" dirty="0" err="1">
                <a:solidFill>
                  <a:srgbClr val="FFC000"/>
                </a:solidFill>
              </a:rPr>
              <a:t>fabrica</a:t>
            </a:r>
            <a:r>
              <a:rPr lang="en-US" sz="2800" dirty="0"/>
              <a:t> published by </a:t>
            </a:r>
            <a:r>
              <a:rPr lang="en-US" sz="2800" dirty="0">
                <a:solidFill>
                  <a:schemeClr val="accent2">
                    <a:lumMod val="50000"/>
                  </a:schemeClr>
                </a:solidFill>
              </a:rPr>
              <a:t>Andreas Vesalius </a:t>
            </a:r>
            <a:r>
              <a:rPr lang="en-US" sz="2800" dirty="0"/>
              <a:t>gave clear descriptions of major body organs (William, 1999; Cushing, 1962) because he got permission to dissect human bodies</a:t>
            </a:r>
            <a:r>
              <a:rPr lang="en-US" sz="2800" dirty="0" smtClean="0"/>
              <a:t>.</a:t>
            </a:r>
          </a:p>
          <a:p>
            <a:pPr algn="just"/>
            <a:endParaRPr lang="en-US" sz="2800" dirty="0"/>
          </a:p>
          <a:p>
            <a:pPr algn="just"/>
            <a:r>
              <a:rPr lang="en-US" sz="2800" dirty="0">
                <a:solidFill>
                  <a:schemeClr val="accent2">
                    <a:lumMod val="50000"/>
                  </a:schemeClr>
                </a:solidFill>
              </a:rPr>
              <a:t>Andreas Vesalius</a:t>
            </a:r>
            <a:r>
              <a:rPr lang="en-GB" sz="2800" dirty="0" smtClean="0"/>
              <a:t> </a:t>
            </a:r>
            <a:r>
              <a:rPr lang="en-GB" sz="2800" dirty="0"/>
              <a:t>works were improved upon by </a:t>
            </a:r>
            <a:r>
              <a:rPr lang="en-GB" sz="2800" dirty="0">
                <a:solidFill>
                  <a:schemeClr val="accent2">
                    <a:lumMod val="50000"/>
                  </a:schemeClr>
                </a:solidFill>
              </a:rPr>
              <a:t>Columbus</a:t>
            </a:r>
            <a:r>
              <a:rPr lang="en-GB" sz="2800" dirty="0"/>
              <a:t> his successor who rectified and improved on the anatomy of the bones. He gave a correct account of the shape and cavities of the heart, the pulmonary artery, aorta and their valves.</a:t>
            </a:r>
          </a:p>
        </p:txBody>
      </p:sp>
    </p:spTree>
    <p:extLst>
      <p:ext uri="{BB962C8B-B14F-4D97-AF65-F5344CB8AC3E}">
        <p14:creationId xmlns:p14="http://schemas.microsoft.com/office/powerpoint/2010/main" val="8890333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33450" y="246979"/>
            <a:ext cx="10412837" cy="6362164"/>
          </a:xfrm>
        </p:spPr>
        <p:txBody>
          <a:bodyPr>
            <a:normAutofit/>
          </a:bodyPr>
          <a:lstStyle/>
          <a:p>
            <a:pPr algn="just"/>
            <a:endParaRPr lang="en-GB" dirty="0"/>
          </a:p>
          <a:p>
            <a:pPr algn="just"/>
            <a:r>
              <a:rPr lang="en-US" sz="2800" dirty="0">
                <a:solidFill>
                  <a:schemeClr val="accent2">
                    <a:lumMod val="50000"/>
                  </a:schemeClr>
                </a:solidFill>
              </a:rPr>
              <a:t>Leonardo da Vinci </a:t>
            </a:r>
            <a:r>
              <a:rPr lang="en-US" sz="2800" dirty="0"/>
              <a:t>was the first to notice an abnormality in a dissected corpse. However, autopsy came of age with the works of </a:t>
            </a:r>
            <a:r>
              <a:rPr lang="en-US" sz="2800" dirty="0">
                <a:solidFill>
                  <a:schemeClr val="accent2">
                    <a:lumMod val="50000"/>
                  </a:schemeClr>
                </a:solidFill>
              </a:rPr>
              <a:t>Giovanni </a:t>
            </a:r>
            <a:r>
              <a:rPr lang="en-US" sz="2800" dirty="0" err="1" smtClean="0">
                <a:solidFill>
                  <a:schemeClr val="accent2">
                    <a:lumMod val="50000"/>
                  </a:schemeClr>
                </a:solidFill>
              </a:rPr>
              <a:t>Morgagni</a:t>
            </a:r>
            <a:r>
              <a:rPr lang="en-US" sz="2800" dirty="0" smtClean="0"/>
              <a:t> </a:t>
            </a:r>
            <a:r>
              <a:rPr lang="en-US" sz="2800" dirty="0"/>
              <a:t>regarded as the father of modern pathology (</a:t>
            </a:r>
            <a:r>
              <a:rPr lang="en-US" sz="2800" dirty="0" err="1"/>
              <a:t>Carola</a:t>
            </a:r>
            <a:r>
              <a:rPr lang="en-US" sz="2800" dirty="0"/>
              <a:t> </a:t>
            </a:r>
            <a:r>
              <a:rPr lang="en-US" sz="2800" i="1" dirty="0"/>
              <a:t>et al.</a:t>
            </a:r>
            <a:r>
              <a:rPr lang="en-US" sz="2800" dirty="0"/>
              <a:t>, 1992). </a:t>
            </a:r>
            <a:r>
              <a:rPr lang="en-GB" sz="2800" dirty="0" smtClean="0"/>
              <a:t> </a:t>
            </a:r>
          </a:p>
          <a:p>
            <a:pPr algn="just"/>
            <a:endParaRPr lang="en-GB" sz="2800" dirty="0"/>
          </a:p>
          <a:p>
            <a:pPr algn="just"/>
            <a:r>
              <a:rPr lang="en-US" sz="2800" dirty="0">
                <a:solidFill>
                  <a:schemeClr val="accent2">
                    <a:lumMod val="50000"/>
                  </a:schemeClr>
                </a:solidFill>
              </a:rPr>
              <a:t>Marcello Malpighi </a:t>
            </a:r>
            <a:r>
              <a:rPr lang="en-US" sz="2800" dirty="0"/>
              <a:t>conducted extensive studies in human anatomy and </a:t>
            </a:r>
            <a:r>
              <a:rPr lang="en-US" sz="2800" dirty="0" smtClean="0"/>
              <a:t>histology using microscope. </a:t>
            </a:r>
            <a:r>
              <a:rPr lang="en-US" sz="2800" dirty="0"/>
              <a:t>Amongst his findings were the inner layer of the skin, outer part of the cerebral area of the brain </a:t>
            </a:r>
            <a:r>
              <a:rPr lang="en-US" sz="2800" dirty="0" smtClean="0"/>
              <a:t>etc.</a:t>
            </a:r>
          </a:p>
          <a:p>
            <a:pPr algn="just"/>
            <a:endParaRPr lang="en-US" sz="2800" dirty="0"/>
          </a:p>
          <a:p>
            <a:pPr algn="just"/>
            <a:r>
              <a:rPr lang="en-US" sz="2800" dirty="0" err="1" smtClean="0">
                <a:solidFill>
                  <a:schemeClr val="accent2">
                    <a:lumMod val="50000"/>
                  </a:schemeClr>
                </a:solidFill>
              </a:rPr>
              <a:t>Antonie</a:t>
            </a:r>
            <a:r>
              <a:rPr lang="en-US" sz="2800" dirty="0" smtClean="0">
                <a:solidFill>
                  <a:schemeClr val="accent2">
                    <a:lumMod val="50000"/>
                  </a:schemeClr>
                </a:solidFill>
              </a:rPr>
              <a:t> </a:t>
            </a:r>
            <a:r>
              <a:rPr lang="en-US" sz="2800" dirty="0">
                <a:solidFill>
                  <a:schemeClr val="accent2">
                    <a:lumMod val="50000"/>
                  </a:schemeClr>
                </a:solidFill>
              </a:rPr>
              <a:t>van </a:t>
            </a:r>
            <a:r>
              <a:rPr lang="en-US" sz="2800" dirty="0" smtClean="0">
                <a:solidFill>
                  <a:schemeClr val="accent2">
                    <a:lumMod val="50000"/>
                  </a:schemeClr>
                </a:solidFill>
              </a:rPr>
              <a:t>Leeuwenhoek</a:t>
            </a:r>
            <a:r>
              <a:rPr lang="en-US" sz="2800" dirty="0" smtClean="0"/>
              <a:t> </a:t>
            </a:r>
            <a:r>
              <a:rPr lang="en-US" sz="2800" dirty="0"/>
              <a:t>used single lenses to achieve magnifications from 40-270 diameters</a:t>
            </a:r>
            <a:r>
              <a:rPr lang="en-US" sz="2800" dirty="0" smtClean="0"/>
              <a:t>.</a:t>
            </a:r>
            <a:r>
              <a:rPr lang="en-US" sz="2800" dirty="0"/>
              <a:t> H</a:t>
            </a:r>
            <a:r>
              <a:rPr lang="en-US" sz="2800" dirty="0" smtClean="0"/>
              <a:t>e </a:t>
            </a:r>
            <a:r>
              <a:rPr lang="en-US" sz="2800" dirty="0"/>
              <a:t>was able to see the infusion of many protozoa of different shapes and </a:t>
            </a:r>
            <a:r>
              <a:rPr lang="en-US" sz="2800" dirty="0" smtClean="0"/>
              <a:t>sizes.</a:t>
            </a:r>
            <a:endParaRPr lang="en-GB" sz="2800" dirty="0"/>
          </a:p>
        </p:txBody>
      </p:sp>
    </p:spTree>
    <p:extLst>
      <p:ext uri="{BB962C8B-B14F-4D97-AF65-F5344CB8AC3E}">
        <p14:creationId xmlns:p14="http://schemas.microsoft.com/office/powerpoint/2010/main" val="3597801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19150" y="390526"/>
            <a:ext cx="10758957" cy="6172200"/>
          </a:xfrm>
        </p:spPr>
        <p:txBody>
          <a:bodyPr>
            <a:noAutofit/>
          </a:bodyPr>
          <a:lstStyle/>
          <a:p>
            <a:pPr algn="just"/>
            <a:r>
              <a:rPr lang="en-US" sz="2800" dirty="0"/>
              <a:t>The discipline also progressed to establish a growing source of knowledge in histology and developmental </a:t>
            </a:r>
            <a:r>
              <a:rPr lang="en-US" sz="2800" dirty="0" smtClean="0"/>
              <a:t>biology.</a:t>
            </a:r>
          </a:p>
          <a:p>
            <a:pPr algn="just"/>
            <a:endParaRPr lang="en-US" sz="2800" dirty="0"/>
          </a:p>
          <a:p>
            <a:pPr algn="just"/>
            <a:r>
              <a:rPr lang="en-US" sz="2800" dirty="0"/>
              <a:t>Another major breakthrough in the history of anatomy occurred through radiological advances </a:t>
            </a:r>
            <a:r>
              <a:rPr lang="en-US" sz="2800" dirty="0" smtClean="0"/>
              <a:t>in </a:t>
            </a:r>
            <a:r>
              <a:rPr lang="en-US" sz="2800" dirty="0"/>
              <a:t>20</a:t>
            </a:r>
            <a:r>
              <a:rPr lang="en-US" sz="2800" baseline="30000" dirty="0"/>
              <a:t>th</a:t>
            </a:r>
            <a:r>
              <a:rPr lang="en-US" sz="2800" dirty="0"/>
              <a:t> century in which scientists made remarkable connections between anatomy and </a:t>
            </a:r>
            <a:r>
              <a:rPr lang="en-US" sz="2800" dirty="0" smtClean="0"/>
              <a:t>physiology.</a:t>
            </a:r>
          </a:p>
          <a:p>
            <a:pPr algn="just"/>
            <a:endParaRPr lang="en-US" sz="2800" dirty="0"/>
          </a:p>
          <a:p>
            <a:pPr algn="just"/>
            <a:r>
              <a:rPr lang="en-US" sz="2800" dirty="0" smtClean="0"/>
              <a:t>It enabled </a:t>
            </a:r>
            <a:r>
              <a:rPr lang="en-US" sz="2800" dirty="0"/>
              <a:t>researchers to integrate the study of anatomy with the other disciplines, including biochemistry, genetics and </a:t>
            </a:r>
            <a:r>
              <a:rPr lang="en-US" sz="2800" dirty="0" smtClean="0"/>
              <a:t>biophysics.</a:t>
            </a:r>
          </a:p>
          <a:p>
            <a:pPr algn="just"/>
            <a:endParaRPr lang="en-US" sz="2800" dirty="0"/>
          </a:p>
          <a:p>
            <a:pPr algn="just"/>
            <a:r>
              <a:rPr lang="en-US" sz="2800" dirty="0" smtClean="0"/>
              <a:t>A </a:t>
            </a:r>
            <a:r>
              <a:rPr lang="en-US" sz="2800" dirty="0"/>
              <a:t>radiological advance is the very foundation of successful imaging</a:t>
            </a:r>
            <a:r>
              <a:rPr lang="en-US" sz="2800" dirty="0" smtClean="0"/>
              <a:t>.</a:t>
            </a:r>
          </a:p>
          <a:p>
            <a:pPr algn="just"/>
            <a:r>
              <a:rPr lang="en-GB" sz="2800" dirty="0" smtClean="0"/>
              <a:t>Sectional </a:t>
            </a:r>
            <a:r>
              <a:rPr lang="en-GB" sz="2800" dirty="0"/>
              <a:t>anatomy involves the use of </a:t>
            </a:r>
            <a:r>
              <a:rPr lang="en-GB" sz="2800" dirty="0" smtClean="0"/>
              <a:t>labelled </a:t>
            </a:r>
            <a:r>
              <a:rPr lang="en-GB" sz="2800" dirty="0">
                <a:solidFill>
                  <a:srgbClr val="FF0000"/>
                </a:solidFill>
              </a:rPr>
              <a:t>Computed Tomography (CT) </a:t>
            </a:r>
            <a:r>
              <a:rPr lang="en-GB" sz="2800" dirty="0"/>
              <a:t>and </a:t>
            </a:r>
            <a:r>
              <a:rPr lang="en-GB" sz="2800" dirty="0">
                <a:solidFill>
                  <a:srgbClr val="FF0000"/>
                </a:solidFill>
              </a:rPr>
              <a:t>Magnetic Resonance Imaging (MRI) </a:t>
            </a:r>
            <a:r>
              <a:rPr lang="en-GB" sz="2800" dirty="0"/>
              <a:t>(</a:t>
            </a:r>
            <a:r>
              <a:rPr lang="en-GB" sz="2800" dirty="0" err="1"/>
              <a:t>Carola</a:t>
            </a:r>
            <a:r>
              <a:rPr lang="en-GB" sz="2800" dirty="0"/>
              <a:t> et al., 1992).</a:t>
            </a:r>
          </a:p>
        </p:txBody>
      </p:sp>
    </p:spTree>
    <p:extLst>
      <p:ext uri="{BB962C8B-B14F-4D97-AF65-F5344CB8AC3E}">
        <p14:creationId xmlns:p14="http://schemas.microsoft.com/office/powerpoint/2010/main" val="1296217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95500" y="265113"/>
            <a:ext cx="6372225" cy="725487"/>
          </a:xfrm>
        </p:spPr>
        <p:txBody>
          <a:bodyPr>
            <a:normAutofit fontScale="90000"/>
          </a:bodyPr>
          <a:lstStyle/>
          <a:p>
            <a:r>
              <a:rPr lang="en-US" b="1" dirty="0">
                <a:latin typeface="Blackadder ITC" panose="04020505051007020D02" pitchFamily="82" charset="0"/>
              </a:rPr>
              <a:t>Branches of anatomy</a:t>
            </a:r>
            <a:endParaRPr lang="en-GB" dirty="0">
              <a:latin typeface="Blackadder ITC" panose="04020505051007020D02" pitchFamily="82" charset="0"/>
            </a:endParaRPr>
          </a:p>
        </p:txBody>
      </p:sp>
      <p:sp>
        <p:nvSpPr>
          <p:cNvPr id="3" name="Subtitle 2"/>
          <p:cNvSpPr>
            <a:spLocks noGrp="1"/>
          </p:cNvSpPr>
          <p:nvPr>
            <p:ph type="subTitle" idx="1"/>
          </p:nvPr>
        </p:nvSpPr>
        <p:spPr>
          <a:xfrm>
            <a:off x="647700" y="1133475"/>
            <a:ext cx="11123590" cy="5499145"/>
          </a:xfrm>
        </p:spPr>
        <p:txBody>
          <a:bodyPr>
            <a:noAutofit/>
          </a:bodyPr>
          <a:lstStyle/>
          <a:p>
            <a:pPr algn="just"/>
            <a:r>
              <a:rPr lang="en-US" sz="2800" dirty="0"/>
              <a:t>Anatomy is a subject that grew overtime following advances in </a:t>
            </a:r>
            <a:r>
              <a:rPr lang="en-US" sz="2800" dirty="0" smtClean="0"/>
              <a:t>technology.</a:t>
            </a:r>
          </a:p>
          <a:p>
            <a:pPr algn="just"/>
            <a:r>
              <a:rPr lang="en-US" sz="2800" dirty="0" smtClean="0"/>
              <a:t>It has </a:t>
            </a:r>
            <a:r>
              <a:rPr lang="en-US" sz="2800" dirty="0"/>
              <a:t>developed to include; </a:t>
            </a:r>
            <a:r>
              <a:rPr lang="en-US" sz="2800" dirty="0">
                <a:solidFill>
                  <a:srgbClr val="00B050"/>
                </a:solidFill>
              </a:rPr>
              <a:t>gross anatomy</a:t>
            </a:r>
            <a:r>
              <a:rPr lang="en-US" sz="2800" dirty="0"/>
              <a:t>, </a:t>
            </a:r>
            <a:r>
              <a:rPr lang="en-US" sz="2800" dirty="0">
                <a:solidFill>
                  <a:srgbClr val="FF0000"/>
                </a:solidFill>
              </a:rPr>
              <a:t>developmental anatomy</a:t>
            </a:r>
            <a:r>
              <a:rPr lang="en-US" sz="2800" dirty="0"/>
              <a:t>, </a:t>
            </a:r>
            <a:r>
              <a:rPr lang="en-US" sz="2800" dirty="0">
                <a:solidFill>
                  <a:srgbClr val="00B0F0"/>
                </a:solidFill>
              </a:rPr>
              <a:t>histology</a:t>
            </a:r>
            <a:r>
              <a:rPr lang="en-US" sz="2800" dirty="0"/>
              <a:t>, </a:t>
            </a:r>
            <a:r>
              <a:rPr lang="en-US" sz="2800" dirty="0">
                <a:solidFill>
                  <a:srgbClr val="FF0000"/>
                </a:solidFill>
              </a:rPr>
              <a:t>cytology</a:t>
            </a:r>
            <a:r>
              <a:rPr lang="en-US" sz="2800" dirty="0"/>
              <a:t>, </a:t>
            </a:r>
            <a:r>
              <a:rPr lang="en-US" sz="2800" dirty="0">
                <a:solidFill>
                  <a:srgbClr val="00B0F0"/>
                </a:solidFill>
              </a:rPr>
              <a:t>comparative anatomy</a:t>
            </a:r>
            <a:r>
              <a:rPr lang="en-US" sz="2800" dirty="0"/>
              <a:t>, </a:t>
            </a:r>
            <a:r>
              <a:rPr lang="en-US" sz="2800" dirty="0">
                <a:solidFill>
                  <a:srgbClr val="FF0000"/>
                </a:solidFill>
              </a:rPr>
              <a:t>pathological anatomy</a:t>
            </a:r>
            <a:r>
              <a:rPr lang="en-US" sz="2800" dirty="0"/>
              <a:t>, </a:t>
            </a:r>
            <a:r>
              <a:rPr lang="en-US" sz="2800" dirty="0">
                <a:solidFill>
                  <a:srgbClr val="00B0F0"/>
                </a:solidFill>
              </a:rPr>
              <a:t>functional anatomy</a:t>
            </a:r>
            <a:r>
              <a:rPr lang="en-US" sz="2800" dirty="0"/>
              <a:t>, </a:t>
            </a:r>
            <a:r>
              <a:rPr lang="en-US" sz="2800" dirty="0">
                <a:solidFill>
                  <a:srgbClr val="FF0000"/>
                </a:solidFill>
              </a:rPr>
              <a:t>anthropological anatomy </a:t>
            </a:r>
            <a:r>
              <a:rPr lang="en-US" sz="2800" dirty="0"/>
              <a:t>and </a:t>
            </a:r>
            <a:r>
              <a:rPr lang="en-US" sz="2800" dirty="0">
                <a:solidFill>
                  <a:srgbClr val="00B050"/>
                </a:solidFill>
              </a:rPr>
              <a:t>surface </a:t>
            </a:r>
            <a:r>
              <a:rPr lang="en-US" sz="2800" dirty="0" smtClean="0">
                <a:solidFill>
                  <a:srgbClr val="00B050"/>
                </a:solidFill>
              </a:rPr>
              <a:t>anatomy.</a:t>
            </a:r>
          </a:p>
          <a:p>
            <a:pPr algn="just"/>
            <a:endParaRPr lang="en-US" sz="2800" dirty="0">
              <a:solidFill>
                <a:srgbClr val="00B050"/>
              </a:solidFill>
            </a:endParaRPr>
          </a:p>
          <a:p>
            <a:pPr lvl="0" algn="just"/>
            <a:r>
              <a:rPr lang="en-US" sz="2800" b="1" dirty="0">
                <a:solidFill>
                  <a:srgbClr val="00B050"/>
                </a:solidFill>
              </a:rPr>
              <a:t>Gross </a:t>
            </a:r>
            <a:r>
              <a:rPr lang="en-US" sz="2800" b="1" dirty="0" smtClean="0">
                <a:solidFill>
                  <a:srgbClr val="00B050"/>
                </a:solidFill>
              </a:rPr>
              <a:t>anatomy</a:t>
            </a:r>
            <a:r>
              <a:rPr lang="en-US" sz="2800" dirty="0" smtClean="0"/>
              <a:t>: The </a:t>
            </a:r>
            <a:r>
              <a:rPr lang="en-US" sz="2800" dirty="0"/>
              <a:t>study of various structures in the body visible to the naked eyes.	</a:t>
            </a:r>
            <a:endParaRPr lang="en-GB" sz="2800" dirty="0"/>
          </a:p>
          <a:p>
            <a:pPr lvl="0" algn="just"/>
            <a:r>
              <a:rPr lang="en-US" sz="2800" b="1" dirty="0">
                <a:solidFill>
                  <a:srgbClr val="FF0000"/>
                </a:solidFill>
              </a:rPr>
              <a:t>Developmental anatomy</a:t>
            </a:r>
            <a:r>
              <a:rPr lang="en-US" sz="2800" dirty="0"/>
              <a:t>: </a:t>
            </a:r>
            <a:r>
              <a:rPr lang="en-US" sz="2800" dirty="0" smtClean="0"/>
              <a:t>The </a:t>
            </a:r>
            <a:r>
              <a:rPr lang="en-US" sz="2800" dirty="0"/>
              <a:t>study of the human organism involving various stages of intrauterine development from the fertilized ovum up to </a:t>
            </a:r>
            <a:r>
              <a:rPr lang="en-US" sz="2800" dirty="0" smtClean="0"/>
              <a:t>birth.</a:t>
            </a:r>
            <a:endParaRPr lang="en-GB" sz="2800" dirty="0"/>
          </a:p>
          <a:p>
            <a:pPr algn="just"/>
            <a:r>
              <a:rPr lang="en-US" sz="2800" dirty="0" smtClean="0">
                <a:solidFill>
                  <a:srgbClr val="00B050"/>
                </a:solidFill>
              </a:rPr>
              <a:t> </a:t>
            </a:r>
            <a:r>
              <a:rPr lang="en-US" sz="2800" b="1" dirty="0" smtClean="0">
                <a:solidFill>
                  <a:srgbClr val="00B0F0"/>
                </a:solidFill>
              </a:rPr>
              <a:t>Histology</a:t>
            </a:r>
            <a:r>
              <a:rPr lang="en-US" sz="2800" dirty="0" smtClean="0"/>
              <a:t>: </a:t>
            </a:r>
            <a:r>
              <a:rPr lang="en-US" sz="2800" dirty="0"/>
              <a:t>It is the study of the minute structures invisible to the naked </a:t>
            </a:r>
            <a:r>
              <a:rPr lang="en-US" sz="2800" dirty="0" smtClean="0"/>
              <a:t>eyes. </a:t>
            </a:r>
            <a:endParaRPr lang="en-GB" sz="2800" dirty="0">
              <a:solidFill>
                <a:srgbClr val="00B050"/>
              </a:solidFill>
            </a:endParaRPr>
          </a:p>
        </p:txBody>
      </p:sp>
    </p:spTree>
    <p:extLst>
      <p:ext uri="{BB962C8B-B14F-4D97-AF65-F5344CB8AC3E}">
        <p14:creationId xmlns:p14="http://schemas.microsoft.com/office/powerpoint/2010/main" val="3455216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52524" y="266699"/>
            <a:ext cx="10464219" cy="6353175"/>
          </a:xfrm>
        </p:spPr>
        <p:txBody>
          <a:bodyPr>
            <a:noAutofit/>
          </a:bodyPr>
          <a:lstStyle/>
          <a:p>
            <a:pPr lvl="0" algn="just"/>
            <a:r>
              <a:rPr lang="en-US" sz="2800" b="1" dirty="0">
                <a:solidFill>
                  <a:srgbClr val="FF0000"/>
                </a:solidFill>
              </a:rPr>
              <a:t>Cytology</a:t>
            </a:r>
            <a:r>
              <a:rPr lang="en-US" sz="2800" dirty="0">
                <a:solidFill>
                  <a:srgbClr val="FF0000"/>
                </a:solidFill>
              </a:rPr>
              <a:t>: </a:t>
            </a:r>
            <a:r>
              <a:rPr lang="en-US" sz="2800" dirty="0"/>
              <a:t>T</a:t>
            </a:r>
            <a:r>
              <a:rPr lang="en-US" sz="2800" dirty="0" smtClean="0"/>
              <a:t>he </a:t>
            </a:r>
            <a:r>
              <a:rPr lang="en-US" sz="2800" dirty="0"/>
              <a:t>study of cells in the body</a:t>
            </a:r>
            <a:r>
              <a:rPr lang="en-US" sz="2800" dirty="0" smtClean="0"/>
              <a:t>.</a:t>
            </a:r>
          </a:p>
          <a:p>
            <a:pPr lvl="0" algn="just"/>
            <a:endParaRPr lang="en-GB" sz="2800" dirty="0"/>
          </a:p>
          <a:p>
            <a:pPr lvl="0" algn="just"/>
            <a:r>
              <a:rPr lang="en-US" sz="2800" b="1" dirty="0">
                <a:solidFill>
                  <a:srgbClr val="00B0F0"/>
                </a:solidFill>
              </a:rPr>
              <a:t>Comparative anatomy</a:t>
            </a:r>
            <a:r>
              <a:rPr lang="en-US" sz="2800" dirty="0">
                <a:solidFill>
                  <a:srgbClr val="00B0F0"/>
                </a:solidFill>
              </a:rPr>
              <a:t>: </a:t>
            </a:r>
            <a:r>
              <a:rPr lang="en-US" sz="2800" dirty="0" smtClean="0"/>
              <a:t>The </a:t>
            </a:r>
            <a:r>
              <a:rPr lang="en-US" sz="2800" dirty="0"/>
              <a:t>study of the structure of different animals by the consideration of adult forms in the line of human ancestry</a:t>
            </a:r>
            <a:r>
              <a:rPr lang="en-US" sz="2800" dirty="0" smtClean="0"/>
              <a:t>.</a:t>
            </a:r>
          </a:p>
          <a:p>
            <a:pPr lvl="0" algn="just"/>
            <a:endParaRPr lang="en-GB" sz="2800" dirty="0"/>
          </a:p>
          <a:p>
            <a:pPr lvl="0" algn="just"/>
            <a:r>
              <a:rPr lang="en-US" sz="2800" b="1" dirty="0">
                <a:solidFill>
                  <a:srgbClr val="FF0000"/>
                </a:solidFill>
              </a:rPr>
              <a:t>Pathological </a:t>
            </a:r>
            <a:r>
              <a:rPr lang="en-US" sz="2800" b="1" dirty="0" smtClean="0">
                <a:solidFill>
                  <a:srgbClr val="FF0000"/>
                </a:solidFill>
              </a:rPr>
              <a:t>anatomy</a:t>
            </a:r>
            <a:r>
              <a:rPr lang="en-US" sz="2800" dirty="0" smtClean="0"/>
              <a:t>: </a:t>
            </a:r>
            <a:r>
              <a:rPr lang="en-US" sz="2800" dirty="0"/>
              <a:t>T</a:t>
            </a:r>
            <a:r>
              <a:rPr lang="en-US" sz="2800" dirty="0" smtClean="0"/>
              <a:t>he </a:t>
            </a:r>
            <a:r>
              <a:rPr lang="en-US" sz="2800" dirty="0"/>
              <a:t>study of disease conditions of tissues, organs and systems</a:t>
            </a:r>
            <a:r>
              <a:rPr lang="en-US" sz="2800" dirty="0" smtClean="0"/>
              <a:t>.</a:t>
            </a:r>
          </a:p>
          <a:p>
            <a:pPr lvl="0" algn="just"/>
            <a:endParaRPr lang="en-GB" sz="2800" dirty="0"/>
          </a:p>
          <a:p>
            <a:pPr lvl="0" algn="just"/>
            <a:r>
              <a:rPr lang="en-US" sz="2800" b="1" dirty="0">
                <a:solidFill>
                  <a:srgbClr val="00B0F0"/>
                </a:solidFill>
              </a:rPr>
              <a:t>Functional anatomy</a:t>
            </a:r>
            <a:r>
              <a:rPr lang="en-US" sz="2800" dirty="0"/>
              <a:t>: A</a:t>
            </a:r>
            <a:r>
              <a:rPr lang="en-US" sz="2800" dirty="0" smtClean="0"/>
              <a:t>n </a:t>
            </a:r>
            <a:r>
              <a:rPr lang="en-US" sz="2800" dirty="0"/>
              <a:t>aspect of anatomy that overlaps with physiology. It is concerned with the study of functions of normal body parts</a:t>
            </a:r>
            <a:r>
              <a:rPr lang="en-US" sz="2800" dirty="0" smtClean="0"/>
              <a:t>.</a:t>
            </a:r>
            <a:endParaRPr lang="en-GB" sz="2800" dirty="0"/>
          </a:p>
          <a:p>
            <a:pPr lvl="0" algn="just"/>
            <a:r>
              <a:rPr lang="en-US" sz="2800" b="1" dirty="0">
                <a:solidFill>
                  <a:srgbClr val="FF0000"/>
                </a:solidFill>
              </a:rPr>
              <a:t>Anthropological anatomy</a:t>
            </a:r>
            <a:r>
              <a:rPr lang="en-US" sz="2800" dirty="0"/>
              <a:t>: It is an aspect of science that is concerned with the comparison of the anatomy of different races of mankind</a:t>
            </a:r>
            <a:r>
              <a:rPr lang="en-US" sz="2800" dirty="0" smtClean="0"/>
              <a:t>.</a:t>
            </a:r>
            <a:endParaRPr lang="en-GB" sz="2800" dirty="0"/>
          </a:p>
        </p:txBody>
      </p:sp>
    </p:spTree>
    <p:extLst>
      <p:ext uri="{BB962C8B-B14F-4D97-AF65-F5344CB8AC3E}">
        <p14:creationId xmlns:p14="http://schemas.microsoft.com/office/powerpoint/2010/main" val="1408038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1804" y="231820"/>
            <a:ext cx="10797057" cy="6400800"/>
          </a:xfrm>
        </p:spPr>
        <p:txBody>
          <a:bodyPr>
            <a:normAutofit fontScale="25000" lnSpcReduction="20000"/>
          </a:bodyPr>
          <a:lstStyle/>
          <a:p>
            <a:pPr lvl="0" algn="just">
              <a:lnSpc>
                <a:spcPct val="120000"/>
              </a:lnSpc>
            </a:pPr>
            <a:r>
              <a:rPr lang="en-US" sz="11200" b="1" dirty="0">
                <a:solidFill>
                  <a:srgbClr val="00B050"/>
                </a:solidFill>
              </a:rPr>
              <a:t>Surface or superficial anatomy</a:t>
            </a:r>
            <a:r>
              <a:rPr lang="en-US" sz="11200" dirty="0"/>
              <a:t>: T</a:t>
            </a:r>
            <a:r>
              <a:rPr lang="en-US" sz="11200" dirty="0" smtClean="0"/>
              <a:t>he </a:t>
            </a:r>
            <a:r>
              <a:rPr lang="en-US" sz="11200" dirty="0"/>
              <a:t>study of anatomical landmarks that can be readily identified from contours or other reference points on the surface of the </a:t>
            </a:r>
            <a:r>
              <a:rPr lang="en-US" sz="11200" dirty="0" smtClean="0"/>
              <a:t>body.</a:t>
            </a:r>
          </a:p>
          <a:p>
            <a:pPr lvl="0" algn="just">
              <a:lnSpc>
                <a:spcPct val="120000"/>
              </a:lnSpc>
            </a:pPr>
            <a:r>
              <a:rPr lang="en-US" sz="11200" dirty="0" smtClean="0"/>
              <a:t>More </a:t>
            </a:r>
            <a:r>
              <a:rPr lang="en-US" sz="11200" dirty="0"/>
              <a:t>often, with the knowledge of the surface anatomy, physicians can gauge the precise position of the anatomy of the associated disease structures</a:t>
            </a:r>
            <a:r>
              <a:rPr lang="en-US" sz="11200" dirty="0" smtClean="0"/>
              <a:t>.</a:t>
            </a:r>
          </a:p>
          <a:p>
            <a:pPr lvl="0" algn="l">
              <a:lnSpc>
                <a:spcPct val="120000"/>
              </a:lnSpc>
            </a:pPr>
            <a:r>
              <a:rPr lang="en-US" sz="16000" b="1" dirty="0">
                <a:solidFill>
                  <a:srgbClr val="7030A0"/>
                </a:solidFill>
                <a:latin typeface="Blackadder ITC" panose="04020505051007020D02" pitchFamily="82" charset="0"/>
              </a:rPr>
              <a:t>Anatomical </a:t>
            </a:r>
            <a:r>
              <a:rPr lang="en-US" sz="16000" b="1" dirty="0" smtClean="0">
                <a:solidFill>
                  <a:srgbClr val="7030A0"/>
                </a:solidFill>
                <a:latin typeface="Blackadder ITC" panose="04020505051007020D02" pitchFamily="82" charset="0"/>
              </a:rPr>
              <a:t>orientations</a:t>
            </a:r>
            <a:r>
              <a:rPr lang="en-US" sz="11200" b="1" dirty="0" smtClean="0">
                <a:solidFill>
                  <a:srgbClr val="7030A0"/>
                </a:solidFill>
                <a:latin typeface="Blackadder ITC" panose="04020505051007020D02" pitchFamily="82" charset="0"/>
              </a:rPr>
              <a:t>: </a:t>
            </a:r>
            <a:r>
              <a:rPr lang="en-US" sz="11200" dirty="0" smtClean="0"/>
              <a:t>It is the </a:t>
            </a:r>
            <a:r>
              <a:rPr lang="en-US" sz="11200" dirty="0"/>
              <a:t>imaginary planes through the body used to describe its </a:t>
            </a:r>
            <a:r>
              <a:rPr lang="en-US" sz="11200" dirty="0" smtClean="0"/>
              <a:t>orientations.</a:t>
            </a:r>
            <a:r>
              <a:rPr lang="en-US" sz="11200" dirty="0"/>
              <a:t> </a:t>
            </a:r>
            <a:endParaRPr lang="en-US" sz="11200" dirty="0" smtClean="0"/>
          </a:p>
          <a:p>
            <a:pPr lvl="0" algn="just">
              <a:lnSpc>
                <a:spcPct val="120000"/>
              </a:lnSpc>
            </a:pPr>
            <a:r>
              <a:rPr lang="en-US" sz="11200" dirty="0" smtClean="0"/>
              <a:t>A </a:t>
            </a:r>
            <a:r>
              <a:rPr lang="en-US" sz="11200" dirty="0"/>
              <a:t>person in the standard anatomical position is standing up erect with the feet planted on the ground, the face straight, and the arms hanging at the sides with the palms of the hands facing in the same direction as the </a:t>
            </a:r>
            <a:r>
              <a:rPr lang="en-US" sz="11200" dirty="0" smtClean="0"/>
              <a:t>face.</a:t>
            </a:r>
          </a:p>
          <a:p>
            <a:pPr lvl="0" algn="just">
              <a:lnSpc>
                <a:spcPct val="170000"/>
              </a:lnSpc>
            </a:pPr>
            <a:endParaRPr lang="en-US" sz="8600" dirty="0" smtClean="0">
              <a:solidFill>
                <a:srgbClr val="7030A0"/>
              </a:solidFill>
              <a:latin typeface="Blackadder ITC" panose="04020505051007020D02" pitchFamily="82" charset="0"/>
            </a:endParaRPr>
          </a:p>
          <a:p>
            <a:pPr algn="just">
              <a:lnSpc>
                <a:spcPct val="170000"/>
              </a:lnSpc>
            </a:pPr>
            <a:r>
              <a:rPr lang="en-US" dirty="0"/>
              <a:t> </a:t>
            </a:r>
            <a:endParaRPr lang="en-US" dirty="0" smtClean="0"/>
          </a:p>
          <a:p>
            <a:pPr algn="just"/>
            <a:endParaRPr lang="en-GB" dirty="0"/>
          </a:p>
        </p:txBody>
      </p:sp>
    </p:spTree>
    <p:extLst>
      <p:ext uri="{BB962C8B-B14F-4D97-AF65-F5344CB8AC3E}">
        <p14:creationId xmlns:p14="http://schemas.microsoft.com/office/powerpoint/2010/main" val="1694008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47925" y="171450"/>
            <a:ext cx="6534150" cy="678556"/>
          </a:xfrm>
        </p:spPr>
        <p:txBody>
          <a:bodyPr>
            <a:normAutofit fontScale="90000"/>
          </a:bodyPr>
          <a:lstStyle/>
          <a:p>
            <a:r>
              <a:rPr lang="en-US" b="1" dirty="0">
                <a:latin typeface="Blackadder ITC" panose="04020505051007020D02" pitchFamily="82" charset="0"/>
              </a:rPr>
              <a:t>Basic anatomical </a:t>
            </a:r>
            <a:r>
              <a:rPr lang="en-US" b="1" dirty="0" smtClean="0">
                <a:latin typeface="Blackadder ITC" panose="04020505051007020D02" pitchFamily="82" charset="0"/>
              </a:rPr>
              <a:t>terms</a:t>
            </a:r>
            <a:endParaRPr lang="en-GB" dirty="0">
              <a:latin typeface="Blackadder ITC" panose="04020505051007020D02" pitchFamily="82" charset="0"/>
            </a:endParaRPr>
          </a:p>
        </p:txBody>
      </p:sp>
      <p:sp>
        <p:nvSpPr>
          <p:cNvPr id="3" name="Subtitle 2"/>
          <p:cNvSpPr>
            <a:spLocks noGrp="1"/>
          </p:cNvSpPr>
          <p:nvPr>
            <p:ph type="subTitle" idx="1"/>
          </p:nvPr>
        </p:nvSpPr>
        <p:spPr>
          <a:xfrm>
            <a:off x="628649" y="734096"/>
            <a:ext cx="11013852" cy="5975797"/>
          </a:xfrm>
        </p:spPr>
        <p:txBody>
          <a:bodyPr>
            <a:noAutofit/>
          </a:bodyPr>
          <a:lstStyle/>
          <a:p>
            <a:pPr algn="just"/>
            <a:r>
              <a:rPr lang="en-US" sz="2800" dirty="0" smtClean="0">
                <a:solidFill>
                  <a:srgbClr val="FFC000"/>
                </a:solidFill>
              </a:rPr>
              <a:t>The </a:t>
            </a:r>
            <a:r>
              <a:rPr lang="en-US" sz="2800" dirty="0">
                <a:solidFill>
                  <a:srgbClr val="FFC000"/>
                </a:solidFill>
              </a:rPr>
              <a:t>terms in anatomy </a:t>
            </a:r>
            <a:r>
              <a:rPr lang="en-US" sz="2800" dirty="0" err="1">
                <a:solidFill>
                  <a:srgbClr val="FFC000"/>
                </a:solidFill>
              </a:rPr>
              <a:t>centre</a:t>
            </a:r>
            <a:r>
              <a:rPr lang="en-US" sz="2800" dirty="0">
                <a:solidFill>
                  <a:srgbClr val="FFC000"/>
                </a:solidFill>
              </a:rPr>
              <a:t> on two major </a:t>
            </a:r>
            <a:r>
              <a:rPr lang="en-US" sz="2800" dirty="0" smtClean="0">
                <a:solidFill>
                  <a:srgbClr val="FFC000"/>
                </a:solidFill>
              </a:rPr>
              <a:t>areas</a:t>
            </a:r>
            <a:r>
              <a:rPr lang="en-US" dirty="0" smtClean="0"/>
              <a:t>:</a:t>
            </a:r>
            <a:endParaRPr lang="en-GB" dirty="0"/>
          </a:p>
          <a:p>
            <a:pPr algn="just"/>
            <a:r>
              <a:rPr lang="en-US" sz="3200" b="1" dirty="0" smtClean="0">
                <a:solidFill>
                  <a:srgbClr val="0070C0"/>
                </a:solidFill>
                <a:latin typeface="Blackadder ITC" panose="04020505051007020D02" pitchFamily="82" charset="0"/>
              </a:rPr>
              <a:t>Anatomical </a:t>
            </a:r>
            <a:r>
              <a:rPr lang="en-US" sz="3200" b="1" dirty="0">
                <a:solidFill>
                  <a:srgbClr val="0070C0"/>
                </a:solidFill>
                <a:latin typeface="Blackadder ITC" panose="04020505051007020D02" pitchFamily="82" charset="0"/>
              </a:rPr>
              <a:t>planes and </a:t>
            </a:r>
            <a:r>
              <a:rPr lang="en-US" sz="3200" b="1" dirty="0" smtClean="0">
                <a:solidFill>
                  <a:srgbClr val="0070C0"/>
                </a:solidFill>
                <a:latin typeface="Blackadder ITC" panose="04020505051007020D02" pitchFamily="82" charset="0"/>
              </a:rPr>
              <a:t>sections</a:t>
            </a:r>
          </a:p>
          <a:p>
            <a:pPr algn="just"/>
            <a:r>
              <a:rPr lang="en-US" sz="3200" b="1" dirty="0">
                <a:solidFill>
                  <a:srgbClr val="00B050"/>
                </a:solidFill>
                <a:latin typeface="Blackadder ITC" panose="04020505051007020D02" pitchFamily="82" charset="0"/>
              </a:rPr>
              <a:t>Directional </a:t>
            </a:r>
            <a:r>
              <a:rPr lang="en-US" sz="3200" b="1" dirty="0" smtClean="0">
                <a:solidFill>
                  <a:srgbClr val="00B050"/>
                </a:solidFill>
                <a:latin typeface="Blackadder ITC" panose="04020505051007020D02" pitchFamily="82" charset="0"/>
              </a:rPr>
              <a:t>terms</a:t>
            </a:r>
            <a:endParaRPr lang="en-GB" sz="3200" b="1" dirty="0">
              <a:solidFill>
                <a:srgbClr val="00B050"/>
              </a:solidFill>
              <a:latin typeface="Blackadder ITC" panose="04020505051007020D02" pitchFamily="82" charset="0"/>
            </a:endParaRPr>
          </a:p>
          <a:p>
            <a:pPr algn="just"/>
            <a:r>
              <a:rPr lang="en-US" sz="2800" b="1" dirty="0">
                <a:solidFill>
                  <a:srgbClr val="0070C0"/>
                </a:solidFill>
              </a:rPr>
              <a:t>Anatomical planes </a:t>
            </a:r>
            <a:r>
              <a:rPr lang="en-US" sz="2800" dirty="0"/>
              <a:t>are imaginary flat surfaces that pass through the body and they include</a:t>
            </a:r>
            <a:r>
              <a:rPr lang="en-US" sz="2800" dirty="0" smtClean="0"/>
              <a:t>:</a:t>
            </a:r>
            <a:endParaRPr lang="en-US" sz="2800" dirty="0"/>
          </a:p>
          <a:p>
            <a:pPr algn="just"/>
            <a:r>
              <a:rPr lang="en-US" sz="2800" b="1" dirty="0">
                <a:solidFill>
                  <a:srgbClr val="7030A0"/>
                </a:solidFill>
              </a:rPr>
              <a:t>Sagittal/median plane </a:t>
            </a:r>
            <a:r>
              <a:rPr lang="en-US" sz="2800" b="1" dirty="0"/>
              <a:t>– </a:t>
            </a:r>
            <a:r>
              <a:rPr lang="en-US" sz="2800" dirty="0"/>
              <a:t>separates the body into left and right halves</a:t>
            </a:r>
            <a:r>
              <a:rPr lang="en-US" sz="2800" dirty="0" smtClean="0"/>
              <a:t>.</a:t>
            </a:r>
            <a:endParaRPr lang="en-GB" sz="2800" dirty="0"/>
          </a:p>
          <a:p>
            <a:pPr algn="just"/>
            <a:r>
              <a:rPr lang="en-US" sz="2800" b="1" dirty="0">
                <a:solidFill>
                  <a:srgbClr val="FF0000"/>
                </a:solidFill>
              </a:rPr>
              <a:t>Coronal/frontal plane </a:t>
            </a:r>
            <a:r>
              <a:rPr lang="en-US" sz="2800" b="1" dirty="0"/>
              <a:t>– </a:t>
            </a:r>
            <a:r>
              <a:rPr lang="en-US" sz="2800" dirty="0"/>
              <a:t>separates the body into front and back </a:t>
            </a:r>
            <a:r>
              <a:rPr lang="en-US" sz="2800" dirty="0" smtClean="0"/>
              <a:t>halves</a:t>
            </a:r>
            <a:endParaRPr lang="en-GB" sz="2800" dirty="0"/>
          </a:p>
          <a:p>
            <a:pPr algn="just"/>
            <a:r>
              <a:rPr lang="en-US" sz="2800" b="1" dirty="0">
                <a:solidFill>
                  <a:srgbClr val="00B050"/>
                </a:solidFill>
              </a:rPr>
              <a:t>Transverse/cross plane </a:t>
            </a:r>
            <a:r>
              <a:rPr lang="en-US" sz="2800" b="1" dirty="0"/>
              <a:t>– </a:t>
            </a:r>
            <a:r>
              <a:rPr lang="en-US" sz="2800" dirty="0"/>
              <a:t>separates the body into superior and inferior halves</a:t>
            </a:r>
            <a:r>
              <a:rPr lang="en-US" sz="2800" dirty="0" smtClean="0"/>
              <a:t>.</a:t>
            </a:r>
            <a:endParaRPr lang="en-GB" sz="2800" dirty="0"/>
          </a:p>
          <a:p>
            <a:pPr algn="just">
              <a:lnSpc>
                <a:spcPct val="150000"/>
              </a:lnSpc>
            </a:pPr>
            <a:r>
              <a:rPr lang="en-US" sz="2800" b="1" dirty="0">
                <a:solidFill>
                  <a:srgbClr val="0070C0"/>
                </a:solidFill>
              </a:rPr>
              <a:t>Oblique plane </a:t>
            </a:r>
            <a:r>
              <a:rPr lang="en-US" sz="2800" dirty="0"/>
              <a:t>– is an imaginary line that cuts cross either from left to right or front to back of the body.</a:t>
            </a:r>
            <a:endParaRPr lang="en-GB" sz="2800" dirty="0"/>
          </a:p>
        </p:txBody>
      </p:sp>
    </p:spTree>
    <p:extLst>
      <p:ext uri="{BB962C8B-B14F-4D97-AF65-F5344CB8AC3E}">
        <p14:creationId xmlns:p14="http://schemas.microsoft.com/office/powerpoint/2010/main" val="2801627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38576" y="131764"/>
            <a:ext cx="3409950" cy="677862"/>
          </a:xfrm>
        </p:spPr>
        <p:txBody>
          <a:bodyPr>
            <a:normAutofit fontScale="90000"/>
          </a:bodyPr>
          <a:lstStyle/>
          <a:p>
            <a:pPr algn="just"/>
            <a:r>
              <a:rPr lang="en-US" sz="4400" b="1" dirty="0">
                <a:solidFill>
                  <a:srgbClr val="00B050"/>
                </a:solidFill>
                <a:latin typeface="Blackadder ITC" panose="04020505051007020D02" pitchFamily="82" charset="0"/>
              </a:rPr>
              <a:t>Directional terms</a:t>
            </a:r>
          </a:p>
        </p:txBody>
      </p:sp>
      <p:sp>
        <p:nvSpPr>
          <p:cNvPr id="3" name="Subtitle 2"/>
          <p:cNvSpPr>
            <a:spLocks noGrp="1"/>
          </p:cNvSpPr>
          <p:nvPr>
            <p:ph type="subTitle" idx="1"/>
          </p:nvPr>
        </p:nvSpPr>
        <p:spPr>
          <a:xfrm>
            <a:off x="476250" y="885825"/>
            <a:ext cx="10367761" cy="5715000"/>
          </a:xfrm>
        </p:spPr>
        <p:txBody>
          <a:bodyPr>
            <a:normAutofit/>
          </a:bodyPr>
          <a:lstStyle/>
          <a:p>
            <a:pPr algn="just"/>
            <a:r>
              <a:rPr lang="en-US" sz="2600" b="1" dirty="0">
                <a:solidFill>
                  <a:srgbClr val="0070C0"/>
                </a:solidFill>
              </a:rPr>
              <a:t>Cranial/superior/rostral</a:t>
            </a:r>
            <a:r>
              <a:rPr lang="en-US" sz="2600" b="1" dirty="0"/>
              <a:t>: </a:t>
            </a:r>
            <a:r>
              <a:rPr lang="en-US" sz="2600" dirty="0"/>
              <a:t>This indicates a structure nearer the head</a:t>
            </a:r>
            <a:r>
              <a:rPr lang="en-US" sz="2600" dirty="0" smtClean="0"/>
              <a:t>.</a:t>
            </a:r>
          </a:p>
          <a:p>
            <a:pPr algn="just"/>
            <a:endParaRPr lang="en-GB" sz="2600" dirty="0"/>
          </a:p>
          <a:p>
            <a:pPr algn="just"/>
            <a:r>
              <a:rPr lang="en-US" sz="2600" b="1" dirty="0">
                <a:solidFill>
                  <a:srgbClr val="FFFF00"/>
                </a:solidFill>
              </a:rPr>
              <a:t>Caudal/inferior</a:t>
            </a:r>
            <a:r>
              <a:rPr lang="en-US" sz="2600" dirty="0"/>
              <a:t>: </a:t>
            </a:r>
            <a:r>
              <a:rPr lang="en-US" sz="2600" dirty="0" smtClean="0"/>
              <a:t>This </a:t>
            </a:r>
            <a:r>
              <a:rPr lang="en-US" sz="2600" dirty="0"/>
              <a:t>indicates a structure farther away from the head</a:t>
            </a:r>
            <a:r>
              <a:rPr lang="en-US" sz="2600" dirty="0" smtClean="0"/>
              <a:t>.</a:t>
            </a:r>
          </a:p>
          <a:p>
            <a:pPr algn="just"/>
            <a:endParaRPr lang="en-GB" sz="2600" dirty="0" smtClean="0"/>
          </a:p>
          <a:p>
            <a:pPr algn="just"/>
            <a:r>
              <a:rPr lang="en-US" sz="2600" b="1" dirty="0" smtClean="0">
                <a:solidFill>
                  <a:srgbClr val="C00000"/>
                </a:solidFill>
              </a:rPr>
              <a:t>Anterior/ventral</a:t>
            </a:r>
            <a:r>
              <a:rPr lang="en-US" sz="2600" dirty="0"/>
              <a:t>: </a:t>
            </a:r>
            <a:r>
              <a:rPr lang="en-US" sz="2600" dirty="0" smtClean="0"/>
              <a:t>This </a:t>
            </a:r>
            <a:r>
              <a:rPr lang="en-US" sz="2600" dirty="0"/>
              <a:t>indicates that the part being described is nearer </a:t>
            </a:r>
            <a:r>
              <a:rPr lang="en-US" sz="2600" dirty="0" smtClean="0"/>
              <a:t>  the </a:t>
            </a:r>
            <a:r>
              <a:rPr lang="en-US" sz="2600" dirty="0"/>
              <a:t>front of the body than the back</a:t>
            </a:r>
            <a:r>
              <a:rPr lang="en-US" sz="2600" dirty="0" smtClean="0"/>
              <a:t>.</a:t>
            </a:r>
          </a:p>
          <a:p>
            <a:pPr algn="just"/>
            <a:endParaRPr lang="en-GB" sz="2600" dirty="0" smtClean="0"/>
          </a:p>
          <a:p>
            <a:pPr algn="just"/>
            <a:r>
              <a:rPr lang="en-US" sz="2600" b="1" dirty="0" smtClean="0">
                <a:solidFill>
                  <a:srgbClr val="92D050"/>
                </a:solidFill>
              </a:rPr>
              <a:t>Posterior/dorsal</a:t>
            </a:r>
            <a:r>
              <a:rPr lang="en-US" sz="2600" dirty="0">
                <a:solidFill>
                  <a:srgbClr val="92D050"/>
                </a:solidFill>
              </a:rPr>
              <a:t>: </a:t>
            </a:r>
            <a:r>
              <a:rPr lang="en-US" sz="2600" dirty="0" smtClean="0"/>
              <a:t>This </a:t>
            </a:r>
            <a:r>
              <a:rPr lang="en-US" sz="2600" dirty="0"/>
              <a:t>mean nearer the back of the body</a:t>
            </a:r>
            <a:r>
              <a:rPr lang="en-US" sz="2600" dirty="0" smtClean="0"/>
              <a:t>.</a:t>
            </a:r>
          </a:p>
          <a:p>
            <a:pPr algn="just"/>
            <a:endParaRPr lang="en-GB" sz="2600" dirty="0"/>
          </a:p>
          <a:p>
            <a:pPr algn="just"/>
            <a:r>
              <a:rPr lang="en-US" sz="2600" b="1" dirty="0">
                <a:solidFill>
                  <a:srgbClr val="00B0F0"/>
                </a:solidFill>
              </a:rPr>
              <a:t>Medial:</a:t>
            </a:r>
            <a:r>
              <a:rPr lang="en-US" sz="2600" dirty="0"/>
              <a:t> </a:t>
            </a:r>
            <a:r>
              <a:rPr lang="en-US" sz="2600" dirty="0" smtClean="0"/>
              <a:t>This </a:t>
            </a:r>
            <a:r>
              <a:rPr lang="en-US" sz="2600" dirty="0"/>
              <a:t>indicates a structure nearer the midline</a:t>
            </a:r>
            <a:r>
              <a:rPr lang="en-US" sz="2600" dirty="0" smtClean="0"/>
              <a:t>.</a:t>
            </a:r>
          </a:p>
          <a:p>
            <a:pPr algn="just"/>
            <a:endParaRPr lang="en-GB" sz="2600" dirty="0"/>
          </a:p>
          <a:p>
            <a:pPr algn="just"/>
            <a:r>
              <a:rPr lang="en-US" sz="2600" b="1" dirty="0">
                <a:solidFill>
                  <a:srgbClr val="7030A0"/>
                </a:solidFill>
              </a:rPr>
              <a:t>Lateral</a:t>
            </a:r>
            <a:r>
              <a:rPr lang="en-US" sz="2600" dirty="0">
                <a:solidFill>
                  <a:srgbClr val="7030A0"/>
                </a:solidFill>
              </a:rPr>
              <a:t>: </a:t>
            </a:r>
            <a:r>
              <a:rPr lang="en-US" sz="2600" dirty="0" smtClean="0"/>
              <a:t>This </a:t>
            </a:r>
            <a:r>
              <a:rPr lang="en-US" sz="2600" dirty="0"/>
              <a:t>indicates a structure farther from the midline.</a:t>
            </a:r>
            <a:endParaRPr lang="en-GB" sz="2600" dirty="0"/>
          </a:p>
          <a:p>
            <a:pPr algn="just"/>
            <a:endParaRPr lang="en-GB" dirty="0"/>
          </a:p>
        </p:txBody>
      </p:sp>
    </p:spTree>
    <p:extLst>
      <p:ext uri="{BB962C8B-B14F-4D97-AF65-F5344CB8AC3E}">
        <p14:creationId xmlns:p14="http://schemas.microsoft.com/office/powerpoint/2010/main" val="295215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38150" y="333374"/>
            <a:ext cx="10933895" cy="6363639"/>
          </a:xfrm>
        </p:spPr>
        <p:txBody>
          <a:bodyPr>
            <a:normAutofit/>
          </a:bodyPr>
          <a:lstStyle/>
          <a:p>
            <a:pPr algn="just"/>
            <a:endParaRPr lang="en-GB" dirty="0"/>
          </a:p>
          <a:p>
            <a:pPr algn="just"/>
            <a:r>
              <a:rPr lang="en-US" sz="2800" b="1" dirty="0">
                <a:solidFill>
                  <a:srgbClr val="7030A0"/>
                </a:solidFill>
              </a:rPr>
              <a:t>Proximal</a:t>
            </a:r>
            <a:r>
              <a:rPr lang="en-US" sz="2800" dirty="0">
                <a:solidFill>
                  <a:srgbClr val="7030A0"/>
                </a:solidFill>
              </a:rPr>
              <a:t>:</a:t>
            </a:r>
            <a:r>
              <a:rPr lang="en-US" sz="2800" dirty="0"/>
              <a:t> </a:t>
            </a:r>
            <a:r>
              <a:rPr lang="en-US" sz="2800" dirty="0" smtClean="0"/>
              <a:t>It </a:t>
            </a:r>
            <a:r>
              <a:rPr lang="en-US" sz="2800" dirty="0"/>
              <a:t>is that part of a structure (bone) which is the nearest to point of attachment of the limb to the body</a:t>
            </a:r>
            <a:r>
              <a:rPr lang="en-US" sz="2800" dirty="0" smtClean="0"/>
              <a:t>.</a:t>
            </a:r>
            <a:endParaRPr lang="en-GB" sz="2800" dirty="0"/>
          </a:p>
          <a:p>
            <a:pPr algn="just"/>
            <a:r>
              <a:rPr lang="en-US" sz="2800" b="1" dirty="0">
                <a:solidFill>
                  <a:srgbClr val="FFFF00"/>
                </a:solidFill>
              </a:rPr>
              <a:t>Distal</a:t>
            </a:r>
            <a:r>
              <a:rPr lang="en-US" sz="2800" dirty="0">
                <a:solidFill>
                  <a:srgbClr val="FFFF00"/>
                </a:solidFill>
              </a:rPr>
              <a:t>:</a:t>
            </a:r>
            <a:r>
              <a:rPr lang="en-US" sz="2800" dirty="0"/>
              <a:t> </a:t>
            </a:r>
            <a:r>
              <a:rPr lang="en-US" sz="2800" dirty="0" smtClean="0"/>
              <a:t>It </a:t>
            </a:r>
            <a:r>
              <a:rPr lang="en-US" sz="2800" dirty="0"/>
              <a:t>is that part of a structure (bone) which is the farthest away from the point of attachment of the limb to the body</a:t>
            </a:r>
            <a:r>
              <a:rPr lang="en-US" sz="2800" dirty="0" smtClean="0"/>
              <a:t>.</a:t>
            </a:r>
            <a:endParaRPr lang="en-GB" sz="2800" dirty="0"/>
          </a:p>
          <a:p>
            <a:pPr algn="just"/>
            <a:r>
              <a:rPr lang="en-US" sz="2800" b="1" dirty="0">
                <a:solidFill>
                  <a:srgbClr val="FF0000"/>
                </a:solidFill>
              </a:rPr>
              <a:t>Superficial</a:t>
            </a:r>
            <a:r>
              <a:rPr lang="en-US" sz="2800" dirty="0">
                <a:solidFill>
                  <a:srgbClr val="FF0000"/>
                </a:solidFill>
              </a:rPr>
              <a:t>: </a:t>
            </a:r>
            <a:r>
              <a:rPr lang="en-US" sz="2800" dirty="0" smtClean="0"/>
              <a:t>It </a:t>
            </a:r>
            <a:r>
              <a:rPr lang="en-US" sz="2800" dirty="0"/>
              <a:t>indicates that a structure is the closest to the body surface</a:t>
            </a:r>
            <a:r>
              <a:rPr lang="en-US" sz="2800" dirty="0" smtClean="0"/>
              <a:t>.</a:t>
            </a:r>
            <a:endParaRPr lang="en-GB" sz="2800" dirty="0"/>
          </a:p>
          <a:p>
            <a:pPr algn="just"/>
            <a:r>
              <a:rPr lang="en-US" sz="2800" b="1" dirty="0">
                <a:solidFill>
                  <a:srgbClr val="00B0F0"/>
                </a:solidFill>
              </a:rPr>
              <a:t>Deep</a:t>
            </a:r>
            <a:r>
              <a:rPr lang="en-US" sz="2800" dirty="0">
                <a:solidFill>
                  <a:srgbClr val="00B0F0"/>
                </a:solidFill>
              </a:rPr>
              <a:t>: </a:t>
            </a:r>
            <a:r>
              <a:rPr lang="en-US" sz="2800" dirty="0" smtClean="0"/>
              <a:t>It </a:t>
            </a:r>
            <a:r>
              <a:rPr lang="en-US" sz="2800" dirty="0"/>
              <a:t>indicates that a structure is further away from the outer body surface.</a:t>
            </a:r>
            <a:endParaRPr lang="en-GB" sz="2800" dirty="0"/>
          </a:p>
          <a:p>
            <a:pPr algn="just"/>
            <a:r>
              <a:rPr lang="en-US" sz="2800" b="1" dirty="0" err="1">
                <a:solidFill>
                  <a:srgbClr val="00B0F0"/>
                </a:solidFill>
              </a:rPr>
              <a:t>Ipsilateral</a:t>
            </a:r>
            <a:r>
              <a:rPr lang="en-US" sz="2800" dirty="0">
                <a:solidFill>
                  <a:srgbClr val="00B0F0"/>
                </a:solidFill>
              </a:rPr>
              <a:t>:</a:t>
            </a:r>
            <a:r>
              <a:rPr lang="en-US" sz="2800" dirty="0"/>
              <a:t> This indicates that a structure is on the same side of a lateral side of hemisphere.</a:t>
            </a:r>
            <a:endParaRPr lang="en-GB" sz="2800" dirty="0"/>
          </a:p>
          <a:p>
            <a:pPr algn="just"/>
            <a:r>
              <a:rPr lang="en-US" sz="2800" b="1" dirty="0">
                <a:solidFill>
                  <a:srgbClr val="FF0000"/>
                </a:solidFill>
              </a:rPr>
              <a:t>Contralateral:</a:t>
            </a:r>
            <a:r>
              <a:rPr lang="en-US" sz="2800" dirty="0"/>
              <a:t> 	It indicates that a structure has crossed to the opposite side to be situated on a lateral side of the hemisphere.</a:t>
            </a:r>
            <a:endParaRPr lang="en-GB" sz="2800" dirty="0"/>
          </a:p>
          <a:p>
            <a:pPr algn="just"/>
            <a:r>
              <a:rPr lang="en-US" sz="2800" b="1" dirty="0">
                <a:solidFill>
                  <a:srgbClr val="00B050"/>
                </a:solidFill>
              </a:rPr>
              <a:t>External/internal</a:t>
            </a:r>
            <a:r>
              <a:rPr lang="en-US" sz="2800" b="1" dirty="0"/>
              <a:t>: </a:t>
            </a:r>
            <a:r>
              <a:rPr lang="en-US" sz="2800" dirty="0"/>
              <a:t>Mostly commonly used for describing the body wall or the walls of cavities and hollow viscera.</a:t>
            </a:r>
            <a:endParaRPr lang="en-GB" sz="2800" dirty="0"/>
          </a:p>
          <a:p>
            <a:pPr algn="just"/>
            <a:endParaRPr lang="en-GB" sz="2800" dirty="0"/>
          </a:p>
        </p:txBody>
      </p:sp>
    </p:spTree>
    <p:extLst>
      <p:ext uri="{BB962C8B-B14F-4D97-AF65-F5344CB8AC3E}">
        <p14:creationId xmlns:p14="http://schemas.microsoft.com/office/powerpoint/2010/main" val="2627388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764089" y="713983"/>
            <a:ext cx="10521862" cy="5448821"/>
          </a:xfrm>
        </p:spPr>
        <p:txBody>
          <a:bodyPr/>
          <a:lstStyle/>
          <a:p>
            <a:pPr algn="just"/>
            <a:r>
              <a:rPr lang="en-GB" sz="3200" dirty="0" smtClean="0">
                <a:solidFill>
                  <a:srgbClr val="FF0000"/>
                </a:solidFill>
              </a:rPr>
              <a:t>Embryology</a:t>
            </a:r>
            <a:r>
              <a:rPr lang="en-GB" sz="3200" dirty="0" smtClean="0"/>
              <a:t>: Study of formation and development of embryo from conception to when born as infant. In broader terms includes entire development period.</a:t>
            </a:r>
          </a:p>
          <a:p>
            <a:pPr algn="just"/>
            <a:r>
              <a:rPr lang="en-GB" sz="3200" dirty="0" smtClean="0"/>
              <a:t>Development does not stop at birth. Apart from growth is </a:t>
            </a:r>
            <a:r>
              <a:rPr lang="en-GB" sz="3200" dirty="0" smtClean="0"/>
              <a:t>the </a:t>
            </a:r>
            <a:r>
              <a:rPr lang="en-GB" sz="3200" dirty="0" smtClean="0"/>
              <a:t>development </a:t>
            </a:r>
            <a:r>
              <a:rPr lang="en-GB" sz="3200" dirty="0" smtClean="0"/>
              <a:t>of teeth and breast etc. However most development stop at age 25 years. </a:t>
            </a:r>
          </a:p>
          <a:p>
            <a:pPr algn="just"/>
            <a:r>
              <a:rPr lang="en-GB" sz="3200" dirty="0" smtClean="0">
                <a:solidFill>
                  <a:srgbClr val="FF0000"/>
                </a:solidFill>
              </a:rPr>
              <a:t>Prenatal period</a:t>
            </a:r>
            <a:r>
              <a:rPr lang="en-GB" sz="3200" dirty="0" smtClean="0"/>
              <a:t>: Zygote result from fertilization of oocyte by a sperm- the beginning of human being.</a:t>
            </a:r>
          </a:p>
          <a:p>
            <a:pPr algn="just"/>
            <a:r>
              <a:rPr lang="en-GB" sz="3200" dirty="0" smtClean="0"/>
              <a:t>Morula: Is when 16 </a:t>
            </a:r>
            <a:r>
              <a:rPr lang="en-GB" sz="3200" dirty="0" err="1" smtClean="0"/>
              <a:t>blastomeres</a:t>
            </a:r>
            <a:r>
              <a:rPr lang="en-GB" sz="3200" dirty="0" smtClean="0"/>
              <a:t> have formed- a solid mass of cells.</a:t>
            </a:r>
          </a:p>
          <a:p>
            <a:pPr algn="l"/>
            <a:endParaRPr lang="en-GB" sz="2000" dirty="0" smtClean="0"/>
          </a:p>
          <a:p>
            <a:endParaRPr lang="en-GB" dirty="0"/>
          </a:p>
        </p:txBody>
      </p:sp>
    </p:spTree>
    <p:extLst>
      <p:ext uri="{BB962C8B-B14F-4D97-AF65-F5344CB8AC3E}">
        <p14:creationId xmlns:p14="http://schemas.microsoft.com/office/powerpoint/2010/main" val="9934215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0937" y="334537"/>
            <a:ext cx="11098060" cy="6211229"/>
          </a:xfrm>
        </p:spPr>
        <p:txBody>
          <a:bodyPr>
            <a:normAutofit/>
          </a:bodyPr>
          <a:lstStyle/>
          <a:p>
            <a:pPr algn="just"/>
            <a:r>
              <a:rPr lang="en-GB" sz="3200" dirty="0" smtClean="0">
                <a:solidFill>
                  <a:srgbClr val="FF0000"/>
                </a:solidFill>
              </a:rPr>
              <a:t>Blastocyst</a:t>
            </a:r>
            <a:r>
              <a:rPr lang="en-GB" sz="3200" dirty="0" smtClean="0"/>
              <a:t>: After morula reaches </a:t>
            </a:r>
            <a:r>
              <a:rPr lang="en-GB" sz="3200" dirty="0" smtClean="0"/>
              <a:t>the uterus </a:t>
            </a:r>
            <a:r>
              <a:rPr lang="en-GB" sz="3200" dirty="0" smtClean="0"/>
              <a:t>fluid passes into it forming a cavity-blastocyst.</a:t>
            </a:r>
          </a:p>
          <a:p>
            <a:pPr algn="just"/>
            <a:r>
              <a:rPr lang="en-GB" sz="3200" dirty="0" smtClean="0">
                <a:solidFill>
                  <a:srgbClr val="7030A0"/>
                </a:solidFill>
              </a:rPr>
              <a:t>Embryo</a:t>
            </a:r>
            <a:r>
              <a:rPr lang="en-GB" sz="3200" dirty="0" smtClean="0"/>
              <a:t>: Embryo forming cells groups as inner cell mass (embryoblast) seen at morula stage. This term is not used until 2</a:t>
            </a:r>
            <a:r>
              <a:rPr lang="en-GB" sz="3200" baseline="30000" dirty="0" smtClean="0"/>
              <a:t>nd</a:t>
            </a:r>
            <a:r>
              <a:rPr lang="en-GB" sz="3200" dirty="0" smtClean="0"/>
              <a:t> wk. when bilaminar embryonic disc is formed.</a:t>
            </a:r>
          </a:p>
          <a:p>
            <a:pPr algn="just"/>
            <a:r>
              <a:rPr lang="en-GB" sz="3200" dirty="0" smtClean="0">
                <a:solidFill>
                  <a:srgbClr val="FF0000"/>
                </a:solidFill>
              </a:rPr>
              <a:t>Foetus:</a:t>
            </a:r>
            <a:r>
              <a:rPr lang="en-GB" sz="3200" dirty="0" smtClean="0"/>
              <a:t> </a:t>
            </a:r>
            <a:r>
              <a:rPr lang="en-GB" sz="3200" dirty="0" smtClean="0"/>
              <a:t>After embryonic period, developing human is called </a:t>
            </a:r>
            <a:r>
              <a:rPr lang="en-GB" sz="3200" dirty="0" smtClean="0"/>
              <a:t>foetus. </a:t>
            </a:r>
            <a:r>
              <a:rPr lang="en-GB" sz="3200" dirty="0" smtClean="0"/>
              <a:t>During this period (9wks – birth) many systems further develop.</a:t>
            </a:r>
          </a:p>
          <a:p>
            <a:pPr algn="just"/>
            <a:r>
              <a:rPr lang="en-GB" sz="3200" dirty="0" smtClean="0">
                <a:solidFill>
                  <a:srgbClr val="00B0F0"/>
                </a:solidFill>
              </a:rPr>
              <a:t>Post-natal stage</a:t>
            </a:r>
            <a:r>
              <a:rPr lang="en-GB" sz="3200" dirty="0" smtClean="0"/>
              <a:t>: Changes occurring after birth.</a:t>
            </a:r>
          </a:p>
          <a:p>
            <a:pPr algn="just"/>
            <a:r>
              <a:rPr lang="en-GB" sz="3200" dirty="0" smtClean="0">
                <a:solidFill>
                  <a:schemeClr val="accent1">
                    <a:lumMod val="50000"/>
                  </a:schemeClr>
                </a:solidFill>
              </a:rPr>
              <a:t>Infancy</a:t>
            </a:r>
            <a:r>
              <a:rPr lang="en-GB" sz="3200" dirty="0" smtClean="0"/>
              <a:t>: Refers to first year after birth.</a:t>
            </a:r>
          </a:p>
          <a:p>
            <a:pPr algn="just"/>
            <a:r>
              <a:rPr lang="en-GB" sz="3200" dirty="0" smtClean="0">
                <a:solidFill>
                  <a:srgbClr val="00B050"/>
                </a:solidFill>
              </a:rPr>
              <a:t>New-born</a:t>
            </a:r>
            <a:r>
              <a:rPr lang="en-GB" sz="3200" dirty="0" smtClean="0"/>
              <a:t>: First 2wks after birth.</a:t>
            </a:r>
          </a:p>
          <a:p>
            <a:pPr algn="just"/>
            <a:endParaRPr lang="en-GB" sz="3200" dirty="0" smtClean="0"/>
          </a:p>
          <a:p>
            <a:pPr algn="just"/>
            <a:endParaRPr lang="en-GB" sz="3200" dirty="0"/>
          </a:p>
        </p:txBody>
      </p:sp>
    </p:spTree>
    <p:extLst>
      <p:ext uri="{BB962C8B-B14F-4D97-AF65-F5344CB8AC3E}">
        <p14:creationId xmlns:p14="http://schemas.microsoft.com/office/powerpoint/2010/main" val="996441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38827" y="701458"/>
            <a:ext cx="10972799" cy="5649238"/>
          </a:xfrm>
        </p:spPr>
        <p:txBody>
          <a:bodyPr/>
          <a:lstStyle/>
          <a:p>
            <a:pPr algn="just"/>
            <a:r>
              <a:rPr lang="en-GB" sz="3200" dirty="0" smtClean="0">
                <a:solidFill>
                  <a:srgbClr val="00B050"/>
                </a:solidFill>
              </a:rPr>
              <a:t>Childhood</a:t>
            </a:r>
            <a:r>
              <a:rPr lang="en-GB" sz="3200" dirty="0" smtClean="0"/>
              <a:t>: A period of 15 months until 12-13 years.</a:t>
            </a:r>
          </a:p>
          <a:p>
            <a:pPr algn="just"/>
            <a:r>
              <a:rPr lang="en-GB" sz="3200" dirty="0" smtClean="0">
                <a:solidFill>
                  <a:srgbClr val="00B0F0"/>
                </a:solidFill>
              </a:rPr>
              <a:t>Puberty:</a:t>
            </a:r>
            <a:r>
              <a:rPr lang="en-GB" sz="3200" dirty="0" smtClean="0"/>
              <a:t> Between age 12 to 15 years for girls and 13 to 16 years for boys during which secondary sexual characters are formed.</a:t>
            </a:r>
          </a:p>
          <a:p>
            <a:pPr algn="just"/>
            <a:r>
              <a:rPr lang="en-GB" sz="3200" dirty="0" smtClean="0">
                <a:solidFill>
                  <a:srgbClr val="7030A0"/>
                </a:solidFill>
              </a:rPr>
              <a:t>Adolescence:</a:t>
            </a:r>
            <a:r>
              <a:rPr lang="en-GB" sz="3200" dirty="0" smtClean="0"/>
              <a:t> Period of 3-4 years after puberty. It extends from earliest signs of sexual maturity until the attainment of physical, mental and emotional maturity.</a:t>
            </a:r>
          </a:p>
          <a:p>
            <a:pPr algn="l"/>
            <a:endParaRPr lang="en-GB" dirty="0"/>
          </a:p>
        </p:txBody>
      </p:sp>
    </p:spTree>
    <p:extLst>
      <p:ext uri="{BB962C8B-B14F-4D97-AF65-F5344CB8AC3E}">
        <p14:creationId xmlns:p14="http://schemas.microsoft.com/office/powerpoint/2010/main" val="29143451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368</TotalTime>
  <Words>1324</Words>
  <Application>Microsoft Office PowerPoint</Application>
  <PresentationFormat>Widescreen</PresentationFormat>
  <Paragraphs>94</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Bell MT</vt:lpstr>
      <vt:lpstr>Blackadder ITC</vt:lpstr>
      <vt:lpstr>Calibri</vt:lpstr>
      <vt:lpstr>Calibri Light</vt:lpstr>
      <vt:lpstr>Office Theme</vt:lpstr>
      <vt:lpstr>Introduction to Anatomy </vt:lpstr>
      <vt:lpstr>History of anatomy</vt:lpstr>
      <vt:lpstr>PowerPoint Presentation</vt:lpstr>
      <vt:lpstr>PowerPoint Presentation</vt:lpstr>
      <vt:lpstr>PowerPoint Presentation</vt:lpstr>
      <vt:lpstr>Branches of anatomy</vt:lpstr>
      <vt:lpstr>PowerPoint Presentation</vt:lpstr>
      <vt:lpstr>PowerPoint Presentation</vt:lpstr>
      <vt:lpstr>Basic anatomical terms</vt:lpstr>
      <vt:lpstr>Directional terms</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Anatomy</dc:title>
  <dc:creator>Microsoft</dc:creator>
  <cp:lastModifiedBy>Microsoft</cp:lastModifiedBy>
  <cp:revision>35</cp:revision>
  <dcterms:created xsi:type="dcterms:W3CDTF">2020-04-14T14:47:19Z</dcterms:created>
  <dcterms:modified xsi:type="dcterms:W3CDTF">2022-07-18T05:54:02Z</dcterms:modified>
</cp:coreProperties>
</file>