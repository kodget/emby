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y="6858000" cx="9144000"/>
  <p:notesSz cx="6858000" cy="9144000"/>
  <p:embeddedFontLst>
    <p:embeddedFont>
      <p:font typeface="Arial Black"/>
      <p:regular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4" roundtripDataSignature="AMtx7mi2BnK+zJMWLPbYAX7VVhq5V4am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customschemas.google.com/relationships/presentationmetadata" Target="metadata"/><Relationship Id="rId63" Type="http://schemas.openxmlformats.org/officeDocument/2006/relationships/font" Target="fonts/ArialBlack-regular.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A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8" name="Google Shape;138;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6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7"/>
          <p:cNvSpPr/>
          <p:nvPr>
            <p:ph idx="2" type="pic"/>
          </p:nvPr>
        </p:nvSpPr>
        <p:spPr>
          <a:xfrm>
            <a:off x="1792288" y="612775"/>
            <a:ext cx="5486400" cy="4114800"/>
          </a:xfrm>
          <a:prstGeom prst="rect">
            <a:avLst/>
          </a:prstGeom>
          <a:noFill/>
          <a:ln>
            <a:noFill/>
          </a:ln>
        </p:spPr>
      </p:sp>
      <p:sp>
        <p:nvSpPr>
          <p:cNvPr id="68" name="Google Shape;68;p6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pn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7.png"/><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357158" y="1071547"/>
            <a:ext cx="8286808" cy="214314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Black"/>
              <a:buNone/>
            </a:pPr>
            <a:r>
              <a:rPr lang="en-AU" sz="3600">
                <a:latin typeface="Arial Black"/>
                <a:ea typeface="Arial Black"/>
                <a:cs typeface="Arial Black"/>
                <a:sym typeface="Arial Black"/>
              </a:rPr>
              <a:t>Arterial Anastomosis Around the shoulder joint</a:t>
            </a:r>
            <a:endParaRPr sz="3600">
              <a:latin typeface="Arial Black"/>
              <a:ea typeface="Arial Black"/>
              <a:cs typeface="Arial Black"/>
              <a:sym typeface="Arial Black"/>
            </a:endParaRPr>
          </a:p>
        </p:txBody>
      </p:sp>
      <p:sp>
        <p:nvSpPr>
          <p:cNvPr id="89" name="Google Shape;89;p1"/>
          <p:cNvSpPr txBox="1"/>
          <p:nvPr>
            <p:ph idx="1" type="subTitle"/>
          </p:nvPr>
        </p:nvSpPr>
        <p:spPr>
          <a:xfrm>
            <a:off x="1000100" y="3886200"/>
            <a:ext cx="7215238"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b="1" lang="en-AU">
                <a:latin typeface="Arial"/>
                <a:ea typeface="Arial"/>
                <a:cs typeface="Arial"/>
                <a:sym typeface="Arial"/>
              </a:rPr>
              <a:t>BY</a:t>
            </a:r>
            <a:endParaRPr/>
          </a:p>
          <a:p>
            <a:pPr indent="0" lvl="0" marL="0" rtl="0" algn="ctr">
              <a:spcBef>
                <a:spcPts val="640"/>
              </a:spcBef>
              <a:spcAft>
                <a:spcPts val="0"/>
              </a:spcAft>
              <a:buClr>
                <a:srgbClr val="888888"/>
              </a:buClr>
              <a:buSzPts val="3200"/>
              <a:buNone/>
            </a:pPr>
            <a:r>
              <a:t/>
            </a:r>
            <a:endParaRPr b="1">
              <a:latin typeface="Arial"/>
              <a:ea typeface="Arial"/>
              <a:cs typeface="Arial"/>
              <a:sym typeface="Arial"/>
            </a:endParaRPr>
          </a:p>
          <a:p>
            <a:pPr indent="0" lvl="0" marL="0" rtl="0" algn="ctr">
              <a:spcBef>
                <a:spcPts val="640"/>
              </a:spcBef>
              <a:spcAft>
                <a:spcPts val="0"/>
              </a:spcAft>
              <a:buClr>
                <a:srgbClr val="888888"/>
              </a:buClr>
              <a:buSzPts val="3200"/>
              <a:buNone/>
            </a:pPr>
            <a:r>
              <a:rPr b="1" lang="en-AU">
                <a:latin typeface="Arial"/>
                <a:ea typeface="Arial"/>
                <a:cs typeface="Arial"/>
                <a:sym typeface="Arial"/>
              </a:rPr>
              <a:t>DR. OJEWALE A.O</a:t>
            </a:r>
            <a:endParaRPr b="1">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457200" y="0"/>
            <a:ext cx="8229600" cy="107154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a:latin typeface="Arial Black"/>
                <a:ea typeface="Arial Black"/>
                <a:cs typeface="Arial Black"/>
                <a:sym typeface="Arial Black"/>
              </a:rPr>
              <a:t>Outline</a:t>
            </a:r>
            <a:endParaRPr>
              <a:latin typeface="Arial Black"/>
              <a:ea typeface="Arial Black"/>
              <a:cs typeface="Arial Black"/>
              <a:sym typeface="Arial Black"/>
            </a:endParaRPr>
          </a:p>
        </p:txBody>
      </p:sp>
      <p:sp>
        <p:nvSpPr>
          <p:cNvPr id="95" name="Google Shape;95;p2"/>
          <p:cNvSpPr txBox="1"/>
          <p:nvPr>
            <p:ph idx="1" type="body"/>
          </p:nvPr>
        </p:nvSpPr>
        <p:spPr>
          <a:xfrm>
            <a:off x="457200" y="1142984"/>
            <a:ext cx="8229600" cy="571501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Noto Sans Symbols"/>
              <a:buChar char="▪"/>
            </a:pPr>
            <a:r>
              <a:rPr lang="en-AU">
                <a:latin typeface="Arial"/>
                <a:ea typeface="Arial"/>
                <a:cs typeface="Arial"/>
                <a:sym typeface="Arial"/>
              </a:rPr>
              <a:t>Osteology of the Scapula</a:t>
            </a:r>
            <a:endParaRPr/>
          </a:p>
          <a:p>
            <a:pPr indent="-342900" lvl="0" marL="342900" rtl="0" algn="l">
              <a:spcBef>
                <a:spcPts val="640"/>
              </a:spcBef>
              <a:spcAft>
                <a:spcPts val="0"/>
              </a:spcAft>
              <a:buClr>
                <a:schemeClr val="dk1"/>
              </a:buClr>
              <a:buSzPts val="3200"/>
              <a:buChar char="•"/>
            </a:pPr>
            <a:r>
              <a:rPr lang="en-AU">
                <a:latin typeface="Arial"/>
                <a:ea typeface="Arial"/>
                <a:cs typeface="Arial"/>
                <a:sym typeface="Arial"/>
              </a:rPr>
              <a:t>Features &amp; attachments</a:t>
            </a:r>
            <a:endParaRPr/>
          </a:p>
          <a:p>
            <a:pPr indent="-342900" lvl="0" marL="342900" rtl="0" algn="l">
              <a:spcBef>
                <a:spcPts val="640"/>
              </a:spcBef>
              <a:spcAft>
                <a:spcPts val="0"/>
              </a:spcAft>
              <a:buClr>
                <a:schemeClr val="dk1"/>
              </a:buClr>
              <a:buSzPts val="3200"/>
              <a:buFont typeface="Noto Sans Symbols"/>
              <a:buChar char="▪"/>
            </a:pPr>
            <a:r>
              <a:rPr lang="en-AU">
                <a:latin typeface="Arial"/>
                <a:ea typeface="Arial"/>
                <a:cs typeface="Arial"/>
                <a:sym typeface="Arial"/>
              </a:rPr>
              <a:t>Osteology of the humerus</a:t>
            </a:r>
            <a:endParaRPr>
              <a:latin typeface="Arial"/>
              <a:ea typeface="Arial"/>
              <a:cs typeface="Arial"/>
              <a:sym typeface="Arial"/>
            </a:endParaRPr>
          </a:p>
          <a:p>
            <a:pPr indent="-342900" lvl="0" marL="342900" rtl="0" algn="l">
              <a:spcBef>
                <a:spcPts val="640"/>
              </a:spcBef>
              <a:spcAft>
                <a:spcPts val="0"/>
              </a:spcAft>
              <a:buClr>
                <a:schemeClr val="dk1"/>
              </a:buClr>
              <a:buSzPts val="3200"/>
              <a:buChar char="•"/>
            </a:pPr>
            <a:r>
              <a:rPr lang="en-AU">
                <a:latin typeface="Arial"/>
                <a:ea typeface="Arial"/>
                <a:cs typeface="Arial"/>
                <a:sym typeface="Arial"/>
              </a:rPr>
              <a:t>Features &amp; attachments</a:t>
            </a:r>
            <a:endParaRPr/>
          </a:p>
          <a:p>
            <a:pPr indent="-342900" lvl="0" marL="342900" rtl="0" algn="l">
              <a:spcBef>
                <a:spcPts val="640"/>
              </a:spcBef>
              <a:spcAft>
                <a:spcPts val="0"/>
              </a:spcAft>
              <a:buClr>
                <a:schemeClr val="dk1"/>
              </a:buClr>
              <a:buSzPts val="3200"/>
              <a:buFont typeface="Noto Sans Symbols"/>
              <a:buChar char="▪"/>
            </a:pPr>
            <a:r>
              <a:rPr lang="en-AU">
                <a:latin typeface="Arial"/>
                <a:ea typeface="Arial"/>
                <a:cs typeface="Arial"/>
                <a:sym typeface="Arial"/>
              </a:rPr>
              <a:t>Arterial anastomosis around the shoulder joint (Intro)</a:t>
            </a:r>
            <a:endParaRPr/>
          </a:p>
          <a:p>
            <a:pPr indent="-342900" lvl="0" marL="342900" rtl="0" algn="l">
              <a:spcBef>
                <a:spcPts val="640"/>
              </a:spcBef>
              <a:spcAft>
                <a:spcPts val="0"/>
              </a:spcAft>
              <a:buClr>
                <a:schemeClr val="dk1"/>
              </a:buClr>
              <a:buSzPts val="3200"/>
              <a:buChar char="•"/>
            </a:pPr>
            <a:r>
              <a:rPr lang="en-AU">
                <a:latin typeface="Arial"/>
                <a:ea typeface="Arial"/>
                <a:cs typeface="Arial"/>
                <a:sym typeface="Arial"/>
              </a:rPr>
              <a:t>Scapular anastomosis </a:t>
            </a:r>
            <a:endParaRPr/>
          </a:p>
          <a:p>
            <a:pPr indent="-342900" lvl="0" marL="342900" rtl="0" algn="l">
              <a:spcBef>
                <a:spcPts val="640"/>
              </a:spcBef>
              <a:spcAft>
                <a:spcPts val="0"/>
              </a:spcAft>
              <a:buClr>
                <a:schemeClr val="dk1"/>
              </a:buClr>
              <a:buSzPts val="3200"/>
              <a:buChar char="•"/>
            </a:pPr>
            <a:r>
              <a:rPr lang="en-AU">
                <a:latin typeface="Arial"/>
                <a:ea typeface="Arial"/>
                <a:cs typeface="Arial"/>
                <a:sym typeface="Arial"/>
              </a:rPr>
              <a:t>Anastomosis around the surgical neck</a:t>
            </a:r>
            <a:endParaRPr/>
          </a:p>
          <a:p>
            <a:pPr indent="-342900" lvl="0" marL="342900" rtl="0" algn="l">
              <a:spcBef>
                <a:spcPts val="640"/>
              </a:spcBef>
              <a:spcAft>
                <a:spcPts val="0"/>
              </a:spcAft>
              <a:buClr>
                <a:schemeClr val="dk1"/>
              </a:buClr>
              <a:buSzPts val="3200"/>
              <a:buFont typeface="Noto Sans Symbols"/>
              <a:buChar char="▪"/>
            </a:pPr>
            <a:r>
              <a:rPr lang="en-AU">
                <a:latin typeface="Arial"/>
                <a:ea typeface="Arial"/>
                <a:cs typeface="Arial"/>
                <a:sym typeface="Arial"/>
              </a:rPr>
              <a:t>Applied Anatomy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457200" y="2571744"/>
            <a:ext cx="8229600" cy="214314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a:latin typeface="Arial Black"/>
                <a:ea typeface="Arial Black"/>
                <a:cs typeface="Arial Black"/>
                <a:sym typeface="Arial Black"/>
              </a:rPr>
              <a:t>OSTEOLOGY OF THE SCAPULA</a:t>
            </a:r>
            <a:endParaRPr/>
          </a:p>
        </p:txBody>
      </p:sp>
      <p:sp>
        <p:nvSpPr>
          <p:cNvPr id="101" name="Google Shape;101;p3"/>
          <p:cNvSpPr txBox="1"/>
          <p:nvPr>
            <p:ph idx="1" type="body"/>
          </p:nvPr>
        </p:nvSpPr>
        <p:spPr>
          <a:xfrm>
            <a:off x="457200" y="3357562"/>
            <a:ext cx="8229600" cy="2967038"/>
          </a:xfrm>
          <a:prstGeom prst="rect">
            <a:avLst/>
          </a:prstGeom>
          <a:noFill/>
          <a:ln>
            <a:noFill/>
          </a:ln>
        </p:spPr>
        <p:txBody>
          <a:bodyPr anchorCtr="0" anchor="t" bIns="45700" lIns="91425" spcFirstLastPara="1" rIns="91425" wrap="square" tIns="45700">
            <a:normAutofit/>
          </a:bodyPr>
          <a:lstStyle/>
          <a:p>
            <a:pPr indent="-342900" lvl="0" marL="342900" rtl="0" algn="ctr">
              <a:spcBef>
                <a:spcPts val="0"/>
              </a:spcBef>
              <a:spcAft>
                <a:spcPts val="0"/>
              </a:spcAft>
              <a:buClr>
                <a:schemeClr val="dk1"/>
              </a:buClr>
              <a:buSzPts val="3200"/>
              <a:buNone/>
            </a:pPr>
            <a:r>
              <a:t/>
            </a:r>
            <a:endParaRPr b="1" sz="3200">
              <a:latin typeface="Arial"/>
              <a:ea typeface="Arial"/>
              <a:cs typeface="Arial"/>
              <a:sym typeface="Arial"/>
            </a:endParaRPr>
          </a:p>
          <a:p>
            <a:pPr indent="-139700" lvl="0" marL="342900" rtl="0" algn="l">
              <a:spcBef>
                <a:spcPts val="640"/>
              </a:spcBef>
              <a:spcAft>
                <a:spcPts val="0"/>
              </a:spcAft>
              <a:buClr>
                <a:schemeClr val="dk1"/>
              </a:buClr>
              <a:buSzPts val="3200"/>
              <a:buNone/>
            </a:pPr>
            <a:r>
              <a:t/>
            </a:r>
            <a:endParaRPr b="1" sz="3200">
              <a:latin typeface="Arial"/>
              <a:ea typeface="Arial"/>
              <a:cs typeface="Arial"/>
              <a:sym typeface="Arial"/>
            </a:endParaRPr>
          </a:p>
          <a:p>
            <a:pPr indent="-342900" lvl="0" marL="342900" rtl="0" algn="ctr">
              <a:spcBef>
                <a:spcPts val="640"/>
              </a:spcBef>
              <a:spcAft>
                <a:spcPts val="0"/>
              </a:spcAft>
              <a:buClr>
                <a:schemeClr val="dk1"/>
              </a:buClr>
              <a:buSzPts val="3200"/>
              <a:buNone/>
            </a:pPr>
            <a:r>
              <a:t/>
            </a:r>
            <a:endParaRPr b="1" sz="3200">
              <a:latin typeface="Arial"/>
              <a:ea typeface="Arial"/>
              <a:cs typeface="Arial"/>
              <a:sym typeface="Arial"/>
            </a:endParaRPr>
          </a:p>
          <a:p>
            <a:pPr indent="-342900" lvl="0" marL="342900" rtl="0" algn="ctr">
              <a:spcBef>
                <a:spcPts val="640"/>
              </a:spcBef>
              <a:spcAft>
                <a:spcPts val="0"/>
              </a:spcAft>
              <a:buClr>
                <a:schemeClr val="dk1"/>
              </a:buClr>
              <a:buSzPts val="3200"/>
              <a:buNone/>
            </a:pPr>
            <a:r>
              <a:t/>
            </a:r>
            <a:endParaRPr b="1" sz="3200">
              <a:latin typeface="Arial"/>
              <a:ea typeface="Arial"/>
              <a:cs typeface="Arial"/>
              <a:sym typeface="Arial"/>
            </a:endParaRPr>
          </a:p>
          <a:p>
            <a:pPr indent="-139700" lvl="0" marL="342900" rtl="0" algn="l">
              <a:spcBef>
                <a:spcPts val="640"/>
              </a:spcBef>
              <a:spcAft>
                <a:spcPts val="0"/>
              </a:spcAft>
              <a:buClr>
                <a:schemeClr val="dk1"/>
              </a:buClr>
              <a:buSzPts val="3200"/>
              <a:buNone/>
            </a:pPr>
            <a:r>
              <a:t/>
            </a:r>
            <a:endParaRPr/>
          </a:p>
        </p:txBody>
      </p:sp>
      <p:sp>
        <p:nvSpPr>
          <p:cNvPr id="102" name="Google Shape;10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457200" y="0"/>
            <a:ext cx="8229600" cy="10001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SCAPULA</a:t>
            </a:r>
            <a:endParaRPr sz="4400">
              <a:latin typeface="Arial Black"/>
              <a:ea typeface="Arial Black"/>
              <a:cs typeface="Arial Black"/>
              <a:sym typeface="Arial Black"/>
            </a:endParaRPr>
          </a:p>
        </p:txBody>
      </p:sp>
      <p:sp>
        <p:nvSpPr>
          <p:cNvPr id="108" name="Google Shape;108;p4"/>
          <p:cNvSpPr txBox="1"/>
          <p:nvPr>
            <p:ph idx="1" type="body"/>
          </p:nvPr>
        </p:nvSpPr>
        <p:spPr>
          <a:xfrm>
            <a:off x="0" y="642918"/>
            <a:ext cx="5929322" cy="6000792"/>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scapula</a:t>
            </a:r>
            <a:r>
              <a:rPr lang="en-AU" sz="3200">
                <a:latin typeface="Arial"/>
                <a:ea typeface="Arial"/>
                <a:cs typeface="Arial"/>
                <a:sym typeface="Arial"/>
              </a:rPr>
              <a:t> (shoulder blade) is a </a:t>
            </a:r>
            <a:r>
              <a:rPr b="1" lang="en-AU" sz="3200">
                <a:latin typeface="Arial"/>
                <a:ea typeface="Arial"/>
                <a:cs typeface="Arial"/>
                <a:sym typeface="Arial"/>
              </a:rPr>
              <a:t>large</a:t>
            </a:r>
            <a:r>
              <a:rPr lang="en-AU" sz="3200">
                <a:latin typeface="Arial"/>
                <a:ea typeface="Arial"/>
                <a:cs typeface="Arial"/>
                <a:sym typeface="Arial"/>
              </a:rPr>
              <a:t>, </a:t>
            </a:r>
            <a:r>
              <a:rPr b="1" lang="en-AU" sz="3200">
                <a:latin typeface="Arial"/>
                <a:ea typeface="Arial"/>
                <a:cs typeface="Arial"/>
                <a:sym typeface="Arial"/>
              </a:rPr>
              <a:t>flattened</a:t>
            </a:r>
            <a:r>
              <a:rPr lang="en-AU" sz="3200">
                <a:latin typeface="Arial"/>
                <a:ea typeface="Arial"/>
                <a:cs typeface="Arial"/>
                <a:sym typeface="Arial"/>
              </a:rPr>
              <a:t>, and </a:t>
            </a:r>
            <a:r>
              <a:rPr b="1" lang="en-AU" sz="3200">
                <a:latin typeface="Arial"/>
                <a:ea typeface="Arial"/>
                <a:cs typeface="Arial"/>
                <a:sym typeface="Arial"/>
              </a:rPr>
              <a:t>triangular bone </a:t>
            </a:r>
            <a:r>
              <a:rPr lang="en-AU" sz="3200">
                <a:latin typeface="Arial"/>
                <a:ea typeface="Arial"/>
                <a:cs typeface="Arial"/>
                <a:sym typeface="Arial"/>
              </a:rPr>
              <a:t>located on the </a:t>
            </a:r>
            <a:r>
              <a:rPr b="1" lang="en-AU" sz="3200">
                <a:latin typeface="Arial"/>
                <a:ea typeface="Arial"/>
                <a:cs typeface="Arial"/>
                <a:sym typeface="Arial"/>
              </a:rPr>
              <a:t>upper part </a:t>
            </a:r>
            <a:r>
              <a:rPr lang="en-AU" sz="3200">
                <a:latin typeface="Arial"/>
                <a:ea typeface="Arial"/>
                <a:cs typeface="Arial"/>
                <a:sym typeface="Arial"/>
              </a:rPr>
              <a:t>of the </a:t>
            </a:r>
            <a:r>
              <a:rPr b="1" lang="en-AU" sz="3200">
                <a:latin typeface="Arial"/>
                <a:ea typeface="Arial"/>
                <a:cs typeface="Arial"/>
                <a:sym typeface="Arial"/>
              </a:rPr>
              <a:t>posterolateral aspect </a:t>
            </a:r>
            <a:r>
              <a:rPr lang="en-AU" sz="3200">
                <a:latin typeface="Arial"/>
                <a:ea typeface="Arial"/>
                <a:cs typeface="Arial"/>
                <a:sym typeface="Arial"/>
              </a:rPr>
              <a:t>of the </a:t>
            </a:r>
            <a:r>
              <a:rPr b="1" lang="en-AU" sz="3200">
                <a:latin typeface="Arial"/>
                <a:ea typeface="Arial"/>
                <a:cs typeface="Arial"/>
                <a:sym typeface="Arial"/>
              </a:rPr>
              <a:t>thorax</a:t>
            </a:r>
            <a:r>
              <a:rPr lang="en-AU" sz="3200">
                <a:latin typeface="Arial"/>
                <a:ea typeface="Arial"/>
                <a:cs typeface="Arial"/>
                <a:sym typeface="Arial"/>
              </a:rPr>
              <a:t>, against </a:t>
            </a:r>
            <a:r>
              <a:rPr b="1" lang="en-AU" sz="3200">
                <a:latin typeface="Arial"/>
                <a:ea typeface="Arial"/>
                <a:cs typeface="Arial"/>
                <a:sym typeface="Arial"/>
              </a:rPr>
              <a:t>2nd to 7th ribs</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Font typeface="Noto Sans Symbols"/>
              <a:buChar char="▪"/>
            </a:pPr>
            <a:r>
              <a:rPr b="1" lang="en-AU" sz="3200">
                <a:latin typeface="Arial"/>
                <a:ea typeface="Arial"/>
                <a:cs typeface="Arial"/>
                <a:sym typeface="Arial"/>
              </a:rPr>
              <a:t>PARTS</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It is </a:t>
            </a:r>
            <a:r>
              <a:rPr b="1" lang="en-AU" sz="3200">
                <a:latin typeface="Arial"/>
                <a:ea typeface="Arial"/>
                <a:cs typeface="Arial"/>
                <a:sym typeface="Arial"/>
              </a:rPr>
              <a:t>highly mobile </a:t>
            </a:r>
            <a:r>
              <a:rPr lang="en-AU" sz="3200">
                <a:latin typeface="Arial"/>
                <a:ea typeface="Arial"/>
                <a:cs typeface="Arial"/>
                <a:sym typeface="Arial"/>
              </a:rPr>
              <a:t>and </a:t>
            </a:r>
            <a:r>
              <a:rPr b="1" lang="en-AU" sz="3200">
                <a:latin typeface="Arial"/>
                <a:ea typeface="Arial"/>
                <a:cs typeface="Arial"/>
                <a:sym typeface="Arial"/>
              </a:rPr>
              <a:t>consists</a:t>
            </a:r>
            <a:r>
              <a:rPr lang="en-AU" sz="3200">
                <a:latin typeface="Arial"/>
                <a:ea typeface="Arial"/>
                <a:cs typeface="Arial"/>
                <a:sym typeface="Arial"/>
              </a:rPr>
              <a:t> of </a:t>
            </a:r>
            <a:r>
              <a:rPr b="1" lang="en-AU" sz="3200">
                <a:latin typeface="Arial"/>
                <a:ea typeface="Arial"/>
                <a:cs typeface="Arial"/>
                <a:sym typeface="Arial"/>
              </a:rPr>
              <a:t>four parts</a:t>
            </a:r>
            <a:r>
              <a:rPr lang="en-AU" sz="3200">
                <a:latin typeface="Arial"/>
                <a:ea typeface="Arial"/>
                <a:cs typeface="Arial"/>
                <a:sym typeface="Arial"/>
              </a:rPr>
              <a:t>: </a:t>
            </a:r>
            <a:r>
              <a:rPr b="1" lang="en-AU" sz="3200">
                <a:latin typeface="Arial"/>
                <a:ea typeface="Arial"/>
                <a:cs typeface="Arial"/>
                <a:sym typeface="Arial"/>
              </a:rPr>
              <a:t>a body </a:t>
            </a:r>
            <a:r>
              <a:rPr lang="en-AU" sz="3200">
                <a:latin typeface="Arial"/>
                <a:ea typeface="Arial"/>
                <a:cs typeface="Arial"/>
                <a:sym typeface="Arial"/>
              </a:rPr>
              <a:t>and </a:t>
            </a:r>
            <a:r>
              <a:rPr b="1" lang="en-AU" sz="3200">
                <a:latin typeface="Arial"/>
                <a:ea typeface="Arial"/>
                <a:cs typeface="Arial"/>
                <a:sym typeface="Arial"/>
              </a:rPr>
              <a:t>three processes:spinous</a:t>
            </a:r>
            <a:r>
              <a:rPr lang="en-AU" sz="3200">
                <a:latin typeface="Arial"/>
                <a:ea typeface="Arial"/>
                <a:cs typeface="Arial"/>
                <a:sym typeface="Arial"/>
              </a:rPr>
              <a:t>, </a:t>
            </a:r>
            <a:r>
              <a:rPr b="1" lang="en-AU" sz="3200">
                <a:latin typeface="Arial"/>
                <a:ea typeface="Arial"/>
                <a:cs typeface="Arial"/>
                <a:sym typeface="Arial"/>
              </a:rPr>
              <a:t>acromion</a:t>
            </a:r>
            <a:r>
              <a:rPr lang="en-AU" sz="3200">
                <a:latin typeface="Arial"/>
                <a:ea typeface="Arial"/>
                <a:cs typeface="Arial"/>
                <a:sym typeface="Arial"/>
              </a:rPr>
              <a:t>, and </a:t>
            </a:r>
            <a:r>
              <a:rPr b="1" lang="en-AU" sz="3200">
                <a:latin typeface="Arial"/>
                <a:ea typeface="Arial"/>
                <a:cs typeface="Arial"/>
                <a:sym typeface="Arial"/>
              </a:rPr>
              <a:t>coracoid</a:t>
            </a:r>
            <a:r>
              <a:rPr lang="en-AU" sz="3200">
                <a:latin typeface="Arial"/>
                <a:ea typeface="Arial"/>
                <a:cs typeface="Arial"/>
                <a:sym typeface="Arial"/>
              </a:rPr>
              <a:t>.</a:t>
            </a:r>
            <a:endParaRPr sz="3200">
              <a:latin typeface="Arial"/>
              <a:ea typeface="Arial"/>
              <a:cs typeface="Arial"/>
              <a:sym typeface="Arial"/>
            </a:endParaRPr>
          </a:p>
        </p:txBody>
      </p:sp>
      <p:pic>
        <p:nvPicPr>
          <p:cNvPr id="109" name="Google Shape;109;p4"/>
          <p:cNvPicPr preferRelativeResize="0"/>
          <p:nvPr/>
        </p:nvPicPr>
        <p:blipFill rotWithShape="1">
          <a:blip r:embed="rId3">
            <a:alphaModFix/>
          </a:blip>
          <a:srcRect b="0" l="0" r="0" t="0"/>
          <a:stretch/>
        </p:blipFill>
        <p:spPr>
          <a:xfrm>
            <a:off x="5929322" y="714356"/>
            <a:ext cx="3000396" cy="5529263"/>
          </a:xfrm>
          <a:prstGeom prst="rect">
            <a:avLst/>
          </a:prstGeom>
          <a:noFill/>
          <a:ln>
            <a:noFill/>
          </a:ln>
        </p:spPr>
      </p:pic>
      <p:sp>
        <p:nvSpPr>
          <p:cNvPr id="110" name="Google Shape;110;p4"/>
          <p:cNvSpPr txBox="1"/>
          <p:nvPr/>
        </p:nvSpPr>
        <p:spPr>
          <a:xfrm>
            <a:off x="5150542" y="6286520"/>
            <a:ext cx="3993458"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AU" sz="1800" u="none" cap="none" strike="noStrike">
                <a:solidFill>
                  <a:schemeClr val="dk1"/>
                </a:solidFill>
                <a:latin typeface="Calibri"/>
                <a:ea typeface="Calibri"/>
                <a:cs typeface="Calibri"/>
                <a:sym typeface="Calibri"/>
              </a:rPr>
              <a:t>      </a:t>
            </a:r>
            <a:r>
              <a:rPr b="0" i="0" lang="en-AU" sz="1800" u="none" cap="none" strike="noStrike">
                <a:solidFill>
                  <a:schemeClr val="dk1"/>
                </a:solidFill>
                <a:latin typeface="Arial"/>
                <a:ea typeface="Arial"/>
                <a:cs typeface="Arial"/>
                <a:sym typeface="Arial"/>
              </a:rPr>
              <a:t>Right scapula: A, anterior aspect </a:t>
            </a:r>
            <a:endParaRPr b="0" i="0" sz="1800" u="none" cap="none" strike="noStrike">
              <a:solidFill>
                <a:schemeClr val="dk1"/>
              </a:solidFill>
              <a:latin typeface="Arial"/>
              <a:ea typeface="Arial"/>
              <a:cs typeface="Arial"/>
              <a:sym typeface="Arial"/>
            </a:endParaRPr>
          </a:p>
        </p:txBody>
      </p:sp>
      <p:sp>
        <p:nvSpPr>
          <p:cNvPr id="111" name="Google Shape;111;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457200" y="-214338"/>
            <a:ext cx="8229600" cy="92869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Body</a:t>
            </a:r>
            <a:endParaRPr sz="4400">
              <a:latin typeface="Arial Black"/>
              <a:ea typeface="Arial Black"/>
              <a:cs typeface="Arial Black"/>
              <a:sym typeface="Arial Black"/>
            </a:endParaRPr>
          </a:p>
        </p:txBody>
      </p:sp>
      <p:sp>
        <p:nvSpPr>
          <p:cNvPr id="117" name="Google Shape;117;p5"/>
          <p:cNvSpPr txBox="1"/>
          <p:nvPr>
            <p:ph idx="1" type="body"/>
          </p:nvPr>
        </p:nvSpPr>
        <p:spPr>
          <a:xfrm>
            <a:off x="0" y="500042"/>
            <a:ext cx="9001156" cy="6643734"/>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000"/>
              <a:buFont typeface="Noto Sans Symbols"/>
              <a:buChar char="▪"/>
            </a:pPr>
            <a:r>
              <a:rPr lang="en-AU" sz="3000">
                <a:latin typeface="Arial"/>
                <a:ea typeface="Arial"/>
                <a:cs typeface="Arial"/>
                <a:sym typeface="Arial"/>
              </a:rPr>
              <a:t>The </a:t>
            </a:r>
            <a:r>
              <a:rPr b="1" lang="en-AU" sz="3000">
                <a:latin typeface="Arial"/>
                <a:ea typeface="Arial"/>
                <a:cs typeface="Arial"/>
                <a:sym typeface="Arial"/>
              </a:rPr>
              <a:t>body</a:t>
            </a:r>
            <a:r>
              <a:rPr lang="en-AU" sz="3000">
                <a:latin typeface="Arial"/>
                <a:ea typeface="Arial"/>
                <a:cs typeface="Arial"/>
                <a:sym typeface="Arial"/>
              </a:rPr>
              <a:t> is </a:t>
            </a:r>
            <a:r>
              <a:rPr b="1" lang="en-AU" sz="3000">
                <a:latin typeface="Arial"/>
                <a:ea typeface="Arial"/>
                <a:cs typeface="Arial"/>
                <a:sym typeface="Arial"/>
              </a:rPr>
              <a:t>triangular</a:t>
            </a:r>
            <a:r>
              <a:rPr lang="en-AU" sz="3000">
                <a:latin typeface="Arial"/>
                <a:ea typeface="Arial"/>
                <a:cs typeface="Arial"/>
                <a:sym typeface="Arial"/>
              </a:rPr>
              <a:t>, </a:t>
            </a:r>
            <a:r>
              <a:rPr b="1" lang="en-AU" sz="3000">
                <a:latin typeface="Arial"/>
                <a:ea typeface="Arial"/>
                <a:cs typeface="Arial"/>
                <a:sym typeface="Arial"/>
              </a:rPr>
              <a:t>slender</a:t>
            </a:r>
            <a:r>
              <a:rPr lang="en-AU" sz="3000">
                <a:latin typeface="Arial"/>
                <a:ea typeface="Arial"/>
                <a:cs typeface="Arial"/>
                <a:sym typeface="Arial"/>
              </a:rPr>
              <a:t>, and </a:t>
            </a:r>
            <a:r>
              <a:rPr b="1" lang="en-AU" sz="3000">
                <a:latin typeface="Arial"/>
                <a:ea typeface="Arial"/>
                <a:cs typeface="Arial"/>
                <a:sym typeface="Arial"/>
              </a:rPr>
              <a:t>transparent</a:t>
            </a:r>
            <a:r>
              <a:rPr lang="en-AU" sz="3000">
                <a:latin typeface="Arial"/>
                <a:ea typeface="Arial"/>
                <a:cs typeface="Arial"/>
                <a:sym typeface="Arial"/>
              </a:rPr>
              <a:t>. It presents the </a:t>
            </a:r>
            <a:r>
              <a:rPr b="1" lang="en-AU" sz="3000">
                <a:latin typeface="Arial"/>
                <a:ea typeface="Arial"/>
                <a:cs typeface="Arial"/>
                <a:sym typeface="Arial"/>
              </a:rPr>
              <a:t>following features</a:t>
            </a:r>
            <a:r>
              <a:rPr lang="en-AU" sz="3000">
                <a:latin typeface="Arial"/>
                <a:ea typeface="Arial"/>
                <a:cs typeface="Arial"/>
                <a:sym typeface="Arial"/>
              </a:rPr>
              <a:t>:</a:t>
            </a:r>
            <a:endParaRPr/>
          </a:p>
          <a:p>
            <a:pPr indent="-342900" lvl="0" marL="342900" rtl="0" algn="just">
              <a:spcBef>
                <a:spcPts val="600"/>
              </a:spcBef>
              <a:spcAft>
                <a:spcPts val="0"/>
              </a:spcAft>
              <a:buClr>
                <a:schemeClr val="dk1"/>
              </a:buClr>
              <a:buSzPts val="3000"/>
              <a:buChar char="•"/>
            </a:pPr>
            <a:r>
              <a:rPr b="1" lang="en-AU" sz="3000">
                <a:latin typeface="Arial"/>
                <a:ea typeface="Arial"/>
                <a:cs typeface="Arial"/>
                <a:sym typeface="Arial"/>
              </a:rPr>
              <a:t>Two surfaces</a:t>
            </a:r>
            <a:r>
              <a:rPr lang="en-AU" sz="3000">
                <a:latin typeface="Arial"/>
                <a:ea typeface="Arial"/>
                <a:cs typeface="Arial"/>
                <a:sym typeface="Arial"/>
              </a:rPr>
              <a:t>: (a) costal and (b) dorsal.</a:t>
            </a:r>
            <a:endParaRPr/>
          </a:p>
          <a:p>
            <a:pPr indent="-342900" lvl="0" marL="342900" rtl="0" algn="just">
              <a:spcBef>
                <a:spcPts val="600"/>
              </a:spcBef>
              <a:spcAft>
                <a:spcPts val="0"/>
              </a:spcAft>
              <a:buClr>
                <a:schemeClr val="dk1"/>
              </a:buClr>
              <a:buSzPts val="3000"/>
              <a:buChar char="•"/>
            </a:pPr>
            <a:r>
              <a:rPr b="1" lang="en-AU" sz="3000">
                <a:latin typeface="Arial"/>
                <a:ea typeface="Arial"/>
                <a:cs typeface="Arial"/>
                <a:sym typeface="Arial"/>
              </a:rPr>
              <a:t>Three borders</a:t>
            </a:r>
            <a:r>
              <a:rPr lang="en-AU" sz="3000">
                <a:latin typeface="Arial"/>
                <a:ea typeface="Arial"/>
                <a:cs typeface="Arial"/>
                <a:sym typeface="Arial"/>
              </a:rPr>
              <a:t>: (a) superior, (b) lateral, and (c) medial.</a:t>
            </a:r>
            <a:endParaRPr/>
          </a:p>
          <a:p>
            <a:pPr indent="-342900" lvl="0" marL="342900" rtl="0" algn="just">
              <a:spcBef>
                <a:spcPts val="600"/>
              </a:spcBef>
              <a:spcAft>
                <a:spcPts val="0"/>
              </a:spcAft>
              <a:buClr>
                <a:schemeClr val="dk1"/>
              </a:buClr>
              <a:buSzPts val="3000"/>
              <a:buChar char="•"/>
            </a:pPr>
            <a:r>
              <a:rPr b="1" lang="en-AU" sz="3000">
                <a:latin typeface="Arial"/>
                <a:ea typeface="Arial"/>
                <a:cs typeface="Arial"/>
                <a:sym typeface="Arial"/>
              </a:rPr>
              <a:t>Three angles</a:t>
            </a:r>
            <a:r>
              <a:rPr lang="en-AU" sz="3000">
                <a:latin typeface="Arial"/>
                <a:ea typeface="Arial"/>
                <a:cs typeface="Arial"/>
                <a:sym typeface="Arial"/>
              </a:rPr>
              <a:t>: (a) inferior, (b) superior, and (c) lateral.</a:t>
            </a:r>
            <a:endParaRPr/>
          </a:p>
          <a:p>
            <a:pPr indent="-342900" lvl="0" marL="342900" rtl="0" algn="just">
              <a:spcBef>
                <a:spcPts val="600"/>
              </a:spcBef>
              <a:spcAft>
                <a:spcPts val="0"/>
              </a:spcAft>
              <a:buClr>
                <a:schemeClr val="dk1"/>
              </a:buClr>
              <a:buSzPts val="3000"/>
              <a:buChar char="•"/>
            </a:pPr>
            <a:r>
              <a:rPr lang="en-AU" sz="3000">
                <a:latin typeface="Arial"/>
                <a:ea typeface="Arial"/>
                <a:cs typeface="Arial"/>
                <a:sym typeface="Arial"/>
              </a:rPr>
              <a:t>The </a:t>
            </a:r>
            <a:r>
              <a:rPr b="1" lang="en-AU" sz="3000">
                <a:latin typeface="Arial"/>
                <a:ea typeface="Arial"/>
                <a:cs typeface="Arial"/>
                <a:sym typeface="Arial"/>
              </a:rPr>
              <a:t>dorsal surface </a:t>
            </a:r>
            <a:r>
              <a:rPr lang="en-AU" sz="3000">
                <a:latin typeface="Arial"/>
                <a:ea typeface="Arial"/>
                <a:cs typeface="Arial"/>
                <a:sym typeface="Arial"/>
              </a:rPr>
              <a:t>presents a </a:t>
            </a:r>
            <a:r>
              <a:rPr b="1" lang="en-AU" sz="3000">
                <a:latin typeface="Arial"/>
                <a:ea typeface="Arial"/>
                <a:cs typeface="Arial"/>
                <a:sym typeface="Arial"/>
              </a:rPr>
              <a:t>shelf-like bony projection </a:t>
            </a:r>
            <a:r>
              <a:rPr lang="en-AU" sz="3000">
                <a:latin typeface="Arial"/>
                <a:ea typeface="Arial"/>
                <a:cs typeface="Arial"/>
                <a:sym typeface="Arial"/>
              </a:rPr>
              <a:t>on its </a:t>
            </a:r>
            <a:r>
              <a:rPr b="1" lang="en-AU" sz="3000">
                <a:latin typeface="Arial"/>
                <a:ea typeface="Arial"/>
                <a:cs typeface="Arial"/>
                <a:sym typeface="Arial"/>
              </a:rPr>
              <a:t>upper part </a:t>
            </a:r>
            <a:r>
              <a:rPr lang="en-AU" sz="3000">
                <a:latin typeface="Arial"/>
                <a:ea typeface="Arial"/>
                <a:cs typeface="Arial"/>
                <a:sym typeface="Arial"/>
              </a:rPr>
              <a:t>called </a:t>
            </a:r>
            <a:r>
              <a:rPr b="1" lang="en-AU" sz="3000">
                <a:latin typeface="Arial"/>
                <a:ea typeface="Arial"/>
                <a:cs typeface="Arial"/>
                <a:sym typeface="Arial"/>
              </a:rPr>
              <a:t>spinous process</a:t>
            </a:r>
            <a:r>
              <a:rPr lang="en-AU" sz="3000">
                <a:latin typeface="Arial"/>
                <a:ea typeface="Arial"/>
                <a:cs typeface="Arial"/>
                <a:sym typeface="Arial"/>
              </a:rPr>
              <a:t>.</a:t>
            </a:r>
            <a:endParaRPr/>
          </a:p>
          <a:p>
            <a:pPr indent="-342900" lvl="0" marL="342900" rtl="0" algn="just">
              <a:spcBef>
                <a:spcPts val="600"/>
              </a:spcBef>
              <a:spcAft>
                <a:spcPts val="0"/>
              </a:spcAft>
              <a:buClr>
                <a:schemeClr val="dk1"/>
              </a:buClr>
              <a:buSzPts val="3000"/>
              <a:buChar char="•"/>
            </a:pPr>
            <a:r>
              <a:rPr lang="en-AU" sz="3000">
                <a:latin typeface="Arial"/>
                <a:ea typeface="Arial"/>
                <a:cs typeface="Arial"/>
                <a:sym typeface="Arial"/>
              </a:rPr>
              <a:t>The </a:t>
            </a:r>
            <a:r>
              <a:rPr b="1" lang="en-AU" sz="3000">
                <a:latin typeface="Arial"/>
                <a:ea typeface="Arial"/>
                <a:cs typeface="Arial"/>
                <a:sym typeface="Arial"/>
              </a:rPr>
              <a:t>lateral angle </a:t>
            </a:r>
            <a:r>
              <a:rPr lang="en-AU" sz="3000">
                <a:latin typeface="Arial"/>
                <a:ea typeface="Arial"/>
                <a:cs typeface="Arial"/>
                <a:sym typeface="Arial"/>
              </a:rPr>
              <a:t>is </a:t>
            </a:r>
            <a:r>
              <a:rPr b="1" lang="en-AU" sz="3000">
                <a:latin typeface="Arial"/>
                <a:ea typeface="Arial"/>
                <a:cs typeface="Arial"/>
                <a:sym typeface="Arial"/>
              </a:rPr>
              <a:t>condensed</a:t>
            </a:r>
            <a:r>
              <a:rPr lang="en-AU" sz="3000">
                <a:latin typeface="Arial"/>
                <a:ea typeface="Arial"/>
                <a:cs typeface="Arial"/>
                <a:sym typeface="Arial"/>
              </a:rPr>
              <a:t> to form an </a:t>
            </a:r>
            <a:r>
              <a:rPr b="1" lang="en-AU" sz="3000">
                <a:latin typeface="Arial"/>
                <a:ea typeface="Arial"/>
                <a:cs typeface="Arial"/>
                <a:sym typeface="Arial"/>
              </a:rPr>
              <a:t>articular surface</a:t>
            </a:r>
            <a:r>
              <a:rPr lang="en-AU" sz="3000">
                <a:latin typeface="Arial"/>
                <a:ea typeface="Arial"/>
                <a:cs typeface="Arial"/>
                <a:sym typeface="Arial"/>
              </a:rPr>
              <a:t>-the </a:t>
            </a:r>
            <a:r>
              <a:rPr b="1" lang="en-AU" sz="3000">
                <a:latin typeface="Arial"/>
                <a:ea typeface="Arial"/>
                <a:cs typeface="Arial"/>
                <a:sym typeface="Arial"/>
              </a:rPr>
              <a:t>glenoid cavity</a:t>
            </a:r>
            <a:r>
              <a:rPr lang="en-AU" sz="3000">
                <a:latin typeface="Arial"/>
                <a:ea typeface="Arial"/>
                <a:cs typeface="Arial"/>
                <a:sym typeface="Arial"/>
              </a:rPr>
              <a:t>.</a:t>
            </a:r>
            <a:endParaRPr/>
          </a:p>
          <a:p>
            <a:pPr indent="-152400" lvl="0" marL="342900" rtl="0" algn="just">
              <a:spcBef>
                <a:spcPts val="600"/>
              </a:spcBef>
              <a:spcAft>
                <a:spcPts val="0"/>
              </a:spcAft>
              <a:buClr>
                <a:schemeClr val="dk1"/>
              </a:buClr>
              <a:buSzPts val="3000"/>
              <a:buNone/>
            </a:pPr>
            <a:r>
              <a:t/>
            </a:r>
            <a:endParaRPr sz="3000">
              <a:latin typeface="Arial"/>
              <a:ea typeface="Arial"/>
              <a:cs typeface="Arial"/>
              <a:sym typeface="Arial"/>
            </a:endParaRPr>
          </a:p>
        </p:txBody>
      </p:sp>
      <p:sp>
        <p:nvSpPr>
          <p:cNvPr id="118" name="Google Shape;118;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ph idx="1" type="body"/>
          </p:nvPr>
        </p:nvSpPr>
        <p:spPr>
          <a:xfrm>
            <a:off x="457200" y="357166"/>
            <a:ext cx="8229600" cy="596743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AU" sz="2800">
                <a:latin typeface="Arial"/>
                <a:ea typeface="Arial"/>
                <a:cs typeface="Arial"/>
                <a:sym typeface="Arial"/>
              </a:rPr>
              <a:t>The </a:t>
            </a:r>
            <a:r>
              <a:rPr b="1" lang="en-AU" sz="2800">
                <a:latin typeface="Arial"/>
                <a:ea typeface="Arial"/>
                <a:cs typeface="Arial"/>
                <a:sym typeface="Arial"/>
              </a:rPr>
              <a:t>lateral angle </a:t>
            </a:r>
            <a:r>
              <a:rPr lang="en-AU" sz="2800">
                <a:latin typeface="Arial"/>
                <a:ea typeface="Arial"/>
                <a:cs typeface="Arial"/>
                <a:sym typeface="Arial"/>
              </a:rPr>
              <a:t>is </a:t>
            </a:r>
            <a:r>
              <a:rPr b="1" lang="en-AU" sz="2800">
                <a:latin typeface="Arial"/>
                <a:ea typeface="Arial"/>
                <a:cs typeface="Arial"/>
                <a:sym typeface="Arial"/>
              </a:rPr>
              <a:t>thickened </a:t>
            </a:r>
            <a:r>
              <a:rPr lang="en-AU" sz="2800">
                <a:latin typeface="Arial"/>
                <a:ea typeface="Arial"/>
                <a:cs typeface="Arial"/>
                <a:sym typeface="Arial"/>
              </a:rPr>
              <a:t>and called </a:t>
            </a:r>
            <a:r>
              <a:rPr b="1" lang="en-AU" sz="2800">
                <a:latin typeface="Arial"/>
                <a:ea typeface="Arial"/>
                <a:cs typeface="Arial"/>
                <a:sym typeface="Arial"/>
              </a:rPr>
              <a:t>head of the scapula</a:t>
            </a:r>
            <a:r>
              <a:rPr lang="en-AU" sz="2800">
                <a:latin typeface="Arial"/>
                <a:ea typeface="Arial"/>
                <a:cs typeface="Arial"/>
                <a:sym typeface="Arial"/>
              </a:rPr>
              <a:t>, which is connected to the plate-like body by an </a:t>
            </a:r>
            <a:r>
              <a:rPr b="1" lang="en-AU" sz="2800">
                <a:latin typeface="Arial"/>
                <a:ea typeface="Arial"/>
                <a:cs typeface="Arial"/>
                <a:sym typeface="Arial"/>
              </a:rPr>
              <a:t>inconspicuous neck</a:t>
            </a:r>
            <a:r>
              <a:rPr lang="en-AU" sz="2800">
                <a:latin typeface="Arial"/>
                <a:ea typeface="Arial"/>
                <a:cs typeface="Arial"/>
                <a:sym typeface="Arial"/>
              </a:rPr>
              <a:t>.</a:t>
            </a:r>
            <a:endParaRPr/>
          </a:p>
          <a:p>
            <a:pPr indent="-139700" lvl="0" marL="342900" rtl="0" algn="l">
              <a:spcBef>
                <a:spcPts val="640"/>
              </a:spcBef>
              <a:spcAft>
                <a:spcPts val="0"/>
              </a:spcAft>
              <a:buClr>
                <a:schemeClr val="dk1"/>
              </a:buClr>
              <a:buSzPts val="3200"/>
              <a:buNone/>
            </a:pPr>
            <a:r>
              <a:t/>
            </a:r>
            <a:endParaRPr/>
          </a:p>
        </p:txBody>
      </p:sp>
      <p:pic>
        <p:nvPicPr>
          <p:cNvPr id="124" name="Google Shape;124;p6"/>
          <p:cNvPicPr preferRelativeResize="0"/>
          <p:nvPr/>
        </p:nvPicPr>
        <p:blipFill rotWithShape="1">
          <a:blip r:embed="rId3">
            <a:alphaModFix/>
          </a:blip>
          <a:srcRect b="0" l="0" r="0" t="0"/>
          <a:stretch/>
        </p:blipFill>
        <p:spPr>
          <a:xfrm>
            <a:off x="214282" y="1643050"/>
            <a:ext cx="4643470" cy="4857783"/>
          </a:xfrm>
          <a:prstGeom prst="rect">
            <a:avLst/>
          </a:prstGeom>
          <a:noFill/>
          <a:ln>
            <a:noFill/>
          </a:ln>
        </p:spPr>
      </p:pic>
      <p:pic>
        <p:nvPicPr>
          <p:cNvPr id="125" name="Google Shape;125;p6"/>
          <p:cNvPicPr preferRelativeResize="0"/>
          <p:nvPr/>
        </p:nvPicPr>
        <p:blipFill rotWithShape="1">
          <a:blip r:embed="rId4">
            <a:alphaModFix/>
          </a:blip>
          <a:srcRect b="0" l="0" r="0" t="0"/>
          <a:stretch/>
        </p:blipFill>
        <p:spPr>
          <a:xfrm>
            <a:off x="4572000" y="1643050"/>
            <a:ext cx="4572000" cy="4857784"/>
          </a:xfrm>
          <a:prstGeom prst="rect">
            <a:avLst/>
          </a:prstGeom>
          <a:noFill/>
          <a:ln>
            <a:noFill/>
          </a:ln>
        </p:spPr>
      </p:pic>
      <p:sp>
        <p:nvSpPr>
          <p:cNvPr id="126" name="Google Shape;126;p6"/>
          <p:cNvSpPr txBox="1"/>
          <p:nvPr/>
        </p:nvSpPr>
        <p:spPr>
          <a:xfrm>
            <a:off x="714348" y="6429396"/>
            <a:ext cx="7143800"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AU" sz="1800" u="none" cap="none" strike="noStrike">
                <a:solidFill>
                  <a:schemeClr val="dk1"/>
                </a:solidFill>
                <a:latin typeface="Arial Black"/>
                <a:ea typeface="Arial Black"/>
                <a:cs typeface="Arial Black"/>
                <a:sym typeface="Arial Black"/>
              </a:rPr>
              <a:t>Right scapula:  anterior aspect;    posterior aspect.</a:t>
            </a:r>
            <a:endParaRPr b="0" i="0" sz="1800" u="none" cap="none" strike="noStrike">
              <a:solidFill>
                <a:schemeClr val="dk1"/>
              </a:solidFill>
              <a:latin typeface="Arial Black"/>
              <a:ea typeface="Arial Black"/>
              <a:cs typeface="Arial Black"/>
              <a:sym typeface="Arial Black"/>
            </a:endParaRPr>
          </a:p>
        </p:txBody>
      </p:sp>
      <p:sp>
        <p:nvSpPr>
          <p:cNvPr id="127" name="Google Shape;127;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457200" y="-214338"/>
            <a:ext cx="8229600" cy="10001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Processes</a:t>
            </a:r>
            <a:endParaRPr sz="4400">
              <a:latin typeface="Arial Black"/>
              <a:ea typeface="Arial Black"/>
              <a:cs typeface="Arial Black"/>
              <a:sym typeface="Arial Black"/>
            </a:endParaRPr>
          </a:p>
        </p:txBody>
      </p:sp>
      <p:sp>
        <p:nvSpPr>
          <p:cNvPr id="133" name="Google Shape;133;p7"/>
          <p:cNvSpPr txBox="1"/>
          <p:nvPr>
            <p:ph idx="1" type="body"/>
          </p:nvPr>
        </p:nvSpPr>
        <p:spPr>
          <a:xfrm>
            <a:off x="214282" y="714356"/>
            <a:ext cx="8715436" cy="6143644"/>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Font typeface="Noto Sans Symbols"/>
              <a:buChar char="▪"/>
            </a:pPr>
            <a:r>
              <a:rPr lang="en-AU" sz="3200">
                <a:latin typeface="Arial"/>
                <a:ea typeface="Arial"/>
                <a:cs typeface="Arial"/>
                <a:sym typeface="Arial"/>
              </a:rPr>
              <a:t>There are </a:t>
            </a:r>
            <a:r>
              <a:rPr b="1" lang="en-AU" sz="3200">
                <a:latin typeface="Arial"/>
                <a:ea typeface="Arial"/>
                <a:cs typeface="Arial"/>
                <a:sym typeface="Arial"/>
              </a:rPr>
              <a:t>three processes</a:t>
            </a:r>
            <a:r>
              <a:rPr lang="en-AU" sz="3200">
                <a:latin typeface="Arial"/>
                <a:ea typeface="Arial"/>
                <a:cs typeface="Arial"/>
                <a:sym typeface="Arial"/>
              </a:rPr>
              <a:t>. These are as follows:</a:t>
            </a:r>
            <a:endParaRPr/>
          </a:p>
          <a:p>
            <a:pPr indent="-342900" lvl="0" marL="342900" rtl="0" algn="just">
              <a:spcBef>
                <a:spcPts val="592"/>
              </a:spcBef>
              <a:spcAft>
                <a:spcPts val="0"/>
              </a:spcAft>
              <a:buClr>
                <a:schemeClr val="dk1"/>
              </a:buClr>
              <a:buSzPct val="100000"/>
              <a:buChar char="•"/>
            </a:pPr>
            <a:r>
              <a:rPr b="1" lang="en-AU" sz="3200">
                <a:latin typeface="Arial"/>
                <a:ea typeface="Arial"/>
                <a:cs typeface="Arial"/>
                <a:sym typeface="Arial"/>
              </a:rPr>
              <a:t>Spinous process</a:t>
            </a:r>
            <a:r>
              <a:rPr lang="en-AU" sz="3200">
                <a:latin typeface="Arial"/>
                <a:ea typeface="Arial"/>
                <a:cs typeface="Arial"/>
                <a:sym typeface="Arial"/>
              </a:rPr>
              <a:t>.</a:t>
            </a:r>
            <a:endParaRPr/>
          </a:p>
          <a:p>
            <a:pPr indent="-342900" lvl="0" marL="342900" rtl="0" algn="just">
              <a:spcBef>
                <a:spcPts val="592"/>
              </a:spcBef>
              <a:spcAft>
                <a:spcPts val="0"/>
              </a:spcAft>
              <a:buClr>
                <a:schemeClr val="dk1"/>
              </a:buClr>
              <a:buSzPct val="100000"/>
              <a:buChar char="•"/>
            </a:pPr>
            <a:r>
              <a:rPr b="1" lang="en-AU" sz="3200">
                <a:latin typeface="Arial"/>
                <a:ea typeface="Arial"/>
                <a:cs typeface="Arial"/>
                <a:sym typeface="Arial"/>
              </a:rPr>
              <a:t>Acromion process</a:t>
            </a:r>
            <a:r>
              <a:rPr lang="en-AU" sz="3200">
                <a:latin typeface="Arial"/>
                <a:ea typeface="Arial"/>
                <a:cs typeface="Arial"/>
                <a:sym typeface="Arial"/>
              </a:rPr>
              <a:t>.</a:t>
            </a:r>
            <a:endParaRPr/>
          </a:p>
          <a:p>
            <a:pPr indent="-342900" lvl="0" marL="342900" rtl="0" algn="just">
              <a:spcBef>
                <a:spcPts val="592"/>
              </a:spcBef>
              <a:spcAft>
                <a:spcPts val="0"/>
              </a:spcAft>
              <a:buClr>
                <a:schemeClr val="dk1"/>
              </a:buClr>
              <a:buSzPct val="100000"/>
              <a:buChar char="•"/>
            </a:pPr>
            <a:r>
              <a:rPr b="1" lang="en-AU" sz="3200">
                <a:latin typeface="Arial"/>
                <a:ea typeface="Arial"/>
                <a:cs typeface="Arial"/>
                <a:sym typeface="Arial"/>
              </a:rPr>
              <a:t>Coracoid process</a:t>
            </a:r>
            <a:r>
              <a:rPr lang="en-AU" sz="3200">
                <a:latin typeface="Arial"/>
                <a:ea typeface="Arial"/>
                <a:cs typeface="Arial"/>
                <a:sym typeface="Arial"/>
              </a:rPr>
              <a:t>.</a:t>
            </a:r>
            <a:endParaRPr/>
          </a:p>
          <a:p>
            <a:pPr indent="-342900" lvl="0" marL="342900" rtl="0" algn="just">
              <a:spcBef>
                <a:spcPts val="592"/>
              </a:spcBef>
              <a:spcAft>
                <a:spcPts val="0"/>
              </a:spcAft>
              <a:buClr>
                <a:schemeClr val="dk1"/>
              </a:buClr>
              <a:buSzPct val="100000"/>
              <a:buFont typeface="Noto Sans Symbols"/>
              <a:buChar char="▪"/>
            </a:pPr>
            <a:r>
              <a:rPr lang="en-AU" sz="3200">
                <a:latin typeface="Arial"/>
                <a:ea typeface="Arial"/>
                <a:cs typeface="Arial"/>
                <a:sym typeface="Arial"/>
              </a:rPr>
              <a:t>The </a:t>
            </a:r>
            <a:r>
              <a:rPr b="1" lang="en-AU" sz="3200">
                <a:latin typeface="Arial"/>
                <a:ea typeface="Arial"/>
                <a:cs typeface="Arial"/>
                <a:sym typeface="Arial"/>
              </a:rPr>
              <a:t>spinous process </a:t>
            </a:r>
            <a:r>
              <a:rPr lang="en-AU" sz="3200">
                <a:latin typeface="Arial"/>
                <a:ea typeface="Arial"/>
                <a:cs typeface="Arial"/>
                <a:sym typeface="Arial"/>
              </a:rPr>
              <a:t>is a </a:t>
            </a:r>
            <a:r>
              <a:rPr b="1" lang="en-AU" sz="3200">
                <a:latin typeface="Arial"/>
                <a:ea typeface="Arial"/>
                <a:cs typeface="Arial"/>
                <a:sym typeface="Arial"/>
              </a:rPr>
              <a:t>shelf-like</a:t>
            </a:r>
            <a:r>
              <a:rPr lang="en-AU" sz="3200">
                <a:latin typeface="Arial"/>
                <a:ea typeface="Arial"/>
                <a:cs typeface="Arial"/>
                <a:sym typeface="Arial"/>
              </a:rPr>
              <a:t> </a:t>
            </a:r>
            <a:r>
              <a:rPr b="1" lang="en-AU" sz="3200">
                <a:latin typeface="Arial"/>
                <a:ea typeface="Arial"/>
                <a:cs typeface="Arial"/>
                <a:sym typeface="Arial"/>
              </a:rPr>
              <a:t>bony projection </a:t>
            </a:r>
            <a:r>
              <a:rPr lang="en-AU" sz="3200">
                <a:latin typeface="Arial"/>
                <a:ea typeface="Arial"/>
                <a:cs typeface="Arial"/>
                <a:sym typeface="Arial"/>
              </a:rPr>
              <a:t>on the </a:t>
            </a:r>
            <a:r>
              <a:rPr b="1" lang="en-AU" sz="3200">
                <a:latin typeface="Arial"/>
                <a:ea typeface="Arial"/>
                <a:cs typeface="Arial"/>
                <a:sym typeface="Arial"/>
              </a:rPr>
              <a:t>dorsal aspect </a:t>
            </a:r>
            <a:r>
              <a:rPr lang="en-AU" sz="3200">
                <a:latin typeface="Arial"/>
                <a:ea typeface="Arial"/>
                <a:cs typeface="Arial"/>
                <a:sym typeface="Arial"/>
              </a:rPr>
              <a:t>of the </a:t>
            </a:r>
            <a:r>
              <a:rPr b="1" lang="en-AU" sz="3200">
                <a:latin typeface="Arial"/>
                <a:ea typeface="Arial"/>
                <a:cs typeface="Arial"/>
                <a:sym typeface="Arial"/>
              </a:rPr>
              <a:t>body</a:t>
            </a:r>
            <a:r>
              <a:rPr lang="en-AU" sz="3200">
                <a:latin typeface="Arial"/>
                <a:ea typeface="Arial"/>
                <a:cs typeface="Arial"/>
                <a:sym typeface="Arial"/>
              </a:rPr>
              <a:t>.</a:t>
            </a:r>
            <a:endParaRPr/>
          </a:p>
          <a:p>
            <a:pPr indent="-342900" lvl="0" marL="342900" rtl="0" algn="just">
              <a:spcBef>
                <a:spcPts val="592"/>
              </a:spcBef>
              <a:spcAft>
                <a:spcPts val="0"/>
              </a:spcAft>
              <a:buClr>
                <a:schemeClr val="dk1"/>
              </a:buClr>
              <a:buSzPct val="100000"/>
              <a:buFont typeface="Noto Sans Symbols"/>
              <a:buChar char="▪"/>
            </a:pPr>
            <a:r>
              <a:rPr lang="en-AU" sz="3200">
                <a:latin typeface="Arial"/>
                <a:ea typeface="Arial"/>
                <a:cs typeface="Arial"/>
                <a:sym typeface="Arial"/>
              </a:rPr>
              <a:t>The </a:t>
            </a:r>
            <a:r>
              <a:rPr b="1" lang="en-AU" sz="3200">
                <a:latin typeface="Arial"/>
                <a:ea typeface="Arial"/>
                <a:cs typeface="Arial"/>
                <a:sym typeface="Arial"/>
              </a:rPr>
              <a:t>acromion process </a:t>
            </a:r>
            <a:r>
              <a:rPr lang="en-AU" sz="3200">
                <a:latin typeface="Arial"/>
                <a:ea typeface="Arial"/>
                <a:cs typeface="Arial"/>
                <a:sym typeface="Arial"/>
              </a:rPr>
              <a:t>projects forwards almost at </a:t>
            </a:r>
            <a:r>
              <a:rPr b="1" lang="en-AU" sz="3200">
                <a:latin typeface="Arial"/>
                <a:ea typeface="Arial"/>
                <a:cs typeface="Arial"/>
                <a:sym typeface="Arial"/>
              </a:rPr>
              <a:t>right angle </a:t>
            </a:r>
            <a:r>
              <a:rPr lang="en-AU" sz="3200">
                <a:latin typeface="Arial"/>
                <a:ea typeface="Arial"/>
                <a:cs typeface="Arial"/>
                <a:sym typeface="Arial"/>
              </a:rPr>
              <a:t>from the </a:t>
            </a:r>
            <a:r>
              <a:rPr b="1" lang="en-AU" sz="3200">
                <a:latin typeface="Arial"/>
                <a:ea typeface="Arial"/>
                <a:cs typeface="Arial"/>
                <a:sym typeface="Arial"/>
              </a:rPr>
              <a:t>lateral end </a:t>
            </a:r>
            <a:r>
              <a:rPr lang="en-AU" sz="3200">
                <a:latin typeface="Arial"/>
                <a:ea typeface="Arial"/>
                <a:cs typeface="Arial"/>
                <a:sym typeface="Arial"/>
              </a:rPr>
              <a:t>of the </a:t>
            </a:r>
            <a:r>
              <a:rPr b="1" lang="en-AU" sz="3200">
                <a:latin typeface="Arial"/>
                <a:ea typeface="Arial"/>
                <a:cs typeface="Arial"/>
                <a:sym typeface="Arial"/>
              </a:rPr>
              <a:t>spine</a:t>
            </a:r>
            <a:r>
              <a:rPr lang="en-AU" sz="3200">
                <a:latin typeface="Arial"/>
                <a:ea typeface="Arial"/>
                <a:cs typeface="Arial"/>
                <a:sym typeface="Arial"/>
              </a:rPr>
              <a:t>.</a:t>
            </a:r>
            <a:endParaRPr/>
          </a:p>
          <a:p>
            <a:pPr indent="-342900" lvl="0" marL="342900" rtl="0" algn="just">
              <a:spcBef>
                <a:spcPts val="592"/>
              </a:spcBef>
              <a:spcAft>
                <a:spcPts val="0"/>
              </a:spcAft>
              <a:buClr>
                <a:schemeClr val="dk1"/>
              </a:buClr>
              <a:buSzPct val="100000"/>
              <a:buFont typeface="Noto Sans Symbols"/>
              <a:buChar char="▪"/>
            </a:pPr>
            <a:r>
              <a:rPr lang="en-AU" sz="3200">
                <a:latin typeface="Arial"/>
                <a:ea typeface="Arial"/>
                <a:cs typeface="Arial"/>
                <a:sym typeface="Arial"/>
              </a:rPr>
              <a:t>The </a:t>
            </a:r>
            <a:r>
              <a:rPr b="1" lang="en-AU" sz="3200">
                <a:latin typeface="Arial"/>
                <a:ea typeface="Arial"/>
                <a:cs typeface="Arial"/>
                <a:sym typeface="Arial"/>
              </a:rPr>
              <a:t>coracoid process </a:t>
            </a:r>
            <a:r>
              <a:rPr lang="en-AU" sz="3200">
                <a:latin typeface="Arial"/>
                <a:ea typeface="Arial"/>
                <a:cs typeface="Arial"/>
                <a:sym typeface="Arial"/>
              </a:rPr>
              <a:t>is like a </a:t>
            </a:r>
            <a:r>
              <a:rPr b="1" lang="en-AU" sz="3200">
                <a:latin typeface="Arial"/>
                <a:ea typeface="Arial"/>
                <a:cs typeface="Arial"/>
                <a:sym typeface="Arial"/>
              </a:rPr>
              <a:t>bird’s beak</a:t>
            </a:r>
            <a:r>
              <a:rPr lang="en-AU" sz="3200">
                <a:latin typeface="Arial"/>
                <a:ea typeface="Arial"/>
                <a:cs typeface="Arial"/>
                <a:sym typeface="Arial"/>
              </a:rPr>
              <a:t>. It arises from the </a:t>
            </a:r>
            <a:r>
              <a:rPr b="1" lang="en-AU" sz="3200">
                <a:latin typeface="Arial"/>
                <a:ea typeface="Arial"/>
                <a:cs typeface="Arial"/>
                <a:sym typeface="Arial"/>
              </a:rPr>
              <a:t>upper border </a:t>
            </a:r>
            <a:r>
              <a:rPr lang="en-AU" sz="3200">
                <a:latin typeface="Arial"/>
                <a:ea typeface="Arial"/>
                <a:cs typeface="Arial"/>
                <a:sym typeface="Arial"/>
              </a:rPr>
              <a:t>of the </a:t>
            </a:r>
            <a:r>
              <a:rPr b="1" lang="en-AU" sz="3200">
                <a:latin typeface="Arial"/>
                <a:ea typeface="Arial"/>
                <a:cs typeface="Arial"/>
                <a:sym typeface="Arial"/>
              </a:rPr>
              <a:t>head</a:t>
            </a:r>
            <a:r>
              <a:rPr lang="en-AU" sz="3200">
                <a:latin typeface="Arial"/>
                <a:ea typeface="Arial"/>
                <a:cs typeface="Arial"/>
                <a:sym typeface="Arial"/>
              </a:rPr>
              <a:t> and bends </a:t>
            </a:r>
            <a:r>
              <a:rPr b="1" lang="en-AU" sz="3200">
                <a:latin typeface="Arial"/>
                <a:ea typeface="Arial"/>
                <a:cs typeface="Arial"/>
                <a:sym typeface="Arial"/>
              </a:rPr>
              <a:t>sharply</a:t>
            </a:r>
            <a:r>
              <a:rPr lang="en-AU" sz="3200">
                <a:latin typeface="Arial"/>
                <a:ea typeface="Arial"/>
                <a:cs typeface="Arial"/>
                <a:sym typeface="Arial"/>
              </a:rPr>
              <a:t> to project </a:t>
            </a:r>
            <a:r>
              <a:rPr b="1" lang="en-AU" sz="3200">
                <a:latin typeface="Arial"/>
                <a:ea typeface="Arial"/>
                <a:cs typeface="Arial"/>
                <a:sym typeface="Arial"/>
              </a:rPr>
              <a:t>superoanteriorly</a:t>
            </a:r>
            <a:r>
              <a:rPr lang="en-AU" sz="3200">
                <a:latin typeface="Arial"/>
                <a:ea typeface="Arial"/>
                <a:cs typeface="Arial"/>
                <a:sym typeface="Arial"/>
              </a:rPr>
              <a:t>.</a:t>
            </a:r>
            <a:endParaRPr sz="3200">
              <a:latin typeface="Arial"/>
              <a:ea typeface="Arial"/>
              <a:cs typeface="Arial"/>
              <a:sym typeface="Arial"/>
            </a:endParaRPr>
          </a:p>
        </p:txBody>
      </p:sp>
      <p:sp>
        <p:nvSpPr>
          <p:cNvPr id="134" name="Google Shape;134;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8"/>
          <p:cNvSpPr txBox="1"/>
          <p:nvPr>
            <p:ph type="title"/>
          </p:nvPr>
        </p:nvSpPr>
        <p:spPr>
          <a:xfrm>
            <a:off x="0" y="0"/>
            <a:ext cx="8686800" cy="8572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Arial Black"/>
              <a:buNone/>
            </a:pPr>
            <a:r>
              <a:rPr lang="en-AU" sz="3600">
                <a:latin typeface="Arial Black"/>
                <a:ea typeface="Arial Black"/>
                <a:cs typeface="Arial Black"/>
                <a:sym typeface="Arial Black"/>
              </a:rPr>
              <a:t>FEATURES AND ATTACHMENTS</a:t>
            </a:r>
            <a:endParaRPr sz="3600">
              <a:latin typeface="Arial Black"/>
              <a:ea typeface="Arial Black"/>
              <a:cs typeface="Arial Black"/>
              <a:sym typeface="Arial Black"/>
            </a:endParaRPr>
          </a:p>
        </p:txBody>
      </p:sp>
      <p:sp>
        <p:nvSpPr>
          <p:cNvPr id="141" name="Google Shape;141;p8"/>
          <p:cNvSpPr txBox="1"/>
          <p:nvPr>
            <p:ph idx="1" type="body"/>
          </p:nvPr>
        </p:nvSpPr>
        <p:spPr>
          <a:xfrm>
            <a:off x="0" y="642918"/>
            <a:ext cx="9144000" cy="6858048"/>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b="1" lang="en-AU">
                <a:latin typeface="Arial"/>
                <a:ea typeface="Arial"/>
                <a:cs typeface="Arial"/>
                <a:sym typeface="Arial"/>
              </a:rPr>
              <a:t>Surfaces</a:t>
            </a:r>
            <a:endParaRPr/>
          </a:p>
          <a:p>
            <a:pPr indent="-342900" lvl="0" marL="342900" rtl="0" algn="just">
              <a:spcBef>
                <a:spcPts val="640"/>
              </a:spcBef>
              <a:spcAft>
                <a:spcPts val="0"/>
              </a:spcAft>
              <a:buClr>
                <a:schemeClr val="dk1"/>
              </a:buClr>
              <a:buSzPts val="3200"/>
              <a:buChar char="•"/>
            </a:pPr>
            <a:r>
              <a:rPr lang="en-AU">
                <a:latin typeface="Arial"/>
                <a:ea typeface="Arial"/>
                <a:cs typeface="Arial"/>
                <a:sym typeface="Arial"/>
              </a:rPr>
              <a:t>Costal surface (</a:t>
            </a:r>
            <a:r>
              <a:rPr b="1" lang="en-AU">
                <a:latin typeface="Arial"/>
                <a:ea typeface="Arial"/>
                <a:cs typeface="Arial"/>
                <a:sym typeface="Arial"/>
              </a:rPr>
              <a:t>subscapular fossa</a:t>
            </a:r>
            <a:r>
              <a:rPr lang="en-AU">
                <a:latin typeface="Arial"/>
                <a:ea typeface="Arial"/>
                <a:cs typeface="Arial"/>
                <a:sym typeface="Arial"/>
              </a:rPr>
              <a:t>)</a:t>
            </a:r>
            <a:endParaRPr/>
          </a:p>
          <a:p>
            <a:pPr indent="-342900" lvl="0" marL="342900" rtl="0" algn="just">
              <a:spcBef>
                <a:spcPts val="640"/>
              </a:spcBef>
              <a:spcAft>
                <a:spcPts val="0"/>
              </a:spcAft>
              <a:buClr>
                <a:schemeClr val="dk1"/>
              </a:buClr>
              <a:buSzPts val="3200"/>
              <a:buFont typeface="Noto Sans Symbols"/>
              <a:buChar char="▪"/>
            </a:pPr>
            <a:r>
              <a:rPr lang="en-AU">
                <a:latin typeface="Arial"/>
                <a:ea typeface="Arial"/>
                <a:cs typeface="Arial"/>
                <a:sym typeface="Arial"/>
              </a:rPr>
              <a:t>It is </a:t>
            </a:r>
            <a:r>
              <a:rPr b="1" lang="en-AU">
                <a:latin typeface="Arial"/>
                <a:ea typeface="Arial"/>
                <a:cs typeface="Arial"/>
                <a:sym typeface="Arial"/>
              </a:rPr>
              <a:t>concave</a:t>
            </a:r>
            <a:r>
              <a:rPr lang="en-AU">
                <a:latin typeface="Arial"/>
                <a:ea typeface="Arial"/>
                <a:cs typeface="Arial"/>
                <a:sym typeface="Arial"/>
              </a:rPr>
              <a:t> and directed </a:t>
            </a:r>
            <a:r>
              <a:rPr b="1" lang="en-AU">
                <a:latin typeface="Arial"/>
                <a:ea typeface="Arial"/>
                <a:cs typeface="Arial"/>
                <a:sym typeface="Arial"/>
              </a:rPr>
              <a:t>medially</a:t>
            </a:r>
            <a:r>
              <a:rPr lang="en-AU">
                <a:latin typeface="Arial"/>
                <a:ea typeface="Arial"/>
                <a:cs typeface="Arial"/>
                <a:sym typeface="Arial"/>
              </a:rPr>
              <a:t> and </a:t>
            </a:r>
            <a:r>
              <a:rPr b="1" lang="en-AU">
                <a:latin typeface="Arial"/>
                <a:ea typeface="Arial"/>
                <a:cs typeface="Arial"/>
                <a:sym typeface="Arial"/>
              </a:rPr>
              <a:t>forwards</a:t>
            </a:r>
            <a:r>
              <a:rPr lang="en-AU">
                <a:latin typeface="Arial"/>
                <a:ea typeface="Arial"/>
                <a:cs typeface="Arial"/>
                <a:sym typeface="Arial"/>
              </a:rPr>
              <a:t>.</a:t>
            </a:r>
            <a:endParaRPr/>
          </a:p>
          <a:p>
            <a:pPr indent="-342900" lvl="0" marL="342900" rtl="0" algn="just">
              <a:spcBef>
                <a:spcPts val="640"/>
              </a:spcBef>
              <a:spcAft>
                <a:spcPts val="0"/>
              </a:spcAft>
              <a:buClr>
                <a:schemeClr val="dk1"/>
              </a:buClr>
              <a:buSzPts val="3200"/>
              <a:buFont typeface="Noto Sans Symbols"/>
              <a:buChar char="▪"/>
            </a:pPr>
            <a:r>
              <a:rPr lang="en-AU">
                <a:latin typeface="Arial"/>
                <a:ea typeface="Arial"/>
                <a:cs typeface="Arial"/>
                <a:sym typeface="Arial"/>
              </a:rPr>
              <a:t>It presents </a:t>
            </a:r>
            <a:r>
              <a:rPr b="1" lang="en-AU">
                <a:latin typeface="Arial"/>
                <a:ea typeface="Arial"/>
                <a:cs typeface="Arial"/>
                <a:sym typeface="Arial"/>
              </a:rPr>
              <a:t>three longitudinal ridges</a:t>
            </a:r>
            <a:r>
              <a:rPr lang="en-AU">
                <a:latin typeface="Arial"/>
                <a:ea typeface="Arial"/>
                <a:cs typeface="Arial"/>
                <a:sym typeface="Arial"/>
              </a:rPr>
              <a:t>, which provide attachment to the </a:t>
            </a:r>
            <a:r>
              <a:rPr b="1" lang="en-AU">
                <a:latin typeface="Arial"/>
                <a:ea typeface="Arial"/>
                <a:cs typeface="Arial"/>
                <a:sym typeface="Arial"/>
              </a:rPr>
              <a:t>intramuscular tendons </a:t>
            </a:r>
            <a:r>
              <a:rPr lang="en-AU">
                <a:latin typeface="Arial"/>
                <a:ea typeface="Arial"/>
                <a:cs typeface="Arial"/>
                <a:sym typeface="Arial"/>
              </a:rPr>
              <a:t>of </a:t>
            </a:r>
            <a:r>
              <a:rPr b="1" lang="en-AU">
                <a:latin typeface="Arial"/>
                <a:ea typeface="Arial"/>
                <a:cs typeface="Arial"/>
                <a:sym typeface="Arial"/>
              </a:rPr>
              <a:t>subscapularis muscle</a:t>
            </a:r>
            <a:r>
              <a:rPr lang="en-AU">
                <a:latin typeface="Arial"/>
                <a:ea typeface="Arial"/>
                <a:cs typeface="Arial"/>
                <a:sym typeface="Arial"/>
              </a:rPr>
              <a:t>.</a:t>
            </a:r>
            <a:endParaRPr/>
          </a:p>
          <a:p>
            <a:pPr indent="-342900" lvl="0" marL="342900" rtl="0" algn="just">
              <a:spcBef>
                <a:spcPts val="640"/>
              </a:spcBef>
              <a:spcAft>
                <a:spcPts val="0"/>
              </a:spcAft>
              <a:buClr>
                <a:schemeClr val="dk1"/>
              </a:buClr>
              <a:buSzPts val="3200"/>
              <a:buFont typeface="Noto Sans Symbols"/>
              <a:buChar char="▪"/>
            </a:pPr>
            <a:r>
              <a:rPr lang="en-AU">
                <a:latin typeface="Arial"/>
                <a:ea typeface="Arial"/>
                <a:cs typeface="Arial"/>
                <a:sym typeface="Arial"/>
              </a:rPr>
              <a:t>The </a:t>
            </a:r>
            <a:r>
              <a:rPr b="1" lang="en-AU">
                <a:latin typeface="Arial"/>
                <a:ea typeface="Arial"/>
                <a:cs typeface="Arial"/>
                <a:sym typeface="Arial"/>
              </a:rPr>
              <a:t>subscapularis muscle </a:t>
            </a:r>
            <a:r>
              <a:rPr lang="en-AU">
                <a:latin typeface="Arial"/>
                <a:ea typeface="Arial"/>
                <a:cs typeface="Arial"/>
                <a:sym typeface="Arial"/>
              </a:rPr>
              <a:t>arises from the </a:t>
            </a:r>
            <a:r>
              <a:rPr b="1" lang="en-AU">
                <a:latin typeface="Arial"/>
                <a:ea typeface="Arial"/>
                <a:cs typeface="Arial"/>
                <a:sym typeface="Arial"/>
              </a:rPr>
              <a:t>medial two-third </a:t>
            </a:r>
            <a:r>
              <a:rPr lang="en-AU">
                <a:latin typeface="Arial"/>
                <a:ea typeface="Arial"/>
                <a:cs typeface="Arial"/>
                <a:sym typeface="Arial"/>
              </a:rPr>
              <a:t>of </a:t>
            </a:r>
            <a:r>
              <a:rPr b="1" lang="en-AU">
                <a:latin typeface="Arial"/>
                <a:ea typeface="Arial"/>
                <a:cs typeface="Arial"/>
                <a:sym typeface="Arial"/>
              </a:rPr>
              <a:t>subscapular fossa/costal surface</a:t>
            </a:r>
            <a:r>
              <a:rPr lang="en-AU">
                <a:latin typeface="Arial"/>
                <a:ea typeface="Arial"/>
                <a:cs typeface="Arial"/>
                <a:sym typeface="Arial"/>
              </a:rPr>
              <a:t> except near the </a:t>
            </a:r>
            <a:r>
              <a:rPr b="1" lang="en-AU">
                <a:latin typeface="Arial"/>
                <a:ea typeface="Arial"/>
                <a:cs typeface="Arial"/>
                <a:sym typeface="Arial"/>
              </a:rPr>
              <a:t>neck</a:t>
            </a:r>
            <a:r>
              <a:rPr lang="en-AU">
                <a:latin typeface="Arial"/>
                <a:ea typeface="Arial"/>
                <a:cs typeface="Arial"/>
                <a:sym typeface="Arial"/>
              </a:rPr>
              <a:t> where a </a:t>
            </a:r>
            <a:r>
              <a:rPr b="1" lang="en-AU">
                <a:latin typeface="Arial"/>
                <a:ea typeface="Arial"/>
                <a:cs typeface="Arial"/>
                <a:sym typeface="Arial"/>
              </a:rPr>
              <a:t>subscapular bursa </a:t>
            </a:r>
            <a:r>
              <a:rPr lang="en-AU">
                <a:latin typeface="Arial"/>
                <a:ea typeface="Arial"/>
                <a:cs typeface="Arial"/>
                <a:sym typeface="Arial"/>
              </a:rPr>
              <a:t>intervenes between the </a:t>
            </a:r>
            <a:r>
              <a:rPr b="1" lang="en-AU">
                <a:latin typeface="Arial"/>
                <a:ea typeface="Arial"/>
                <a:cs typeface="Arial"/>
                <a:sym typeface="Arial"/>
              </a:rPr>
              <a:t>neck</a:t>
            </a:r>
            <a:r>
              <a:rPr lang="en-AU">
                <a:latin typeface="Arial"/>
                <a:ea typeface="Arial"/>
                <a:cs typeface="Arial"/>
                <a:sym typeface="Arial"/>
              </a:rPr>
              <a:t> and the </a:t>
            </a:r>
            <a:r>
              <a:rPr b="1" lang="en-AU">
                <a:latin typeface="Arial"/>
                <a:ea typeface="Arial"/>
                <a:cs typeface="Arial"/>
                <a:sym typeface="Arial"/>
              </a:rPr>
              <a:t>subscapular tendon</a:t>
            </a:r>
            <a:r>
              <a:rPr lang="en-AU" sz="3000">
                <a:latin typeface="Arial"/>
                <a:ea typeface="Arial"/>
                <a:cs typeface="Arial"/>
                <a:sym typeface="Arial"/>
              </a:rPr>
              <a:t>.</a:t>
            </a:r>
            <a:endParaRPr/>
          </a:p>
        </p:txBody>
      </p:sp>
      <p:sp>
        <p:nvSpPr>
          <p:cNvPr id="142" name="Google Shape;14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ph type="title"/>
          </p:nvPr>
        </p:nvSpPr>
        <p:spPr>
          <a:xfrm>
            <a:off x="457200" y="-214338"/>
            <a:ext cx="8229600" cy="10001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Cont’d</a:t>
            </a:r>
            <a:endParaRPr sz="4400">
              <a:latin typeface="Arial Black"/>
              <a:ea typeface="Arial Black"/>
              <a:cs typeface="Arial Black"/>
              <a:sym typeface="Arial Black"/>
            </a:endParaRPr>
          </a:p>
        </p:txBody>
      </p:sp>
      <p:sp>
        <p:nvSpPr>
          <p:cNvPr id="148" name="Google Shape;148;p9"/>
          <p:cNvSpPr txBox="1"/>
          <p:nvPr>
            <p:ph idx="1" type="body"/>
          </p:nvPr>
        </p:nvSpPr>
        <p:spPr>
          <a:xfrm>
            <a:off x="0" y="714356"/>
            <a:ext cx="3643306" cy="5681682"/>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serratus anterior </a:t>
            </a:r>
            <a:r>
              <a:rPr lang="en-AU" sz="3200">
                <a:latin typeface="Arial"/>
                <a:ea typeface="Arial"/>
                <a:cs typeface="Arial"/>
                <a:sym typeface="Arial"/>
              </a:rPr>
              <a:t>muscle is inserted on this </a:t>
            </a:r>
            <a:r>
              <a:rPr b="1" lang="en-AU" sz="3200">
                <a:latin typeface="Arial"/>
                <a:ea typeface="Arial"/>
                <a:cs typeface="Arial"/>
                <a:sym typeface="Arial"/>
              </a:rPr>
              <a:t>surface</a:t>
            </a:r>
            <a:r>
              <a:rPr lang="en-AU" sz="3200">
                <a:latin typeface="Arial"/>
                <a:ea typeface="Arial"/>
                <a:cs typeface="Arial"/>
                <a:sym typeface="Arial"/>
              </a:rPr>
              <a:t> along the </a:t>
            </a:r>
            <a:r>
              <a:rPr b="1" lang="en-AU" sz="3200">
                <a:latin typeface="Arial"/>
                <a:ea typeface="Arial"/>
                <a:cs typeface="Arial"/>
                <a:sym typeface="Arial"/>
              </a:rPr>
              <a:t>medial border</a:t>
            </a:r>
            <a:r>
              <a:rPr lang="en-AU" sz="3200">
                <a:latin typeface="Arial"/>
                <a:ea typeface="Arial"/>
                <a:cs typeface="Arial"/>
                <a:sym typeface="Arial"/>
              </a:rPr>
              <a:t> and </a:t>
            </a:r>
            <a:r>
              <a:rPr b="1" lang="en-AU" sz="3200">
                <a:latin typeface="Arial"/>
                <a:ea typeface="Arial"/>
                <a:cs typeface="Arial"/>
                <a:sym typeface="Arial"/>
              </a:rPr>
              <a:t>inferior angle</a:t>
            </a:r>
            <a:r>
              <a:rPr lang="en-AU" sz="3200">
                <a:latin typeface="Arial"/>
                <a:ea typeface="Arial"/>
                <a:cs typeface="Arial"/>
                <a:sym typeface="Arial"/>
              </a:rPr>
              <a:t>.</a:t>
            </a:r>
            <a:endParaRPr/>
          </a:p>
          <a:p>
            <a:pPr indent="-139700" lvl="0" marL="342900" rtl="0" algn="just">
              <a:spcBef>
                <a:spcPts val="640"/>
              </a:spcBef>
              <a:spcAft>
                <a:spcPts val="0"/>
              </a:spcAft>
              <a:buClr>
                <a:schemeClr val="dk1"/>
              </a:buClr>
              <a:buSzPts val="3200"/>
              <a:buNone/>
            </a:pPr>
            <a:r>
              <a:t/>
            </a:r>
            <a:endParaRPr sz="3200">
              <a:latin typeface="Arial"/>
              <a:ea typeface="Arial"/>
              <a:cs typeface="Arial"/>
              <a:sym typeface="Arial"/>
            </a:endParaRPr>
          </a:p>
          <a:p>
            <a:pPr indent="-139700" lvl="0" marL="342900" rtl="0" algn="l">
              <a:spcBef>
                <a:spcPts val="640"/>
              </a:spcBef>
              <a:spcAft>
                <a:spcPts val="0"/>
              </a:spcAft>
              <a:buClr>
                <a:schemeClr val="dk1"/>
              </a:buClr>
              <a:buSzPts val="3200"/>
              <a:buNone/>
            </a:pPr>
            <a:r>
              <a:t/>
            </a:r>
            <a:endParaRPr/>
          </a:p>
        </p:txBody>
      </p:sp>
      <p:pic>
        <p:nvPicPr>
          <p:cNvPr id="149" name="Google Shape;149;p9"/>
          <p:cNvPicPr preferRelativeResize="0"/>
          <p:nvPr/>
        </p:nvPicPr>
        <p:blipFill rotWithShape="1">
          <a:blip r:embed="rId3">
            <a:alphaModFix/>
          </a:blip>
          <a:srcRect b="0" l="0" r="0" t="0"/>
          <a:stretch/>
        </p:blipFill>
        <p:spPr>
          <a:xfrm>
            <a:off x="3857620" y="1000108"/>
            <a:ext cx="4929222" cy="5357850"/>
          </a:xfrm>
          <a:prstGeom prst="rect">
            <a:avLst/>
          </a:prstGeom>
          <a:noFill/>
          <a:ln>
            <a:noFill/>
          </a:ln>
        </p:spPr>
      </p:pic>
      <p:sp>
        <p:nvSpPr>
          <p:cNvPr id="150" name="Google Shape;150;p9"/>
          <p:cNvSpPr txBox="1"/>
          <p:nvPr/>
        </p:nvSpPr>
        <p:spPr>
          <a:xfrm>
            <a:off x="2571736" y="6286520"/>
            <a:ext cx="714380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AU" sz="1800" u="none" cap="none" strike="noStrike">
                <a:solidFill>
                  <a:schemeClr val="dk1"/>
                </a:solidFill>
                <a:latin typeface="Calibri"/>
                <a:ea typeface="Calibri"/>
                <a:cs typeface="Calibri"/>
                <a:sym typeface="Calibri"/>
              </a:rPr>
              <a:t>Right scapula showing attachments of the muscles and ligaments: </a:t>
            </a:r>
            <a:endParaRPr/>
          </a:p>
          <a:p>
            <a:pPr indent="0" lvl="0" marL="0" marR="0" rtl="0" algn="l">
              <a:spcBef>
                <a:spcPts val="0"/>
              </a:spcBef>
              <a:spcAft>
                <a:spcPts val="0"/>
              </a:spcAft>
              <a:buNone/>
            </a:pPr>
            <a:r>
              <a:rPr lang="en-AU" sz="1800">
                <a:solidFill>
                  <a:schemeClr val="dk1"/>
                </a:solidFill>
                <a:latin typeface="Calibri"/>
                <a:ea typeface="Calibri"/>
                <a:cs typeface="Calibri"/>
                <a:sym typeface="Calibri"/>
              </a:rPr>
              <a:t>costal surface.</a:t>
            </a:r>
            <a:endParaRPr sz="1800">
              <a:solidFill>
                <a:schemeClr val="dk1"/>
              </a:solidFill>
              <a:latin typeface="Calibri"/>
              <a:ea typeface="Calibri"/>
              <a:cs typeface="Calibri"/>
              <a:sym typeface="Calibri"/>
            </a:endParaRPr>
          </a:p>
        </p:txBody>
      </p:sp>
      <p:sp>
        <p:nvSpPr>
          <p:cNvPr id="151" name="Google Shape;151;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type="title"/>
          </p:nvPr>
        </p:nvSpPr>
        <p:spPr>
          <a:xfrm>
            <a:off x="457200" y="0"/>
            <a:ext cx="8229600" cy="71435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Dorsal surface</a:t>
            </a:r>
            <a:endParaRPr sz="4400">
              <a:latin typeface="Arial Black"/>
              <a:ea typeface="Arial Black"/>
              <a:cs typeface="Arial Black"/>
              <a:sym typeface="Arial Black"/>
            </a:endParaRPr>
          </a:p>
        </p:txBody>
      </p:sp>
      <p:sp>
        <p:nvSpPr>
          <p:cNvPr id="157" name="Google Shape;157;p10"/>
          <p:cNvSpPr txBox="1"/>
          <p:nvPr>
            <p:ph idx="1" type="body"/>
          </p:nvPr>
        </p:nvSpPr>
        <p:spPr>
          <a:xfrm>
            <a:off x="214282" y="571480"/>
            <a:ext cx="8715436" cy="607223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dorsal surface </a:t>
            </a:r>
            <a:r>
              <a:rPr lang="en-AU" sz="3200">
                <a:latin typeface="Arial"/>
                <a:ea typeface="Arial"/>
                <a:cs typeface="Arial"/>
                <a:sym typeface="Arial"/>
              </a:rPr>
              <a:t>is </a:t>
            </a:r>
            <a:r>
              <a:rPr b="1" lang="en-AU" sz="3200">
                <a:latin typeface="Arial"/>
                <a:ea typeface="Arial"/>
                <a:cs typeface="Arial"/>
                <a:sym typeface="Arial"/>
              </a:rPr>
              <a:t>convex</a:t>
            </a:r>
            <a:r>
              <a:rPr lang="en-AU" sz="3200">
                <a:latin typeface="Arial"/>
                <a:ea typeface="Arial"/>
                <a:cs typeface="Arial"/>
                <a:sym typeface="Arial"/>
              </a:rPr>
              <a:t> and presents a </a:t>
            </a:r>
            <a:r>
              <a:rPr b="1" lang="en-AU" sz="3200">
                <a:latin typeface="Arial"/>
                <a:ea typeface="Arial"/>
                <a:cs typeface="Arial"/>
                <a:sym typeface="Arial"/>
              </a:rPr>
              <a:t>shelf-like bony projection </a:t>
            </a:r>
            <a:r>
              <a:rPr lang="en-AU" sz="3200">
                <a:latin typeface="Arial"/>
                <a:ea typeface="Arial"/>
                <a:cs typeface="Arial"/>
                <a:sym typeface="Arial"/>
              </a:rPr>
              <a:t>called </a:t>
            </a:r>
            <a:r>
              <a:rPr b="1" lang="en-AU" sz="3200">
                <a:latin typeface="Arial"/>
                <a:ea typeface="Arial"/>
                <a:cs typeface="Arial"/>
                <a:sym typeface="Arial"/>
              </a:rPr>
              <a:t>spinous process</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spinous process </a:t>
            </a:r>
            <a:r>
              <a:rPr lang="en-AU" sz="3200">
                <a:latin typeface="Arial"/>
                <a:ea typeface="Arial"/>
                <a:cs typeface="Arial"/>
                <a:sym typeface="Arial"/>
              </a:rPr>
              <a:t>divides the </a:t>
            </a:r>
            <a:r>
              <a:rPr b="1" lang="en-AU" sz="3200">
                <a:latin typeface="Arial"/>
                <a:ea typeface="Arial"/>
                <a:cs typeface="Arial"/>
                <a:sym typeface="Arial"/>
              </a:rPr>
              <a:t>dorsal surface </a:t>
            </a:r>
            <a:r>
              <a:rPr lang="en-AU" sz="3200">
                <a:latin typeface="Arial"/>
                <a:ea typeface="Arial"/>
                <a:cs typeface="Arial"/>
                <a:sym typeface="Arial"/>
              </a:rPr>
              <a:t>into </a:t>
            </a:r>
            <a:r>
              <a:rPr b="1" lang="en-AU" sz="3200">
                <a:latin typeface="Arial"/>
                <a:ea typeface="Arial"/>
                <a:cs typeface="Arial"/>
                <a:sym typeface="Arial"/>
              </a:rPr>
              <a:t>supraspinous</a:t>
            </a:r>
            <a:r>
              <a:rPr lang="en-AU" sz="3200">
                <a:latin typeface="Arial"/>
                <a:ea typeface="Arial"/>
                <a:cs typeface="Arial"/>
                <a:sym typeface="Arial"/>
              </a:rPr>
              <a:t> and </a:t>
            </a:r>
            <a:r>
              <a:rPr b="1" lang="en-AU" sz="3200">
                <a:latin typeface="Arial"/>
                <a:ea typeface="Arial"/>
                <a:cs typeface="Arial"/>
                <a:sym typeface="Arial"/>
              </a:rPr>
              <a:t>infraspinous fossae</a:t>
            </a:r>
            <a:r>
              <a:rPr lang="en-AU" sz="3200">
                <a:latin typeface="Arial"/>
                <a:ea typeface="Arial"/>
                <a:cs typeface="Arial"/>
                <a:sym typeface="Arial"/>
              </a:rPr>
              <a:t>. The upper, </a:t>
            </a:r>
            <a:r>
              <a:rPr b="1" lang="en-AU" sz="3200">
                <a:latin typeface="Arial"/>
                <a:ea typeface="Arial"/>
                <a:cs typeface="Arial"/>
                <a:sym typeface="Arial"/>
              </a:rPr>
              <a:t>supraspinous fossa </a:t>
            </a:r>
            <a:r>
              <a:rPr lang="en-AU" sz="3200">
                <a:latin typeface="Arial"/>
                <a:ea typeface="Arial"/>
                <a:cs typeface="Arial"/>
                <a:sym typeface="Arial"/>
              </a:rPr>
              <a:t>is </a:t>
            </a:r>
            <a:r>
              <a:rPr b="1" lang="en-AU" sz="3200">
                <a:latin typeface="Arial"/>
                <a:ea typeface="Arial"/>
                <a:cs typeface="Arial"/>
                <a:sym typeface="Arial"/>
              </a:rPr>
              <a:t>smaller</a:t>
            </a:r>
            <a:r>
              <a:rPr lang="en-AU" sz="3200">
                <a:latin typeface="Arial"/>
                <a:ea typeface="Arial"/>
                <a:cs typeface="Arial"/>
                <a:sym typeface="Arial"/>
              </a:rPr>
              <a:t> (one-third) and </a:t>
            </a:r>
            <a:r>
              <a:rPr b="1" lang="en-AU" sz="3200">
                <a:latin typeface="Arial"/>
                <a:ea typeface="Arial"/>
                <a:cs typeface="Arial"/>
                <a:sym typeface="Arial"/>
              </a:rPr>
              <a:t>lower</a:t>
            </a:r>
            <a:r>
              <a:rPr lang="en-AU" sz="3200">
                <a:latin typeface="Arial"/>
                <a:ea typeface="Arial"/>
                <a:cs typeface="Arial"/>
                <a:sym typeface="Arial"/>
              </a:rPr>
              <a:t>, </a:t>
            </a:r>
            <a:r>
              <a:rPr b="1" lang="en-AU" sz="3200">
                <a:latin typeface="Arial"/>
                <a:ea typeface="Arial"/>
                <a:cs typeface="Arial"/>
                <a:sym typeface="Arial"/>
              </a:rPr>
              <a:t>infraspinous fossa </a:t>
            </a:r>
            <a:r>
              <a:rPr lang="en-AU" sz="3200">
                <a:latin typeface="Arial"/>
                <a:ea typeface="Arial"/>
                <a:cs typeface="Arial"/>
                <a:sym typeface="Arial"/>
              </a:rPr>
              <a:t>is </a:t>
            </a:r>
            <a:r>
              <a:rPr b="1" lang="en-AU" sz="3200">
                <a:latin typeface="Arial"/>
                <a:ea typeface="Arial"/>
                <a:cs typeface="Arial"/>
                <a:sym typeface="Arial"/>
              </a:rPr>
              <a:t>larger</a:t>
            </a:r>
            <a:r>
              <a:rPr lang="en-AU" sz="3200">
                <a:latin typeface="Arial"/>
                <a:ea typeface="Arial"/>
                <a:cs typeface="Arial"/>
                <a:sym typeface="Arial"/>
              </a:rPr>
              <a:t> (two-third).</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spinoglenoid notch </a:t>
            </a:r>
            <a:r>
              <a:rPr lang="en-AU" sz="3200">
                <a:latin typeface="Arial"/>
                <a:ea typeface="Arial"/>
                <a:cs typeface="Arial"/>
                <a:sym typeface="Arial"/>
              </a:rPr>
              <a:t>lies between </a:t>
            </a:r>
            <a:r>
              <a:rPr b="1" lang="en-AU" sz="3200">
                <a:latin typeface="Arial"/>
                <a:ea typeface="Arial"/>
                <a:cs typeface="Arial"/>
                <a:sym typeface="Arial"/>
              </a:rPr>
              <a:t>lateral border </a:t>
            </a:r>
            <a:r>
              <a:rPr lang="en-AU" sz="3200">
                <a:latin typeface="Arial"/>
                <a:ea typeface="Arial"/>
                <a:cs typeface="Arial"/>
                <a:sym typeface="Arial"/>
              </a:rPr>
              <a:t>of the </a:t>
            </a:r>
            <a:r>
              <a:rPr b="1" lang="en-AU" sz="3200">
                <a:latin typeface="Arial"/>
                <a:ea typeface="Arial"/>
                <a:cs typeface="Arial"/>
                <a:sym typeface="Arial"/>
              </a:rPr>
              <a:t>spinous process </a:t>
            </a:r>
            <a:r>
              <a:rPr lang="en-AU" sz="3200">
                <a:latin typeface="Arial"/>
                <a:ea typeface="Arial"/>
                <a:cs typeface="Arial"/>
                <a:sym typeface="Arial"/>
              </a:rPr>
              <a:t>and the </a:t>
            </a:r>
            <a:r>
              <a:rPr b="1" lang="en-AU" sz="3200">
                <a:latin typeface="Arial"/>
                <a:ea typeface="Arial"/>
                <a:cs typeface="Arial"/>
                <a:sym typeface="Arial"/>
              </a:rPr>
              <a:t>dorsal surface </a:t>
            </a:r>
            <a:r>
              <a:rPr lang="en-AU" sz="3200">
                <a:latin typeface="Arial"/>
                <a:ea typeface="Arial"/>
                <a:cs typeface="Arial"/>
                <a:sym typeface="Arial"/>
              </a:rPr>
              <a:t>of the </a:t>
            </a:r>
            <a:r>
              <a:rPr b="1" lang="en-AU" sz="3200">
                <a:latin typeface="Arial"/>
                <a:ea typeface="Arial"/>
                <a:cs typeface="Arial"/>
                <a:sym typeface="Arial"/>
              </a:rPr>
              <a:t>neck</a:t>
            </a:r>
            <a:r>
              <a:rPr lang="en-AU" sz="3200">
                <a:latin typeface="Arial"/>
                <a:ea typeface="Arial"/>
                <a:cs typeface="Arial"/>
                <a:sym typeface="Arial"/>
              </a:rPr>
              <a:t> of scapula. </a:t>
            </a:r>
            <a:endParaRPr sz="3200">
              <a:latin typeface="Arial"/>
              <a:ea typeface="Arial"/>
              <a:cs typeface="Arial"/>
              <a:sym typeface="Arial"/>
            </a:endParaRPr>
          </a:p>
        </p:txBody>
      </p:sp>
      <p:sp>
        <p:nvSpPr>
          <p:cNvPr id="158" name="Google Shape;15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ph idx="1" type="body"/>
          </p:nvPr>
        </p:nvSpPr>
        <p:spPr>
          <a:xfrm>
            <a:off x="214282" y="214290"/>
            <a:ext cx="8715436" cy="664371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Through the </a:t>
            </a:r>
            <a:r>
              <a:rPr b="1" lang="en-AU" sz="3200">
                <a:latin typeface="Arial"/>
                <a:ea typeface="Arial"/>
                <a:cs typeface="Arial"/>
                <a:sym typeface="Arial"/>
              </a:rPr>
              <a:t>spinoglenoid notch supraspinous fossa </a:t>
            </a:r>
            <a:r>
              <a:rPr lang="en-AU" sz="3200">
                <a:latin typeface="Arial"/>
                <a:ea typeface="Arial"/>
                <a:cs typeface="Arial"/>
                <a:sym typeface="Arial"/>
              </a:rPr>
              <a:t>communicates with the </a:t>
            </a:r>
            <a:r>
              <a:rPr b="1" lang="en-AU" sz="3200">
                <a:latin typeface="Arial"/>
                <a:ea typeface="Arial"/>
                <a:cs typeface="Arial"/>
                <a:sym typeface="Arial"/>
              </a:rPr>
              <a:t>infraspinous fossa </a:t>
            </a:r>
            <a:r>
              <a:rPr lang="en-AU" sz="3200">
                <a:latin typeface="Arial"/>
                <a:ea typeface="Arial"/>
                <a:cs typeface="Arial"/>
                <a:sym typeface="Arial"/>
              </a:rPr>
              <a:t>and </a:t>
            </a:r>
            <a:r>
              <a:rPr b="1" lang="en-AU" sz="3200">
                <a:latin typeface="Arial"/>
                <a:ea typeface="Arial"/>
                <a:cs typeface="Arial"/>
                <a:sym typeface="Arial"/>
              </a:rPr>
              <a:t>suprascapular nerve </a:t>
            </a:r>
            <a:r>
              <a:rPr lang="en-AU" sz="3200">
                <a:latin typeface="Arial"/>
                <a:ea typeface="Arial"/>
                <a:cs typeface="Arial"/>
                <a:sym typeface="Arial"/>
              </a:rPr>
              <a:t>and </a:t>
            </a:r>
            <a:r>
              <a:rPr b="1" lang="en-AU" sz="3200">
                <a:latin typeface="Arial"/>
                <a:ea typeface="Arial"/>
                <a:cs typeface="Arial"/>
                <a:sym typeface="Arial"/>
              </a:rPr>
              <a:t>vessels</a:t>
            </a:r>
            <a:r>
              <a:rPr lang="en-AU" sz="3200">
                <a:latin typeface="Arial"/>
                <a:ea typeface="Arial"/>
                <a:cs typeface="Arial"/>
                <a:sym typeface="Arial"/>
              </a:rPr>
              <a:t> pass from </a:t>
            </a:r>
            <a:r>
              <a:rPr b="1" lang="en-AU" sz="3200">
                <a:latin typeface="Arial"/>
                <a:ea typeface="Arial"/>
                <a:cs typeface="Arial"/>
                <a:sym typeface="Arial"/>
              </a:rPr>
              <a:t>supraspinous fossa </a:t>
            </a:r>
            <a:r>
              <a:rPr lang="en-AU" sz="3200">
                <a:latin typeface="Arial"/>
                <a:ea typeface="Arial"/>
                <a:cs typeface="Arial"/>
                <a:sym typeface="Arial"/>
              </a:rPr>
              <a:t>to the </a:t>
            </a:r>
            <a:r>
              <a:rPr b="1" lang="en-AU" sz="3200">
                <a:latin typeface="Arial"/>
                <a:ea typeface="Arial"/>
                <a:cs typeface="Arial"/>
                <a:sym typeface="Arial"/>
              </a:rPr>
              <a:t>infraspinous fossa</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supraspinatus muscle </a:t>
            </a:r>
            <a:r>
              <a:rPr lang="en-AU" sz="3200">
                <a:latin typeface="Arial"/>
                <a:ea typeface="Arial"/>
                <a:cs typeface="Arial"/>
                <a:sym typeface="Arial"/>
              </a:rPr>
              <a:t>arises from </a:t>
            </a:r>
            <a:r>
              <a:rPr b="1" lang="en-AU" sz="3200">
                <a:latin typeface="Arial"/>
                <a:ea typeface="Arial"/>
                <a:cs typeface="Arial"/>
                <a:sym typeface="Arial"/>
              </a:rPr>
              <a:t>medial two-third </a:t>
            </a:r>
            <a:r>
              <a:rPr lang="en-AU" sz="3200">
                <a:latin typeface="Arial"/>
                <a:ea typeface="Arial"/>
                <a:cs typeface="Arial"/>
                <a:sym typeface="Arial"/>
              </a:rPr>
              <a:t>of </a:t>
            </a:r>
            <a:r>
              <a:rPr b="1" lang="en-AU" sz="3200">
                <a:latin typeface="Arial"/>
                <a:ea typeface="Arial"/>
                <a:cs typeface="Arial"/>
                <a:sym typeface="Arial"/>
              </a:rPr>
              <a:t>supraspinous fossa</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infraspinatus muscle </a:t>
            </a:r>
            <a:r>
              <a:rPr lang="en-AU" sz="3200">
                <a:latin typeface="Arial"/>
                <a:ea typeface="Arial"/>
                <a:cs typeface="Arial"/>
                <a:sym typeface="Arial"/>
              </a:rPr>
              <a:t>arises from </a:t>
            </a:r>
            <a:r>
              <a:rPr b="1" lang="en-AU" sz="3200">
                <a:latin typeface="Arial"/>
                <a:ea typeface="Arial"/>
                <a:cs typeface="Arial"/>
                <a:sym typeface="Arial"/>
              </a:rPr>
              <a:t>medial two-third of infraspinous fossa</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teres minor muscle </a:t>
            </a:r>
            <a:r>
              <a:rPr lang="en-AU" sz="3200">
                <a:latin typeface="Arial"/>
                <a:ea typeface="Arial"/>
                <a:cs typeface="Arial"/>
                <a:sym typeface="Arial"/>
              </a:rPr>
              <a:t>arises from the </a:t>
            </a:r>
            <a:r>
              <a:rPr b="1" lang="en-AU" sz="3200">
                <a:latin typeface="Arial"/>
                <a:ea typeface="Arial"/>
                <a:cs typeface="Arial"/>
                <a:sym typeface="Arial"/>
              </a:rPr>
              <a:t>upper two-third </a:t>
            </a:r>
            <a:r>
              <a:rPr lang="en-AU" sz="3200">
                <a:latin typeface="Arial"/>
                <a:ea typeface="Arial"/>
                <a:cs typeface="Arial"/>
                <a:sym typeface="Arial"/>
              </a:rPr>
              <a:t>of the </a:t>
            </a:r>
            <a:r>
              <a:rPr b="1" lang="en-AU" sz="3200">
                <a:latin typeface="Arial"/>
                <a:ea typeface="Arial"/>
                <a:cs typeface="Arial"/>
                <a:sym typeface="Arial"/>
              </a:rPr>
              <a:t>dorsal surface </a:t>
            </a:r>
            <a:r>
              <a:rPr lang="en-AU" sz="3200">
                <a:latin typeface="Arial"/>
                <a:ea typeface="Arial"/>
                <a:cs typeface="Arial"/>
                <a:sym typeface="Arial"/>
              </a:rPr>
              <a:t>of </a:t>
            </a:r>
            <a:r>
              <a:rPr b="1" lang="en-AU" sz="3200">
                <a:latin typeface="Arial"/>
                <a:ea typeface="Arial"/>
                <a:cs typeface="Arial"/>
                <a:sym typeface="Arial"/>
              </a:rPr>
              <a:t>lateral border</a:t>
            </a:r>
            <a:r>
              <a:rPr lang="en-AU" sz="3200">
                <a:latin typeface="Arial"/>
                <a:ea typeface="Arial"/>
                <a:cs typeface="Arial"/>
                <a:sym typeface="Arial"/>
              </a:rPr>
              <a:t>. This origin is interrupted by the </a:t>
            </a:r>
            <a:r>
              <a:rPr b="1" lang="en-AU" sz="3200">
                <a:latin typeface="Arial"/>
                <a:ea typeface="Arial"/>
                <a:cs typeface="Arial"/>
                <a:sym typeface="Arial"/>
              </a:rPr>
              <a:t>circumflex scapular artery</a:t>
            </a:r>
            <a:r>
              <a:rPr lang="en-AU" sz="3200">
                <a:latin typeface="Arial"/>
                <a:ea typeface="Arial"/>
                <a:cs typeface="Arial"/>
                <a:sym typeface="Arial"/>
              </a:rPr>
              <a:t>.</a:t>
            </a:r>
            <a:endParaRPr/>
          </a:p>
        </p:txBody>
      </p:sp>
      <p:sp>
        <p:nvSpPr>
          <p:cNvPr id="164" name="Google Shape;16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ph idx="1" type="body"/>
          </p:nvPr>
        </p:nvSpPr>
        <p:spPr>
          <a:xfrm>
            <a:off x="285720" y="428604"/>
            <a:ext cx="4857784" cy="642939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teres major muscle </a:t>
            </a:r>
            <a:r>
              <a:rPr lang="en-AU" sz="3200">
                <a:latin typeface="Arial"/>
                <a:ea typeface="Arial"/>
                <a:cs typeface="Arial"/>
                <a:sym typeface="Arial"/>
              </a:rPr>
              <a:t>arises from the </a:t>
            </a:r>
            <a:r>
              <a:rPr b="1" lang="en-AU" sz="3200">
                <a:latin typeface="Arial"/>
                <a:ea typeface="Arial"/>
                <a:cs typeface="Arial"/>
                <a:sym typeface="Arial"/>
              </a:rPr>
              <a:t>lower one-third </a:t>
            </a:r>
            <a:r>
              <a:rPr lang="en-AU" sz="3200">
                <a:latin typeface="Arial"/>
                <a:ea typeface="Arial"/>
                <a:cs typeface="Arial"/>
                <a:sym typeface="Arial"/>
              </a:rPr>
              <a:t>of the </a:t>
            </a:r>
            <a:r>
              <a:rPr b="1" lang="en-AU" sz="3200">
                <a:latin typeface="Arial"/>
                <a:ea typeface="Arial"/>
                <a:cs typeface="Arial"/>
                <a:sym typeface="Arial"/>
              </a:rPr>
              <a:t>dorsal surface </a:t>
            </a:r>
            <a:r>
              <a:rPr lang="en-AU" sz="3200">
                <a:latin typeface="Arial"/>
                <a:ea typeface="Arial"/>
                <a:cs typeface="Arial"/>
                <a:sym typeface="Arial"/>
              </a:rPr>
              <a:t>of </a:t>
            </a:r>
            <a:r>
              <a:rPr b="1" lang="en-AU" sz="3200">
                <a:latin typeface="Arial"/>
                <a:ea typeface="Arial"/>
                <a:cs typeface="Arial"/>
                <a:sym typeface="Arial"/>
              </a:rPr>
              <a:t>lateral border </a:t>
            </a:r>
            <a:r>
              <a:rPr lang="en-AU" sz="3200">
                <a:latin typeface="Arial"/>
                <a:ea typeface="Arial"/>
                <a:cs typeface="Arial"/>
                <a:sym typeface="Arial"/>
              </a:rPr>
              <a:t>and </a:t>
            </a:r>
            <a:r>
              <a:rPr b="1" lang="en-AU" sz="3200">
                <a:latin typeface="Arial"/>
                <a:ea typeface="Arial"/>
                <a:cs typeface="Arial"/>
                <a:sym typeface="Arial"/>
              </a:rPr>
              <a:t>inferior angle </a:t>
            </a:r>
            <a:r>
              <a:rPr lang="en-AU" sz="3200">
                <a:latin typeface="Arial"/>
                <a:ea typeface="Arial"/>
                <a:cs typeface="Arial"/>
                <a:sym typeface="Arial"/>
              </a:rPr>
              <a:t>of </a:t>
            </a:r>
            <a:r>
              <a:rPr b="1" lang="en-AU" sz="3200">
                <a:latin typeface="Arial"/>
                <a:ea typeface="Arial"/>
                <a:cs typeface="Arial"/>
                <a:sym typeface="Arial"/>
              </a:rPr>
              <a:t>scapula</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latissimus dorsi muscle </a:t>
            </a:r>
            <a:r>
              <a:rPr lang="en-AU" sz="3200">
                <a:latin typeface="Arial"/>
                <a:ea typeface="Arial"/>
                <a:cs typeface="Arial"/>
                <a:sym typeface="Arial"/>
              </a:rPr>
              <a:t>also arises from </a:t>
            </a:r>
            <a:r>
              <a:rPr b="1" lang="en-AU" sz="3200">
                <a:latin typeface="Arial"/>
                <a:ea typeface="Arial"/>
                <a:cs typeface="Arial"/>
                <a:sym typeface="Arial"/>
              </a:rPr>
              <a:t>dorsal surface </a:t>
            </a:r>
            <a:r>
              <a:rPr lang="en-AU" sz="3200">
                <a:latin typeface="Arial"/>
                <a:ea typeface="Arial"/>
                <a:cs typeface="Arial"/>
                <a:sym typeface="Arial"/>
              </a:rPr>
              <a:t>of the </a:t>
            </a:r>
            <a:r>
              <a:rPr b="1" lang="en-AU" sz="3200">
                <a:latin typeface="Arial"/>
                <a:ea typeface="Arial"/>
                <a:cs typeface="Arial"/>
                <a:sym typeface="Arial"/>
              </a:rPr>
              <a:t>inferior angle </a:t>
            </a:r>
            <a:r>
              <a:rPr lang="en-AU" sz="3200">
                <a:latin typeface="Arial"/>
                <a:ea typeface="Arial"/>
                <a:cs typeface="Arial"/>
                <a:sym typeface="Arial"/>
              </a:rPr>
              <a:t>by a </a:t>
            </a:r>
            <a:r>
              <a:rPr b="1" lang="en-AU" sz="3200">
                <a:latin typeface="Arial"/>
                <a:ea typeface="Arial"/>
                <a:cs typeface="Arial"/>
                <a:sym typeface="Arial"/>
              </a:rPr>
              <a:t>small slip</a:t>
            </a:r>
            <a:r>
              <a:rPr lang="en-AU" sz="3200">
                <a:latin typeface="Arial"/>
                <a:ea typeface="Arial"/>
                <a:cs typeface="Arial"/>
                <a:sym typeface="Arial"/>
              </a:rPr>
              <a:t>.</a:t>
            </a:r>
            <a:endParaRPr sz="3200">
              <a:latin typeface="Arial"/>
              <a:ea typeface="Arial"/>
              <a:cs typeface="Arial"/>
              <a:sym typeface="Arial"/>
            </a:endParaRPr>
          </a:p>
          <a:p>
            <a:pPr indent="-139700" lvl="0" marL="342900" rtl="0" algn="l">
              <a:spcBef>
                <a:spcPts val="640"/>
              </a:spcBef>
              <a:spcAft>
                <a:spcPts val="0"/>
              </a:spcAft>
              <a:buClr>
                <a:schemeClr val="dk1"/>
              </a:buClr>
              <a:buSzPts val="3200"/>
              <a:buNone/>
            </a:pPr>
            <a:r>
              <a:t/>
            </a:r>
            <a:endParaRPr/>
          </a:p>
        </p:txBody>
      </p:sp>
      <p:pic>
        <p:nvPicPr>
          <p:cNvPr id="170" name="Google Shape;170;p12"/>
          <p:cNvPicPr preferRelativeResize="0"/>
          <p:nvPr/>
        </p:nvPicPr>
        <p:blipFill rotWithShape="1">
          <a:blip r:embed="rId3">
            <a:alphaModFix/>
          </a:blip>
          <a:srcRect b="0" l="0" r="0" t="0"/>
          <a:stretch/>
        </p:blipFill>
        <p:spPr>
          <a:xfrm>
            <a:off x="5286380" y="571480"/>
            <a:ext cx="3643338" cy="5238769"/>
          </a:xfrm>
          <a:prstGeom prst="rect">
            <a:avLst/>
          </a:prstGeom>
          <a:noFill/>
          <a:ln>
            <a:noFill/>
          </a:ln>
        </p:spPr>
      </p:pic>
      <p:sp>
        <p:nvSpPr>
          <p:cNvPr id="171" name="Google Shape;171;p12"/>
          <p:cNvSpPr txBox="1"/>
          <p:nvPr/>
        </p:nvSpPr>
        <p:spPr>
          <a:xfrm>
            <a:off x="6429388" y="5786454"/>
            <a:ext cx="15249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800">
                <a:solidFill>
                  <a:schemeClr val="dk1"/>
                </a:solidFill>
                <a:latin typeface="Calibri"/>
                <a:ea typeface="Calibri"/>
                <a:cs typeface="Calibri"/>
                <a:sym typeface="Calibri"/>
              </a:rPr>
              <a:t>Inferior angle</a:t>
            </a:r>
            <a:endParaRPr sz="1800">
              <a:solidFill>
                <a:schemeClr val="dk1"/>
              </a:solidFill>
              <a:latin typeface="Calibri"/>
              <a:ea typeface="Calibri"/>
              <a:cs typeface="Calibri"/>
              <a:sym typeface="Calibri"/>
            </a:endParaRPr>
          </a:p>
        </p:txBody>
      </p:sp>
      <p:sp>
        <p:nvSpPr>
          <p:cNvPr id="172" name="Google Shape;172;p12"/>
          <p:cNvSpPr txBox="1"/>
          <p:nvPr/>
        </p:nvSpPr>
        <p:spPr>
          <a:xfrm>
            <a:off x="4071934" y="6143644"/>
            <a:ext cx="64294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800">
                <a:solidFill>
                  <a:schemeClr val="dk1"/>
                </a:solidFill>
                <a:latin typeface="Calibri"/>
                <a:ea typeface="Calibri"/>
                <a:cs typeface="Calibri"/>
                <a:sym typeface="Calibri"/>
              </a:rPr>
              <a:t>Right scapula showing attachments of the muscles </a:t>
            </a:r>
            <a:endParaRPr/>
          </a:p>
          <a:p>
            <a:pPr indent="0" lvl="0" marL="0" marR="0" rtl="0" algn="l">
              <a:spcBef>
                <a:spcPts val="0"/>
              </a:spcBef>
              <a:spcAft>
                <a:spcPts val="0"/>
              </a:spcAft>
              <a:buNone/>
            </a:pPr>
            <a:r>
              <a:rPr lang="en-AU" sz="1800">
                <a:solidFill>
                  <a:schemeClr val="dk1"/>
                </a:solidFill>
                <a:latin typeface="Calibri"/>
                <a:ea typeface="Calibri"/>
                <a:cs typeface="Calibri"/>
                <a:sym typeface="Calibri"/>
              </a:rPr>
              <a:t>and ligaments: dorsal surface.</a:t>
            </a:r>
            <a:endParaRPr sz="1800">
              <a:solidFill>
                <a:schemeClr val="dk1"/>
              </a:solidFill>
              <a:latin typeface="Calibri"/>
              <a:ea typeface="Calibri"/>
              <a:cs typeface="Calibri"/>
              <a:sym typeface="Calibri"/>
            </a:endParaRPr>
          </a:p>
        </p:txBody>
      </p:sp>
      <p:sp>
        <p:nvSpPr>
          <p:cNvPr id="173" name="Google Shape;17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ph type="title"/>
          </p:nvPr>
        </p:nvSpPr>
        <p:spPr>
          <a:xfrm>
            <a:off x="457200" y="285728"/>
            <a:ext cx="8229600" cy="92869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Borders</a:t>
            </a:r>
            <a:endParaRPr sz="4400">
              <a:latin typeface="Arial Black"/>
              <a:ea typeface="Arial Black"/>
              <a:cs typeface="Arial Black"/>
              <a:sym typeface="Arial Black"/>
            </a:endParaRPr>
          </a:p>
        </p:txBody>
      </p:sp>
      <p:sp>
        <p:nvSpPr>
          <p:cNvPr id="179" name="Google Shape;179;p13"/>
          <p:cNvSpPr txBox="1"/>
          <p:nvPr>
            <p:ph idx="1" type="body"/>
          </p:nvPr>
        </p:nvSpPr>
        <p:spPr>
          <a:xfrm>
            <a:off x="457200" y="1071546"/>
            <a:ext cx="8229600" cy="5572164"/>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Font typeface="Noto Sans Symbols"/>
              <a:buChar char="▪"/>
            </a:pPr>
            <a:r>
              <a:rPr b="1" lang="en-AU" sz="3200">
                <a:latin typeface="Arial"/>
                <a:ea typeface="Arial"/>
                <a:cs typeface="Arial"/>
                <a:sym typeface="Arial"/>
              </a:rPr>
              <a:t>Superior border</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superior border </a:t>
            </a:r>
            <a:r>
              <a:rPr lang="en-AU" sz="3200">
                <a:latin typeface="Arial"/>
                <a:ea typeface="Arial"/>
                <a:cs typeface="Arial"/>
                <a:sym typeface="Arial"/>
              </a:rPr>
              <a:t>is the </a:t>
            </a:r>
            <a:r>
              <a:rPr b="1" lang="en-AU" sz="3200">
                <a:latin typeface="Arial"/>
                <a:ea typeface="Arial"/>
                <a:cs typeface="Arial"/>
                <a:sym typeface="Arial"/>
              </a:rPr>
              <a:t>shortest border </a:t>
            </a:r>
            <a:r>
              <a:rPr lang="en-AU" sz="3200">
                <a:latin typeface="Arial"/>
                <a:ea typeface="Arial"/>
                <a:cs typeface="Arial"/>
                <a:sym typeface="Arial"/>
              </a:rPr>
              <a:t>and </a:t>
            </a:r>
            <a:r>
              <a:rPr b="1" lang="en-AU" sz="3200">
                <a:latin typeface="Arial"/>
                <a:ea typeface="Arial"/>
                <a:cs typeface="Arial"/>
                <a:sym typeface="Arial"/>
              </a:rPr>
              <a:t>extends</a:t>
            </a:r>
            <a:r>
              <a:rPr lang="en-AU" sz="3200">
                <a:latin typeface="Arial"/>
                <a:ea typeface="Arial"/>
                <a:cs typeface="Arial"/>
                <a:sym typeface="Arial"/>
              </a:rPr>
              <a:t> between </a:t>
            </a:r>
            <a:r>
              <a:rPr b="1" lang="en-AU" sz="3200">
                <a:latin typeface="Arial"/>
                <a:ea typeface="Arial"/>
                <a:cs typeface="Arial"/>
                <a:sym typeface="Arial"/>
              </a:rPr>
              <a:t>superior</a:t>
            </a:r>
            <a:r>
              <a:rPr lang="en-AU" sz="3200">
                <a:latin typeface="Arial"/>
                <a:ea typeface="Arial"/>
                <a:cs typeface="Arial"/>
                <a:sym typeface="Arial"/>
              </a:rPr>
              <a:t> and </a:t>
            </a:r>
            <a:r>
              <a:rPr b="1" lang="en-AU" sz="3200">
                <a:latin typeface="Arial"/>
                <a:ea typeface="Arial"/>
                <a:cs typeface="Arial"/>
                <a:sym typeface="Arial"/>
              </a:rPr>
              <a:t>lateral angles</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suprascapular notch </a:t>
            </a:r>
            <a:r>
              <a:rPr lang="en-AU" sz="3200">
                <a:latin typeface="Arial"/>
                <a:ea typeface="Arial"/>
                <a:cs typeface="Arial"/>
                <a:sym typeface="Arial"/>
              </a:rPr>
              <a:t>is present on the </a:t>
            </a:r>
            <a:r>
              <a:rPr b="1" lang="en-AU" sz="3200">
                <a:latin typeface="Arial"/>
                <a:ea typeface="Arial"/>
                <a:cs typeface="Arial"/>
                <a:sym typeface="Arial"/>
              </a:rPr>
              <a:t>superior border </a:t>
            </a:r>
            <a:r>
              <a:rPr lang="en-AU" sz="3200">
                <a:latin typeface="Arial"/>
                <a:ea typeface="Arial"/>
                <a:cs typeface="Arial"/>
                <a:sym typeface="Arial"/>
              </a:rPr>
              <a:t>near the </a:t>
            </a:r>
            <a:r>
              <a:rPr b="1" lang="en-AU" sz="3200">
                <a:latin typeface="Arial"/>
                <a:ea typeface="Arial"/>
                <a:cs typeface="Arial"/>
                <a:sym typeface="Arial"/>
              </a:rPr>
              <a:t>root</a:t>
            </a:r>
            <a:r>
              <a:rPr lang="en-AU" sz="3200">
                <a:latin typeface="Arial"/>
                <a:ea typeface="Arial"/>
                <a:cs typeface="Arial"/>
                <a:sym typeface="Arial"/>
              </a:rPr>
              <a:t> of </a:t>
            </a:r>
            <a:r>
              <a:rPr b="1" lang="en-AU" sz="3200">
                <a:latin typeface="Arial"/>
                <a:ea typeface="Arial"/>
                <a:cs typeface="Arial"/>
                <a:sym typeface="Arial"/>
              </a:rPr>
              <a:t>coracoid process</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suprascapular notch </a:t>
            </a:r>
            <a:r>
              <a:rPr lang="en-AU" sz="3200">
                <a:latin typeface="Arial"/>
                <a:ea typeface="Arial"/>
                <a:cs typeface="Arial"/>
                <a:sym typeface="Arial"/>
              </a:rPr>
              <a:t>is converted into </a:t>
            </a:r>
            <a:r>
              <a:rPr b="1" lang="en-AU" sz="3200">
                <a:latin typeface="Arial"/>
                <a:ea typeface="Arial"/>
                <a:cs typeface="Arial"/>
                <a:sym typeface="Arial"/>
              </a:rPr>
              <a:t>suprascapular foramen </a:t>
            </a:r>
            <a:r>
              <a:rPr lang="en-AU" sz="3200">
                <a:latin typeface="Arial"/>
                <a:ea typeface="Arial"/>
                <a:cs typeface="Arial"/>
                <a:sym typeface="Arial"/>
              </a:rPr>
              <a:t>by </a:t>
            </a:r>
            <a:r>
              <a:rPr b="1" lang="en-AU" sz="3200">
                <a:latin typeface="Arial"/>
                <a:ea typeface="Arial"/>
                <a:cs typeface="Arial"/>
                <a:sym typeface="Arial"/>
              </a:rPr>
              <a:t>superior transverse </a:t>
            </a:r>
            <a:r>
              <a:rPr lang="en-AU" sz="3200">
                <a:latin typeface="Arial"/>
                <a:ea typeface="Arial"/>
                <a:cs typeface="Arial"/>
                <a:sym typeface="Arial"/>
              </a:rPr>
              <a:t>(suprascapular) </a:t>
            </a:r>
            <a:r>
              <a:rPr b="1" lang="en-AU" sz="3200">
                <a:latin typeface="Arial"/>
                <a:ea typeface="Arial"/>
                <a:cs typeface="Arial"/>
                <a:sym typeface="Arial"/>
              </a:rPr>
              <a:t>ligament</a:t>
            </a:r>
            <a:r>
              <a:rPr lang="en-AU" sz="3200">
                <a:latin typeface="Arial"/>
                <a:ea typeface="Arial"/>
                <a:cs typeface="Arial"/>
                <a:sym typeface="Arial"/>
              </a:rPr>
              <a:t>.</a:t>
            </a:r>
            <a:endParaRPr sz="3200">
              <a:latin typeface="Arial"/>
              <a:ea typeface="Arial"/>
              <a:cs typeface="Arial"/>
              <a:sym typeface="Arial"/>
            </a:endParaRPr>
          </a:p>
        </p:txBody>
      </p:sp>
      <p:sp>
        <p:nvSpPr>
          <p:cNvPr id="180" name="Google Shape;18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4"/>
          <p:cNvSpPr txBox="1"/>
          <p:nvPr>
            <p:ph type="title"/>
          </p:nvPr>
        </p:nvSpPr>
        <p:spPr>
          <a:xfrm>
            <a:off x="457200" y="285728"/>
            <a:ext cx="8229600" cy="10001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a:latin typeface="Arial Black"/>
                <a:ea typeface="Arial Black"/>
                <a:cs typeface="Arial Black"/>
                <a:sym typeface="Arial Black"/>
              </a:rPr>
              <a:t>Cont’d</a:t>
            </a:r>
            <a:endParaRPr>
              <a:latin typeface="Arial Black"/>
              <a:ea typeface="Arial Black"/>
              <a:cs typeface="Arial Black"/>
              <a:sym typeface="Arial Black"/>
            </a:endParaRPr>
          </a:p>
        </p:txBody>
      </p:sp>
      <p:sp>
        <p:nvSpPr>
          <p:cNvPr id="186" name="Google Shape;186;p14"/>
          <p:cNvSpPr txBox="1"/>
          <p:nvPr>
            <p:ph idx="1" type="body"/>
          </p:nvPr>
        </p:nvSpPr>
        <p:spPr>
          <a:xfrm>
            <a:off x="214282" y="1142984"/>
            <a:ext cx="8472518" cy="571501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suprascapular artery </a:t>
            </a:r>
            <a:r>
              <a:rPr lang="en-AU" sz="3200">
                <a:latin typeface="Arial"/>
                <a:ea typeface="Arial"/>
                <a:cs typeface="Arial"/>
                <a:sym typeface="Arial"/>
              </a:rPr>
              <a:t>passes </a:t>
            </a:r>
            <a:r>
              <a:rPr b="1" lang="en-AU" sz="3200">
                <a:latin typeface="Arial"/>
                <a:ea typeface="Arial"/>
                <a:cs typeface="Arial"/>
                <a:sym typeface="Arial"/>
              </a:rPr>
              <a:t>above</a:t>
            </a:r>
            <a:r>
              <a:rPr lang="en-AU" sz="3200">
                <a:latin typeface="Arial"/>
                <a:ea typeface="Arial"/>
                <a:cs typeface="Arial"/>
                <a:sym typeface="Arial"/>
              </a:rPr>
              <a:t> the </a:t>
            </a:r>
            <a:r>
              <a:rPr b="1" lang="en-AU" sz="3200">
                <a:latin typeface="Arial"/>
                <a:ea typeface="Arial"/>
                <a:cs typeface="Arial"/>
                <a:sym typeface="Arial"/>
              </a:rPr>
              <a:t>ligament</a:t>
            </a:r>
            <a:r>
              <a:rPr lang="en-AU" sz="3200">
                <a:latin typeface="Arial"/>
                <a:ea typeface="Arial"/>
                <a:cs typeface="Arial"/>
                <a:sym typeface="Arial"/>
              </a:rPr>
              <a:t> and </a:t>
            </a:r>
            <a:r>
              <a:rPr b="1" lang="en-AU" sz="3200">
                <a:latin typeface="Arial"/>
                <a:ea typeface="Arial"/>
                <a:cs typeface="Arial"/>
                <a:sym typeface="Arial"/>
              </a:rPr>
              <a:t>suprascapular nerve </a:t>
            </a:r>
            <a:r>
              <a:rPr lang="en-AU" sz="3200">
                <a:latin typeface="Arial"/>
                <a:ea typeface="Arial"/>
                <a:cs typeface="Arial"/>
                <a:sym typeface="Arial"/>
              </a:rPr>
              <a:t>passes </a:t>
            </a:r>
            <a:r>
              <a:rPr b="1" lang="en-AU" sz="3200">
                <a:latin typeface="Arial"/>
                <a:ea typeface="Arial"/>
                <a:cs typeface="Arial"/>
                <a:sym typeface="Arial"/>
              </a:rPr>
              <a:t>below</a:t>
            </a:r>
            <a:r>
              <a:rPr lang="en-AU" sz="3200">
                <a:latin typeface="Arial"/>
                <a:ea typeface="Arial"/>
                <a:cs typeface="Arial"/>
                <a:sym typeface="Arial"/>
              </a:rPr>
              <a:t> the </a:t>
            </a:r>
            <a:r>
              <a:rPr b="1" lang="en-AU" sz="3200">
                <a:latin typeface="Arial"/>
                <a:ea typeface="Arial"/>
                <a:cs typeface="Arial"/>
                <a:sym typeface="Arial"/>
              </a:rPr>
              <a:t>ligament</a:t>
            </a:r>
            <a:r>
              <a:rPr lang="en-AU" sz="3200">
                <a:latin typeface="Arial"/>
                <a:ea typeface="Arial"/>
                <a:cs typeface="Arial"/>
                <a:sym typeface="Arial"/>
              </a:rPr>
              <a:t>, through </a:t>
            </a:r>
            <a:r>
              <a:rPr b="1" lang="en-AU" sz="3200">
                <a:latin typeface="Arial"/>
                <a:ea typeface="Arial"/>
                <a:cs typeface="Arial"/>
                <a:sym typeface="Arial"/>
              </a:rPr>
              <a:t>suprascapular foramen</a:t>
            </a:r>
            <a:r>
              <a:rPr lang="en-AU" sz="3200">
                <a:latin typeface="Arial"/>
                <a:ea typeface="Arial"/>
                <a:cs typeface="Arial"/>
                <a:sym typeface="Arial"/>
              </a:rPr>
              <a:t>. </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inferior belly </a:t>
            </a:r>
            <a:r>
              <a:rPr lang="en-AU" sz="3200">
                <a:latin typeface="Arial"/>
                <a:ea typeface="Arial"/>
                <a:cs typeface="Arial"/>
                <a:sym typeface="Arial"/>
              </a:rPr>
              <a:t>of </a:t>
            </a:r>
            <a:r>
              <a:rPr b="1" lang="en-AU" sz="3200">
                <a:latin typeface="Arial"/>
                <a:ea typeface="Arial"/>
                <a:cs typeface="Arial"/>
                <a:sym typeface="Arial"/>
              </a:rPr>
              <a:t>omohyoid</a:t>
            </a:r>
            <a:r>
              <a:rPr lang="en-AU" sz="3200">
                <a:latin typeface="Arial"/>
                <a:ea typeface="Arial"/>
                <a:cs typeface="Arial"/>
                <a:sym typeface="Arial"/>
              </a:rPr>
              <a:t> arises from the </a:t>
            </a:r>
            <a:r>
              <a:rPr b="1" lang="en-AU" sz="3200">
                <a:latin typeface="Arial"/>
                <a:ea typeface="Arial"/>
                <a:cs typeface="Arial"/>
                <a:sym typeface="Arial"/>
              </a:rPr>
              <a:t>superior border </a:t>
            </a:r>
            <a:r>
              <a:rPr lang="en-AU" sz="3200">
                <a:latin typeface="Arial"/>
                <a:ea typeface="Arial"/>
                <a:cs typeface="Arial"/>
                <a:sym typeface="Arial"/>
              </a:rPr>
              <a:t>near the </a:t>
            </a:r>
            <a:r>
              <a:rPr b="1" lang="en-AU" sz="3200">
                <a:latin typeface="Arial"/>
                <a:ea typeface="Arial"/>
                <a:cs typeface="Arial"/>
                <a:sym typeface="Arial"/>
              </a:rPr>
              <a:t>suprascapular notch</a:t>
            </a:r>
            <a:r>
              <a:rPr lang="en-AU" sz="3200">
                <a:latin typeface="Arial"/>
                <a:ea typeface="Arial"/>
                <a:cs typeface="Arial"/>
                <a:sym typeface="Arial"/>
              </a:rPr>
              <a:t>.</a:t>
            </a:r>
            <a:endParaRPr/>
          </a:p>
        </p:txBody>
      </p:sp>
      <p:sp>
        <p:nvSpPr>
          <p:cNvPr id="187" name="Google Shape;187;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457200" y="428604"/>
            <a:ext cx="8229600" cy="121444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Black"/>
              <a:buNone/>
            </a:pPr>
            <a:r>
              <a:rPr lang="en-AU" sz="4400">
                <a:latin typeface="Arial Black"/>
                <a:ea typeface="Arial Black"/>
                <a:cs typeface="Arial Black"/>
                <a:sym typeface="Arial Black"/>
              </a:rPr>
              <a:t>Lateral border</a:t>
            </a:r>
            <a:br>
              <a:rPr lang="en-AU">
                <a:latin typeface="Arial"/>
                <a:ea typeface="Arial"/>
                <a:cs typeface="Arial"/>
                <a:sym typeface="Arial"/>
              </a:rPr>
            </a:br>
            <a:endParaRPr/>
          </a:p>
        </p:txBody>
      </p:sp>
      <p:sp>
        <p:nvSpPr>
          <p:cNvPr id="193" name="Google Shape;193;p15"/>
          <p:cNvSpPr txBox="1"/>
          <p:nvPr>
            <p:ph idx="1" type="body"/>
          </p:nvPr>
        </p:nvSpPr>
        <p:spPr>
          <a:xfrm>
            <a:off x="457200" y="1428736"/>
            <a:ext cx="8229600" cy="5429264"/>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lateral border </a:t>
            </a:r>
            <a:r>
              <a:rPr lang="en-AU" sz="3200">
                <a:latin typeface="Arial"/>
                <a:ea typeface="Arial"/>
                <a:cs typeface="Arial"/>
                <a:sym typeface="Arial"/>
              </a:rPr>
              <a:t>is the </a:t>
            </a:r>
            <a:r>
              <a:rPr b="1" lang="en-AU" sz="3200">
                <a:latin typeface="Arial"/>
                <a:ea typeface="Arial"/>
                <a:cs typeface="Arial"/>
                <a:sym typeface="Arial"/>
              </a:rPr>
              <a:t>thickest border</a:t>
            </a:r>
            <a:r>
              <a:rPr lang="en-AU" sz="3200">
                <a:latin typeface="Arial"/>
                <a:ea typeface="Arial"/>
                <a:cs typeface="Arial"/>
                <a:sym typeface="Arial"/>
              </a:rPr>
              <a:t>, acts as </a:t>
            </a:r>
            <a:r>
              <a:rPr b="1" lang="en-AU" sz="3200">
                <a:latin typeface="Arial"/>
                <a:ea typeface="Arial"/>
                <a:cs typeface="Arial"/>
                <a:sym typeface="Arial"/>
              </a:rPr>
              <a:t>fulcrum</a:t>
            </a:r>
            <a:r>
              <a:rPr lang="en-AU" sz="3200">
                <a:latin typeface="Arial"/>
                <a:ea typeface="Arial"/>
                <a:cs typeface="Arial"/>
                <a:sym typeface="Arial"/>
              </a:rPr>
              <a:t> during </a:t>
            </a:r>
            <a:r>
              <a:rPr b="1" lang="en-AU" sz="3200">
                <a:latin typeface="Arial"/>
                <a:ea typeface="Arial"/>
                <a:cs typeface="Arial"/>
                <a:sym typeface="Arial"/>
              </a:rPr>
              <a:t>rotation</a:t>
            </a:r>
            <a:r>
              <a:rPr lang="en-AU" sz="3200">
                <a:latin typeface="Arial"/>
                <a:ea typeface="Arial"/>
                <a:cs typeface="Arial"/>
                <a:sym typeface="Arial"/>
              </a:rPr>
              <a:t> of the </a:t>
            </a:r>
            <a:r>
              <a:rPr b="1" lang="en-AU" sz="3200">
                <a:latin typeface="Arial"/>
                <a:ea typeface="Arial"/>
                <a:cs typeface="Arial"/>
                <a:sym typeface="Arial"/>
              </a:rPr>
              <a:t>scapula</a:t>
            </a:r>
            <a:r>
              <a:rPr lang="en-AU" sz="3200">
                <a:latin typeface="Arial"/>
                <a:ea typeface="Arial"/>
                <a:cs typeface="Arial"/>
                <a:sym typeface="Arial"/>
              </a:rPr>
              <a:t> and extends from </a:t>
            </a:r>
            <a:r>
              <a:rPr b="1" lang="en-AU">
                <a:latin typeface="Arial"/>
                <a:ea typeface="Arial"/>
                <a:cs typeface="Arial"/>
                <a:sym typeface="Arial"/>
              </a:rPr>
              <a:t>glenoid cavity </a:t>
            </a:r>
            <a:r>
              <a:rPr lang="en-AU" sz="3200">
                <a:latin typeface="Arial"/>
                <a:ea typeface="Arial"/>
                <a:cs typeface="Arial"/>
                <a:sym typeface="Arial"/>
              </a:rPr>
              <a:t>to the </a:t>
            </a:r>
            <a:r>
              <a:rPr b="1" lang="en-AU">
                <a:latin typeface="Arial"/>
                <a:ea typeface="Arial"/>
                <a:cs typeface="Arial"/>
                <a:sym typeface="Arial"/>
              </a:rPr>
              <a:t>inferior angle </a:t>
            </a:r>
            <a:r>
              <a:rPr lang="en-AU" sz="3200">
                <a:latin typeface="Arial"/>
                <a:ea typeface="Arial"/>
                <a:cs typeface="Arial"/>
                <a:sym typeface="Arial"/>
              </a:rPr>
              <a:t>.</a:t>
            </a:r>
            <a:endParaRPr sz="3200">
              <a:latin typeface="Arial"/>
              <a:ea typeface="Arial"/>
              <a:cs typeface="Arial"/>
              <a:sym typeface="Arial"/>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infraglenoid tubercle </a:t>
            </a:r>
            <a:r>
              <a:rPr lang="en-AU" sz="3200">
                <a:latin typeface="Arial"/>
                <a:ea typeface="Arial"/>
                <a:cs typeface="Arial"/>
                <a:sym typeface="Arial"/>
              </a:rPr>
              <a:t>is present at its </a:t>
            </a:r>
            <a:r>
              <a:rPr b="1" lang="en-AU" sz="3200">
                <a:latin typeface="Arial"/>
                <a:ea typeface="Arial"/>
                <a:cs typeface="Arial"/>
                <a:sym typeface="Arial"/>
              </a:rPr>
              <a:t>upper end</a:t>
            </a:r>
            <a:r>
              <a:rPr lang="en-AU" sz="3200">
                <a:latin typeface="Arial"/>
                <a:ea typeface="Arial"/>
                <a:cs typeface="Arial"/>
                <a:sym typeface="Arial"/>
              </a:rPr>
              <a:t>, just below the </a:t>
            </a:r>
            <a:r>
              <a:rPr b="1" lang="en-AU" sz="3200">
                <a:latin typeface="Arial"/>
                <a:ea typeface="Arial"/>
                <a:cs typeface="Arial"/>
                <a:sym typeface="Arial"/>
              </a:rPr>
              <a:t>glenoid cavity</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long head </a:t>
            </a:r>
            <a:r>
              <a:rPr lang="en-AU" sz="3200">
                <a:latin typeface="Arial"/>
                <a:ea typeface="Arial"/>
                <a:cs typeface="Arial"/>
                <a:sym typeface="Arial"/>
              </a:rPr>
              <a:t>of </a:t>
            </a:r>
            <a:r>
              <a:rPr b="1" lang="en-AU" sz="3200">
                <a:latin typeface="Arial"/>
                <a:ea typeface="Arial"/>
                <a:cs typeface="Arial"/>
                <a:sym typeface="Arial"/>
              </a:rPr>
              <a:t>triceps muscle </a:t>
            </a:r>
            <a:r>
              <a:rPr lang="en-AU" sz="3200">
                <a:latin typeface="Arial"/>
                <a:ea typeface="Arial"/>
                <a:cs typeface="Arial"/>
                <a:sym typeface="Arial"/>
              </a:rPr>
              <a:t>arises from the </a:t>
            </a:r>
            <a:r>
              <a:rPr b="1" lang="en-AU" sz="3200">
                <a:latin typeface="Arial"/>
                <a:ea typeface="Arial"/>
                <a:cs typeface="Arial"/>
                <a:sym typeface="Arial"/>
              </a:rPr>
              <a:t>infraglenoid tubercle of the scapula.</a:t>
            </a:r>
            <a:endParaRPr b="1" sz="3200">
              <a:latin typeface="Arial"/>
              <a:ea typeface="Arial"/>
              <a:cs typeface="Arial"/>
              <a:sym typeface="Arial"/>
            </a:endParaRPr>
          </a:p>
          <a:p>
            <a:pPr indent="-139700" lvl="0" marL="342900" rtl="0" algn="l">
              <a:spcBef>
                <a:spcPts val="640"/>
              </a:spcBef>
              <a:spcAft>
                <a:spcPts val="0"/>
              </a:spcAft>
              <a:buClr>
                <a:schemeClr val="dk1"/>
              </a:buClr>
              <a:buSzPts val="3200"/>
              <a:buNone/>
            </a:pPr>
            <a:r>
              <a:t/>
            </a:r>
            <a:endParaRPr/>
          </a:p>
        </p:txBody>
      </p:sp>
      <p:sp>
        <p:nvSpPr>
          <p:cNvPr id="194" name="Google Shape;19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6"/>
          <p:cNvSpPr txBox="1"/>
          <p:nvPr>
            <p:ph type="title"/>
          </p:nvPr>
        </p:nvSpPr>
        <p:spPr>
          <a:xfrm>
            <a:off x="457200" y="0"/>
            <a:ext cx="8229600" cy="157161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Medial border (vertebral border)</a:t>
            </a:r>
            <a:endParaRPr sz="4400">
              <a:latin typeface="Arial Black"/>
              <a:ea typeface="Arial Black"/>
              <a:cs typeface="Arial Black"/>
              <a:sym typeface="Arial Black"/>
            </a:endParaRPr>
          </a:p>
        </p:txBody>
      </p:sp>
      <p:sp>
        <p:nvSpPr>
          <p:cNvPr id="200" name="Google Shape;200;p16"/>
          <p:cNvSpPr txBox="1"/>
          <p:nvPr>
            <p:ph idx="1" type="body"/>
          </p:nvPr>
        </p:nvSpPr>
        <p:spPr>
          <a:xfrm>
            <a:off x="457200" y="1285860"/>
            <a:ext cx="8472518" cy="535785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It </a:t>
            </a:r>
            <a:r>
              <a:rPr b="1" lang="en-AU" sz="3200">
                <a:latin typeface="Arial"/>
                <a:ea typeface="Arial"/>
                <a:cs typeface="Arial"/>
                <a:sym typeface="Arial"/>
              </a:rPr>
              <a:t>extends</a:t>
            </a:r>
            <a:r>
              <a:rPr lang="en-AU" sz="3200">
                <a:latin typeface="Arial"/>
                <a:ea typeface="Arial"/>
                <a:cs typeface="Arial"/>
                <a:sym typeface="Arial"/>
              </a:rPr>
              <a:t> from </a:t>
            </a:r>
            <a:r>
              <a:rPr b="1" lang="en-AU" sz="3200">
                <a:latin typeface="Arial"/>
                <a:ea typeface="Arial"/>
                <a:cs typeface="Arial"/>
                <a:sym typeface="Arial"/>
              </a:rPr>
              <a:t>superior angle </a:t>
            </a:r>
            <a:r>
              <a:rPr lang="en-AU" sz="3200">
                <a:latin typeface="Arial"/>
                <a:ea typeface="Arial"/>
                <a:cs typeface="Arial"/>
                <a:sym typeface="Arial"/>
              </a:rPr>
              <a:t>to the </a:t>
            </a:r>
            <a:r>
              <a:rPr b="1" lang="en-AU" sz="3200">
                <a:latin typeface="Arial"/>
                <a:ea typeface="Arial"/>
                <a:cs typeface="Arial"/>
                <a:sym typeface="Arial"/>
              </a:rPr>
              <a:t>inferior angle</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It is </a:t>
            </a:r>
            <a:r>
              <a:rPr b="1" lang="en-AU" sz="3200">
                <a:latin typeface="Arial"/>
                <a:ea typeface="Arial"/>
                <a:cs typeface="Arial"/>
                <a:sym typeface="Arial"/>
              </a:rPr>
              <a:t>thin</a:t>
            </a:r>
            <a:r>
              <a:rPr lang="en-AU" sz="3200">
                <a:latin typeface="Arial"/>
                <a:ea typeface="Arial"/>
                <a:cs typeface="Arial"/>
                <a:sym typeface="Arial"/>
              </a:rPr>
              <a:t> and </a:t>
            </a:r>
            <a:r>
              <a:rPr b="1" lang="en-AU" sz="3200">
                <a:latin typeface="Arial"/>
                <a:ea typeface="Arial"/>
                <a:cs typeface="Arial"/>
                <a:sym typeface="Arial"/>
              </a:rPr>
              <a:t>angled </a:t>
            </a:r>
            <a:r>
              <a:rPr lang="en-AU" sz="3200">
                <a:latin typeface="Arial"/>
                <a:ea typeface="Arial"/>
                <a:cs typeface="Arial"/>
                <a:sym typeface="Arial"/>
              </a:rPr>
              <a:t>at the root of </a:t>
            </a:r>
            <a:r>
              <a:rPr b="1" lang="en-AU" sz="3200">
                <a:latin typeface="Arial"/>
                <a:ea typeface="Arial"/>
                <a:cs typeface="Arial"/>
                <a:sym typeface="Arial"/>
              </a:rPr>
              <a:t>spine of scapula</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serratus anterior muscle </a:t>
            </a:r>
            <a:r>
              <a:rPr lang="en-AU" sz="3200">
                <a:latin typeface="Arial"/>
                <a:ea typeface="Arial"/>
                <a:cs typeface="Arial"/>
                <a:sym typeface="Arial"/>
              </a:rPr>
              <a:t>is inserted on the </a:t>
            </a:r>
            <a:r>
              <a:rPr b="1" lang="en-AU" sz="3200">
                <a:latin typeface="Arial"/>
                <a:ea typeface="Arial"/>
                <a:cs typeface="Arial"/>
                <a:sym typeface="Arial"/>
              </a:rPr>
              <a:t>costal surface </a:t>
            </a:r>
            <a:r>
              <a:rPr lang="en-AU" sz="3200">
                <a:latin typeface="Arial"/>
                <a:ea typeface="Arial"/>
                <a:cs typeface="Arial"/>
                <a:sym typeface="Arial"/>
              </a:rPr>
              <a:t>of the </a:t>
            </a:r>
            <a:r>
              <a:rPr b="1" lang="en-AU" sz="3200">
                <a:latin typeface="Arial"/>
                <a:ea typeface="Arial"/>
                <a:cs typeface="Arial"/>
                <a:sym typeface="Arial"/>
              </a:rPr>
              <a:t>medial border </a:t>
            </a:r>
            <a:r>
              <a:rPr lang="en-AU" sz="3200">
                <a:latin typeface="Arial"/>
                <a:ea typeface="Arial"/>
                <a:cs typeface="Arial"/>
                <a:sym typeface="Arial"/>
              </a:rPr>
              <a:t>and the </a:t>
            </a:r>
            <a:r>
              <a:rPr b="1" lang="en-AU" sz="3200">
                <a:latin typeface="Arial"/>
                <a:ea typeface="Arial"/>
                <a:cs typeface="Arial"/>
                <a:sym typeface="Arial"/>
              </a:rPr>
              <a:t>inferior angle</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levator scapulae muscle </a:t>
            </a:r>
            <a:r>
              <a:rPr lang="en-AU" sz="3200">
                <a:latin typeface="Arial"/>
                <a:ea typeface="Arial"/>
                <a:cs typeface="Arial"/>
                <a:sym typeface="Arial"/>
              </a:rPr>
              <a:t>is inserted on the </a:t>
            </a:r>
            <a:r>
              <a:rPr b="1" lang="en-AU" sz="3200">
                <a:latin typeface="Arial"/>
                <a:ea typeface="Arial"/>
                <a:cs typeface="Arial"/>
                <a:sym typeface="Arial"/>
              </a:rPr>
              <a:t>dorsal aspect </a:t>
            </a:r>
            <a:r>
              <a:rPr lang="en-AU" sz="3200">
                <a:latin typeface="Arial"/>
                <a:ea typeface="Arial"/>
                <a:cs typeface="Arial"/>
                <a:sym typeface="Arial"/>
              </a:rPr>
              <a:t>of the </a:t>
            </a:r>
            <a:r>
              <a:rPr b="1" lang="en-AU" sz="3200">
                <a:latin typeface="Arial"/>
                <a:ea typeface="Arial"/>
                <a:cs typeface="Arial"/>
                <a:sym typeface="Arial"/>
              </a:rPr>
              <a:t>medial border </a:t>
            </a:r>
            <a:r>
              <a:rPr lang="en-AU" sz="3200">
                <a:latin typeface="Arial"/>
                <a:ea typeface="Arial"/>
                <a:cs typeface="Arial"/>
                <a:sym typeface="Arial"/>
              </a:rPr>
              <a:t>from </a:t>
            </a:r>
            <a:r>
              <a:rPr b="1" lang="en-AU" sz="3200">
                <a:latin typeface="Arial"/>
                <a:ea typeface="Arial"/>
                <a:cs typeface="Arial"/>
                <a:sym typeface="Arial"/>
              </a:rPr>
              <a:t>superior angle </a:t>
            </a:r>
            <a:r>
              <a:rPr lang="en-AU" sz="3200">
                <a:latin typeface="Arial"/>
                <a:ea typeface="Arial"/>
                <a:cs typeface="Arial"/>
                <a:sym typeface="Arial"/>
              </a:rPr>
              <a:t>to the </a:t>
            </a:r>
            <a:r>
              <a:rPr b="1" lang="en-AU" sz="3200">
                <a:latin typeface="Arial"/>
                <a:ea typeface="Arial"/>
                <a:cs typeface="Arial"/>
                <a:sym typeface="Arial"/>
              </a:rPr>
              <a:t>root of spine</a:t>
            </a:r>
            <a:r>
              <a:rPr lang="en-AU" sz="3200">
                <a:latin typeface="Arial"/>
                <a:ea typeface="Arial"/>
                <a:cs typeface="Arial"/>
                <a:sym typeface="Arial"/>
              </a:rPr>
              <a:t>.</a:t>
            </a:r>
            <a:endParaRPr sz="3200">
              <a:latin typeface="Arial"/>
              <a:ea typeface="Arial"/>
              <a:cs typeface="Arial"/>
              <a:sym typeface="Arial"/>
            </a:endParaRPr>
          </a:p>
        </p:txBody>
      </p:sp>
      <p:sp>
        <p:nvSpPr>
          <p:cNvPr id="201" name="Google Shape;201;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7"/>
          <p:cNvSpPr txBox="1"/>
          <p:nvPr>
            <p:ph type="title"/>
          </p:nvPr>
        </p:nvSpPr>
        <p:spPr>
          <a:xfrm>
            <a:off x="457200" y="285728"/>
            <a:ext cx="8229600" cy="92869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Cont’d</a:t>
            </a:r>
            <a:endParaRPr sz="4400">
              <a:latin typeface="Arial Black"/>
              <a:ea typeface="Arial Black"/>
              <a:cs typeface="Arial Black"/>
              <a:sym typeface="Arial Black"/>
            </a:endParaRPr>
          </a:p>
        </p:txBody>
      </p:sp>
      <p:sp>
        <p:nvSpPr>
          <p:cNvPr id="207" name="Google Shape;207;p17"/>
          <p:cNvSpPr txBox="1"/>
          <p:nvPr>
            <p:ph idx="1" type="body"/>
          </p:nvPr>
        </p:nvSpPr>
        <p:spPr>
          <a:xfrm>
            <a:off x="457200" y="1428736"/>
            <a:ext cx="8229600" cy="5429264"/>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rhomboid minor muscle </a:t>
            </a:r>
            <a:r>
              <a:rPr lang="en-AU" sz="3200">
                <a:latin typeface="Arial"/>
                <a:ea typeface="Arial"/>
                <a:cs typeface="Arial"/>
                <a:sym typeface="Arial"/>
              </a:rPr>
              <a:t>is inserted on the </a:t>
            </a:r>
            <a:r>
              <a:rPr b="1" lang="en-AU" sz="3200">
                <a:latin typeface="Arial"/>
                <a:ea typeface="Arial"/>
                <a:cs typeface="Arial"/>
                <a:sym typeface="Arial"/>
              </a:rPr>
              <a:t>dorsal aspect </a:t>
            </a:r>
            <a:r>
              <a:rPr lang="en-AU" sz="3200">
                <a:latin typeface="Arial"/>
                <a:ea typeface="Arial"/>
                <a:cs typeface="Arial"/>
                <a:sym typeface="Arial"/>
              </a:rPr>
              <a:t>of the </a:t>
            </a:r>
            <a:r>
              <a:rPr b="1" lang="en-AU" sz="3200">
                <a:latin typeface="Arial"/>
                <a:ea typeface="Arial"/>
                <a:cs typeface="Arial"/>
                <a:sym typeface="Arial"/>
              </a:rPr>
              <a:t>medial border </a:t>
            </a:r>
            <a:r>
              <a:rPr lang="en-AU" sz="3200">
                <a:latin typeface="Arial"/>
                <a:ea typeface="Arial"/>
                <a:cs typeface="Arial"/>
                <a:sym typeface="Arial"/>
              </a:rPr>
              <a:t>opposite the </a:t>
            </a:r>
            <a:r>
              <a:rPr b="1" lang="en-AU" sz="3200">
                <a:latin typeface="Arial"/>
                <a:ea typeface="Arial"/>
                <a:cs typeface="Arial"/>
                <a:sym typeface="Arial"/>
              </a:rPr>
              <a:t>root of spine</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 The </a:t>
            </a:r>
            <a:r>
              <a:rPr b="1" lang="en-AU" sz="3200">
                <a:latin typeface="Arial"/>
                <a:ea typeface="Arial"/>
                <a:cs typeface="Arial"/>
                <a:sym typeface="Arial"/>
              </a:rPr>
              <a:t>rhomboid major muscle </a:t>
            </a:r>
            <a:r>
              <a:rPr lang="en-AU" sz="3200">
                <a:latin typeface="Arial"/>
                <a:ea typeface="Arial"/>
                <a:cs typeface="Arial"/>
                <a:sym typeface="Arial"/>
              </a:rPr>
              <a:t>is inserted on the </a:t>
            </a:r>
            <a:r>
              <a:rPr b="1" lang="en-AU" sz="3200">
                <a:latin typeface="Arial"/>
                <a:ea typeface="Arial"/>
                <a:cs typeface="Arial"/>
                <a:sym typeface="Arial"/>
              </a:rPr>
              <a:t>dorsal aspect </a:t>
            </a:r>
            <a:r>
              <a:rPr lang="en-AU" sz="3200">
                <a:latin typeface="Arial"/>
                <a:ea typeface="Arial"/>
                <a:cs typeface="Arial"/>
                <a:sym typeface="Arial"/>
              </a:rPr>
              <a:t>of the </a:t>
            </a:r>
            <a:r>
              <a:rPr b="1" lang="en-AU" sz="3200">
                <a:latin typeface="Arial"/>
                <a:ea typeface="Arial"/>
                <a:cs typeface="Arial"/>
                <a:sym typeface="Arial"/>
              </a:rPr>
              <a:t>medial border </a:t>
            </a:r>
            <a:r>
              <a:rPr lang="en-AU" sz="3200">
                <a:latin typeface="Arial"/>
                <a:ea typeface="Arial"/>
                <a:cs typeface="Arial"/>
                <a:sym typeface="Arial"/>
              </a:rPr>
              <a:t>from the </a:t>
            </a:r>
            <a:r>
              <a:rPr b="1" lang="en-AU" sz="3200">
                <a:latin typeface="Arial"/>
                <a:ea typeface="Arial"/>
                <a:cs typeface="Arial"/>
                <a:sym typeface="Arial"/>
              </a:rPr>
              <a:t>root of spine </a:t>
            </a:r>
            <a:r>
              <a:rPr lang="en-AU" sz="3200">
                <a:latin typeface="Arial"/>
                <a:ea typeface="Arial"/>
                <a:cs typeface="Arial"/>
                <a:sym typeface="Arial"/>
              </a:rPr>
              <a:t>to the </a:t>
            </a:r>
            <a:r>
              <a:rPr b="1" lang="en-AU" sz="3200">
                <a:latin typeface="Arial"/>
                <a:ea typeface="Arial"/>
                <a:cs typeface="Arial"/>
                <a:sym typeface="Arial"/>
              </a:rPr>
              <a:t>inferior angle</a:t>
            </a:r>
            <a:r>
              <a:rPr lang="en-AU" sz="3200">
                <a:latin typeface="Arial"/>
                <a:ea typeface="Arial"/>
                <a:cs typeface="Arial"/>
                <a:sym typeface="Arial"/>
              </a:rPr>
              <a:t>.</a:t>
            </a:r>
            <a:endParaRPr sz="3200">
              <a:latin typeface="Arial"/>
              <a:ea typeface="Arial"/>
              <a:cs typeface="Arial"/>
              <a:sym typeface="Arial"/>
            </a:endParaRPr>
          </a:p>
        </p:txBody>
      </p:sp>
      <p:sp>
        <p:nvSpPr>
          <p:cNvPr id="208" name="Google Shape;20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8"/>
          <p:cNvSpPr txBox="1"/>
          <p:nvPr>
            <p:ph type="title"/>
          </p:nvPr>
        </p:nvSpPr>
        <p:spPr>
          <a:xfrm>
            <a:off x="457200" y="-142900"/>
            <a:ext cx="8229600" cy="121444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Angles</a:t>
            </a:r>
            <a:endParaRPr sz="4400">
              <a:latin typeface="Arial Black"/>
              <a:ea typeface="Arial Black"/>
              <a:cs typeface="Arial Black"/>
              <a:sym typeface="Arial Black"/>
            </a:endParaRPr>
          </a:p>
        </p:txBody>
      </p:sp>
      <p:sp>
        <p:nvSpPr>
          <p:cNvPr id="214" name="Google Shape;214;p18"/>
          <p:cNvSpPr txBox="1"/>
          <p:nvPr>
            <p:ph idx="1" type="body"/>
          </p:nvPr>
        </p:nvSpPr>
        <p:spPr>
          <a:xfrm>
            <a:off x="142844" y="714356"/>
            <a:ext cx="8858312" cy="6143644"/>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000"/>
              <a:buFont typeface="Noto Sans Symbols"/>
              <a:buChar char="▪"/>
            </a:pPr>
            <a:r>
              <a:rPr b="1" lang="en-AU" sz="3000">
                <a:latin typeface="Arial"/>
                <a:ea typeface="Arial"/>
                <a:cs typeface="Arial"/>
                <a:sym typeface="Arial"/>
              </a:rPr>
              <a:t>Inferior angle</a:t>
            </a:r>
            <a:r>
              <a:rPr lang="en-AU" sz="3000">
                <a:latin typeface="Arial"/>
                <a:ea typeface="Arial"/>
                <a:cs typeface="Arial"/>
                <a:sym typeface="Arial"/>
              </a:rPr>
              <a:t>: It lies over the </a:t>
            </a:r>
            <a:r>
              <a:rPr b="1" lang="en-AU" sz="3000">
                <a:latin typeface="Arial"/>
                <a:ea typeface="Arial"/>
                <a:cs typeface="Arial"/>
                <a:sym typeface="Arial"/>
              </a:rPr>
              <a:t>7th rib </a:t>
            </a:r>
            <a:r>
              <a:rPr lang="en-AU" sz="3000">
                <a:latin typeface="Arial"/>
                <a:ea typeface="Arial"/>
                <a:cs typeface="Arial"/>
                <a:sym typeface="Arial"/>
              </a:rPr>
              <a:t>or the </a:t>
            </a:r>
            <a:r>
              <a:rPr b="1" lang="en-AU" sz="3000">
                <a:latin typeface="Arial"/>
                <a:ea typeface="Arial"/>
                <a:cs typeface="Arial"/>
                <a:sym typeface="Arial"/>
              </a:rPr>
              <a:t>7th</a:t>
            </a:r>
            <a:r>
              <a:rPr lang="en-AU" sz="3000">
                <a:latin typeface="Arial"/>
                <a:ea typeface="Arial"/>
                <a:cs typeface="Arial"/>
                <a:sym typeface="Arial"/>
              </a:rPr>
              <a:t> </a:t>
            </a:r>
            <a:r>
              <a:rPr b="1" lang="en-AU" sz="3000">
                <a:latin typeface="Arial"/>
                <a:ea typeface="Arial"/>
                <a:cs typeface="Arial"/>
                <a:sym typeface="Arial"/>
              </a:rPr>
              <a:t>intercostal space</a:t>
            </a:r>
            <a:r>
              <a:rPr lang="en-AU" sz="3000">
                <a:latin typeface="Arial"/>
                <a:ea typeface="Arial"/>
                <a:cs typeface="Arial"/>
                <a:sym typeface="Arial"/>
              </a:rPr>
              <a:t>.</a:t>
            </a:r>
            <a:endParaRPr/>
          </a:p>
          <a:p>
            <a:pPr indent="-342900" lvl="0" marL="342900" rtl="0" algn="just">
              <a:spcBef>
                <a:spcPts val="600"/>
              </a:spcBef>
              <a:spcAft>
                <a:spcPts val="0"/>
              </a:spcAft>
              <a:buClr>
                <a:schemeClr val="dk1"/>
              </a:buClr>
              <a:buSzPts val="3000"/>
              <a:buFont typeface="Noto Sans Symbols"/>
              <a:buChar char="▪"/>
            </a:pPr>
            <a:r>
              <a:rPr b="1" lang="en-AU" sz="3000">
                <a:latin typeface="Arial"/>
                <a:ea typeface="Arial"/>
                <a:cs typeface="Arial"/>
                <a:sym typeface="Arial"/>
              </a:rPr>
              <a:t>Superior angle</a:t>
            </a:r>
            <a:r>
              <a:rPr lang="en-AU" sz="3000">
                <a:latin typeface="Arial"/>
                <a:ea typeface="Arial"/>
                <a:cs typeface="Arial"/>
                <a:sym typeface="Arial"/>
              </a:rPr>
              <a:t>: It is at the </a:t>
            </a:r>
            <a:r>
              <a:rPr b="1" lang="en-AU" sz="3000">
                <a:latin typeface="Arial"/>
                <a:ea typeface="Arial"/>
                <a:cs typeface="Arial"/>
                <a:sym typeface="Arial"/>
              </a:rPr>
              <a:t>junction</a:t>
            </a:r>
            <a:r>
              <a:rPr lang="en-AU" sz="3000">
                <a:latin typeface="Arial"/>
                <a:ea typeface="Arial"/>
                <a:cs typeface="Arial"/>
                <a:sym typeface="Arial"/>
              </a:rPr>
              <a:t> of </a:t>
            </a:r>
            <a:r>
              <a:rPr b="1" lang="en-AU" sz="3000">
                <a:latin typeface="Arial"/>
                <a:ea typeface="Arial"/>
                <a:cs typeface="Arial"/>
                <a:sym typeface="Arial"/>
              </a:rPr>
              <a:t>superior</a:t>
            </a:r>
            <a:r>
              <a:rPr lang="en-AU" sz="3000">
                <a:latin typeface="Arial"/>
                <a:ea typeface="Arial"/>
                <a:cs typeface="Arial"/>
                <a:sym typeface="Arial"/>
              </a:rPr>
              <a:t> and </a:t>
            </a:r>
            <a:r>
              <a:rPr b="1" lang="en-AU" sz="3000">
                <a:latin typeface="Arial"/>
                <a:ea typeface="Arial"/>
                <a:cs typeface="Arial"/>
                <a:sym typeface="Arial"/>
              </a:rPr>
              <a:t>medial borders</a:t>
            </a:r>
            <a:r>
              <a:rPr lang="en-AU" sz="3000">
                <a:latin typeface="Arial"/>
                <a:ea typeface="Arial"/>
                <a:cs typeface="Arial"/>
                <a:sym typeface="Arial"/>
              </a:rPr>
              <a:t>, and lies over the </a:t>
            </a:r>
            <a:r>
              <a:rPr b="1" lang="en-AU" sz="3000">
                <a:latin typeface="Arial"/>
                <a:ea typeface="Arial"/>
                <a:cs typeface="Arial"/>
                <a:sym typeface="Arial"/>
              </a:rPr>
              <a:t>2nd rib</a:t>
            </a:r>
            <a:r>
              <a:rPr lang="en-AU" sz="3000">
                <a:latin typeface="Arial"/>
                <a:ea typeface="Arial"/>
                <a:cs typeface="Arial"/>
                <a:sym typeface="Arial"/>
              </a:rPr>
              <a:t>.</a:t>
            </a:r>
            <a:endParaRPr/>
          </a:p>
          <a:p>
            <a:pPr indent="-342900" lvl="0" marL="342900" rtl="0" algn="just">
              <a:spcBef>
                <a:spcPts val="600"/>
              </a:spcBef>
              <a:spcAft>
                <a:spcPts val="0"/>
              </a:spcAft>
              <a:buClr>
                <a:schemeClr val="dk1"/>
              </a:buClr>
              <a:buSzPts val="3000"/>
              <a:buFont typeface="Noto Sans Symbols"/>
              <a:buChar char="▪"/>
            </a:pPr>
            <a:r>
              <a:rPr b="1" lang="en-AU" sz="3000">
                <a:latin typeface="Arial"/>
                <a:ea typeface="Arial"/>
                <a:cs typeface="Arial"/>
                <a:sym typeface="Arial"/>
              </a:rPr>
              <a:t>Lateral angle </a:t>
            </a:r>
            <a:r>
              <a:rPr lang="en-AU" sz="3000">
                <a:latin typeface="Arial"/>
                <a:ea typeface="Arial"/>
                <a:cs typeface="Arial"/>
                <a:sym typeface="Arial"/>
              </a:rPr>
              <a:t>(head of scapula)</a:t>
            </a:r>
            <a:endParaRPr/>
          </a:p>
          <a:p>
            <a:pPr indent="-342900" lvl="0" marL="342900" rtl="0" algn="just">
              <a:spcBef>
                <a:spcPts val="600"/>
              </a:spcBef>
              <a:spcAft>
                <a:spcPts val="0"/>
              </a:spcAft>
              <a:buClr>
                <a:schemeClr val="dk1"/>
              </a:buClr>
              <a:buSzPts val="3000"/>
              <a:buChar char="•"/>
            </a:pPr>
            <a:r>
              <a:rPr lang="en-AU" sz="3000">
                <a:latin typeface="Arial"/>
                <a:ea typeface="Arial"/>
                <a:cs typeface="Arial"/>
                <a:sym typeface="Arial"/>
              </a:rPr>
              <a:t>It is </a:t>
            </a:r>
            <a:r>
              <a:rPr b="1" lang="en-AU" sz="3000">
                <a:latin typeface="Arial"/>
                <a:ea typeface="Arial"/>
                <a:cs typeface="Arial"/>
                <a:sym typeface="Arial"/>
              </a:rPr>
              <a:t>truncated</a:t>
            </a:r>
            <a:r>
              <a:rPr lang="en-AU" sz="3000">
                <a:latin typeface="Arial"/>
                <a:ea typeface="Arial"/>
                <a:cs typeface="Arial"/>
                <a:sym typeface="Arial"/>
              </a:rPr>
              <a:t> and bears a </a:t>
            </a:r>
            <a:r>
              <a:rPr b="1" lang="en-AU" sz="3000">
                <a:latin typeface="Arial"/>
                <a:ea typeface="Arial"/>
                <a:cs typeface="Arial"/>
                <a:sym typeface="Arial"/>
              </a:rPr>
              <a:t>pear-shaped</a:t>
            </a:r>
            <a:r>
              <a:rPr lang="en-AU" sz="3000">
                <a:latin typeface="Arial"/>
                <a:ea typeface="Arial"/>
                <a:cs typeface="Arial"/>
                <a:sym typeface="Arial"/>
              </a:rPr>
              <a:t> </a:t>
            </a:r>
            <a:r>
              <a:rPr b="1" lang="en-AU" sz="3000">
                <a:latin typeface="Arial"/>
                <a:ea typeface="Arial"/>
                <a:cs typeface="Arial"/>
                <a:sym typeface="Arial"/>
              </a:rPr>
              <a:t>articular cavity </a:t>
            </a:r>
            <a:r>
              <a:rPr lang="en-AU" sz="3000">
                <a:latin typeface="Arial"/>
                <a:ea typeface="Arial"/>
                <a:cs typeface="Arial"/>
                <a:sym typeface="Arial"/>
              </a:rPr>
              <a:t>called the </a:t>
            </a:r>
            <a:r>
              <a:rPr b="1" lang="en-AU" sz="3000">
                <a:latin typeface="Arial"/>
                <a:ea typeface="Arial"/>
                <a:cs typeface="Arial"/>
                <a:sym typeface="Arial"/>
              </a:rPr>
              <a:t>glenoid cavity</a:t>
            </a:r>
            <a:r>
              <a:rPr lang="en-AU" sz="3000">
                <a:latin typeface="Arial"/>
                <a:ea typeface="Arial"/>
                <a:cs typeface="Arial"/>
                <a:sym typeface="Arial"/>
              </a:rPr>
              <a:t>, which </a:t>
            </a:r>
            <a:r>
              <a:rPr b="1" lang="en-AU" sz="3000">
                <a:latin typeface="Arial"/>
                <a:ea typeface="Arial"/>
                <a:cs typeface="Arial"/>
                <a:sym typeface="Arial"/>
              </a:rPr>
              <a:t>articulates</a:t>
            </a:r>
            <a:r>
              <a:rPr lang="en-AU" sz="3000">
                <a:latin typeface="Arial"/>
                <a:ea typeface="Arial"/>
                <a:cs typeface="Arial"/>
                <a:sym typeface="Arial"/>
              </a:rPr>
              <a:t> with the </a:t>
            </a:r>
            <a:r>
              <a:rPr b="1" lang="en-AU" sz="3000">
                <a:latin typeface="Arial"/>
                <a:ea typeface="Arial"/>
                <a:cs typeface="Arial"/>
                <a:sym typeface="Arial"/>
              </a:rPr>
              <a:t>head of humerus </a:t>
            </a:r>
            <a:r>
              <a:rPr lang="en-AU" sz="3000">
                <a:latin typeface="Arial"/>
                <a:ea typeface="Arial"/>
                <a:cs typeface="Arial"/>
                <a:sym typeface="Arial"/>
              </a:rPr>
              <a:t>to form </a:t>
            </a:r>
            <a:r>
              <a:rPr b="1" lang="en-AU" sz="3000">
                <a:latin typeface="Arial"/>
                <a:ea typeface="Arial"/>
                <a:cs typeface="Arial"/>
                <a:sym typeface="Arial"/>
              </a:rPr>
              <a:t>glenohumeral </a:t>
            </a:r>
            <a:r>
              <a:rPr lang="en-AU" sz="3000">
                <a:latin typeface="Arial"/>
                <a:ea typeface="Arial"/>
                <a:cs typeface="Arial"/>
                <a:sym typeface="Arial"/>
              </a:rPr>
              <a:t>(shoulder) </a:t>
            </a:r>
            <a:r>
              <a:rPr b="1" lang="en-AU" sz="3000">
                <a:latin typeface="Arial"/>
                <a:ea typeface="Arial"/>
                <a:cs typeface="Arial"/>
                <a:sym typeface="Arial"/>
              </a:rPr>
              <a:t>joint</a:t>
            </a:r>
            <a:r>
              <a:rPr lang="en-AU" sz="3000">
                <a:latin typeface="Arial"/>
                <a:ea typeface="Arial"/>
                <a:cs typeface="Arial"/>
                <a:sym typeface="Arial"/>
              </a:rPr>
              <a:t>.</a:t>
            </a:r>
            <a:endParaRPr/>
          </a:p>
          <a:p>
            <a:pPr indent="-342900" lvl="0" marL="342900" rtl="0" algn="just">
              <a:spcBef>
                <a:spcPts val="600"/>
              </a:spcBef>
              <a:spcAft>
                <a:spcPts val="0"/>
              </a:spcAft>
              <a:buClr>
                <a:schemeClr val="dk1"/>
              </a:buClr>
              <a:buSzPts val="3000"/>
              <a:buChar char="•"/>
            </a:pPr>
            <a:r>
              <a:rPr lang="en-AU" sz="3000">
                <a:latin typeface="Arial"/>
                <a:ea typeface="Arial"/>
                <a:cs typeface="Arial"/>
                <a:sym typeface="Arial"/>
              </a:rPr>
              <a:t>A </a:t>
            </a:r>
            <a:r>
              <a:rPr b="1" lang="en-AU" sz="3000">
                <a:latin typeface="Arial"/>
                <a:ea typeface="Arial"/>
                <a:cs typeface="Arial"/>
                <a:sym typeface="Arial"/>
              </a:rPr>
              <a:t>fibrocartilaginous rim</a:t>
            </a:r>
            <a:r>
              <a:rPr lang="en-AU" sz="3000">
                <a:latin typeface="Arial"/>
                <a:ea typeface="Arial"/>
                <a:cs typeface="Arial"/>
                <a:sym typeface="Arial"/>
              </a:rPr>
              <a:t>, the </a:t>
            </a:r>
            <a:r>
              <a:rPr b="1" lang="en-AU" sz="3000">
                <a:latin typeface="Arial"/>
                <a:ea typeface="Arial"/>
                <a:cs typeface="Arial"/>
                <a:sym typeface="Arial"/>
              </a:rPr>
              <a:t>glenoid labrum </a:t>
            </a:r>
            <a:r>
              <a:rPr lang="en-AU" sz="3000">
                <a:latin typeface="Arial"/>
                <a:ea typeface="Arial"/>
                <a:cs typeface="Arial"/>
                <a:sym typeface="Arial"/>
              </a:rPr>
              <a:t>is attached to the margins of </a:t>
            </a:r>
            <a:r>
              <a:rPr b="1" lang="en-AU" sz="3000">
                <a:latin typeface="Arial"/>
                <a:ea typeface="Arial"/>
                <a:cs typeface="Arial"/>
                <a:sym typeface="Arial"/>
              </a:rPr>
              <a:t>glenoid cavity </a:t>
            </a:r>
            <a:r>
              <a:rPr lang="en-AU" sz="3000">
                <a:latin typeface="Arial"/>
                <a:ea typeface="Arial"/>
                <a:cs typeface="Arial"/>
                <a:sym typeface="Arial"/>
              </a:rPr>
              <a:t>to deepen its </a:t>
            </a:r>
            <a:r>
              <a:rPr b="1" lang="en-AU" sz="3000">
                <a:latin typeface="Arial"/>
                <a:ea typeface="Arial"/>
                <a:cs typeface="Arial"/>
                <a:sym typeface="Arial"/>
              </a:rPr>
              <a:t>concavity.</a:t>
            </a:r>
            <a:endParaRPr/>
          </a:p>
        </p:txBody>
      </p:sp>
      <p:sp>
        <p:nvSpPr>
          <p:cNvPr id="215" name="Google Shape;215;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9"/>
          <p:cNvSpPr txBox="1"/>
          <p:nvPr>
            <p:ph type="title"/>
          </p:nvPr>
        </p:nvSpPr>
        <p:spPr>
          <a:xfrm>
            <a:off x="457200" y="285728"/>
            <a:ext cx="8229600" cy="92869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Cont’d</a:t>
            </a:r>
            <a:endParaRPr sz="4400">
              <a:latin typeface="Arial Black"/>
              <a:ea typeface="Arial Black"/>
              <a:cs typeface="Arial Black"/>
              <a:sym typeface="Arial Black"/>
            </a:endParaRPr>
          </a:p>
        </p:txBody>
      </p:sp>
      <p:sp>
        <p:nvSpPr>
          <p:cNvPr id="221" name="Google Shape;221;p19"/>
          <p:cNvSpPr txBox="1"/>
          <p:nvPr>
            <p:ph idx="1" type="body"/>
          </p:nvPr>
        </p:nvSpPr>
        <p:spPr>
          <a:xfrm>
            <a:off x="457200" y="1500174"/>
            <a:ext cx="8229600" cy="482442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a:t>
            </a:r>
            <a:r>
              <a:rPr b="1" lang="en-AU" sz="3200">
                <a:latin typeface="Arial"/>
                <a:ea typeface="Arial"/>
                <a:cs typeface="Arial"/>
                <a:sym typeface="Arial"/>
              </a:rPr>
              <a:t> capsule </a:t>
            </a:r>
            <a:r>
              <a:rPr lang="en-AU" sz="3200">
                <a:latin typeface="Arial"/>
                <a:ea typeface="Arial"/>
                <a:cs typeface="Arial"/>
                <a:sym typeface="Arial"/>
              </a:rPr>
              <a:t>of </a:t>
            </a:r>
            <a:r>
              <a:rPr b="1" lang="en-AU" sz="3200">
                <a:latin typeface="Arial"/>
                <a:ea typeface="Arial"/>
                <a:cs typeface="Arial"/>
                <a:sym typeface="Arial"/>
              </a:rPr>
              <a:t>shoulder joint </a:t>
            </a:r>
            <a:r>
              <a:rPr lang="en-AU" sz="3200">
                <a:latin typeface="Arial"/>
                <a:ea typeface="Arial"/>
                <a:cs typeface="Arial"/>
                <a:sym typeface="Arial"/>
              </a:rPr>
              <a:t>is attached to the </a:t>
            </a:r>
            <a:r>
              <a:rPr b="1" lang="en-AU" sz="3200">
                <a:latin typeface="Arial"/>
                <a:ea typeface="Arial"/>
                <a:cs typeface="Arial"/>
                <a:sym typeface="Arial"/>
              </a:rPr>
              <a:t>margins</a:t>
            </a:r>
            <a:r>
              <a:rPr lang="en-AU" sz="3200">
                <a:latin typeface="Arial"/>
                <a:ea typeface="Arial"/>
                <a:cs typeface="Arial"/>
                <a:sym typeface="Arial"/>
              </a:rPr>
              <a:t> of </a:t>
            </a:r>
            <a:r>
              <a:rPr b="1" lang="en-AU" sz="3200">
                <a:latin typeface="Arial"/>
                <a:ea typeface="Arial"/>
                <a:cs typeface="Arial"/>
                <a:sym typeface="Arial"/>
              </a:rPr>
              <a:t>glenoid cavity</a:t>
            </a:r>
            <a:r>
              <a:rPr lang="en-AU" sz="3200">
                <a:latin typeface="Arial"/>
                <a:ea typeface="Arial"/>
                <a:cs typeface="Arial"/>
                <a:sym typeface="Arial"/>
              </a:rPr>
              <a:t>, proximal to the</a:t>
            </a:r>
            <a:r>
              <a:rPr b="1" lang="en-AU" sz="3200">
                <a:latin typeface="Arial"/>
                <a:ea typeface="Arial"/>
                <a:cs typeface="Arial"/>
                <a:sym typeface="Arial"/>
              </a:rPr>
              <a:t> attachment </a:t>
            </a:r>
            <a:r>
              <a:rPr lang="en-AU" sz="3200">
                <a:latin typeface="Arial"/>
                <a:ea typeface="Arial"/>
                <a:cs typeface="Arial"/>
                <a:sym typeface="Arial"/>
              </a:rPr>
              <a:t>of </a:t>
            </a:r>
            <a:r>
              <a:rPr b="1" lang="en-AU" sz="3200">
                <a:latin typeface="Arial"/>
                <a:ea typeface="Arial"/>
                <a:cs typeface="Arial"/>
                <a:sym typeface="Arial"/>
              </a:rPr>
              <a:t>glenoid labrum</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long head </a:t>
            </a:r>
            <a:r>
              <a:rPr lang="en-AU" sz="3200">
                <a:latin typeface="Arial"/>
                <a:ea typeface="Arial"/>
                <a:cs typeface="Arial"/>
                <a:sym typeface="Arial"/>
              </a:rPr>
              <a:t>of </a:t>
            </a:r>
            <a:r>
              <a:rPr b="1" lang="en-AU" sz="3200">
                <a:latin typeface="Arial"/>
                <a:ea typeface="Arial"/>
                <a:cs typeface="Arial"/>
                <a:sym typeface="Arial"/>
              </a:rPr>
              <a:t>biceps brachii </a:t>
            </a:r>
            <a:r>
              <a:rPr lang="en-AU" sz="3200">
                <a:latin typeface="Arial"/>
                <a:ea typeface="Arial"/>
                <a:cs typeface="Arial"/>
                <a:sym typeface="Arial"/>
              </a:rPr>
              <a:t>arises from </a:t>
            </a:r>
            <a:r>
              <a:rPr b="1" lang="en-AU" sz="3200">
                <a:latin typeface="Arial"/>
                <a:ea typeface="Arial"/>
                <a:cs typeface="Arial"/>
                <a:sym typeface="Arial"/>
              </a:rPr>
              <a:t>supraglenoid tubercle</a:t>
            </a:r>
            <a:r>
              <a:rPr lang="en-AU" sz="3200">
                <a:latin typeface="Arial"/>
                <a:ea typeface="Arial"/>
                <a:cs typeface="Arial"/>
                <a:sym typeface="Arial"/>
              </a:rPr>
              <a:t>. This origin is </a:t>
            </a:r>
            <a:r>
              <a:rPr b="1" lang="en-AU" sz="3200">
                <a:latin typeface="Arial"/>
                <a:ea typeface="Arial"/>
                <a:cs typeface="Arial"/>
                <a:sym typeface="Arial"/>
              </a:rPr>
              <a:t>intracapsular</a:t>
            </a:r>
            <a:r>
              <a:rPr lang="en-AU" sz="3200">
                <a:latin typeface="Arial"/>
                <a:ea typeface="Arial"/>
                <a:cs typeface="Arial"/>
                <a:sym typeface="Arial"/>
              </a:rPr>
              <a:t>.</a:t>
            </a:r>
            <a:endParaRPr sz="3200">
              <a:latin typeface="Arial"/>
              <a:ea typeface="Arial"/>
              <a:cs typeface="Arial"/>
              <a:sym typeface="Arial"/>
            </a:endParaRPr>
          </a:p>
          <a:p>
            <a:pPr indent="-139700" lvl="0" marL="342900" rtl="0" algn="l">
              <a:spcBef>
                <a:spcPts val="640"/>
              </a:spcBef>
              <a:spcAft>
                <a:spcPts val="0"/>
              </a:spcAft>
              <a:buClr>
                <a:schemeClr val="dk1"/>
              </a:buClr>
              <a:buSzPts val="3200"/>
              <a:buNone/>
            </a:pPr>
            <a:r>
              <a:t/>
            </a:r>
            <a:endParaRPr/>
          </a:p>
        </p:txBody>
      </p:sp>
      <p:sp>
        <p:nvSpPr>
          <p:cNvPr id="222" name="Google Shape;22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0"/>
          <p:cNvSpPr txBox="1"/>
          <p:nvPr>
            <p:ph type="title"/>
          </p:nvPr>
        </p:nvSpPr>
        <p:spPr>
          <a:xfrm>
            <a:off x="457200" y="0"/>
            <a:ext cx="8229600" cy="10001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Processes</a:t>
            </a:r>
            <a:endParaRPr sz="4400">
              <a:latin typeface="Arial Black"/>
              <a:ea typeface="Arial Black"/>
              <a:cs typeface="Arial Black"/>
              <a:sym typeface="Arial Black"/>
            </a:endParaRPr>
          </a:p>
        </p:txBody>
      </p:sp>
      <p:sp>
        <p:nvSpPr>
          <p:cNvPr id="228" name="Google Shape;228;p20"/>
          <p:cNvSpPr txBox="1"/>
          <p:nvPr>
            <p:ph idx="1" type="body"/>
          </p:nvPr>
        </p:nvSpPr>
        <p:spPr>
          <a:xfrm>
            <a:off x="142844" y="1000108"/>
            <a:ext cx="8715436" cy="5857892"/>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Font typeface="Noto Sans Symbols"/>
              <a:buChar char="▪"/>
            </a:pPr>
            <a:r>
              <a:rPr b="1" lang="en-AU" sz="3200">
                <a:latin typeface="Arial"/>
                <a:ea typeface="Arial"/>
                <a:cs typeface="Arial"/>
                <a:sym typeface="Arial"/>
              </a:rPr>
              <a:t>Spinous process </a:t>
            </a:r>
            <a:r>
              <a:rPr lang="en-AU" sz="3200">
                <a:latin typeface="Arial"/>
                <a:ea typeface="Arial"/>
                <a:cs typeface="Arial"/>
                <a:sym typeface="Arial"/>
              </a:rPr>
              <a:t>(spine of scapula)</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It is a </a:t>
            </a:r>
            <a:r>
              <a:rPr b="1" lang="en-AU" sz="3200">
                <a:latin typeface="Arial"/>
                <a:ea typeface="Arial"/>
                <a:cs typeface="Arial"/>
                <a:sym typeface="Arial"/>
              </a:rPr>
              <a:t>triangular</a:t>
            </a:r>
            <a:r>
              <a:rPr lang="en-AU" sz="3200">
                <a:latin typeface="Arial"/>
                <a:ea typeface="Arial"/>
                <a:cs typeface="Arial"/>
                <a:sym typeface="Arial"/>
              </a:rPr>
              <a:t> </a:t>
            </a:r>
            <a:r>
              <a:rPr b="1" lang="en-AU" sz="3200">
                <a:latin typeface="Arial"/>
                <a:ea typeface="Arial"/>
                <a:cs typeface="Arial"/>
                <a:sym typeface="Arial"/>
              </a:rPr>
              <a:t>shelf-like bony projection</a:t>
            </a:r>
            <a:r>
              <a:rPr lang="en-AU" sz="3200">
                <a:latin typeface="Arial"/>
                <a:ea typeface="Arial"/>
                <a:cs typeface="Arial"/>
                <a:sym typeface="Arial"/>
              </a:rPr>
              <a:t>, attached to the </a:t>
            </a:r>
            <a:r>
              <a:rPr b="1" lang="en-AU" sz="3200">
                <a:latin typeface="Arial"/>
                <a:ea typeface="Arial"/>
                <a:cs typeface="Arial"/>
                <a:sym typeface="Arial"/>
              </a:rPr>
              <a:t>dorsal surface </a:t>
            </a:r>
            <a:r>
              <a:rPr lang="en-AU" sz="3200">
                <a:latin typeface="Arial"/>
                <a:ea typeface="Arial"/>
                <a:cs typeface="Arial"/>
                <a:sym typeface="Arial"/>
              </a:rPr>
              <a:t>of </a:t>
            </a:r>
            <a:r>
              <a:rPr b="1" lang="en-AU" sz="3200">
                <a:latin typeface="Arial"/>
                <a:ea typeface="Arial"/>
                <a:cs typeface="Arial"/>
                <a:sym typeface="Arial"/>
              </a:rPr>
              <a:t>scapula</a:t>
            </a:r>
            <a:r>
              <a:rPr lang="en-AU" sz="3200">
                <a:latin typeface="Arial"/>
                <a:ea typeface="Arial"/>
                <a:cs typeface="Arial"/>
                <a:sym typeface="Arial"/>
              </a:rPr>
              <a:t> at the </a:t>
            </a:r>
            <a:r>
              <a:rPr b="1" lang="en-AU" sz="3200">
                <a:latin typeface="Arial"/>
                <a:ea typeface="Arial"/>
                <a:cs typeface="Arial"/>
                <a:sym typeface="Arial"/>
              </a:rPr>
              <a:t>junction </a:t>
            </a:r>
            <a:r>
              <a:rPr lang="en-AU" sz="3200">
                <a:latin typeface="Arial"/>
                <a:ea typeface="Arial"/>
                <a:cs typeface="Arial"/>
                <a:sym typeface="Arial"/>
              </a:rPr>
              <a:t>of its </a:t>
            </a:r>
            <a:r>
              <a:rPr b="1" lang="en-AU" sz="3200">
                <a:latin typeface="Arial"/>
                <a:ea typeface="Arial"/>
                <a:cs typeface="Arial"/>
                <a:sym typeface="Arial"/>
              </a:rPr>
              <a:t>upper one-third </a:t>
            </a:r>
            <a:r>
              <a:rPr lang="en-AU" sz="3200">
                <a:latin typeface="Arial"/>
                <a:ea typeface="Arial"/>
                <a:cs typeface="Arial"/>
                <a:sym typeface="Arial"/>
              </a:rPr>
              <a:t>and </a:t>
            </a:r>
            <a:r>
              <a:rPr b="1" lang="en-AU" sz="3200">
                <a:latin typeface="Arial"/>
                <a:ea typeface="Arial"/>
                <a:cs typeface="Arial"/>
                <a:sym typeface="Arial"/>
              </a:rPr>
              <a:t>lower two-third</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It divides the </a:t>
            </a:r>
            <a:r>
              <a:rPr b="1" lang="en-AU" sz="3200">
                <a:latin typeface="Arial"/>
                <a:ea typeface="Arial"/>
                <a:cs typeface="Arial"/>
                <a:sym typeface="Arial"/>
              </a:rPr>
              <a:t>dorsal surface </a:t>
            </a:r>
            <a:r>
              <a:rPr lang="en-AU" sz="3200">
                <a:latin typeface="Arial"/>
                <a:ea typeface="Arial"/>
                <a:cs typeface="Arial"/>
                <a:sym typeface="Arial"/>
              </a:rPr>
              <a:t>of </a:t>
            </a:r>
            <a:r>
              <a:rPr b="1" lang="en-AU" sz="3200">
                <a:latin typeface="Arial"/>
                <a:ea typeface="Arial"/>
                <a:cs typeface="Arial"/>
                <a:sym typeface="Arial"/>
              </a:rPr>
              <a:t>scapula </a:t>
            </a:r>
            <a:r>
              <a:rPr lang="en-AU" sz="3200">
                <a:latin typeface="Arial"/>
                <a:ea typeface="Arial"/>
                <a:cs typeface="Arial"/>
                <a:sym typeface="Arial"/>
              </a:rPr>
              <a:t>into </a:t>
            </a:r>
            <a:r>
              <a:rPr b="1" lang="en-AU" sz="3200">
                <a:latin typeface="Arial"/>
                <a:ea typeface="Arial"/>
                <a:cs typeface="Arial"/>
                <a:sym typeface="Arial"/>
              </a:rPr>
              <a:t>two parts-upper supraspinous fossa </a:t>
            </a:r>
            <a:r>
              <a:rPr lang="en-AU" sz="3200">
                <a:latin typeface="Arial"/>
                <a:ea typeface="Arial"/>
                <a:cs typeface="Arial"/>
                <a:sym typeface="Arial"/>
              </a:rPr>
              <a:t>and </a:t>
            </a:r>
            <a:r>
              <a:rPr b="1" lang="en-AU" sz="3200">
                <a:latin typeface="Arial"/>
                <a:ea typeface="Arial"/>
                <a:cs typeface="Arial"/>
                <a:sym typeface="Arial"/>
              </a:rPr>
              <a:t>lower infraspinous fossa</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spine</a:t>
            </a:r>
            <a:r>
              <a:rPr lang="en-AU" sz="3200">
                <a:latin typeface="Arial"/>
                <a:ea typeface="Arial"/>
                <a:cs typeface="Arial"/>
                <a:sym typeface="Arial"/>
              </a:rPr>
              <a:t> has </a:t>
            </a:r>
            <a:r>
              <a:rPr b="1" lang="en-AU" sz="3200">
                <a:latin typeface="Arial"/>
                <a:ea typeface="Arial"/>
                <a:cs typeface="Arial"/>
                <a:sym typeface="Arial"/>
              </a:rPr>
              <a:t>two surfaces</a:t>
            </a:r>
            <a:r>
              <a:rPr lang="en-AU" sz="3200">
                <a:latin typeface="Arial"/>
                <a:ea typeface="Arial"/>
                <a:cs typeface="Arial"/>
                <a:sym typeface="Arial"/>
              </a:rPr>
              <a:t>-(a) </a:t>
            </a:r>
            <a:r>
              <a:rPr b="1" lang="en-AU" sz="3200">
                <a:latin typeface="Arial"/>
                <a:ea typeface="Arial"/>
                <a:cs typeface="Arial"/>
                <a:sym typeface="Arial"/>
              </a:rPr>
              <a:t>superior</a:t>
            </a:r>
            <a:r>
              <a:rPr lang="en-AU" sz="3200">
                <a:latin typeface="Arial"/>
                <a:ea typeface="Arial"/>
                <a:cs typeface="Arial"/>
                <a:sym typeface="Arial"/>
              </a:rPr>
              <a:t> and (b) </a:t>
            </a:r>
            <a:r>
              <a:rPr b="1" lang="en-AU" sz="3200">
                <a:latin typeface="Arial"/>
                <a:ea typeface="Arial"/>
                <a:cs typeface="Arial"/>
                <a:sym typeface="Arial"/>
              </a:rPr>
              <a:t>inferior</a:t>
            </a:r>
            <a:r>
              <a:rPr lang="en-AU" sz="3200">
                <a:latin typeface="Arial"/>
                <a:ea typeface="Arial"/>
                <a:cs typeface="Arial"/>
                <a:sym typeface="Arial"/>
              </a:rPr>
              <a:t>, and </a:t>
            </a:r>
            <a:r>
              <a:rPr b="1" lang="en-AU" sz="3200">
                <a:latin typeface="Arial"/>
                <a:ea typeface="Arial"/>
                <a:cs typeface="Arial"/>
                <a:sym typeface="Arial"/>
              </a:rPr>
              <a:t>three borders-</a:t>
            </a:r>
            <a:r>
              <a:rPr lang="en-AU" sz="3200">
                <a:latin typeface="Arial"/>
                <a:ea typeface="Arial"/>
                <a:cs typeface="Arial"/>
                <a:sym typeface="Arial"/>
              </a:rPr>
              <a:t>(a) </a:t>
            </a:r>
            <a:r>
              <a:rPr b="1" lang="en-AU" sz="3200">
                <a:latin typeface="Arial"/>
                <a:ea typeface="Arial"/>
                <a:cs typeface="Arial"/>
                <a:sym typeface="Arial"/>
              </a:rPr>
              <a:t>anterior</a:t>
            </a:r>
            <a:r>
              <a:rPr lang="en-AU" sz="3200">
                <a:latin typeface="Arial"/>
                <a:ea typeface="Arial"/>
                <a:cs typeface="Arial"/>
                <a:sym typeface="Arial"/>
              </a:rPr>
              <a:t>, (b) </a:t>
            </a:r>
            <a:r>
              <a:rPr b="1" lang="en-AU" sz="3200">
                <a:latin typeface="Arial"/>
                <a:ea typeface="Arial"/>
                <a:cs typeface="Arial"/>
                <a:sym typeface="Arial"/>
              </a:rPr>
              <a:t>posterior</a:t>
            </a:r>
            <a:r>
              <a:rPr lang="en-AU" sz="3200">
                <a:latin typeface="Arial"/>
                <a:ea typeface="Arial"/>
                <a:cs typeface="Arial"/>
                <a:sym typeface="Arial"/>
              </a:rPr>
              <a:t>, and (c) </a:t>
            </a:r>
            <a:r>
              <a:rPr b="1" lang="en-AU" sz="3200">
                <a:latin typeface="Arial"/>
                <a:ea typeface="Arial"/>
                <a:cs typeface="Arial"/>
                <a:sym typeface="Arial"/>
              </a:rPr>
              <a:t>lateral</a:t>
            </a:r>
            <a:r>
              <a:rPr lang="en-AU" sz="3200">
                <a:latin typeface="Arial"/>
                <a:ea typeface="Arial"/>
                <a:cs typeface="Arial"/>
                <a:sym typeface="Arial"/>
              </a:rPr>
              <a:t>.</a:t>
            </a:r>
            <a:endParaRPr sz="3200">
              <a:latin typeface="Arial"/>
              <a:ea typeface="Arial"/>
              <a:cs typeface="Arial"/>
              <a:sym typeface="Arial"/>
            </a:endParaRPr>
          </a:p>
        </p:txBody>
      </p:sp>
      <p:sp>
        <p:nvSpPr>
          <p:cNvPr id="229" name="Google Shape;22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1"/>
          <p:cNvSpPr txBox="1"/>
          <p:nvPr>
            <p:ph idx="1" type="body"/>
          </p:nvPr>
        </p:nvSpPr>
        <p:spPr>
          <a:xfrm>
            <a:off x="142844" y="1142984"/>
            <a:ext cx="8786874" cy="518161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Font typeface="Noto Sans Symbols"/>
              <a:buChar char="▪"/>
            </a:pPr>
            <a:r>
              <a:rPr b="1" lang="en-AU" sz="3200">
                <a:latin typeface="Arial"/>
                <a:ea typeface="Arial"/>
                <a:cs typeface="Arial"/>
                <a:sym typeface="Arial"/>
              </a:rPr>
              <a:t>Surfaces</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superior surface of spine </a:t>
            </a:r>
            <a:r>
              <a:rPr lang="en-AU" sz="3200">
                <a:latin typeface="Arial"/>
                <a:ea typeface="Arial"/>
                <a:cs typeface="Arial"/>
                <a:sym typeface="Arial"/>
              </a:rPr>
              <a:t>forms the </a:t>
            </a:r>
            <a:r>
              <a:rPr b="1" lang="en-AU" sz="3200">
                <a:latin typeface="Arial"/>
                <a:ea typeface="Arial"/>
                <a:cs typeface="Arial"/>
                <a:sym typeface="Arial"/>
              </a:rPr>
              <a:t>lower boundary </a:t>
            </a:r>
            <a:r>
              <a:rPr lang="en-AU" sz="3200">
                <a:latin typeface="Arial"/>
                <a:ea typeface="Arial"/>
                <a:cs typeface="Arial"/>
                <a:sym typeface="Arial"/>
              </a:rPr>
              <a:t>of </a:t>
            </a:r>
            <a:r>
              <a:rPr b="1" lang="en-AU" sz="3200">
                <a:latin typeface="Arial"/>
                <a:ea typeface="Arial"/>
                <a:cs typeface="Arial"/>
                <a:sym typeface="Arial"/>
              </a:rPr>
              <a:t>supraspinous fossa </a:t>
            </a:r>
            <a:r>
              <a:rPr lang="en-AU" sz="3200">
                <a:latin typeface="Arial"/>
                <a:ea typeface="Arial"/>
                <a:cs typeface="Arial"/>
                <a:sym typeface="Arial"/>
              </a:rPr>
              <a:t>and gives origin to</a:t>
            </a:r>
            <a:r>
              <a:rPr b="1" lang="en-AU" sz="3200">
                <a:latin typeface="Arial"/>
                <a:ea typeface="Arial"/>
                <a:cs typeface="Arial"/>
                <a:sym typeface="Arial"/>
              </a:rPr>
              <a:t> supraspinatus muscle</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inferior surface of spine forms </a:t>
            </a:r>
            <a:r>
              <a:rPr lang="en-AU" sz="3200">
                <a:latin typeface="Arial"/>
                <a:ea typeface="Arial"/>
                <a:cs typeface="Arial"/>
                <a:sym typeface="Arial"/>
              </a:rPr>
              <a:t>the </a:t>
            </a:r>
            <a:r>
              <a:rPr b="1" lang="en-AU" sz="3200">
                <a:latin typeface="Arial"/>
                <a:ea typeface="Arial"/>
                <a:cs typeface="Arial"/>
                <a:sym typeface="Arial"/>
              </a:rPr>
              <a:t>upper limit </a:t>
            </a:r>
            <a:r>
              <a:rPr lang="en-AU" sz="3200">
                <a:latin typeface="Arial"/>
                <a:ea typeface="Arial"/>
                <a:cs typeface="Arial"/>
                <a:sym typeface="Arial"/>
              </a:rPr>
              <a:t>of </a:t>
            </a:r>
            <a:r>
              <a:rPr b="1" lang="en-AU" sz="3200">
                <a:latin typeface="Arial"/>
                <a:ea typeface="Arial"/>
                <a:cs typeface="Arial"/>
                <a:sym typeface="Arial"/>
              </a:rPr>
              <a:t>infraspinous fossa </a:t>
            </a:r>
            <a:r>
              <a:rPr lang="en-AU" sz="3200">
                <a:latin typeface="Arial"/>
                <a:ea typeface="Arial"/>
                <a:cs typeface="Arial"/>
                <a:sym typeface="Arial"/>
              </a:rPr>
              <a:t>and gives origin to </a:t>
            </a:r>
            <a:r>
              <a:rPr b="1" lang="en-AU" sz="3200">
                <a:latin typeface="Arial"/>
                <a:ea typeface="Arial"/>
                <a:cs typeface="Arial"/>
                <a:sym typeface="Arial"/>
              </a:rPr>
              <a:t>infraspinatus muscle</a:t>
            </a:r>
            <a:r>
              <a:rPr lang="en-AU" sz="3200">
                <a:latin typeface="Arial"/>
                <a:ea typeface="Arial"/>
                <a:cs typeface="Arial"/>
                <a:sym typeface="Arial"/>
              </a:rPr>
              <a:t>.</a:t>
            </a:r>
            <a:endParaRPr sz="3200">
              <a:latin typeface="Arial"/>
              <a:ea typeface="Arial"/>
              <a:cs typeface="Arial"/>
              <a:sym typeface="Arial"/>
            </a:endParaRPr>
          </a:p>
        </p:txBody>
      </p:sp>
      <p:sp>
        <p:nvSpPr>
          <p:cNvPr id="235" name="Google Shape;235;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idx="1" type="body"/>
          </p:nvPr>
        </p:nvSpPr>
        <p:spPr>
          <a:xfrm>
            <a:off x="457200" y="214290"/>
            <a:ext cx="8229600" cy="664371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Font typeface="Noto Sans Symbols"/>
              <a:buChar char="▪"/>
            </a:pPr>
            <a:r>
              <a:rPr b="1" lang="en-AU" sz="3200">
                <a:latin typeface="Arial"/>
                <a:ea typeface="Arial"/>
                <a:cs typeface="Arial"/>
                <a:sym typeface="Arial"/>
              </a:rPr>
              <a:t>Borders</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anterior border </a:t>
            </a:r>
            <a:r>
              <a:rPr lang="en-AU" sz="3200">
                <a:latin typeface="Arial"/>
                <a:ea typeface="Arial"/>
                <a:cs typeface="Arial"/>
                <a:sym typeface="Arial"/>
              </a:rPr>
              <a:t>of spine is attached to the </a:t>
            </a:r>
            <a:r>
              <a:rPr b="1" lang="en-AU" sz="3200">
                <a:latin typeface="Arial"/>
                <a:ea typeface="Arial"/>
                <a:cs typeface="Arial"/>
                <a:sym typeface="Arial"/>
              </a:rPr>
              <a:t>dorsal surface </a:t>
            </a:r>
            <a:r>
              <a:rPr lang="en-AU" sz="3200">
                <a:latin typeface="Arial"/>
                <a:ea typeface="Arial"/>
                <a:cs typeface="Arial"/>
                <a:sym typeface="Arial"/>
              </a:rPr>
              <a:t>of </a:t>
            </a:r>
            <a:r>
              <a:rPr b="1" lang="en-AU" sz="3200">
                <a:latin typeface="Arial"/>
                <a:ea typeface="Arial"/>
                <a:cs typeface="Arial"/>
                <a:sym typeface="Arial"/>
              </a:rPr>
              <a:t>scapula</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lateral border </a:t>
            </a:r>
            <a:r>
              <a:rPr lang="en-AU" sz="3200">
                <a:latin typeface="Arial"/>
                <a:ea typeface="Arial"/>
                <a:cs typeface="Arial"/>
                <a:sym typeface="Arial"/>
              </a:rPr>
              <a:t>of spine bounds the </a:t>
            </a:r>
            <a:r>
              <a:rPr b="1" lang="en-AU" sz="3200">
                <a:latin typeface="Arial"/>
                <a:ea typeface="Arial"/>
                <a:cs typeface="Arial"/>
                <a:sym typeface="Arial"/>
              </a:rPr>
              <a:t>spinoglenoid notch </a:t>
            </a:r>
            <a:r>
              <a:rPr lang="en-AU" sz="3200">
                <a:latin typeface="Arial"/>
                <a:ea typeface="Arial"/>
                <a:cs typeface="Arial"/>
                <a:sym typeface="Arial"/>
              </a:rPr>
              <a:t>through which pass </a:t>
            </a:r>
            <a:r>
              <a:rPr b="1" lang="en-AU" sz="3200">
                <a:latin typeface="Arial"/>
                <a:ea typeface="Arial"/>
                <a:cs typeface="Arial"/>
                <a:sym typeface="Arial"/>
              </a:rPr>
              <a:t>suprascapular nerve </a:t>
            </a:r>
            <a:r>
              <a:rPr lang="en-AU" sz="3200">
                <a:latin typeface="Arial"/>
                <a:ea typeface="Arial"/>
                <a:cs typeface="Arial"/>
                <a:sym typeface="Arial"/>
              </a:rPr>
              <a:t>and </a:t>
            </a:r>
            <a:r>
              <a:rPr b="1" lang="en-AU" sz="3200">
                <a:latin typeface="Arial"/>
                <a:ea typeface="Arial"/>
                <a:cs typeface="Arial"/>
                <a:sym typeface="Arial"/>
              </a:rPr>
              <a:t>vessels </a:t>
            </a:r>
            <a:r>
              <a:rPr lang="en-AU" sz="3200">
                <a:latin typeface="Arial"/>
                <a:ea typeface="Arial"/>
                <a:cs typeface="Arial"/>
                <a:sym typeface="Arial"/>
              </a:rPr>
              <a:t>from </a:t>
            </a:r>
            <a:r>
              <a:rPr b="1" lang="en-AU" sz="3200">
                <a:latin typeface="Arial"/>
                <a:ea typeface="Arial"/>
                <a:cs typeface="Arial"/>
                <a:sym typeface="Arial"/>
              </a:rPr>
              <a:t>supraspinous fossa </a:t>
            </a:r>
            <a:r>
              <a:rPr lang="en-AU" sz="3200">
                <a:latin typeface="Arial"/>
                <a:ea typeface="Arial"/>
                <a:cs typeface="Arial"/>
                <a:sym typeface="Arial"/>
              </a:rPr>
              <a:t>to </a:t>
            </a:r>
            <a:r>
              <a:rPr b="1" lang="en-AU" sz="3200">
                <a:latin typeface="Arial"/>
                <a:ea typeface="Arial"/>
                <a:cs typeface="Arial"/>
                <a:sym typeface="Arial"/>
              </a:rPr>
              <a:t>infraspinous fossa</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posterior border </a:t>
            </a:r>
            <a:r>
              <a:rPr lang="en-AU" sz="3200">
                <a:latin typeface="Arial"/>
                <a:ea typeface="Arial"/>
                <a:cs typeface="Arial"/>
                <a:sym typeface="Arial"/>
              </a:rPr>
              <a:t>of </a:t>
            </a:r>
            <a:r>
              <a:rPr b="1" lang="en-AU" sz="3200">
                <a:latin typeface="Arial"/>
                <a:ea typeface="Arial"/>
                <a:cs typeface="Arial"/>
                <a:sym typeface="Arial"/>
              </a:rPr>
              <a:t>spine</a:t>
            </a:r>
            <a:r>
              <a:rPr lang="en-AU" sz="3200">
                <a:latin typeface="Arial"/>
                <a:ea typeface="Arial"/>
                <a:cs typeface="Arial"/>
                <a:sym typeface="Arial"/>
              </a:rPr>
              <a:t> is also called </a:t>
            </a:r>
            <a:r>
              <a:rPr b="1" lang="en-AU" sz="3200">
                <a:latin typeface="Arial"/>
                <a:ea typeface="Arial"/>
                <a:cs typeface="Arial"/>
                <a:sym typeface="Arial"/>
              </a:rPr>
              <a:t>crest of spine</a:t>
            </a:r>
            <a:r>
              <a:rPr lang="en-AU" sz="3200">
                <a:latin typeface="Arial"/>
                <a:ea typeface="Arial"/>
                <a:cs typeface="Arial"/>
                <a:sym typeface="Arial"/>
              </a:rPr>
              <a:t>. Trapezius is inserted to the </a:t>
            </a:r>
            <a:r>
              <a:rPr b="1" lang="en-AU" sz="3200">
                <a:latin typeface="Arial"/>
                <a:ea typeface="Arial"/>
                <a:cs typeface="Arial"/>
                <a:sym typeface="Arial"/>
              </a:rPr>
              <a:t>upper lip </a:t>
            </a:r>
            <a:r>
              <a:rPr lang="en-AU" sz="3200">
                <a:latin typeface="Arial"/>
                <a:ea typeface="Arial"/>
                <a:cs typeface="Arial"/>
                <a:sym typeface="Arial"/>
              </a:rPr>
              <a:t>of </a:t>
            </a:r>
            <a:r>
              <a:rPr b="1" lang="en-AU" sz="3200">
                <a:latin typeface="Arial"/>
                <a:ea typeface="Arial"/>
                <a:cs typeface="Arial"/>
                <a:sym typeface="Arial"/>
              </a:rPr>
              <a:t>crest of spine</a:t>
            </a:r>
            <a:r>
              <a:rPr lang="en-AU" sz="3200">
                <a:latin typeface="Arial"/>
                <a:ea typeface="Arial"/>
                <a:cs typeface="Arial"/>
                <a:sym typeface="Arial"/>
              </a:rPr>
              <a:t>, while </a:t>
            </a:r>
            <a:r>
              <a:rPr b="1" lang="en-AU" sz="3200">
                <a:latin typeface="Arial"/>
                <a:ea typeface="Arial"/>
                <a:cs typeface="Arial"/>
                <a:sym typeface="Arial"/>
              </a:rPr>
              <a:t>posterior fibres </a:t>
            </a:r>
            <a:r>
              <a:rPr lang="en-AU" sz="3200">
                <a:latin typeface="Arial"/>
                <a:ea typeface="Arial"/>
                <a:cs typeface="Arial"/>
                <a:sym typeface="Arial"/>
              </a:rPr>
              <a:t>of </a:t>
            </a:r>
            <a:r>
              <a:rPr b="1" lang="en-AU" sz="3200">
                <a:latin typeface="Arial"/>
                <a:ea typeface="Arial"/>
                <a:cs typeface="Arial"/>
                <a:sym typeface="Arial"/>
              </a:rPr>
              <a:t>deltoid</a:t>
            </a:r>
            <a:r>
              <a:rPr lang="en-AU" sz="3200">
                <a:latin typeface="Arial"/>
                <a:ea typeface="Arial"/>
                <a:cs typeface="Arial"/>
                <a:sym typeface="Arial"/>
              </a:rPr>
              <a:t> take origin from its </a:t>
            </a:r>
            <a:r>
              <a:rPr b="1" lang="en-AU" sz="3200">
                <a:latin typeface="Arial"/>
                <a:ea typeface="Arial"/>
                <a:cs typeface="Arial"/>
                <a:sym typeface="Arial"/>
              </a:rPr>
              <a:t>lower lip</a:t>
            </a:r>
            <a:r>
              <a:rPr lang="en-AU" sz="3200">
                <a:latin typeface="Arial"/>
                <a:ea typeface="Arial"/>
                <a:cs typeface="Arial"/>
                <a:sym typeface="Arial"/>
              </a:rPr>
              <a:t>.</a:t>
            </a:r>
            <a:endParaRPr sz="3200">
              <a:latin typeface="Arial"/>
              <a:ea typeface="Arial"/>
              <a:cs typeface="Arial"/>
              <a:sym typeface="Arial"/>
            </a:endParaRPr>
          </a:p>
        </p:txBody>
      </p:sp>
      <p:sp>
        <p:nvSpPr>
          <p:cNvPr id="241" name="Google Shape;24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type="title"/>
          </p:nvPr>
        </p:nvSpPr>
        <p:spPr>
          <a:xfrm>
            <a:off x="214282" y="0"/>
            <a:ext cx="8472518" cy="92867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Black"/>
              <a:buNone/>
            </a:pPr>
            <a:r>
              <a:rPr lang="en-AU" sz="4400">
                <a:latin typeface="Arial Black"/>
                <a:ea typeface="Arial Black"/>
                <a:cs typeface="Arial Black"/>
                <a:sym typeface="Arial Black"/>
              </a:rPr>
              <a:t>Acromion process (acromion)</a:t>
            </a:r>
            <a:endParaRPr sz="4400">
              <a:latin typeface="Arial Black"/>
              <a:ea typeface="Arial Black"/>
              <a:cs typeface="Arial Black"/>
              <a:sym typeface="Arial Black"/>
            </a:endParaRPr>
          </a:p>
        </p:txBody>
      </p:sp>
      <p:sp>
        <p:nvSpPr>
          <p:cNvPr id="247" name="Google Shape;247;p23"/>
          <p:cNvSpPr txBox="1"/>
          <p:nvPr>
            <p:ph idx="1" type="body"/>
          </p:nvPr>
        </p:nvSpPr>
        <p:spPr>
          <a:xfrm>
            <a:off x="0" y="785794"/>
            <a:ext cx="8858280" cy="5857916"/>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It </a:t>
            </a:r>
            <a:r>
              <a:rPr b="1" lang="en-AU" sz="3200">
                <a:latin typeface="Arial"/>
                <a:ea typeface="Arial"/>
                <a:cs typeface="Arial"/>
                <a:sym typeface="Arial"/>
              </a:rPr>
              <a:t>projects</a:t>
            </a:r>
            <a:r>
              <a:rPr lang="en-AU" sz="3200">
                <a:latin typeface="Arial"/>
                <a:ea typeface="Arial"/>
                <a:cs typeface="Arial"/>
                <a:sym typeface="Arial"/>
              </a:rPr>
              <a:t> forwards almost at </a:t>
            </a:r>
            <a:r>
              <a:rPr b="1" lang="en-AU" sz="3200">
                <a:latin typeface="Arial"/>
                <a:ea typeface="Arial"/>
                <a:cs typeface="Arial"/>
                <a:sym typeface="Arial"/>
              </a:rPr>
              <a:t>right angle </a:t>
            </a:r>
            <a:r>
              <a:rPr lang="en-AU" sz="3200">
                <a:latin typeface="Arial"/>
                <a:ea typeface="Arial"/>
                <a:cs typeface="Arial"/>
                <a:sym typeface="Arial"/>
              </a:rPr>
              <a:t>from the </a:t>
            </a:r>
            <a:r>
              <a:rPr b="1" lang="en-AU" sz="3200">
                <a:latin typeface="Arial"/>
                <a:ea typeface="Arial"/>
                <a:cs typeface="Arial"/>
                <a:sym typeface="Arial"/>
              </a:rPr>
              <a:t>lateral end of spine </a:t>
            </a:r>
            <a:r>
              <a:rPr lang="en-AU" sz="3200">
                <a:latin typeface="Arial"/>
                <a:ea typeface="Arial"/>
                <a:cs typeface="Arial"/>
                <a:sym typeface="Arial"/>
              </a:rPr>
              <a:t>and overhangs the </a:t>
            </a:r>
            <a:r>
              <a:rPr b="1" lang="en-AU" sz="3200">
                <a:latin typeface="Arial"/>
                <a:ea typeface="Arial"/>
                <a:cs typeface="Arial"/>
                <a:sym typeface="Arial"/>
              </a:rPr>
              <a:t>glenoid cavity</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It has a </a:t>
            </a:r>
            <a:r>
              <a:rPr b="1" lang="en-AU" sz="3200">
                <a:latin typeface="Arial"/>
                <a:ea typeface="Arial"/>
                <a:cs typeface="Arial"/>
                <a:sym typeface="Arial"/>
              </a:rPr>
              <a:t>tip</a:t>
            </a:r>
            <a:r>
              <a:rPr lang="en-AU" sz="3200">
                <a:latin typeface="Arial"/>
                <a:ea typeface="Arial"/>
                <a:cs typeface="Arial"/>
                <a:sym typeface="Arial"/>
              </a:rPr>
              <a:t>, </a:t>
            </a:r>
            <a:r>
              <a:rPr b="1" lang="en-AU" sz="3200">
                <a:latin typeface="Arial"/>
                <a:ea typeface="Arial"/>
                <a:cs typeface="Arial"/>
                <a:sym typeface="Arial"/>
              </a:rPr>
              <a:t>two borders </a:t>
            </a:r>
            <a:r>
              <a:rPr lang="en-AU" sz="3200">
                <a:latin typeface="Arial"/>
                <a:ea typeface="Arial"/>
                <a:cs typeface="Arial"/>
                <a:sym typeface="Arial"/>
              </a:rPr>
              <a:t>(</a:t>
            </a:r>
            <a:r>
              <a:rPr b="1" lang="en-AU" sz="3200">
                <a:latin typeface="Arial"/>
                <a:ea typeface="Arial"/>
                <a:cs typeface="Arial"/>
                <a:sym typeface="Arial"/>
              </a:rPr>
              <a:t>medial</a:t>
            </a:r>
            <a:r>
              <a:rPr lang="en-AU" sz="3200">
                <a:latin typeface="Arial"/>
                <a:ea typeface="Arial"/>
                <a:cs typeface="Arial"/>
                <a:sym typeface="Arial"/>
              </a:rPr>
              <a:t> and </a:t>
            </a:r>
            <a:r>
              <a:rPr b="1" lang="en-AU" sz="3200">
                <a:latin typeface="Arial"/>
                <a:ea typeface="Arial"/>
                <a:cs typeface="Arial"/>
                <a:sym typeface="Arial"/>
              </a:rPr>
              <a:t>lateral</a:t>
            </a:r>
            <a:r>
              <a:rPr lang="en-AU" sz="3200">
                <a:latin typeface="Arial"/>
                <a:ea typeface="Arial"/>
                <a:cs typeface="Arial"/>
                <a:sym typeface="Arial"/>
              </a:rPr>
              <a:t>), and </a:t>
            </a:r>
            <a:r>
              <a:rPr b="1" lang="en-AU" sz="3200">
                <a:latin typeface="Arial"/>
                <a:ea typeface="Arial"/>
                <a:cs typeface="Arial"/>
                <a:sym typeface="Arial"/>
              </a:rPr>
              <a:t>two surfaces </a:t>
            </a:r>
            <a:r>
              <a:rPr lang="en-AU" sz="3200">
                <a:latin typeface="Arial"/>
                <a:ea typeface="Arial"/>
                <a:cs typeface="Arial"/>
                <a:sym typeface="Arial"/>
              </a:rPr>
              <a:t>(</a:t>
            </a:r>
            <a:r>
              <a:rPr b="1" lang="en-AU" sz="3200">
                <a:latin typeface="Arial"/>
                <a:ea typeface="Arial"/>
                <a:cs typeface="Arial"/>
                <a:sym typeface="Arial"/>
              </a:rPr>
              <a:t>superior</a:t>
            </a:r>
            <a:r>
              <a:rPr lang="en-AU" sz="3200">
                <a:latin typeface="Arial"/>
                <a:ea typeface="Arial"/>
                <a:cs typeface="Arial"/>
                <a:sym typeface="Arial"/>
              </a:rPr>
              <a:t> and </a:t>
            </a:r>
            <a:r>
              <a:rPr b="1" lang="en-AU" sz="3200">
                <a:latin typeface="Arial"/>
                <a:ea typeface="Arial"/>
                <a:cs typeface="Arial"/>
                <a:sym typeface="Arial"/>
              </a:rPr>
              <a:t>inferior</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medial and lateral borders of acromion </a:t>
            </a:r>
            <a:r>
              <a:rPr lang="en-AU" sz="3200">
                <a:latin typeface="Arial"/>
                <a:ea typeface="Arial"/>
                <a:cs typeface="Arial"/>
                <a:sym typeface="Arial"/>
              </a:rPr>
              <a:t>continue with the </a:t>
            </a:r>
            <a:r>
              <a:rPr b="1" lang="en-AU" sz="3200">
                <a:latin typeface="Arial"/>
                <a:ea typeface="Arial"/>
                <a:cs typeface="Arial"/>
                <a:sym typeface="Arial"/>
              </a:rPr>
              <a:t>upper and lower lips of the crest </a:t>
            </a:r>
            <a:r>
              <a:rPr lang="en-AU" sz="3200">
                <a:latin typeface="Arial"/>
                <a:ea typeface="Arial"/>
                <a:cs typeface="Arial"/>
                <a:sym typeface="Arial"/>
              </a:rPr>
              <a:t>of the </a:t>
            </a:r>
            <a:r>
              <a:rPr b="1" lang="en-AU" sz="3200">
                <a:latin typeface="Arial"/>
                <a:ea typeface="Arial"/>
                <a:cs typeface="Arial"/>
                <a:sym typeface="Arial"/>
              </a:rPr>
              <a:t>spine of scapula</a:t>
            </a:r>
            <a:r>
              <a:rPr lang="en-AU" sz="3200">
                <a:latin typeface="Arial"/>
                <a:ea typeface="Arial"/>
                <a:cs typeface="Arial"/>
                <a:sym typeface="Arial"/>
              </a:rPr>
              <a:t>, respectively.</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Its </a:t>
            </a:r>
            <a:r>
              <a:rPr b="1" lang="en-AU" sz="3200">
                <a:latin typeface="Arial"/>
                <a:ea typeface="Arial"/>
                <a:cs typeface="Arial"/>
                <a:sym typeface="Arial"/>
              </a:rPr>
              <a:t>superior surface </a:t>
            </a:r>
            <a:r>
              <a:rPr lang="en-AU" sz="3200">
                <a:latin typeface="Arial"/>
                <a:ea typeface="Arial"/>
                <a:cs typeface="Arial"/>
                <a:sym typeface="Arial"/>
              </a:rPr>
              <a:t>is </a:t>
            </a:r>
            <a:r>
              <a:rPr b="1" lang="en-AU" sz="3200">
                <a:latin typeface="Arial"/>
                <a:ea typeface="Arial"/>
                <a:cs typeface="Arial"/>
                <a:sym typeface="Arial"/>
              </a:rPr>
              <a:t>rough and subcutaneous</a:t>
            </a:r>
            <a:r>
              <a:rPr lang="en-AU" sz="3200">
                <a:latin typeface="Arial"/>
                <a:ea typeface="Arial"/>
                <a:cs typeface="Arial"/>
                <a:sym typeface="Arial"/>
              </a:rPr>
              <a:t>.</a:t>
            </a:r>
            <a:endParaRPr sz="3200">
              <a:latin typeface="Arial"/>
              <a:ea typeface="Arial"/>
              <a:cs typeface="Arial"/>
              <a:sym typeface="Arial"/>
            </a:endParaRPr>
          </a:p>
        </p:txBody>
      </p:sp>
      <p:sp>
        <p:nvSpPr>
          <p:cNvPr id="248" name="Google Shape;24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type="title"/>
          </p:nvPr>
        </p:nvSpPr>
        <p:spPr>
          <a:xfrm>
            <a:off x="457200" y="-142900"/>
            <a:ext cx="8229600" cy="64294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Black"/>
              <a:buNone/>
            </a:pPr>
            <a:r>
              <a:rPr lang="en-AU" sz="4400">
                <a:latin typeface="Arial Black"/>
                <a:ea typeface="Arial Black"/>
                <a:cs typeface="Arial Black"/>
                <a:sym typeface="Arial Black"/>
              </a:rPr>
              <a:t>Cont’d</a:t>
            </a:r>
            <a:endParaRPr sz="4400">
              <a:latin typeface="Arial Black"/>
              <a:ea typeface="Arial Black"/>
              <a:cs typeface="Arial Black"/>
              <a:sym typeface="Arial Black"/>
            </a:endParaRPr>
          </a:p>
        </p:txBody>
      </p:sp>
      <p:sp>
        <p:nvSpPr>
          <p:cNvPr id="254" name="Google Shape;254;p24"/>
          <p:cNvSpPr txBox="1"/>
          <p:nvPr>
            <p:ph idx="1" type="body"/>
          </p:nvPr>
        </p:nvSpPr>
        <p:spPr>
          <a:xfrm>
            <a:off x="214282" y="285728"/>
            <a:ext cx="8643998" cy="6357982"/>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Its </a:t>
            </a:r>
            <a:r>
              <a:rPr b="1" lang="en-AU" sz="3200">
                <a:latin typeface="Arial"/>
                <a:ea typeface="Arial"/>
                <a:cs typeface="Arial"/>
                <a:sym typeface="Arial"/>
              </a:rPr>
              <a:t>inferior surface </a:t>
            </a:r>
            <a:r>
              <a:rPr lang="en-AU" sz="3200">
                <a:latin typeface="Arial"/>
                <a:ea typeface="Arial"/>
                <a:cs typeface="Arial"/>
                <a:sym typeface="Arial"/>
              </a:rPr>
              <a:t>is </a:t>
            </a:r>
            <a:r>
              <a:rPr b="1" lang="en-AU" sz="3200">
                <a:latin typeface="Arial"/>
                <a:ea typeface="Arial"/>
                <a:cs typeface="Arial"/>
                <a:sym typeface="Arial"/>
              </a:rPr>
              <a:t>smooth</a:t>
            </a:r>
            <a:r>
              <a:rPr lang="en-AU" sz="3200">
                <a:latin typeface="Arial"/>
                <a:ea typeface="Arial"/>
                <a:cs typeface="Arial"/>
                <a:sym typeface="Arial"/>
              </a:rPr>
              <a:t> and related to </a:t>
            </a:r>
            <a:r>
              <a:rPr b="1" lang="en-AU" sz="3200">
                <a:latin typeface="Arial"/>
                <a:ea typeface="Arial"/>
                <a:cs typeface="Arial"/>
                <a:sym typeface="Arial"/>
              </a:rPr>
              <a:t>subacromial bursa</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medial border </a:t>
            </a:r>
            <a:r>
              <a:rPr lang="en-AU" sz="3200">
                <a:latin typeface="Arial"/>
                <a:ea typeface="Arial"/>
                <a:cs typeface="Arial"/>
                <a:sym typeface="Arial"/>
              </a:rPr>
              <a:t>of </a:t>
            </a:r>
            <a:r>
              <a:rPr b="1" lang="en-AU" sz="3200">
                <a:latin typeface="Arial"/>
                <a:ea typeface="Arial"/>
                <a:cs typeface="Arial"/>
                <a:sym typeface="Arial"/>
              </a:rPr>
              <a:t>acromion</a:t>
            </a:r>
            <a:r>
              <a:rPr lang="en-AU" sz="3200">
                <a:latin typeface="Arial"/>
                <a:ea typeface="Arial"/>
                <a:cs typeface="Arial"/>
                <a:sym typeface="Arial"/>
              </a:rPr>
              <a:t> provides insertion to the </a:t>
            </a:r>
            <a:r>
              <a:rPr b="1" lang="en-AU" sz="3200">
                <a:latin typeface="Arial"/>
                <a:ea typeface="Arial"/>
                <a:cs typeface="Arial"/>
                <a:sym typeface="Arial"/>
              </a:rPr>
              <a:t>trapezius muscle</a:t>
            </a:r>
            <a:r>
              <a:rPr lang="en-AU" sz="3200">
                <a:latin typeface="Arial"/>
                <a:ea typeface="Arial"/>
                <a:cs typeface="Arial"/>
                <a:sym typeface="Arial"/>
              </a:rPr>
              <a:t>. Near the tip, </a:t>
            </a:r>
            <a:r>
              <a:rPr b="1" lang="en-AU" sz="3200">
                <a:latin typeface="Arial"/>
                <a:ea typeface="Arial"/>
                <a:cs typeface="Arial"/>
                <a:sym typeface="Arial"/>
              </a:rPr>
              <a:t>medial border </a:t>
            </a:r>
            <a:r>
              <a:rPr lang="en-AU" sz="3200">
                <a:latin typeface="Arial"/>
                <a:ea typeface="Arial"/>
                <a:cs typeface="Arial"/>
                <a:sym typeface="Arial"/>
              </a:rPr>
              <a:t>presents a </a:t>
            </a:r>
            <a:r>
              <a:rPr b="1" lang="en-AU" sz="3200">
                <a:latin typeface="Arial"/>
                <a:ea typeface="Arial"/>
                <a:cs typeface="Arial"/>
                <a:sym typeface="Arial"/>
              </a:rPr>
              <a:t>circular facet</a:t>
            </a:r>
            <a:r>
              <a:rPr lang="en-AU" sz="3200">
                <a:latin typeface="Arial"/>
                <a:ea typeface="Arial"/>
                <a:cs typeface="Arial"/>
                <a:sym typeface="Arial"/>
              </a:rPr>
              <a:t>, which </a:t>
            </a:r>
            <a:r>
              <a:rPr b="1" lang="en-AU" sz="3200">
                <a:latin typeface="Arial"/>
                <a:ea typeface="Arial"/>
                <a:cs typeface="Arial"/>
                <a:sym typeface="Arial"/>
              </a:rPr>
              <a:t>articulates</a:t>
            </a:r>
            <a:r>
              <a:rPr lang="en-AU" sz="3200">
                <a:latin typeface="Arial"/>
                <a:ea typeface="Arial"/>
                <a:cs typeface="Arial"/>
                <a:sym typeface="Arial"/>
              </a:rPr>
              <a:t> with the </a:t>
            </a:r>
            <a:r>
              <a:rPr b="1" lang="en-AU" sz="3200">
                <a:latin typeface="Arial"/>
                <a:ea typeface="Arial"/>
                <a:cs typeface="Arial"/>
                <a:sym typeface="Arial"/>
              </a:rPr>
              <a:t>lateral end </a:t>
            </a:r>
            <a:r>
              <a:rPr lang="en-AU" sz="3200">
                <a:latin typeface="Arial"/>
                <a:ea typeface="Arial"/>
                <a:cs typeface="Arial"/>
                <a:sym typeface="Arial"/>
              </a:rPr>
              <a:t>of </a:t>
            </a:r>
            <a:r>
              <a:rPr b="1" lang="en-AU" sz="3200">
                <a:latin typeface="Arial"/>
                <a:ea typeface="Arial"/>
                <a:cs typeface="Arial"/>
                <a:sym typeface="Arial"/>
              </a:rPr>
              <a:t>clavicle </a:t>
            </a:r>
            <a:r>
              <a:rPr lang="en-AU" sz="3200">
                <a:latin typeface="Arial"/>
                <a:ea typeface="Arial"/>
                <a:cs typeface="Arial"/>
                <a:sym typeface="Arial"/>
              </a:rPr>
              <a:t>to form the </a:t>
            </a:r>
            <a:r>
              <a:rPr b="1" lang="en-AU" sz="3200">
                <a:latin typeface="Arial"/>
                <a:ea typeface="Arial"/>
                <a:cs typeface="Arial"/>
                <a:sym typeface="Arial"/>
              </a:rPr>
              <a:t>acromioclavicular joint</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lateral border </a:t>
            </a:r>
            <a:r>
              <a:rPr lang="en-AU" sz="3200">
                <a:latin typeface="Arial"/>
                <a:ea typeface="Arial"/>
                <a:cs typeface="Arial"/>
                <a:sym typeface="Arial"/>
              </a:rPr>
              <a:t>of </a:t>
            </a:r>
            <a:r>
              <a:rPr b="1" lang="en-AU" sz="3200">
                <a:latin typeface="Arial"/>
                <a:ea typeface="Arial"/>
                <a:cs typeface="Arial"/>
                <a:sym typeface="Arial"/>
              </a:rPr>
              <a:t>acromion</a:t>
            </a:r>
            <a:r>
              <a:rPr lang="en-AU" sz="3200">
                <a:latin typeface="Arial"/>
                <a:ea typeface="Arial"/>
                <a:cs typeface="Arial"/>
                <a:sym typeface="Arial"/>
              </a:rPr>
              <a:t> gives origin to </a:t>
            </a:r>
            <a:r>
              <a:rPr b="1" lang="en-AU" sz="3200">
                <a:latin typeface="Arial"/>
                <a:ea typeface="Arial"/>
                <a:cs typeface="Arial"/>
                <a:sym typeface="Arial"/>
              </a:rPr>
              <a:t>intermediate fibres </a:t>
            </a:r>
            <a:r>
              <a:rPr lang="en-AU" sz="3200">
                <a:latin typeface="Arial"/>
                <a:ea typeface="Arial"/>
                <a:cs typeface="Arial"/>
                <a:sym typeface="Arial"/>
              </a:rPr>
              <a:t>of the </a:t>
            </a:r>
            <a:r>
              <a:rPr b="1" lang="en-AU" sz="3200">
                <a:latin typeface="Arial"/>
                <a:ea typeface="Arial"/>
                <a:cs typeface="Arial"/>
                <a:sym typeface="Arial"/>
              </a:rPr>
              <a:t>deltoid muscle</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coracoacromial ligament </a:t>
            </a:r>
            <a:r>
              <a:rPr lang="en-AU" sz="3200">
                <a:latin typeface="Arial"/>
                <a:ea typeface="Arial"/>
                <a:cs typeface="Arial"/>
                <a:sym typeface="Arial"/>
              </a:rPr>
              <a:t>is attached to the </a:t>
            </a:r>
            <a:r>
              <a:rPr b="1" lang="en-AU" sz="3200">
                <a:latin typeface="Arial"/>
                <a:ea typeface="Arial"/>
                <a:cs typeface="Arial"/>
                <a:sym typeface="Arial"/>
              </a:rPr>
              <a:t>tip of acromion</a:t>
            </a:r>
            <a:r>
              <a:rPr lang="en-AU" sz="3200">
                <a:latin typeface="Arial"/>
                <a:ea typeface="Arial"/>
                <a:cs typeface="Arial"/>
                <a:sym typeface="Arial"/>
              </a:rPr>
              <a:t>.</a:t>
            </a:r>
            <a:endParaRPr/>
          </a:p>
        </p:txBody>
      </p:sp>
      <p:sp>
        <p:nvSpPr>
          <p:cNvPr id="255" name="Google Shape;255;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5"/>
          <p:cNvSpPr txBox="1"/>
          <p:nvPr>
            <p:ph type="title"/>
          </p:nvPr>
        </p:nvSpPr>
        <p:spPr>
          <a:xfrm>
            <a:off x="457200" y="285728"/>
            <a:ext cx="8229600" cy="78581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Cont’d</a:t>
            </a:r>
            <a:endParaRPr sz="4400">
              <a:latin typeface="Arial Black"/>
              <a:ea typeface="Arial Black"/>
              <a:cs typeface="Arial Black"/>
              <a:sym typeface="Arial Black"/>
            </a:endParaRPr>
          </a:p>
        </p:txBody>
      </p:sp>
      <p:sp>
        <p:nvSpPr>
          <p:cNvPr id="261" name="Google Shape;261;p25"/>
          <p:cNvSpPr txBox="1"/>
          <p:nvPr>
            <p:ph idx="1" type="body"/>
          </p:nvPr>
        </p:nvSpPr>
        <p:spPr>
          <a:xfrm>
            <a:off x="457200" y="1357298"/>
            <a:ext cx="8229600" cy="4967302"/>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acromial angle </a:t>
            </a:r>
            <a:r>
              <a:rPr lang="en-AU" sz="3200">
                <a:latin typeface="Arial"/>
                <a:ea typeface="Arial"/>
                <a:cs typeface="Arial"/>
                <a:sym typeface="Arial"/>
              </a:rPr>
              <a:t>is at the</a:t>
            </a:r>
            <a:r>
              <a:rPr b="1" lang="en-AU" sz="3200">
                <a:latin typeface="Arial"/>
                <a:ea typeface="Arial"/>
                <a:cs typeface="Arial"/>
                <a:sym typeface="Arial"/>
              </a:rPr>
              <a:t> junction </a:t>
            </a:r>
            <a:r>
              <a:rPr lang="en-AU" sz="3200">
                <a:latin typeface="Arial"/>
                <a:ea typeface="Arial"/>
                <a:cs typeface="Arial"/>
                <a:sym typeface="Arial"/>
              </a:rPr>
              <a:t>of </a:t>
            </a:r>
            <a:r>
              <a:rPr b="1" lang="en-AU" sz="3200">
                <a:latin typeface="Arial"/>
                <a:ea typeface="Arial"/>
                <a:cs typeface="Arial"/>
                <a:sym typeface="Arial"/>
              </a:rPr>
              <a:t>lateral border </a:t>
            </a:r>
            <a:r>
              <a:rPr lang="en-AU" sz="3200">
                <a:latin typeface="Arial"/>
                <a:ea typeface="Arial"/>
                <a:cs typeface="Arial"/>
                <a:sym typeface="Arial"/>
              </a:rPr>
              <a:t>of </a:t>
            </a:r>
            <a:r>
              <a:rPr b="1" lang="en-AU" sz="3200">
                <a:latin typeface="Arial"/>
                <a:ea typeface="Arial"/>
                <a:cs typeface="Arial"/>
                <a:sym typeface="Arial"/>
              </a:rPr>
              <a:t>acromion</a:t>
            </a:r>
            <a:r>
              <a:rPr lang="en-AU" sz="3200">
                <a:latin typeface="Arial"/>
                <a:ea typeface="Arial"/>
                <a:cs typeface="Arial"/>
                <a:sym typeface="Arial"/>
              </a:rPr>
              <a:t> and </a:t>
            </a:r>
            <a:r>
              <a:rPr b="1" lang="en-AU" sz="3200">
                <a:latin typeface="Arial"/>
                <a:ea typeface="Arial"/>
                <a:cs typeface="Arial"/>
                <a:sym typeface="Arial"/>
              </a:rPr>
              <a:t>lateral border </a:t>
            </a:r>
            <a:r>
              <a:rPr lang="en-AU" sz="3200">
                <a:latin typeface="Arial"/>
                <a:ea typeface="Arial"/>
                <a:cs typeface="Arial"/>
                <a:sym typeface="Arial"/>
              </a:rPr>
              <a:t>of the </a:t>
            </a:r>
            <a:r>
              <a:rPr b="1" lang="en-AU" sz="3200">
                <a:latin typeface="Arial"/>
                <a:ea typeface="Arial"/>
                <a:cs typeface="Arial"/>
                <a:sym typeface="Arial"/>
              </a:rPr>
              <a:t>crest </a:t>
            </a:r>
            <a:r>
              <a:rPr lang="en-AU" sz="3200">
                <a:latin typeface="Arial"/>
                <a:ea typeface="Arial"/>
                <a:cs typeface="Arial"/>
                <a:sym typeface="Arial"/>
              </a:rPr>
              <a:t>of the </a:t>
            </a:r>
            <a:r>
              <a:rPr b="1" lang="en-AU" sz="3200">
                <a:latin typeface="Arial"/>
                <a:ea typeface="Arial"/>
                <a:cs typeface="Arial"/>
                <a:sym typeface="Arial"/>
              </a:rPr>
              <a:t>spine </a:t>
            </a:r>
            <a:r>
              <a:rPr lang="en-AU" sz="3200">
                <a:latin typeface="Arial"/>
                <a:ea typeface="Arial"/>
                <a:cs typeface="Arial"/>
                <a:sym typeface="Arial"/>
              </a:rPr>
              <a:t>of </a:t>
            </a:r>
            <a:r>
              <a:rPr b="1" lang="en-AU" sz="3200">
                <a:latin typeface="Arial"/>
                <a:ea typeface="Arial"/>
                <a:cs typeface="Arial"/>
                <a:sym typeface="Arial"/>
              </a:rPr>
              <a:t>scapula</a:t>
            </a:r>
            <a:r>
              <a:rPr lang="en-AU" sz="3200">
                <a:latin typeface="Arial"/>
                <a:ea typeface="Arial"/>
                <a:cs typeface="Arial"/>
                <a:sym typeface="Arial"/>
              </a:rPr>
              <a:t>.</a:t>
            </a:r>
            <a:endParaRPr/>
          </a:p>
          <a:p>
            <a:pPr indent="-139700" lvl="0" marL="342900" rtl="0" algn="just">
              <a:spcBef>
                <a:spcPts val="640"/>
              </a:spcBef>
              <a:spcAft>
                <a:spcPts val="0"/>
              </a:spcAft>
              <a:buClr>
                <a:schemeClr val="dk1"/>
              </a:buClr>
              <a:buSzPts val="3200"/>
              <a:buNone/>
            </a:pPr>
            <a:r>
              <a:t/>
            </a:r>
            <a:endParaRPr sz="3200">
              <a:latin typeface="Arial"/>
              <a:ea typeface="Arial"/>
              <a:cs typeface="Arial"/>
              <a:sym typeface="Arial"/>
            </a:endParaRPr>
          </a:p>
          <a:p>
            <a:pPr indent="-139700" lvl="0" marL="342900" rtl="0" algn="l">
              <a:spcBef>
                <a:spcPts val="640"/>
              </a:spcBef>
              <a:spcAft>
                <a:spcPts val="0"/>
              </a:spcAft>
              <a:buClr>
                <a:schemeClr val="dk1"/>
              </a:buClr>
              <a:buSzPts val="3200"/>
              <a:buNone/>
            </a:pPr>
            <a:r>
              <a:t/>
            </a:r>
            <a:endParaRPr/>
          </a:p>
        </p:txBody>
      </p:sp>
      <p:sp>
        <p:nvSpPr>
          <p:cNvPr id="262" name="Google Shape;26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6"/>
          <p:cNvSpPr txBox="1"/>
          <p:nvPr>
            <p:ph type="title"/>
          </p:nvPr>
        </p:nvSpPr>
        <p:spPr>
          <a:xfrm>
            <a:off x="457200" y="428604"/>
            <a:ext cx="8229600" cy="92869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a:latin typeface="Arial Black"/>
                <a:ea typeface="Arial Black"/>
                <a:cs typeface="Arial Black"/>
                <a:sym typeface="Arial Black"/>
              </a:rPr>
              <a:t>Coracoid process</a:t>
            </a:r>
            <a:endParaRPr>
              <a:latin typeface="Arial Black"/>
              <a:ea typeface="Arial Black"/>
              <a:cs typeface="Arial Black"/>
              <a:sym typeface="Arial Black"/>
            </a:endParaRPr>
          </a:p>
        </p:txBody>
      </p:sp>
      <p:sp>
        <p:nvSpPr>
          <p:cNvPr id="268" name="Google Shape;268;p26"/>
          <p:cNvSpPr txBox="1"/>
          <p:nvPr>
            <p:ph idx="1" type="body"/>
          </p:nvPr>
        </p:nvSpPr>
        <p:spPr>
          <a:xfrm>
            <a:off x="457200" y="1500174"/>
            <a:ext cx="8229600" cy="535782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It arises from the </a:t>
            </a:r>
            <a:r>
              <a:rPr b="1" lang="en-AU" sz="3200">
                <a:latin typeface="Arial"/>
                <a:ea typeface="Arial"/>
                <a:cs typeface="Arial"/>
                <a:sym typeface="Arial"/>
              </a:rPr>
              <a:t>upper part </a:t>
            </a:r>
            <a:r>
              <a:rPr lang="en-AU" sz="3200">
                <a:latin typeface="Arial"/>
                <a:ea typeface="Arial"/>
                <a:cs typeface="Arial"/>
                <a:sym typeface="Arial"/>
              </a:rPr>
              <a:t>of the </a:t>
            </a:r>
            <a:r>
              <a:rPr b="1" lang="en-AU" sz="3200">
                <a:latin typeface="Arial"/>
                <a:ea typeface="Arial"/>
                <a:cs typeface="Arial"/>
                <a:sym typeface="Arial"/>
              </a:rPr>
              <a:t>head</a:t>
            </a:r>
            <a:r>
              <a:rPr lang="en-AU" sz="3200">
                <a:latin typeface="Arial"/>
                <a:ea typeface="Arial"/>
                <a:cs typeface="Arial"/>
                <a:sym typeface="Arial"/>
              </a:rPr>
              <a:t> of </a:t>
            </a:r>
            <a:r>
              <a:rPr b="1" lang="en-AU" sz="3200">
                <a:latin typeface="Arial"/>
                <a:ea typeface="Arial"/>
                <a:cs typeface="Arial"/>
                <a:sym typeface="Arial"/>
              </a:rPr>
              <a:t>scapula</a:t>
            </a:r>
            <a:r>
              <a:rPr lang="en-AU" sz="3200">
                <a:latin typeface="Arial"/>
                <a:ea typeface="Arial"/>
                <a:cs typeface="Arial"/>
                <a:sym typeface="Arial"/>
              </a:rPr>
              <a:t> and </a:t>
            </a:r>
            <a:r>
              <a:rPr b="1" lang="en-AU" sz="3200">
                <a:latin typeface="Arial"/>
                <a:ea typeface="Arial"/>
                <a:cs typeface="Arial"/>
                <a:sym typeface="Arial"/>
              </a:rPr>
              <a:t>bent sharply </a:t>
            </a:r>
            <a:r>
              <a:rPr lang="en-AU" sz="3200">
                <a:latin typeface="Arial"/>
                <a:ea typeface="Arial"/>
                <a:cs typeface="Arial"/>
                <a:sym typeface="Arial"/>
              </a:rPr>
              <a:t>so as to </a:t>
            </a:r>
            <a:r>
              <a:rPr b="1" lang="en-AU" sz="3200">
                <a:latin typeface="Arial"/>
                <a:ea typeface="Arial"/>
                <a:cs typeface="Arial"/>
                <a:sym typeface="Arial"/>
              </a:rPr>
              <a:t>project forwards </a:t>
            </a:r>
            <a:r>
              <a:rPr lang="en-AU" sz="3200">
                <a:latin typeface="Arial"/>
                <a:ea typeface="Arial"/>
                <a:cs typeface="Arial"/>
                <a:sym typeface="Arial"/>
              </a:rPr>
              <a:t>and </a:t>
            </a:r>
            <a:r>
              <a:rPr b="1" lang="en-AU" sz="3200">
                <a:latin typeface="Arial"/>
                <a:ea typeface="Arial"/>
                <a:cs typeface="Arial"/>
                <a:sym typeface="Arial"/>
              </a:rPr>
              <a:t>slightly laterally</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coracoid process </a:t>
            </a:r>
            <a:r>
              <a:rPr lang="en-AU" sz="3200">
                <a:latin typeface="Arial"/>
                <a:ea typeface="Arial"/>
                <a:cs typeface="Arial"/>
                <a:sym typeface="Arial"/>
              </a:rPr>
              <a:t>provides attachment to </a:t>
            </a:r>
            <a:r>
              <a:rPr b="1" lang="en-AU" sz="3200">
                <a:latin typeface="Arial"/>
                <a:ea typeface="Arial"/>
                <a:cs typeface="Arial"/>
                <a:sym typeface="Arial"/>
              </a:rPr>
              <a:t>three muscles</a:t>
            </a:r>
            <a:r>
              <a:rPr lang="en-AU" sz="3200">
                <a:latin typeface="Arial"/>
                <a:ea typeface="Arial"/>
                <a:cs typeface="Arial"/>
                <a:sym typeface="Arial"/>
              </a:rPr>
              <a:t>-</a:t>
            </a:r>
            <a:r>
              <a:rPr b="1" lang="en-AU" sz="3200">
                <a:latin typeface="Arial"/>
                <a:ea typeface="Arial"/>
                <a:cs typeface="Arial"/>
                <a:sym typeface="Arial"/>
              </a:rPr>
              <a:t>short head </a:t>
            </a:r>
            <a:r>
              <a:rPr lang="en-AU" sz="3200">
                <a:latin typeface="Arial"/>
                <a:ea typeface="Arial"/>
                <a:cs typeface="Arial"/>
                <a:sym typeface="Arial"/>
              </a:rPr>
              <a:t>of </a:t>
            </a:r>
            <a:r>
              <a:rPr b="1" lang="en-AU" sz="3200">
                <a:latin typeface="Arial"/>
                <a:ea typeface="Arial"/>
                <a:cs typeface="Arial"/>
                <a:sym typeface="Arial"/>
              </a:rPr>
              <a:t>biceps brachii</a:t>
            </a:r>
            <a:r>
              <a:rPr lang="en-AU" sz="3200">
                <a:latin typeface="Arial"/>
                <a:ea typeface="Arial"/>
                <a:cs typeface="Arial"/>
                <a:sym typeface="Arial"/>
              </a:rPr>
              <a:t>, </a:t>
            </a:r>
            <a:r>
              <a:rPr b="1" lang="en-AU" sz="3200">
                <a:latin typeface="Arial"/>
                <a:ea typeface="Arial"/>
                <a:cs typeface="Arial"/>
                <a:sym typeface="Arial"/>
              </a:rPr>
              <a:t>coracobrachialis</a:t>
            </a:r>
            <a:r>
              <a:rPr lang="en-AU" sz="3200">
                <a:latin typeface="Arial"/>
                <a:ea typeface="Arial"/>
                <a:cs typeface="Arial"/>
                <a:sym typeface="Arial"/>
              </a:rPr>
              <a:t>, and </a:t>
            </a:r>
            <a:r>
              <a:rPr b="1" lang="en-AU" sz="3200">
                <a:latin typeface="Arial"/>
                <a:ea typeface="Arial"/>
                <a:cs typeface="Arial"/>
                <a:sym typeface="Arial"/>
              </a:rPr>
              <a:t>pectoralis minor</a:t>
            </a:r>
            <a:r>
              <a:rPr lang="en-AU" sz="3200">
                <a:latin typeface="Arial"/>
                <a:ea typeface="Arial"/>
                <a:cs typeface="Arial"/>
                <a:sym typeface="Arial"/>
              </a:rPr>
              <a:t>, and  </a:t>
            </a:r>
            <a:r>
              <a:rPr b="1" lang="en-AU" sz="3200">
                <a:latin typeface="Arial"/>
                <a:ea typeface="Arial"/>
                <a:cs typeface="Arial"/>
                <a:sym typeface="Arial"/>
              </a:rPr>
              <a:t>three ligaments</a:t>
            </a:r>
            <a:r>
              <a:rPr lang="en-AU" sz="3200">
                <a:latin typeface="Arial"/>
                <a:ea typeface="Arial"/>
                <a:cs typeface="Arial"/>
                <a:sym typeface="Arial"/>
              </a:rPr>
              <a:t>-</a:t>
            </a:r>
            <a:r>
              <a:rPr b="1" lang="en-AU" sz="3200">
                <a:latin typeface="Arial"/>
                <a:ea typeface="Arial"/>
                <a:cs typeface="Arial"/>
                <a:sym typeface="Arial"/>
              </a:rPr>
              <a:t>coracoacromial</a:t>
            </a:r>
            <a:r>
              <a:rPr lang="en-AU" sz="3200">
                <a:latin typeface="Arial"/>
                <a:ea typeface="Arial"/>
                <a:cs typeface="Arial"/>
                <a:sym typeface="Arial"/>
              </a:rPr>
              <a:t>, </a:t>
            </a:r>
            <a:r>
              <a:rPr b="1" lang="en-AU" sz="3200">
                <a:latin typeface="Arial"/>
                <a:ea typeface="Arial"/>
                <a:cs typeface="Arial"/>
                <a:sym typeface="Arial"/>
              </a:rPr>
              <a:t>coracoclavicular</a:t>
            </a:r>
            <a:r>
              <a:rPr lang="en-AU" sz="3200">
                <a:latin typeface="Arial"/>
                <a:ea typeface="Arial"/>
                <a:cs typeface="Arial"/>
                <a:sym typeface="Arial"/>
              </a:rPr>
              <a:t>, and </a:t>
            </a:r>
            <a:r>
              <a:rPr b="1" lang="en-AU" sz="3200">
                <a:latin typeface="Arial"/>
                <a:ea typeface="Arial"/>
                <a:cs typeface="Arial"/>
                <a:sym typeface="Arial"/>
              </a:rPr>
              <a:t>coracohumeral</a:t>
            </a:r>
            <a:r>
              <a:rPr lang="en-AU" sz="3200">
                <a:latin typeface="Arial"/>
                <a:ea typeface="Arial"/>
                <a:cs typeface="Arial"/>
                <a:sym typeface="Arial"/>
              </a:rPr>
              <a:t>.</a:t>
            </a:r>
            <a:endParaRPr sz="3200">
              <a:latin typeface="Arial"/>
              <a:ea typeface="Arial"/>
              <a:cs typeface="Arial"/>
              <a:sym typeface="Arial"/>
            </a:endParaRPr>
          </a:p>
        </p:txBody>
      </p:sp>
      <p:sp>
        <p:nvSpPr>
          <p:cNvPr id="269" name="Google Shape;26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7"/>
          <p:cNvSpPr txBox="1"/>
          <p:nvPr>
            <p:ph type="title"/>
          </p:nvPr>
        </p:nvSpPr>
        <p:spPr>
          <a:xfrm>
            <a:off x="457200" y="285728"/>
            <a:ext cx="8229600" cy="85725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Cont’d</a:t>
            </a:r>
            <a:endParaRPr sz="4400">
              <a:latin typeface="Arial Black"/>
              <a:ea typeface="Arial Black"/>
              <a:cs typeface="Arial Black"/>
              <a:sym typeface="Arial Black"/>
            </a:endParaRPr>
          </a:p>
        </p:txBody>
      </p:sp>
      <p:sp>
        <p:nvSpPr>
          <p:cNvPr id="275" name="Google Shape;275;p27"/>
          <p:cNvSpPr txBox="1"/>
          <p:nvPr>
            <p:ph idx="1" type="body"/>
          </p:nvPr>
        </p:nvSpPr>
        <p:spPr>
          <a:xfrm>
            <a:off x="0" y="1000108"/>
            <a:ext cx="9001156" cy="5857892"/>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short head </a:t>
            </a:r>
            <a:r>
              <a:rPr lang="en-AU" sz="3200">
                <a:latin typeface="Arial"/>
                <a:ea typeface="Arial"/>
                <a:cs typeface="Arial"/>
                <a:sym typeface="Arial"/>
              </a:rPr>
              <a:t>of </a:t>
            </a:r>
            <a:r>
              <a:rPr b="1" lang="en-AU" sz="3200">
                <a:latin typeface="Arial"/>
                <a:ea typeface="Arial"/>
                <a:cs typeface="Arial"/>
                <a:sym typeface="Arial"/>
              </a:rPr>
              <a:t>biceps brachii </a:t>
            </a:r>
            <a:r>
              <a:rPr lang="en-AU" sz="3200">
                <a:latin typeface="Arial"/>
                <a:ea typeface="Arial"/>
                <a:cs typeface="Arial"/>
                <a:sym typeface="Arial"/>
              </a:rPr>
              <a:t>and </a:t>
            </a:r>
            <a:r>
              <a:rPr b="1" lang="en-AU" sz="3200">
                <a:latin typeface="Arial"/>
                <a:ea typeface="Arial"/>
                <a:cs typeface="Arial"/>
                <a:sym typeface="Arial"/>
              </a:rPr>
              <a:t>coracobrachialis</a:t>
            </a:r>
            <a:r>
              <a:rPr lang="en-AU" sz="3200">
                <a:latin typeface="Arial"/>
                <a:ea typeface="Arial"/>
                <a:cs typeface="Arial"/>
                <a:sym typeface="Arial"/>
              </a:rPr>
              <a:t> arise from its </a:t>
            </a:r>
            <a:r>
              <a:rPr b="1" lang="en-AU" sz="3200">
                <a:latin typeface="Arial"/>
                <a:ea typeface="Arial"/>
                <a:cs typeface="Arial"/>
                <a:sym typeface="Arial"/>
              </a:rPr>
              <a:t>tip</a:t>
            </a:r>
            <a:r>
              <a:rPr lang="en-AU" sz="3200">
                <a:latin typeface="Arial"/>
                <a:ea typeface="Arial"/>
                <a:cs typeface="Arial"/>
                <a:sym typeface="Arial"/>
              </a:rPr>
              <a:t> by a </a:t>
            </a:r>
            <a:r>
              <a:rPr b="1" lang="en-AU" sz="3200">
                <a:latin typeface="Arial"/>
                <a:ea typeface="Arial"/>
                <a:cs typeface="Arial"/>
                <a:sym typeface="Arial"/>
              </a:rPr>
              <a:t>common tendon</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pectoralis minor muscle </a:t>
            </a:r>
            <a:r>
              <a:rPr lang="en-AU" sz="3200">
                <a:latin typeface="Arial"/>
                <a:ea typeface="Arial"/>
                <a:cs typeface="Arial"/>
                <a:sym typeface="Arial"/>
              </a:rPr>
              <a:t>is inserted on the </a:t>
            </a:r>
            <a:r>
              <a:rPr b="1" lang="en-AU" sz="3200">
                <a:latin typeface="Arial"/>
                <a:ea typeface="Arial"/>
                <a:cs typeface="Arial"/>
                <a:sym typeface="Arial"/>
              </a:rPr>
              <a:t>medial border </a:t>
            </a:r>
            <a:r>
              <a:rPr lang="en-AU" sz="3200">
                <a:latin typeface="Arial"/>
                <a:ea typeface="Arial"/>
                <a:cs typeface="Arial"/>
                <a:sym typeface="Arial"/>
              </a:rPr>
              <a:t>of the </a:t>
            </a:r>
            <a:r>
              <a:rPr b="1" lang="en-AU" sz="3200">
                <a:latin typeface="Arial"/>
                <a:ea typeface="Arial"/>
                <a:cs typeface="Arial"/>
                <a:sym typeface="Arial"/>
              </a:rPr>
              <a:t>upper surface</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coracoacromial ligament </a:t>
            </a:r>
            <a:r>
              <a:rPr lang="en-AU" sz="3200">
                <a:latin typeface="Arial"/>
                <a:ea typeface="Arial"/>
                <a:cs typeface="Arial"/>
                <a:sym typeface="Arial"/>
              </a:rPr>
              <a:t>is attached to its </a:t>
            </a:r>
            <a:r>
              <a:rPr b="1" lang="en-AU" sz="3200">
                <a:latin typeface="Arial"/>
                <a:ea typeface="Arial"/>
                <a:cs typeface="Arial"/>
                <a:sym typeface="Arial"/>
              </a:rPr>
              <a:t>lateral border</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conoid part </a:t>
            </a:r>
            <a:r>
              <a:rPr lang="en-AU" sz="3200">
                <a:latin typeface="Arial"/>
                <a:ea typeface="Arial"/>
                <a:cs typeface="Arial"/>
                <a:sym typeface="Arial"/>
              </a:rPr>
              <a:t>of the </a:t>
            </a:r>
            <a:r>
              <a:rPr b="1" lang="en-AU" sz="3200">
                <a:latin typeface="Arial"/>
                <a:ea typeface="Arial"/>
                <a:cs typeface="Arial"/>
                <a:sym typeface="Arial"/>
              </a:rPr>
              <a:t>coracoclavicular ligament </a:t>
            </a:r>
            <a:r>
              <a:rPr lang="en-AU" sz="3200">
                <a:latin typeface="Arial"/>
                <a:ea typeface="Arial"/>
                <a:cs typeface="Arial"/>
                <a:sym typeface="Arial"/>
              </a:rPr>
              <a:t>(rhomboid ligament) is </a:t>
            </a:r>
            <a:r>
              <a:rPr b="1" lang="en-AU" sz="3200">
                <a:latin typeface="Arial"/>
                <a:ea typeface="Arial"/>
                <a:cs typeface="Arial"/>
                <a:sym typeface="Arial"/>
              </a:rPr>
              <a:t>attached</a:t>
            </a:r>
            <a:r>
              <a:rPr lang="en-AU" sz="3200">
                <a:latin typeface="Arial"/>
                <a:ea typeface="Arial"/>
                <a:cs typeface="Arial"/>
                <a:sym typeface="Arial"/>
              </a:rPr>
              <a:t> to its </a:t>
            </a:r>
            <a:r>
              <a:rPr b="1" lang="en-AU" sz="3200">
                <a:latin typeface="Arial"/>
                <a:ea typeface="Arial"/>
                <a:cs typeface="Arial"/>
                <a:sym typeface="Arial"/>
              </a:rPr>
              <a:t>knuckle</a:t>
            </a:r>
            <a:r>
              <a:rPr lang="en-AU" sz="3200">
                <a:latin typeface="Arial"/>
                <a:ea typeface="Arial"/>
                <a:cs typeface="Arial"/>
                <a:sym typeface="Arial"/>
              </a:rPr>
              <a:t>.</a:t>
            </a:r>
            <a:endParaRPr/>
          </a:p>
          <a:p>
            <a:pPr indent="-139700" lvl="0" marL="342900" rtl="0" algn="just">
              <a:spcBef>
                <a:spcPts val="640"/>
              </a:spcBef>
              <a:spcAft>
                <a:spcPts val="0"/>
              </a:spcAft>
              <a:buClr>
                <a:schemeClr val="dk1"/>
              </a:buClr>
              <a:buSzPts val="3200"/>
              <a:buNone/>
            </a:pPr>
            <a:r>
              <a:t/>
            </a:r>
            <a:endParaRPr sz="3200">
              <a:latin typeface="Arial"/>
              <a:ea typeface="Arial"/>
              <a:cs typeface="Arial"/>
              <a:sym typeface="Arial"/>
            </a:endParaRPr>
          </a:p>
        </p:txBody>
      </p:sp>
      <p:sp>
        <p:nvSpPr>
          <p:cNvPr id="276" name="Google Shape;27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8"/>
          <p:cNvSpPr txBox="1"/>
          <p:nvPr>
            <p:ph type="title"/>
          </p:nvPr>
        </p:nvSpPr>
        <p:spPr>
          <a:xfrm>
            <a:off x="457200" y="357166"/>
            <a:ext cx="8229600" cy="107157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Cont’d</a:t>
            </a:r>
            <a:endParaRPr sz="4400">
              <a:latin typeface="Arial Black"/>
              <a:ea typeface="Arial Black"/>
              <a:cs typeface="Arial Black"/>
              <a:sym typeface="Arial Black"/>
            </a:endParaRPr>
          </a:p>
        </p:txBody>
      </p:sp>
      <p:sp>
        <p:nvSpPr>
          <p:cNvPr id="282" name="Google Shape;282;p28"/>
          <p:cNvSpPr txBox="1"/>
          <p:nvPr>
            <p:ph idx="1" type="body"/>
          </p:nvPr>
        </p:nvSpPr>
        <p:spPr>
          <a:xfrm>
            <a:off x="457200" y="1643050"/>
            <a:ext cx="8229600" cy="500066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trapezoid part </a:t>
            </a:r>
            <a:r>
              <a:rPr lang="en-AU" sz="3200">
                <a:latin typeface="Arial"/>
                <a:ea typeface="Arial"/>
                <a:cs typeface="Arial"/>
                <a:sym typeface="Arial"/>
              </a:rPr>
              <a:t>of the </a:t>
            </a:r>
            <a:r>
              <a:rPr b="1" lang="en-AU" sz="3200">
                <a:latin typeface="Arial"/>
                <a:ea typeface="Arial"/>
                <a:cs typeface="Arial"/>
                <a:sym typeface="Arial"/>
              </a:rPr>
              <a:t>coracoclavicular ligament </a:t>
            </a:r>
            <a:r>
              <a:rPr lang="en-AU" sz="3200">
                <a:latin typeface="Arial"/>
                <a:ea typeface="Arial"/>
                <a:cs typeface="Arial"/>
                <a:sym typeface="Arial"/>
              </a:rPr>
              <a:t>(rhomboid ligament) is attached to a ridge on its </a:t>
            </a:r>
            <a:r>
              <a:rPr b="1" lang="en-AU" sz="3200">
                <a:latin typeface="Arial"/>
                <a:ea typeface="Arial"/>
                <a:cs typeface="Arial"/>
                <a:sym typeface="Arial"/>
              </a:rPr>
              <a:t>superior aspect </a:t>
            </a:r>
            <a:r>
              <a:rPr lang="en-AU" sz="3200">
                <a:latin typeface="Arial"/>
                <a:ea typeface="Arial"/>
                <a:cs typeface="Arial"/>
                <a:sym typeface="Arial"/>
              </a:rPr>
              <a:t>between the </a:t>
            </a:r>
            <a:r>
              <a:rPr b="1" lang="en-AU" sz="3200">
                <a:latin typeface="Arial"/>
                <a:ea typeface="Arial"/>
                <a:cs typeface="Arial"/>
                <a:sym typeface="Arial"/>
              </a:rPr>
              <a:t>pectoralis minor muscle </a:t>
            </a:r>
            <a:r>
              <a:rPr lang="en-AU" sz="3200">
                <a:latin typeface="Arial"/>
                <a:ea typeface="Arial"/>
                <a:cs typeface="Arial"/>
                <a:sym typeface="Arial"/>
              </a:rPr>
              <a:t>and </a:t>
            </a:r>
            <a:r>
              <a:rPr b="1" lang="en-AU" sz="3200">
                <a:latin typeface="Arial"/>
                <a:ea typeface="Arial"/>
                <a:cs typeface="Arial"/>
                <a:sym typeface="Arial"/>
              </a:rPr>
              <a:t>coracoacromial ligament</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coracohumeral ligament </a:t>
            </a:r>
            <a:r>
              <a:rPr lang="en-AU" sz="3200">
                <a:latin typeface="Arial"/>
                <a:ea typeface="Arial"/>
                <a:cs typeface="Arial"/>
                <a:sym typeface="Arial"/>
              </a:rPr>
              <a:t>is attached to its </a:t>
            </a:r>
            <a:r>
              <a:rPr b="1" lang="en-AU" sz="3200">
                <a:latin typeface="Arial"/>
                <a:ea typeface="Arial"/>
                <a:cs typeface="Arial"/>
                <a:sym typeface="Arial"/>
              </a:rPr>
              <a:t>root </a:t>
            </a:r>
            <a:r>
              <a:rPr lang="en-AU" sz="3200">
                <a:latin typeface="Arial"/>
                <a:ea typeface="Arial"/>
                <a:cs typeface="Arial"/>
                <a:sym typeface="Arial"/>
              </a:rPr>
              <a:t>adjacent to the </a:t>
            </a:r>
            <a:r>
              <a:rPr b="1" lang="en-AU" sz="3200">
                <a:latin typeface="Arial"/>
                <a:ea typeface="Arial"/>
                <a:cs typeface="Arial"/>
                <a:sym typeface="Arial"/>
              </a:rPr>
              <a:t>glenoid cavity</a:t>
            </a:r>
            <a:r>
              <a:rPr lang="en-AU" sz="3200">
                <a:latin typeface="Arial"/>
                <a:ea typeface="Arial"/>
                <a:cs typeface="Arial"/>
                <a:sym typeface="Arial"/>
              </a:rPr>
              <a:t>.</a:t>
            </a:r>
            <a:endParaRPr sz="3200">
              <a:latin typeface="Arial"/>
              <a:ea typeface="Arial"/>
              <a:cs typeface="Arial"/>
              <a:sym typeface="Arial"/>
            </a:endParaRPr>
          </a:p>
        </p:txBody>
      </p:sp>
      <p:sp>
        <p:nvSpPr>
          <p:cNvPr id="283" name="Google Shape;28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9"/>
          <p:cNvSpPr txBox="1"/>
          <p:nvPr>
            <p:ph type="title"/>
          </p:nvPr>
        </p:nvSpPr>
        <p:spPr>
          <a:xfrm>
            <a:off x="457200" y="0"/>
            <a:ext cx="8229600" cy="8572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OSSIFICATION</a:t>
            </a:r>
            <a:endParaRPr sz="4400">
              <a:latin typeface="Arial Black"/>
              <a:ea typeface="Arial Black"/>
              <a:cs typeface="Arial Black"/>
              <a:sym typeface="Arial Black"/>
            </a:endParaRPr>
          </a:p>
        </p:txBody>
      </p:sp>
      <p:sp>
        <p:nvSpPr>
          <p:cNvPr id="289" name="Google Shape;289;p29"/>
          <p:cNvSpPr txBox="1"/>
          <p:nvPr>
            <p:ph idx="1" type="body"/>
          </p:nvPr>
        </p:nvSpPr>
        <p:spPr>
          <a:xfrm>
            <a:off x="214282" y="857232"/>
            <a:ext cx="8715436" cy="6572296"/>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000"/>
              <a:buChar char="•"/>
            </a:pPr>
            <a:r>
              <a:rPr lang="en-AU" sz="3000">
                <a:latin typeface="Arial"/>
                <a:ea typeface="Arial"/>
                <a:cs typeface="Arial"/>
                <a:sym typeface="Arial"/>
              </a:rPr>
              <a:t>The ossification of scapula is </a:t>
            </a:r>
            <a:r>
              <a:rPr b="1" lang="en-AU" sz="3000">
                <a:latin typeface="Arial"/>
                <a:ea typeface="Arial"/>
                <a:cs typeface="Arial"/>
                <a:sym typeface="Arial"/>
              </a:rPr>
              <a:t>cartilaginous</a:t>
            </a:r>
            <a:r>
              <a:rPr lang="en-AU" sz="3000">
                <a:latin typeface="Arial"/>
                <a:ea typeface="Arial"/>
                <a:cs typeface="Arial"/>
                <a:sym typeface="Arial"/>
              </a:rPr>
              <a:t>.</a:t>
            </a:r>
            <a:endParaRPr/>
          </a:p>
          <a:p>
            <a:pPr indent="-342900" lvl="0" marL="342900" rtl="0" algn="just">
              <a:spcBef>
                <a:spcPts val="600"/>
              </a:spcBef>
              <a:spcAft>
                <a:spcPts val="0"/>
              </a:spcAft>
              <a:buClr>
                <a:schemeClr val="dk1"/>
              </a:buClr>
              <a:buSzPts val="3000"/>
              <a:buChar char="•"/>
            </a:pPr>
            <a:r>
              <a:rPr lang="en-AU" sz="3000">
                <a:latin typeface="Arial"/>
                <a:ea typeface="Arial"/>
                <a:cs typeface="Arial"/>
                <a:sym typeface="Arial"/>
              </a:rPr>
              <a:t>The </a:t>
            </a:r>
            <a:r>
              <a:rPr b="1" lang="en-AU" sz="3000">
                <a:latin typeface="Arial"/>
                <a:ea typeface="Arial"/>
                <a:cs typeface="Arial"/>
                <a:sym typeface="Arial"/>
              </a:rPr>
              <a:t>cartilaginous scapula </a:t>
            </a:r>
            <a:r>
              <a:rPr lang="en-AU" sz="3000">
                <a:latin typeface="Arial"/>
                <a:ea typeface="Arial"/>
                <a:cs typeface="Arial"/>
                <a:sym typeface="Arial"/>
              </a:rPr>
              <a:t>is ossified by </a:t>
            </a:r>
            <a:r>
              <a:rPr b="1" lang="en-AU" sz="3000">
                <a:latin typeface="Arial"/>
                <a:ea typeface="Arial"/>
                <a:cs typeface="Arial"/>
                <a:sym typeface="Arial"/>
              </a:rPr>
              <a:t>eight centres</a:t>
            </a:r>
            <a:r>
              <a:rPr lang="en-AU" sz="3000">
                <a:latin typeface="Arial"/>
                <a:ea typeface="Arial"/>
                <a:cs typeface="Arial"/>
                <a:sym typeface="Arial"/>
              </a:rPr>
              <a:t>-</a:t>
            </a:r>
            <a:r>
              <a:rPr b="1" lang="en-AU" sz="3000">
                <a:latin typeface="Arial"/>
                <a:ea typeface="Arial"/>
                <a:cs typeface="Arial"/>
                <a:sym typeface="Arial"/>
              </a:rPr>
              <a:t>one primary </a:t>
            </a:r>
            <a:r>
              <a:rPr lang="en-AU" sz="3000">
                <a:latin typeface="Arial"/>
                <a:ea typeface="Arial"/>
                <a:cs typeface="Arial"/>
                <a:sym typeface="Arial"/>
              </a:rPr>
              <a:t>and </a:t>
            </a:r>
            <a:r>
              <a:rPr b="1" lang="en-AU" sz="3000">
                <a:latin typeface="Arial"/>
                <a:ea typeface="Arial"/>
                <a:cs typeface="Arial"/>
                <a:sym typeface="Arial"/>
              </a:rPr>
              <a:t>seven secondary</a:t>
            </a:r>
            <a:r>
              <a:rPr lang="en-AU" sz="3000">
                <a:latin typeface="Arial"/>
                <a:ea typeface="Arial"/>
                <a:cs typeface="Arial"/>
                <a:sym typeface="Arial"/>
              </a:rPr>
              <a:t>.</a:t>
            </a:r>
            <a:endParaRPr/>
          </a:p>
          <a:p>
            <a:pPr indent="-342900" lvl="0" marL="342900" rtl="0" algn="just">
              <a:spcBef>
                <a:spcPts val="600"/>
              </a:spcBef>
              <a:spcAft>
                <a:spcPts val="0"/>
              </a:spcAft>
              <a:buClr>
                <a:schemeClr val="dk1"/>
              </a:buClr>
              <a:buSzPts val="3000"/>
              <a:buChar char="•"/>
            </a:pPr>
            <a:r>
              <a:rPr lang="en-AU" sz="3000">
                <a:latin typeface="Arial"/>
                <a:ea typeface="Arial"/>
                <a:cs typeface="Arial"/>
                <a:sym typeface="Arial"/>
              </a:rPr>
              <a:t>The </a:t>
            </a:r>
            <a:r>
              <a:rPr b="1" lang="en-AU" sz="3000">
                <a:latin typeface="Arial"/>
                <a:ea typeface="Arial"/>
                <a:cs typeface="Arial"/>
                <a:sym typeface="Arial"/>
              </a:rPr>
              <a:t>primary centre </a:t>
            </a:r>
            <a:r>
              <a:rPr lang="en-AU" sz="3000">
                <a:latin typeface="Arial"/>
                <a:ea typeface="Arial"/>
                <a:cs typeface="Arial"/>
                <a:sym typeface="Arial"/>
              </a:rPr>
              <a:t>appears in the </a:t>
            </a:r>
            <a:r>
              <a:rPr b="1" lang="en-AU" sz="3000">
                <a:latin typeface="Arial"/>
                <a:ea typeface="Arial"/>
                <a:cs typeface="Arial"/>
                <a:sym typeface="Arial"/>
              </a:rPr>
              <a:t>body</a:t>
            </a:r>
            <a:r>
              <a:rPr lang="en-AU" sz="3000">
                <a:latin typeface="Arial"/>
                <a:ea typeface="Arial"/>
                <a:cs typeface="Arial"/>
                <a:sym typeface="Arial"/>
              </a:rPr>
              <a:t>.</a:t>
            </a:r>
            <a:endParaRPr/>
          </a:p>
          <a:p>
            <a:pPr indent="-342900" lvl="0" marL="342900" rtl="0" algn="just">
              <a:spcBef>
                <a:spcPts val="600"/>
              </a:spcBef>
              <a:spcAft>
                <a:spcPts val="0"/>
              </a:spcAft>
              <a:buClr>
                <a:schemeClr val="dk1"/>
              </a:buClr>
              <a:buSzPts val="3000"/>
              <a:buChar char="•"/>
            </a:pPr>
            <a:r>
              <a:rPr lang="en-AU" sz="3000">
                <a:latin typeface="Arial"/>
                <a:ea typeface="Arial"/>
                <a:cs typeface="Arial"/>
                <a:sym typeface="Arial"/>
              </a:rPr>
              <a:t>The </a:t>
            </a:r>
            <a:r>
              <a:rPr b="1" lang="en-AU" sz="3000">
                <a:latin typeface="Arial"/>
                <a:ea typeface="Arial"/>
                <a:cs typeface="Arial"/>
                <a:sym typeface="Arial"/>
              </a:rPr>
              <a:t>secondary centres </a:t>
            </a:r>
            <a:r>
              <a:rPr lang="en-AU" sz="3000">
                <a:latin typeface="Arial"/>
                <a:ea typeface="Arial"/>
                <a:cs typeface="Arial"/>
                <a:sym typeface="Arial"/>
              </a:rPr>
              <a:t>appear as follows:</a:t>
            </a:r>
            <a:endParaRPr/>
          </a:p>
          <a:p>
            <a:pPr indent="-342900" lvl="0" marL="342900" rtl="0" algn="just">
              <a:spcBef>
                <a:spcPts val="600"/>
              </a:spcBef>
              <a:spcAft>
                <a:spcPts val="0"/>
              </a:spcAft>
              <a:buClr>
                <a:schemeClr val="dk1"/>
              </a:buClr>
              <a:buSzPts val="3000"/>
              <a:buChar char="•"/>
            </a:pPr>
            <a:r>
              <a:rPr b="1" lang="en-AU" sz="3000">
                <a:latin typeface="Arial"/>
                <a:ea typeface="Arial"/>
                <a:cs typeface="Arial"/>
                <a:sym typeface="Arial"/>
              </a:rPr>
              <a:t>Two centres </a:t>
            </a:r>
            <a:r>
              <a:rPr lang="en-AU" sz="3000">
                <a:latin typeface="Arial"/>
                <a:ea typeface="Arial"/>
                <a:cs typeface="Arial"/>
                <a:sym typeface="Arial"/>
              </a:rPr>
              <a:t>appear in the </a:t>
            </a:r>
            <a:r>
              <a:rPr b="1" lang="en-AU" sz="3000">
                <a:latin typeface="Arial"/>
                <a:ea typeface="Arial"/>
                <a:cs typeface="Arial"/>
                <a:sym typeface="Arial"/>
              </a:rPr>
              <a:t>coracoid process</a:t>
            </a:r>
            <a:r>
              <a:rPr lang="en-AU" sz="3000">
                <a:latin typeface="Arial"/>
                <a:ea typeface="Arial"/>
                <a:cs typeface="Arial"/>
                <a:sym typeface="Arial"/>
              </a:rPr>
              <a:t>.</a:t>
            </a:r>
            <a:endParaRPr/>
          </a:p>
          <a:p>
            <a:pPr indent="-342900" lvl="0" marL="342900" rtl="0" algn="just">
              <a:spcBef>
                <a:spcPts val="600"/>
              </a:spcBef>
              <a:spcAft>
                <a:spcPts val="0"/>
              </a:spcAft>
              <a:buClr>
                <a:schemeClr val="dk1"/>
              </a:buClr>
              <a:buSzPts val="3000"/>
              <a:buChar char="•"/>
            </a:pPr>
            <a:r>
              <a:rPr b="1" lang="en-AU" sz="3000">
                <a:latin typeface="Arial"/>
                <a:ea typeface="Arial"/>
                <a:cs typeface="Arial"/>
                <a:sym typeface="Arial"/>
              </a:rPr>
              <a:t>Two centres </a:t>
            </a:r>
            <a:r>
              <a:rPr lang="en-AU" sz="3000">
                <a:latin typeface="Arial"/>
                <a:ea typeface="Arial"/>
                <a:cs typeface="Arial"/>
                <a:sym typeface="Arial"/>
              </a:rPr>
              <a:t>appear in the </a:t>
            </a:r>
            <a:r>
              <a:rPr b="1" lang="en-AU" sz="3000">
                <a:latin typeface="Arial"/>
                <a:ea typeface="Arial"/>
                <a:cs typeface="Arial"/>
                <a:sym typeface="Arial"/>
              </a:rPr>
              <a:t>acromion process</a:t>
            </a:r>
            <a:r>
              <a:rPr lang="en-AU" sz="3000">
                <a:latin typeface="Arial"/>
                <a:ea typeface="Arial"/>
                <a:cs typeface="Arial"/>
                <a:sym typeface="Arial"/>
              </a:rPr>
              <a:t>.</a:t>
            </a:r>
            <a:endParaRPr/>
          </a:p>
          <a:p>
            <a:pPr indent="-342900" lvl="0" marL="342900" rtl="0" algn="just">
              <a:spcBef>
                <a:spcPts val="640"/>
              </a:spcBef>
              <a:spcAft>
                <a:spcPts val="0"/>
              </a:spcAft>
              <a:buClr>
                <a:schemeClr val="dk1"/>
              </a:buClr>
              <a:buSzPts val="3000"/>
              <a:buChar char="•"/>
            </a:pPr>
            <a:r>
              <a:rPr lang="en-AU" sz="3000">
                <a:latin typeface="Arial"/>
                <a:ea typeface="Arial"/>
                <a:cs typeface="Arial"/>
                <a:sym typeface="Arial"/>
              </a:rPr>
              <a:t>One centre appears each in the (a) </a:t>
            </a:r>
            <a:r>
              <a:rPr b="1" lang="en-AU" sz="3000">
                <a:latin typeface="Arial"/>
                <a:ea typeface="Arial"/>
                <a:cs typeface="Arial"/>
                <a:sym typeface="Arial"/>
              </a:rPr>
              <a:t>medial border</a:t>
            </a:r>
            <a:r>
              <a:rPr lang="en-AU" sz="3000">
                <a:latin typeface="Arial"/>
                <a:ea typeface="Arial"/>
                <a:cs typeface="Arial"/>
                <a:sym typeface="Arial"/>
              </a:rPr>
              <a:t>, (b) </a:t>
            </a:r>
            <a:r>
              <a:rPr b="1" lang="en-AU" sz="3000">
                <a:latin typeface="Arial"/>
                <a:ea typeface="Arial"/>
                <a:cs typeface="Arial"/>
                <a:sym typeface="Arial"/>
              </a:rPr>
              <a:t>inferior angle</a:t>
            </a:r>
            <a:r>
              <a:rPr lang="en-AU" sz="3000">
                <a:latin typeface="Arial"/>
                <a:ea typeface="Arial"/>
                <a:cs typeface="Arial"/>
                <a:sym typeface="Arial"/>
              </a:rPr>
              <a:t>, and (c) in </a:t>
            </a:r>
            <a:r>
              <a:rPr b="1" lang="en-AU" sz="3000">
                <a:latin typeface="Arial"/>
                <a:ea typeface="Arial"/>
                <a:cs typeface="Arial"/>
                <a:sym typeface="Arial"/>
              </a:rPr>
              <a:t>the lower part</a:t>
            </a:r>
            <a:r>
              <a:rPr lang="en-AU" sz="3000">
                <a:latin typeface="Arial"/>
                <a:ea typeface="Arial"/>
                <a:cs typeface="Arial"/>
                <a:sym typeface="Arial"/>
              </a:rPr>
              <a:t> of the </a:t>
            </a:r>
            <a:r>
              <a:rPr b="1" lang="en-AU" sz="3000">
                <a:latin typeface="Arial"/>
                <a:ea typeface="Arial"/>
                <a:cs typeface="Arial"/>
                <a:sym typeface="Arial"/>
              </a:rPr>
              <a:t>rim of glenoid cavity</a:t>
            </a:r>
            <a:r>
              <a:rPr lang="en-AU" sz="3200">
                <a:latin typeface="Arial"/>
                <a:ea typeface="Arial"/>
                <a:cs typeface="Arial"/>
                <a:sym typeface="Arial"/>
              </a:rPr>
              <a:t>.</a:t>
            </a:r>
            <a:endParaRPr sz="3200">
              <a:latin typeface="Arial"/>
              <a:ea typeface="Arial"/>
              <a:cs typeface="Arial"/>
              <a:sym typeface="Arial"/>
            </a:endParaRPr>
          </a:p>
        </p:txBody>
      </p:sp>
      <p:sp>
        <p:nvSpPr>
          <p:cNvPr id="290" name="Google Shape;29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0"/>
          <p:cNvSpPr txBox="1"/>
          <p:nvPr>
            <p:ph type="title"/>
          </p:nvPr>
        </p:nvSpPr>
        <p:spPr>
          <a:xfrm>
            <a:off x="457200" y="0"/>
            <a:ext cx="8229600" cy="128586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Cont’d</a:t>
            </a:r>
            <a:endParaRPr sz="4400">
              <a:latin typeface="Arial Black"/>
              <a:ea typeface="Arial Black"/>
              <a:cs typeface="Arial Black"/>
              <a:sym typeface="Arial Black"/>
            </a:endParaRPr>
          </a:p>
        </p:txBody>
      </p:sp>
      <p:sp>
        <p:nvSpPr>
          <p:cNvPr id="296" name="Google Shape;296;p30"/>
          <p:cNvSpPr txBox="1"/>
          <p:nvPr>
            <p:ph idx="1" type="body"/>
          </p:nvPr>
        </p:nvSpPr>
        <p:spPr>
          <a:xfrm>
            <a:off x="457200" y="1500174"/>
            <a:ext cx="8229600" cy="482442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a:t>
            </a:r>
            <a:r>
              <a:rPr b="1" lang="en-AU" sz="3200">
                <a:latin typeface="Arial"/>
                <a:ea typeface="Arial"/>
                <a:cs typeface="Arial"/>
                <a:sym typeface="Arial"/>
              </a:rPr>
              <a:t>primary centre </a:t>
            </a:r>
            <a:r>
              <a:rPr lang="en-AU" sz="3200">
                <a:latin typeface="Arial"/>
                <a:ea typeface="Arial"/>
                <a:cs typeface="Arial"/>
                <a:sym typeface="Arial"/>
              </a:rPr>
              <a:t>in the</a:t>
            </a:r>
            <a:r>
              <a:rPr b="1" lang="en-AU" sz="3200">
                <a:latin typeface="Arial"/>
                <a:ea typeface="Arial"/>
                <a:cs typeface="Arial"/>
                <a:sym typeface="Arial"/>
              </a:rPr>
              <a:t> body </a:t>
            </a:r>
            <a:r>
              <a:rPr lang="en-AU" sz="3200">
                <a:latin typeface="Arial"/>
                <a:ea typeface="Arial"/>
                <a:cs typeface="Arial"/>
                <a:sym typeface="Arial"/>
              </a:rPr>
              <a:t>and first </a:t>
            </a:r>
            <a:r>
              <a:rPr b="1" lang="en-AU" sz="3200">
                <a:latin typeface="Arial"/>
                <a:ea typeface="Arial"/>
                <a:cs typeface="Arial"/>
                <a:sym typeface="Arial"/>
              </a:rPr>
              <a:t>secondary centre </a:t>
            </a:r>
            <a:r>
              <a:rPr lang="en-AU" sz="3200">
                <a:latin typeface="Arial"/>
                <a:ea typeface="Arial"/>
                <a:cs typeface="Arial"/>
                <a:sym typeface="Arial"/>
              </a:rPr>
              <a:t>in the </a:t>
            </a:r>
            <a:r>
              <a:rPr b="1" lang="en-AU" sz="3200">
                <a:latin typeface="Arial"/>
                <a:ea typeface="Arial"/>
                <a:cs typeface="Arial"/>
                <a:sym typeface="Arial"/>
              </a:rPr>
              <a:t>coracoid process </a:t>
            </a:r>
            <a:r>
              <a:rPr lang="en-AU" sz="3200">
                <a:latin typeface="Arial"/>
                <a:ea typeface="Arial"/>
                <a:cs typeface="Arial"/>
                <a:sym typeface="Arial"/>
              </a:rPr>
              <a:t>appears in </a:t>
            </a:r>
            <a:r>
              <a:rPr b="1" lang="en-AU" sz="3200">
                <a:latin typeface="Arial"/>
                <a:ea typeface="Arial"/>
                <a:cs typeface="Arial"/>
                <a:sym typeface="Arial"/>
              </a:rPr>
              <a:t>eighth week </a:t>
            </a:r>
            <a:r>
              <a:rPr lang="en-AU" sz="3200">
                <a:latin typeface="Arial"/>
                <a:ea typeface="Arial"/>
                <a:cs typeface="Arial"/>
                <a:sym typeface="Arial"/>
              </a:rPr>
              <a:t>of </a:t>
            </a:r>
            <a:r>
              <a:rPr b="1" lang="en-AU" sz="3200">
                <a:latin typeface="Arial"/>
                <a:ea typeface="Arial"/>
                <a:cs typeface="Arial"/>
                <a:sym typeface="Arial"/>
              </a:rPr>
              <a:t>intrauterine life </a:t>
            </a:r>
            <a:r>
              <a:rPr lang="en-AU" sz="3200">
                <a:latin typeface="Arial"/>
                <a:ea typeface="Arial"/>
                <a:cs typeface="Arial"/>
                <a:sym typeface="Arial"/>
              </a:rPr>
              <a:t>(IUL) and </a:t>
            </a:r>
            <a:r>
              <a:rPr b="1" lang="en-AU" sz="3200">
                <a:latin typeface="Arial"/>
                <a:ea typeface="Arial"/>
                <a:cs typeface="Arial"/>
                <a:sym typeface="Arial"/>
              </a:rPr>
              <a:t>first year </a:t>
            </a:r>
            <a:r>
              <a:rPr lang="en-AU" sz="3200">
                <a:latin typeface="Arial"/>
                <a:ea typeface="Arial"/>
                <a:cs typeface="Arial"/>
                <a:sym typeface="Arial"/>
              </a:rPr>
              <a:t>of </a:t>
            </a:r>
            <a:r>
              <a:rPr b="1" lang="en-AU" sz="3200">
                <a:latin typeface="Arial"/>
                <a:ea typeface="Arial"/>
                <a:cs typeface="Arial"/>
                <a:sym typeface="Arial"/>
              </a:rPr>
              <a:t>postnatal life</a:t>
            </a:r>
            <a:r>
              <a:rPr lang="en-AU" sz="3200">
                <a:latin typeface="Arial"/>
                <a:ea typeface="Arial"/>
                <a:cs typeface="Arial"/>
                <a:sym typeface="Arial"/>
              </a:rPr>
              <a:t>, respectively and they fuse at the </a:t>
            </a:r>
            <a:r>
              <a:rPr b="1" lang="en-AU" sz="3200">
                <a:latin typeface="Arial"/>
                <a:ea typeface="Arial"/>
                <a:cs typeface="Arial"/>
                <a:sym typeface="Arial"/>
              </a:rPr>
              <a:t>age</a:t>
            </a:r>
            <a:r>
              <a:rPr lang="en-AU" sz="3200">
                <a:latin typeface="Arial"/>
                <a:ea typeface="Arial"/>
                <a:cs typeface="Arial"/>
                <a:sym typeface="Arial"/>
              </a:rPr>
              <a:t> of </a:t>
            </a:r>
            <a:r>
              <a:rPr b="1" lang="en-AU" sz="3200">
                <a:latin typeface="Arial"/>
                <a:ea typeface="Arial"/>
                <a:cs typeface="Arial"/>
                <a:sym typeface="Arial"/>
              </a:rPr>
              <a:t>15 years</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All other </a:t>
            </a:r>
            <a:r>
              <a:rPr b="1" lang="en-AU" sz="3200">
                <a:latin typeface="Arial"/>
                <a:ea typeface="Arial"/>
                <a:cs typeface="Arial"/>
                <a:sym typeface="Arial"/>
              </a:rPr>
              <a:t>secondary centres </a:t>
            </a:r>
            <a:r>
              <a:rPr lang="en-AU" sz="3200">
                <a:latin typeface="Arial"/>
                <a:ea typeface="Arial"/>
                <a:cs typeface="Arial"/>
                <a:sym typeface="Arial"/>
              </a:rPr>
              <a:t>appear at about </a:t>
            </a:r>
            <a:r>
              <a:rPr b="1" lang="en-AU" sz="3200">
                <a:latin typeface="Arial"/>
                <a:ea typeface="Arial"/>
                <a:cs typeface="Arial"/>
                <a:sym typeface="Arial"/>
              </a:rPr>
              <a:t>puberty </a:t>
            </a:r>
            <a:r>
              <a:rPr lang="en-AU" sz="3200">
                <a:latin typeface="Arial"/>
                <a:ea typeface="Arial"/>
                <a:cs typeface="Arial"/>
                <a:sym typeface="Arial"/>
              </a:rPr>
              <a:t>and</a:t>
            </a:r>
            <a:r>
              <a:rPr b="1" lang="en-AU" sz="3200">
                <a:latin typeface="Arial"/>
                <a:ea typeface="Arial"/>
                <a:cs typeface="Arial"/>
                <a:sym typeface="Arial"/>
              </a:rPr>
              <a:t> fuse </a:t>
            </a:r>
            <a:r>
              <a:rPr lang="en-AU" sz="3200">
                <a:latin typeface="Arial"/>
                <a:ea typeface="Arial"/>
                <a:cs typeface="Arial"/>
                <a:sym typeface="Arial"/>
              </a:rPr>
              <a:t>by </a:t>
            </a:r>
            <a:r>
              <a:rPr b="1" lang="en-AU" sz="3200">
                <a:latin typeface="Arial"/>
                <a:ea typeface="Arial"/>
                <a:cs typeface="Arial"/>
                <a:sym typeface="Arial"/>
              </a:rPr>
              <a:t>20th year</a:t>
            </a:r>
            <a:r>
              <a:rPr lang="en-AU" sz="3200">
                <a:latin typeface="Arial"/>
                <a:ea typeface="Arial"/>
                <a:cs typeface="Arial"/>
                <a:sym typeface="Arial"/>
              </a:rPr>
              <a:t>.</a:t>
            </a:r>
            <a:endParaRPr sz="3200">
              <a:latin typeface="Arial"/>
              <a:ea typeface="Arial"/>
              <a:cs typeface="Arial"/>
              <a:sym typeface="Arial"/>
            </a:endParaRPr>
          </a:p>
        </p:txBody>
      </p:sp>
      <p:sp>
        <p:nvSpPr>
          <p:cNvPr id="297" name="Google Shape;29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1"/>
          <p:cNvSpPr txBox="1"/>
          <p:nvPr>
            <p:ph idx="1" type="body"/>
          </p:nvPr>
        </p:nvSpPr>
        <p:spPr>
          <a:xfrm>
            <a:off x="0" y="2500306"/>
            <a:ext cx="9358346" cy="3625857"/>
          </a:xfrm>
          <a:prstGeom prst="rect">
            <a:avLst/>
          </a:prstGeom>
          <a:noFill/>
          <a:ln>
            <a:noFill/>
          </a:ln>
        </p:spPr>
        <p:txBody>
          <a:bodyPr anchorCtr="0" anchor="t" bIns="45700" lIns="91425" spcFirstLastPara="1" rIns="91425" wrap="square" tIns="45700">
            <a:normAutofit/>
          </a:bodyPr>
          <a:lstStyle/>
          <a:p>
            <a:pPr indent="-342900" lvl="0" marL="342900" rtl="0" algn="ctr">
              <a:spcBef>
                <a:spcPts val="0"/>
              </a:spcBef>
              <a:spcAft>
                <a:spcPts val="0"/>
              </a:spcAft>
              <a:buClr>
                <a:schemeClr val="dk1"/>
              </a:buClr>
              <a:buSzPts val="4400"/>
              <a:buChar char="•"/>
            </a:pPr>
            <a:r>
              <a:rPr lang="en-AU" sz="4400">
                <a:latin typeface="Arial Black"/>
                <a:ea typeface="Arial Black"/>
                <a:cs typeface="Arial Black"/>
                <a:sym typeface="Arial Black"/>
              </a:rPr>
              <a:t>OSTEOLOGY OF THE HUMERUS</a:t>
            </a:r>
            <a:endParaRPr sz="4400">
              <a:latin typeface="Arial Black"/>
              <a:ea typeface="Arial Black"/>
              <a:cs typeface="Arial Black"/>
              <a:sym typeface="Arial Black"/>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2"/>
          <p:cNvSpPr txBox="1"/>
          <p:nvPr>
            <p:ph type="title"/>
          </p:nvPr>
        </p:nvSpPr>
        <p:spPr>
          <a:xfrm>
            <a:off x="457200" y="-214338"/>
            <a:ext cx="8229600" cy="10001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HUMERUS</a:t>
            </a:r>
            <a:endParaRPr sz="4400">
              <a:latin typeface="Arial Black"/>
              <a:ea typeface="Arial Black"/>
              <a:cs typeface="Arial Black"/>
              <a:sym typeface="Arial Black"/>
            </a:endParaRPr>
          </a:p>
        </p:txBody>
      </p:sp>
      <p:sp>
        <p:nvSpPr>
          <p:cNvPr id="308" name="Google Shape;308;p32"/>
          <p:cNvSpPr txBox="1"/>
          <p:nvPr>
            <p:ph idx="1" type="body"/>
          </p:nvPr>
        </p:nvSpPr>
        <p:spPr>
          <a:xfrm>
            <a:off x="214282" y="571480"/>
            <a:ext cx="8643998" cy="628652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Font typeface="Noto Sans Symbols"/>
              <a:buChar char="▪"/>
            </a:pPr>
            <a:r>
              <a:rPr lang="en-AU" sz="3200">
                <a:latin typeface="Arial"/>
                <a:ea typeface="Arial"/>
                <a:cs typeface="Arial"/>
                <a:sym typeface="Arial"/>
              </a:rPr>
              <a:t>The </a:t>
            </a:r>
            <a:r>
              <a:rPr b="1" lang="en-AU" sz="3200">
                <a:latin typeface="Arial"/>
                <a:ea typeface="Arial"/>
                <a:cs typeface="Arial"/>
                <a:sym typeface="Arial"/>
              </a:rPr>
              <a:t>humerus</a:t>
            </a:r>
            <a:r>
              <a:rPr lang="en-AU" sz="3200">
                <a:latin typeface="Arial"/>
                <a:ea typeface="Arial"/>
                <a:cs typeface="Arial"/>
                <a:sym typeface="Arial"/>
              </a:rPr>
              <a:t> is a </a:t>
            </a:r>
            <a:r>
              <a:rPr b="1" lang="en-AU" sz="3200">
                <a:latin typeface="Arial"/>
                <a:ea typeface="Arial"/>
                <a:cs typeface="Arial"/>
                <a:sym typeface="Arial"/>
              </a:rPr>
              <a:t>long bone </a:t>
            </a:r>
            <a:r>
              <a:rPr lang="en-AU" sz="3200">
                <a:latin typeface="Arial"/>
                <a:ea typeface="Arial"/>
                <a:cs typeface="Arial"/>
                <a:sym typeface="Arial"/>
              </a:rPr>
              <a:t>and consists of </a:t>
            </a:r>
            <a:r>
              <a:rPr b="1" lang="en-AU" sz="3200">
                <a:latin typeface="Arial"/>
                <a:ea typeface="Arial"/>
                <a:cs typeface="Arial"/>
                <a:sym typeface="Arial"/>
              </a:rPr>
              <a:t>three parts</a:t>
            </a:r>
            <a:r>
              <a:rPr lang="en-AU" sz="3200">
                <a:latin typeface="Arial"/>
                <a:ea typeface="Arial"/>
                <a:cs typeface="Arial"/>
                <a:sym typeface="Arial"/>
              </a:rPr>
              <a:t>: </a:t>
            </a:r>
            <a:r>
              <a:rPr b="1" lang="en-AU" sz="3200">
                <a:latin typeface="Arial"/>
                <a:ea typeface="Arial"/>
                <a:cs typeface="Arial"/>
                <a:sym typeface="Arial"/>
              </a:rPr>
              <a:t>upper end</a:t>
            </a:r>
            <a:r>
              <a:rPr lang="en-AU" sz="3200">
                <a:latin typeface="Arial"/>
                <a:ea typeface="Arial"/>
                <a:cs typeface="Arial"/>
                <a:sym typeface="Arial"/>
              </a:rPr>
              <a:t>, </a:t>
            </a:r>
            <a:r>
              <a:rPr b="1" lang="en-AU" sz="3200">
                <a:latin typeface="Arial"/>
                <a:ea typeface="Arial"/>
                <a:cs typeface="Arial"/>
                <a:sym typeface="Arial"/>
              </a:rPr>
              <a:t>lower end</a:t>
            </a:r>
            <a:r>
              <a:rPr lang="en-AU" sz="3200">
                <a:latin typeface="Arial"/>
                <a:ea typeface="Arial"/>
                <a:cs typeface="Arial"/>
                <a:sym typeface="Arial"/>
              </a:rPr>
              <a:t>, and </a:t>
            </a:r>
            <a:r>
              <a:rPr b="1" lang="en-AU" sz="3200">
                <a:latin typeface="Arial"/>
                <a:ea typeface="Arial"/>
                <a:cs typeface="Arial"/>
                <a:sym typeface="Arial"/>
              </a:rPr>
              <a:t>shaft</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Font typeface="Noto Sans Symbols"/>
              <a:buChar char="▪"/>
            </a:pPr>
            <a:r>
              <a:rPr b="1" lang="en-AU" sz="3200">
                <a:latin typeface="Arial"/>
                <a:ea typeface="Arial"/>
                <a:cs typeface="Arial"/>
                <a:sym typeface="Arial"/>
              </a:rPr>
              <a:t>Upper End</a:t>
            </a:r>
            <a:endParaRPr/>
          </a:p>
          <a:p>
            <a:pPr indent="-342900" lvl="0" marL="342900" rtl="0" algn="just">
              <a:spcBef>
                <a:spcPts val="640"/>
              </a:spcBef>
              <a:spcAft>
                <a:spcPts val="0"/>
              </a:spcAft>
              <a:buClr>
                <a:schemeClr val="dk1"/>
              </a:buClr>
              <a:buSzPts val="3200"/>
              <a:buFont typeface="Noto Sans Symbols"/>
              <a:buChar char="▪"/>
            </a:pPr>
            <a:r>
              <a:rPr lang="en-AU" sz="3200">
                <a:latin typeface="Arial"/>
                <a:ea typeface="Arial"/>
                <a:cs typeface="Arial"/>
                <a:sym typeface="Arial"/>
              </a:rPr>
              <a:t>The </a:t>
            </a:r>
            <a:r>
              <a:rPr b="1" lang="en-AU" sz="3200">
                <a:latin typeface="Arial"/>
                <a:ea typeface="Arial"/>
                <a:cs typeface="Arial"/>
                <a:sym typeface="Arial"/>
              </a:rPr>
              <a:t>upper end </a:t>
            </a:r>
            <a:r>
              <a:rPr lang="en-AU" sz="3200">
                <a:latin typeface="Arial"/>
                <a:ea typeface="Arial"/>
                <a:cs typeface="Arial"/>
                <a:sym typeface="Arial"/>
              </a:rPr>
              <a:t>presents the following </a:t>
            </a:r>
            <a:r>
              <a:rPr b="1" lang="en-AU" sz="3200">
                <a:latin typeface="Arial"/>
                <a:ea typeface="Arial"/>
                <a:cs typeface="Arial"/>
                <a:sym typeface="Arial"/>
              </a:rPr>
              <a:t>five features</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sz="3200">
                <a:latin typeface="Arial"/>
                <a:ea typeface="Arial"/>
                <a:cs typeface="Arial"/>
                <a:sym typeface="Arial"/>
              </a:rPr>
              <a:t>Head</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sz="3200">
                <a:latin typeface="Arial"/>
                <a:ea typeface="Arial"/>
                <a:cs typeface="Arial"/>
                <a:sym typeface="Arial"/>
              </a:rPr>
              <a:t>Neck</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sz="3200">
                <a:latin typeface="Arial"/>
                <a:ea typeface="Arial"/>
                <a:cs typeface="Arial"/>
                <a:sym typeface="Arial"/>
              </a:rPr>
              <a:t>Greater tubercle</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sz="3200">
                <a:latin typeface="Arial"/>
                <a:ea typeface="Arial"/>
                <a:cs typeface="Arial"/>
                <a:sym typeface="Arial"/>
              </a:rPr>
              <a:t>Lesser tubercle</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sz="3200">
                <a:latin typeface="Arial"/>
                <a:ea typeface="Arial"/>
                <a:cs typeface="Arial"/>
                <a:sym typeface="Arial"/>
              </a:rPr>
              <a:t>Intertubercular sulcus</a:t>
            </a:r>
            <a:endParaRPr b="1" sz="3200">
              <a:latin typeface="Arial"/>
              <a:ea typeface="Arial"/>
              <a:cs typeface="Arial"/>
              <a:sym typeface="Arial"/>
            </a:endParaRPr>
          </a:p>
        </p:txBody>
      </p:sp>
      <p:sp>
        <p:nvSpPr>
          <p:cNvPr id="309" name="Google Shape;30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33"/>
          <p:cNvPicPr preferRelativeResize="0"/>
          <p:nvPr>
            <p:ph idx="1" type="body"/>
          </p:nvPr>
        </p:nvPicPr>
        <p:blipFill rotWithShape="1">
          <a:blip r:embed="rId3">
            <a:alphaModFix/>
          </a:blip>
          <a:srcRect b="0" l="0" r="0" t="0"/>
          <a:stretch/>
        </p:blipFill>
        <p:spPr>
          <a:xfrm>
            <a:off x="285720" y="714356"/>
            <a:ext cx="4143404" cy="5786478"/>
          </a:xfrm>
          <a:prstGeom prst="rect">
            <a:avLst/>
          </a:prstGeom>
          <a:noFill/>
          <a:ln>
            <a:noFill/>
          </a:ln>
        </p:spPr>
      </p:pic>
      <p:pic>
        <p:nvPicPr>
          <p:cNvPr id="315" name="Google Shape;315;p33"/>
          <p:cNvPicPr preferRelativeResize="0"/>
          <p:nvPr/>
        </p:nvPicPr>
        <p:blipFill rotWithShape="1">
          <a:blip r:embed="rId4">
            <a:alphaModFix/>
          </a:blip>
          <a:srcRect b="0" l="0" r="0" t="0"/>
          <a:stretch/>
        </p:blipFill>
        <p:spPr>
          <a:xfrm>
            <a:off x="4500562" y="500042"/>
            <a:ext cx="4286279" cy="5857916"/>
          </a:xfrm>
          <a:prstGeom prst="rect">
            <a:avLst/>
          </a:prstGeom>
          <a:noFill/>
          <a:ln>
            <a:noFill/>
          </a:ln>
        </p:spPr>
      </p:pic>
      <p:sp>
        <p:nvSpPr>
          <p:cNvPr id="316" name="Google Shape;316;p33"/>
          <p:cNvSpPr txBox="1"/>
          <p:nvPr/>
        </p:nvSpPr>
        <p:spPr>
          <a:xfrm>
            <a:off x="1000100" y="6357958"/>
            <a:ext cx="69294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800">
                <a:solidFill>
                  <a:schemeClr val="dk1"/>
                </a:solidFill>
                <a:latin typeface="Calibri"/>
                <a:ea typeface="Calibri"/>
                <a:cs typeface="Calibri"/>
                <a:sym typeface="Calibri"/>
              </a:rPr>
              <a:t>Right humerus: anterior view;                             posterior view</a:t>
            </a:r>
            <a:endParaRPr sz="1800">
              <a:solidFill>
                <a:schemeClr val="dk1"/>
              </a:solidFill>
              <a:latin typeface="Calibri"/>
              <a:ea typeface="Calibri"/>
              <a:cs typeface="Calibri"/>
              <a:sym typeface="Calibri"/>
            </a:endParaRPr>
          </a:p>
        </p:txBody>
      </p:sp>
      <p:sp>
        <p:nvSpPr>
          <p:cNvPr id="317" name="Google Shape;31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4"/>
          <p:cNvSpPr txBox="1"/>
          <p:nvPr>
            <p:ph type="title"/>
          </p:nvPr>
        </p:nvSpPr>
        <p:spPr>
          <a:xfrm>
            <a:off x="457200" y="0"/>
            <a:ext cx="8229600" cy="107154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Cont’d</a:t>
            </a:r>
            <a:endParaRPr sz="4400">
              <a:latin typeface="Arial Black"/>
              <a:ea typeface="Arial Black"/>
              <a:cs typeface="Arial Black"/>
              <a:sym typeface="Arial Black"/>
            </a:endParaRPr>
          </a:p>
        </p:txBody>
      </p:sp>
      <p:sp>
        <p:nvSpPr>
          <p:cNvPr id="323" name="Google Shape;323;p34"/>
          <p:cNvSpPr txBox="1"/>
          <p:nvPr>
            <p:ph idx="1" type="body"/>
          </p:nvPr>
        </p:nvSpPr>
        <p:spPr>
          <a:xfrm>
            <a:off x="457200" y="1071546"/>
            <a:ext cx="8229600" cy="5253054"/>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sz="3200">
                <a:latin typeface="Arial"/>
                <a:ea typeface="Arial"/>
                <a:cs typeface="Arial"/>
                <a:sym typeface="Arial"/>
              </a:rPr>
              <a:t>The head is </a:t>
            </a:r>
            <a:r>
              <a:rPr b="1" lang="en-AU" sz="3200">
                <a:latin typeface="Arial"/>
                <a:ea typeface="Arial"/>
                <a:cs typeface="Arial"/>
                <a:sym typeface="Arial"/>
              </a:rPr>
              <a:t>smooth and rounded</a:t>
            </a:r>
            <a:r>
              <a:rPr lang="en-AU" sz="3200">
                <a:latin typeface="Arial"/>
                <a:ea typeface="Arial"/>
                <a:cs typeface="Arial"/>
                <a:sym typeface="Arial"/>
              </a:rPr>
              <a:t>, and forms less than half of a sphere. It is directed </a:t>
            </a:r>
            <a:r>
              <a:rPr b="1" lang="en-AU" sz="3200">
                <a:latin typeface="Arial"/>
                <a:ea typeface="Arial"/>
                <a:cs typeface="Arial"/>
                <a:sym typeface="Arial"/>
              </a:rPr>
              <a:t>medially backwards </a:t>
            </a:r>
            <a:r>
              <a:rPr lang="en-AU" sz="3200">
                <a:latin typeface="Arial"/>
                <a:ea typeface="Arial"/>
                <a:cs typeface="Arial"/>
                <a:sym typeface="Arial"/>
              </a:rPr>
              <a:t>and </a:t>
            </a:r>
            <a:r>
              <a:rPr b="1" lang="en-AU" sz="3200">
                <a:latin typeface="Arial"/>
                <a:ea typeface="Arial"/>
                <a:cs typeface="Arial"/>
                <a:sym typeface="Arial"/>
              </a:rPr>
              <a:t>upwards</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It articulates with the </a:t>
            </a:r>
            <a:r>
              <a:rPr b="1" lang="en-AU" sz="3200">
                <a:latin typeface="Arial"/>
                <a:ea typeface="Arial"/>
                <a:cs typeface="Arial"/>
                <a:sym typeface="Arial"/>
              </a:rPr>
              <a:t>glenoid cavity </a:t>
            </a:r>
            <a:r>
              <a:rPr lang="en-AU" sz="3200">
                <a:latin typeface="Arial"/>
                <a:ea typeface="Arial"/>
                <a:cs typeface="Arial"/>
                <a:sym typeface="Arial"/>
              </a:rPr>
              <a:t>of </a:t>
            </a:r>
            <a:r>
              <a:rPr b="1" lang="en-AU" sz="3200">
                <a:latin typeface="Arial"/>
                <a:ea typeface="Arial"/>
                <a:cs typeface="Arial"/>
                <a:sym typeface="Arial"/>
              </a:rPr>
              <a:t>scapula</a:t>
            </a:r>
            <a:r>
              <a:rPr lang="en-AU" sz="3200">
                <a:latin typeface="Arial"/>
                <a:ea typeface="Arial"/>
                <a:cs typeface="Arial"/>
                <a:sym typeface="Arial"/>
              </a:rPr>
              <a:t> to form the </a:t>
            </a:r>
            <a:r>
              <a:rPr b="1" lang="en-AU" sz="3200">
                <a:latin typeface="Arial"/>
                <a:ea typeface="Arial"/>
                <a:cs typeface="Arial"/>
                <a:sym typeface="Arial"/>
              </a:rPr>
              <a:t>glenohumeral</a:t>
            </a:r>
            <a:r>
              <a:rPr lang="en-AU" sz="3200">
                <a:latin typeface="Arial"/>
                <a:ea typeface="Arial"/>
                <a:cs typeface="Arial"/>
                <a:sym typeface="Arial"/>
              </a:rPr>
              <a:t> (shoulder) </a:t>
            </a:r>
            <a:r>
              <a:rPr b="1" lang="en-AU" sz="3200">
                <a:latin typeface="Arial"/>
                <a:ea typeface="Arial"/>
                <a:cs typeface="Arial"/>
                <a:sym typeface="Arial"/>
              </a:rPr>
              <a:t>joint.</a:t>
            </a:r>
            <a:endParaRPr b="1" sz="3200">
              <a:latin typeface="Arial"/>
              <a:ea typeface="Arial"/>
              <a:cs typeface="Arial"/>
              <a:sym typeface="Arial"/>
            </a:endParaRPr>
          </a:p>
        </p:txBody>
      </p:sp>
      <p:sp>
        <p:nvSpPr>
          <p:cNvPr id="324" name="Google Shape;32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5"/>
          <p:cNvSpPr txBox="1"/>
          <p:nvPr>
            <p:ph type="title"/>
          </p:nvPr>
        </p:nvSpPr>
        <p:spPr>
          <a:xfrm>
            <a:off x="457200" y="214290"/>
            <a:ext cx="8229600" cy="71438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Black"/>
              <a:buNone/>
            </a:pPr>
            <a:r>
              <a:rPr lang="en-AU" sz="4900">
                <a:latin typeface="Arial Black"/>
                <a:ea typeface="Arial Black"/>
                <a:cs typeface="Arial Black"/>
                <a:sym typeface="Arial Black"/>
              </a:rPr>
              <a:t>Lower End</a:t>
            </a:r>
            <a:br>
              <a:rPr lang="en-AU"/>
            </a:br>
            <a:endParaRPr/>
          </a:p>
        </p:txBody>
      </p:sp>
      <p:sp>
        <p:nvSpPr>
          <p:cNvPr id="330" name="Google Shape;330;p35"/>
          <p:cNvSpPr txBox="1"/>
          <p:nvPr>
            <p:ph idx="1" type="body"/>
          </p:nvPr>
        </p:nvSpPr>
        <p:spPr>
          <a:xfrm>
            <a:off x="0" y="357166"/>
            <a:ext cx="9144000" cy="6286544"/>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Font typeface="Noto Sans Symbols"/>
              <a:buChar char="▪"/>
            </a:pPr>
            <a:r>
              <a:rPr lang="en-AU" sz="3200">
                <a:latin typeface="Arial"/>
                <a:ea typeface="Arial"/>
                <a:cs typeface="Arial"/>
                <a:sym typeface="Arial"/>
              </a:rPr>
              <a:t>The </a:t>
            </a:r>
            <a:r>
              <a:rPr b="1" lang="en-AU" sz="3200">
                <a:latin typeface="Arial"/>
                <a:ea typeface="Arial"/>
                <a:cs typeface="Arial"/>
                <a:sym typeface="Arial"/>
              </a:rPr>
              <a:t>lower end </a:t>
            </a:r>
            <a:r>
              <a:rPr lang="en-AU" sz="3200">
                <a:latin typeface="Arial"/>
                <a:ea typeface="Arial"/>
                <a:cs typeface="Arial"/>
                <a:sym typeface="Arial"/>
              </a:rPr>
              <a:t>presents the following features:</a:t>
            </a:r>
            <a:endParaRPr/>
          </a:p>
          <a:p>
            <a:pPr indent="-342900" lvl="0" marL="342900" rtl="0" algn="just">
              <a:spcBef>
                <a:spcPts val="640"/>
              </a:spcBef>
              <a:spcAft>
                <a:spcPts val="0"/>
              </a:spcAft>
              <a:buClr>
                <a:schemeClr val="dk1"/>
              </a:buClr>
              <a:buSzPts val="3200"/>
              <a:buChar char="•"/>
            </a:pPr>
            <a:r>
              <a:rPr b="1" lang="en-AU" sz="3200">
                <a:latin typeface="Arial"/>
                <a:ea typeface="Arial"/>
                <a:cs typeface="Arial"/>
                <a:sym typeface="Arial"/>
              </a:rPr>
              <a:t>Capitulum</a:t>
            </a:r>
            <a:r>
              <a:rPr lang="en-AU" sz="3200">
                <a:latin typeface="Arial"/>
                <a:ea typeface="Arial"/>
                <a:cs typeface="Arial"/>
                <a:sym typeface="Arial"/>
              </a:rPr>
              <a:t>,a lateral rounded convex projection.</a:t>
            </a:r>
            <a:endParaRPr/>
          </a:p>
          <a:p>
            <a:pPr indent="-342900" lvl="0" marL="342900" rtl="0" algn="just">
              <a:spcBef>
                <a:spcPts val="640"/>
              </a:spcBef>
              <a:spcAft>
                <a:spcPts val="0"/>
              </a:spcAft>
              <a:buClr>
                <a:schemeClr val="dk1"/>
              </a:buClr>
              <a:buSzPts val="3200"/>
              <a:buChar char="•"/>
            </a:pPr>
            <a:r>
              <a:rPr b="1" lang="en-AU" sz="3200">
                <a:latin typeface="Arial"/>
                <a:ea typeface="Arial"/>
                <a:cs typeface="Arial"/>
                <a:sym typeface="Arial"/>
              </a:rPr>
              <a:t>Trochlea</a:t>
            </a:r>
            <a:r>
              <a:rPr lang="en-AU" sz="3200">
                <a:latin typeface="Arial"/>
                <a:ea typeface="Arial"/>
                <a:cs typeface="Arial"/>
                <a:sym typeface="Arial"/>
              </a:rPr>
              <a:t>, a </a:t>
            </a:r>
            <a:r>
              <a:rPr b="1" lang="en-AU" sz="3200">
                <a:latin typeface="Arial"/>
                <a:ea typeface="Arial"/>
                <a:cs typeface="Arial"/>
                <a:sym typeface="Arial"/>
              </a:rPr>
              <a:t>medial pulley-shaped </a:t>
            </a:r>
            <a:r>
              <a:rPr lang="en-AU" sz="3200">
                <a:latin typeface="Arial"/>
                <a:ea typeface="Arial"/>
                <a:cs typeface="Arial"/>
                <a:sym typeface="Arial"/>
              </a:rPr>
              <a:t>structure.</a:t>
            </a:r>
            <a:endParaRPr/>
          </a:p>
          <a:p>
            <a:pPr indent="-342900" lvl="0" marL="342900" rtl="0" algn="just">
              <a:spcBef>
                <a:spcPts val="640"/>
              </a:spcBef>
              <a:spcAft>
                <a:spcPts val="0"/>
              </a:spcAft>
              <a:buClr>
                <a:schemeClr val="dk1"/>
              </a:buClr>
              <a:buSzPts val="3200"/>
              <a:buChar char="•"/>
            </a:pPr>
            <a:r>
              <a:rPr b="1" lang="en-AU" sz="3200">
                <a:latin typeface="Arial"/>
                <a:ea typeface="Arial"/>
                <a:cs typeface="Arial"/>
                <a:sym typeface="Arial"/>
              </a:rPr>
              <a:t>Radial fossa</a:t>
            </a:r>
            <a:r>
              <a:rPr lang="en-AU" sz="3200">
                <a:latin typeface="Arial"/>
                <a:ea typeface="Arial"/>
                <a:cs typeface="Arial"/>
                <a:sym typeface="Arial"/>
              </a:rPr>
              <a:t>, a </a:t>
            </a:r>
            <a:r>
              <a:rPr b="1" lang="en-AU" sz="3200">
                <a:latin typeface="Arial"/>
                <a:ea typeface="Arial"/>
                <a:cs typeface="Arial"/>
                <a:sym typeface="Arial"/>
              </a:rPr>
              <a:t>small fossa </a:t>
            </a:r>
            <a:r>
              <a:rPr lang="en-AU" sz="3200">
                <a:latin typeface="Arial"/>
                <a:ea typeface="Arial"/>
                <a:cs typeface="Arial"/>
                <a:sym typeface="Arial"/>
              </a:rPr>
              <a:t>above the </a:t>
            </a:r>
            <a:r>
              <a:rPr b="1" lang="en-AU" sz="3200">
                <a:latin typeface="Arial"/>
                <a:ea typeface="Arial"/>
                <a:cs typeface="Arial"/>
                <a:sym typeface="Arial"/>
              </a:rPr>
              <a:t>capitulum</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sz="3200">
                <a:latin typeface="Arial"/>
                <a:ea typeface="Arial"/>
                <a:cs typeface="Arial"/>
                <a:sym typeface="Arial"/>
              </a:rPr>
              <a:t>Coronoid fossa</a:t>
            </a:r>
            <a:r>
              <a:rPr lang="en-AU" sz="3200">
                <a:latin typeface="Arial"/>
                <a:ea typeface="Arial"/>
                <a:cs typeface="Arial"/>
                <a:sym typeface="Arial"/>
              </a:rPr>
              <a:t>, a </a:t>
            </a:r>
            <a:r>
              <a:rPr b="1" lang="en-AU" sz="3200">
                <a:latin typeface="Arial"/>
                <a:ea typeface="Arial"/>
                <a:cs typeface="Arial"/>
                <a:sym typeface="Arial"/>
              </a:rPr>
              <a:t>small fossa </a:t>
            </a:r>
            <a:r>
              <a:rPr lang="en-AU" sz="3200">
                <a:latin typeface="Arial"/>
                <a:ea typeface="Arial"/>
                <a:cs typeface="Arial"/>
                <a:sym typeface="Arial"/>
              </a:rPr>
              <a:t>above the </a:t>
            </a:r>
            <a:r>
              <a:rPr b="1" lang="en-AU" sz="3200">
                <a:latin typeface="Arial"/>
                <a:ea typeface="Arial"/>
                <a:cs typeface="Arial"/>
                <a:sym typeface="Arial"/>
              </a:rPr>
              <a:t>trochlea</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sz="3200">
                <a:latin typeface="Arial"/>
                <a:ea typeface="Arial"/>
                <a:cs typeface="Arial"/>
                <a:sym typeface="Arial"/>
              </a:rPr>
              <a:t>Medial epicondyle</a:t>
            </a:r>
            <a:r>
              <a:rPr lang="en-AU" sz="3200">
                <a:latin typeface="Arial"/>
                <a:ea typeface="Arial"/>
                <a:cs typeface="Arial"/>
                <a:sym typeface="Arial"/>
              </a:rPr>
              <a:t>, a prominent projection on the </a:t>
            </a:r>
            <a:r>
              <a:rPr b="1" lang="en-AU" sz="3200">
                <a:latin typeface="Arial"/>
                <a:ea typeface="Arial"/>
                <a:cs typeface="Arial"/>
                <a:sym typeface="Arial"/>
              </a:rPr>
              <a:t>medial side</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sz="3200">
                <a:latin typeface="Arial"/>
                <a:ea typeface="Arial"/>
                <a:cs typeface="Arial"/>
                <a:sym typeface="Arial"/>
              </a:rPr>
              <a:t>Lateral epicondyle</a:t>
            </a:r>
            <a:r>
              <a:rPr lang="en-AU" sz="3200">
                <a:latin typeface="Arial"/>
                <a:ea typeface="Arial"/>
                <a:cs typeface="Arial"/>
                <a:sym typeface="Arial"/>
              </a:rPr>
              <a:t>, a prominent projection on the </a:t>
            </a:r>
            <a:r>
              <a:rPr b="1" lang="en-AU" sz="3200">
                <a:latin typeface="Arial"/>
                <a:ea typeface="Arial"/>
                <a:cs typeface="Arial"/>
                <a:sym typeface="Arial"/>
              </a:rPr>
              <a:t>lateral side </a:t>
            </a:r>
            <a:r>
              <a:rPr lang="en-AU" sz="3200">
                <a:latin typeface="Arial"/>
                <a:ea typeface="Arial"/>
                <a:cs typeface="Arial"/>
                <a:sym typeface="Arial"/>
              </a:rPr>
              <a:t>but </a:t>
            </a:r>
            <a:r>
              <a:rPr b="1" lang="en-AU" sz="3200">
                <a:latin typeface="Arial"/>
                <a:ea typeface="Arial"/>
                <a:cs typeface="Arial"/>
                <a:sym typeface="Arial"/>
              </a:rPr>
              <a:t>less than </a:t>
            </a:r>
            <a:r>
              <a:rPr lang="en-AU" sz="3200">
                <a:latin typeface="Arial"/>
                <a:ea typeface="Arial"/>
                <a:cs typeface="Arial"/>
                <a:sym typeface="Arial"/>
              </a:rPr>
              <a:t>the </a:t>
            </a:r>
            <a:r>
              <a:rPr b="1" lang="en-AU" sz="3200">
                <a:latin typeface="Arial"/>
                <a:ea typeface="Arial"/>
                <a:cs typeface="Arial"/>
                <a:sym typeface="Arial"/>
              </a:rPr>
              <a:t>medial epicondyle</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sz="3200"/>
              <a:t>.</a:t>
            </a:r>
            <a:endParaRPr sz="3200"/>
          </a:p>
        </p:txBody>
      </p:sp>
      <p:sp>
        <p:nvSpPr>
          <p:cNvPr id="331" name="Google Shape;331;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9"/>
          <p:cNvSpPr txBox="1"/>
          <p:nvPr>
            <p:ph type="title"/>
          </p:nvPr>
        </p:nvSpPr>
        <p:spPr>
          <a:xfrm>
            <a:off x="457200" y="0"/>
            <a:ext cx="8229600" cy="71435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Black"/>
              <a:buNone/>
            </a:pPr>
            <a:r>
              <a:rPr lang="en-AU" sz="4400">
                <a:latin typeface="Arial Black"/>
                <a:ea typeface="Arial Black"/>
                <a:cs typeface="Arial Black"/>
                <a:sym typeface="Arial Black"/>
              </a:rPr>
              <a:t>Neck of the humerus</a:t>
            </a:r>
            <a:endParaRPr sz="4400">
              <a:latin typeface="Arial Black"/>
              <a:ea typeface="Arial Black"/>
              <a:cs typeface="Arial Black"/>
              <a:sym typeface="Arial Black"/>
            </a:endParaRPr>
          </a:p>
        </p:txBody>
      </p:sp>
      <p:sp>
        <p:nvSpPr>
          <p:cNvPr id="337" name="Google Shape;337;p39"/>
          <p:cNvSpPr txBox="1"/>
          <p:nvPr>
            <p:ph idx="1" type="body"/>
          </p:nvPr>
        </p:nvSpPr>
        <p:spPr>
          <a:xfrm>
            <a:off x="142844" y="785794"/>
            <a:ext cx="8858312" cy="6072206"/>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Font typeface="Noto Sans Symbols"/>
              <a:buChar char="▪"/>
            </a:pPr>
            <a:r>
              <a:rPr lang="en-AU" sz="3200">
                <a:latin typeface="Arial Black"/>
                <a:ea typeface="Arial Black"/>
                <a:cs typeface="Arial Black"/>
                <a:sym typeface="Arial Black"/>
              </a:rPr>
              <a:t>The humerus has three necks:</a:t>
            </a:r>
            <a:endParaRPr/>
          </a:p>
          <a:p>
            <a:pPr indent="-342900" lvl="0" marL="342900" rtl="0" algn="just">
              <a:spcBef>
                <a:spcPts val="640"/>
              </a:spcBef>
              <a:spcAft>
                <a:spcPts val="0"/>
              </a:spcAft>
              <a:buClr>
                <a:schemeClr val="dk1"/>
              </a:buClr>
              <a:buSzPts val="3200"/>
              <a:buFont typeface="Noto Sans Symbols"/>
              <a:buChar char="▪"/>
            </a:pPr>
            <a:r>
              <a:rPr lang="en-AU" sz="3200">
                <a:latin typeface="Arial Black"/>
                <a:ea typeface="Arial Black"/>
                <a:cs typeface="Arial Black"/>
                <a:sym typeface="Arial Black"/>
              </a:rPr>
              <a:t>Anatomical neck</a:t>
            </a:r>
            <a:endParaRPr/>
          </a:p>
          <a:p>
            <a:pPr indent="-342900" lvl="0" marL="342900" rtl="0" algn="just">
              <a:spcBef>
                <a:spcPts val="640"/>
              </a:spcBef>
              <a:spcAft>
                <a:spcPts val="0"/>
              </a:spcAft>
              <a:buClr>
                <a:schemeClr val="dk1"/>
              </a:buClr>
              <a:buSzPts val="3200"/>
              <a:buFont typeface="Noto Sans Symbols"/>
              <a:buChar char="▪"/>
            </a:pPr>
            <a:r>
              <a:rPr lang="en-AU" sz="3200">
                <a:latin typeface="Arial"/>
                <a:ea typeface="Arial"/>
                <a:cs typeface="Arial"/>
                <a:sym typeface="Arial"/>
              </a:rPr>
              <a:t>It is constriction at the margins of the rounded head.</a:t>
            </a:r>
            <a:endParaRPr/>
          </a:p>
          <a:p>
            <a:pPr indent="-342900" lvl="0" marL="342900" rtl="0" algn="just">
              <a:spcBef>
                <a:spcPts val="640"/>
              </a:spcBef>
              <a:spcAft>
                <a:spcPts val="0"/>
              </a:spcAft>
              <a:buClr>
                <a:schemeClr val="dk1"/>
              </a:buClr>
              <a:buSzPts val="3200"/>
              <a:buFont typeface="Noto Sans Symbols"/>
              <a:buChar char="▪"/>
            </a:pPr>
            <a:r>
              <a:rPr lang="en-AU" sz="3200">
                <a:latin typeface="Arial"/>
                <a:ea typeface="Arial"/>
                <a:cs typeface="Arial"/>
                <a:sym typeface="Arial"/>
              </a:rPr>
              <a:t>It provides attachment to the capsular ligament of the shoulder joint, except-superiorly where the capsule is deficient, for the passage of tendon of long head of biceps brachii, medially the capsule extends down from the anatomical neck to the shaft for about 1–2 cm.</a:t>
            </a:r>
            <a:endParaRPr sz="3200">
              <a:latin typeface="Arial"/>
              <a:ea typeface="Arial"/>
              <a:cs typeface="Arial"/>
              <a:sym typeface="Arial"/>
            </a:endParaRPr>
          </a:p>
        </p:txBody>
      </p:sp>
      <p:sp>
        <p:nvSpPr>
          <p:cNvPr id="338" name="Google Shape;33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6"/>
          <p:cNvSpPr txBox="1"/>
          <p:nvPr>
            <p:ph type="title"/>
          </p:nvPr>
        </p:nvSpPr>
        <p:spPr>
          <a:xfrm>
            <a:off x="457200" y="285728"/>
            <a:ext cx="8229600" cy="92869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Cont’d</a:t>
            </a:r>
            <a:endParaRPr sz="4400">
              <a:latin typeface="Arial Black"/>
              <a:ea typeface="Arial Black"/>
              <a:cs typeface="Arial Black"/>
              <a:sym typeface="Arial Black"/>
            </a:endParaRPr>
          </a:p>
        </p:txBody>
      </p:sp>
      <p:sp>
        <p:nvSpPr>
          <p:cNvPr id="344" name="Google Shape;344;p36"/>
          <p:cNvSpPr txBox="1"/>
          <p:nvPr>
            <p:ph idx="1" type="body"/>
          </p:nvPr>
        </p:nvSpPr>
        <p:spPr>
          <a:xfrm>
            <a:off x="457200" y="1428736"/>
            <a:ext cx="8229600" cy="5643602"/>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AU" sz="3200">
                <a:latin typeface="Arial"/>
                <a:ea typeface="Arial"/>
                <a:cs typeface="Arial"/>
                <a:sym typeface="Arial"/>
              </a:rPr>
              <a:t>Olecranon fossa</a:t>
            </a:r>
            <a:r>
              <a:rPr lang="en-AU" sz="3200">
                <a:latin typeface="Arial"/>
                <a:ea typeface="Arial"/>
                <a:cs typeface="Arial"/>
                <a:sym typeface="Arial"/>
              </a:rPr>
              <a:t>, a large, </a:t>
            </a:r>
            <a:r>
              <a:rPr b="1" lang="en-AU" sz="3200">
                <a:latin typeface="Arial"/>
                <a:ea typeface="Arial"/>
                <a:cs typeface="Arial"/>
                <a:sym typeface="Arial"/>
              </a:rPr>
              <a:t>deep hollow </a:t>
            </a:r>
            <a:r>
              <a:rPr lang="en-AU" sz="3200">
                <a:latin typeface="Arial"/>
                <a:ea typeface="Arial"/>
                <a:cs typeface="Arial"/>
                <a:sym typeface="Arial"/>
              </a:rPr>
              <a:t>on the </a:t>
            </a:r>
            <a:r>
              <a:rPr b="1" lang="en-AU" sz="3200">
                <a:latin typeface="Arial"/>
                <a:ea typeface="Arial"/>
                <a:cs typeface="Arial"/>
                <a:sym typeface="Arial"/>
              </a:rPr>
              <a:t>posterior aspect </a:t>
            </a:r>
            <a:r>
              <a:rPr lang="en-AU" sz="3200">
                <a:latin typeface="Arial"/>
                <a:ea typeface="Arial"/>
                <a:cs typeface="Arial"/>
                <a:sym typeface="Arial"/>
              </a:rPr>
              <a:t>above the </a:t>
            </a:r>
            <a:r>
              <a:rPr b="1" lang="en-AU" sz="3200">
                <a:latin typeface="Arial"/>
                <a:ea typeface="Arial"/>
                <a:cs typeface="Arial"/>
                <a:sym typeface="Arial"/>
              </a:rPr>
              <a:t>trochlea</a:t>
            </a:r>
            <a:r>
              <a:rPr lang="en-AU" sz="3200">
                <a:latin typeface="Arial"/>
                <a:ea typeface="Arial"/>
                <a:cs typeface="Arial"/>
                <a:sym typeface="Arial"/>
              </a:rPr>
              <a:t>.</a:t>
            </a:r>
            <a:endParaRPr/>
          </a:p>
          <a:p>
            <a:pPr indent="-342900" lvl="0" marL="342900" rtl="0" algn="just">
              <a:spcBef>
                <a:spcPts val="640"/>
              </a:spcBef>
              <a:spcAft>
                <a:spcPts val="0"/>
              </a:spcAft>
              <a:buClr>
                <a:schemeClr val="dk1"/>
              </a:buClr>
              <a:buSzPts val="3200"/>
              <a:buNone/>
            </a:pPr>
            <a:r>
              <a:t/>
            </a:r>
            <a:endParaRPr sz="3200">
              <a:latin typeface="Arial"/>
              <a:ea typeface="Arial"/>
              <a:cs typeface="Arial"/>
              <a:sym typeface="Arial"/>
            </a:endParaRPr>
          </a:p>
          <a:p>
            <a:pPr indent="-342900" lvl="0" marL="342900" rtl="0" algn="just">
              <a:spcBef>
                <a:spcPts val="640"/>
              </a:spcBef>
              <a:spcAft>
                <a:spcPts val="0"/>
              </a:spcAft>
              <a:buClr>
                <a:schemeClr val="dk1"/>
              </a:buClr>
              <a:buSzPts val="3200"/>
              <a:buFont typeface="Noto Sans Symbols"/>
              <a:buChar char="▪"/>
            </a:pPr>
            <a:r>
              <a:rPr b="1" lang="en-AU" sz="3200">
                <a:latin typeface="Arial"/>
                <a:ea typeface="Arial"/>
                <a:cs typeface="Arial"/>
                <a:sym typeface="Arial"/>
              </a:rPr>
              <a:t>Shaft</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The shaft is a </a:t>
            </a:r>
            <a:r>
              <a:rPr b="1" lang="en-AU" sz="3200">
                <a:latin typeface="Arial"/>
                <a:ea typeface="Arial"/>
                <a:cs typeface="Arial"/>
                <a:sym typeface="Arial"/>
              </a:rPr>
              <a:t>long part of bone </a:t>
            </a:r>
            <a:r>
              <a:rPr lang="en-AU" sz="3200">
                <a:latin typeface="Arial"/>
                <a:ea typeface="Arial"/>
                <a:cs typeface="Arial"/>
                <a:sym typeface="Arial"/>
              </a:rPr>
              <a:t>extending between its </a:t>
            </a:r>
            <a:r>
              <a:rPr b="1" lang="en-AU" sz="3200">
                <a:latin typeface="Arial"/>
                <a:ea typeface="Arial"/>
                <a:cs typeface="Arial"/>
                <a:sym typeface="Arial"/>
              </a:rPr>
              <a:t>upper and lower ends</a:t>
            </a:r>
            <a:r>
              <a:rPr lang="en-AU" sz="3200">
                <a:latin typeface="Arial"/>
                <a:ea typeface="Arial"/>
                <a:cs typeface="Arial"/>
                <a:sym typeface="Arial"/>
              </a:rPr>
              <a:t>. It is </a:t>
            </a:r>
            <a:r>
              <a:rPr b="1" lang="en-AU" sz="3200">
                <a:latin typeface="Arial"/>
                <a:ea typeface="Arial"/>
                <a:cs typeface="Arial"/>
                <a:sym typeface="Arial"/>
              </a:rPr>
              <a:t>cylindrical</a:t>
            </a:r>
            <a:r>
              <a:rPr lang="en-AU" sz="3200">
                <a:latin typeface="Arial"/>
                <a:ea typeface="Arial"/>
                <a:cs typeface="Arial"/>
                <a:sym typeface="Arial"/>
              </a:rPr>
              <a:t> in the </a:t>
            </a:r>
            <a:r>
              <a:rPr b="1" lang="en-AU" sz="3200">
                <a:latin typeface="Arial"/>
                <a:ea typeface="Arial"/>
                <a:cs typeface="Arial"/>
                <a:sym typeface="Arial"/>
              </a:rPr>
              <a:t>upper half </a:t>
            </a:r>
            <a:r>
              <a:rPr lang="en-AU" sz="3200">
                <a:latin typeface="Arial"/>
                <a:ea typeface="Arial"/>
                <a:cs typeface="Arial"/>
                <a:sym typeface="Arial"/>
              </a:rPr>
              <a:t>and </a:t>
            </a:r>
            <a:r>
              <a:rPr b="1" lang="en-AU" sz="3200">
                <a:latin typeface="Arial"/>
                <a:ea typeface="Arial"/>
                <a:cs typeface="Arial"/>
                <a:sym typeface="Arial"/>
              </a:rPr>
              <a:t>flattened</a:t>
            </a:r>
            <a:r>
              <a:rPr lang="en-AU" sz="3200">
                <a:latin typeface="Arial"/>
                <a:ea typeface="Arial"/>
                <a:cs typeface="Arial"/>
                <a:sym typeface="Arial"/>
              </a:rPr>
              <a:t> anteroposteriorly in the </a:t>
            </a:r>
            <a:r>
              <a:rPr b="1" lang="en-AU" sz="3200">
                <a:latin typeface="Arial"/>
                <a:ea typeface="Arial"/>
                <a:cs typeface="Arial"/>
                <a:sym typeface="Arial"/>
              </a:rPr>
              <a:t>lower half</a:t>
            </a:r>
            <a:r>
              <a:rPr lang="en-AU" sz="3200">
                <a:latin typeface="Arial"/>
                <a:ea typeface="Arial"/>
                <a:cs typeface="Arial"/>
                <a:sym typeface="Arial"/>
              </a:rPr>
              <a:t>.</a:t>
            </a:r>
            <a:endParaRPr sz="3200">
              <a:latin typeface="Arial"/>
              <a:ea typeface="Arial"/>
              <a:cs typeface="Arial"/>
              <a:sym typeface="Arial"/>
            </a:endParaRPr>
          </a:p>
        </p:txBody>
      </p:sp>
      <p:sp>
        <p:nvSpPr>
          <p:cNvPr id="345" name="Google Shape;345;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7"/>
          <p:cNvSpPr txBox="1"/>
          <p:nvPr>
            <p:ph type="title"/>
          </p:nvPr>
        </p:nvSpPr>
        <p:spPr>
          <a:xfrm>
            <a:off x="457200" y="214290"/>
            <a:ext cx="8229600" cy="11430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Arial Black"/>
              <a:buNone/>
            </a:pPr>
            <a:r>
              <a:rPr lang="en-AU" sz="4400">
                <a:latin typeface="Arial Black"/>
                <a:ea typeface="Arial Black"/>
                <a:cs typeface="Arial Black"/>
                <a:sym typeface="Arial Black"/>
              </a:rPr>
              <a:t>FEATURES AND ATTACHMENTS</a:t>
            </a:r>
            <a:endParaRPr sz="4400">
              <a:latin typeface="Arial Black"/>
              <a:ea typeface="Arial Black"/>
              <a:cs typeface="Arial Black"/>
              <a:sym typeface="Arial Black"/>
            </a:endParaRPr>
          </a:p>
        </p:txBody>
      </p:sp>
      <p:sp>
        <p:nvSpPr>
          <p:cNvPr id="351" name="Google Shape;351;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AU" sz="3200">
                <a:latin typeface="Arial"/>
                <a:ea typeface="Arial"/>
                <a:cs typeface="Arial"/>
                <a:sym typeface="Arial"/>
              </a:rPr>
              <a:t>Upper End Head</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It is smooth, rounded and forms one-third of a sphere.</a:t>
            </a:r>
            <a:endParaRPr/>
          </a:p>
          <a:p>
            <a:pPr indent="-342900" lvl="0" marL="342900" rtl="0" algn="just">
              <a:spcBef>
                <a:spcPts val="640"/>
              </a:spcBef>
              <a:spcAft>
                <a:spcPts val="0"/>
              </a:spcAft>
              <a:buClr>
                <a:schemeClr val="dk1"/>
              </a:buClr>
              <a:buSzPts val="3200"/>
              <a:buChar char="•"/>
            </a:pPr>
            <a:r>
              <a:rPr lang="en-AU" sz="3200">
                <a:latin typeface="Arial"/>
                <a:ea typeface="Arial"/>
                <a:cs typeface="Arial"/>
                <a:sym typeface="Arial"/>
              </a:rPr>
              <a:t>It is covered by an </a:t>
            </a:r>
            <a:r>
              <a:rPr b="1" lang="en-AU" sz="3200">
                <a:latin typeface="Arial"/>
                <a:ea typeface="Arial"/>
                <a:cs typeface="Arial"/>
                <a:sym typeface="Arial"/>
              </a:rPr>
              <a:t>articular</a:t>
            </a:r>
            <a:r>
              <a:rPr lang="en-AU" sz="3200">
                <a:latin typeface="Arial"/>
                <a:ea typeface="Arial"/>
                <a:cs typeface="Arial"/>
                <a:sym typeface="Arial"/>
              </a:rPr>
              <a:t> </a:t>
            </a:r>
            <a:r>
              <a:rPr b="1" lang="en-AU" sz="3200">
                <a:latin typeface="Arial"/>
                <a:ea typeface="Arial"/>
                <a:cs typeface="Arial"/>
                <a:sym typeface="Arial"/>
              </a:rPr>
              <a:t>hyaline cartilage</a:t>
            </a:r>
            <a:r>
              <a:rPr lang="en-AU" sz="3200">
                <a:latin typeface="Arial"/>
                <a:ea typeface="Arial"/>
                <a:cs typeface="Arial"/>
                <a:sym typeface="Arial"/>
              </a:rPr>
              <a:t>, which is thicker in the </a:t>
            </a:r>
            <a:r>
              <a:rPr b="1" lang="en-AU" sz="3200">
                <a:latin typeface="Arial"/>
                <a:ea typeface="Arial"/>
                <a:cs typeface="Arial"/>
                <a:sym typeface="Arial"/>
              </a:rPr>
              <a:t>center</a:t>
            </a:r>
            <a:r>
              <a:rPr lang="en-AU" sz="3200">
                <a:latin typeface="Arial"/>
                <a:ea typeface="Arial"/>
                <a:cs typeface="Arial"/>
                <a:sym typeface="Arial"/>
              </a:rPr>
              <a:t> and </a:t>
            </a:r>
            <a:r>
              <a:rPr b="1" lang="en-AU" sz="3200">
                <a:latin typeface="Arial"/>
                <a:ea typeface="Arial"/>
                <a:cs typeface="Arial"/>
                <a:sym typeface="Arial"/>
              </a:rPr>
              <a:t>thinner </a:t>
            </a:r>
            <a:r>
              <a:rPr lang="en-AU" sz="3200">
                <a:latin typeface="Arial"/>
                <a:ea typeface="Arial"/>
                <a:cs typeface="Arial"/>
                <a:sym typeface="Arial"/>
              </a:rPr>
              <a:t>at the </a:t>
            </a:r>
            <a:r>
              <a:rPr b="1" lang="en-AU" sz="3200">
                <a:latin typeface="Arial"/>
                <a:ea typeface="Arial"/>
                <a:cs typeface="Arial"/>
                <a:sym typeface="Arial"/>
              </a:rPr>
              <a:t>periphery</a:t>
            </a:r>
            <a:r>
              <a:rPr lang="en-AU" sz="3200">
                <a:latin typeface="Arial"/>
                <a:ea typeface="Arial"/>
                <a:cs typeface="Arial"/>
                <a:sym typeface="Arial"/>
              </a:rPr>
              <a:t>.</a:t>
            </a:r>
            <a:endParaRPr sz="3200">
              <a:latin typeface="Arial"/>
              <a:ea typeface="Arial"/>
              <a:cs typeface="Arial"/>
              <a:sym typeface="Arial"/>
            </a:endParaRPr>
          </a:p>
        </p:txBody>
      </p:sp>
      <p:sp>
        <p:nvSpPr>
          <p:cNvPr id="352" name="Google Shape;352;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38"/>
          <p:cNvPicPr preferRelativeResize="0"/>
          <p:nvPr>
            <p:ph idx="1" type="body"/>
          </p:nvPr>
        </p:nvPicPr>
        <p:blipFill rotWithShape="1">
          <a:blip r:embed="rId3">
            <a:alphaModFix/>
          </a:blip>
          <a:srcRect b="0" l="0" r="0" t="0"/>
          <a:stretch/>
        </p:blipFill>
        <p:spPr>
          <a:xfrm>
            <a:off x="642910" y="214290"/>
            <a:ext cx="4357718" cy="6072231"/>
          </a:xfrm>
          <a:prstGeom prst="rect">
            <a:avLst/>
          </a:prstGeom>
          <a:noFill/>
          <a:ln>
            <a:noFill/>
          </a:ln>
        </p:spPr>
      </p:pic>
      <p:pic>
        <p:nvPicPr>
          <p:cNvPr id="358" name="Google Shape;358;p38"/>
          <p:cNvPicPr preferRelativeResize="0"/>
          <p:nvPr/>
        </p:nvPicPr>
        <p:blipFill rotWithShape="1">
          <a:blip r:embed="rId4">
            <a:alphaModFix/>
          </a:blip>
          <a:srcRect b="0" l="0" r="0" t="0"/>
          <a:stretch/>
        </p:blipFill>
        <p:spPr>
          <a:xfrm>
            <a:off x="4857752" y="214290"/>
            <a:ext cx="4000528" cy="6072230"/>
          </a:xfrm>
          <a:prstGeom prst="rect">
            <a:avLst/>
          </a:prstGeom>
          <a:noFill/>
          <a:ln>
            <a:noFill/>
          </a:ln>
        </p:spPr>
      </p:pic>
      <p:sp>
        <p:nvSpPr>
          <p:cNvPr id="359" name="Google Shape;359;p38"/>
          <p:cNvSpPr txBox="1"/>
          <p:nvPr/>
        </p:nvSpPr>
        <p:spPr>
          <a:xfrm>
            <a:off x="214282" y="6215082"/>
            <a:ext cx="11652672"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AU" sz="1800">
                <a:solidFill>
                  <a:schemeClr val="dk1"/>
                </a:solidFill>
                <a:latin typeface="Arial Black"/>
                <a:ea typeface="Arial Black"/>
                <a:cs typeface="Arial Black"/>
                <a:sym typeface="Arial Black"/>
              </a:rPr>
              <a:t>Right humerus showing attachments of the muscles and ligaments: </a:t>
            </a:r>
            <a:endParaRPr/>
          </a:p>
          <a:p>
            <a:pPr indent="0" lvl="0" marL="0" marR="0" rtl="0" algn="just">
              <a:spcBef>
                <a:spcPts val="0"/>
              </a:spcBef>
              <a:spcAft>
                <a:spcPts val="0"/>
              </a:spcAft>
              <a:buNone/>
            </a:pPr>
            <a:r>
              <a:rPr lang="en-AU" sz="1800">
                <a:solidFill>
                  <a:schemeClr val="dk1"/>
                </a:solidFill>
                <a:latin typeface="Arial Black"/>
                <a:ea typeface="Arial Black"/>
                <a:cs typeface="Arial Black"/>
                <a:sym typeface="Arial Black"/>
              </a:rPr>
              <a:t>A, anterior aspect; B, posterior aspect</a:t>
            </a:r>
            <a:endParaRPr sz="1800">
              <a:solidFill>
                <a:schemeClr val="dk1"/>
              </a:solidFill>
              <a:latin typeface="Arial Black"/>
              <a:ea typeface="Arial Black"/>
              <a:cs typeface="Arial Black"/>
              <a:sym typeface="Arial Black"/>
            </a:endParaRPr>
          </a:p>
        </p:txBody>
      </p:sp>
      <p:sp>
        <p:nvSpPr>
          <p:cNvPr id="360" name="Google Shape;36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0"/>
          <p:cNvSpPr txBox="1"/>
          <p:nvPr>
            <p:ph idx="1" type="body"/>
          </p:nvPr>
        </p:nvSpPr>
        <p:spPr>
          <a:xfrm>
            <a:off x="457200" y="214290"/>
            <a:ext cx="8229600" cy="6858048"/>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AU" sz="3200">
                <a:latin typeface="Arial Black"/>
                <a:ea typeface="Arial Black"/>
                <a:cs typeface="Arial Black"/>
                <a:sym typeface="Arial Black"/>
              </a:rPr>
              <a:t>Surgical neck</a:t>
            </a:r>
            <a:endParaRPr/>
          </a:p>
          <a:p>
            <a:pPr indent="-342900" lvl="0" marL="342900" rtl="0" algn="just">
              <a:spcBef>
                <a:spcPts val="646"/>
              </a:spcBef>
              <a:spcAft>
                <a:spcPts val="0"/>
              </a:spcAft>
              <a:buClr>
                <a:schemeClr val="dk1"/>
              </a:buClr>
              <a:buSzPct val="100000"/>
              <a:buChar char="•"/>
            </a:pPr>
            <a:r>
              <a:rPr lang="en-AU" sz="3800">
                <a:latin typeface="Arial"/>
                <a:ea typeface="Arial"/>
                <a:cs typeface="Arial"/>
                <a:sym typeface="Arial"/>
              </a:rPr>
              <a:t>It is </a:t>
            </a:r>
            <a:r>
              <a:rPr b="1" lang="en-AU" sz="3800">
                <a:latin typeface="Arial"/>
                <a:ea typeface="Arial"/>
                <a:cs typeface="Arial"/>
                <a:sym typeface="Arial"/>
              </a:rPr>
              <a:t>short constriction </a:t>
            </a:r>
            <a:r>
              <a:rPr lang="en-AU" sz="3800">
                <a:latin typeface="Arial"/>
                <a:ea typeface="Arial"/>
                <a:cs typeface="Arial"/>
                <a:sym typeface="Arial"/>
              </a:rPr>
              <a:t>in the </a:t>
            </a:r>
            <a:r>
              <a:rPr b="1" lang="en-AU" sz="3800">
                <a:latin typeface="Arial"/>
                <a:ea typeface="Arial"/>
                <a:cs typeface="Arial"/>
                <a:sym typeface="Arial"/>
              </a:rPr>
              <a:t>upper end </a:t>
            </a:r>
            <a:r>
              <a:rPr lang="en-AU" sz="3800">
                <a:latin typeface="Arial"/>
                <a:ea typeface="Arial"/>
                <a:cs typeface="Arial"/>
                <a:sym typeface="Arial"/>
              </a:rPr>
              <a:t>of the </a:t>
            </a:r>
            <a:r>
              <a:rPr b="1" lang="en-AU" sz="3800">
                <a:latin typeface="Arial"/>
                <a:ea typeface="Arial"/>
                <a:cs typeface="Arial"/>
                <a:sym typeface="Arial"/>
              </a:rPr>
              <a:t>shaft</a:t>
            </a:r>
            <a:r>
              <a:rPr lang="en-AU" sz="3800">
                <a:latin typeface="Arial"/>
                <a:ea typeface="Arial"/>
                <a:cs typeface="Arial"/>
                <a:sym typeface="Arial"/>
              </a:rPr>
              <a:t> below the </a:t>
            </a:r>
            <a:r>
              <a:rPr b="1" lang="en-AU" sz="3800">
                <a:latin typeface="Arial"/>
                <a:ea typeface="Arial"/>
                <a:cs typeface="Arial"/>
                <a:sym typeface="Arial"/>
              </a:rPr>
              <a:t>greater</a:t>
            </a:r>
            <a:r>
              <a:rPr lang="en-AU" sz="3800">
                <a:latin typeface="Arial"/>
                <a:ea typeface="Arial"/>
                <a:cs typeface="Arial"/>
                <a:sym typeface="Arial"/>
              </a:rPr>
              <a:t> and </a:t>
            </a:r>
            <a:r>
              <a:rPr b="1" lang="en-AU" sz="3800">
                <a:latin typeface="Arial"/>
                <a:ea typeface="Arial"/>
                <a:cs typeface="Arial"/>
                <a:sym typeface="Arial"/>
              </a:rPr>
              <a:t>lesser tubercles/below </a:t>
            </a:r>
            <a:r>
              <a:rPr lang="en-AU" sz="3800">
                <a:latin typeface="Arial"/>
                <a:ea typeface="Arial"/>
                <a:cs typeface="Arial"/>
                <a:sym typeface="Arial"/>
              </a:rPr>
              <a:t>the </a:t>
            </a:r>
            <a:r>
              <a:rPr b="1" lang="en-AU" sz="3800">
                <a:latin typeface="Arial"/>
                <a:ea typeface="Arial"/>
                <a:cs typeface="Arial"/>
                <a:sym typeface="Arial"/>
              </a:rPr>
              <a:t>epiphyseal line</a:t>
            </a:r>
            <a:r>
              <a:rPr lang="en-AU" sz="3800">
                <a:latin typeface="Arial"/>
                <a:ea typeface="Arial"/>
                <a:cs typeface="Arial"/>
                <a:sym typeface="Arial"/>
              </a:rPr>
              <a:t>.</a:t>
            </a:r>
            <a:endParaRPr/>
          </a:p>
          <a:p>
            <a:pPr indent="-342900" lvl="0" marL="342900" rtl="0" algn="just">
              <a:spcBef>
                <a:spcPts val="646"/>
              </a:spcBef>
              <a:spcAft>
                <a:spcPts val="0"/>
              </a:spcAft>
              <a:buClr>
                <a:schemeClr val="dk1"/>
              </a:buClr>
              <a:buSzPct val="100000"/>
              <a:buChar char="•"/>
            </a:pPr>
            <a:r>
              <a:rPr lang="en-AU" sz="3800">
                <a:latin typeface="Arial"/>
                <a:ea typeface="Arial"/>
                <a:cs typeface="Arial"/>
                <a:sym typeface="Arial"/>
              </a:rPr>
              <a:t>It is related to </a:t>
            </a:r>
            <a:r>
              <a:rPr b="1" lang="en-AU" sz="3800">
                <a:latin typeface="Arial"/>
                <a:ea typeface="Arial"/>
                <a:cs typeface="Arial"/>
                <a:sym typeface="Arial"/>
              </a:rPr>
              <a:t>axillary nerve </a:t>
            </a:r>
            <a:r>
              <a:rPr lang="en-AU" sz="3800">
                <a:latin typeface="Arial"/>
                <a:ea typeface="Arial"/>
                <a:cs typeface="Arial"/>
                <a:sym typeface="Arial"/>
              </a:rPr>
              <a:t>and </a:t>
            </a:r>
            <a:r>
              <a:rPr b="1" lang="en-AU" sz="3800">
                <a:latin typeface="Arial"/>
                <a:ea typeface="Arial"/>
                <a:cs typeface="Arial"/>
                <a:sym typeface="Arial"/>
              </a:rPr>
              <a:t>posterior</a:t>
            </a:r>
            <a:r>
              <a:rPr lang="en-AU" sz="3800">
                <a:latin typeface="Arial"/>
                <a:ea typeface="Arial"/>
                <a:cs typeface="Arial"/>
                <a:sym typeface="Arial"/>
              </a:rPr>
              <a:t> and </a:t>
            </a:r>
            <a:r>
              <a:rPr b="1" lang="en-AU" sz="3800">
                <a:latin typeface="Arial"/>
                <a:ea typeface="Arial"/>
                <a:cs typeface="Arial"/>
                <a:sym typeface="Arial"/>
              </a:rPr>
              <a:t>anterior circumflex humeral vessels</a:t>
            </a:r>
            <a:r>
              <a:rPr lang="en-AU" sz="3800">
                <a:latin typeface="Arial"/>
                <a:ea typeface="Arial"/>
                <a:cs typeface="Arial"/>
                <a:sym typeface="Arial"/>
              </a:rPr>
              <a:t>.</a:t>
            </a:r>
            <a:endParaRPr/>
          </a:p>
          <a:p>
            <a:pPr indent="-342900" lvl="0" marL="342900" rtl="0" algn="just">
              <a:spcBef>
                <a:spcPts val="646"/>
              </a:spcBef>
              <a:spcAft>
                <a:spcPts val="0"/>
              </a:spcAft>
              <a:buClr>
                <a:schemeClr val="dk1"/>
              </a:buClr>
              <a:buSzPct val="100000"/>
              <a:buChar char="•"/>
            </a:pPr>
            <a:r>
              <a:rPr lang="en-AU" sz="3800">
                <a:latin typeface="Arial"/>
                <a:ea typeface="Arial"/>
                <a:cs typeface="Arial"/>
                <a:sym typeface="Arial"/>
              </a:rPr>
              <a:t>It is the </a:t>
            </a:r>
            <a:r>
              <a:rPr b="1" lang="en-AU" sz="3800">
                <a:latin typeface="Arial"/>
                <a:ea typeface="Arial"/>
                <a:cs typeface="Arial"/>
                <a:sym typeface="Arial"/>
              </a:rPr>
              <a:t>most important feature </a:t>
            </a:r>
            <a:r>
              <a:rPr lang="en-AU" sz="3800">
                <a:latin typeface="Arial"/>
                <a:ea typeface="Arial"/>
                <a:cs typeface="Arial"/>
                <a:sym typeface="Arial"/>
              </a:rPr>
              <a:t>of the </a:t>
            </a:r>
            <a:r>
              <a:rPr b="1" lang="en-AU" sz="3800">
                <a:latin typeface="Arial"/>
                <a:ea typeface="Arial"/>
                <a:cs typeface="Arial"/>
                <a:sym typeface="Arial"/>
              </a:rPr>
              <a:t>proximal end </a:t>
            </a:r>
            <a:r>
              <a:rPr lang="en-AU" sz="3800">
                <a:latin typeface="Arial"/>
                <a:ea typeface="Arial"/>
                <a:cs typeface="Arial"/>
                <a:sym typeface="Arial"/>
              </a:rPr>
              <a:t>of the </a:t>
            </a:r>
            <a:r>
              <a:rPr b="1" lang="en-AU" sz="3800">
                <a:latin typeface="Arial"/>
                <a:ea typeface="Arial"/>
                <a:cs typeface="Arial"/>
                <a:sym typeface="Arial"/>
              </a:rPr>
              <a:t>humerus</a:t>
            </a:r>
            <a:r>
              <a:rPr lang="en-AU" sz="3800">
                <a:latin typeface="Arial"/>
                <a:ea typeface="Arial"/>
                <a:cs typeface="Arial"/>
                <a:sym typeface="Arial"/>
              </a:rPr>
              <a:t> because it is </a:t>
            </a:r>
            <a:r>
              <a:rPr b="1" lang="en-AU" sz="3800">
                <a:latin typeface="Arial"/>
                <a:ea typeface="Arial"/>
                <a:cs typeface="Arial"/>
                <a:sym typeface="Arial"/>
              </a:rPr>
              <a:t>weaker </a:t>
            </a:r>
            <a:r>
              <a:rPr lang="en-AU" sz="3800">
                <a:latin typeface="Arial"/>
                <a:ea typeface="Arial"/>
                <a:cs typeface="Arial"/>
                <a:sym typeface="Arial"/>
              </a:rPr>
              <a:t>than the </a:t>
            </a:r>
            <a:r>
              <a:rPr b="1" lang="en-AU" sz="3800">
                <a:latin typeface="Arial"/>
                <a:ea typeface="Arial"/>
                <a:cs typeface="Arial"/>
                <a:sym typeface="Arial"/>
              </a:rPr>
              <a:t>more proximal regions</a:t>
            </a:r>
            <a:r>
              <a:rPr lang="en-AU" sz="3800">
                <a:latin typeface="Arial"/>
                <a:ea typeface="Arial"/>
                <a:cs typeface="Arial"/>
                <a:sym typeface="Arial"/>
              </a:rPr>
              <a:t> of the </a:t>
            </a:r>
            <a:r>
              <a:rPr b="1" lang="en-AU" sz="3800">
                <a:latin typeface="Arial"/>
                <a:ea typeface="Arial"/>
                <a:cs typeface="Arial"/>
                <a:sym typeface="Arial"/>
              </a:rPr>
              <a:t>bone</a:t>
            </a:r>
            <a:r>
              <a:rPr lang="en-AU" sz="3800">
                <a:latin typeface="Arial"/>
                <a:ea typeface="Arial"/>
                <a:cs typeface="Arial"/>
                <a:sym typeface="Arial"/>
              </a:rPr>
              <a:t>, hence it is one of sites where the </a:t>
            </a:r>
            <a:r>
              <a:rPr b="1" lang="en-AU" sz="3800">
                <a:latin typeface="Arial"/>
                <a:ea typeface="Arial"/>
                <a:cs typeface="Arial"/>
                <a:sym typeface="Arial"/>
              </a:rPr>
              <a:t>humerus</a:t>
            </a:r>
            <a:r>
              <a:rPr lang="en-AU" sz="3800">
                <a:latin typeface="Arial"/>
                <a:ea typeface="Arial"/>
                <a:cs typeface="Arial"/>
                <a:sym typeface="Arial"/>
              </a:rPr>
              <a:t> commonly fractures leading to </a:t>
            </a:r>
            <a:r>
              <a:rPr b="1" lang="en-AU" sz="3800">
                <a:latin typeface="Arial"/>
                <a:ea typeface="Arial"/>
                <a:cs typeface="Arial"/>
                <a:sym typeface="Arial"/>
              </a:rPr>
              <a:t>damage</a:t>
            </a:r>
            <a:r>
              <a:rPr lang="en-AU" sz="3800">
                <a:latin typeface="Arial"/>
                <a:ea typeface="Arial"/>
                <a:cs typeface="Arial"/>
                <a:sym typeface="Arial"/>
              </a:rPr>
              <a:t> of associated </a:t>
            </a:r>
            <a:r>
              <a:rPr b="1" lang="en-AU" sz="3800">
                <a:latin typeface="Arial"/>
                <a:ea typeface="Arial"/>
                <a:cs typeface="Arial"/>
                <a:sym typeface="Arial"/>
              </a:rPr>
              <a:t>nerves and vessels</a:t>
            </a:r>
            <a:r>
              <a:rPr lang="en-AU" sz="3800">
                <a:latin typeface="Arial"/>
                <a:ea typeface="Arial"/>
                <a:cs typeface="Arial"/>
                <a:sym typeface="Arial"/>
              </a:rPr>
              <a:t>.</a:t>
            </a:r>
            <a:endParaRPr sz="3800">
              <a:latin typeface="Arial"/>
              <a:ea typeface="Arial"/>
              <a:cs typeface="Arial"/>
              <a:sym typeface="Arial"/>
            </a:endParaRPr>
          </a:p>
        </p:txBody>
      </p:sp>
      <p:sp>
        <p:nvSpPr>
          <p:cNvPr id="366" name="Google Shape;36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1"/>
          <p:cNvSpPr txBox="1"/>
          <p:nvPr>
            <p:ph idx="1" type="body"/>
          </p:nvPr>
        </p:nvSpPr>
        <p:spPr>
          <a:xfrm>
            <a:off x="142844" y="214290"/>
            <a:ext cx="8858312" cy="7429552"/>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Font typeface="Noto Sans Symbols"/>
              <a:buChar char="▪"/>
            </a:pPr>
            <a:r>
              <a:rPr lang="en-AU" sz="3200">
                <a:latin typeface="Arial Black"/>
                <a:ea typeface="Arial Black"/>
                <a:cs typeface="Arial Black"/>
                <a:sym typeface="Arial Black"/>
              </a:rPr>
              <a:t>Greater tubercle</a:t>
            </a:r>
            <a:endParaRPr/>
          </a:p>
          <a:p>
            <a:pPr indent="-342900" lvl="0" marL="342900" rtl="0" algn="just">
              <a:spcBef>
                <a:spcPts val="600"/>
              </a:spcBef>
              <a:spcAft>
                <a:spcPts val="0"/>
              </a:spcAft>
              <a:buClr>
                <a:schemeClr val="dk1"/>
              </a:buClr>
              <a:buSzPts val="3000"/>
              <a:buChar char="•"/>
            </a:pPr>
            <a:r>
              <a:rPr lang="en-AU" sz="3000">
                <a:latin typeface="Arial"/>
                <a:ea typeface="Arial"/>
                <a:cs typeface="Arial"/>
                <a:sym typeface="Arial"/>
              </a:rPr>
              <a:t>It is the </a:t>
            </a:r>
            <a:r>
              <a:rPr b="1" lang="en-AU" sz="3000">
                <a:latin typeface="Arial"/>
                <a:ea typeface="Arial"/>
                <a:cs typeface="Arial"/>
                <a:sym typeface="Arial"/>
              </a:rPr>
              <a:t>most lateral part </a:t>
            </a:r>
            <a:r>
              <a:rPr lang="en-AU" sz="3000">
                <a:latin typeface="Arial"/>
                <a:ea typeface="Arial"/>
                <a:cs typeface="Arial"/>
                <a:sym typeface="Arial"/>
              </a:rPr>
              <a:t>of the </a:t>
            </a:r>
            <a:r>
              <a:rPr b="1" lang="en-AU" sz="3000">
                <a:latin typeface="Arial"/>
                <a:ea typeface="Arial"/>
                <a:cs typeface="Arial"/>
                <a:sym typeface="Arial"/>
              </a:rPr>
              <a:t>proximal end </a:t>
            </a:r>
            <a:r>
              <a:rPr lang="en-AU" sz="3000">
                <a:latin typeface="Arial"/>
                <a:ea typeface="Arial"/>
                <a:cs typeface="Arial"/>
                <a:sym typeface="Arial"/>
              </a:rPr>
              <a:t>of </a:t>
            </a:r>
            <a:r>
              <a:rPr b="1" lang="en-AU" sz="3000">
                <a:latin typeface="Arial"/>
                <a:ea typeface="Arial"/>
                <a:cs typeface="Arial"/>
                <a:sym typeface="Arial"/>
              </a:rPr>
              <a:t>humerus</a:t>
            </a:r>
            <a:r>
              <a:rPr lang="en-AU" sz="3000">
                <a:latin typeface="Arial"/>
                <a:ea typeface="Arial"/>
                <a:cs typeface="Arial"/>
                <a:sym typeface="Arial"/>
              </a:rPr>
              <a:t>.</a:t>
            </a:r>
            <a:endParaRPr/>
          </a:p>
          <a:p>
            <a:pPr indent="-342900" lvl="0" marL="342900" rtl="0" algn="just">
              <a:spcBef>
                <a:spcPts val="600"/>
              </a:spcBef>
              <a:spcAft>
                <a:spcPts val="0"/>
              </a:spcAft>
              <a:buClr>
                <a:schemeClr val="dk1"/>
              </a:buClr>
              <a:buSzPts val="3000"/>
              <a:buChar char="•"/>
            </a:pPr>
            <a:r>
              <a:rPr lang="en-AU" sz="3000">
                <a:latin typeface="Arial"/>
                <a:ea typeface="Arial"/>
                <a:cs typeface="Arial"/>
                <a:sym typeface="Arial"/>
              </a:rPr>
              <a:t>Its </a:t>
            </a:r>
            <a:r>
              <a:rPr b="1" lang="en-AU" sz="3000">
                <a:latin typeface="Arial"/>
                <a:ea typeface="Arial"/>
                <a:cs typeface="Arial"/>
                <a:sym typeface="Arial"/>
              </a:rPr>
              <a:t>posterosuperior </a:t>
            </a:r>
            <a:r>
              <a:rPr lang="en-AU" sz="3000">
                <a:latin typeface="Arial"/>
                <a:ea typeface="Arial"/>
                <a:cs typeface="Arial"/>
                <a:sym typeface="Arial"/>
              </a:rPr>
              <a:t>aspect bears three flattened facet-like impressions: </a:t>
            </a:r>
            <a:r>
              <a:rPr b="1" lang="en-AU" sz="3000">
                <a:latin typeface="Arial"/>
                <a:ea typeface="Arial"/>
                <a:cs typeface="Arial"/>
                <a:sym typeface="Arial"/>
              </a:rPr>
              <a:t>upper</a:t>
            </a:r>
            <a:r>
              <a:rPr lang="en-AU" sz="3000">
                <a:latin typeface="Arial"/>
                <a:ea typeface="Arial"/>
                <a:cs typeface="Arial"/>
                <a:sym typeface="Arial"/>
              </a:rPr>
              <a:t>, </a:t>
            </a:r>
            <a:r>
              <a:rPr b="1" lang="en-AU" sz="3000">
                <a:latin typeface="Arial"/>
                <a:ea typeface="Arial"/>
                <a:cs typeface="Arial"/>
                <a:sym typeface="Arial"/>
              </a:rPr>
              <a:t>middle</a:t>
            </a:r>
            <a:r>
              <a:rPr lang="en-AU" sz="3000">
                <a:latin typeface="Arial"/>
                <a:ea typeface="Arial"/>
                <a:cs typeface="Arial"/>
                <a:sym typeface="Arial"/>
              </a:rPr>
              <a:t>, and </a:t>
            </a:r>
            <a:r>
              <a:rPr b="1" lang="en-AU" sz="3000">
                <a:latin typeface="Arial"/>
                <a:ea typeface="Arial"/>
                <a:cs typeface="Arial"/>
                <a:sym typeface="Arial"/>
              </a:rPr>
              <a:t>lower</a:t>
            </a:r>
            <a:r>
              <a:rPr lang="en-AU" sz="3000">
                <a:latin typeface="Arial"/>
                <a:ea typeface="Arial"/>
                <a:cs typeface="Arial"/>
                <a:sym typeface="Arial"/>
              </a:rPr>
              <a:t>, which provide attachment to </a:t>
            </a:r>
            <a:r>
              <a:rPr b="1" lang="en-AU" sz="3000">
                <a:latin typeface="Arial"/>
                <a:ea typeface="Arial"/>
                <a:cs typeface="Arial"/>
                <a:sym typeface="Arial"/>
              </a:rPr>
              <a:t>supraspinatus, infraspinatus, and teres minor muscles</a:t>
            </a:r>
            <a:r>
              <a:rPr lang="en-AU" sz="3000">
                <a:latin typeface="Arial"/>
                <a:ea typeface="Arial"/>
                <a:cs typeface="Arial"/>
                <a:sym typeface="Arial"/>
              </a:rPr>
              <a:t>, respectively.</a:t>
            </a:r>
            <a:endParaRPr/>
          </a:p>
          <a:p>
            <a:pPr indent="-342900" lvl="0" marL="342900" rtl="0" algn="just">
              <a:spcBef>
                <a:spcPts val="600"/>
              </a:spcBef>
              <a:spcAft>
                <a:spcPts val="0"/>
              </a:spcAft>
              <a:buClr>
                <a:schemeClr val="dk1"/>
              </a:buClr>
              <a:buSzPts val="3000"/>
              <a:buFont typeface="Noto Sans Symbols"/>
              <a:buChar char="▪"/>
            </a:pPr>
            <a:r>
              <a:rPr lang="en-AU" sz="3000">
                <a:latin typeface="Arial Black"/>
                <a:ea typeface="Arial Black"/>
                <a:cs typeface="Arial Black"/>
                <a:sym typeface="Arial Black"/>
              </a:rPr>
              <a:t>Lesser tubercle</a:t>
            </a:r>
            <a:endParaRPr/>
          </a:p>
          <a:p>
            <a:pPr indent="-342900" lvl="0" marL="342900" rtl="0" algn="just">
              <a:spcBef>
                <a:spcPts val="600"/>
              </a:spcBef>
              <a:spcAft>
                <a:spcPts val="0"/>
              </a:spcAft>
              <a:buClr>
                <a:schemeClr val="dk1"/>
              </a:buClr>
              <a:buSzPts val="3000"/>
              <a:buChar char="•"/>
            </a:pPr>
            <a:r>
              <a:rPr lang="en-AU" sz="3000">
                <a:latin typeface="Arial"/>
                <a:ea typeface="Arial"/>
                <a:cs typeface="Arial"/>
                <a:sym typeface="Arial"/>
              </a:rPr>
              <a:t>It is </a:t>
            </a:r>
            <a:r>
              <a:rPr b="1" lang="en-AU" sz="3000">
                <a:latin typeface="Arial"/>
                <a:ea typeface="Arial"/>
                <a:cs typeface="Arial"/>
                <a:sym typeface="Arial"/>
              </a:rPr>
              <a:t>small elevation </a:t>
            </a:r>
            <a:r>
              <a:rPr lang="en-AU" sz="3000">
                <a:latin typeface="Arial"/>
                <a:ea typeface="Arial"/>
                <a:cs typeface="Arial"/>
                <a:sym typeface="Arial"/>
              </a:rPr>
              <a:t>on the front of </a:t>
            </a:r>
            <a:r>
              <a:rPr b="1" lang="en-AU" sz="3000">
                <a:latin typeface="Arial"/>
                <a:ea typeface="Arial"/>
                <a:cs typeface="Arial"/>
                <a:sym typeface="Arial"/>
              </a:rPr>
              <a:t>upper end </a:t>
            </a:r>
            <a:r>
              <a:rPr lang="en-AU" sz="3000">
                <a:latin typeface="Arial"/>
                <a:ea typeface="Arial"/>
                <a:cs typeface="Arial"/>
                <a:sym typeface="Arial"/>
              </a:rPr>
              <a:t>of </a:t>
            </a:r>
            <a:r>
              <a:rPr b="1" lang="en-AU" sz="3000">
                <a:latin typeface="Arial"/>
                <a:ea typeface="Arial"/>
                <a:cs typeface="Arial"/>
                <a:sym typeface="Arial"/>
              </a:rPr>
              <a:t>humerus</a:t>
            </a:r>
            <a:r>
              <a:rPr lang="en-AU" sz="3000">
                <a:latin typeface="Arial"/>
                <a:ea typeface="Arial"/>
                <a:cs typeface="Arial"/>
                <a:sym typeface="Arial"/>
              </a:rPr>
              <a:t>, just above the </a:t>
            </a:r>
            <a:r>
              <a:rPr b="1" lang="en-AU" sz="3000">
                <a:latin typeface="Arial"/>
                <a:ea typeface="Arial"/>
                <a:cs typeface="Arial"/>
                <a:sym typeface="Arial"/>
              </a:rPr>
              <a:t>surgical neck</a:t>
            </a:r>
            <a:r>
              <a:rPr lang="en-AU" sz="3000">
                <a:latin typeface="Arial"/>
                <a:ea typeface="Arial"/>
                <a:cs typeface="Arial"/>
                <a:sym typeface="Arial"/>
              </a:rPr>
              <a:t>.</a:t>
            </a:r>
            <a:endParaRPr/>
          </a:p>
          <a:p>
            <a:pPr indent="-342900" lvl="0" marL="342900" rtl="0" algn="just">
              <a:spcBef>
                <a:spcPts val="600"/>
              </a:spcBef>
              <a:spcAft>
                <a:spcPts val="0"/>
              </a:spcAft>
              <a:buClr>
                <a:schemeClr val="dk1"/>
              </a:buClr>
              <a:buSzPts val="3000"/>
              <a:buChar char="•"/>
            </a:pPr>
            <a:r>
              <a:rPr lang="en-AU" sz="3000">
                <a:latin typeface="Arial"/>
                <a:ea typeface="Arial"/>
                <a:cs typeface="Arial"/>
                <a:sym typeface="Arial"/>
              </a:rPr>
              <a:t>It provides attachment to </a:t>
            </a:r>
            <a:r>
              <a:rPr b="1" lang="en-AU" sz="3000">
                <a:latin typeface="Arial"/>
                <a:ea typeface="Arial"/>
                <a:cs typeface="Arial"/>
                <a:sym typeface="Arial"/>
              </a:rPr>
              <a:t>subscapularis muscle</a:t>
            </a:r>
            <a:endParaRPr b="1" sz="3000">
              <a:latin typeface="Arial"/>
              <a:ea typeface="Arial"/>
              <a:cs typeface="Arial"/>
              <a:sym typeface="Arial"/>
            </a:endParaRPr>
          </a:p>
        </p:txBody>
      </p:sp>
      <p:sp>
        <p:nvSpPr>
          <p:cNvPr id="372" name="Google Shape;372;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2"/>
          <p:cNvSpPr txBox="1"/>
          <p:nvPr>
            <p:ph idx="1" type="body"/>
          </p:nvPr>
        </p:nvSpPr>
        <p:spPr>
          <a:xfrm>
            <a:off x="214282" y="285728"/>
            <a:ext cx="8472518" cy="6572272"/>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just">
              <a:spcBef>
                <a:spcPts val="0"/>
              </a:spcBef>
              <a:spcAft>
                <a:spcPts val="0"/>
              </a:spcAft>
              <a:buClr>
                <a:schemeClr val="dk1"/>
              </a:buClr>
              <a:buSzPct val="100000"/>
              <a:buFont typeface="Noto Sans Symbols"/>
              <a:buChar char="▪"/>
            </a:pPr>
            <a:r>
              <a:rPr lang="en-AU" sz="5100">
                <a:latin typeface="Arial Black"/>
                <a:ea typeface="Arial Black"/>
                <a:cs typeface="Arial Black"/>
                <a:sym typeface="Arial Black"/>
              </a:rPr>
              <a:t>Intertubercular 	Sulcus/Bicipital Groove</a:t>
            </a:r>
            <a:endParaRPr/>
          </a:p>
          <a:p>
            <a:pPr indent="-342900" lvl="0" marL="342900" rtl="0" algn="just">
              <a:spcBef>
                <a:spcPts val="638"/>
              </a:spcBef>
              <a:spcAft>
                <a:spcPts val="0"/>
              </a:spcAft>
              <a:buClr>
                <a:schemeClr val="dk1"/>
              </a:buClr>
              <a:buSzPct val="100000"/>
              <a:buFont typeface="Arial"/>
              <a:buChar char="•"/>
            </a:pPr>
            <a:r>
              <a:rPr lang="en-AU" sz="5800">
                <a:latin typeface="Arial"/>
                <a:ea typeface="Arial"/>
                <a:cs typeface="Arial"/>
                <a:sym typeface="Arial"/>
              </a:rPr>
              <a:t>It is a </a:t>
            </a:r>
            <a:r>
              <a:rPr b="1" lang="en-AU" sz="5800">
                <a:latin typeface="Arial"/>
                <a:ea typeface="Arial"/>
                <a:cs typeface="Arial"/>
                <a:sym typeface="Arial"/>
              </a:rPr>
              <a:t>vertical groove </a:t>
            </a:r>
            <a:r>
              <a:rPr lang="en-AU" sz="5800">
                <a:latin typeface="Arial"/>
                <a:ea typeface="Arial"/>
                <a:cs typeface="Arial"/>
                <a:sym typeface="Arial"/>
              </a:rPr>
              <a:t>between </a:t>
            </a:r>
            <a:r>
              <a:rPr b="1" lang="en-AU" sz="5800">
                <a:latin typeface="Arial"/>
                <a:ea typeface="Arial"/>
                <a:cs typeface="Arial"/>
                <a:sym typeface="Arial"/>
              </a:rPr>
              <a:t>lesser</a:t>
            </a:r>
            <a:r>
              <a:rPr lang="en-AU" sz="5800">
                <a:latin typeface="Arial"/>
                <a:ea typeface="Arial"/>
                <a:cs typeface="Arial"/>
                <a:sym typeface="Arial"/>
              </a:rPr>
              <a:t> and </a:t>
            </a:r>
            <a:r>
              <a:rPr b="1" lang="en-AU" sz="5800">
                <a:latin typeface="Arial"/>
                <a:ea typeface="Arial"/>
                <a:cs typeface="Arial"/>
                <a:sym typeface="Arial"/>
              </a:rPr>
              <a:t>greater tubercles</a:t>
            </a:r>
            <a:r>
              <a:rPr lang="en-AU" sz="5800">
                <a:latin typeface="Arial"/>
                <a:ea typeface="Arial"/>
                <a:cs typeface="Arial"/>
                <a:sym typeface="Arial"/>
              </a:rPr>
              <a:t>.</a:t>
            </a:r>
            <a:endParaRPr/>
          </a:p>
          <a:p>
            <a:pPr indent="-342900" lvl="0" marL="342900" rtl="0" algn="just">
              <a:spcBef>
                <a:spcPts val="638"/>
              </a:spcBef>
              <a:spcAft>
                <a:spcPts val="0"/>
              </a:spcAft>
              <a:buClr>
                <a:schemeClr val="dk1"/>
              </a:buClr>
              <a:buSzPct val="100000"/>
              <a:buFont typeface="Arial"/>
              <a:buChar char="•"/>
            </a:pPr>
            <a:r>
              <a:rPr lang="en-AU" sz="5800">
                <a:latin typeface="Arial"/>
                <a:ea typeface="Arial"/>
                <a:cs typeface="Arial"/>
                <a:sym typeface="Arial"/>
              </a:rPr>
              <a:t>It contains (a) </a:t>
            </a:r>
            <a:r>
              <a:rPr b="1" lang="en-AU" sz="5800">
                <a:latin typeface="Arial"/>
                <a:ea typeface="Arial"/>
                <a:cs typeface="Arial"/>
                <a:sym typeface="Arial"/>
              </a:rPr>
              <a:t>long head of biceps</a:t>
            </a:r>
            <a:r>
              <a:rPr lang="en-AU" sz="5800">
                <a:latin typeface="Arial"/>
                <a:ea typeface="Arial"/>
                <a:cs typeface="Arial"/>
                <a:sym typeface="Arial"/>
              </a:rPr>
              <a:t>, enclosed in the synovial sheath and (b) </a:t>
            </a:r>
            <a:r>
              <a:rPr b="1" lang="en-AU" sz="5800">
                <a:latin typeface="Arial"/>
                <a:ea typeface="Arial"/>
                <a:cs typeface="Arial"/>
                <a:sym typeface="Arial"/>
              </a:rPr>
              <a:t>ascending branch </a:t>
            </a:r>
            <a:r>
              <a:rPr lang="en-AU" sz="5800">
                <a:latin typeface="Arial"/>
                <a:ea typeface="Arial"/>
                <a:cs typeface="Arial"/>
                <a:sym typeface="Arial"/>
              </a:rPr>
              <a:t>of </a:t>
            </a:r>
            <a:r>
              <a:rPr b="1" lang="en-AU" sz="5800">
                <a:latin typeface="Arial"/>
                <a:ea typeface="Arial"/>
                <a:cs typeface="Arial"/>
                <a:sym typeface="Arial"/>
              </a:rPr>
              <a:t>anterior circumflex humeral artery</a:t>
            </a:r>
            <a:r>
              <a:rPr lang="en-AU" sz="5800">
                <a:latin typeface="Arial"/>
                <a:ea typeface="Arial"/>
                <a:cs typeface="Arial"/>
                <a:sym typeface="Arial"/>
              </a:rPr>
              <a:t>.</a:t>
            </a:r>
            <a:endParaRPr/>
          </a:p>
          <a:p>
            <a:pPr indent="-342900" lvl="0" marL="342900" rtl="0" algn="just">
              <a:spcBef>
                <a:spcPts val="638"/>
              </a:spcBef>
              <a:spcAft>
                <a:spcPts val="0"/>
              </a:spcAft>
              <a:buClr>
                <a:schemeClr val="dk1"/>
              </a:buClr>
              <a:buSzPct val="100000"/>
              <a:buFont typeface="Noto Sans Symbols"/>
              <a:buChar char="▪"/>
            </a:pPr>
            <a:r>
              <a:rPr lang="en-AU" sz="5800">
                <a:latin typeface="Arial"/>
                <a:ea typeface="Arial"/>
                <a:cs typeface="Arial"/>
                <a:sym typeface="Arial"/>
              </a:rPr>
              <a:t>Three muscles are attached in the region of this groove:</a:t>
            </a:r>
            <a:endParaRPr/>
          </a:p>
          <a:p>
            <a:pPr indent="-342900" lvl="0" marL="342900" rtl="0" algn="just">
              <a:spcBef>
                <a:spcPts val="638"/>
              </a:spcBef>
              <a:spcAft>
                <a:spcPts val="0"/>
              </a:spcAft>
              <a:buClr>
                <a:schemeClr val="dk1"/>
              </a:buClr>
              <a:buSzPct val="100000"/>
              <a:buFont typeface="Arial"/>
              <a:buChar char="•"/>
            </a:pPr>
            <a:r>
              <a:rPr b="1" lang="en-AU" sz="5800">
                <a:latin typeface="Arial"/>
                <a:ea typeface="Arial"/>
                <a:cs typeface="Arial"/>
                <a:sym typeface="Arial"/>
              </a:rPr>
              <a:t>Pectoralis major </a:t>
            </a:r>
            <a:r>
              <a:rPr lang="en-AU" sz="5800">
                <a:latin typeface="Arial"/>
                <a:ea typeface="Arial"/>
                <a:cs typeface="Arial"/>
                <a:sym typeface="Arial"/>
              </a:rPr>
              <a:t>on the </a:t>
            </a:r>
            <a:r>
              <a:rPr b="1" lang="en-AU" sz="5800">
                <a:latin typeface="Arial"/>
                <a:ea typeface="Arial"/>
                <a:cs typeface="Arial"/>
                <a:sym typeface="Arial"/>
              </a:rPr>
              <a:t>lateral lip of the groove</a:t>
            </a:r>
            <a:r>
              <a:rPr lang="en-AU" sz="5800">
                <a:latin typeface="Arial"/>
                <a:ea typeface="Arial"/>
                <a:cs typeface="Arial"/>
                <a:sym typeface="Arial"/>
              </a:rPr>
              <a:t>.</a:t>
            </a:r>
            <a:endParaRPr/>
          </a:p>
          <a:p>
            <a:pPr indent="-342900" lvl="0" marL="342900" rtl="0" algn="just">
              <a:spcBef>
                <a:spcPts val="638"/>
              </a:spcBef>
              <a:spcAft>
                <a:spcPts val="0"/>
              </a:spcAft>
              <a:buClr>
                <a:schemeClr val="dk1"/>
              </a:buClr>
              <a:buSzPct val="100000"/>
              <a:buFont typeface="Arial"/>
              <a:buChar char="•"/>
            </a:pPr>
            <a:r>
              <a:rPr b="1" lang="en-AU" sz="5800">
                <a:latin typeface="Arial"/>
                <a:ea typeface="Arial"/>
                <a:cs typeface="Arial"/>
                <a:sym typeface="Arial"/>
              </a:rPr>
              <a:t>Teres major </a:t>
            </a:r>
            <a:r>
              <a:rPr lang="en-AU" sz="5800">
                <a:latin typeface="Arial"/>
                <a:ea typeface="Arial"/>
                <a:cs typeface="Arial"/>
                <a:sym typeface="Arial"/>
              </a:rPr>
              <a:t>on the </a:t>
            </a:r>
            <a:r>
              <a:rPr b="1" lang="en-AU" sz="5800">
                <a:latin typeface="Arial"/>
                <a:ea typeface="Arial"/>
                <a:cs typeface="Arial"/>
                <a:sym typeface="Arial"/>
              </a:rPr>
              <a:t>medial lip of the groove</a:t>
            </a:r>
            <a:r>
              <a:rPr lang="en-AU" sz="5800">
                <a:latin typeface="Arial"/>
                <a:ea typeface="Arial"/>
                <a:cs typeface="Arial"/>
                <a:sym typeface="Arial"/>
              </a:rPr>
              <a:t>.</a:t>
            </a:r>
            <a:endParaRPr/>
          </a:p>
          <a:p>
            <a:pPr indent="-342900" lvl="0" marL="342900" rtl="0" algn="just">
              <a:spcBef>
                <a:spcPts val="638"/>
              </a:spcBef>
              <a:spcAft>
                <a:spcPts val="0"/>
              </a:spcAft>
              <a:buClr>
                <a:schemeClr val="dk1"/>
              </a:buClr>
              <a:buSzPct val="100000"/>
              <a:buFont typeface="Arial"/>
              <a:buChar char="•"/>
            </a:pPr>
            <a:r>
              <a:rPr b="1" lang="en-AU" sz="5800">
                <a:latin typeface="Arial"/>
                <a:ea typeface="Arial"/>
                <a:cs typeface="Arial"/>
                <a:sym typeface="Arial"/>
              </a:rPr>
              <a:t>Latissimus dorsi </a:t>
            </a:r>
            <a:r>
              <a:rPr lang="en-AU" sz="5800">
                <a:latin typeface="Arial"/>
                <a:ea typeface="Arial"/>
                <a:cs typeface="Arial"/>
                <a:sym typeface="Arial"/>
              </a:rPr>
              <a:t>in the </a:t>
            </a:r>
            <a:r>
              <a:rPr b="1" lang="en-AU" sz="5800">
                <a:latin typeface="Arial"/>
                <a:ea typeface="Arial"/>
                <a:cs typeface="Arial"/>
                <a:sym typeface="Arial"/>
              </a:rPr>
              <a:t>floor of the groove</a:t>
            </a:r>
            <a:endParaRPr b="1" sz="5800">
              <a:latin typeface="Arial"/>
              <a:ea typeface="Arial"/>
              <a:cs typeface="Arial"/>
              <a:sym typeface="Arial"/>
            </a:endParaRPr>
          </a:p>
        </p:txBody>
      </p:sp>
      <p:sp>
        <p:nvSpPr>
          <p:cNvPr id="378" name="Google Shape;37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3"/>
          <p:cNvSpPr txBox="1"/>
          <p:nvPr>
            <p:ph type="title"/>
          </p:nvPr>
        </p:nvSpPr>
        <p:spPr>
          <a:xfrm>
            <a:off x="457200" y="2214554"/>
            <a:ext cx="8229600" cy="264320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a:latin typeface="Arial Black"/>
                <a:ea typeface="Arial Black"/>
                <a:cs typeface="Arial Black"/>
                <a:sym typeface="Arial Black"/>
              </a:rPr>
              <a:t>Arterial Anastomosis Around the shoulder joint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4"/>
          <p:cNvSpPr txBox="1"/>
          <p:nvPr>
            <p:ph type="title"/>
          </p:nvPr>
        </p:nvSpPr>
        <p:spPr>
          <a:xfrm>
            <a:off x="457200" y="642918"/>
            <a:ext cx="8229600" cy="10001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a:latin typeface="Arial Black"/>
                <a:ea typeface="Arial Black"/>
                <a:cs typeface="Arial Black"/>
                <a:sym typeface="Arial Black"/>
              </a:rPr>
              <a:t>Introduction</a:t>
            </a:r>
            <a:endParaRPr>
              <a:latin typeface="Arial Black"/>
              <a:ea typeface="Arial Black"/>
              <a:cs typeface="Arial Black"/>
              <a:sym typeface="Arial Black"/>
            </a:endParaRPr>
          </a:p>
        </p:txBody>
      </p:sp>
      <p:sp>
        <p:nvSpPr>
          <p:cNvPr id="389" name="Google Shape;389;p44"/>
          <p:cNvSpPr txBox="1"/>
          <p:nvPr>
            <p:ph idx="1" type="body"/>
          </p:nvPr>
        </p:nvSpPr>
        <p:spPr>
          <a:xfrm>
            <a:off x="457200" y="1785926"/>
            <a:ext cx="8229600" cy="464347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a:latin typeface="Arial"/>
                <a:ea typeface="Arial"/>
                <a:cs typeface="Arial"/>
                <a:sym typeface="Arial"/>
              </a:rPr>
              <a:t>Anastomosis is the communication between the neighbouring vessels.</a:t>
            </a:r>
            <a:endParaRPr/>
          </a:p>
          <a:p>
            <a:pPr indent="-139700" lvl="0" marL="342900" rtl="0" algn="just">
              <a:spcBef>
                <a:spcPts val="640"/>
              </a:spcBef>
              <a:spcAft>
                <a:spcPts val="0"/>
              </a:spcAft>
              <a:buClr>
                <a:schemeClr val="dk1"/>
              </a:buClr>
              <a:buSzPts val="3200"/>
              <a:buNone/>
            </a:pPr>
            <a:r>
              <a:t/>
            </a:r>
            <a:endParaRPr>
              <a:latin typeface="Arial"/>
              <a:ea typeface="Arial"/>
              <a:cs typeface="Arial"/>
              <a:sym typeface="Arial"/>
            </a:endParaRPr>
          </a:p>
          <a:p>
            <a:pPr indent="-342900" lvl="0" marL="342900" rtl="0" algn="just">
              <a:spcBef>
                <a:spcPts val="640"/>
              </a:spcBef>
              <a:spcAft>
                <a:spcPts val="0"/>
              </a:spcAft>
              <a:buClr>
                <a:schemeClr val="dk1"/>
              </a:buClr>
              <a:buSzPts val="3200"/>
              <a:buChar char="•"/>
            </a:pPr>
            <a:r>
              <a:rPr lang="en-AU">
                <a:latin typeface="Arial"/>
                <a:ea typeface="Arial"/>
                <a:cs typeface="Arial"/>
                <a:sym typeface="Arial"/>
              </a:rPr>
              <a:t>Circulation through anastomosis is called </a:t>
            </a:r>
            <a:r>
              <a:rPr b="1" i="1" lang="en-AU">
                <a:latin typeface="Arial"/>
                <a:ea typeface="Arial"/>
                <a:cs typeface="Arial"/>
                <a:sym typeface="Arial"/>
              </a:rPr>
              <a:t>Collateral circulation</a:t>
            </a:r>
            <a:r>
              <a:rPr i="1" lang="en-AU">
                <a:latin typeface="Arial"/>
                <a:ea typeface="Arial"/>
                <a:cs typeface="Arial"/>
                <a:sym typeface="Arial"/>
              </a:rPr>
              <a:t>.</a:t>
            </a:r>
            <a:endParaRPr i="1">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5"/>
          <p:cNvSpPr txBox="1"/>
          <p:nvPr>
            <p:ph type="title"/>
          </p:nvPr>
        </p:nvSpPr>
        <p:spPr>
          <a:xfrm>
            <a:off x="457200" y="571480"/>
            <a:ext cx="8229600" cy="11430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Black"/>
              <a:buNone/>
            </a:pPr>
            <a:r>
              <a:rPr lang="en-AU">
                <a:latin typeface="Arial Black"/>
                <a:ea typeface="Arial Black"/>
                <a:cs typeface="Arial Black"/>
                <a:sym typeface="Arial Black"/>
              </a:rPr>
              <a:t>Anastomosis around the shoulder joint</a:t>
            </a:r>
            <a:endParaRPr>
              <a:latin typeface="Arial Black"/>
              <a:ea typeface="Arial Black"/>
              <a:cs typeface="Arial Black"/>
              <a:sym typeface="Arial Black"/>
            </a:endParaRPr>
          </a:p>
        </p:txBody>
      </p:sp>
      <p:sp>
        <p:nvSpPr>
          <p:cNvPr id="395" name="Google Shape;395;p45"/>
          <p:cNvSpPr txBox="1"/>
          <p:nvPr>
            <p:ph idx="1" type="body"/>
          </p:nvPr>
        </p:nvSpPr>
        <p:spPr>
          <a:xfrm>
            <a:off x="457200" y="2000240"/>
            <a:ext cx="8229600" cy="464347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Font typeface="Noto Sans Symbols"/>
              <a:buChar char="▪"/>
            </a:pPr>
            <a:r>
              <a:rPr lang="en-AU">
                <a:latin typeface="Arial"/>
                <a:ea typeface="Arial"/>
                <a:cs typeface="Arial"/>
                <a:sym typeface="Arial"/>
              </a:rPr>
              <a:t>There are two </a:t>
            </a:r>
            <a:r>
              <a:rPr b="1" lang="en-AU">
                <a:latin typeface="Arial"/>
                <a:ea typeface="Arial"/>
                <a:cs typeface="Arial"/>
                <a:sym typeface="Arial"/>
              </a:rPr>
              <a:t>anastomosis </a:t>
            </a:r>
            <a:r>
              <a:rPr lang="en-AU">
                <a:latin typeface="Arial"/>
                <a:ea typeface="Arial"/>
                <a:cs typeface="Arial"/>
                <a:sym typeface="Arial"/>
              </a:rPr>
              <a:t>around the </a:t>
            </a:r>
            <a:r>
              <a:rPr b="1" lang="en-AU">
                <a:latin typeface="Arial"/>
                <a:ea typeface="Arial"/>
                <a:cs typeface="Arial"/>
                <a:sym typeface="Arial"/>
              </a:rPr>
              <a:t>shoulder joint</a:t>
            </a:r>
            <a:r>
              <a:rPr lang="en-AU">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a:latin typeface="Arial"/>
                <a:ea typeface="Arial"/>
                <a:cs typeface="Arial"/>
                <a:sym typeface="Arial"/>
              </a:rPr>
              <a:t>The Scapular anastomosis</a:t>
            </a:r>
            <a:endParaRPr/>
          </a:p>
          <a:p>
            <a:pPr indent="-342900" lvl="0" marL="342900" rtl="0" algn="just">
              <a:spcBef>
                <a:spcPts val="640"/>
              </a:spcBef>
              <a:spcAft>
                <a:spcPts val="0"/>
              </a:spcAft>
              <a:buClr>
                <a:schemeClr val="dk1"/>
              </a:buClr>
              <a:buSzPts val="3200"/>
              <a:buChar char="•"/>
            </a:pPr>
            <a:r>
              <a:rPr lang="en-AU">
                <a:latin typeface="Arial"/>
                <a:ea typeface="Arial"/>
                <a:cs typeface="Arial"/>
                <a:sym typeface="Arial"/>
              </a:rPr>
              <a:t>Anastomosis around the </a:t>
            </a:r>
            <a:r>
              <a:rPr b="1" lang="en-AU">
                <a:latin typeface="Arial"/>
                <a:ea typeface="Arial"/>
                <a:cs typeface="Arial"/>
                <a:sym typeface="Arial"/>
              </a:rPr>
              <a:t>surgical neck of humerus</a:t>
            </a:r>
            <a:endParaRPr b="1">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a:latin typeface="Arial Black"/>
                <a:ea typeface="Arial Black"/>
                <a:cs typeface="Arial Black"/>
                <a:sym typeface="Arial Black"/>
              </a:rPr>
              <a:t>Introduction</a:t>
            </a:r>
            <a:endParaRPr>
              <a:latin typeface="Arial Black"/>
              <a:ea typeface="Arial Black"/>
              <a:cs typeface="Arial Black"/>
              <a:sym typeface="Arial Black"/>
            </a:endParaRPr>
          </a:p>
        </p:txBody>
      </p:sp>
      <p:sp>
        <p:nvSpPr>
          <p:cNvPr id="401" name="Google Shape;401;p46"/>
          <p:cNvSpPr txBox="1"/>
          <p:nvPr>
            <p:ph idx="1" type="body"/>
          </p:nvPr>
        </p:nvSpPr>
        <p:spPr>
          <a:xfrm>
            <a:off x="457200" y="1600200"/>
            <a:ext cx="8229600" cy="4972072"/>
          </a:xfrm>
          <a:prstGeom prst="rect">
            <a:avLst/>
          </a:prstGeom>
          <a:noFill/>
          <a:ln>
            <a:noFill/>
          </a:ln>
        </p:spPr>
        <p:txBody>
          <a:bodyPr anchorCtr="0" anchor="t" bIns="45700" lIns="91425" spcFirstLastPara="1" rIns="91425" wrap="square" tIns="45700">
            <a:normAutofit fontScale="92500"/>
          </a:bodyPr>
          <a:lstStyle/>
          <a:p>
            <a:pPr indent="-342900" lvl="0" marL="342900" rtl="0" algn="just">
              <a:spcBef>
                <a:spcPts val="0"/>
              </a:spcBef>
              <a:spcAft>
                <a:spcPts val="0"/>
              </a:spcAft>
              <a:buClr>
                <a:schemeClr val="dk1"/>
              </a:buClr>
              <a:buSzPct val="100000"/>
              <a:buChar char="•"/>
            </a:pPr>
            <a:r>
              <a:rPr lang="en-AU">
                <a:latin typeface="Arial"/>
                <a:ea typeface="Arial"/>
                <a:cs typeface="Arial"/>
                <a:sym typeface="Arial"/>
              </a:rPr>
              <a:t>The </a:t>
            </a:r>
            <a:r>
              <a:rPr b="1" lang="en-AU">
                <a:latin typeface="Arial"/>
                <a:ea typeface="Arial"/>
                <a:cs typeface="Arial"/>
                <a:sym typeface="Arial"/>
              </a:rPr>
              <a:t>scapular anastomosis occurs in three fossa; subscapular, supraspinous and infraspinous</a:t>
            </a:r>
            <a:endParaRPr/>
          </a:p>
          <a:p>
            <a:pPr indent="-342900" lvl="0" marL="342900" rtl="0" algn="just">
              <a:spcBef>
                <a:spcPts val="592"/>
              </a:spcBef>
              <a:spcAft>
                <a:spcPts val="0"/>
              </a:spcAft>
              <a:buClr>
                <a:schemeClr val="dk1"/>
              </a:buClr>
              <a:buSzPct val="100000"/>
              <a:buChar char="•"/>
            </a:pPr>
            <a:r>
              <a:rPr lang="en-AU">
                <a:latin typeface="Arial"/>
                <a:ea typeface="Arial"/>
                <a:cs typeface="Arial"/>
                <a:sym typeface="Arial"/>
              </a:rPr>
              <a:t>The </a:t>
            </a:r>
            <a:r>
              <a:rPr b="1" lang="en-AU">
                <a:latin typeface="Arial"/>
                <a:ea typeface="Arial"/>
                <a:cs typeface="Arial"/>
                <a:sym typeface="Arial"/>
              </a:rPr>
              <a:t>arterial anastomosis </a:t>
            </a:r>
            <a:r>
              <a:rPr lang="en-AU">
                <a:latin typeface="Arial"/>
                <a:ea typeface="Arial"/>
                <a:cs typeface="Arial"/>
                <a:sym typeface="Arial"/>
              </a:rPr>
              <a:t>around</a:t>
            </a:r>
            <a:r>
              <a:rPr b="1" lang="en-AU">
                <a:latin typeface="Arial"/>
                <a:ea typeface="Arial"/>
                <a:cs typeface="Arial"/>
                <a:sym typeface="Arial"/>
              </a:rPr>
              <a:t> scapula </a:t>
            </a:r>
            <a:r>
              <a:rPr lang="en-AU">
                <a:latin typeface="Arial"/>
                <a:ea typeface="Arial"/>
                <a:cs typeface="Arial"/>
                <a:sym typeface="Arial"/>
              </a:rPr>
              <a:t>is principally formed between the </a:t>
            </a:r>
            <a:r>
              <a:rPr b="1" lang="en-AU">
                <a:latin typeface="Arial"/>
                <a:ea typeface="Arial"/>
                <a:cs typeface="Arial"/>
                <a:sym typeface="Arial"/>
              </a:rPr>
              <a:t>branches</a:t>
            </a:r>
            <a:r>
              <a:rPr lang="en-AU">
                <a:latin typeface="Arial"/>
                <a:ea typeface="Arial"/>
                <a:cs typeface="Arial"/>
                <a:sym typeface="Arial"/>
              </a:rPr>
              <a:t> of the </a:t>
            </a:r>
            <a:r>
              <a:rPr b="1" lang="en-AU">
                <a:latin typeface="Arial"/>
                <a:ea typeface="Arial"/>
                <a:cs typeface="Arial"/>
                <a:sym typeface="Arial"/>
              </a:rPr>
              <a:t>first part of the subclavian </a:t>
            </a:r>
            <a:r>
              <a:rPr lang="en-AU">
                <a:latin typeface="Arial"/>
                <a:ea typeface="Arial"/>
                <a:cs typeface="Arial"/>
                <a:sym typeface="Arial"/>
              </a:rPr>
              <a:t>and the </a:t>
            </a:r>
            <a:r>
              <a:rPr b="1" lang="en-AU">
                <a:latin typeface="Arial"/>
                <a:ea typeface="Arial"/>
                <a:cs typeface="Arial"/>
                <a:sym typeface="Arial"/>
              </a:rPr>
              <a:t>third part </a:t>
            </a:r>
            <a:r>
              <a:rPr lang="en-AU">
                <a:latin typeface="Arial"/>
                <a:ea typeface="Arial"/>
                <a:cs typeface="Arial"/>
                <a:sym typeface="Arial"/>
              </a:rPr>
              <a:t>of the </a:t>
            </a:r>
            <a:r>
              <a:rPr b="1" lang="en-AU">
                <a:latin typeface="Arial"/>
                <a:ea typeface="Arial"/>
                <a:cs typeface="Arial"/>
                <a:sym typeface="Arial"/>
              </a:rPr>
              <a:t>axillary arteries</a:t>
            </a:r>
            <a:r>
              <a:rPr lang="en-AU">
                <a:latin typeface="Arial"/>
                <a:ea typeface="Arial"/>
                <a:cs typeface="Arial"/>
                <a:sym typeface="Arial"/>
              </a:rPr>
              <a:t>.</a:t>
            </a:r>
            <a:endParaRPr/>
          </a:p>
          <a:p>
            <a:pPr indent="-342900" lvl="0" marL="342900" rtl="0" algn="just">
              <a:spcBef>
                <a:spcPts val="592"/>
              </a:spcBef>
              <a:spcAft>
                <a:spcPts val="0"/>
              </a:spcAft>
              <a:buClr>
                <a:schemeClr val="dk1"/>
              </a:buClr>
              <a:buSzPct val="100000"/>
              <a:buChar char="•"/>
            </a:pPr>
            <a:r>
              <a:rPr lang="en-AU">
                <a:latin typeface="Arial"/>
                <a:ea typeface="Arial"/>
                <a:cs typeface="Arial"/>
                <a:sym typeface="Arial"/>
              </a:rPr>
              <a:t>The </a:t>
            </a:r>
            <a:r>
              <a:rPr b="1" lang="en-AU">
                <a:latin typeface="Arial"/>
                <a:ea typeface="Arial"/>
                <a:cs typeface="Arial"/>
                <a:sym typeface="Arial"/>
              </a:rPr>
              <a:t>scapular anastomosis </a:t>
            </a:r>
            <a:r>
              <a:rPr lang="en-AU">
                <a:latin typeface="Arial"/>
                <a:ea typeface="Arial"/>
                <a:cs typeface="Arial"/>
                <a:sym typeface="Arial"/>
              </a:rPr>
              <a:t>takes place at two sites: around the </a:t>
            </a:r>
            <a:r>
              <a:rPr b="1" lang="en-AU">
                <a:latin typeface="Arial"/>
                <a:ea typeface="Arial"/>
                <a:cs typeface="Arial"/>
                <a:sym typeface="Arial"/>
              </a:rPr>
              <a:t>body of scapula </a:t>
            </a:r>
            <a:r>
              <a:rPr lang="en-AU">
                <a:latin typeface="Arial"/>
                <a:ea typeface="Arial"/>
                <a:cs typeface="Arial"/>
                <a:sym typeface="Arial"/>
              </a:rPr>
              <a:t>and over the </a:t>
            </a:r>
            <a:r>
              <a:rPr b="1" lang="en-AU">
                <a:latin typeface="Arial"/>
                <a:ea typeface="Arial"/>
                <a:cs typeface="Arial"/>
                <a:sym typeface="Arial"/>
              </a:rPr>
              <a:t>acromion process of the scapula</a:t>
            </a:r>
            <a:r>
              <a:rPr lang="en-AU">
                <a:latin typeface="Arial"/>
                <a:ea typeface="Arial"/>
                <a:cs typeface="Arial"/>
                <a:sym typeface="Arial"/>
              </a:rPr>
              <a:t>.</a:t>
            </a:r>
            <a:endParaRPr>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7"/>
          <p:cNvSpPr txBox="1"/>
          <p:nvPr>
            <p:ph type="title"/>
          </p:nvPr>
        </p:nvSpPr>
        <p:spPr>
          <a:xfrm>
            <a:off x="457200" y="0"/>
            <a:ext cx="8229600" cy="114298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Arial Black"/>
              <a:buNone/>
            </a:pPr>
            <a:r>
              <a:rPr lang="en-AU" sz="4000">
                <a:latin typeface="Arial Black"/>
                <a:ea typeface="Arial Black"/>
                <a:cs typeface="Arial Black"/>
                <a:sym typeface="Arial Black"/>
              </a:rPr>
              <a:t>SUBCLAVIAN ARTERIES</a:t>
            </a:r>
            <a:endParaRPr sz="4000">
              <a:latin typeface="Arial Black"/>
              <a:ea typeface="Arial Black"/>
              <a:cs typeface="Arial Black"/>
              <a:sym typeface="Arial Black"/>
            </a:endParaRPr>
          </a:p>
        </p:txBody>
      </p:sp>
      <p:sp>
        <p:nvSpPr>
          <p:cNvPr id="407" name="Google Shape;407;p47"/>
          <p:cNvSpPr txBox="1"/>
          <p:nvPr>
            <p:ph idx="1" type="body"/>
          </p:nvPr>
        </p:nvSpPr>
        <p:spPr>
          <a:xfrm>
            <a:off x="457200" y="857232"/>
            <a:ext cx="8472518" cy="607223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lang="en-AU">
                <a:latin typeface="Arial"/>
                <a:ea typeface="Arial"/>
                <a:cs typeface="Arial"/>
                <a:sym typeface="Arial"/>
              </a:rPr>
              <a:t>The </a:t>
            </a:r>
            <a:r>
              <a:rPr b="1" lang="en-AU">
                <a:latin typeface="Arial"/>
                <a:ea typeface="Arial"/>
                <a:cs typeface="Arial"/>
                <a:sym typeface="Arial"/>
              </a:rPr>
              <a:t>subclavian artery </a:t>
            </a:r>
            <a:r>
              <a:rPr lang="en-AU">
                <a:latin typeface="Arial"/>
                <a:ea typeface="Arial"/>
                <a:cs typeface="Arial"/>
                <a:sym typeface="Arial"/>
              </a:rPr>
              <a:t>is located </a:t>
            </a:r>
            <a:r>
              <a:rPr b="1" lang="en-AU">
                <a:latin typeface="Arial"/>
                <a:ea typeface="Arial"/>
                <a:cs typeface="Arial"/>
                <a:sym typeface="Arial"/>
              </a:rPr>
              <a:t>beneath the clavicle</a:t>
            </a:r>
            <a:r>
              <a:rPr lang="en-AU">
                <a:latin typeface="Arial"/>
                <a:ea typeface="Arial"/>
                <a:cs typeface="Arial"/>
                <a:sym typeface="Arial"/>
              </a:rPr>
              <a:t>. It is the main source of </a:t>
            </a:r>
            <a:r>
              <a:rPr b="1" lang="en-AU">
                <a:latin typeface="Arial"/>
                <a:ea typeface="Arial"/>
                <a:cs typeface="Arial"/>
                <a:sym typeface="Arial"/>
              </a:rPr>
              <a:t>blood supply to the upper limb</a:t>
            </a:r>
            <a:r>
              <a:rPr lang="en-AU">
                <a:latin typeface="Arial"/>
                <a:ea typeface="Arial"/>
                <a:cs typeface="Arial"/>
                <a:sym typeface="Arial"/>
              </a:rPr>
              <a:t>. It is also supplies considerable part of the </a:t>
            </a:r>
            <a:r>
              <a:rPr b="1" lang="en-AU">
                <a:latin typeface="Arial"/>
                <a:ea typeface="Arial"/>
                <a:cs typeface="Arial"/>
                <a:sym typeface="Arial"/>
              </a:rPr>
              <a:t>thoracic wall, head, neck, and brain through its branches</a:t>
            </a:r>
            <a:r>
              <a:rPr lang="en-AU">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lang="en-AU">
                <a:latin typeface="Arial"/>
                <a:ea typeface="Arial"/>
                <a:cs typeface="Arial"/>
                <a:sym typeface="Arial"/>
              </a:rPr>
              <a:t>In the neck, both the </a:t>
            </a:r>
            <a:r>
              <a:rPr b="1" lang="en-AU">
                <a:latin typeface="Arial"/>
                <a:ea typeface="Arial"/>
                <a:cs typeface="Arial"/>
                <a:sym typeface="Arial"/>
              </a:rPr>
              <a:t>arteries</a:t>
            </a:r>
            <a:r>
              <a:rPr lang="en-AU">
                <a:latin typeface="Arial"/>
                <a:ea typeface="Arial"/>
                <a:cs typeface="Arial"/>
                <a:sym typeface="Arial"/>
              </a:rPr>
              <a:t> pursue a </a:t>
            </a:r>
            <a:r>
              <a:rPr b="1" lang="en-AU">
                <a:latin typeface="Arial"/>
                <a:ea typeface="Arial"/>
                <a:cs typeface="Arial"/>
                <a:sym typeface="Arial"/>
              </a:rPr>
              <a:t>similar course</a:t>
            </a:r>
            <a:r>
              <a:rPr lang="en-AU">
                <a:latin typeface="Arial"/>
                <a:ea typeface="Arial"/>
                <a:cs typeface="Arial"/>
                <a:sym typeface="Arial"/>
              </a:rPr>
              <a:t>. On </a:t>
            </a:r>
            <a:r>
              <a:rPr b="1" lang="en-AU">
                <a:latin typeface="Arial"/>
                <a:ea typeface="Arial"/>
                <a:cs typeface="Arial"/>
                <a:sym typeface="Arial"/>
              </a:rPr>
              <a:t>each side</a:t>
            </a:r>
            <a:r>
              <a:rPr lang="en-AU">
                <a:latin typeface="Arial"/>
                <a:ea typeface="Arial"/>
                <a:cs typeface="Arial"/>
                <a:sym typeface="Arial"/>
              </a:rPr>
              <a:t>, the </a:t>
            </a:r>
            <a:r>
              <a:rPr b="1" lang="en-AU">
                <a:latin typeface="Arial"/>
                <a:ea typeface="Arial"/>
                <a:cs typeface="Arial"/>
                <a:sym typeface="Arial"/>
              </a:rPr>
              <a:t>subclavian artery </a:t>
            </a:r>
            <a:r>
              <a:rPr lang="en-AU">
                <a:latin typeface="Arial"/>
                <a:ea typeface="Arial"/>
                <a:cs typeface="Arial"/>
                <a:sym typeface="Arial"/>
              </a:rPr>
              <a:t>arches laterally across the </a:t>
            </a:r>
            <a:r>
              <a:rPr b="1" lang="en-AU">
                <a:latin typeface="Arial"/>
                <a:ea typeface="Arial"/>
                <a:cs typeface="Arial"/>
                <a:sym typeface="Arial"/>
              </a:rPr>
              <a:t>anterior surface </a:t>
            </a:r>
            <a:r>
              <a:rPr lang="en-AU">
                <a:latin typeface="Arial"/>
                <a:ea typeface="Arial"/>
                <a:cs typeface="Arial"/>
                <a:sym typeface="Arial"/>
              </a:rPr>
              <a:t>of the </a:t>
            </a:r>
            <a:r>
              <a:rPr b="1" lang="en-AU">
                <a:latin typeface="Arial"/>
                <a:ea typeface="Arial"/>
                <a:cs typeface="Arial"/>
                <a:sym typeface="Arial"/>
              </a:rPr>
              <a:t>cervical pleura </a:t>
            </a:r>
            <a:r>
              <a:rPr lang="en-AU">
                <a:latin typeface="Arial"/>
                <a:ea typeface="Arial"/>
                <a:cs typeface="Arial"/>
                <a:sym typeface="Arial"/>
              </a:rPr>
              <a:t>onto the </a:t>
            </a:r>
            <a:r>
              <a:rPr b="1" lang="en-AU">
                <a:latin typeface="Arial"/>
                <a:ea typeface="Arial"/>
                <a:cs typeface="Arial"/>
                <a:sym typeface="Arial"/>
              </a:rPr>
              <a:t>first rib </a:t>
            </a:r>
            <a:r>
              <a:rPr lang="en-AU">
                <a:latin typeface="Arial"/>
                <a:ea typeface="Arial"/>
                <a:cs typeface="Arial"/>
                <a:sym typeface="Arial"/>
              </a:rPr>
              <a:t>posterior to the </a:t>
            </a:r>
            <a:r>
              <a:rPr b="1" lang="en-AU">
                <a:latin typeface="Arial"/>
                <a:ea typeface="Arial"/>
                <a:cs typeface="Arial"/>
                <a:sym typeface="Arial"/>
              </a:rPr>
              <a:t>scalenus anterior </a:t>
            </a:r>
            <a:r>
              <a:rPr lang="en-AU">
                <a:latin typeface="Arial"/>
                <a:ea typeface="Arial"/>
                <a:cs typeface="Arial"/>
                <a:sym typeface="Arial"/>
              </a:rPr>
              <a:t>muscle. At the </a:t>
            </a:r>
            <a:r>
              <a:rPr b="1" lang="en-AU">
                <a:latin typeface="Arial"/>
                <a:ea typeface="Arial"/>
                <a:cs typeface="Arial"/>
                <a:sym typeface="Arial"/>
              </a:rPr>
              <a:t>outer border </a:t>
            </a:r>
            <a:r>
              <a:rPr lang="en-AU">
                <a:latin typeface="Arial"/>
                <a:ea typeface="Arial"/>
                <a:cs typeface="Arial"/>
                <a:sym typeface="Arial"/>
              </a:rPr>
              <a:t>of </a:t>
            </a:r>
            <a:r>
              <a:rPr b="1" lang="en-AU">
                <a:latin typeface="Arial"/>
                <a:ea typeface="Arial"/>
                <a:cs typeface="Arial"/>
                <a:sym typeface="Arial"/>
              </a:rPr>
              <a:t>1st rib</a:t>
            </a:r>
            <a:r>
              <a:rPr lang="en-AU">
                <a:latin typeface="Arial"/>
                <a:ea typeface="Arial"/>
                <a:cs typeface="Arial"/>
                <a:sym typeface="Arial"/>
              </a:rPr>
              <a:t>, it </a:t>
            </a:r>
            <a:r>
              <a:rPr b="1" lang="en-AU">
                <a:latin typeface="Arial"/>
                <a:ea typeface="Arial"/>
                <a:cs typeface="Arial"/>
                <a:sym typeface="Arial"/>
              </a:rPr>
              <a:t>ends</a:t>
            </a:r>
            <a:r>
              <a:rPr lang="en-AU">
                <a:latin typeface="Arial"/>
                <a:ea typeface="Arial"/>
                <a:cs typeface="Arial"/>
                <a:sym typeface="Arial"/>
              </a:rPr>
              <a:t> by </a:t>
            </a:r>
            <a:r>
              <a:rPr b="1" lang="en-AU">
                <a:latin typeface="Arial"/>
                <a:ea typeface="Arial"/>
                <a:cs typeface="Arial"/>
                <a:sym typeface="Arial"/>
              </a:rPr>
              <a:t>becoming</a:t>
            </a:r>
            <a:r>
              <a:rPr lang="en-AU">
                <a:latin typeface="Arial"/>
                <a:ea typeface="Arial"/>
                <a:cs typeface="Arial"/>
                <a:sym typeface="Arial"/>
              </a:rPr>
              <a:t> </a:t>
            </a:r>
            <a:r>
              <a:rPr b="1" lang="en-AU">
                <a:latin typeface="Arial"/>
                <a:ea typeface="Arial"/>
                <a:cs typeface="Arial"/>
                <a:sym typeface="Arial"/>
              </a:rPr>
              <a:t>axillary artery</a:t>
            </a:r>
            <a:r>
              <a:rPr lang="en-AU">
                <a:latin typeface="Arial"/>
                <a:ea typeface="Arial"/>
                <a:cs typeface="Arial"/>
                <a:sym typeface="Arial"/>
              </a:rPr>
              <a:t>.</a:t>
            </a:r>
            <a:endParaRPr/>
          </a:p>
          <a:p>
            <a:pPr indent="-139700" lvl="0" marL="342900" rtl="0" algn="just">
              <a:spcBef>
                <a:spcPts val="640"/>
              </a:spcBef>
              <a:spcAft>
                <a:spcPts val="0"/>
              </a:spcAft>
              <a:buClr>
                <a:schemeClr val="dk1"/>
              </a:buClr>
              <a:buSzPts val="3200"/>
              <a:buNone/>
            </a:pPr>
            <a:r>
              <a:t/>
            </a:r>
            <a:endParaRPr>
              <a:latin typeface="Arial"/>
              <a:ea typeface="Arial"/>
              <a:cs typeface="Arial"/>
              <a:sym typeface="Arial"/>
            </a:endParaRPr>
          </a:p>
        </p:txBody>
      </p:sp>
      <p:sp>
        <p:nvSpPr>
          <p:cNvPr id="408" name="Google Shape;408;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9"/>
          <p:cNvSpPr txBox="1"/>
          <p:nvPr>
            <p:ph type="title"/>
          </p:nvPr>
        </p:nvSpPr>
        <p:spPr>
          <a:xfrm>
            <a:off x="457200" y="0"/>
            <a:ext cx="8229600" cy="121442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Black"/>
              <a:buNone/>
            </a:pPr>
            <a:r>
              <a:rPr lang="en-AU">
                <a:latin typeface="Arial Black"/>
                <a:ea typeface="Arial Black"/>
                <a:cs typeface="Arial Black"/>
                <a:sym typeface="Arial Black"/>
              </a:rPr>
              <a:t>Branches of the Subclavian Artery</a:t>
            </a:r>
            <a:endParaRPr>
              <a:latin typeface="Arial Black"/>
              <a:ea typeface="Arial Black"/>
              <a:cs typeface="Arial Black"/>
              <a:sym typeface="Arial Black"/>
            </a:endParaRPr>
          </a:p>
        </p:txBody>
      </p:sp>
      <p:sp>
        <p:nvSpPr>
          <p:cNvPr id="414" name="Google Shape;414;p49"/>
          <p:cNvSpPr txBox="1"/>
          <p:nvPr>
            <p:ph idx="1" type="body"/>
          </p:nvPr>
        </p:nvSpPr>
        <p:spPr>
          <a:xfrm>
            <a:off x="457200" y="1000108"/>
            <a:ext cx="8472518" cy="6143668"/>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AU" sz="2800">
                <a:latin typeface="Arial"/>
                <a:ea typeface="Arial"/>
                <a:cs typeface="Arial"/>
                <a:sym typeface="Arial"/>
              </a:rPr>
              <a:t>The </a:t>
            </a:r>
            <a:r>
              <a:rPr b="1" lang="en-AU" sz="2800">
                <a:latin typeface="Arial"/>
                <a:ea typeface="Arial"/>
                <a:cs typeface="Arial"/>
                <a:sym typeface="Arial"/>
              </a:rPr>
              <a:t>subclavian artery </a:t>
            </a:r>
            <a:r>
              <a:rPr lang="en-AU" sz="2800">
                <a:latin typeface="Arial"/>
                <a:ea typeface="Arial"/>
                <a:cs typeface="Arial"/>
                <a:sym typeface="Arial"/>
              </a:rPr>
              <a:t>usually gives off </a:t>
            </a:r>
            <a:r>
              <a:rPr b="1" lang="en-AU" sz="2800">
                <a:latin typeface="Arial"/>
                <a:ea typeface="Arial"/>
                <a:cs typeface="Arial"/>
                <a:sym typeface="Arial"/>
              </a:rPr>
              <a:t>four branches</a:t>
            </a:r>
            <a:r>
              <a:rPr lang="en-AU" sz="2800">
                <a:latin typeface="Arial"/>
                <a:ea typeface="Arial"/>
                <a:cs typeface="Arial"/>
                <a:sym typeface="Arial"/>
              </a:rPr>
              <a:t>. </a:t>
            </a:r>
            <a:r>
              <a:rPr b="1" lang="en-AU" sz="2800">
                <a:latin typeface="Arial"/>
                <a:ea typeface="Arial"/>
                <a:cs typeface="Arial"/>
                <a:sym typeface="Arial"/>
              </a:rPr>
              <a:t>All of them </a:t>
            </a:r>
            <a:r>
              <a:rPr lang="en-AU" sz="2800">
                <a:latin typeface="Arial"/>
                <a:ea typeface="Arial"/>
                <a:cs typeface="Arial"/>
                <a:sym typeface="Arial"/>
              </a:rPr>
              <a:t>arise from </a:t>
            </a:r>
            <a:r>
              <a:rPr b="1" lang="en-AU" sz="2800">
                <a:latin typeface="Arial"/>
                <a:ea typeface="Arial"/>
                <a:cs typeface="Arial"/>
                <a:sym typeface="Arial"/>
              </a:rPr>
              <a:t>first part </a:t>
            </a:r>
            <a:r>
              <a:rPr lang="en-AU" sz="2800">
                <a:latin typeface="Arial"/>
                <a:ea typeface="Arial"/>
                <a:cs typeface="Arial"/>
                <a:sym typeface="Arial"/>
              </a:rPr>
              <a:t>with the </a:t>
            </a:r>
            <a:r>
              <a:rPr b="1" lang="en-AU" sz="2800">
                <a:latin typeface="Arial"/>
                <a:ea typeface="Arial"/>
                <a:cs typeface="Arial"/>
                <a:sym typeface="Arial"/>
              </a:rPr>
              <a:t>exception </a:t>
            </a:r>
            <a:r>
              <a:rPr lang="en-AU" sz="2800">
                <a:latin typeface="Arial"/>
                <a:ea typeface="Arial"/>
                <a:cs typeface="Arial"/>
                <a:sym typeface="Arial"/>
              </a:rPr>
              <a:t>of </a:t>
            </a:r>
            <a:r>
              <a:rPr b="1" lang="en-AU" sz="2800">
                <a:latin typeface="Arial"/>
                <a:ea typeface="Arial"/>
                <a:cs typeface="Arial"/>
                <a:sym typeface="Arial"/>
              </a:rPr>
              <a:t>costocervical trunk</a:t>
            </a:r>
            <a:r>
              <a:rPr lang="en-AU" sz="2800">
                <a:latin typeface="Arial"/>
                <a:ea typeface="Arial"/>
                <a:cs typeface="Arial"/>
                <a:sym typeface="Arial"/>
              </a:rPr>
              <a:t>, which on the </a:t>
            </a:r>
            <a:r>
              <a:rPr b="1" lang="en-AU" sz="2800">
                <a:latin typeface="Arial"/>
                <a:ea typeface="Arial"/>
                <a:cs typeface="Arial"/>
                <a:sym typeface="Arial"/>
              </a:rPr>
              <a:t>right side </a:t>
            </a:r>
            <a:r>
              <a:rPr lang="en-AU" sz="2800">
                <a:latin typeface="Arial"/>
                <a:ea typeface="Arial"/>
                <a:cs typeface="Arial"/>
                <a:sym typeface="Arial"/>
              </a:rPr>
              <a:t>arises from the </a:t>
            </a:r>
            <a:r>
              <a:rPr b="1" lang="en-AU" sz="2800">
                <a:latin typeface="Arial"/>
                <a:ea typeface="Arial"/>
                <a:cs typeface="Arial"/>
                <a:sym typeface="Arial"/>
              </a:rPr>
              <a:t>second part</a:t>
            </a:r>
            <a:r>
              <a:rPr lang="en-AU" sz="2800">
                <a:latin typeface="Arial"/>
                <a:ea typeface="Arial"/>
                <a:cs typeface="Arial"/>
                <a:sym typeface="Arial"/>
              </a:rPr>
              <a:t>.</a:t>
            </a:r>
            <a:endParaRPr/>
          </a:p>
          <a:p>
            <a:pPr indent="-342900" lvl="0" marL="342900" rtl="0" algn="just">
              <a:spcBef>
                <a:spcPts val="560"/>
              </a:spcBef>
              <a:spcAft>
                <a:spcPts val="0"/>
              </a:spcAft>
              <a:buClr>
                <a:schemeClr val="dk1"/>
              </a:buClr>
              <a:buSzPts val="2800"/>
              <a:buFont typeface="Noto Sans Symbols"/>
              <a:buChar char="▪"/>
            </a:pPr>
            <a:r>
              <a:rPr lang="en-AU" sz="2800">
                <a:latin typeface="Arial"/>
                <a:ea typeface="Arial"/>
                <a:cs typeface="Arial"/>
                <a:sym typeface="Arial"/>
              </a:rPr>
              <a:t> </a:t>
            </a:r>
            <a:r>
              <a:rPr b="1" lang="en-AU" sz="2800">
                <a:latin typeface="Arial"/>
                <a:ea typeface="Arial"/>
                <a:cs typeface="Arial"/>
                <a:sym typeface="Arial"/>
              </a:rPr>
              <a:t>The first part</a:t>
            </a:r>
            <a:r>
              <a:rPr lang="en-AU" sz="2800">
                <a:latin typeface="Arial"/>
                <a:ea typeface="Arial"/>
                <a:cs typeface="Arial"/>
                <a:sym typeface="Arial"/>
              </a:rPr>
              <a:t>: </a:t>
            </a:r>
            <a:endParaRPr/>
          </a:p>
          <a:p>
            <a:pPr indent="-514350" lvl="0" marL="514350" rtl="0" algn="just">
              <a:spcBef>
                <a:spcPts val="560"/>
              </a:spcBef>
              <a:spcAft>
                <a:spcPts val="0"/>
              </a:spcAft>
              <a:buClr>
                <a:schemeClr val="dk1"/>
              </a:buClr>
              <a:buSzPts val="2800"/>
              <a:buFont typeface="Calibri"/>
              <a:buAutoNum type="arabicPeriod"/>
            </a:pPr>
            <a:r>
              <a:rPr b="1" lang="en-AU" sz="2800">
                <a:latin typeface="Arial"/>
                <a:ea typeface="Arial"/>
                <a:cs typeface="Arial"/>
                <a:sym typeface="Arial"/>
              </a:rPr>
              <a:t>Vertebral artery </a:t>
            </a:r>
            <a:endParaRPr/>
          </a:p>
          <a:p>
            <a:pPr indent="-514350" lvl="0" marL="514350" rtl="0" algn="just">
              <a:spcBef>
                <a:spcPts val="560"/>
              </a:spcBef>
              <a:spcAft>
                <a:spcPts val="0"/>
              </a:spcAft>
              <a:buClr>
                <a:schemeClr val="dk1"/>
              </a:buClr>
              <a:buSzPts val="2800"/>
              <a:buFont typeface="Calibri"/>
              <a:buAutoNum type="arabicPeriod"/>
            </a:pPr>
            <a:r>
              <a:rPr b="1" lang="en-AU" sz="2800">
                <a:latin typeface="Arial"/>
                <a:ea typeface="Arial"/>
                <a:cs typeface="Arial"/>
                <a:sym typeface="Arial"/>
              </a:rPr>
              <a:t>Thyrocervical trunk</a:t>
            </a:r>
            <a:endParaRPr/>
          </a:p>
          <a:p>
            <a:pPr indent="-514350" lvl="0" marL="514350" rtl="0" algn="just">
              <a:spcBef>
                <a:spcPts val="560"/>
              </a:spcBef>
              <a:spcAft>
                <a:spcPts val="0"/>
              </a:spcAft>
              <a:buClr>
                <a:schemeClr val="dk1"/>
              </a:buClr>
              <a:buSzPts val="2800"/>
              <a:buNone/>
            </a:pPr>
            <a:r>
              <a:rPr lang="en-AU" sz="2800">
                <a:latin typeface="Arial"/>
                <a:ea typeface="Arial"/>
                <a:cs typeface="Arial"/>
                <a:sym typeface="Arial"/>
              </a:rPr>
              <a:t>a.   Inferior thyroid artery</a:t>
            </a:r>
            <a:endParaRPr/>
          </a:p>
          <a:p>
            <a:pPr indent="-514350" lvl="0" marL="514350" rtl="0" algn="just">
              <a:spcBef>
                <a:spcPts val="560"/>
              </a:spcBef>
              <a:spcAft>
                <a:spcPts val="0"/>
              </a:spcAft>
              <a:buClr>
                <a:schemeClr val="dk1"/>
              </a:buClr>
              <a:buSzPts val="2800"/>
              <a:buNone/>
            </a:pPr>
            <a:r>
              <a:rPr lang="en-AU" sz="2800">
                <a:latin typeface="Arial"/>
                <a:ea typeface="Arial"/>
                <a:cs typeface="Arial"/>
                <a:sym typeface="Arial"/>
              </a:rPr>
              <a:t>b.  Transverse cervical artery</a:t>
            </a:r>
            <a:endParaRPr/>
          </a:p>
          <a:p>
            <a:pPr indent="-514350" lvl="0" marL="514350" rtl="0" algn="just">
              <a:spcBef>
                <a:spcPts val="560"/>
              </a:spcBef>
              <a:spcAft>
                <a:spcPts val="0"/>
              </a:spcAft>
              <a:buClr>
                <a:schemeClr val="dk1"/>
              </a:buClr>
              <a:buSzPts val="2800"/>
              <a:buAutoNum type="alphaLcPeriod" startAt="3"/>
            </a:pPr>
            <a:r>
              <a:rPr lang="en-AU" sz="2800">
                <a:latin typeface="Arial"/>
                <a:ea typeface="Arial"/>
                <a:cs typeface="Arial"/>
                <a:sym typeface="Arial"/>
              </a:rPr>
              <a:t>Suprascapular artery</a:t>
            </a:r>
            <a:endParaRPr/>
          </a:p>
          <a:p>
            <a:pPr indent="-514350" lvl="0" marL="514350" rtl="0" algn="just">
              <a:spcBef>
                <a:spcPts val="560"/>
              </a:spcBef>
              <a:spcAft>
                <a:spcPts val="0"/>
              </a:spcAft>
              <a:buClr>
                <a:schemeClr val="dk1"/>
              </a:buClr>
              <a:buSzPts val="2800"/>
              <a:buAutoNum type="arabicPeriod" startAt="3"/>
            </a:pPr>
            <a:r>
              <a:rPr b="1" lang="en-AU" sz="2800">
                <a:latin typeface="Arial"/>
                <a:ea typeface="Arial"/>
                <a:cs typeface="Arial"/>
                <a:sym typeface="Arial"/>
              </a:rPr>
              <a:t>Internal thoracic artery </a:t>
            </a:r>
            <a:endParaRPr/>
          </a:p>
          <a:p>
            <a:pPr indent="-514350" lvl="0" marL="514350" rtl="0" algn="just">
              <a:spcBef>
                <a:spcPts val="560"/>
              </a:spcBef>
              <a:spcAft>
                <a:spcPts val="0"/>
              </a:spcAft>
              <a:buClr>
                <a:schemeClr val="dk1"/>
              </a:buClr>
              <a:buSzPts val="2800"/>
              <a:buAutoNum type="arabicPeriod" startAt="3"/>
            </a:pPr>
            <a:r>
              <a:rPr b="1" lang="en-AU" sz="2800">
                <a:latin typeface="Arial"/>
                <a:ea typeface="Arial"/>
                <a:cs typeface="Arial"/>
                <a:sym typeface="Arial"/>
              </a:rPr>
              <a:t>Costocervical trunk </a:t>
            </a:r>
            <a:r>
              <a:rPr lang="en-AU" sz="2800">
                <a:latin typeface="Arial"/>
                <a:ea typeface="Arial"/>
                <a:cs typeface="Arial"/>
                <a:sym typeface="Arial"/>
              </a:rPr>
              <a:t>(on left side only) </a:t>
            </a:r>
            <a:endParaRPr sz="2800">
              <a:latin typeface="Arial"/>
              <a:ea typeface="Arial"/>
              <a:cs typeface="Arial"/>
              <a:sym typeface="Arial"/>
            </a:endParaRPr>
          </a:p>
        </p:txBody>
      </p:sp>
      <p:sp>
        <p:nvSpPr>
          <p:cNvPr id="415" name="Google Shape;415;p49"/>
          <p:cNvSpPr txBox="1"/>
          <p:nvPr>
            <p:ph idx="12" type="sldNum"/>
          </p:nvPr>
        </p:nvSpPr>
        <p:spPr>
          <a:xfrm>
            <a:off x="635795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pic>
        <p:nvPicPr>
          <p:cNvPr id="420" name="Google Shape;420;p50"/>
          <p:cNvPicPr preferRelativeResize="0"/>
          <p:nvPr>
            <p:ph idx="1" type="body"/>
          </p:nvPr>
        </p:nvPicPr>
        <p:blipFill rotWithShape="1">
          <a:blip r:embed="rId3">
            <a:alphaModFix/>
          </a:blip>
          <a:srcRect b="0" l="0" r="0" t="0"/>
          <a:stretch/>
        </p:blipFill>
        <p:spPr>
          <a:xfrm>
            <a:off x="428596" y="357166"/>
            <a:ext cx="8429684" cy="5786478"/>
          </a:xfrm>
          <a:prstGeom prst="rect">
            <a:avLst/>
          </a:prstGeom>
          <a:noFill/>
          <a:ln>
            <a:noFill/>
          </a:ln>
        </p:spPr>
      </p:pic>
      <p:sp>
        <p:nvSpPr>
          <p:cNvPr id="421" name="Google Shape;421;p50"/>
          <p:cNvSpPr txBox="1"/>
          <p:nvPr/>
        </p:nvSpPr>
        <p:spPr>
          <a:xfrm>
            <a:off x="1785918" y="6215082"/>
            <a:ext cx="472514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600">
                <a:solidFill>
                  <a:schemeClr val="dk1"/>
                </a:solidFill>
                <a:latin typeface="Arial"/>
                <a:ea typeface="Arial"/>
                <a:cs typeface="Arial"/>
                <a:sym typeface="Arial"/>
              </a:rPr>
              <a:t>Branches of the right and left subclavian arteries</a:t>
            </a:r>
            <a:endParaRPr sz="1600">
              <a:solidFill>
                <a:schemeClr val="dk1"/>
              </a:solidFill>
              <a:latin typeface="Arial"/>
              <a:ea typeface="Arial"/>
              <a:cs typeface="Arial"/>
              <a:sym typeface="Arial"/>
            </a:endParaRPr>
          </a:p>
        </p:txBody>
      </p:sp>
      <p:sp>
        <p:nvSpPr>
          <p:cNvPr id="422" name="Google Shape;422;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8"/>
          <p:cNvSpPr txBox="1"/>
          <p:nvPr>
            <p:ph type="title"/>
          </p:nvPr>
        </p:nvSpPr>
        <p:spPr>
          <a:xfrm>
            <a:off x="457200" y="0"/>
            <a:ext cx="8229600" cy="171448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Black"/>
              <a:buNone/>
            </a:pPr>
            <a:r>
              <a:rPr lang="en-AU">
                <a:latin typeface="Arial Black"/>
                <a:ea typeface="Arial Black"/>
                <a:cs typeface="Arial Black"/>
                <a:sym typeface="Arial Black"/>
              </a:rPr>
              <a:t>Parts of the subclavian artery</a:t>
            </a:r>
            <a:br>
              <a:rPr lang="en-AU"/>
            </a:br>
            <a:endParaRPr/>
          </a:p>
        </p:txBody>
      </p:sp>
      <p:sp>
        <p:nvSpPr>
          <p:cNvPr id="428" name="Google Shape;428;p48"/>
          <p:cNvSpPr txBox="1"/>
          <p:nvPr>
            <p:ph idx="1" type="body"/>
          </p:nvPr>
        </p:nvSpPr>
        <p:spPr>
          <a:xfrm>
            <a:off x="457200" y="1000108"/>
            <a:ext cx="8401080" cy="5643602"/>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lang="en-AU">
                <a:latin typeface="Arial"/>
                <a:ea typeface="Arial"/>
                <a:cs typeface="Arial"/>
                <a:sym typeface="Arial"/>
              </a:rPr>
              <a:t>On </a:t>
            </a:r>
            <a:r>
              <a:rPr b="1" lang="en-AU">
                <a:latin typeface="Arial"/>
                <a:ea typeface="Arial"/>
                <a:cs typeface="Arial"/>
                <a:sym typeface="Arial"/>
              </a:rPr>
              <a:t>each side</a:t>
            </a:r>
            <a:r>
              <a:rPr lang="en-AU">
                <a:latin typeface="Arial"/>
                <a:ea typeface="Arial"/>
                <a:cs typeface="Arial"/>
                <a:sym typeface="Arial"/>
              </a:rPr>
              <a:t>, the </a:t>
            </a:r>
            <a:r>
              <a:rPr b="1" lang="en-AU">
                <a:latin typeface="Arial"/>
                <a:ea typeface="Arial"/>
                <a:cs typeface="Arial"/>
                <a:sym typeface="Arial"/>
              </a:rPr>
              <a:t>subclavian artery </a:t>
            </a:r>
            <a:r>
              <a:rPr lang="en-AU">
                <a:latin typeface="Arial"/>
                <a:ea typeface="Arial"/>
                <a:cs typeface="Arial"/>
                <a:sym typeface="Arial"/>
              </a:rPr>
              <a:t>is divided into </a:t>
            </a:r>
            <a:r>
              <a:rPr b="1" lang="en-AU">
                <a:latin typeface="Arial"/>
                <a:ea typeface="Arial"/>
                <a:cs typeface="Arial"/>
                <a:sym typeface="Arial"/>
              </a:rPr>
              <a:t>three parts </a:t>
            </a:r>
            <a:r>
              <a:rPr lang="en-AU">
                <a:latin typeface="Arial"/>
                <a:ea typeface="Arial"/>
                <a:cs typeface="Arial"/>
                <a:sym typeface="Arial"/>
              </a:rPr>
              <a:t>by the </a:t>
            </a:r>
            <a:r>
              <a:rPr b="1" lang="en-AU">
                <a:latin typeface="Arial"/>
                <a:ea typeface="Arial"/>
                <a:cs typeface="Arial"/>
                <a:sym typeface="Arial"/>
              </a:rPr>
              <a:t>scalenus anterior muscle </a:t>
            </a:r>
            <a:endParaRPr/>
          </a:p>
          <a:p>
            <a:pPr indent="-342900" lvl="0" marL="342900" rtl="0" algn="just">
              <a:spcBef>
                <a:spcPts val="640"/>
              </a:spcBef>
              <a:spcAft>
                <a:spcPts val="0"/>
              </a:spcAft>
              <a:buClr>
                <a:schemeClr val="dk1"/>
              </a:buClr>
              <a:buSzPts val="3200"/>
              <a:buChar char="•"/>
            </a:pPr>
            <a:r>
              <a:rPr lang="en-AU">
                <a:latin typeface="Arial"/>
                <a:ea typeface="Arial"/>
                <a:cs typeface="Arial"/>
                <a:sym typeface="Arial"/>
              </a:rPr>
              <a:t>These are:</a:t>
            </a:r>
            <a:endParaRPr/>
          </a:p>
          <a:p>
            <a:pPr indent="-342900" lvl="0" marL="342900" rtl="0" algn="just">
              <a:spcBef>
                <a:spcPts val="640"/>
              </a:spcBef>
              <a:spcAft>
                <a:spcPts val="0"/>
              </a:spcAft>
              <a:buClr>
                <a:schemeClr val="dk1"/>
              </a:buClr>
              <a:buSzPts val="3200"/>
              <a:buFont typeface="Noto Sans Symbols"/>
              <a:buChar char="⮚"/>
            </a:pPr>
            <a:r>
              <a:rPr b="1" lang="en-AU">
                <a:latin typeface="Arial"/>
                <a:ea typeface="Arial"/>
                <a:cs typeface="Arial"/>
                <a:sym typeface="Arial"/>
              </a:rPr>
              <a:t>First part</a:t>
            </a:r>
            <a:r>
              <a:rPr lang="en-AU">
                <a:latin typeface="Arial"/>
                <a:ea typeface="Arial"/>
                <a:cs typeface="Arial"/>
                <a:sym typeface="Arial"/>
              </a:rPr>
              <a:t>: It extends from </a:t>
            </a:r>
            <a:r>
              <a:rPr b="1" lang="en-AU">
                <a:latin typeface="Arial"/>
                <a:ea typeface="Arial"/>
                <a:cs typeface="Arial"/>
                <a:sym typeface="Arial"/>
              </a:rPr>
              <a:t>origin</a:t>
            </a:r>
            <a:r>
              <a:rPr lang="en-AU">
                <a:latin typeface="Arial"/>
                <a:ea typeface="Arial"/>
                <a:cs typeface="Arial"/>
                <a:sym typeface="Arial"/>
              </a:rPr>
              <a:t> to </a:t>
            </a:r>
            <a:r>
              <a:rPr b="1" lang="en-AU">
                <a:latin typeface="Arial"/>
                <a:ea typeface="Arial"/>
                <a:cs typeface="Arial"/>
                <a:sym typeface="Arial"/>
              </a:rPr>
              <a:t>medial border </a:t>
            </a:r>
            <a:r>
              <a:rPr lang="en-AU">
                <a:latin typeface="Arial"/>
                <a:ea typeface="Arial"/>
                <a:cs typeface="Arial"/>
                <a:sym typeface="Arial"/>
              </a:rPr>
              <a:t>of </a:t>
            </a:r>
            <a:r>
              <a:rPr b="1" lang="en-AU">
                <a:latin typeface="Arial"/>
                <a:ea typeface="Arial"/>
                <a:cs typeface="Arial"/>
                <a:sym typeface="Arial"/>
              </a:rPr>
              <a:t>scalenus anterior</a:t>
            </a:r>
            <a:r>
              <a:rPr lang="en-AU">
                <a:latin typeface="Arial"/>
                <a:ea typeface="Arial"/>
                <a:cs typeface="Arial"/>
                <a:sym typeface="Arial"/>
              </a:rPr>
              <a:t>.</a:t>
            </a:r>
            <a:endParaRPr/>
          </a:p>
          <a:p>
            <a:pPr indent="-342900" lvl="0" marL="342900" rtl="0" algn="just">
              <a:spcBef>
                <a:spcPts val="640"/>
              </a:spcBef>
              <a:spcAft>
                <a:spcPts val="0"/>
              </a:spcAft>
              <a:buClr>
                <a:schemeClr val="dk1"/>
              </a:buClr>
              <a:buSzPts val="3200"/>
              <a:buFont typeface="Noto Sans Symbols"/>
              <a:buChar char="⮚"/>
            </a:pPr>
            <a:r>
              <a:rPr b="1" lang="en-AU">
                <a:latin typeface="Arial"/>
                <a:ea typeface="Arial"/>
                <a:cs typeface="Arial"/>
                <a:sym typeface="Arial"/>
              </a:rPr>
              <a:t>Second part</a:t>
            </a:r>
            <a:r>
              <a:rPr lang="en-AU">
                <a:latin typeface="Arial"/>
                <a:ea typeface="Arial"/>
                <a:cs typeface="Arial"/>
                <a:sym typeface="Arial"/>
              </a:rPr>
              <a:t>: It lies behind the </a:t>
            </a:r>
            <a:r>
              <a:rPr b="1" lang="en-AU">
                <a:latin typeface="Arial"/>
                <a:ea typeface="Arial"/>
                <a:cs typeface="Arial"/>
                <a:sym typeface="Arial"/>
              </a:rPr>
              <a:t>scalenus anterior muscle</a:t>
            </a:r>
            <a:r>
              <a:rPr lang="en-AU">
                <a:latin typeface="Arial"/>
                <a:ea typeface="Arial"/>
                <a:cs typeface="Arial"/>
                <a:sym typeface="Arial"/>
              </a:rPr>
              <a:t>.</a:t>
            </a:r>
            <a:endParaRPr/>
          </a:p>
          <a:p>
            <a:pPr indent="-342900" lvl="0" marL="342900" rtl="0" algn="just">
              <a:spcBef>
                <a:spcPts val="640"/>
              </a:spcBef>
              <a:spcAft>
                <a:spcPts val="0"/>
              </a:spcAft>
              <a:buClr>
                <a:schemeClr val="dk1"/>
              </a:buClr>
              <a:buSzPts val="3200"/>
              <a:buFont typeface="Noto Sans Symbols"/>
              <a:buChar char="⮚"/>
            </a:pPr>
            <a:r>
              <a:rPr b="1" lang="en-AU">
                <a:latin typeface="Arial"/>
                <a:ea typeface="Arial"/>
                <a:cs typeface="Arial"/>
                <a:sym typeface="Arial"/>
              </a:rPr>
              <a:t>Third part</a:t>
            </a:r>
            <a:r>
              <a:rPr lang="en-AU">
                <a:latin typeface="Arial"/>
                <a:ea typeface="Arial"/>
                <a:cs typeface="Arial"/>
                <a:sym typeface="Arial"/>
              </a:rPr>
              <a:t>: It extends from the </a:t>
            </a:r>
            <a:r>
              <a:rPr b="1" lang="en-AU">
                <a:latin typeface="Arial"/>
                <a:ea typeface="Arial"/>
                <a:cs typeface="Arial"/>
                <a:sym typeface="Arial"/>
              </a:rPr>
              <a:t>lateral border </a:t>
            </a:r>
            <a:r>
              <a:rPr lang="en-AU">
                <a:latin typeface="Arial"/>
                <a:ea typeface="Arial"/>
                <a:cs typeface="Arial"/>
                <a:sym typeface="Arial"/>
              </a:rPr>
              <a:t>of </a:t>
            </a:r>
            <a:r>
              <a:rPr b="1" lang="en-AU">
                <a:latin typeface="Arial"/>
                <a:ea typeface="Arial"/>
                <a:cs typeface="Arial"/>
                <a:sym typeface="Arial"/>
              </a:rPr>
              <a:t>scalenus anterior </a:t>
            </a:r>
            <a:r>
              <a:rPr lang="en-AU">
                <a:latin typeface="Arial"/>
                <a:ea typeface="Arial"/>
                <a:cs typeface="Arial"/>
                <a:sym typeface="Arial"/>
              </a:rPr>
              <a:t>to the </a:t>
            </a:r>
            <a:r>
              <a:rPr b="1" lang="en-AU">
                <a:latin typeface="Arial"/>
                <a:ea typeface="Arial"/>
                <a:cs typeface="Arial"/>
                <a:sym typeface="Arial"/>
              </a:rPr>
              <a:t>outer border </a:t>
            </a:r>
            <a:r>
              <a:rPr lang="en-AU">
                <a:latin typeface="Arial"/>
                <a:ea typeface="Arial"/>
                <a:cs typeface="Arial"/>
                <a:sym typeface="Arial"/>
              </a:rPr>
              <a:t>of the </a:t>
            </a:r>
            <a:r>
              <a:rPr b="1" lang="en-AU">
                <a:latin typeface="Arial"/>
                <a:ea typeface="Arial"/>
                <a:cs typeface="Arial"/>
                <a:sym typeface="Arial"/>
              </a:rPr>
              <a:t>first rib</a:t>
            </a:r>
            <a:r>
              <a:rPr lang="en-AU">
                <a:latin typeface="Arial"/>
                <a:ea typeface="Arial"/>
                <a:cs typeface="Arial"/>
                <a:sym typeface="Arial"/>
              </a:rPr>
              <a:t>.</a:t>
            </a:r>
            <a:endParaRPr>
              <a:latin typeface="Arial"/>
              <a:ea typeface="Arial"/>
              <a:cs typeface="Arial"/>
              <a:sym typeface="Arial"/>
            </a:endParaRPr>
          </a:p>
        </p:txBody>
      </p:sp>
      <p:sp>
        <p:nvSpPr>
          <p:cNvPr id="429" name="Google Shape;429;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1"/>
          <p:cNvSpPr txBox="1"/>
          <p:nvPr>
            <p:ph idx="1" type="body"/>
          </p:nvPr>
        </p:nvSpPr>
        <p:spPr>
          <a:xfrm>
            <a:off x="457200" y="1142984"/>
            <a:ext cx="8229600" cy="535785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Font typeface="Noto Sans Symbols"/>
              <a:buChar char="▪"/>
            </a:pPr>
            <a:r>
              <a:rPr lang="en-AU"/>
              <a:t> </a:t>
            </a:r>
            <a:r>
              <a:rPr b="1" lang="en-AU">
                <a:latin typeface="Arial"/>
                <a:ea typeface="Arial"/>
                <a:cs typeface="Arial"/>
                <a:sym typeface="Arial"/>
              </a:rPr>
              <a:t>The second part</a:t>
            </a:r>
            <a:r>
              <a:rPr lang="en-AU">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a:latin typeface="Arial"/>
                <a:ea typeface="Arial"/>
                <a:cs typeface="Arial"/>
                <a:sym typeface="Arial"/>
              </a:rPr>
              <a:t>Costocervical trunk </a:t>
            </a:r>
            <a:r>
              <a:rPr lang="en-AU">
                <a:latin typeface="Arial"/>
                <a:ea typeface="Arial"/>
                <a:cs typeface="Arial"/>
                <a:sym typeface="Arial"/>
              </a:rPr>
              <a:t>(on right side only).</a:t>
            </a:r>
            <a:endParaRPr/>
          </a:p>
          <a:p>
            <a:pPr indent="-342900" lvl="0" marL="342900" rtl="0" algn="just">
              <a:spcBef>
                <a:spcPts val="640"/>
              </a:spcBef>
              <a:spcAft>
                <a:spcPts val="0"/>
              </a:spcAft>
              <a:buClr>
                <a:schemeClr val="dk1"/>
              </a:buClr>
              <a:buSzPts val="3200"/>
              <a:buNone/>
            </a:pPr>
            <a:r>
              <a:t/>
            </a:r>
            <a:endParaRPr>
              <a:latin typeface="Arial"/>
              <a:ea typeface="Arial"/>
              <a:cs typeface="Arial"/>
              <a:sym typeface="Arial"/>
            </a:endParaRPr>
          </a:p>
          <a:p>
            <a:pPr indent="-342900" lvl="0" marL="342900" rtl="0" algn="just">
              <a:spcBef>
                <a:spcPts val="640"/>
              </a:spcBef>
              <a:spcAft>
                <a:spcPts val="0"/>
              </a:spcAft>
              <a:buClr>
                <a:schemeClr val="dk1"/>
              </a:buClr>
              <a:buSzPts val="3200"/>
              <a:buFont typeface="Noto Sans Symbols"/>
              <a:buChar char="▪"/>
            </a:pPr>
            <a:r>
              <a:rPr b="1" lang="en-AU">
                <a:latin typeface="Arial"/>
                <a:ea typeface="Arial"/>
                <a:cs typeface="Arial"/>
                <a:sym typeface="Arial"/>
              </a:rPr>
              <a:t>The third part</a:t>
            </a:r>
            <a:r>
              <a:rPr lang="en-AU">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a:latin typeface="Arial"/>
                <a:ea typeface="Arial"/>
                <a:cs typeface="Arial"/>
                <a:sym typeface="Arial"/>
              </a:rPr>
              <a:t>Dorsal scapula artery</a:t>
            </a:r>
            <a:r>
              <a:rPr lang="en-AU">
                <a:latin typeface="Arial"/>
                <a:ea typeface="Arial"/>
                <a:cs typeface="Arial"/>
                <a:sym typeface="Arial"/>
              </a:rPr>
              <a:t>: It is an </a:t>
            </a:r>
            <a:r>
              <a:rPr b="1" lang="en-AU">
                <a:latin typeface="Arial"/>
                <a:ea typeface="Arial"/>
                <a:cs typeface="Arial"/>
                <a:sym typeface="Arial"/>
              </a:rPr>
              <a:t>occasional branch </a:t>
            </a:r>
            <a:r>
              <a:rPr lang="en-AU">
                <a:latin typeface="Arial"/>
                <a:ea typeface="Arial"/>
                <a:cs typeface="Arial"/>
                <a:sym typeface="Arial"/>
              </a:rPr>
              <a:t>that may arise </a:t>
            </a:r>
            <a:r>
              <a:rPr b="1" lang="en-AU">
                <a:latin typeface="Arial"/>
                <a:ea typeface="Arial"/>
                <a:cs typeface="Arial"/>
                <a:sym typeface="Arial"/>
              </a:rPr>
              <a:t>from the third part </a:t>
            </a:r>
            <a:r>
              <a:rPr lang="en-AU">
                <a:latin typeface="Arial"/>
                <a:ea typeface="Arial"/>
                <a:cs typeface="Arial"/>
                <a:sym typeface="Arial"/>
              </a:rPr>
              <a:t>of the </a:t>
            </a:r>
            <a:r>
              <a:rPr b="1" lang="en-AU">
                <a:latin typeface="Arial"/>
                <a:ea typeface="Arial"/>
                <a:cs typeface="Arial"/>
                <a:sym typeface="Arial"/>
              </a:rPr>
              <a:t>subclavian artery</a:t>
            </a:r>
            <a:r>
              <a:rPr lang="en-AU">
                <a:latin typeface="Arial"/>
                <a:ea typeface="Arial"/>
                <a:cs typeface="Arial"/>
                <a:sym typeface="Arial"/>
              </a:rPr>
              <a:t>. When present, it </a:t>
            </a:r>
            <a:r>
              <a:rPr b="1" lang="en-AU">
                <a:latin typeface="Arial"/>
                <a:ea typeface="Arial"/>
                <a:cs typeface="Arial"/>
                <a:sym typeface="Arial"/>
              </a:rPr>
              <a:t>replaces</a:t>
            </a:r>
            <a:r>
              <a:rPr lang="en-AU">
                <a:latin typeface="Arial"/>
                <a:ea typeface="Arial"/>
                <a:cs typeface="Arial"/>
                <a:sym typeface="Arial"/>
              </a:rPr>
              <a:t> the </a:t>
            </a:r>
            <a:r>
              <a:rPr b="1" lang="en-AU">
                <a:latin typeface="Arial"/>
                <a:ea typeface="Arial"/>
                <a:cs typeface="Arial"/>
                <a:sym typeface="Arial"/>
              </a:rPr>
              <a:t>deep branch of the transverse cervical artery</a:t>
            </a:r>
            <a:r>
              <a:rPr lang="en-AU" sz="2800">
                <a:latin typeface="Arial"/>
                <a:ea typeface="Arial"/>
                <a:cs typeface="Arial"/>
                <a:sym typeface="Arial"/>
              </a:rPr>
              <a:t>.</a:t>
            </a:r>
            <a:endParaRPr sz="2800">
              <a:latin typeface="Arial"/>
              <a:ea typeface="Arial"/>
              <a:cs typeface="Arial"/>
              <a:sym typeface="Arial"/>
            </a:endParaRPr>
          </a:p>
        </p:txBody>
      </p:sp>
      <p:sp>
        <p:nvSpPr>
          <p:cNvPr id="435" name="Google Shape;435;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2"/>
          <p:cNvSpPr txBox="1"/>
          <p:nvPr>
            <p:ph type="title"/>
          </p:nvPr>
        </p:nvSpPr>
        <p:spPr>
          <a:xfrm>
            <a:off x="457200" y="0"/>
            <a:ext cx="8229600" cy="121442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a:latin typeface="Arial Black"/>
                <a:ea typeface="Arial Black"/>
                <a:cs typeface="Arial Black"/>
                <a:sym typeface="Arial Black"/>
              </a:rPr>
              <a:t>Cont’d</a:t>
            </a:r>
            <a:endParaRPr>
              <a:latin typeface="Arial Black"/>
              <a:ea typeface="Arial Black"/>
              <a:cs typeface="Arial Black"/>
              <a:sym typeface="Arial Black"/>
            </a:endParaRPr>
          </a:p>
        </p:txBody>
      </p:sp>
      <p:sp>
        <p:nvSpPr>
          <p:cNvPr id="441" name="Google Shape;441;p52"/>
          <p:cNvSpPr txBox="1"/>
          <p:nvPr>
            <p:ph idx="1" type="body"/>
          </p:nvPr>
        </p:nvSpPr>
        <p:spPr>
          <a:xfrm>
            <a:off x="457200" y="1071546"/>
            <a:ext cx="8229600" cy="5786454"/>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Font typeface="Noto Sans Symbols"/>
              <a:buChar char="▪"/>
            </a:pPr>
            <a:r>
              <a:rPr b="1" lang="en-AU">
                <a:latin typeface="Arial"/>
                <a:ea typeface="Arial"/>
                <a:cs typeface="Arial"/>
                <a:sym typeface="Arial"/>
              </a:rPr>
              <a:t>Around the body of scapula</a:t>
            </a:r>
            <a:r>
              <a:rPr lang="en-AU">
                <a:latin typeface="Arial"/>
                <a:ea typeface="Arial"/>
                <a:cs typeface="Arial"/>
                <a:sym typeface="Arial"/>
              </a:rPr>
              <a:t>: </a:t>
            </a:r>
            <a:endParaRPr/>
          </a:p>
          <a:p>
            <a:pPr indent="-342900" lvl="0" marL="342900" rtl="0" algn="just">
              <a:spcBef>
                <a:spcPts val="640"/>
              </a:spcBef>
              <a:spcAft>
                <a:spcPts val="0"/>
              </a:spcAft>
              <a:buClr>
                <a:schemeClr val="dk1"/>
              </a:buClr>
              <a:buSzPts val="3200"/>
              <a:buChar char="•"/>
            </a:pPr>
            <a:r>
              <a:rPr lang="en-AU">
                <a:latin typeface="Arial"/>
                <a:ea typeface="Arial"/>
                <a:cs typeface="Arial"/>
                <a:sym typeface="Arial"/>
              </a:rPr>
              <a:t>It occurs between the </a:t>
            </a:r>
            <a:r>
              <a:rPr b="1" lang="en-AU">
                <a:latin typeface="Arial"/>
                <a:ea typeface="Arial"/>
                <a:cs typeface="Arial"/>
                <a:sym typeface="Arial"/>
              </a:rPr>
              <a:t>suprascapular artery</a:t>
            </a:r>
            <a:r>
              <a:rPr lang="en-AU">
                <a:latin typeface="Arial"/>
                <a:ea typeface="Arial"/>
                <a:cs typeface="Arial"/>
                <a:sym typeface="Arial"/>
              </a:rPr>
              <a:t>, a branch of the </a:t>
            </a:r>
            <a:r>
              <a:rPr b="1" lang="en-AU">
                <a:latin typeface="Arial"/>
                <a:ea typeface="Arial"/>
                <a:cs typeface="Arial"/>
                <a:sym typeface="Arial"/>
              </a:rPr>
              <a:t>thyrocervical trunk </a:t>
            </a:r>
            <a:r>
              <a:rPr lang="en-AU">
                <a:latin typeface="Arial"/>
                <a:ea typeface="Arial"/>
                <a:cs typeface="Arial"/>
                <a:sym typeface="Arial"/>
              </a:rPr>
              <a:t>from the </a:t>
            </a:r>
            <a:r>
              <a:rPr b="1" lang="en-AU">
                <a:latin typeface="Arial"/>
                <a:ea typeface="Arial"/>
                <a:cs typeface="Arial"/>
                <a:sym typeface="Arial"/>
              </a:rPr>
              <a:t>first part </a:t>
            </a:r>
            <a:r>
              <a:rPr lang="en-AU">
                <a:latin typeface="Arial"/>
                <a:ea typeface="Arial"/>
                <a:cs typeface="Arial"/>
                <a:sym typeface="Arial"/>
              </a:rPr>
              <a:t>of the </a:t>
            </a:r>
            <a:r>
              <a:rPr b="1" lang="en-AU">
                <a:latin typeface="Arial"/>
                <a:ea typeface="Arial"/>
                <a:cs typeface="Arial"/>
                <a:sym typeface="Arial"/>
              </a:rPr>
              <a:t>subclavian artery</a:t>
            </a:r>
            <a:r>
              <a:rPr lang="en-AU">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a:latin typeface="Arial"/>
                <a:ea typeface="Arial"/>
                <a:cs typeface="Arial"/>
                <a:sym typeface="Arial"/>
              </a:rPr>
              <a:t>Deep branch </a:t>
            </a:r>
            <a:r>
              <a:rPr lang="en-AU">
                <a:latin typeface="Arial"/>
                <a:ea typeface="Arial"/>
                <a:cs typeface="Arial"/>
                <a:sym typeface="Arial"/>
              </a:rPr>
              <a:t>of the </a:t>
            </a:r>
            <a:r>
              <a:rPr b="1" lang="en-AU">
                <a:latin typeface="Arial"/>
                <a:ea typeface="Arial"/>
                <a:cs typeface="Arial"/>
                <a:sym typeface="Arial"/>
              </a:rPr>
              <a:t>transverse cervical artery</a:t>
            </a:r>
            <a:r>
              <a:rPr lang="en-AU">
                <a:latin typeface="Arial"/>
                <a:ea typeface="Arial"/>
                <a:cs typeface="Arial"/>
                <a:sym typeface="Arial"/>
              </a:rPr>
              <a:t>, a branch of the </a:t>
            </a:r>
            <a:r>
              <a:rPr b="1" lang="en-AU">
                <a:latin typeface="Arial"/>
                <a:ea typeface="Arial"/>
                <a:cs typeface="Arial"/>
                <a:sym typeface="Arial"/>
              </a:rPr>
              <a:t>thyrocervical trunk</a:t>
            </a:r>
            <a:r>
              <a:rPr lang="en-AU">
                <a:latin typeface="Arial"/>
                <a:ea typeface="Arial"/>
                <a:cs typeface="Arial"/>
                <a:sym typeface="Arial"/>
              </a:rPr>
              <a:t>.</a:t>
            </a:r>
            <a:endParaRPr/>
          </a:p>
          <a:p>
            <a:pPr indent="-342900" lvl="0" marL="342900" rtl="0" algn="just">
              <a:spcBef>
                <a:spcPts val="640"/>
              </a:spcBef>
              <a:spcAft>
                <a:spcPts val="0"/>
              </a:spcAft>
              <a:buClr>
                <a:schemeClr val="dk1"/>
              </a:buClr>
              <a:buSzPts val="3200"/>
              <a:buChar char="•"/>
            </a:pPr>
            <a:r>
              <a:rPr b="1" lang="en-AU">
                <a:latin typeface="Arial"/>
                <a:ea typeface="Arial"/>
                <a:cs typeface="Arial"/>
                <a:sym typeface="Arial"/>
              </a:rPr>
              <a:t>Circumflex scapular artery</a:t>
            </a:r>
            <a:r>
              <a:rPr lang="en-AU">
                <a:latin typeface="Arial"/>
                <a:ea typeface="Arial"/>
                <a:cs typeface="Arial"/>
                <a:sym typeface="Arial"/>
              </a:rPr>
              <a:t>, a branch of the </a:t>
            </a:r>
            <a:r>
              <a:rPr b="1" lang="en-AU">
                <a:latin typeface="Arial"/>
                <a:ea typeface="Arial"/>
                <a:cs typeface="Arial"/>
                <a:sym typeface="Arial"/>
              </a:rPr>
              <a:t>subscapular</a:t>
            </a:r>
            <a:r>
              <a:rPr lang="en-AU">
                <a:latin typeface="Arial"/>
                <a:ea typeface="Arial"/>
                <a:cs typeface="Arial"/>
                <a:sym typeface="Arial"/>
              </a:rPr>
              <a:t> </a:t>
            </a:r>
            <a:r>
              <a:rPr b="1" lang="en-AU">
                <a:latin typeface="Arial"/>
                <a:ea typeface="Arial"/>
                <a:cs typeface="Arial"/>
                <a:sym typeface="Arial"/>
              </a:rPr>
              <a:t>artery</a:t>
            </a:r>
            <a:r>
              <a:rPr lang="en-AU">
                <a:latin typeface="Arial"/>
                <a:ea typeface="Arial"/>
                <a:cs typeface="Arial"/>
                <a:sym typeface="Arial"/>
              </a:rPr>
              <a:t> from the </a:t>
            </a:r>
            <a:r>
              <a:rPr b="1" lang="en-AU">
                <a:latin typeface="Arial"/>
                <a:ea typeface="Arial"/>
                <a:cs typeface="Arial"/>
                <a:sym typeface="Arial"/>
              </a:rPr>
              <a:t>third part </a:t>
            </a:r>
            <a:r>
              <a:rPr lang="en-AU">
                <a:latin typeface="Arial"/>
                <a:ea typeface="Arial"/>
                <a:cs typeface="Arial"/>
                <a:sym typeface="Arial"/>
              </a:rPr>
              <a:t>of the </a:t>
            </a:r>
            <a:r>
              <a:rPr b="1" lang="en-AU">
                <a:latin typeface="Arial"/>
                <a:ea typeface="Arial"/>
                <a:cs typeface="Arial"/>
                <a:sym typeface="Arial"/>
              </a:rPr>
              <a:t>axillary artery</a:t>
            </a:r>
            <a:r>
              <a:rPr lang="en-AU">
                <a:latin typeface="Arial"/>
                <a:ea typeface="Arial"/>
                <a:cs typeface="Arial"/>
                <a:sym typeface="Arial"/>
              </a:rPr>
              <a: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a:latin typeface="Arial Black"/>
                <a:ea typeface="Arial Black"/>
                <a:cs typeface="Arial Black"/>
                <a:sym typeface="Arial Black"/>
              </a:rPr>
              <a:t>Cont’d</a:t>
            </a:r>
            <a:endParaRPr>
              <a:latin typeface="Arial Black"/>
              <a:ea typeface="Arial Black"/>
              <a:cs typeface="Arial Black"/>
              <a:sym typeface="Arial Black"/>
            </a:endParaRPr>
          </a:p>
        </p:txBody>
      </p:sp>
      <p:sp>
        <p:nvSpPr>
          <p:cNvPr id="447" name="Google Shape;447;p53"/>
          <p:cNvSpPr txBox="1"/>
          <p:nvPr>
            <p:ph idx="1" type="body"/>
          </p:nvPr>
        </p:nvSpPr>
        <p:spPr>
          <a:xfrm>
            <a:off x="457200" y="1600200"/>
            <a:ext cx="8229600" cy="4900634"/>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Font typeface="Noto Sans Symbols"/>
              <a:buChar char="▪"/>
            </a:pPr>
            <a:r>
              <a:rPr lang="en-AU">
                <a:latin typeface="Arial"/>
                <a:ea typeface="Arial"/>
                <a:cs typeface="Arial"/>
                <a:sym typeface="Arial"/>
              </a:rPr>
              <a:t>Over the </a:t>
            </a:r>
            <a:r>
              <a:rPr b="1" lang="en-AU">
                <a:latin typeface="Arial"/>
                <a:ea typeface="Arial"/>
                <a:cs typeface="Arial"/>
                <a:sym typeface="Arial"/>
              </a:rPr>
              <a:t>acromion process</a:t>
            </a:r>
            <a:r>
              <a:rPr lang="en-AU">
                <a:latin typeface="Arial"/>
                <a:ea typeface="Arial"/>
                <a:cs typeface="Arial"/>
                <a:sym typeface="Arial"/>
              </a:rPr>
              <a:t>: It occurs between the</a:t>
            </a:r>
            <a:endParaRPr/>
          </a:p>
          <a:p>
            <a:pPr indent="-342900" lvl="0" marL="342900" rtl="0" algn="just">
              <a:spcBef>
                <a:spcPts val="640"/>
              </a:spcBef>
              <a:spcAft>
                <a:spcPts val="0"/>
              </a:spcAft>
              <a:buClr>
                <a:schemeClr val="dk1"/>
              </a:buClr>
              <a:buSzPts val="3200"/>
              <a:buChar char="•"/>
            </a:pPr>
            <a:r>
              <a:rPr b="1" lang="en-AU">
                <a:latin typeface="Arial"/>
                <a:ea typeface="Arial"/>
                <a:cs typeface="Arial"/>
                <a:sym typeface="Arial"/>
              </a:rPr>
              <a:t>Acromial branch </a:t>
            </a:r>
            <a:r>
              <a:rPr lang="en-AU">
                <a:latin typeface="Arial"/>
                <a:ea typeface="Arial"/>
                <a:cs typeface="Arial"/>
                <a:sym typeface="Arial"/>
              </a:rPr>
              <a:t>of the </a:t>
            </a:r>
            <a:r>
              <a:rPr b="1" lang="en-AU">
                <a:latin typeface="Arial"/>
                <a:ea typeface="Arial"/>
                <a:cs typeface="Arial"/>
                <a:sym typeface="Arial"/>
              </a:rPr>
              <a:t>thoraco-acromial artery</a:t>
            </a:r>
            <a:endParaRPr/>
          </a:p>
          <a:p>
            <a:pPr indent="-342900" lvl="0" marL="342900" rtl="0" algn="just">
              <a:spcBef>
                <a:spcPts val="640"/>
              </a:spcBef>
              <a:spcAft>
                <a:spcPts val="0"/>
              </a:spcAft>
              <a:buClr>
                <a:schemeClr val="dk1"/>
              </a:buClr>
              <a:buSzPts val="3200"/>
              <a:buChar char="•"/>
            </a:pPr>
            <a:r>
              <a:rPr b="1" lang="en-AU">
                <a:latin typeface="Arial"/>
                <a:ea typeface="Arial"/>
                <a:cs typeface="Arial"/>
                <a:sym typeface="Arial"/>
              </a:rPr>
              <a:t>Acromial branch </a:t>
            </a:r>
            <a:r>
              <a:rPr lang="en-AU">
                <a:latin typeface="Arial"/>
                <a:ea typeface="Arial"/>
                <a:cs typeface="Arial"/>
                <a:sym typeface="Arial"/>
              </a:rPr>
              <a:t>of the </a:t>
            </a:r>
            <a:r>
              <a:rPr b="1" lang="en-AU">
                <a:latin typeface="Arial"/>
                <a:ea typeface="Arial"/>
                <a:cs typeface="Arial"/>
                <a:sym typeface="Arial"/>
              </a:rPr>
              <a:t>suprascapular artery</a:t>
            </a:r>
            <a:endParaRPr/>
          </a:p>
          <a:p>
            <a:pPr indent="-342900" lvl="0" marL="342900" rtl="0" algn="just">
              <a:spcBef>
                <a:spcPts val="640"/>
              </a:spcBef>
              <a:spcAft>
                <a:spcPts val="0"/>
              </a:spcAft>
              <a:buClr>
                <a:schemeClr val="dk1"/>
              </a:buClr>
              <a:buSzPts val="3200"/>
              <a:buChar char="•"/>
            </a:pPr>
            <a:r>
              <a:rPr b="1" lang="en-AU">
                <a:latin typeface="Arial"/>
                <a:ea typeface="Arial"/>
                <a:cs typeface="Arial"/>
                <a:sym typeface="Arial"/>
              </a:rPr>
              <a:t>Acromial branch </a:t>
            </a:r>
            <a:r>
              <a:rPr lang="en-AU">
                <a:latin typeface="Arial"/>
                <a:ea typeface="Arial"/>
                <a:cs typeface="Arial"/>
                <a:sym typeface="Arial"/>
              </a:rPr>
              <a:t>of the </a:t>
            </a:r>
            <a:r>
              <a:rPr b="1" lang="en-AU">
                <a:latin typeface="Arial"/>
                <a:ea typeface="Arial"/>
                <a:cs typeface="Arial"/>
                <a:sym typeface="Arial"/>
              </a:rPr>
              <a:t>posterior circumflex humeral artery</a:t>
            </a:r>
            <a:r>
              <a:rPr lang="en-AU">
                <a:latin typeface="Arial"/>
                <a:ea typeface="Arial"/>
                <a:cs typeface="Arial"/>
                <a:sym typeface="Arial"/>
              </a:rPr>
              <a:t>.</a:t>
            </a:r>
            <a:endParaRPr>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id="452" name="Google Shape;452;p54"/>
          <p:cNvPicPr preferRelativeResize="0"/>
          <p:nvPr>
            <p:ph idx="1" type="body"/>
          </p:nvPr>
        </p:nvPicPr>
        <p:blipFill rotWithShape="1">
          <a:blip r:embed="rId3">
            <a:alphaModFix/>
          </a:blip>
          <a:srcRect b="0" l="0" r="0" t="0"/>
          <a:stretch/>
        </p:blipFill>
        <p:spPr>
          <a:xfrm>
            <a:off x="571472" y="714356"/>
            <a:ext cx="8001056" cy="5411807"/>
          </a:xfrm>
          <a:prstGeom prst="rect">
            <a:avLst/>
          </a:prstGeom>
          <a:noFill/>
          <a:ln>
            <a:noFill/>
          </a:ln>
        </p:spPr>
      </p:pic>
      <p:sp>
        <p:nvSpPr>
          <p:cNvPr id="453" name="Google Shape;453;p54"/>
          <p:cNvSpPr txBox="1"/>
          <p:nvPr/>
        </p:nvSpPr>
        <p:spPr>
          <a:xfrm>
            <a:off x="2786050" y="6215082"/>
            <a:ext cx="364333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2000">
                <a:solidFill>
                  <a:schemeClr val="dk1"/>
                </a:solidFill>
                <a:latin typeface="Arial"/>
                <a:ea typeface="Arial"/>
                <a:cs typeface="Arial"/>
                <a:sym typeface="Arial"/>
              </a:rPr>
              <a:t>Scapular anastomosis</a:t>
            </a:r>
            <a:endParaRPr sz="2000">
              <a:solidFill>
                <a:schemeClr val="dk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Arial Black"/>
              <a:buNone/>
            </a:pPr>
            <a:r>
              <a:rPr lang="en-AU">
                <a:latin typeface="Arial Black"/>
                <a:ea typeface="Arial Black"/>
                <a:cs typeface="Arial Black"/>
                <a:sym typeface="Arial Black"/>
              </a:rPr>
              <a:t>Anastomosis around the Surgical Neck of humerus</a:t>
            </a:r>
            <a:endParaRPr>
              <a:latin typeface="Arial Black"/>
              <a:ea typeface="Arial Black"/>
              <a:cs typeface="Arial Black"/>
              <a:sym typeface="Arial Black"/>
            </a:endParaRPr>
          </a:p>
        </p:txBody>
      </p:sp>
      <p:sp>
        <p:nvSpPr>
          <p:cNvPr id="459" name="Google Shape;459;p55"/>
          <p:cNvSpPr txBox="1"/>
          <p:nvPr>
            <p:ph idx="1" type="body"/>
          </p:nvPr>
        </p:nvSpPr>
        <p:spPr>
          <a:xfrm>
            <a:off x="457200" y="1600200"/>
            <a:ext cx="8229600" cy="4900634"/>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AU">
                <a:latin typeface="Arial"/>
                <a:ea typeface="Arial"/>
                <a:cs typeface="Arial"/>
                <a:sym typeface="Arial"/>
              </a:rPr>
              <a:t>It occurs just below the </a:t>
            </a:r>
            <a:r>
              <a:rPr b="1" lang="en-AU">
                <a:latin typeface="Arial"/>
                <a:ea typeface="Arial"/>
                <a:cs typeface="Arial"/>
                <a:sym typeface="Arial"/>
              </a:rPr>
              <a:t>surgical neck of humerus</a:t>
            </a:r>
            <a:endParaRPr/>
          </a:p>
          <a:p>
            <a:pPr indent="-342900" lvl="0" marL="342900" rtl="0" algn="just">
              <a:spcBef>
                <a:spcPts val="640"/>
              </a:spcBef>
              <a:spcAft>
                <a:spcPts val="0"/>
              </a:spcAft>
              <a:buClr>
                <a:schemeClr val="dk1"/>
              </a:buClr>
              <a:buSzPts val="3200"/>
              <a:buChar char="•"/>
            </a:pPr>
            <a:r>
              <a:rPr lang="en-AU">
                <a:latin typeface="Arial"/>
                <a:ea typeface="Arial"/>
                <a:cs typeface="Arial"/>
                <a:sym typeface="Arial"/>
              </a:rPr>
              <a:t>It between the </a:t>
            </a:r>
            <a:r>
              <a:rPr b="1" lang="en-AU">
                <a:latin typeface="Arial"/>
                <a:ea typeface="Arial"/>
                <a:cs typeface="Arial"/>
                <a:sym typeface="Arial"/>
              </a:rPr>
              <a:t>branches</a:t>
            </a:r>
            <a:r>
              <a:rPr lang="en-AU">
                <a:latin typeface="Arial"/>
                <a:ea typeface="Arial"/>
                <a:cs typeface="Arial"/>
                <a:sym typeface="Arial"/>
              </a:rPr>
              <a:t> of </a:t>
            </a:r>
            <a:r>
              <a:rPr b="1" lang="en-AU">
                <a:latin typeface="Arial"/>
                <a:ea typeface="Arial"/>
                <a:cs typeface="Arial"/>
                <a:sym typeface="Arial"/>
              </a:rPr>
              <a:t>3</a:t>
            </a:r>
            <a:r>
              <a:rPr b="1" baseline="30000" lang="en-AU">
                <a:latin typeface="Arial"/>
                <a:ea typeface="Arial"/>
                <a:cs typeface="Arial"/>
                <a:sym typeface="Arial"/>
              </a:rPr>
              <a:t>rd</a:t>
            </a:r>
            <a:r>
              <a:rPr b="1" lang="en-AU">
                <a:latin typeface="Arial"/>
                <a:ea typeface="Arial"/>
                <a:cs typeface="Arial"/>
                <a:sym typeface="Arial"/>
              </a:rPr>
              <a:t> part of axillary artery</a:t>
            </a:r>
            <a:r>
              <a:rPr lang="en-AU">
                <a:latin typeface="Arial"/>
                <a:ea typeface="Arial"/>
                <a:cs typeface="Arial"/>
                <a:sym typeface="Arial"/>
              </a:rPr>
              <a:t>.</a:t>
            </a:r>
            <a:endParaRPr/>
          </a:p>
          <a:p>
            <a:pPr indent="-139700" lvl="0" marL="342900" rtl="0" algn="just">
              <a:spcBef>
                <a:spcPts val="640"/>
              </a:spcBef>
              <a:spcAft>
                <a:spcPts val="0"/>
              </a:spcAft>
              <a:buClr>
                <a:schemeClr val="dk1"/>
              </a:buClr>
              <a:buSzPts val="3200"/>
              <a:buNone/>
            </a:pPr>
            <a:r>
              <a:t/>
            </a:r>
            <a:endParaRPr>
              <a:latin typeface="Arial"/>
              <a:ea typeface="Arial"/>
              <a:cs typeface="Arial"/>
              <a:sym typeface="Arial"/>
            </a:endParaRPr>
          </a:p>
          <a:p>
            <a:pPr indent="-342900" lvl="0" marL="342900" rtl="0" algn="just">
              <a:spcBef>
                <a:spcPts val="640"/>
              </a:spcBef>
              <a:spcAft>
                <a:spcPts val="0"/>
              </a:spcAft>
              <a:buClr>
                <a:schemeClr val="dk1"/>
              </a:buClr>
              <a:buSzPts val="3200"/>
              <a:buChar char="•"/>
            </a:pPr>
            <a:r>
              <a:rPr lang="en-AU">
                <a:latin typeface="Arial"/>
                <a:ea typeface="Arial"/>
                <a:cs typeface="Arial"/>
                <a:sym typeface="Arial"/>
              </a:rPr>
              <a:t>The branches involved:</a:t>
            </a:r>
            <a:endParaRPr/>
          </a:p>
          <a:p>
            <a:pPr indent="-342900" lvl="0" marL="342900" rtl="0" algn="just">
              <a:spcBef>
                <a:spcPts val="640"/>
              </a:spcBef>
              <a:spcAft>
                <a:spcPts val="0"/>
              </a:spcAft>
              <a:buClr>
                <a:schemeClr val="dk1"/>
              </a:buClr>
              <a:buSzPts val="3200"/>
              <a:buChar char="•"/>
            </a:pPr>
            <a:r>
              <a:rPr lang="en-AU">
                <a:latin typeface="Arial"/>
                <a:ea typeface="Arial"/>
                <a:cs typeface="Arial"/>
                <a:sym typeface="Arial"/>
              </a:rPr>
              <a:t>Anterior circumflex humeral artery</a:t>
            </a:r>
            <a:endParaRPr/>
          </a:p>
          <a:p>
            <a:pPr indent="-342900" lvl="0" marL="342900" rtl="0" algn="just">
              <a:spcBef>
                <a:spcPts val="640"/>
              </a:spcBef>
              <a:spcAft>
                <a:spcPts val="0"/>
              </a:spcAft>
              <a:buClr>
                <a:schemeClr val="dk1"/>
              </a:buClr>
              <a:buSzPts val="3200"/>
              <a:buChar char="•"/>
            </a:pPr>
            <a:r>
              <a:rPr lang="en-AU">
                <a:latin typeface="Arial"/>
                <a:ea typeface="Arial"/>
                <a:cs typeface="Arial"/>
                <a:sym typeface="Arial"/>
              </a:rPr>
              <a:t>Posterior circumflex humeral artery</a:t>
            </a:r>
            <a:endParaRPr/>
          </a:p>
          <a:p>
            <a:pPr indent="-139700" lvl="0" marL="342900" rtl="0" algn="just">
              <a:spcBef>
                <a:spcPts val="640"/>
              </a:spcBef>
              <a:spcAft>
                <a:spcPts val="0"/>
              </a:spcAft>
              <a:buClr>
                <a:schemeClr val="dk1"/>
              </a:buClr>
              <a:buSzPts val="3200"/>
              <a:buNone/>
            </a:pPr>
            <a:r>
              <a:t/>
            </a:r>
            <a:endParaRPr>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Black"/>
              <a:buNone/>
            </a:pPr>
            <a:r>
              <a:rPr lang="en-AU">
                <a:latin typeface="Arial Black"/>
                <a:ea typeface="Arial Black"/>
                <a:cs typeface="Arial Black"/>
                <a:sym typeface="Arial Black"/>
              </a:rPr>
              <a:t>APPLIED ANATOMY</a:t>
            </a:r>
            <a:endParaRPr>
              <a:latin typeface="Arial Black"/>
              <a:ea typeface="Arial Black"/>
              <a:cs typeface="Arial Black"/>
              <a:sym typeface="Arial Black"/>
            </a:endParaRPr>
          </a:p>
        </p:txBody>
      </p:sp>
      <p:sp>
        <p:nvSpPr>
          <p:cNvPr id="465" name="Google Shape;465;p56"/>
          <p:cNvSpPr txBox="1"/>
          <p:nvPr>
            <p:ph idx="1" type="body"/>
          </p:nvPr>
        </p:nvSpPr>
        <p:spPr>
          <a:xfrm>
            <a:off x="457200" y="1214422"/>
            <a:ext cx="8229600" cy="5643578"/>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AU">
                <a:latin typeface="Arial"/>
                <a:ea typeface="Arial"/>
                <a:cs typeface="Arial"/>
                <a:sym typeface="Arial"/>
              </a:rPr>
              <a:t>Collateral circulation through scapular anastomosis</a:t>
            </a:r>
            <a:r>
              <a:rPr lang="en-AU">
                <a:latin typeface="Arial"/>
                <a:ea typeface="Arial"/>
                <a:cs typeface="Arial"/>
                <a:sym typeface="Arial"/>
              </a:rPr>
              <a:t>: If the </a:t>
            </a:r>
            <a:r>
              <a:rPr b="1" lang="en-AU">
                <a:latin typeface="Arial"/>
                <a:ea typeface="Arial"/>
                <a:cs typeface="Arial"/>
                <a:sym typeface="Arial"/>
              </a:rPr>
              <a:t>subclavian</a:t>
            </a:r>
            <a:r>
              <a:rPr lang="en-AU">
                <a:latin typeface="Arial"/>
                <a:ea typeface="Arial"/>
                <a:cs typeface="Arial"/>
                <a:sym typeface="Arial"/>
              </a:rPr>
              <a:t> and </a:t>
            </a:r>
            <a:r>
              <a:rPr b="1" lang="en-AU">
                <a:latin typeface="Arial"/>
                <a:ea typeface="Arial"/>
                <a:cs typeface="Arial"/>
                <a:sym typeface="Arial"/>
              </a:rPr>
              <a:t>axillary arteries </a:t>
            </a:r>
            <a:r>
              <a:rPr lang="en-AU">
                <a:latin typeface="Arial"/>
                <a:ea typeface="Arial"/>
                <a:cs typeface="Arial"/>
                <a:sym typeface="Arial"/>
              </a:rPr>
              <a:t>are blocked anywhere between </a:t>
            </a:r>
            <a:r>
              <a:rPr b="1" lang="en-AU">
                <a:latin typeface="Arial"/>
                <a:ea typeface="Arial"/>
                <a:cs typeface="Arial"/>
                <a:sym typeface="Arial"/>
              </a:rPr>
              <a:t>1st part </a:t>
            </a:r>
            <a:r>
              <a:rPr lang="en-AU">
                <a:latin typeface="Arial"/>
                <a:ea typeface="Arial"/>
                <a:cs typeface="Arial"/>
                <a:sym typeface="Arial"/>
              </a:rPr>
              <a:t>of </a:t>
            </a:r>
            <a:r>
              <a:rPr b="1" lang="en-AU">
                <a:latin typeface="Arial"/>
                <a:ea typeface="Arial"/>
                <a:cs typeface="Arial"/>
                <a:sym typeface="Arial"/>
              </a:rPr>
              <a:t>subclavian artery </a:t>
            </a:r>
            <a:r>
              <a:rPr lang="en-AU">
                <a:latin typeface="Arial"/>
                <a:ea typeface="Arial"/>
                <a:cs typeface="Arial"/>
                <a:sym typeface="Arial"/>
              </a:rPr>
              <a:t>and </a:t>
            </a:r>
            <a:r>
              <a:rPr b="1" lang="en-AU">
                <a:latin typeface="Arial"/>
                <a:ea typeface="Arial"/>
                <a:cs typeface="Arial"/>
                <a:sym typeface="Arial"/>
              </a:rPr>
              <a:t>3rd part </a:t>
            </a:r>
            <a:r>
              <a:rPr lang="en-AU">
                <a:latin typeface="Arial"/>
                <a:ea typeface="Arial"/>
                <a:cs typeface="Arial"/>
                <a:sym typeface="Arial"/>
              </a:rPr>
              <a:t>of </a:t>
            </a:r>
            <a:r>
              <a:rPr b="1" lang="en-AU">
                <a:latin typeface="Arial"/>
                <a:ea typeface="Arial"/>
                <a:cs typeface="Arial"/>
                <a:sym typeface="Arial"/>
              </a:rPr>
              <a:t>axillary artery</a:t>
            </a:r>
            <a:r>
              <a:rPr lang="en-AU">
                <a:latin typeface="Arial"/>
                <a:ea typeface="Arial"/>
                <a:cs typeface="Arial"/>
                <a:sym typeface="Arial"/>
              </a:rPr>
              <a:t>, It serves as a </a:t>
            </a:r>
            <a:r>
              <a:rPr b="1" lang="en-AU">
                <a:latin typeface="Arial"/>
                <a:ea typeface="Arial"/>
                <a:cs typeface="Arial"/>
                <a:sym typeface="Arial"/>
              </a:rPr>
              <a:t>potential pathway </a:t>
            </a:r>
            <a:r>
              <a:rPr lang="en-AU">
                <a:latin typeface="Arial"/>
                <a:ea typeface="Arial"/>
                <a:cs typeface="Arial"/>
                <a:sym typeface="Arial"/>
              </a:rPr>
              <a:t>(collateral circulation) between the </a:t>
            </a:r>
            <a:r>
              <a:rPr b="1" lang="en-AU">
                <a:latin typeface="Arial"/>
                <a:ea typeface="Arial"/>
                <a:cs typeface="Arial"/>
                <a:sym typeface="Arial"/>
              </a:rPr>
              <a:t>first part </a:t>
            </a:r>
            <a:r>
              <a:rPr lang="en-AU">
                <a:latin typeface="Arial"/>
                <a:ea typeface="Arial"/>
                <a:cs typeface="Arial"/>
                <a:sym typeface="Arial"/>
              </a:rPr>
              <a:t>of the </a:t>
            </a:r>
            <a:r>
              <a:rPr b="1" lang="en-AU">
                <a:latin typeface="Arial"/>
                <a:ea typeface="Arial"/>
                <a:cs typeface="Arial"/>
                <a:sym typeface="Arial"/>
              </a:rPr>
              <a:t>subclavian artery </a:t>
            </a:r>
            <a:r>
              <a:rPr lang="en-AU">
                <a:latin typeface="Arial"/>
                <a:ea typeface="Arial"/>
                <a:cs typeface="Arial"/>
                <a:sym typeface="Arial"/>
              </a:rPr>
              <a:t>and the </a:t>
            </a:r>
            <a:r>
              <a:rPr b="1" lang="en-AU">
                <a:latin typeface="Arial"/>
                <a:ea typeface="Arial"/>
                <a:cs typeface="Arial"/>
                <a:sym typeface="Arial"/>
              </a:rPr>
              <a:t>third part </a:t>
            </a:r>
            <a:r>
              <a:rPr lang="en-AU">
                <a:latin typeface="Arial"/>
                <a:ea typeface="Arial"/>
                <a:cs typeface="Arial"/>
                <a:sym typeface="Arial"/>
              </a:rPr>
              <a:t>of the </a:t>
            </a:r>
            <a:r>
              <a:rPr b="1" lang="en-AU">
                <a:latin typeface="Arial"/>
                <a:ea typeface="Arial"/>
                <a:cs typeface="Arial"/>
                <a:sym typeface="Arial"/>
              </a:rPr>
              <a:t>axillary artery</a:t>
            </a:r>
            <a:r>
              <a:rPr lang="en-AU">
                <a:latin typeface="Arial"/>
                <a:ea typeface="Arial"/>
                <a:cs typeface="Arial"/>
                <a:sym typeface="Arial"/>
              </a:rPr>
              <a:t>, to ensure the </a:t>
            </a:r>
            <a:r>
              <a:rPr b="1" lang="en-AU">
                <a:latin typeface="Arial"/>
                <a:ea typeface="Arial"/>
                <a:cs typeface="Arial"/>
                <a:sym typeface="Arial"/>
              </a:rPr>
              <a:t>adequate circulation </a:t>
            </a:r>
            <a:r>
              <a:rPr lang="en-AU">
                <a:latin typeface="Arial"/>
                <a:ea typeface="Arial"/>
                <a:cs typeface="Arial"/>
                <a:sym typeface="Arial"/>
              </a:rPr>
              <a:t>to the </a:t>
            </a:r>
            <a:r>
              <a:rPr b="1" lang="en-AU">
                <a:latin typeface="Arial"/>
                <a:ea typeface="Arial"/>
                <a:cs typeface="Arial"/>
                <a:sym typeface="Arial"/>
              </a:rPr>
              <a:t>upper limb</a:t>
            </a:r>
            <a:r>
              <a:rPr lang="en-AU">
                <a:latin typeface="Arial"/>
                <a:ea typeface="Arial"/>
                <a:cs typeface="Arial"/>
                <a:sym typeface="Arial"/>
              </a:rPr>
              <a:t>.</a:t>
            </a:r>
            <a:endParaRPr>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471" name="Google Shape;471;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472" name="Google Shape;472;p57"/>
          <p:cNvPicPr preferRelativeResize="0"/>
          <p:nvPr/>
        </p:nvPicPr>
        <p:blipFill rotWithShape="1">
          <a:blip r:embed="rId3">
            <a:alphaModFix/>
          </a:blip>
          <a:srcRect b="0" l="0" r="0" t="0"/>
          <a:stretch/>
        </p:blipFill>
        <p:spPr>
          <a:xfrm>
            <a:off x="0" y="-33338"/>
            <a:ext cx="9085263" cy="68151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2022-07-23T11:07:54Z</dcterms:created>
  <dc:creator>Dr. Ojewale</dc:creator>
</cp:coreProperties>
</file>