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3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44AB39A-557A-4153-964F-05714396713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13081E-E189-465A-BCF6-A210DE3A4E85}"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44AB39A-557A-4153-964F-05714396713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13081E-E189-465A-BCF6-A210DE3A4E85}"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F44AB39A-557A-4153-964F-05714396713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13081E-E189-465A-BCF6-A210DE3A4E85}"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F44AB39A-557A-4153-964F-05714396713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13081E-E189-465A-BCF6-A210DE3A4E85}"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F44AB39A-557A-4153-964F-05714396713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13081E-E189-465A-BCF6-A210DE3A4E85}"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44AB39A-557A-4153-964F-05714396713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13081E-E189-465A-BCF6-A210DE3A4E85}"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4AB39A-557A-4153-964F-05714396713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13081E-E189-465A-BCF6-A210DE3A4E85}"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F44AB39A-557A-4153-964F-05714396713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13081E-E189-465A-BCF6-A210DE3A4E85}"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F44AB39A-557A-4153-964F-05714396713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13081E-E189-465A-BCF6-A210DE3A4E85}"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44AB39A-557A-4153-964F-05714396713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13081E-E189-465A-BCF6-A210DE3A4E85}"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44AB39A-557A-4153-964F-05714396713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13081E-E189-465A-BCF6-A210DE3A4E85}"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4AB39A-557A-4153-964F-057143967131}"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13081E-E189-465A-BCF6-A210DE3A4E85}"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teachmeanatomy.info/pelvis/female-reproductive-tract/vagina/" TargetMode="External"/><Relationship Id="rId1" Type="http://schemas.openxmlformats.org/officeDocument/2006/relationships/hyperlink" Target="https://teachmeanatomy.info/pelvis/female-reproductive-tract/uteru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dirty="0" smtClean="0">
                <a:solidFill>
                  <a:srgbClr val="C00000"/>
                </a:solidFill>
                <a:latin typeface="Times New Roman" panose="02020603050405020304" pitchFamily="18" charset="0"/>
                <a:cs typeface="Times New Roman" panose="02020603050405020304" pitchFamily="18" charset="0"/>
              </a:rPr>
              <a:t>COLON AND APPENDIX</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GB" dirty="0" smtClean="0">
                <a:latin typeface="Times New Roman" panose="02020603050405020304" pitchFamily="18" charset="0"/>
                <a:cs typeface="Times New Roman" panose="02020603050405020304" pitchFamily="18" charset="0"/>
              </a:rPr>
              <a:t>BY</a:t>
            </a:r>
            <a:endParaRPr lang="en-GB" dirty="0" smtClean="0">
              <a:latin typeface="Times New Roman" panose="02020603050405020304" pitchFamily="18" charset="0"/>
              <a:cs typeface="Times New Roman" panose="02020603050405020304" pitchFamily="18" charset="0"/>
            </a:endParaRPr>
          </a:p>
          <a:p>
            <a:r>
              <a:rPr lang="en-GB" dirty="0" smtClean="0">
                <a:latin typeface="Times New Roman" panose="02020603050405020304" pitchFamily="18" charset="0"/>
                <a:cs typeface="Times New Roman" panose="02020603050405020304" pitchFamily="18" charset="0"/>
              </a:rPr>
              <a:t>Dr F.O OPOOLA</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C00000"/>
                </a:solidFill>
                <a:latin typeface="Times New Roman" panose="02020603050405020304" pitchFamily="18" charset="0"/>
                <a:cs typeface="Times New Roman" panose="02020603050405020304" pitchFamily="18" charset="0"/>
              </a:rPr>
              <a:t>LEARNING OBJECTIVES</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GB" dirty="0" smtClean="0">
                <a:latin typeface="Times New Roman" panose="02020603050405020304" pitchFamily="18" charset="0"/>
                <a:cs typeface="Times New Roman" panose="02020603050405020304" pitchFamily="18" charset="0"/>
              </a:rPr>
              <a:t>What is colon</a:t>
            </a:r>
            <a:endParaRPr lang="en-GB" dirty="0" smtClean="0">
              <a:latin typeface="Times New Roman" panose="02020603050405020304" pitchFamily="18" charset="0"/>
              <a:cs typeface="Times New Roman" panose="02020603050405020304" pitchFamily="18" charset="0"/>
            </a:endParaRPr>
          </a:p>
          <a:p>
            <a:r>
              <a:rPr lang="en-GB" dirty="0" smtClean="0">
                <a:latin typeface="Times New Roman" panose="02020603050405020304" pitchFamily="18" charset="0"/>
                <a:cs typeface="Times New Roman" panose="02020603050405020304" pitchFamily="18" charset="0"/>
              </a:rPr>
              <a:t>Anatomical structure of the colon</a:t>
            </a:r>
            <a:endParaRPr lang="en-GB" dirty="0" smtClean="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Anatomical </a:t>
            </a:r>
            <a:r>
              <a:rPr lang="en-US" dirty="0" smtClean="0">
                <a:latin typeface="Times New Roman" panose="02020603050405020304" pitchFamily="18" charset="0"/>
                <a:cs typeface="Times New Roman" panose="02020603050405020304" pitchFamily="18" charset="0"/>
              </a:rPr>
              <a:t>Relations</a:t>
            </a:r>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GB" dirty="0" smtClean="0">
              <a:latin typeface="Times New Roman" panose="02020603050405020304" pitchFamily="18" charset="0"/>
              <a:cs typeface="Times New Roman" panose="02020603050405020304" pitchFamily="18" charset="0"/>
            </a:endParaRPr>
          </a:p>
          <a:p>
            <a:endParaRPr lang="en-GB"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C00000"/>
                </a:solidFill>
                <a:latin typeface="Times New Roman" panose="02020603050405020304" pitchFamily="18" charset="0"/>
                <a:cs typeface="Times New Roman" panose="02020603050405020304" pitchFamily="18" charset="0"/>
              </a:rPr>
              <a:t>		INTRODUCTION</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1825624"/>
            <a:ext cx="12192000" cy="4823003"/>
          </a:xfrm>
        </p:spPr>
        <p:txBody>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colon</a:t>
            </a:r>
            <a:r>
              <a:rPr lang="en-US" dirty="0">
                <a:latin typeface="Times New Roman" panose="02020603050405020304" pitchFamily="18" charset="0"/>
                <a:cs typeface="Times New Roman" panose="02020603050405020304" pitchFamily="18" charset="0"/>
              </a:rPr>
              <a:t> (large intestine) is the distal part of the gastrointestinal tract, extending from the cecum to the anal canal. </a:t>
            </a:r>
            <a:endParaRPr lang="en-US" dirty="0" smtClean="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receives digested food from the small intestine, from which it absorbs water and electrolytes to form </a:t>
            </a:r>
            <a:r>
              <a:rPr lang="en-US" b="1" dirty="0" err="1">
                <a:latin typeface="Times New Roman" panose="02020603050405020304" pitchFamily="18" charset="0"/>
                <a:cs typeface="Times New Roman" panose="02020603050405020304" pitchFamily="18" charset="0"/>
              </a:rPr>
              <a:t>faeces</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Anatomically, the colon can be divided into </a:t>
            </a:r>
            <a:r>
              <a:rPr lang="en-US" b="1" dirty="0">
                <a:latin typeface="Times New Roman" panose="02020603050405020304" pitchFamily="18" charset="0"/>
                <a:cs typeface="Times New Roman" panose="02020603050405020304" pitchFamily="18" charset="0"/>
              </a:rPr>
              <a:t>four parts</a:t>
            </a:r>
            <a:r>
              <a:rPr lang="en-US" dirty="0">
                <a:latin typeface="Times New Roman" panose="02020603050405020304" pitchFamily="18" charset="0"/>
                <a:cs typeface="Times New Roman" panose="02020603050405020304" pitchFamily="18" charset="0"/>
              </a:rPr>
              <a:t> – </a:t>
            </a:r>
            <a:r>
              <a:rPr lang="en-US" b="1" dirty="0">
                <a:latin typeface="Times New Roman" panose="02020603050405020304" pitchFamily="18" charset="0"/>
                <a:cs typeface="Times New Roman" panose="02020603050405020304" pitchFamily="18" charset="0"/>
              </a:rPr>
              <a:t>ascending</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transverse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descending</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sigmoid</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These </a:t>
            </a:r>
            <a:r>
              <a:rPr lang="en-US" dirty="0">
                <a:latin typeface="Times New Roman" panose="02020603050405020304" pitchFamily="18" charset="0"/>
                <a:cs typeface="Times New Roman" panose="02020603050405020304" pitchFamily="18" charset="0"/>
              </a:rPr>
              <a:t>sections form an arch, which encircles the small intestine.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40363"/>
            <a:ext cx="12192000" cy="6740307"/>
          </a:xfrm>
          <a:prstGeom prst="rect">
            <a:avLst/>
          </a:prstGeom>
        </p:spPr>
        <p:txBody>
          <a:bodyPr wrap="square">
            <a:spAutoFit/>
          </a:bodyPr>
          <a:lstStyle/>
          <a:p>
            <a:r>
              <a:rPr lang="en-US" sz="3600" b="1" i="0" dirty="0" smtClean="0">
                <a:solidFill>
                  <a:srgbClr val="C00000"/>
                </a:solidFill>
                <a:effectLst/>
                <a:latin typeface="Times New Roman" panose="02020603050405020304" pitchFamily="18" charset="0"/>
                <a:cs typeface="Times New Roman" panose="02020603050405020304" pitchFamily="18" charset="0"/>
              </a:rPr>
              <a:t>			Anatomical Position</a:t>
            </a:r>
            <a:endParaRPr lang="en-US" sz="3600" b="1" i="0" dirty="0" smtClean="0">
              <a:solidFill>
                <a:srgbClr val="C00000"/>
              </a:solidFill>
              <a:effectLst/>
              <a:latin typeface="Times New Roman" panose="02020603050405020304" pitchFamily="18" charset="0"/>
              <a:cs typeface="Times New Roman" panose="02020603050405020304" pitchFamily="18" charset="0"/>
            </a:endParaRPr>
          </a:p>
          <a:p>
            <a:endParaRPr lang="en-US" sz="3600" b="1" i="0" dirty="0" smtClean="0">
              <a:solidFill>
                <a:srgbClr val="C00000"/>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The colon averages </a:t>
            </a:r>
            <a:r>
              <a:rPr lang="en-US" sz="2400" b="1" i="0" dirty="0" smtClean="0">
                <a:solidFill>
                  <a:srgbClr val="32323C"/>
                </a:solidFill>
                <a:effectLst/>
                <a:latin typeface="Times New Roman" panose="02020603050405020304" pitchFamily="18" charset="0"/>
                <a:cs typeface="Times New Roman" panose="02020603050405020304" pitchFamily="18" charset="0"/>
              </a:rPr>
              <a:t>150cm</a:t>
            </a:r>
            <a:r>
              <a:rPr lang="en-US" sz="2400" b="0" i="0" dirty="0" smtClean="0">
                <a:solidFill>
                  <a:srgbClr val="32323C"/>
                </a:solidFill>
                <a:effectLst/>
                <a:latin typeface="Times New Roman" panose="02020603050405020304" pitchFamily="18" charset="0"/>
                <a:cs typeface="Times New Roman" panose="02020603050405020304" pitchFamily="18" charset="0"/>
              </a:rPr>
              <a:t> in length, and can be divided into four parts (proximal to distal): ascending, transverse, descending and sigmoid.</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r>
              <a:rPr lang="en-US" sz="2400" b="1" i="0" dirty="0" smtClean="0">
                <a:solidFill>
                  <a:srgbClr val="C00000"/>
                </a:solidFill>
                <a:effectLst/>
                <a:latin typeface="Times New Roman" panose="02020603050405020304" pitchFamily="18" charset="0"/>
                <a:cs typeface="Times New Roman" panose="02020603050405020304" pitchFamily="18" charset="0"/>
              </a:rPr>
              <a:t>			Ascending Colon</a:t>
            </a:r>
            <a:endParaRPr lang="en-US" sz="2400" b="1" i="0" dirty="0" smtClean="0">
              <a:solidFill>
                <a:srgbClr val="C00000"/>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The colon begins as the</a:t>
            </a:r>
            <a:r>
              <a:rPr lang="en-US" sz="2400" b="1" i="0" dirty="0" smtClean="0">
                <a:solidFill>
                  <a:srgbClr val="32323C"/>
                </a:solidFill>
                <a:effectLst/>
                <a:latin typeface="Times New Roman" panose="02020603050405020304" pitchFamily="18" charset="0"/>
                <a:cs typeface="Times New Roman" panose="02020603050405020304" pitchFamily="18" charset="0"/>
              </a:rPr>
              <a:t> ascending colon</a:t>
            </a:r>
            <a:r>
              <a:rPr lang="en-US" sz="2400" b="0" i="0" dirty="0" smtClean="0">
                <a:solidFill>
                  <a:srgbClr val="32323C"/>
                </a:solidFill>
                <a:effectLst/>
                <a:latin typeface="Times New Roman" panose="02020603050405020304" pitchFamily="18" charset="0"/>
                <a:cs typeface="Times New Roman" panose="02020603050405020304" pitchFamily="18" charset="0"/>
              </a:rPr>
              <a:t>, a retroperitoneal structure which ascends superiorly from the </a:t>
            </a:r>
            <a:r>
              <a:rPr lang="en-US" sz="2400" b="0" i="0" u="none" strike="noStrike" dirty="0" smtClean="0">
                <a:effectLst/>
                <a:latin typeface="Times New Roman" panose="02020603050405020304" pitchFamily="18" charset="0"/>
                <a:cs typeface="Times New Roman" panose="02020603050405020304" pitchFamily="18" charset="0"/>
              </a:rPr>
              <a:t>cecum</a:t>
            </a:r>
            <a:r>
              <a:rPr lang="en-US" sz="2400" b="0" i="0" dirty="0" smtClean="0">
                <a:solidFill>
                  <a:srgbClr val="32323C"/>
                </a:solidFill>
                <a:effectLst/>
                <a:latin typeface="Times New Roman" panose="02020603050405020304" pitchFamily="18" charset="0"/>
                <a:cs typeface="Times New Roman" panose="02020603050405020304" pitchFamily="18" charset="0"/>
              </a:rPr>
              <a:t>.</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When it meets the right lobe of the </a:t>
            </a:r>
            <a:r>
              <a:rPr lang="en-US" sz="2400" b="0" i="0" u="none" strike="noStrike" dirty="0" smtClean="0">
                <a:effectLst/>
                <a:latin typeface="Times New Roman" panose="02020603050405020304" pitchFamily="18" charset="0"/>
                <a:cs typeface="Times New Roman" panose="02020603050405020304" pitchFamily="18" charset="0"/>
              </a:rPr>
              <a:t>liver</a:t>
            </a:r>
            <a:r>
              <a:rPr lang="en-US" sz="2400" b="0" i="0" dirty="0" smtClean="0">
                <a:solidFill>
                  <a:srgbClr val="32323C"/>
                </a:solidFill>
                <a:effectLst/>
                <a:latin typeface="Times New Roman" panose="02020603050405020304" pitchFamily="18" charset="0"/>
                <a:cs typeface="Times New Roman" panose="02020603050405020304" pitchFamily="18" charset="0"/>
              </a:rPr>
              <a:t>, it turns </a:t>
            </a:r>
            <a:r>
              <a:rPr lang="en-US" sz="2400" b="1" i="0" dirty="0" smtClean="0">
                <a:solidFill>
                  <a:srgbClr val="32323C"/>
                </a:solidFill>
                <a:effectLst/>
                <a:latin typeface="Times New Roman" panose="02020603050405020304" pitchFamily="18" charset="0"/>
                <a:cs typeface="Times New Roman" panose="02020603050405020304" pitchFamily="18" charset="0"/>
              </a:rPr>
              <a:t>90 degrees </a:t>
            </a:r>
            <a:r>
              <a:rPr lang="en-US" sz="2400" b="0" i="0" dirty="0" smtClean="0">
                <a:solidFill>
                  <a:srgbClr val="32323C"/>
                </a:solidFill>
                <a:effectLst/>
                <a:latin typeface="Times New Roman" panose="02020603050405020304" pitchFamily="18" charset="0"/>
                <a:cs typeface="Times New Roman" panose="02020603050405020304" pitchFamily="18" charset="0"/>
              </a:rPr>
              <a:t>to move horizontally. This turn is known as the </a:t>
            </a:r>
            <a:r>
              <a:rPr lang="en-US" sz="2400" b="1" i="0" dirty="0" smtClean="0">
                <a:solidFill>
                  <a:srgbClr val="32323C"/>
                </a:solidFill>
                <a:effectLst/>
                <a:latin typeface="Times New Roman" panose="02020603050405020304" pitchFamily="18" charset="0"/>
                <a:cs typeface="Times New Roman" panose="02020603050405020304" pitchFamily="18" charset="0"/>
              </a:rPr>
              <a:t>right colic flexure</a:t>
            </a:r>
            <a:r>
              <a:rPr lang="en-US" sz="2400" b="0" i="0" dirty="0" smtClean="0">
                <a:solidFill>
                  <a:srgbClr val="32323C"/>
                </a:solidFill>
                <a:effectLst/>
                <a:latin typeface="Times New Roman" panose="02020603050405020304" pitchFamily="18" charset="0"/>
                <a:cs typeface="Times New Roman" panose="02020603050405020304" pitchFamily="18" charset="0"/>
              </a:rPr>
              <a:t> (or hepatic flexure), and marks the start of the transverse colon.</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r>
              <a:rPr lang="en-US" sz="2400" b="1" i="0" dirty="0" smtClean="0">
                <a:solidFill>
                  <a:srgbClr val="C00000"/>
                </a:solidFill>
                <a:effectLst/>
                <a:latin typeface="Times New Roman" panose="02020603050405020304" pitchFamily="18" charset="0"/>
                <a:cs typeface="Times New Roman" panose="02020603050405020304" pitchFamily="18" charset="0"/>
              </a:rPr>
              <a:t>			Transverse Colon</a:t>
            </a:r>
            <a:endParaRPr lang="en-US" sz="2400" b="1" i="0" dirty="0" smtClean="0">
              <a:solidFill>
                <a:srgbClr val="C00000"/>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The </a:t>
            </a:r>
            <a:r>
              <a:rPr lang="en-US" sz="2400" b="1" i="0" dirty="0" smtClean="0">
                <a:solidFill>
                  <a:srgbClr val="32323C"/>
                </a:solidFill>
                <a:effectLst/>
                <a:latin typeface="Times New Roman" panose="02020603050405020304" pitchFamily="18" charset="0"/>
                <a:cs typeface="Times New Roman" panose="02020603050405020304" pitchFamily="18" charset="0"/>
              </a:rPr>
              <a:t>transverse colon</a:t>
            </a:r>
            <a:r>
              <a:rPr lang="en-US" sz="2400" b="0" i="0" dirty="0" smtClean="0">
                <a:solidFill>
                  <a:srgbClr val="32323C"/>
                </a:solidFill>
                <a:effectLst/>
                <a:latin typeface="Times New Roman" panose="02020603050405020304" pitchFamily="18" charset="0"/>
                <a:cs typeface="Times New Roman" panose="02020603050405020304" pitchFamily="18" charset="0"/>
              </a:rPr>
              <a:t> extends from the right colic flexure to the </a:t>
            </a:r>
            <a:r>
              <a:rPr lang="en-US" sz="2400" b="0" i="0" u="none" strike="noStrike" dirty="0" smtClean="0">
                <a:effectLst/>
                <a:latin typeface="Times New Roman" panose="02020603050405020304" pitchFamily="18" charset="0"/>
                <a:cs typeface="Times New Roman" panose="02020603050405020304" pitchFamily="18" charset="0"/>
              </a:rPr>
              <a:t>spleen</a:t>
            </a:r>
            <a:r>
              <a:rPr lang="en-US" sz="2400" b="0" i="0" dirty="0" smtClean="0">
                <a:solidFill>
                  <a:srgbClr val="32323C"/>
                </a:solidFill>
                <a:effectLst/>
                <a:latin typeface="Times New Roman" panose="02020603050405020304" pitchFamily="18" charset="0"/>
                <a:cs typeface="Times New Roman" panose="02020603050405020304" pitchFamily="18" charset="0"/>
              </a:rPr>
              <a:t>, where it turns another 90 degrees to point inferiorly. This turn is known as the </a:t>
            </a:r>
            <a:r>
              <a:rPr lang="en-US" sz="2400" b="1" i="0" dirty="0" smtClean="0">
                <a:solidFill>
                  <a:srgbClr val="32323C"/>
                </a:solidFill>
                <a:effectLst/>
                <a:latin typeface="Times New Roman" panose="02020603050405020304" pitchFamily="18" charset="0"/>
                <a:cs typeface="Times New Roman" panose="02020603050405020304" pitchFamily="18" charset="0"/>
              </a:rPr>
              <a:t>left colic flexure </a:t>
            </a:r>
            <a:r>
              <a:rPr lang="en-US" sz="2400" b="0" i="0" dirty="0" smtClean="0">
                <a:solidFill>
                  <a:srgbClr val="32323C"/>
                </a:solidFill>
                <a:effectLst/>
                <a:latin typeface="Times New Roman" panose="02020603050405020304" pitchFamily="18" charset="0"/>
                <a:cs typeface="Times New Roman" panose="02020603050405020304" pitchFamily="18" charset="0"/>
              </a:rPr>
              <a:t>(or splenic flexure). Here, the colon is attached to the </a:t>
            </a:r>
            <a:r>
              <a:rPr lang="en-US" sz="2400" b="0" i="0" u="none" strike="noStrike" dirty="0" smtClean="0">
                <a:effectLst/>
                <a:latin typeface="Times New Roman" panose="02020603050405020304" pitchFamily="18" charset="0"/>
                <a:cs typeface="Times New Roman" panose="02020603050405020304" pitchFamily="18" charset="0"/>
              </a:rPr>
              <a:t>diaphragm</a:t>
            </a:r>
            <a:r>
              <a:rPr lang="en-US" sz="2400" b="0" i="0" dirty="0" smtClean="0">
                <a:solidFill>
                  <a:srgbClr val="32323C"/>
                </a:solidFill>
                <a:effectLst/>
                <a:latin typeface="Times New Roman" panose="02020603050405020304" pitchFamily="18" charset="0"/>
                <a:cs typeface="Times New Roman" panose="02020603050405020304" pitchFamily="18" charset="0"/>
              </a:rPr>
              <a:t> by the </a:t>
            </a:r>
            <a:r>
              <a:rPr lang="en-US" sz="2400" b="0" i="0" dirty="0" err="1" smtClean="0">
                <a:solidFill>
                  <a:srgbClr val="32323C"/>
                </a:solidFill>
                <a:effectLst/>
                <a:latin typeface="Times New Roman" panose="02020603050405020304" pitchFamily="18" charset="0"/>
                <a:cs typeface="Times New Roman" panose="02020603050405020304" pitchFamily="18" charset="0"/>
              </a:rPr>
              <a:t>phrenicocolic</a:t>
            </a:r>
            <a:r>
              <a:rPr lang="en-US" sz="2400" b="0" i="0" dirty="0" smtClean="0">
                <a:solidFill>
                  <a:srgbClr val="32323C"/>
                </a:solidFill>
                <a:effectLst/>
                <a:latin typeface="Times New Roman" panose="02020603050405020304" pitchFamily="18" charset="0"/>
                <a:cs typeface="Times New Roman" panose="02020603050405020304" pitchFamily="18" charset="0"/>
              </a:rPr>
              <a:t> ligament.</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transverse colon is the least fixed part of the colon, and is variable in position (it can dip into the pelvis in tall, thin individuals). Unlike the ascending and descending colon, the transverse colon is </a:t>
            </a:r>
            <a:r>
              <a:rPr lang="en-US" sz="2400" dirty="0" err="1">
                <a:latin typeface="Times New Roman" panose="02020603050405020304" pitchFamily="18" charset="0"/>
                <a:cs typeface="Times New Roman" panose="02020603050405020304" pitchFamily="18" charset="0"/>
              </a:rPr>
              <a:t>intraperitoneal</a:t>
            </a:r>
            <a:r>
              <a:rPr lang="en-US" sz="2400" dirty="0">
                <a:latin typeface="Times New Roman" panose="02020603050405020304" pitchFamily="18" charset="0"/>
                <a:cs typeface="Times New Roman" panose="02020603050405020304" pitchFamily="18" charset="0"/>
              </a:rPr>
              <a:t> and is enclosed by the </a:t>
            </a:r>
            <a:r>
              <a:rPr lang="en-US" sz="2400" b="1" dirty="0">
                <a:latin typeface="Times New Roman" panose="02020603050405020304" pitchFamily="18" charset="0"/>
                <a:cs typeface="Times New Roman" panose="02020603050405020304" pitchFamily="18" charset="0"/>
              </a:rPr>
              <a:t>transverse </a:t>
            </a:r>
            <a:r>
              <a:rPr lang="en-US" sz="2400" b="1" dirty="0" err="1">
                <a:latin typeface="Times New Roman" panose="02020603050405020304" pitchFamily="18" charset="0"/>
                <a:cs typeface="Times New Roman" panose="02020603050405020304" pitchFamily="18" charset="0"/>
              </a:rPr>
              <a:t>mesocolon</a:t>
            </a:r>
            <a:r>
              <a:rPr lang="en-US" sz="2400" dirty="0">
                <a:latin typeface="Times New Roman" panose="02020603050405020304" pitchFamily="18" charset="0"/>
                <a:cs typeface="Times New Roman" panose="02020603050405020304" pitchFamily="18" charset="0"/>
              </a:rPr>
              <a:t>.</a:t>
            </a:r>
            <a:endParaRPr lang="en-US" sz="2400" b="0" i="0" dirty="0">
              <a:solidFill>
                <a:srgbClr val="32323C"/>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821" y="0"/>
            <a:ext cx="12132179" cy="6863417"/>
          </a:xfrm>
          <a:prstGeom prst="rect">
            <a:avLst/>
          </a:prstGeom>
        </p:spPr>
        <p:txBody>
          <a:bodyPr wrap="square">
            <a:spAutoFit/>
          </a:bodyPr>
          <a:lstStyle/>
          <a:p>
            <a:r>
              <a:rPr lang="en-US" sz="3400" b="1" i="0" dirty="0" smtClean="0">
                <a:solidFill>
                  <a:srgbClr val="C00000"/>
                </a:solidFill>
                <a:effectLst/>
                <a:latin typeface="Times New Roman" panose="02020603050405020304" pitchFamily="18" charset="0"/>
                <a:cs typeface="Times New Roman" panose="02020603050405020304" pitchFamily="18" charset="0"/>
              </a:rPr>
              <a:t>			Descending Colon</a:t>
            </a:r>
            <a:endParaRPr lang="en-US" sz="3400" b="1" i="0" dirty="0" smtClean="0">
              <a:solidFill>
                <a:srgbClr val="C00000"/>
              </a:solidFill>
              <a:effectLst/>
              <a:latin typeface="Times New Roman" panose="02020603050405020304" pitchFamily="18" charset="0"/>
              <a:cs typeface="Times New Roman" panose="02020603050405020304" pitchFamily="18" charset="0"/>
            </a:endParaRPr>
          </a:p>
          <a:p>
            <a:endParaRPr lang="en-US" sz="3400" b="1" i="0" dirty="0" smtClean="0">
              <a:solidFill>
                <a:srgbClr val="C00000"/>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After the left colic flexure, the colon moves inferiorly towards the pelvis – and is called the</a:t>
            </a:r>
            <a:r>
              <a:rPr lang="en-US" sz="2400" b="1" i="0" dirty="0" smtClean="0">
                <a:solidFill>
                  <a:srgbClr val="32323C"/>
                </a:solidFill>
                <a:effectLst/>
                <a:latin typeface="Times New Roman" panose="02020603050405020304" pitchFamily="18" charset="0"/>
                <a:cs typeface="Times New Roman" panose="02020603050405020304" pitchFamily="18" charset="0"/>
              </a:rPr>
              <a:t> descending colon</a:t>
            </a:r>
            <a:r>
              <a:rPr lang="en-US" sz="2400" b="0" i="0" dirty="0" smtClean="0">
                <a:solidFill>
                  <a:srgbClr val="32323C"/>
                </a:solidFill>
                <a:effectLst/>
                <a:latin typeface="Times New Roman" panose="02020603050405020304" pitchFamily="18" charset="0"/>
                <a:cs typeface="Times New Roman" panose="02020603050405020304" pitchFamily="18" charset="0"/>
              </a:rPr>
              <a:t>. It is retroperitoneal in the majority of individuals, but is located anteriorly to the left kidney, passing over its lateral border.</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When the colon begins to turn medially, it becomes the </a:t>
            </a:r>
            <a:r>
              <a:rPr lang="en-US" sz="2400" b="1" i="0" dirty="0" smtClean="0">
                <a:solidFill>
                  <a:srgbClr val="32323C"/>
                </a:solidFill>
                <a:effectLst/>
                <a:latin typeface="Times New Roman" panose="02020603050405020304" pitchFamily="18" charset="0"/>
                <a:cs typeface="Times New Roman" panose="02020603050405020304" pitchFamily="18" charset="0"/>
              </a:rPr>
              <a:t>sigmoid colon</a:t>
            </a:r>
            <a:r>
              <a:rPr lang="en-US" sz="2400" b="0" i="0" dirty="0" smtClean="0">
                <a:solidFill>
                  <a:srgbClr val="32323C"/>
                </a:solidFill>
                <a:effectLst/>
                <a:latin typeface="Times New Roman" panose="02020603050405020304" pitchFamily="18" charset="0"/>
                <a:cs typeface="Times New Roman" panose="02020603050405020304" pitchFamily="18" charset="0"/>
              </a:rPr>
              <a:t>.</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r>
              <a:rPr lang="en-US" sz="2400" b="1" i="0" dirty="0" smtClean="0">
                <a:solidFill>
                  <a:srgbClr val="C00000"/>
                </a:solidFill>
                <a:effectLst/>
                <a:latin typeface="Times New Roman" panose="02020603050405020304" pitchFamily="18" charset="0"/>
                <a:cs typeface="Times New Roman" panose="02020603050405020304" pitchFamily="18" charset="0"/>
              </a:rPr>
              <a:t>			</a:t>
            </a:r>
            <a:r>
              <a:rPr lang="en-US" sz="3600" b="1" i="0" dirty="0" smtClean="0">
                <a:solidFill>
                  <a:srgbClr val="C00000"/>
                </a:solidFill>
                <a:effectLst/>
                <a:latin typeface="Times New Roman" panose="02020603050405020304" pitchFamily="18" charset="0"/>
                <a:cs typeface="Times New Roman" panose="02020603050405020304" pitchFamily="18" charset="0"/>
              </a:rPr>
              <a:t>Sigmoid Colon</a:t>
            </a:r>
            <a:endParaRPr lang="en-US" sz="3600" b="1" i="0" dirty="0" smtClean="0">
              <a:solidFill>
                <a:srgbClr val="C00000"/>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The 40cm long sigmoid colon is located in the </a:t>
            </a:r>
            <a:r>
              <a:rPr lang="en-US" sz="2400" b="1" i="0" dirty="0" smtClean="0">
                <a:solidFill>
                  <a:srgbClr val="32323C"/>
                </a:solidFill>
                <a:effectLst/>
                <a:latin typeface="Times New Roman" panose="02020603050405020304" pitchFamily="18" charset="0"/>
                <a:cs typeface="Times New Roman" panose="02020603050405020304" pitchFamily="18" charset="0"/>
              </a:rPr>
              <a:t>left lower quadrant </a:t>
            </a:r>
            <a:r>
              <a:rPr lang="en-US" sz="2400" b="0" i="0" dirty="0" smtClean="0">
                <a:solidFill>
                  <a:srgbClr val="32323C"/>
                </a:solidFill>
                <a:effectLst/>
                <a:latin typeface="Times New Roman" panose="02020603050405020304" pitchFamily="18" charset="0"/>
                <a:cs typeface="Times New Roman" panose="02020603050405020304" pitchFamily="18" charset="0"/>
              </a:rPr>
              <a:t>of the abdomen, extending from the left iliac fossa to the level of the S3 vertebra. </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This journey gives the sigmoid colon its characteristic “S” shape.</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The sigmoid colon is attached to the posterior pelvic wall by a mesentery – the </a:t>
            </a:r>
            <a:r>
              <a:rPr lang="en-US" sz="2400" b="1" i="0" dirty="0" smtClean="0">
                <a:solidFill>
                  <a:srgbClr val="32323C"/>
                </a:solidFill>
                <a:effectLst/>
                <a:latin typeface="Times New Roman" panose="02020603050405020304" pitchFamily="18" charset="0"/>
                <a:cs typeface="Times New Roman" panose="02020603050405020304" pitchFamily="18" charset="0"/>
              </a:rPr>
              <a:t>sigmoid</a:t>
            </a:r>
            <a:r>
              <a:rPr lang="en-US" sz="2400" b="0" i="0" dirty="0" smtClean="0">
                <a:solidFill>
                  <a:srgbClr val="32323C"/>
                </a:solidFill>
                <a:effectLst/>
                <a:latin typeface="Times New Roman" panose="02020603050405020304" pitchFamily="18" charset="0"/>
                <a:cs typeface="Times New Roman" panose="02020603050405020304" pitchFamily="18" charset="0"/>
              </a:rPr>
              <a:t> </a:t>
            </a:r>
            <a:r>
              <a:rPr lang="en-US" sz="2400" b="1" i="0" dirty="0" err="1" smtClean="0">
                <a:solidFill>
                  <a:srgbClr val="32323C"/>
                </a:solidFill>
                <a:effectLst/>
                <a:latin typeface="Times New Roman" panose="02020603050405020304" pitchFamily="18" charset="0"/>
                <a:cs typeface="Times New Roman" panose="02020603050405020304" pitchFamily="18" charset="0"/>
              </a:rPr>
              <a:t>mesocolon</a:t>
            </a:r>
            <a:r>
              <a:rPr lang="en-US" sz="2400" b="0" i="0" dirty="0" smtClean="0">
                <a:solidFill>
                  <a:srgbClr val="32323C"/>
                </a:solidFill>
                <a:effectLst/>
                <a:latin typeface="Times New Roman" panose="02020603050405020304" pitchFamily="18" charset="0"/>
                <a:cs typeface="Times New Roman" panose="02020603050405020304" pitchFamily="18" charset="0"/>
              </a:rPr>
              <a:t>. </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The long length of the mesentery permits this part of the colon to be particularly mobile.</a:t>
            </a:r>
            <a:endParaRPr lang="en-US" sz="2400" b="0" i="0" dirty="0">
              <a:solidFill>
                <a:srgbClr val="32323C"/>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032616" y="-295365"/>
            <a:ext cx="9753600" cy="6328696"/>
          </a:xfrm>
          <a:prstGeom prst="rect">
            <a:avLst/>
          </a:prstGeom>
        </p:spPr>
      </p:pic>
      <p:sp>
        <p:nvSpPr>
          <p:cNvPr id="3" name="Rectangle 2"/>
          <p:cNvSpPr/>
          <p:nvPr/>
        </p:nvSpPr>
        <p:spPr>
          <a:xfrm>
            <a:off x="76912" y="6211669"/>
            <a:ext cx="11818833" cy="646331"/>
          </a:xfrm>
          <a:prstGeom prst="rect">
            <a:avLst/>
          </a:prstGeom>
        </p:spPr>
        <p:txBody>
          <a:bodyPr wrap="square">
            <a:spAutoFit/>
          </a:bodyPr>
          <a:lstStyle/>
          <a:p>
            <a:r>
              <a:rPr lang="en-US" b="0" i="0" dirty="0" smtClean="0">
                <a:effectLst/>
                <a:latin typeface="Times New Roman" panose="02020603050405020304" pitchFamily="18" charset="0"/>
                <a:cs typeface="Times New Roman" panose="02020603050405020304" pitchFamily="18" charset="0"/>
              </a:rPr>
              <a:t>Fig 1 – The large intestine extends from the cecum to the rectum. It is comprised of the ascending, transverse, descending and sigmoid colon.</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366" y="309305"/>
            <a:ext cx="12123634" cy="3600986"/>
          </a:xfrm>
          <a:prstGeom prst="rect">
            <a:avLst/>
          </a:prstGeom>
        </p:spPr>
        <p:txBody>
          <a:bodyPr wrap="square">
            <a:spAutoFit/>
          </a:bodyPr>
          <a:lstStyle/>
          <a:p>
            <a:r>
              <a:rPr lang="en-US" sz="3600" b="1" i="0" dirty="0" smtClean="0">
                <a:solidFill>
                  <a:srgbClr val="C00000"/>
                </a:solidFill>
                <a:effectLst/>
                <a:latin typeface="Times New Roman" panose="02020603050405020304" pitchFamily="18" charset="0"/>
                <a:cs typeface="Times New Roman" panose="02020603050405020304" pitchFamily="18" charset="0"/>
              </a:rPr>
              <a:t>			</a:t>
            </a:r>
            <a:r>
              <a:rPr lang="en-US" sz="3600" b="1" i="0" dirty="0" err="1" smtClean="0">
                <a:solidFill>
                  <a:srgbClr val="C00000"/>
                </a:solidFill>
                <a:effectLst/>
                <a:latin typeface="Times New Roman" panose="02020603050405020304" pitchFamily="18" charset="0"/>
                <a:cs typeface="Times New Roman" panose="02020603050405020304" pitchFamily="18" charset="0"/>
              </a:rPr>
              <a:t>Paracolic</a:t>
            </a:r>
            <a:r>
              <a:rPr lang="en-US" sz="3600" b="1" i="0" dirty="0" smtClean="0">
                <a:solidFill>
                  <a:srgbClr val="C00000"/>
                </a:solidFill>
                <a:effectLst/>
                <a:latin typeface="Times New Roman" panose="02020603050405020304" pitchFamily="18" charset="0"/>
                <a:cs typeface="Times New Roman" panose="02020603050405020304" pitchFamily="18" charset="0"/>
              </a:rPr>
              <a:t> Gutters</a:t>
            </a:r>
            <a:endParaRPr lang="en-US" sz="3600" b="1" i="0" dirty="0" smtClean="0">
              <a:solidFill>
                <a:srgbClr val="C00000"/>
              </a:solidFill>
              <a:effectLst/>
              <a:latin typeface="Times New Roman" panose="02020603050405020304" pitchFamily="18" charset="0"/>
              <a:cs typeface="Times New Roman" panose="02020603050405020304" pitchFamily="18" charset="0"/>
            </a:endParaRPr>
          </a:p>
          <a:p>
            <a:endParaRPr lang="en-US" sz="3200" b="1" i="0" dirty="0" smtClean="0">
              <a:solidFill>
                <a:srgbClr val="32323C"/>
              </a:solidFill>
              <a:effectLst/>
              <a:latin typeface="Times New Roman" panose="02020603050405020304" pitchFamily="18" charset="0"/>
              <a:cs typeface="Times New Roman" panose="02020603050405020304" pitchFamily="18" charset="0"/>
            </a:endParaRPr>
          </a:p>
          <a:p>
            <a:pPr algn="just"/>
            <a:r>
              <a:rPr lang="en-US" sz="3200" b="0" i="0" dirty="0" smtClean="0">
                <a:solidFill>
                  <a:srgbClr val="32323C"/>
                </a:solidFill>
                <a:effectLst/>
                <a:latin typeface="Times New Roman" panose="02020603050405020304" pitchFamily="18" charset="0"/>
                <a:cs typeface="Times New Roman" panose="02020603050405020304" pitchFamily="18" charset="0"/>
              </a:rPr>
              <a:t>The </a:t>
            </a:r>
            <a:r>
              <a:rPr lang="en-US" sz="3200" b="1" i="0" u="none" strike="noStrike" dirty="0" err="1" smtClean="0">
                <a:effectLst/>
                <a:latin typeface="Times New Roman" panose="02020603050405020304" pitchFamily="18" charset="0"/>
                <a:cs typeface="Times New Roman" panose="02020603050405020304" pitchFamily="18" charset="0"/>
              </a:rPr>
              <a:t>paracolic</a:t>
            </a:r>
            <a:r>
              <a:rPr lang="en-US" sz="3200" b="1" i="0" u="none" strike="noStrike" dirty="0" smtClean="0">
                <a:effectLst/>
                <a:latin typeface="Times New Roman" panose="02020603050405020304" pitchFamily="18" charset="0"/>
                <a:cs typeface="Times New Roman" panose="02020603050405020304" pitchFamily="18" charset="0"/>
              </a:rPr>
              <a:t> gutters</a:t>
            </a:r>
            <a:r>
              <a:rPr lang="en-US" sz="3200" b="0" i="0" dirty="0" smtClean="0">
                <a:solidFill>
                  <a:srgbClr val="32323C"/>
                </a:solidFill>
                <a:effectLst/>
                <a:latin typeface="Times New Roman" panose="02020603050405020304" pitchFamily="18" charset="0"/>
                <a:cs typeface="Times New Roman" panose="02020603050405020304" pitchFamily="18" charset="0"/>
              </a:rPr>
              <a:t> are two spaces between the ascending/descending colon and the </a:t>
            </a:r>
            <a:r>
              <a:rPr lang="en-US" sz="3200" b="0" i="0" dirty="0" err="1" smtClean="0">
                <a:solidFill>
                  <a:srgbClr val="32323C"/>
                </a:solidFill>
                <a:effectLst/>
                <a:latin typeface="Times New Roman" panose="02020603050405020304" pitchFamily="18" charset="0"/>
                <a:cs typeface="Times New Roman" panose="02020603050405020304" pitchFamily="18" charset="0"/>
              </a:rPr>
              <a:t>posterolateral</a:t>
            </a:r>
            <a:r>
              <a:rPr lang="en-US" sz="3200" b="0" i="0" dirty="0" smtClean="0">
                <a:solidFill>
                  <a:srgbClr val="32323C"/>
                </a:solidFill>
                <a:effectLst/>
                <a:latin typeface="Times New Roman" panose="02020603050405020304" pitchFamily="18" charset="0"/>
                <a:cs typeface="Times New Roman" panose="02020603050405020304" pitchFamily="18" charset="0"/>
              </a:rPr>
              <a:t> abdominal wall.</a:t>
            </a:r>
            <a:endParaRPr lang="en-US" sz="3200" b="0" i="0" dirty="0" smtClean="0">
              <a:solidFill>
                <a:srgbClr val="32323C"/>
              </a:solidFill>
              <a:effectLst/>
              <a:latin typeface="Times New Roman" panose="02020603050405020304" pitchFamily="18" charset="0"/>
              <a:cs typeface="Times New Roman" panose="02020603050405020304" pitchFamily="18" charset="0"/>
            </a:endParaRPr>
          </a:p>
          <a:p>
            <a:pPr algn="just"/>
            <a:r>
              <a:rPr lang="en-US" sz="3200" b="0" i="0" dirty="0" smtClean="0">
                <a:solidFill>
                  <a:srgbClr val="32323C"/>
                </a:solidFill>
                <a:effectLst/>
                <a:latin typeface="Times New Roman" panose="02020603050405020304" pitchFamily="18" charset="0"/>
                <a:cs typeface="Times New Roman" panose="02020603050405020304" pitchFamily="18" charset="0"/>
              </a:rPr>
              <a:t>These structures are clinically important, as they allow material that has been released from inflamed or </a:t>
            </a:r>
            <a:r>
              <a:rPr lang="en-US" sz="3200" b="1" i="0" dirty="0" smtClean="0">
                <a:solidFill>
                  <a:srgbClr val="32323C"/>
                </a:solidFill>
                <a:effectLst/>
                <a:latin typeface="Times New Roman" panose="02020603050405020304" pitchFamily="18" charset="0"/>
                <a:cs typeface="Times New Roman" panose="02020603050405020304" pitchFamily="18" charset="0"/>
              </a:rPr>
              <a:t>infected</a:t>
            </a:r>
            <a:r>
              <a:rPr lang="en-US" sz="3200" b="0" i="0" dirty="0" smtClean="0">
                <a:solidFill>
                  <a:srgbClr val="32323C"/>
                </a:solidFill>
                <a:effectLst/>
                <a:latin typeface="Times New Roman" panose="02020603050405020304" pitchFamily="18" charset="0"/>
                <a:cs typeface="Times New Roman" panose="02020603050405020304" pitchFamily="18" charset="0"/>
              </a:rPr>
              <a:t> abdominal organs to accumulate elsewhere in the abdomen.</a:t>
            </a:r>
            <a:endParaRPr lang="en-US" sz="3200" b="0" i="0" dirty="0">
              <a:solidFill>
                <a:srgbClr val="32323C"/>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3751"/>
            <a:ext cx="12191999" cy="6001643"/>
          </a:xfrm>
          <a:prstGeom prst="rect">
            <a:avLst/>
          </a:prstGeom>
        </p:spPr>
        <p:txBody>
          <a:bodyPr wrap="square">
            <a:spAutoFit/>
          </a:bodyPr>
          <a:lstStyle/>
          <a:p>
            <a:r>
              <a:rPr lang="en-US" sz="3600" b="1" i="0" dirty="0" smtClean="0">
                <a:solidFill>
                  <a:srgbClr val="C00000"/>
                </a:solidFill>
                <a:effectLst/>
                <a:latin typeface="Times New Roman" panose="02020603050405020304" pitchFamily="18" charset="0"/>
                <a:cs typeface="Times New Roman" panose="02020603050405020304" pitchFamily="18" charset="0"/>
              </a:rPr>
              <a:t>			Anatomical Structure</a:t>
            </a:r>
            <a:endParaRPr lang="en-US" sz="3600" b="1" i="0" dirty="0" smtClean="0">
              <a:solidFill>
                <a:srgbClr val="C00000"/>
              </a:solidFill>
              <a:effectLst/>
              <a:latin typeface="Times New Roman" panose="02020603050405020304" pitchFamily="18" charset="0"/>
              <a:cs typeface="Times New Roman" panose="02020603050405020304" pitchFamily="18" charset="0"/>
            </a:endParaRPr>
          </a:p>
          <a:p>
            <a:endParaRPr lang="en-US" sz="3600" b="1" i="0" dirty="0" smtClean="0">
              <a:solidFill>
                <a:srgbClr val="C00000"/>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The large intestine has a number of characteristic features, which allows it to be distinguished from the small intestine:</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Attached to the surface of the large intestine are </a:t>
            </a:r>
            <a:r>
              <a:rPr lang="en-US" sz="2400" b="1" i="0" dirty="0" err="1" smtClean="0">
                <a:solidFill>
                  <a:srgbClr val="32323C"/>
                </a:solidFill>
                <a:effectLst/>
                <a:latin typeface="Times New Roman" panose="02020603050405020304" pitchFamily="18" charset="0"/>
                <a:cs typeface="Times New Roman" panose="02020603050405020304" pitchFamily="18" charset="0"/>
              </a:rPr>
              <a:t>omental</a:t>
            </a:r>
            <a:r>
              <a:rPr lang="en-US" sz="2400" b="1" i="0" dirty="0" smtClean="0">
                <a:solidFill>
                  <a:srgbClr val="32323C"/>
                </a:solidFill>
                <a:effectLst/>
                <a:latin typeface="Times New Roman" panose="02020603050405020304" pitchFamily="18" charset="0"/>
                <a:cs typeface="Times New Roman" panose="02020603050405020304" pitchFamily="18" charset="0"/>
              </a:rPr>
              <a:t> appendices</a:t>
            </a:r>
            <a:r>
              <a:rPr lang="en-US" sz="2400" b="0" i="0" dirty="0" smtClean="0">
                <a:solidFill>
                  <a:srgbClr val="32323C"/>
                </a:solidFill>
                <a:effectLst/>
                <a:latin typeface="Times New Roman" panose="02020603050405020304" pitchFamily="18" charset="0"/>
                <a:cs typeface="Times New Roman" panose="02020603050405020304" pitchFamily="18" charset="0"/>
              </a:rPr>
              <a:t> – small pouches of peritoneum, filled with fat.</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Running longitudinally along the surface of the large bowel are three strips of muscle, known as the </a:t>
            </a:r>
            <a:r>
              <a:rPr lang="en-US" sz="2400" b="1" i="0" dirty="0" err="1" smtClean="0">
                <a:solidFill>
                  <a:srgbClr val="32323C"/>
                </a:solidFill>
                <a:effectLst/>
                <a:latin typeface="Times New Roman" panose="02020603050405020304" pitchFamily="18" charset="0"/>
                <a:cs typeface="Times New Roman" panose="02020603050405020304" pitchFamily="18" charset="0"/>
              </a:rPr>
              <a:t>teniae</a:t>
            </a:r>
            <a:r>
              <a:rPr lang="en-US" sz="2400" b="1" i="0" dirty="0" smtClean="0">
                <a:solidFill>
                  <a:srgbClr val="32323C"/>
                </a:solidFill>
                <a:effectLst/>
                <a:latin typeface="Times New Roman" panose="02020603050405020304" pitchFamily="18" charset="0"/>
                <a:cs typeface="Times New Roman" panose="02020603050405020304" pitchFamily="18" charset="0"/>
              </a:rPr>
              <a:t> coli</a:t>
            </a:r>
            <a:r>
              <a:rPr lang="en-US" sz="2400" b="0" i="0" dirty="0" smtClean="0">
                <a:solidFill>
                  <a:srgbClr val="32323C"/>
                </a:solidFill>
                <a:effectLst/>
                <a:latin typeface="Times New Roman" panose="02020603050405020304" pitchFamily="18" charset="0"/>
                <a:cs typeface="Times New Roman" panose="02020603050405020304" pitchFamily="18" charset="0"/>
              </a:rPr>
              <a:t>. They are called the </a:t>
            </a:r>
            <a:r>
              <a:rPr lang="en-US" sz="2400" b="1" i="0" dirty="0" err="1" smtClean="0">
                <a:solidFill>
                  <a:srgbClr val="32323C"/>
                </a:solidFill>
                <a:effectLst/>
                <a:latin typeface="Times New Roman" panose="02020603050405020304" pitchFamily="18" charset="0"/>
                <a:cs typeface="Times New Roman" panose="02020603050405020304" pitchFamily="18" charset="0"/>
              </a:rPr>
              <a:t>mesocolic</a:t>
            </a:r>
            <a:r>
              <a:rPr lang="en-US" sz="2400" b="0" i="0" dirty="0" smtClean="0">
                <a:solidFill>
                  <a:srgbClr val="32323C"/>
                </a:solidFill>
                <a:effectLst/>
                <a:latin typeface="Times New Roman" panose="02020603050405020304" pitchFamily="18" charset="0"/>
                <a:cs typeface="Times New Roman" panose="02020603050405020304" pitchFamily="18" charset="0"/>
              </a:rPr>
              <a:t>, </a:t>
            </a:r>
            <a:r>
              <a:rPr lang="en-US" sz="2400" b="1" i="0" dirty="0" smtClean="0">
                <a:solidFill>
                  <a:srgbClr val="32323C"/>
                </a:solidFill>
                <a:effectLst/>
                <a:latin typeface="Times New Roman" panose="02020603050405020304" pitchFamily="18" charset="0"/>
                <a:cs typeface="Times New Roman" panose="02020603050405020304" pitchFamily="18" charset="0"/>
              </a:rPr>
              <a:t>free</a:t>
            </a:r>
            <a:r>
              <a:rPr lang="en-US" sz="2400" b="0" i="0" dirty="0" smtClean="0">
                <a:solidFill>
                  <a:srgbClr val="32323C"/>
                </a:solidFill>
                <a:effectLst/>
                <a:latin typeface="Times New Roman" panose="02020603050405020304" pitchFamily="18" charset="0"/>
                <a:cs typeface="Times New Roman" panose="02020603050405020304" pitchFamily="18" charset="0"/>
              </a:rPr>
              <a:t> and </a:t>
            </a:r>
            <a:r>
              <a:rPr lang="en-US" sz="2400" b="1" i="0" dirty="0" err="1" smtClean="0">
                <a:solidFill>
                  <a:srgbClr val="32323C"/>
                </a:solidFill>
                <a:effectLst/>
                <a:latin typeface="Times New Roman" panose="02020603050405020304" pitchFamily="18" charset="0"/>
                <a:cs typeface="Times New Roman" panose="02020603050405020304" pitchFamily="18" charset="0"/>
              </a:rPr>
              <a:t>omental</a:t>
            </a:r>
            <a:r>
              <a:rPr lang="en-US" sz="2400" b="1" i="0" dirty="0" smtClean="0">
                <a:solidFill>
                  <a:srgbClr val="32323C"/>
                </a:solidFill>
                <a:effectLst/>
                <a:latin typeface="Times New Roman" panose="02020603050405020304" pitchFamily="18" charset="0"/>
                <a:cs typeface="Times New Roman" panose="02020603050405020304" pitchFamily="18" charset="0"/>
              </a:rPr>
              <a:t> coli</a:t>
            </a:r>
            <a:r>
              <a:rPr lang="en-US" sz="2400" b="0" i="0" dirty="0" smtClean="0">
                <a:solidFill>
                  <a:srgbClr val="32323C"/>
                </a:solidFill>
                <a:effectLst/>
                <a:latin typeface="Times New Roman" panose="02020603050405020304" pitchFamily="18" charset="0"/>
                <a:cs typeface="Times New Roman" panose="02020603050405020304" pitchFamily="18" charset="0"/>
              </a:rPr>
              <a:t>.</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The </a:t>
            </a:r>
            <a:r>
              <a:rPr lang="en-US" sz="2400" b="0" i="0" dirty="0" err="1" smtClean="0">
                <a:solidFill>
                  <a:srgbClr val="32323C"/>
                </a:solidFill>
                <a:effectLst/>
                <a:latin typeface="Times New Roman" panose="02020603050405020304" pitchFamily="18" charset="0"/>
                <a:cs typeface="Times New Roman" panose="02020603050405020304" pitchFamily="18" charset="0"/>
              </a:rPr>
              <a:t>teniae</a:t>
            </a:r>
            <a:r>
              <a:rPr lang="en-US" sz="2400" b="0" i="0" dirty="0" smtClean="0">
                <a:solidFill>
                  <a:srgbClr val="32323C"/>
                </a:solidFill>
                <a:effectLst/>
                <a:latin typeface="Times New Roman" panose="02020603050405020304" pitchFamily="18" charset="0"/>
                <a:cs typeface="Times New Roman" panose="02020603050405020304" pitchFamily="18" charset="0"/>
              </a:rPr>
              <a:t> coli contract to shorten the wall of the bowel, producing </a:t>
            </a:r>
            <a:r>
              <a:rPr lang="en-US" sz="2400" b="0" i="0" dirty="0" err="1" smtClean="0">
                <a:solidFill>
                  <a:srgbClr val="32323C"/>
                </a:solidFill>
                <a:effectLst/>
                <a:latin typeface="Times New Roman" panose="02020603050405020304" pitchFamily="18" charset="0"/>
                <a:cs typeface="Times New Roman" panose="02020603050405020304" pitchFamily="18" charset="0"/>
              </a:rPr>
              <a:t>sacculations</a:t>
            </a:r>
            <a:r>
              <a:rPr lang="en-US" sz="2400" b="0" i="0" dirty="0" smtClean="0">
                <a:solidFill>
                  <a:srgbClr val="32323C"/>
                </a:solidFill>
                <a:effectLst/>
                <a:latin typeface="Times New Roman" panose="02020603050405020304" pitchFamily="18" charset="0"/>
                <a:cs typeface="Times New Roman" panose="02020603050405020304" pitchFamily="18" charset="0"/>
              </a:rPr>
              <a:t> known as </a:t>
            </a:r>
            <a:r>
              <a:rPr lang="en-US" sz="2400" b="1" i="0" dirty="0" err="1" smtClean="0">
                <a:solidFill>
                  <a:srgbClr val="32323C"/>
                </a:solidFill>
                <a:effectLst/>
                <a:latin typeface="Times New Roman" panose="02020603050405020304" pitchFamily="18" charset="0"/>
                <a:cs typeface="Times New Roman" panose="02020603050405020304" pitchFamily="18" charset="0"/>
              </a:rPr>
              <a:t>haustra</a:t>
            </a:r>
            <a:r>
              <a:rPr lang="en-US" sz="2400" b="1" i="0" dirty="0" smtClean="0">
                <a:solidFill>
                  <a:srgbClr val="32323C"/>
                </a:solidFill>
                <a:effectLst/>
                <a:latin typeface="Times New Roman" panose="02020603050405020304" pitchFamily="18" charset="0"/>
                <a:cs typeface="Times New Roman" panose="02020603050405020304" pitchFamily="18" charset="0"/>
              </a:rPr>
              <a:t>.</a:t>
            </a:r>
            <a:endParaRPr lang="en-US" sz="2400" b="1" i="0" dirty="0" smtClean="0">
              <a:solidFill>
                <a:srgbClr val="32323C"/>
              </a:solidFill>
              <a:effectLst/>
              <a:latin typeface="Times New Roman" panose="02020603050405020304" pitchFamily="18" charset="0"/>
              <a:cs typeface="Times New Roman" panose="02020603050405020304" pitchFamily="18" charset="0"/>
            </a:endParaRPr>
          </a:p>
          <a:p>
            <a:pPr algn="just"/>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The large intestine has a much </a:t>
            </a:r>
            <a:r>
              <a:rPr lang="en-US" sz="2400" b="1" i="0" dirty="0" smtClean="0">
                <a:solidFill>
                  <a:srgbClr val="32323C"/>
                </a:solidFill>
                <a:effectLst/>
                <a:latin typeface="Times New Roman" panose="02020603050405020304" pitchFamily="18" charset="0"/>
                <a:cs typeface="Times New Roman" panose="02020603050405020304" pitchFamily="18" charset="0"/>
              </a:rPr>
              <a:t>wider diameter</a:t>
            </a:r>
            <a:r>
              <a:rPr lang="en-US" sz="2400" b="0" i="0" dirty="0" smtClean="0">
                <a:solidFill>
                  <a:srgbClr val="32323C"/>
                </a:solidFill>
                <a:effectLst/>
                <a:latin typeface="Times New Roman" panose="02020603050405020304" pitchFamily="18" charset="0"/>
                <a:cs typeface="Times New Roman" panose="02020603050405020304" pitchFamily="18" charset="0"/>
              </a:rPr>
              <a:t> compared to the small intestine.</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r>
              <a:rPr lang="en-US" sz="2400" b="0" i="0" dirty="0" smtClean="0">
                <a:solidFill>
                  <a:srgbClr val="32323C"/>
                </a:solidFill>
                <a:effectLst/>
                <a:latin typeface="Times New Roman" panose="02020603050405020304" pitchFamily="18" charset="0"/>
                <a:cs typeface="Times New Roman" panose="02020603050405020304" pitchFamily="18" charset="0"/>
              </a:rPr>
              <a:t>These features cease at the </a:t>
            </a:r>
            <a:r>
              <a:rPr lang="en-US" sz="2400" b="1" i="0" dirty="0" err="1" smtClean="0">
                <a:solidFill>
                  <a:srgbClr val="32323C"/>
                </a:solidFill>
                <a:effectLst/>
                <a:latin typeface="Times New Roman" panose="02020603050405020304" pitchFamily="18" charset="0"/>
                <a:cs typeface="Times New Roman" panose="02020603050405020304" pitchFamily="18" charset="0"/>
              </a:rPr>
              <a:t>rectosigmoid</a:t>
            </a:r>
            <a:r>
              <a:rPr lang="en-US" sz="2400" b="1" i="0" dirty="0" smtClean="0">
                <a:solidFill>
                  <a:srgbClr val="32323C"/>
                </a:solidFill>
                <a:effectLst/>
                <a:latin typeface="Times New Roman" panose="02020603050405020304" pitchFamily="18" charset="0"/>
                <a:cs typeface="Times New Roman" panose="02020603050405020304" pitchFamily="18" charset="0"/>
              </a:rPr>
              <a:t> junction</a:t>
            </a:r>
            <a:r>
              <a:rPr lang="en-US" sz="2400" b="0" i="0" dirty="0" smtClean="0">
                <a:solidFill>
                  <a:srgbClr val="32323C"/>
                </a:solidFill>
                <a:effectLst/>
                <a:latin typeface="Times New Roman" panose="02020603050405020304" pitchFamily="18" charset="0"/>
                <a:cs typeface="Times New Roman" panose="02020603050405020304" pitchFamily="18" charset="0"/>
              </a:rPr>
              <a:t>, where the smooth muscle of the </a:t>
            </a:r>
            <a:r>
              <a:rPr lang="en-US" sz="2400" b="0" i="0" dirty="0" err="1" smtClean="0">
                <a:solidFill>
                  <a:srgbClr val="32323C"/>
                </a:solidFill>
                <a:effectLst/>
                <a:latin typeface="Times New Roman" panose="02020603050405020304" pitchFamily="18" charset="0"/>
                <a:cs typeface="Times New Roman" panose="02020603050405020304" pitchFamily="18" charset="0"/>
              </a:rPr>
              <a:t>teniae</a:t>
            </a:r>
            <a:r>
              <a:rPr lang="en-US" sz="2400" b="0" i="0" dirty="0" smtClean="0">
                <a:solidFill>
                  <a:srgbClr val="32323C"/>
                </a:solidFill>
                <a:effectLst/>
                <a:latin typeface="Times New Roman" panose="02020603050405020304" pitchFamily="18" charset="0"/>
                <a:cs typeface="Times New Roman" panose="02020603050405020304" pitchFamily="18" charset="0"/>
              </a:rPr>
              <a:t> coli broaden to form a complete layer within the </a:t>
            </a:r>
            <a:r>
              <a:rPr lang="en-US" sz="2400" b="0" i="0" u="none" strike="noStrike" dirty="0" smtClean="0">
                <a:effectLst/>
                <a:latin typeface="Times New Roman" panose="02020603050405020304" pitchFamily="18" charset="0"/>
                <a:cs typeface="Times New Roman" panose="02020603050405020304" pitchFamily="18" charset="0"/>
              </a:rPr>
              <a:t>rectum</a:t>
            </a:r>
            <a:endParaRPr lang="en-US" sz="2400" b="0" i="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 2 - The macroscopic features of the large intest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74932" y="93395"/>
            <a:ext cx="4781550" cy="570547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643804" y="6072992"/>
            <a:ext cx="5810245" cy="369332"/>
          </a:xfrm>
          <a:prstGeom prst="rect">
            <a:avLst/>
          </a:prstGeom>
        </p:spPr>
        <p:txBody>
          <a:bodyPr wrap="none">
            <a:spAutoFit/>
          </a:bodyPr>
          <a:lstStyle/>
          <a:p>
            <a:r>
              <a:rPr lang="en-US" b="0" i="0" dirty="0" smtClean="0">
                <a:solidFill>
                  <a:srgbClr val="32323C"/>
                </a:solidFill>
                <a:effectLst/>
                <a:latin typeface="acumin-pro"/>
              </a:rPr>
              <a:t>Fig 2 – The macroscopic features of the large intestine.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 y="777668"/>
          <a:ext cx="12192000" cy="6550171"/>
        </p:xfrm>
        <a:graphic>
          <a:graphicData uri="http://schemas.openxmlformats.org/drawingml/2006/table">
            <a:tbl>
              <a:tblPr/>
              <a:tblGrid>
                <a:gridCol w="4064000"/>
                <a:gridCol w="4064000"/>
                <a:gridCol w="4064000"/>
              </a:tblGrid>
              <a:tr h="334072">
                <a:tc>
                  <a:txBody>
                    <a:bodyPr/>
                    <a:lstStyle/>
                    <a:p>
                      <a:endParaRPr lang="en-US" sz="2000" dirty="0">
                        <a:solidFill>
                          <a:srgbClr val="FFFFFF"/>
                        </a:solidFill>
                        <a:effectLst/>
                      </a:endParaRPr>
                    </a:p>
                  </a:txBody>
                  <a:tcPr marL="71333" marR="71333" marT="35667" marB="35667" anchor="ctr">
                    <a:lnL>
                      <a:noFill/>
                    </a:lnL>
                    <a:lnR>
                      <a:noFill/>
                    </a:lnR>
                    <a:lnT>
                      <a:noFill/>
                    </a:lnT>
                    <a:lnB>
                      <a:noFill/>
                    </a:lnB>
                    <a:solidFill>
                      <a:srgbClr val="32323C"/>
                    </a:solidFill>
                  </a:tcPr>
                </a:tc>
                <a:tc>
                  <a:txBody>
                    <a:bodyPr/>
                    <a:lstStyle/>
                    <a:p>
                      <a:r>
                        <a:rPr lang="en-US" sz="2000" b="1">
                          <a:solidFill>
                            <a:srgbClr val="FFFFFF"/>
                          </a:solidFill>
                          <a:effectLst/>
                        </a:rPr>
                        <a:t>Anterior</a:t>
                      </a:r>
                      <a:endParaRPr lang="en-US" sz="2000">
                        <a:solidFill>
                          <a:srgbClr val="FFFFFF"/>
                        </a:solidFill>
                        <a:effectLst/>
                      </a:endParaRPr>
                    </a:p>
                  </a:txBody>
                  <a:tcPr marL="71333" marR="71333" marT="35667" marB="35667" anchor="ctr">
                    <a:lnL>
                      <a:noFill/>
                    </a:lnL>
                    <a:lnR>
                      <a:noFill/>
                    </a:lnR>
                    <a:lnT>
                      <a:noFill/>
                    </a:lnT>
                    <a:lnB>
                      <a:noFill/>
                    </a:lnB>
                    <a:solidFill>
                      <a:srgbClr val="32323C"/>
                    </a:solidFill>
                  </a:tcPr>
                </a:tc>
                <a:tc>
                  <a:txBody>
                    <a:bodyPr/>
                    <a:lstStyle/>
                    <a:p>
                      <a:r>
                        <a:rPr lang="en-US" sz="2000" b="1">
                          <a:solidFill>
                            <a:srgbClr val="FFFFFF"/>
                          </a:solidFill>
                          <a:effectLst/>
                        </a:rPr>
                        <a:t>Posterior</a:t>
                      </a:r>
                      <a:endParaRPr lang="en-US" sz="2000">
                        <a:solidFill>
                          <a:srgbClr val="FFFFFF"/>
                        </a:solidFill>
                        <a:effectLst/>
                      </a:endParaRPr>
                    </a:p>
                  </a:txBody>
                  <a:tcPr marL="71333" marR="71333" marT="35667" marB="35667" anchor="ctr">
                    <a:lnL>
                      <a:noFill/>
                    </a:lnL>
                    <a:lnR>
                      <a:noFill/>
                    </a:lnR>
                    <a:lnT>
                      <a:noFill/>
                    </a:lnT>
                    <a:lnB>
                      <a:noFill/>
                    </a:lnB>
                    <a:solidFill>
                      <a:srgbClr val="32323C"/>
                    </a:solidFill>
                  </a:tcPr>
                </a:tc>
              </a:tr>
              <a:tr h="2081956">
                <a:tc>
                  <a:txBody>
                    <a:bodyPr/>
                    <a:lstStyle/>
                    <a:p>
                      <a:r>
                        <a:rPr lang="en-US" sz="2000" b="1" dirty="0">
                          <a:effectLst/>
                          <a:latin typeface="Times New Roman" panose="02020603050405020304" pitchFamily="18" charset="0"/>
                          <a:cs typeface="Times New Roman" panose="02020603050405020304" pitchFamily="18" charset="0"/>
                        </a:rPr>
                        <a:t>Ascending colon</a:t>
                      </a:r>
                      <a:endParaRPr lang="en-US" sz="2000" dirty="0">
                        <a:effectLst/>
                        <a:latin typeface="Times New Roman" panose="02020603050405020304" pitchFamily="18" charset="0"/>
                        <a:cs typeface="Times New Roman" panose="02020603050405020304" pitchFamily="18" charset="0"/>
                      </a:endParaRPr>
                    </a:p>
                  </a:txBody>
                  <a:tcPr marL="71333" marR="71333" marT="35667" marB="35667" anchor="ctr">
                    <a:lnL>
                      <a:noFill/>
                    </a:lnL>
                    <a:lnR>
                      <a:noFill/>
                    </a:lnR>
                    <a:lnT>
                      <a:noFill/>
                    </a:lnT>
                    <a:lnB>
                      <a:noFill/>
                    </a:lnB>
                    <a:solidFill>
                      <a:srgbClr val="FFFFFF"/>
                    </a:solidFill>
                  </a:tcPr>
                </a:tc>
                <a:tc>
                  <a:txBody>
                    <a:bodyPr/>
                    <a:lstStyle/>
                    <a:p>
                      <a:pPr>
                        <a:buFont typeface="Arial" panose="020B0604020202020204" pitchFamily="34" charset="0"/>
                        <a:buChar char="•"/>
                      </a:pPr>
                      <a:r>
                        <a:rPr lang="en-US" sz="2000" dirty="0">
                          <a:effectLst/>
                          <a:latin typeface="Times New Roman" panose="02020603050405020304" pitchFamily="18" charset="0"/>
                          <a:cs typeface="Times New Roman" panose="02020603050405020304" pitchFamily="18" charset="0"/>
                        </a:rPr>
                        <a:t>Small intestine</a:t>
                      </a:r>
                      <a:endParaRPr lang="en-US" sz="20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u="sng" dirty="0">
                          <a:solidFill>
                            <a:srgbClr val="32323C"/>
                          </a:solidFill>
                          <a:effectLst/>
                          <a:latin typeface="Times New Roman" panose="02020603050405020304" pitchFamily="18" charset="0"/>
                          <a:cs typeface="Times New Roman" panose="02020603050405020304" pitchFamily="18" charset="0"/>
                        </a:rPr>
                        <a:t>Greater </a:t>
                      </a:r>
                      <a:r>
                        <a:rPr lang="en-US" sz="2000" u="sng" dirty="0" err="1">
                          <a:solidFill>
                            <a:srgbClr val="32323C"/>
                          </a:solidFill>
                          <a:effectLst/>
                          <a:latin typeface="Times New Roman" panose="02020603050405020304" pitchFamily="18" charset="0"/>
                          <a:cs typeface="Times New Roman" panose="02020603050405020304" pitchFamily="18" charset="0"/>
                        </a:rPr>
                        <a:t>omentum</a:t>
                      </a:r>
                      <a:endParaRPr lang="en-US" sz="20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effectLst/>
                          <a:latin typeface="Times New Roman" panose="02020603050405020304" pitchFamily="18" charset="0"/>
                          <a:cs typeface="Times New Roman" panose="02020603050405020304" pitchFamily="18" charset="0"/>
                        </a:rPr>
                        <a:t>Anterior abdominal wall</a:t>
                      </a:r>
                      <a:endParaRPr lang="en-US" sz="2000" dirty="0">
                        <a:effectLst/>
                        <a:latin typeface="Times New Roman" panose="02020603050405020304" pitchFamily="18" charset="0"/>
                        <a:cs typeface="Times New Roman" panose="02020603050405020304" pitchFamily="18" charset="0"/>
                      </a:endParaRPr>
                    </a:p>
                  </a:txBody>
                  <a:tcPr marL="71333" marR="71333" marT="35667" marB="35667" anchor="ctr">
                    <a:lnL>
                      <a:noFill/>
                    </a:lnL>
                    <a:lnR>
                      <a:noFill/>
                    </a:lnR>
                    <a:lnT>
                      <a:noFill/>
                    </a:lnT>
                    <a:lnB>
                      <a:noFill/>
                    </a:lnB>
                    <a:solidFill>
                      <a:srgbClr val="FFFFFF"/>
                    </a:solidFill>
                  </a:tcPr>
                </a:tc>
                <a:tc>
                  <a:txBody>
                    <a:bodyPr/>
                    <a:lstStyle/>
                    <a:p>
                      <a:pPr>
                        <a:buFont typeface="Arial" panose="020B0604020202020204" pitchFamily="34" charset="0"/>
                        <a:buChar char="•"/>
                      </a:pPr>
                      <a:r>
                        <a:rPr lang="en-US" sz="2000" dirty="0" err="1">
                          <a:effectLst/>
                        </a:rPr>
                        <a:t>Iliacus</a:t>
                      </a:r>
                      <a:r>
                        <a:rPr lang="en-US" sz="2000" dirty="0">
                          <a:effectLst/>
                        </a:rPr>
                        <a:t> and </a:t>
                      </a:r>
                      <a:r>
                        <a:rPr lang="en-US" sz="2000" dirty="0" err="1">
                          <a:effectLst/>
                        </a:rPr>
                        <a:t>quadratus</a:t>
                      </a:r>
                      <a:r>
                        <a:rPr lang="en-US" sz="2000" dirty="0">
                          <a:effectLst/>
                        </a:rPr>
                        <a:t> </a:t>
                      </a:r>
                      <a:r>
                        <a:rPr lang="en-US" sz="2000" dirty="0" err="1">
                          <a:effectLst/>
                        </a:rPr>
                        <a:t>lumborum</a:t>
                      </a:r>
                      <a:endParaRPr lang="en-US" sz="2000" dirty="0">
                        <a:effectLst/>
                      </a:endParaRPr>
                    </a:p>
                    <a:p>
                      <a:pPr>
                        <a:buFont typeface="Arial" panose="020B0604020202020204" pitchFamily="34" charset="0"/>
                        <a:buChar char="•"/>
                      </a:pPr>
                      <a:r>
                        <a:rPr lang="en-US" sz="2000" dirty="0">
                          <a:effectLst/>
                        </a:rPr>
                        <a:t>Right </a:t>
                      </a:r>
                      <a:r>
                        <a:rPr lang="en-US" sz="2000" u="sng" dirty="0">
                          <a:solidFill>
                            <a:srgbClr val="32323C"/>
                          </a:solidFill>
                          <a:effectLst/>
                        </a:rPr>
                        <a:t>kidney</a:t>
                      </a:r>
                      <a:endParaRPr lang="en-US" sz="2000" dirty="0">
                        <a:effectLst/>
                      </a:endParaRPr>
                    </a:p>
                    <a:p>
                      <a:pPr>
                        <a:buFont typeface="Arial" panose="020B0604020202020204" pitchFamily="34" charset="0"/>
                        <a:buChar char="•"/>
                      </a:pPr>
                      <a:r>
                        <a:rPr lang="en-US" sz="2000" dirty="0" err="1">
                          <a:effectLst/>
                        </a:rPr>
                        <a:t>Iliohypogastric</a:t>
                      </a:r>
                      <a:r>
                        <a:rPr lang="en-US" sz="2000" dirty="0">
                          <a:effectLst/>
                        </a:rPr>
                        <a:t> and </a:t>
                      </a:r>
                      <a:r>
                        <a:rPr lang="en-US" sz="2000" dirty="0" err="1">
                          <a:effectLst/>
                        </a:rPr>
                        <a:t>ilioinguinal</a:t>
                      </a:r>
                      <a:r>
                        <a:rPr lang="en-US" sz="2000" dirty="0">
                          <a:effectLst/>
                        </a:rPr>
                        <a:t> nerves</a:t>
                      </a:r>
                      <a:endParaRPr lang="en-US" sz="2000" dirty="0">
                        <a:effectLst/>
                      </a:endParaRPr>
                    </a:p>
                  </a:txBody>
                  <a:tcPr marL="71333" marR="71333" marT="35667" marB="35667" anchor="ctr">
                    <a:lnL>
                      <a:noFill/>
                    </a:lnL>
                    <a:lnR>
                      <a:noFill/>
                    </a:lnR>
                    <a:lnT>
                      <a:noFill/>
                    </a:lnT>
                    <a:lnB>
                      <a:noFill/>
                    </a:lnB>
                    <a:solidFill>
                      <a:srgbClr val="FFFFFF"/>
                    </a:solidFill>
                  </a:tcPr>
                </a:tc>
              </a:tr>
              <a:tr h="1582347">
                <a:tc>
                  <a:txBody>
                    <a:bodyPr/>
                    <a:lstStyle/>
                    <a:p>
                      <a:r>
                        <a:rPr lang="en-US" sz="2000" b="1" dirty="0">
                          <a:effectLst/>
                          <a:latin typeface="Times New Roman" panose="02020603050405020304" pitchFamily="18" charset="0"/>
                          <a:cs typeface="Times New Roman" panose="02020603050405020304" pitchFamily="18" charset="0"/>
                        </a:rPr>
                        <a:t>Transverse colon</a:t>
                      </a:r>
                      <a:endParaRPr lang="en-US" sz="2000" dirty="0">
                        <a:effectLst/>
                        <a:latin typeface="Times New Roman" panose="02020603050405020304" pitchFamily="18" charset="0"/>
                        <a:cs typeface="Times New Roman" panose="02020603050405020304" pitchFamily="18" charset="0"/>
                      </a:endParaRPr>
                    </a:p>
                  </a:txBody>
                  <a:tcPr marL="71333" marR="71333" marT="35667" marB="35667" anchor="ctr">
                    <a:lnL>
                      <a:noFill/>
                    </a:lnL>
                    <a:lnR>
                      <a:noFill/>
                    </a:lnR>
                    <a:lnT>
                      <a:noFill/>
                    </a:lnT>
                    <a:lnB>
                      <a:noFill/>
                    </a:lnB>
                    <a:solidFill>
                      <a:srgbClr val="F2F2F2"/>
                    </a:solidFill>
                  </a:tcPr>
                </a:tc>
                <a:tc>
                  <a:txBody>
                    <a:bodyPr/>
                    <a:lstStyle/>
                    <a:p>
                      <a:pPr>
                        <a:buFont typeface="Arial" panose="020B0604020202020204" pitchFamily="34" charset="0"/>
                        <a:buChar char="•"/>
                      </a:pPr>
                      <a:r>
                        <a:rPr lang="en-US" sz="2000">
                          <a:effectLst/>
                        </a:rPr>
                        <a:t>Greater omentum</a:t>
                      </a:r>
                      <a:endParaRPr lang="en-US" sz="2000">
                        <a:effectLst/>
                      </a:endParaRPr>
                    </a:p>
                    <a:p>
                      <a:pPr>
                        <a:buFont typeface="Arial" panose="020B0604020202020204" pitchFamily="34" charset="0"/>
                        <a:buChar char="•"/>
                      </a:pPr>
                      <a:r>
                        <a:rPr lang="en-US" sz="2000">
                          <a:effectLst/>
                        </a:rPr>
                        <a:t>Anterior abdominal wall</a:t>
                      </a:r>
                      <a:endParaRPr lang="en-US" sz="2000">
                        <a:effectLst/>
                      </a:endParaRPr>
                    </a:p>
                    <a:p>
                      <a:r>
                        <a:rPr lang="en-US" sz="2000">
                          <a:effectLst/>
                        </a:rPr>
                        <a:t> </a:t>
                      </a:r>
                      <a:endParaRPr lang="en-US" sz="2000">
                        <a:effectLst/>
                      </a:endParaRPr>
                    </a:p>
                  </a:txBody>
                  <a:tcPr marL="71333" marR="71333" marT="35667" marB="35667" anchor="ctr">
                    <a:lnL>
                      <a:noFill/>
                    </a:lnL>
                    <a:lnR>
                      <a:noFill/>
                    </a:lnR>
                    <a:lnT>
                      <a:noFill/>
                    </a:lnT>
                    <a:lnB>
                      <a:noFill/>
                    </a:lnB>
                    <a:solidFill>
                      <a:srgbClr val="F2F2F2"/>
                    </a:solidFill>
                  </a:tcPr>
                </a:tc>
                <a:tc>
                  <a:txBody>
                    <a:bodyPr/>
                    <a:lstStyle/>
                    <a:p>
                      <a:pPr>
                        <a:buFont typeface="Arial" panose="020B0604020202020204" pitchFamily="34" charset="0"/>
                        <a:buChar char="•"/>
                      </a:pPr>
                      <a:r>
                        <a:rPr lang="en-US" sz="2000" u="sng" dirty="0">
                          <a:solidFill>
                            <a:srgbClr val="32323C"/>
                          </a:solidFill>
                          <a:effectLst/>
                        </a:rPr>
                        <a:t>Duodenum</a:t>
                      </a:r>
                      <a:endParaRPr lang="en-US" sz="2000" dirty="0">
                        <a:effectLst/>
                      </a:endParaRPr>
                    </a:p>
                    <a:p>
                      <a:pPr>
                        <a:buFont typeface="Arial" panose="020B0604020202020204" pitchFamily="34" charset="0"/>
                        <a:buChar char="•"/>
                      </a:pPr>
                      <a:r>
                        <a:rPr lang="en-US" sz="2000" dirty="0">
                          <a:effectLst/>
                        </a:rPr>
                        <a:t>Head of the </a:t>
                      </a:r>
                      <a:r>
                        <a:rPr lang="en-US" sz="2000" u="sng" dirty="0">
                          <a:solidFill>
                            <a:srgbClr val="32323C"/>
                          </a:solidFill>
                          <a:effectLst/>
                        </a:rPr>
                        <a:t>pancreas</a:t>
                      </a:r>
                      <a:endParaRPr lang="en-US" sz="2000" dirty="0">
                        <a:effectLst/>
                      </a:endParaRPr>
                    </a:p>
                    <a:p>
                      <a:pPr>
                        <a:buFont typeface="Arial" panose="020B0604020202020204" pitchFamily="34" charset="0"/>
                        <a:buChar char="•"/>
                      </a:pPr>
                      <a:r>
                        <a:rPr lang="en-US" sz="2000" u="sng" dirty="0">
                          <a:solidFill>
                            <a:srgbClr val="32323C"/>
                          </a:solidFill>
                          <a:effectLst/>
                        </a:rPr>
                        <a:t>Jejunum and ileum</a:t>
                      </a:r>
                      <a:endParaRPr lang="en-US" sz="2000" dirty="0">
                        <a:effectLst/>
                      </a:endParaRPr>
                    </a:p>
                  </a:txBody>
                  <a:tcPr marL="71333" marR="71333" marT="35667" marB="35667" anchor="ctr">
                    <a:lnL>
                      <a:noFill/>
                    </a:lnL>
                    <a:lnR>
                      <a:noFill/>
                    </a:lnR>
                    <a:lnT>
                      <a:noFill/>
                    </a:lnT>
                    <a:lnB>
                      <a:noFill/>
                    </a:lnB>
                    <a:solidFill>
                      <a:srgbClr val="F2F2F2"/>
                    </a:solidFill>
                  </a:tcPr>
                </a:tc>
              </a:tr>
              <a:tr h="2081956">
                <a:tc>
                  <a:txBody>
                    <a:bodyPr/>
                    <a:lstStyle/>
                    <a:p>
                      <a:r>
                        <a:rPr lang="en-US" sz="2000" b="1" dirty="0">
                          <a:effectLst/>
                          <a:latin typeface="Times New Roman" panose="02020603050405020304" pitchFamily="18" charset="0"/>
                          <a:cs typeface="Times New Roman" panose="02020603050405020304" pitchFamily="18" charset="0"/>
                        </a:rPr>
                        <a:t>Descending </a:t>
                      </a:r>
                      <a:r>
                        <a:rPr lang="en-US" sz="2000" b="1" dirty="0" smtClean="0">
                          <a:effectLst/>
                          <a:latin typeface="Times New Roman" panose="02020603050405020304" pitchFamily="18" charset="0"/>
                          <a:cs typeface="Times New Roman" panose="02020603050405020304" pitchFamily="18" charset="0"/>
                        </a:rPr>
                        <a:t>colon</a:t>
                      </a:r>
                      <a:endParaRPr lang="en-US" sz="2000" b="1" dirty="0" smtClean="0">
                        <a:effectLst/>
                        <a:latin typeface="Times New Roman" panose="02020603050405020304" pitchFamily="18" charset="0"/>
                        <a:cs typeface="Times New Roman" panose="02020603050405020304" pitchFamily="18" charset="0"/>
                      </a:endParaRPr>
                    </a:p>
                    <a:p>
                      <a:endParaRPr lang="en-GB" sz="2000" b="1" dirty="0" smtClean="0">
                        <a:effectLst/>
                      </a:endParaRPr>
                    </a:p>
                    <a:p>
                      <a:endParaRPr lang="en-GB" sz="2000" b="1" dirty="0" smtClean="0">
                        <a:effectLst/>
                      </a:endParaRPr>
                    </a:p>
                    <a:p>
                      <a:endParaRPr lang="en-GB" sz="2000" b="1" dirty="0" smtClean="0">
                        <a:effectLst/>
                      </a:endParaRPr>
                    </a:p>
                    <a:p>
                      <a:endParaRPr lang="en-GB" sz="2000" b="1" dirty="0" smtClean="0">
                        <a:effectLst/>
                      </a:endParaRPr>
                    </a:p>
                    <a:p>
                      <a:r>
                        <a:rPr lang="en-US" sz="2000" b="1" i="0" kern="1200" dirty="0" smtClean="0">
                          <a:solidFill>
                            <a:schemeClr val="tx1"/>
                          </a:solidFill>
                          <a:effectLst/>
                          <a:latin typeface="Times New Roman" panose="02020603050405020304" pitchFamily="18" charset="0"/>
                          <a:ea typeface="+mn-ea"/>
                          <a:cs typeface="Times New Roman" panose="02020603050405020304" pitchFamily="18" charset="0"/>
                        </a:rPr>
                        <a:t>Sigmoid colon</a:t>
                      </a:r>
                      <a:endParaRPr lang="en-US" sz="2000" dirty="0">
                        <a:effectLst/>
                        <a:latin typeface="Times New Roman" panose="02020603050405020304" pitchFamily="18" charset="0"/>
                        <a:cs typeface="Times New Roman" panose="02020603050405020304" pitchFamily="18" charset="0"/>
                      </a:endParaRPr>
                    </a:p>
                  </a:txBody>
                  <a:tcPr marL="71333" marR="71333" marT="35667" marB="35667" anchor="ctr">
                    <a:lnL>
                      <a:noFill/>
                    </a:lnL>
                    <a:lnR>
                      <a:noFill/>
                    </a:lnR>
                    <a:lnT>
                      <a:noFill/>
                    </a:lnT>
                    <a:lnB>
                      <a:noFill/>
                    </a:lnB>
                    <a:solidFill>
                      <a:srgbClr val="FFFFFF"/>
                    </a:solidFill>
                  </a:tcPr>
                </a:tc>
                <a:tc>
                  <a:txBody>
                    <a:bodyPr/>
                    <a:lstStyle/>
                    <a:p>
                      <a:pPr>
                        <a:buFont typeface="Arial" panose="020B0604020202020204" pitchFamily="34" charset="0"/>
                        <a:buChar char="•"/>
                      </a:pPr>
                      <a:r>
                        <a:rPr lang="en-US" sz="2000" dirty="0">
                          <a:effectLst/>
                        </a:rPr>
                        <a:t>Small intestine</a:t>
                      </a:r>
                      <a:endParaRPr lang="en-US" sz="2000" dirty="0">
                        <a:effectLst/>
                      </a:endParaRPr>
                    </a:p>
                    <a:p>
                      <a:pPr>
                        <a:buFont typeface="Arial" panose="020B0604020202020204" pitchFamily="34" charset="0"/>
                        <a:buChar char="•"/>
                      </a:pPr>
                      <a:r>
                        <a:rPr lang="en-US" sz="2000" dirty="0">
                          <a:effectLst/>
                        </a:rPr>
                        <a:t>Greater </a:t>
                      </a:r>
                      <a:r>
                        <a:rPr lang="en-US" sz="2000" dirty="0" err="1">
                          <a:effectLst/>
                        </a:rPr>
                        <a:t>omentum</a:t>
                      </a:r>
                      <a:endParaRPr lang="en-US" sz="2000" dirty="0">
                        <a:effectLst/>
                      </a:endParaRPr>
                    </a:p>
                    <a:p>
                      <a:pPr>
                        <a:buFont typeface="Arial" panose="020B0604020202020204" pitchFamily="34" charset="0"/>
                        <a:buChar char="•"/>
                      </a:pPr>
                      <a:r>
                        <a:rPr lang="en-US" sz="2000" dirty="0">
                          <a:effectLst/>
                        </a:rPr>
                        <a:t>Anterior abdominal wall</a:t>
                      </a:r>
                      <a:endParaRPr lang="en-US" sz="2000" dirty="0">
                        <a:effectLst/>
                      </a:endParaRPr>
                    </a:p>
                    <a:p>
                      <a:r>
                        <a:rPr lang="en-US" sz="2000" dirty="0">
                          <a:effectLst/>
                        </a:rPr>
                        <a:t> </a:t>
                      </a:r>
                      <a:endParaRPr lang="en-US" sz="2000" dirty="0" smtClean="0">
                        <a:effectLst/>
                      </a:endParaRPr>
                    </a:p>
                    <a:p>
                      <a:r>
                        <a:rPr lang="en-US" sz="2000" b="0" i="0" kern="1200" dirty="0" smtClean="0">
                          <a:solidFill>
                            <a:schemeClr val="tx1"/>
                          </a:solidFill>
                          <a:effectLst/>
                          <a:latin typeface="+mn-lt"/>
                          <a:ea typeface="+mn-ea"/>
                          <a:cs typeface="+mn-cs"/>
                        </a:rPr>
                        <a:t>Urinary </a:t>
                      </a:r>
                      <a:r>
                        <a:rPr lang="en-US" sz="2000" b="0" i="0" u="sng" kern="1200" dirty="0" smtClean="0">
                          <a:solidFill>
                            <a:schemeClr val="tx1"/>
                          </a:solidFill>
                          <a:effectLst/>
                          <a:latin typeface="+mn-lt"/>
                          <a:ea typeface="+mn-ea"/>
                          <a:cs typeface="+mn-cs"/>
                        </a:rPr>
                        <a:t>bladder</a:t>
                      </a:r>
                      <a:endParaRPr lang="en-US" sz="2000" b="0" i="0" kern="1200" dirty="0" smtClean="0">
                        <a:solidFill>
                          <a:schemeClr val="tx1"/>
                        </a:solidFill>
                        <a:effectLst/>
                        <a:latin typeface="+mn-lt"/>
                        <a:ea typeface="+mn-ea"/>
                        <a:cs typeface="+mn-cs"/>
                      </a:endParaRPr>
                    </a:p>
                    <a:p>
                      <a:r>
                        <a:rPr lang="en-US" sz="2000" b="0" i="0" u="sng" kern="1200" dirty="0" smtClean="0">
                          <a:solidFill>
                            <a:schemeClr val="tx1"/>
                          </a:solidFill>
                          <a:effectLst/>
                          <a:latin typeface="+mn-lt"/>
                          <a:ea typeface="+mn-ea"/>
                          <a:cs typeface="+mn-cs"/>
                          <a:hlinkClick r:id="rId1"/>
                        </a:rPr>
                        <a:t>Uterus </a:t>
                      </a:r>
                      <a:r>
                        <a:rPr lang="en-US" sz="2000" b="0" i="0" kern="1200" dirty="0" smtClean="0">
                          <a:solidFill>
                            <a:schemeClr val="tx1"/>
                          </a:solidFill>
                          <a:effectLst/>
                          <a:latin typeface="+mn-lt"/>
                          <a:ea typeface="+mn-ea"/>
                          <a:cs typeface="+mn-cs"/>
                        </a:rPr>
                        <a:t>and upper </a:t>
                      </a:r>
                      <a:r>
                        <a:rPr lang="en-US" sz="2000" b="0" i="0" u="sng" kern="1200" dirty="0" smtClean="0">
                          <a:solidFill>
                            <a:schemeClr val="tx1"/>
                          </a:solidFill>
                          <a:effectLst/>
                          <a:latin typeface="+mn-lt"/>
                          <a:ea typeface="+mn-ea"/>
                          <a:cs typeface="+mn-cs"/>
                          <a:hlinkClick r:id="rId2"/>
                        </a:rPr>
                        <a:t>vagina </a:t>
                      </a:r>
                      <a:r>
                        <a:rPr lang="en-US" sz="2000" b="0" i="0" kern="1200" dirty="0" smtClean="0">
                          <a:solidFill>
                            <a:schemeClr val="tx1"/>
                          </a:solidFill>
                          <a:effectLst/>
                          <a:latin typeface="+mn-lt"/>
                          <a:ea typeface="+mn-ea"/>
                          <a:cs typeface="+mn-cs"/>
                        </a:rPr>
                        <a:t>(females only)</a:t>
                      </a:r>
                      <a:endParaRPr lang="en-US" sz="2000" b="0" i="0" kern="1200" dirty="0" smtClean="0">
                        <a:solidFill>
                          <a:schemeClr val="tx1"/>
                        </a:solidFill>
                        <a:effectLst/>
                        <a:latin typeface="+mn-lt"/>
                        <a:ea typeface="+mn-ea"/>
                        <a:cs typeface="+mn-cs"/>
                      </a:endParaRPr>
                    </a:p>
                    <a:p>
                      <a:endParaRPr lang="en-US" sz="2000" dirty="0">
                        <a:effectLst/>
                      </a:endParaRPr>
                    </a:p>
                  </a:txBody>
                  <a:tcPr marL="71333" marR="71333" marT="35667" marB="35667" anchor="ctr">
                    <a:lnL>
                      <a:noFill/>
                    </a:lnL>
                    <a:lnR>
                      <a:noFill/>
                    </a:lnR>
                    <a:lnT>
                      <a:noFill/>
                    </a:lnT>
                    <a:lnB>
                      <a:noFill/>
                    </a:lnB>
                    <a:solidFill>
                      <a:srgbClr val="FFFFFF"/>
                    </a:solidFill>
                  </a:tcPr>
                </a:tc>
                <a:tc>
                  <a:txBody>
                    <a:bodyPr/>
                    <a:lstStyle/>
                    <a:p>
                      <a:pPr>
                        <a:buFont typeface="Arial" panose="020B0604020202020204" pitchFamily="34" charset="0"/>
                        <a:buNone/>
                      </a:pPr>
                      <a:r>
                        <a:rPr lang="en-US" sz="2000" dirty="0" err="1">
                          <a:effectLst/>
                        </a:rPr>
                        <a:t>Iliacus</a:t>
                      </a:r>
                      <a:r>
                        <a:rPr lang="en-US" sz="2000" dirty="0">
                          <a:effectLst/>
                        </a:rPr>
                        <a:t> and </a:t>
                      </a:r>
                      <a:r>
                        <a:rPr lang="en-US" sz="2000" dirty="0" err="1" smtClean="0">
                          <a:effectLst/>
                        </a:rPr>
                        <a:t>quadratus</a:t>
                      </a:r>
                      <a:r>
                        <a:rPr lang="en-US" sz="2000" dirty="0" smtClean="0">
                          <a:effectLst/>
                        </a:rPr>
                        <a:t> </a:t>
                      </a:r>
                      <a:r>
                        <a:rPr lang="en-US" sz="2000" b="0" i="0" kern="1200" dirty="0" err="1" smtClean="0">
                          <a:solidFill>
                            <a:schemeClr val="tx1"/>
                          </a:solidFill>
                          <a:effectLst/>
                          <a:latin typeface="+mn-lt"/>
                          <a:ea typeface="+mn-ea"/>
                          <a:cs typeface="+mn-cs"/>
                        </a:rPr>
                        <a:t>lumborum</a:t>
                      </a:r>
                      <a:endParaRPr lang="en-US" sz="2000" b="0" i="0" kern="1200" dirty="0" smtClean="0">
                        <a:solidFill>
                          <a:schemeClr val="tx1"/>
                        </a:solidFill>
                        <a:effectLst/>
                        <a:latin typeface="+mn-lt"/>
                        <a:ea typeface="+mn-ea"/>
                        <a:cs typeface="+mn-cs"/>
                      </a:endParaRPr>
                    </a:p>
                    <a:p>
                      <a:r>
                        <a:rPr lang="en-US" sz="2000" b="0" i="0" kern="1200" dirty="0" smtClean="0">
                          <a:solidFill>
                            <a:schemeClr val="tx1"/>
                          </a:solidFill>
                          <a:effectLst/>
                          <a:latin typeface="+mn-lt"/>
                          <a:ea typeface="+mn-ea"/>
                          <a:cs typeface="+mn-cs"/>
                        </a:rPr>
                        <a:t>Left </a:t>
                      </a:r>
                      <a:r>
                        <a:rPr lang="en-US" sz="2000" b="0" i="0" u="sng" kern="1200" dirty="0" smtClean="0">
                          <a:solidFill>
                            <a:schemeClr val="tx1"/>
                          </a:solidFill>
                          <a:effectLst/>
                          <a:latin typeface="+mn-lt"/>
                          <a:ea typeface="+mn-ea"/>
                          <a:cs typeface="+mn-cs"/>
                        </a:rPr>
                        <a:t>kidney</a:t>
                      </a:r>
                      <a:endParaRPr lang="en-US" sz="2000" b="0" i="0" kern="1200" dirty="0" smtClean="0">
                        <a:solidFill>
                          <a:schemeClr val="tx1"/>
                        </a:solidFill>
                        <a:effectLst/>
                        <a:latin typeface="+mn-lt"/>
                        <a:ea typeface="+mn-ea"/>
                        <a:cs typeface="+mn-cs"/>
                      </a:endParaRPr>
                    </a:p>
                    <a:p>
                      <a:r>
                        <a:rPr lang="en-US" sz="2000" b="0" i="0" kern="1200" dirty="0" smtClean="0">
                          <a:solidFill>
                            <a:schemeClr val="tx1"/>
                          </a:solidFill>
                          <a:effectLst/>
                          <a:latin typeface="+mn-lt"/>
                          <a:ea typeface="+mn-ea"/>
                          <a:cs typeface="+mn-cs"/>
                        </a:rPr>
                        <a:t>Sacrum</a:t>
                      </a:r>
                      <a:endParaRPr lang="en-US" sz="2000" b="0" i="0" kern="1200" dirty="0" smtClean="0">
                        <a:solidFill>
                          <a:schemeClr val="tx1"/>
                        </a:solidFill>
                        <a:effectLst/>
                        <a:latin typeface="+mn-lt"/>
                        <a:ea typeface="+mn-ea"/>
                        <a:cs typeface="+mn-cs"/>
                      </a:endParaRPr>
                    </a:p>
                    <a:p>
                      <a:r>
                        <a:rPr lang="en-US" sz="2000" b="0" i="0" kern="1200" dirty="0" smtClean="0">
                          <a:solidFill>
                            <a:schemeClr val="tx1"/>
                          </a:solidFill>
                          <a:effectLst/>
                          <a:latin typeface="+mn-lt"/>
                          <a:ea typeface="+mn-ea"/>
                          <a:cs typeface="+mn-cs"/>
                        </a:rPr>
                        <a:t>Ileum</a:t>
                      </a:r>
                      <a:endParaRPr lang="en-US" sz="2000" b="0" i="0" kern="1200" dirty="0" smtClean="0">
                        <a:solidFill>
                          <a:schemeClr val="tx1"/>
                        </a:solidFill>
                        <a:effectLst/>
                        <a:latin typeface="+mn-lt"/>
                        <a:ea typeface="+mn-ea"/>
                        <a:cs typeface="+mn-cs"/>
                      </a:endParaRPr>
                    </a:p>
                    <a:p>
                      <a:pPr>
                        <a:buFont typeface="Arial" panose="020B0604020202020204" pitchFamily="34" charset="0"/>
                        <a:buChar char="•"/>
                      </a:pPr>
                      <a:endParaRPr lang="en-US" sz="2000" dirty="0">
                        <a:effectLst/>
                      </a:endParaRPr>
                    </a:p>
                  </a:txBody>
                  <a:tcPr marL="71333" marR="71333" marT="35667" marB="35667" anchor="ctr">
                    <a:lnL>
                      <a:noFill/>
                    </a:lnL>
                    <a:lnR>
                      <a:noFill/>
                    </a:lnR>
                    <a:lnT>
                      <a:noFill/>
                    </a:lnT>
                    <a:lnB>
                      <a:noFill/>
                    </a:lnB>
                    <a:solidFill>
                      <a:srgbClr val="FFFFFF"/>
                    </a:solidFill>
                  </a:tcPr>
                </a:tc>
              </a:tr>
            </a:tbl>
          </a:graphicData>
        </a:graphic>
      </p:graphicFrame>
      <p:sp>
        <p:nvSpPr>
          <p:cNvPr id="5" name="Rectangle 2"/>
          <p:cNvSpPr>
            <a:spLocks noChangeArrowheads="1"/>
          </p:cNvSpPr>
          <p:nvPr/>
        </p:nvSpPr>
        <p:spPr bwMode="auto">
          <a:xfrm>
            <a:off x="87495" y="-13083"/>
            <a:ext cx="12104505" cy="784830"/>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sz="24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Anatomical Relations</a:t>
            </a:r>
            <a:endParaRPr kumimoji="0" lang="en-US" sz="24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400" b="0" i="0" u="none" strike="noStrike" cap="none" normalizeH="0" baseline="0" dirty="0" smtClean="0">
                <a:ln>
                  <a:noFill/>
                </a:ln>
                <a:solidFill>
                  <a:srgbClr val="32323C"/>
                </a:solidFill>
                <a:effectLst/>
                <a:latin typeface="Times New Roman" panose="02020603050405020304" pitchFamily="18" charset="0"/>
                <a:cs typeface="Times New Roman" panose="02020603050405020304" pitchFamily="18" charset="0"/>
              </a:rPr>
              <a:t>The colon has numerous important anatomical relations in the abdomen</a:t>
            </a:r>
            <a:endPar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53016" cy="7386638"/>
          </a:xfrm>
          <a:prstGeom prst="rect">
            <a:avLst/>
          </a:prstGeom>
        </p:spPr>
        <p:txBody>
          <a:bodyPr wrap="square">
            <a:spAutoFit/>
          </a:bodyPr>
          <a:lstStyle/>
          <a:p>
            <a:r>
              <a:rPr lang="en-US" sz="2400" b="1" i="0" dirty="0" smtClean="0">
                <a:solidFill>
                  <a:srgbClr val="C00000"/>
                </a:solidFill>
                <a:effectLst/>
                <a:latin typeface="Times New Roman" panose="02020603050405020304" pitchFamily="18" charset="0"/>
                <a:cs typeface="Times New Roman" panose="02020603050405020304" pitchFamily="18" charset="0"/>
              </a:rPr>
              <a:t>Neurovascular Supply</a:t>
            </a:r>
            <a:endParaRPr lang="en-US" sz="2400" b="1" i="0" dirty="0" smtClean="0">
              <a:solidFill>
                <a:srgbClr val="C00000"/>
              </a:solidFill>
              <a:effectLst/>
              <a:latin typeface="Times New Roman" panose="02020603050405020304" pitchFamily="18" charset="0"/>
              <a:cs typeface="Times New Roman" panose="02020603050405020304" pitchFamily="18" charset="0"/>
            </a:endParaRPr>
          </a:p>
          <a:p>
            <a:pPr algn="just"/>
            <a:r>
              <a:rPr lang="en-US" sz="2400" b="0" i="0" dirty="0" smtClean="0">
                <a:solidFill>
                  <a:srgbClr val="32323C"/>
                </a:solidFill>
                <a:effectLst/>
                <a:latin typeface="Times New Roman" panose="02020603050405020304" pitchFamily="18" charset="0"/>
                <a:cs typeface="Times New Roman" panose="02020603050405020304" pitchFamily="18" charset="0"/>
              </a:rPr>
              <a:t>The neurovascular supply to the colon is closely linked to its embryological origin:</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Ascending colon and proximal 2/3 of the transverse colon – derived from the </a:t>
            </a:r>
            <a:r>
              <a:rPr lang="en-US" sz="2400" b="1" i="0" dirty="0" err="1" smtClean="0">
                <a:solidFill>
                  <a:srgbClr val="32323C"/>
                </a:solidFill>
                <a:effectLst/>
                <a:latin typeface="Times New Roman" panose="02020603050405020304" pitchFamily="18" charset="0"/>
                <a:cs typeface="Times New Roman" panose="02020603050405020304" pitchFamily="18" charset="0"/>
              </a:rPr>
              <a:t>midgut</a:t>
            </a:r>
            <a:r>
              <a:rPr lang="en-US" sz="2400" b="0" i="0" dirty="0" smtClean="0">
                <a:solidFill>
                  <a:srgbClr val="32323C"/>
                </a:solidFill>
                <a:effectLst/>
                <a:latin typeface="Times New Roman" panose="02020603050405020304" pitchFamily="18" charset="0"/>
                <a:cs typeface="Times New Roman" panose="02020603050405020304" pitchFamily="18" charset="0"/>
              </a:rPr>
              <a:t>.</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Distal 1/3 of the transverse colon, descending colon and sigmoid colon – derived from the </a:t>
            </a:r>
            <a:r>
              <a:rPr lang="en-US" sz="2400" b="1" i="0" dirty="0" smtClean="0">
                <a:solidFill>
                  <a:srgbClr val="32323C"/>
                </a:solidFill>
                <a:effectLst/>
                <a:latin typeface="Times New Roman" panose="02020603050405020304" pitchFamily="18" charset="0"/>
                <a:cs typeface="Times New Roman" panose="02020603050405020304" pitchFamily="18" charset="0"/>
              </a:rPr>
              <a:t>hindgut</a:t>
            </a:r>
            <a:r>
              <a:rPr lang="en-US" sz="2400" b="0" i="0" dirty="0" smtClean="0">
                <a:solidFill>
                  <a:srgbClr val="32323C"/>
                </a:solidFill>
                <a:effectLst/>
                <a:latin typeface="Times New Roman" panose="02020603050405020304" pitchFamily="18" charset="0"/>
                <a:cs typeface="Times New Roman" panose="02020603050405020304" pitchFamily="18" charset="0"/>
              </a:rPr>
              <a:t>.</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r>
              <a:rPr lang="en-US" sz="2400" b="1" i="0" dirty="0" smtClean="0">
                <a:solidFill>
                  <a:srgbClr val="C00000"/>
                </a:solidFill>
                <a:effectLst/>
                <a:latin typeface="Times New Roman" panose="02020603050405020304" pitchFamily="18" charset="0"/>
                <a:cs typeface="Times New Roman" panose="02020603050405020304" pitchFamily="18" charset="0"/>
              </a:rPr>
              <a:t>Arterial Supply</a:t>
            </a:r>
            <a:endParaRPr lang="en-US" sz="2400" b="1" i="0" dirty="0" smtClean="0">
              <a:solidFill>
                <a:srgbClr val="C00000"/>
              </a:solidFill>
              <a:effectLst/>
              <a:latin typeface="Times New Roman" panose="02020603050405020304" pitchFamily="18" charset="0"/>
              <a:cs typeface="Times New Roman" panose="02020603050405020304" pitchFamily="18" charset="0"/>
            </a:endParaRPr>
          </a:p>
          <a:p>
            <a:pPr algn="just"/>
            <a:r>
              <a:rPr lang="en-US" sz="2400" b="0" i="0" dirty="0" smtClean="0">
                <a:solidFill>
                  <a:srgbClr val="32323C"/>
                </a:solidFill>
                <a:effectLst/>
                <a:latin typeface="Times New Roman" panose="02020603050405020304" pitchFamily="18" charset="0"/>
                <a:cs typeface="Times New Roman" panose="02020603050405020304" pitchFamily="18" charset="0"/>
              </a:rPr>
              <a:t>As a general rule, </a:t>
            </a:r>
            <a:r>
              <a:rPr lang="en-US" sz="2400" b="0" i="0" dirty="0" err="1" smtClean="0">
                <a:solidFill>
                  <a:srgbClr val="32323C"/>
                </a:solidFill>
                <a:effectLst/>
                <a:latin typeface="Times New Roman" panose="02020603050405020304" pitchFamily="18" charset="0"/>
                <a:cs typeface="Times New Roman" panose="02020603050405020304" pitchFamily="18" charset="0"/>
              </a:rPr>
              <a:t>midgut</a:t>
            </a:r>
            <a:r>
              <a:rPr lang="en-US" sz="2400" b="0" i="0" dirty="0" smtClean="0">
                <a:solidFill>
                  <a:srgbClr val="32323C"/>
                </a:solidFill>
                <a:effectLst/>
                <a:latin typeface="Times New Roman" panose="02020603050405020304" pitchFamily="18" charset="0"/>
                <a:cs typeface="Times New Roman" panose="02020603050405020304" pitchFamily="18" charset="0"/>
              </a:rPr>
              <a:t>-derived structures are supplied by the </a:t>
            </a:r>
            <a:r>
              <a:rPr lang="en-US" sz="2400" b="1" i="0" u="none" strike="noStrike" dirty="0" smtClean="0">
                <a:effectLst/>
                <a:latin typeface="Times New Roman" panose="02020603050405020304" pitchFamily="18" charset="0"/>
                <a:cs typeface="Times New Roman" panose="02020603050405020304" pitchFamily="18" charset="0"/>
              </a:rPr>
              <a:t>superior mesenteric artery</a:t>
            </a:r>
            <a:r>
              <a:rPr lang="en-US" sz="2400" b="0" i="0" dirty="0" smtClean="0">
                <a:solidFill>
                  <a:srgbClr val="32323C"/>
                </a:solidFill>
                <a:effectLst/>
                <a:latin typeface="Times New Roman" panose="02020603050405020304" pitchFamily="18" charset="0"/>
                <a:cs typeface="Times New Roman" panose="02020603050405020304" pitchFamily="18" charset="0"/>
              </a:rPr>
              <a:t>, and hindgut-derived structures by the </a:t>
            </a:r>
            <a:r>
              <a:rPr lang="en-US" sz="2400" b="1" i="0" u="none" strike="noStrike" dirty="0" smtClean="0">
                <a:effectLst/>
                <a:latin typeface="Times New Roman" panose="02020603050405020304" pitchFamily="18" charset="0"/>
                <a:cs typeface="Times New Roman" panose="02020603050405020304" pitchFamily="18" charset="0"/>
              </a:rPr>
              <a:t>inferior mesenteric artery</a:t>
            </a:r>
            <a:r>
              <a:rPr lang="en-US" sz="2400" b="0" i="0" dirty="0" smtClean="0">
                <a:solidFill>
                  <a:srgbClr val="32323C"/>
                </a:solidFill>
                <a:effectLst/>
                <a:latin typeface="Times New Roman" panose="02020603050405020304" pitchFamily="18" charset="0"/>
                <a:cs typeface="Times New Roman" panose="02020603050405020304" pitchFamily="18" charset="0"/>
              </a:rPr>
              <a:t>.</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r>
              <a:rPr lang="en-US" sz="2400" b="0" i="0" dirty="0" smtClean="0">
                <a:solidFill>
                  <a:srgbClr val="32323C"/>
                </a:solidFill>
                <a:effectLst/>
                <a:latin typeface="Times New Roman" panose="02020603050405020304" pitchFamily="18" charset="0"/>
                <a:cs typeface="Times New Roman" panose="02020603050405020304" pitchFamily="18" charset="0"/>
              </a:rPr>
              <a:t>The ascending colon receives arterial supply from two branches of the </a:t>
            </a:r>
            <a:r>
              <a:rPr lang="en-US" sz="2400" b="1" i="0" dirty="0" smtClean="0">
                <a:solidFill>
                  <a:srgbClr val="32323C"/>
                </a:solidFill>
                <a:effectLst/>
                <a:latin typeface="Times New Roman" panose="02020603050405020304" pitchFamily="18" charset="0"/>
                <a:cs typeface="Times New Roman" panose="02020603050405020304" pitchFamily="18" charset="0"/>
              </a:rPr>
              <a:t>superior mesenteric artery;</a:t>
            </a:r>
            <a:r>
              <a:rPr lang="en-US" sz="2400" b="0" i="0" dirty="0" smtClean="0">
                <a:solidFill>
                  <a:srgbClr val="32323C"/>
                </a:solidFill>
                <a:effectLst/>
                <a:latin typeface="Times New Roman" panose="02020603050405020304" pitchFamily="18" charset="0"/>
                <a:cs typeface="Times New Roman" panose="02020603050405020304" pitchFamily="18" charset="0"/>
              </a:rPr>
              <a:t> the </a:t>
            </a:r>
            <a:r>
              <a:rPr lang="en-US" sz="2400" b="1" i="0" dirty="0" err="1" smtClean="0">
                <a:solidFill>
                  <a:srgbClr val="32323C"/>
                </a:solidFill>
                <a:effectLst/>
                <a:latin typeface="Times New Roman" panose="02020603050405020304" pitchFamily="18" charset="0"/>
                <a:cs typeface="Times New Roman" panose="02020603050405020304" pitchFamily="18" charset="0"/>
              </a:rPr>
              <a:t>ileocolic</a:t>
            </a:r>
            <a:r>
              <a:rPr lang="en-US" sz="2400" b="0" i="0" dirty="0" smtClean="0">
                <a:solidFill>
                  <a:srgbClr val="32323C"/>
                </a:solidFill>
                <a:effectLst/>
                <a:latin typeface="Times New Roman" panose="02020603050405020304" pitchFamily="18" charset="0"/>
                <a:cs typeface="Times New Roman" panose="02020603050405020304" pitchFamily="18" charset="0"/>
              </a:rPr>
              <a:t> and </a:t>
            </a:r>
            <a:r>
              <a:rPr lang="en-US" sz="2400" b="1" i="0" dirty="0" smtClean="0">
                <a:solidFill>
                  <a:srgbClr val="32323C"/>
                </a:solidFill>
                <a:effectLst/>
                <a:latin typeface="Times New Roman" panose="02020603050405020304" pitchFamily="18" charset="0"/>
                <a:cs typeface="Times New Roman" panose="02020603050405020304" pitchFamily="18" charset="0"/>
              </a:rPr>
              <a:t>right colic </a:t>
            </a:r>
            <a:r>
              <a:rPr lang="en-US" sz="2400" b="0" i="0" dirty="0" smtClean="0">
                <a:solidFill>
                  <a:srgbClr val="32323C"/>
                </a:solidFill>
                <a:effectLst/>
                <a:latin typeface="Times New Roman" panose="02020603050405020304" pitchFamily="18" charset="0"/>
                <a:cs typeface="Times New Roman" panose="02020603050405020304" pitchFamily="18" charset="0"/>
              </a:rPr>
              <a:t>arteries. The </a:t>
            </a:r>
            <a:r>
              <a:rPr lang="en-US" sz="2400" b="0" i="0" dirty="0" err="1" smtClean="0">
                <a:solidFill>
                  <a:srgbClr val="32323C"/>
                </a:solidFill>
                <a:effectLst/>
                <a:latin typeface="Times New Roman" panose="02020603050405020304" pitchFamily="18" charset="0"/>
                <a:cs typeface="Times New Roman" panose="02020603050405020304" pitchFamily="18" charset="0"/>
              </a:rPr>
              <a:t>ileocolic</a:t>
            </a:r>
            <a:r>
              <a:rPr lang="en-US" sz="2400" b="0" i="0" dirty="0" smtClean="0">
                <a:solidFill>
                  <a:srgbClr val="32323C"/>
                </a:solidFill>
                <a:effectLst/>
                <a:latin typeface="Times New Roman" panose="02020603050405020304" pitchFamily="18" charset="0"/>
                <a:cs typeface="Times New Roman" panose="02020603050405020304" pitchFamily="18" charset="0"/>
              </a:rPr>
              <a:t> artery gives rise to colic, anterior </a:t>
            </a:r>
            <a:r>
              <a:rPr lang="en-US" sz="2400" b="0" i="0" dirty="0" err="1" smtClean="0">
                <a:solidFill>
                  <a:srgbClr val="32323C"/>
                </a:solidFill>
                <a:effectLst/>
                <a:latin typeface="Times New Roman" panose="02020603050405020304" pitchFamily="18" charset="0"/>
                <a:cs typeface="Times New Roman" panose="02020603050405020304" pitchFamily="18" charset="0"/>
              </a:rPr>
              <a:t>cecal</a:t>
            </a:r>
            <a:r>
              <a:rPr lang="en-US" sz="2400" b="0" i="0" dirty="0" smtClean="0">
                <a:solidFill>
                  <a:srgbClr val="32323C"/>
                </a:solidFill>
                <a:effectLst/>
                <a:latin typeface="Times New Roman" panose="02020603050405020304" pitchFamily="18" charset="0"/>
                <a:cs typeface="Times New Roman" panose="02020603050405020304" pitchFamily="18" charset="0"/>
              </a:rPr>
              <a:t> and posterior </a:t>
            </a:r>
            <a:r>
              <a:rPr lang="en-US" sz="2400" b="0" i="0" dirty="0" err="1" smtClean="0">
                <a:solidFill>
                  <a:srgbClr val="32323C"/>
                </a:solidFill>
                <a:effectLst/>
                <a:latin typeface="Times New Roman" panose="02020603050405020304" pitchFamily="18" charset="0"/>
                <a:cs typeface="Times New Roman" panose="02020603050405020304" pitchFamily="18" charset="0"/>
              </a:rPr>
              <a:t>cecal</a:t>
            </a:r>
            <a:r>
              <a:rPr lang="en-US" sz="2400" b="0" i="0" dirty="0" smtClean="0">
                <a:solidFill>
                  <a:srgbClr val="32323C"/>
                </a:solidFill>
                <a:effectLst/>
                <a:latin typeface="Times New Roman" panose="02020603050405020304" pitchFamily="18" charset="0"/>
                <a:cs typeface="Times New Roman" panose="02020603050405020304" pitchFamily="18" charset="0"/>
              </a:rPr>
              <a:t> branches – all of which supply the ascending colon.</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r>
              <a:rPr lang="en-US" sz="2400" b="0" i="0" dirty="0" smtClean="0">
                <a:solidFill>
                  <a:srgbClr val="32323C"/>
                </a:solidFill>
                <a:effectLst/>
                <a:latin typeface="Times New Roman" panose="02020603050405020304" pitchFamily="18" charset="0"/>
                <a:cs typeface="Times New Roman" panose="02020603050405020304" pitchFamily="18" charset="0"/>
              </a:rPr>
              <a:t>The transverse colon is derived from both the </a:t>
            </a:r>
            <a:r>
              <a:rPr lang="en-US" sz="2400" b="0" i="0" dirty="0" err="1" smtClean="0">
                <a:solidFill>
                  <a:srgbClr val="32323C"/>
                </a:solidFill>
                <a:effectLst/>
                <a:latin typeface="Times New Roman" panose="02020603050405020304" pitchFamily="18" charset="0"/>
                <a:cs typeface="Times New Roman" panose="02020603050405020304" pitchFamily="18" charset="0"/>
              </a:rPr>
              <a:t>midgut</a:t>
            </a:r>
            <a:r>
              <a:rPr lang="en-US" sz="2400" b="0" i="0" dirty="0" smtClean="0">
                <a:solidFill>
                  <a:srgbClr val="32323C"/>
                </a:solidFill>
                <a:effectLst/>
                <a:latin typeface="Times New Roman" panose="02020603050405020304" pitchFamily="18" charset="0"/>
                <a:cs typeface="Times New Roman" panose="02020603050405020304" pitchFamily="18" charset="0"/>
              </a:rPr>
              <a:t> and hindgut, and so it is supplied by branches of the superior mesenteric artery and inferior mesenteric artery:</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r>
              <a:rPr lang="en-US" sz="2400" b="1" i="0" dirty="0" smtClean="0">
                <a:solidFill>
                  <a:srgbClr val="32323C"/>
                </a:solidFill>
                <a:effectLst/>
                <a:latin typeface="Times New Roman" panose="02020603050405020304" pitchFamily="18" charset="0"/>
                <a:cs typeface="Times New Roman" panose="02020603050405020304" pitchFamily="18" charset="0"/>
              </a:rPr>
              <a:t>Right colic artery</a:t>
            </a:r>
            <a:r>
              <a:rPr lang="en-US" sz="2400" b="0" i="0" dirty="0" smtClean="0">
                <a:solidFill>
                  <a:srgbClr val="32323C"/>
                </a:solidFill>
                <a:effectLst/>
                <a:latin typeface="Times New Roman" panose="02020603050405020304" pitchFamily="18" charset="0"/>
                <a:cs typeface="Times New Roman" panose="02020603050405020304" pitchFamily="18" charset="0"/>
              </a:rPr>
              <a:t> (from the superior mesenteric artery)</a:t>
            </a:r>
            <a:r>
              <a:rPr lang="en-US" sz="2400" b="1" dirty="0">
                <a:latin typeface="Times New Roman" panose="02020603050405020304" pitchFamily="18" charset="0"/>
                <a:cs typeface="Times New Roman" panose="02020603050405020304" pitchFamily="18" charset="0"/>
              </a:rPr>
              <a:t> Middle colic artery</a:t>
            </a:r>
            <a:r>
              <a:rPr lang="en-US" sz="2400" dirty="0">
                <a:latin typeface="Times New Roman" panose="02020603050405020304" pitchFamily="18" charset="0"/>
                <a:cs typeface="Times New Roman" panose="02020603050405020304" pitchFamily="18" charset="0"/>
              </a:rPr>
              <a:t> (from the superior mesenteric artery)</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Left colic artery</a:t>
            </a:r>
            <a:r>
              <a:rPr lang="en-US" sz="2400" dirty="0">
                <a:latin typeface="Times New Roman" panose="02020603050405020304" pitchFamily="18" charset="0"/>
                <a:cs typeface="Times New Roman" panose="02020603050405020304" pitchFamily="18" charset="0"/>
              </a:rPr>
              <a:t> (from the inferior mesenteric artery)</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descending colon is supplied by a single branch of the inferior mesenteric artery; the </a:t>
            </a:r>
            <a:r>
              <a:rPr lang="en-US" sz="2400" b="1" dirty="0">
                <a:latin typeface="Times New Roman" panose="02020603050405020304" pitchFamily="18" charset="0"/>
                <a:cs typeface="Times New Roman" panose="02020603050405020304" pitchFamily="18" charset="0"/>
              </a:rPr>
              <a:t>left colic artery</a:t>
            </a:r>
            <a:r>
              <a:rPr lang="en-US" sz="2400" dirty="0">
                <a:latin typeface="Times New Roman" panose="02020603050405020304" pitchFamily="18" charset="0"/>
                <a:cs typeface="Times New Roman" panose="02020603050405020304" pitchFamily="18" charset="0"/>
              </a:rPr>
              <a:t>. The </a:t>
            </a:r>
            <a:r>
              <a:rPr lang="en-US" sz="2400" b="1" dirty="0">
                <a:latin typeface="Times New Roman" panose="02020603050405020304" pitchFamily="18" charset="0"/>
                <a:cs typeface="Times New Roman" panose="02020603050405020304" pitchFamily="18" charset="0"/>
              </a:rPr>
              <a:t>sigmoid colon</a:t>
            </a:r>
            <a:r>
              <a:rPr lang="en-US" sz="2400" dirty="0">
                <a:latin typeface="Times New Roman" panose="02020603050405020304" pitchFamily="18" charset="0"/>
                <a:cs typeface="Times New Roman" panose="02020603050405020304" pitchFamily="18" charset="0"/>
              </a:rPr>
              <a:t> receives arterial supply via the sigmoid arteries (branches of the inferior mesenteric artery).</a:t>
            </a: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b="0" i="0" dirty="0">
              <a:solidFill>
                <a:srgbClr val="32323C"/>
              </a:solidFill>
              <a:effectLst/>
              <a:latin typeface="acumin-pr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8007" y="0"/>
            <a:ext cx="11895746" cy="4832092"/>
          </a:xfrm>
          <a:prstGeom prst="rect">
            <a:avLst/>
          </a:prstGeom>
        </p:spPr>
        <p:txBody>
          <a:bodyPr wrap="square">
            <a:spAutoFit/>
          </a:bodyPr>
          <a:lstStyle/>
          <a:p>
            <a:r>
              <a:rPr lang="en-US" sz="2800" b="1" i="0" dirty="0" smtClean="0">
                <a:solidFill>
                  <a:srgbClr val="C00000"/>
                </a:solidFill>
                <a:effectLst/>
                <a:latin typeface="Times New Roman" panose="02020603050405020304" pitchFamily="18" charset="0"/>
                <a:cs typeface="Times New Roman" panose="02020603050405020304" pitchFamily="18" charset="0"/>
              </a:rPr>
              <a:t>Marginal Artery of Drummond</a:t>
            </a:r>
            <a:endParaRPr lang="en-US" sz="2800" b="1" i="0" dirty="0" smtClean="0">
              <a:solidFill>
                <a:srgbClr val="C00000"/>
              </a:solidFill>
              <a:effectLst/>
              <a:latin typeface="Times New Roman" panose="02020603050405020304" pitchFamily="18" charset="0"/>
              <a:cs typeface="Times New Roman" panose="02020603050405020304" pitchFamily="18" charset="0"/>
            </a:endParaRPr>
          </a:p>
          <a:p>
            <a:endParaRPr lang="en-US" sz="2800" b="0" i="0" dirty="0" smtClean="0">
              <a:effectLst/>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b="0" i="0" dirty="0" smtClean="0">
                <a:effectLst/>
                <a:latin typeface="Times New Roman" panose="02020603050405020304" pitchFamily="18" charset="0"/>
                <a:cs typeface="Times New Roman" panose="02020603050405020304" pitchFamily="18" charset="0"/>
              </a:rPr>
              <a:t>The marginal artery (of Drummond) is a clinically important vessel that provides </a:t>
            </a:r>
            <a:r>
              <a:rPr lang="en-US" sz="2800" b="1" i="0" dirty="0" smtClean="0">
                <a:effectLst/>
                <a:latin typeface="Times New Roman" panose="02020603050405020304" pitchFamily="18" charset="0"/>
                <a:cs typeface="Times New Roman" panose="02020603050405020304" pitchFamily="18" charset="0"/>
              </a:rPr>
              <a:t>collateral supply</a:t>
            </a:r>
            <a:r>
              <a:rPr lang="en-US" sz="2800" b="0" i="0" dirty="0" smtClean="0">
                <a:effectLst/>
                <a:latin typeface="Times New Roman" panose="02020603050405020304" pitchFamily="18" charset="0"/>
                <a:cs typeface="Times New Roman" panose="02020603050405020304" pitchFamily="18" charset="0"/>
              </a:rPr>
              <a:t> to the colon – thereby maintaining arterial supply in the case of occlusion or stenosis of one of the major vessels.</a:t>
            </a:r>
            <a:endParaRPr lang="en-US" sz="2800" b="0" i="0" dirty="0" smtClean="0">
              <a:effectLst/>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b="0" i="0" dirty="0" smtClean="0">
                <a:effectLst/>
                <a:latin typeface="Times New Roman" panose="02020603050405020304" pitchFamily="18" charset="0"/>
                <a:cs typeface="Times New Roman" panose="02020603050405020304" pitchFamily="18" charset="0"/>
              </a:rPr>
              <a:t>As the terminal vessels of the superior mesenteric and inferior mesenteric artery approach the colon, they split into many branches, which </a:t>
            </a:r>
            <a:r>
              <a:rPr lang="en-US" sz="2800" b="1" i="0" dirty="0" smtClean="0">
                <a:effectLst/>
                <a:latin typeface="Times New Roman" panose="02020603050405020304" pitchFamily="18" charset="0"/>
                <a:cs typeface="Times New Roman" panose="02020603050405020304" pitchFamily="18" charset="0"/>
              </a:rPr>
              <a:t>anastomose</a:t>
            </a:r>
            <a:r>
              <a:rPr lang="en-US" sz="2800" b="0" i="0" dirty="0" smtClean="0">
                <a:effectLst/>
                <a:latin typeface="Times New Roman" panose="02020603050405020304" pitchFamily="18" charset="0"/>
                <a:cs typeface="Times New Roman" panose="02020603050405020304" pitchFamily="18" charset="0"/>
              </a:rPr>
              <a:t> with each other. </a:t>
            </a:r>
            <a:endParaRPr lang="en-US" sz="2800" b="0" i="0" dirty="0" smtClean="0">
              <a:effectLst/>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b="0" i="0" dirty="0" smtClean="0">
                <a:effectLst/>
                <a:latin typeface="Times New Roman" panose="02020603050405020304" pitchFamily="18" charset="0"/>
                <a:cs typeface="Times New Roman" panose="02020603050405020304" pitchFamily="18" charset="0"/>
              </a:rPr>
              <a:t>These anastomoses form a continuous arterial channel which extends the length of the colon – the </a:t>
            </a:r>
            <a:r>
              <a:rPr lang="en-US" sz="2800" b="1" i="0" dirty="0" smtClean="0">
                <a:effectLst/>
                <a:latin typeface="Times New Roman" panose="02020603050405020304" pitchFamily="18" charset="0"/>
                <a:cs typeface="Times New Roman" panose="02020603050405020304" pitchFamily="18" charset="0"/>
              </a:rPr>
              <a:t>marginal artery</a:t>
            </a:r>
            <a:r>
              <a:rPr lang="en-US" sz="2800" b="0" i="0" dirty="0" smtClean="0">
                <a:effectLst/>
                <a:latin typeface="Times New Roman" panose="02020603050405020304" pitchFamily="18" charset="0"/>
                <a:cs typeface="Times New Roman" panose="02020603050405020304" pitchFamily="18" charset="0"/>
              </a:rPr>
              <a:t>. Long, straight arterial branches (called</a:t>
            </a:r>
            <a:r>
              <a:rPr lang="en-US" sz="2800" b="1" i="0" dirty="0" smtClean="0">
                <a:effectLst/>
                <a:latin typeface="Times New Roman" panose="02020603050405020304" pitchFamily="18" charset="0"/>
                <a:cs typeface="Times New Roman" panose="02020603050405020304" pitchFamily="18" charset="0"/>
              </a:rPr>
              <a:t> vasa recta</a:t>
            </a:r>
            <a:r>
              <a:rPr lang="en-US" sz="2800" b="0" i="0" dirty="0" smtClean="0">
                <a:effectLst/>
                <a:latin typeface="Times New Roman" panose="02020603050405020304" pitchFamily="18" charset="0"/>
                <a:cs typeface="Times New Roman" panose="02020603050405020304" pitchFamily="18" charset="0"/>
              </a:rPr>
              <a:t>) arise from the marginal artery to supply the colon.</a:t>
            </a:r>
            <a:endParaRPr lang="en-US" sz="2800" b="0" i="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5324535"/>
          </a:xfrm>
          <a:prstGeom prst="rect">
            <a:avLst/>
          </a:prstGeom>
        </p:spPr>
        <p:txBody>
          <a:bodyPr wrap="square">
            <a:spAutoFit/>
          </a:bodyPr>
          <a:lstStyle/>
          <a:p>
            <a:r>
              <a:rPr lang="en-US" sz="3200" b="1" i="0" dirty="0" smtClean="0">
                <a:solidFill>
                  <a:srgbClr val="C00000"/>
                </a:solidFill>
                <a:effectLst/>
                <a:latin typeface="Times New Roman" panose="02020603050405020304" pitchFamily="18" charset="0"/>
                <a:cs typeface="Times New Roman" panose="02020603050405020304" pitchFamily="18" charset="0"/>
              </a:rPr>
              <a:t>			Venous Drainage</a:t>
            </a:r>
            <a:endParaRPr lang="en-US" sz="3200" b="1" i="0" dirty="0" smtClean="0">
              <a:solidFill>
                <a:srgbClr val="C00000"/>
              </a:solidFill>
              <a:effectLst/>
              <a:latin typeface="Times New Roman" panose="02020603050405020304" pitchFamily="18" charset="0"/>
              <a:cs typeface="Times New Roman" panose="02020603050405020304" pitchFamily="18" charset="0"/>
            </a:endParaRPr>
          </a:p>
          <a:p>
            <a:endParaRPr lang="en-US" sz="2800" b="1" i="0" dirty="0" smtClean="0">
              <a:solidFill>
                <a:srgbClr val="32323C"/>
              </a:solidFill>
              <a:effectLst/>
              <a:latin typeface="Times New Roman" panose="02020603050405020304" pitchFamily="18" charset="0"/>
              <a:cs typeface="Times New Roman" panose="02020603050405020304" pitchFamily="18" charset="0"/>
            </a:endParaRPr>
          </a:p>
          <a:p>
            <a:pPr algn="just"/>
            <a:r>
              <a:rPr lang="en-US" sz="2800" b="0" i="0" dirty="0" smtClean="0">
                <a:solidFill>
                  <a:srgbClr val="32323C"/>
                </a:solidFill>
                <a:effectLst/>
                <a:latin typeface="Times New Roman" panose="02020603050405020304" pitchFamily="18" charset="0"/>
                <a:cs typeface="Times New Roman" panose="02020603050405020304" pitchFamily="18" charset="0"/>
              </a:rPr>
              <a:t>The venous drainage of the colon is similar to the arterial supply:</a:t>
            </a:r>
            <a:endParaRPr lang="en-US" sz="28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800" b="1" i="0" dirty="0" smtClean="0">
                <a:solidFill>
                  <a:srgbClr val="32323C"/>
                </a:solidFill>
                <a:effectLst/>
                <a:latin typeface="Times New Roman" panose="02020603050405020304" pitchFamily="18" charset="0"/>
                <a:cs typeface="Times New Roman" panose="02020603050405020304" pitchFamily="18" charset="0"/>
              </a:rPr>
              <a:t>Ascending colon</a:t>
            </a:r>
            <a:r>
              <a:rPr lang="en-US" sz="2800" b="0" i="0" dirty="0" smtClean="0">
                <a:solidFill>
                  <a:srgbClr val="32323C"/>
                </a:solidFill>
                <a:effectLst/>
                <a:latin typeface="Times New Roman" panose="02020603050405020304" pitchFamily="18" charset="0"/>
                <a:cs typeface="Times New Roman" panose="02020603050405020304" pitchFamily="18" charset="0"/>
              </a:rPr>
              <a:t> – </a:t>
            </a:r>
            <a:r>
              <a:rPr lang="en-US" sz="2800" b="0" i="0" dirty="0" err="1" smtClean="0">
                <a:solidFill>
                  <a:srgbClr val="32323C"/>
                </a:solidFill>
                <a:effectLst/>
                <a:latin typeface="Times New Roman" panose="02020603050405020304" pitchFamily="18" charset="0"/>
                <a:cs typeface="Times New Roman" panose="02020603050405020304" pitchFamily="18" charset="0"/>
              </a:rPr>
              <a:t>ileocolic</a:t>
            </a:r>
            <a:r>
              <a:rPr lang="en-US" sz="2800" b="0" i="0" dirty="0" smtClean="0">
                <a:solidFill>
                  <a:srgbClr val="32323C"/>
                </a:solidFill>
                <a:effectLst/>
                <a:latin typeface="Times New Roman" panose="02020603050405020304" pitchFamily="18" charset="0"/>
                <a:cs typeface="Times New Roman" panose="02020603050405020304" pitchFamily="18" charset="0"/>
              </a:rPr>
              <a:t> and right colic veins, which empty into the superior mesenteric vein.</a:t>
            </a:r>
            <a:endParaRPr lang="en-US" sz="28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800" b="1" i="0" dirty="0" smtClean="0">
                <a:solidFill>
                  <a:srgbClr val="32323C"/>
                </a:solidFill>
                <a:effectLst/>
                <a:latin typeface="Times New Roman" panose="02020603050405020304" pitchFamily="18" charset="0"/>
                <a:cs typeface="Times New Roman" panose="02020603050405020304" pitchFamily="18" charset="0"/>
              </a:rPr>
              <a:t>Transverse colon </a:t>
            </a:r>
            <a:r>
              <a:rPr lang="en-US" sz="2800" b="0" i="0" dirty="0" smtClean="0">
                <a:solidFill>
                  <a:srgbClr val="32323C"/>
                </a:solidFill>
                <a:effectLst/>
                <a:latin typeface="Times New Roman" panose="02020603050405020304" pitchFamily="18" charset="0"/>
                <a:cs typeface="Times New Roman" panose="02020603050405020304" pitchFamily="18" charset="0"/>
              </a:rPr>
              <a:t>– middle colic vein, which empties into the superior mesenteric vein.</a:t>
            </a:r>
            <a:endParaRPr lang="en-US" sz="28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800" b="1" i="0" dirty="0" smtClean="0">
                <a:solidFill>
                  <a:srgbClr val="32323C"/>
                </a:solidFill>
                <a:effectLst/>
                <a:latin typeface="Times New Roman" panose="02020603050405020304" pitchFamily="18" charset="0"/>
                <a:cs typeface="Times New Roman" panose="02020603050405020304" pitchFamily="18" charset="0"/>
              </a:rPr>
              <a:t>Descending colon</a:t>
            </a:r>
            <a:r>
              <a:rPr lang="en-US" sz="2800" b="0" i="0" dirty="0" smtClean="0">
                <a:solidFill>
                  <a:srgbClr val="32323C"/>
                </a:solidFill>
                <a:effectLst/>
                <a:latin typeface="Times New Roman" panose="02020603050405020304" pitchFamily="18" charset="0"/>
                <a:cs typeface="Times New Roman" panose="02020603050405020304" pitchFamily="18" charset="0"/>
              </a:rPr>
              <a:t> – left colic vein, which drains into the inferior mesenteric vein.</a:t>
            </a:r>
            <a:endParaRPr lang="en-US" sz="28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800" b="1" i="0" dirty="0" smtClean="0">
                <a:solidFill>
                  <a:srgbClr val="32323C"/>
                </a:solidFill>
                <a:effectLst/>
                <a:latin typeface="Times New Roman" panose="02020603050405020304" pitchFamily="18" charset="0"/>
                <a:cs typeface="Times New Roman" panose="02020603050405020304" pitchFamily="18" charset="0"/>
              </a:rPr>
              <a:t>Sigmoid colon </a:t>
            </a:r>
            <a:r>
              <a:rPr lang="en-US" sz="2800" b="0" i="0" dirty="0" smtClean="0">
                <a:solidFill>
                  <a:srgbClr val="32323C"/>
                </a:solidFill>
                <a:effectLst/>
                <a:latin typeface="Times New Roman" panose="02020603050405020304" pitchFamily="18" charset="0"/>
                <a:cs typeface="Times New Roman" panose="02020603050405020304" pitchFamily="18" charset="0"/>
              </a:rPr>
              <a:t>– drained by the sigmoid veins into the inferior mesenteric vein.</a:t>
            </a:r>
            <a:endParaRPr lang="en-US" sz="2800" b="0" i="0" dirty="0" smtClean="0">
              <a:solidFill>
                <a:srgbClr val="32323C"/>
              </a:solidFill>
              <a:effectLst/>
              <a:latin typeface="Times New Roman" panose="02020603050405020304" pitchFamily="18" charset="0"/>
              <a:cs typeface="Times New Roman" panose="02020603050405020304" pitchFamily="18" charset="0"/>
            </a:endParaRPr>
          </a:p>
          <a:p>
            <a:pPr algn="just"/>
            <a:r>
              <a:rPr lang="en-US" sz="2800" b="0" i="0" dirty="0" smtClean="0">
                <a:solidFill>
                  <a:srgbClr val="32323C"/>
                </a:solidFill>
                <a:effectLst/>
                <a:latin typeface="Times New Roman" panose="02020603050405020304" pitchFamily="18" charset="0"/>
                <a:cs typeface="Times New Roman" panose="02020603050405020304" pitchFamily="18" charset="0"/>
              </a:rPr>
              <a:t>The superior mesenteric and inferior mesenteric veins ultimately empty into the </a:t>
            </a:r>
            <a:r>
              <a:rPr lang="en-US" sz="2800" b="1" i="0" u="none" strike="noStrike" dirty="0" smtClean="0">
                <a:effectLst/>
                <a:latin typeface="Times New Roman" panose="02020603050405020304" pitchFamily="18" charset="0"/>
                <a:cs typeface="Times New Roman" panose="02020603050405020304" pitchFamily="18" charset="0"/>
              </a:rPr>
              <a:t>hepatic portal vein</a:t>
            </a:r>
            <a:r>
              <a:rPr lang="en-US" sz="2800" b="0" i="0" dirty="0" smtClean="0">
                <a:solidFill>
                  <a:srgbClr val="32323C"/>
                </a:solidFill>
                <a:effectLst/>
                <a:latin typeface="Times New Roman" panose="02020603050405020304" pitchFamily="18" charset="0"/>
                <a:cs typeface="Times New Roman" panose="02020603050405020304" pitchFamily="18" charset="0"/>
              </a:rPr>
              <a:t>. This allows toxins absorbed from the colon to be processed by the liver for detoxification.</a:t>
            </a:r>
            <a:endParaRPr lang="en-US" sz="2800" b="0" i="0" dirty="0">
              <a:solidFill>
                <a:srgbClr val="32323C"/>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Fig 3 - The major arteries and veins supplying the colo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2685" y="504097"/>
            <a:ext cx="9753600" cy="36671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509200"/>
          </a:xfrm>
          <a:prstGeom prst="rect">
            <a:avLst/>
          </a:prstGeom>
        </p:spPr>
        <p:txBody>
          <a:bodyPr wrap="square">
            <a:spAutoFit/>
          </a:bodyPr>
          <a:lstStyle/>
          <a:p>
            <a:r>
              <a:rPr lang="en-US" sz="3600" b="1" i="0" dirty="0" smtClean="0">
                <a:solidFill>
                  <a:srgbClr val="C00000"/>
                </a:solidFill>
                <a:effectLst/>
                <a:latin typeface="Times New Roman" panose="02020603050405020304" pitchFamily="18" charset="0"/>
                <a:cs typeface="Times New Roman" panose="02020603050405020304" pitchFamily="18" charset="0"/>
              </a:rPr>
              <a:t>		Innervation</a:t>
            </a:r>
            <a:endParaRPr lang="en-US" sz="3600" b="1" i="0" dirty="0" smtClean="0">
              <a:solidFill>
                <a:srgbClr val="C00000"/>
              </a:solidFill>
              <a:effectLst/>
              <a:latin typeface="Times New Roman" panose="02020603050405020304" pitchFamily="18" charset="0"/>
              <a:cs typeface="Times New Roman" panose="02020603050405020304" pitchFamily="18" charset="0"/>
            </a:endParaRPr>
          </a:p>
          <a:p>
            <a:endParaRPr lang="en-US" sz="3600" b="1" i="0" dirty="0" smtClean="0">
              <a:solidFill>
                <a:srgbClr val="C00000"/>
              </a:solidFill>
              <a:effectLst/>
              <a:latin typeface="Times New Roman" panose="02020603050405020304" pitchFamily="18" charset="0"/>
              <a:cs typeface="Times New Roman" panose="02020603050405020304" pitchFamily="18" charset="0"/>
            </a:endParaRPr>
          </a:p>
          <a:p>
            <a:pPr algn="just"/>
            <a:r>
              <a:rPr lang="en-US" sz="2800" b="0" i="0" dirty="0" smtClean="0">
                <a:solidFill>
                  <a:srgbClr val="32323C"/>
                </a:solidFill>
                <a:effectLst/>
                <a:latin typeface="Times New Roman" panose="02020603050405020304" pitchFamily="18" charset="0"/>
                <a:cs typeface="Times New Roman" panose="02020603050405020304" pitchFamily="18" charset="0"/>
              </a:rPr>
              <a:t>The innervation to the colon is dependent on embryological origin:</a:t>
            </a:r>
            <a:endParaRPr lang="en-US" sz="28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800" b="1" i="0" dirty="0" err="1" smtClean="0">
                <a:solidFill>
                  <a:srgbClr val="32323C"/>
                </a:solidFill>
                <a:effectLst/>
                <a:latin typeface="Times New Roman" panose="02020603050405020304" pitchFamily="18" charset="0"/>
                <a:cs typeface="Times New Roman" panose="02020603050405020304" pitchFamily="18" charset="0"/>
              </a:rPr>
              <a:t>Midgut</a:t>
            </a:r>
            <a:r>
              <a:rPr lang="en-US" sz="2800" b="1" i="0" dirty="0" smtClean="0">
                <a:solidFill>
                  <a:srgbClr val="32323C"/>
                </a:solidFill>
                <a:effectLst/>
                <a:latin typeface="Times New Roman" panose="02020603050405020304" pitchFamily="18" charset="0"/>
                <a:cs typeface="Times New Roman" panose="02020603050405020304" pitchFamily="18" charset="0"/>
              </a:rPr>
              <a:t>-derived</a:t>
            </a:r>
            <a:r>
              <a:rPr lang="en-US" sz="2800" b="0" i="0" dirty="0" smtClean="0">
                <a:solidFill>
                  <a:srgbClr val="32323C"/>
                </a:solidFill>
                <a:effectLst/>
                <a:latin typeface="Times New Roman" panose="02020603050405020304" pitchFamily="18" charset="0"/>
                <a:cs typeface="Times New Roman" panose="02020603050405020304" pitchFamily="18" charset="0"/>
              </a:rPr>
              <a:t> structures (ascending colon and proximal 2/3 of the transverse colon) receive their sympathetic, parasympathetic and sensory supply via nerves from the superior mesenteric plexus.</a:t>
            </a:r>
            <a:endParaRPr lang="en-US" sz="2800" b="0" i="0" dirty="0" smtClean="0">
              <a:solidFill>
                <a:srgbClr val="32323C"/>
              </a:solidFill>
              <a:effectLst/>
              <a:latin typeface="Times New Roman" panose="02020603050405020304" pitchFamily="18" charset="0"/>
              <a:cs typeface="Times New Roman" panose="02020603050405020304" pitchFamily="18" charset="0"/>
            </a:endParaRPr>
          </a:p>
          <a:p>
            <a:pPr algn="just"/>
            <a:endParaRPr lang="en-US" sz="28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800" b="1" i="0" dirty="0" smtClean="0">
                <a:solidFill>
                  <a:srgbClr val="32323C"/>
                </a:solidFill>
                <a:effectLst/>
                <a:latin typeface="Times New Roman" panose="02020603050405020304" pitchFamily="18" charset="0"/>
                <a:cs typeface="Times New Roman" panose="02020603050405020304" pitchFamily="18" charset="0"/>
              </a:rPr>
              <a:t>Hindgut-derived </a:t>
            </a:r>
            <a:r>
              <a:rPr lang="en-US" sz="2800" b="0" i="0" dirty="0" smtClean="0">
                <a:solidFill>
                  <a:srgbClr val="32323C"/>
                </a:solidFill>
                <a:effectLst/>
                <a:latin typeface="Times New Roman" panose="02020603050405020304" pitchFamily="18" charset="0"/>
                <a:cs typeface="Times New Roman" panose="02020603050405020304" pitchFamily="18" charset="0"/>
              </a:rPr>
              <a:t>structures (distal 1/3 of the transverse colon, descending colon and sigmoid colon) receive their sympathetic, parasympathetic and sensory supply via nerves from the inferior mesenteric plexus:</a:t>
            </a:r>
            <a:endParaRPr lang="en-US" sz="2800" b="0" i="0" dirty="0" smtClean="0">
              <a:solidFill>
                <a:srgbClr val="32323C"/>
              </a:solidFill>
              <a:effectLst/>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US" sz="2800" b="0" i="0" dirty="0" smtClean="0">
                <a:solidFill>
                  <a:srgbClr val="32323C"/>
                </a:solidFill>
                <a:effectLst/>
                <a:latin typeface="Times New Roman" panose="02020603050405020304" pitchFamily="18" charset="0"/>
                <a:cs typeface="Times New Roman" panose="02020603050405020304" pitchFamily="18" charset="0"/>
              </a:rPr>
              <a:t>Parasympathetic innervation via the pelvic splanchnic nerves</a:t>
            </a:r>
            <a:endParaRPr lang="en-US" sz="2800" b="0" i="0" dirty="0" smtClean="0">
              <a:solidFill>
                <a:srgbClr val="32323C"/>
              </a:solidFill>
              <a:effectLst/>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US" sz="2800" b="0" i="0" dirty="0" smtClean="0">
                <a:solidFill>
                  <a:srgbClr val="32323C"/>
                </a:solidFill>
                <a:effectLst/>
                <a:latin typeface="Times New Roman" panose="02020603050405020304" pitchFamily="18" charset="0"/>
                <a:cs typeface="Times New Roman" panose="02020603050405020304" pitchFamily="18" charset="0"/>
              </a:rPr>
              <a:t>Sympathetic innervation via the lumbar splanchnic nerves.</a:t>
            </a:r>
            <a:endParaRPr lang="en-US" sz="2800" b="0" i="0" dirty="0">
              <a:solidFill>
                <a:srgbClr val="32323C"/>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6734" y="427180"/>
            <a:ext cx="12055266" cy="3785652"/>
          </a:xfrm>
          <a:prstGeom prst="rect">
            <a:avLst/>
          </a:prstGeom>
        </p:spPr>
        <p:txBody>
          <a:bodyPr wrap="square">
            <a:spAutoFit/>
          </a:bodyPr>
          <a:lstStyle/>
          <a:p>
            <a:r>
              <a:rPr lang="en-US" sz="3600" b="1" i="0" dirty="0" smtClean="0">
                <a:solidFill>
                  <a:srgbClr val="C00000"/>
                </a:solidFill>
                <a:effectLst/>
                <a:latin typeface="Times New Roman" panose="02020603050405020304" pitchFamily="18" charset="0"/>
                <a:cs typeface="Times New Roman" panose="02020603050405020304" pitchFamily="18" charset="0"/>
              </a:rPr>
              <a:t>Lymphatic Drainage</a:t>
            </a:r>
            <a:endParaRPr lang="en-US" sz="3600" b="1" i="0" dirty="0" smtClean="0">
              <a:solidFill>
                <a:srgbClr val="C00000"/>
              </a:solidFill>
              <a:effectLst/>
              <a:latin typeface="Times New Roman" panose="02020603050405020304" pitchFamily="18" charset="0"/>
              <a:cs typeface="Times New Roman" panose="02020603050405020304" pitchFamily="18" charset="0"/>
            </a:endParaRPr>
          </a:p>
          <a:p>
            <a:endParaRPr lang="en-US" sz="3600" b="1" i="0" dirty="0" smtClean="0">
              <a:solidFill>
                <a:srgbClr val="C00000"/>
              </a:solidFill>
              <a:effectLst/>
              <a:latin typeface="Times New Roman" panose="02020603050405020304" pitchFamily="18" charset="0"/>
              <a:cs typeface="Times New Roman" panose="02020603050405020304" pitchFamily="18" charset="0"/>
            </a:endParaRPr>
          </a:p>
          <a:p>
            <a:pPr algn="just"/>
            <a:r>
              <a:rPr lang="en-US" sz="2800" b="0" i="0" dirty="0" smtClean="0">
                <a:solidFill>
                  <a:srgbClr val="32323C"/>
                </a:solidFill>
                <a:effectLst/>
                <a:latin typeface="Times New Roman" panose="02020603050405020304" pitchFamily="18" charset="0"/>
                <a:cs typeface="Times New Roman" panose="02020603050405020304" pitchFamily="18" charset="0"/>
              </a:rPr>
              <a:t>The lymphatic drainage of the ascending and transverse colon is into the </a:t>
            </a:r>
            <a:r>
              <a:rPr lang="en-US" sz="2800" b="1" i="0" dirty="0" smtClean="0">
                <a:solidFill>
                  <a:srgbClr val="32323C"/>
                </a:solidFill>
                <a:effectLst/>
                <a:latin typeface="Times New Roman" panose="02020603050405020304" pitchFamily="18" charset="0"/>
                <a:cs typeface="Times New Roman" panose="02020603050405020304" pitchFamily="18" charset="0"/>
              </a:rPr>
              <a:t>superior mesenteric nodes</a:t>
            </a:r>
            <a:r>
              <a:rPr lang="en-US" sz="2800" b="0" i="0" dirty="0" smtClean="0">
                <a:solidFill>
                  <a:srgbClr val="32323C"/>
                </a:solidFill>
                <a:effectLst/>
                <a:latin typeface="Times New Roman" panose="02020603050405020304" pitchFamily="18" charset="0"/>
                <a:cs typeface="Times New Roman" panose="02020603050405020304" pitchFamily="18" charset="0"/>
              </a:rPr>
              <a:t>. The descending colon and sigmoid drain into the inferior mesenteric nodes.</a:t>
            </a:r>
            <a:endParaRPr lang="en-US" sz="2800" b="0" i="0" dirty="0" smtClean="0">
              <a:solidFill>
                <a:srgbClr val="32323C"/>
              </a:solidFill>
              <a:effectLst/>
              <a:latin typeface="Times New Roman" panose="02020603050405020304" pitchFamily="18" charset="0"/>
              <a:cs typeface="Times New Roman" panose="02020603050405020304" pitchFamily="18" charset="0"/>
            </a:endParaRPr>
          </a:p>
          <a:p>
            <a:pPr algn="just"/>
            <a:r>
              <a:rPr lang="en-US" sz="2800" b="0" i="0" dirty="0" smtClean="0">
                <a:solidFill>
                  <a:srgbClr val="32323C"/>
                </a:solidFill>
                <a:effectLst/>
                <a:latin typeface="Times New Roman" panose="02020603050405020304" pitchFamily="18" charset="0"/>
                <a:cs typeface="Times New Roman" panose="02020603050405020304" pitchFamily="18" charset="0"/>
              </a:rPr>
              <a:t>Most of the lymph from the superior mesenteric and inferior mesenteric nodes passes into the intestinal lymph trunks, and on to the </a:t>
            </a:r>
            <a:r>
              <a:rPr lang="en-US" sz="2800" b="1" i="0" dirty="0" smtClean="0">
                <a:solidFill>
                  <a:srgbClr val="32323C"/>
                </a:solidFill>
                <a:effectLst/>
                <a:latin typeface="Times New Roman" panose="02020603050405020304" pitchFamily="18" charset="0"/>
                <a:cs typeface="Times New Roman" panose="02020603050405020304" pitchFamily="18" charset="0"/>
              </a:rPr>
              <a:t>cisterna </a:t>
            </a:r>
            <a:r>
              <a:rPr lang="en-US" sz="2800" b="1" i="0" dirty="0" err="1" smtClean="0">
                <a:solidFill>
                  <a:srgbClr val="32323C"/>
                </a:solidFill>
                <a:effectLst/>
                <a:latin typeface="Times New Roman" panose="02020603050405020304" pitchFamily="18" charset="0"/>
                <a:cs typeface="Times New Roman" panose="02020603050405020304" pitchFamily="18" charset="0"/>
              </a:rPr>
              <a:t>chyli</a:t>
            </a:r>
            <a:r>
              <a:rPr lang="en-US" sz="2800" b="1" i="0" dirty="0" smtClean="0">
                <a:solidFill>
                  <a:srgbClr val="32323C"/>
                </a:solidFill>
                <a:effectLst/>
                <a:latin typeface="Times New Roman" panose="02020603050405020304" pitchFamily="18" charset="0"/>
                <a:cs typeface="Times New Roman" panose="02020603050405020304" pitchFamily="18" charset="0"/>
              </a:rPr>
              <a:t> </a:t>
            </a:r>
            <a:r>
              <a:rPr lang="en-US" sz="2800" b="0" i="0" dirty="0" smtClean="0">
                <a:solidFill>
                  <a:srgbClr val="32323C"/>
                </a:solidFill>
                <a:effectLst/>
                <a:latin typeface="Times New Roman" panose="02020603050405020304" pitchFamily="18" charset="0"/>
                <a:cs typeface="Times New Roman" panose="02020603050405020304" pitchFamily="18" charset="0"/>
              </a:rPr>
              <a:t>– where it ultimately empties into the thoracic duct.</a:t>
            </a:r>
            <a:endParaRPr lang="en-US" sz="2800" b="0" i="0" dirty="0">
              <a:solidFill>
                <a:srgbClr val="32323C"/>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821" y="2690336"/>
            <a:ext cx="12132179" cy="2492990"/>
          </a:xfrm>
          <a:prstGeom prst="rect">
            <a:avLst/>
          </a:prstGeom>
        </p:spPr>
        <p:txBody>
          <a:bodyPr wrap="square">
            <a:spAutoFit/>
          </a:bodyPr>
          <a:lstStyle/>
          <a:p>
            <a:pPr algn="just"/>
            <a:r>
              <a:rPr lang="en-GB" sz="2400" b="0" i="0" dirty="0" smtClean="0">
                <a:solidFill>
                  <a:srgbClr val="32323C"/>
                </a:solidFill>
                <a:effectLst/>
                <a:latin typeface="Times New Roman" panose="02020603050405020304" pitchFamily="18" charset="0"/>
                <a:cs typeface="Times New Roman" panose="02020603050405020304" pitchFamily="18" charset="0"/>
              </a:rPr>
              <a:t>			</a:t>
            </a:r>
            <a:r>
              <a:rPr lang="en-GB" sz="3600" b="1" i="0" dirty="0" smtClean="0">
                <a:solidFill>
                  <a:srgbClr val="C00000"/>
                </a:solidFill>
                <a:effectLst/>
                <a:latin typeface="Times New Roman" panose="02020603050405020304" pitchFamily="18" charset="0"/>
                <a:cs typeface="Times New Roman" panose="02020603050405020304" pitchFamily="18" charset="0"/>
              </a:rPr>
              <a:t>APPENDIX</a:t>
            </a:r>
            <a:endParaRPr lang="en-US" sz="3600" b="1" i="0" dirty="0" smtClean="0">
              <a:solidFill>
                <a:srgbClr val="C00000"/>
              </a:solidFill>
              <a:effectLst/>
              <a:latin typeface="Times New Roman" panose="02020603050405020304" pitchFamily="18" charset="0"/>
              <a:cs typeface="Times New Roman" panose="02020603050405020304" pitchFamily="18" charset="0"/>
            </a:endParaRPr>
          </a:p>
          <a:p>
            <a:pPr algn="just"/>
            <a:endParaRPr lang="en-US" sz="2400" dirty="0">
              <a:solidFill>
                <a:srgbClr val="32323C"/>
              </a:solidFill>
              <a:latin typeface="Times New Roman" panose="02020603050405020304" pitchFamily="18" charset="0"/>
              <a:cs typeface="Times New Roman" panose="02020603050405020304" pitchFamily="18" charset="0"/>
            </a:endParaRPr>
          </a:p>
          <a:p>
            <a:pPr algn="just"/>
            <a:r>
              <a:rPr lang="en-US" sz="2400" b="0" i="0" dirty="0" smtClean="0">
                <a:solidFill>
                  <a:srgbClr val="32323C"/>
                </a:solidFill>
                <a:effectLst/>
                <a:latin typeface="Times New Roman" panose="02020603050405020304" pitchFamily="18" charset="0"/>
                <a:cs typeface="Times New Roman" panose="02020603050405020304" pitchFamily="18" charset="0"/>
              </a:rPr>
              <a:t>The </a:t>
            </a:r>
            <a:r>
              <a:rPr lang="en-US" sz="2400" b="1" i="0" dirty="0" smtClean="0">
                <a:solidFill>
                  <a:srgbClr val="32323C"/>
                </a:solidFill>
                <a:effectLst/>
                <a:latin typeface="Times New Roman" panose="02020603050405020304" pitchFamily="18" charset="0"/>
                <a:cs typeface="Times New Roman" panose="02020603050405020304" pitchFamily="18" charset="0"/>
              </a:rPr>
              <a:t>appendix </a:t>
            </a:r>
            <a:r>
              <a:rPr lang="en-US" sz="2400" b="0" i="0" dirty="0" smtClean="0">
                <a:solidFill>
                  <a:srgbClr val="32323C"/>
                </a:solidFill>
                <a:effectLst/>
                <a:latin typeface="Times New Roman" panose="02020603050405020304" pitchFamily="18" charset="0"/>
                <a:cs typeface="Times New Roman" panose="02020603050405020304" pitchFamily="18" charset="0"/>
              </a:rPr>
              <a:t>is a narrow blind-ended tube that is attached to the posteromedial end of the cecum (large intestine).</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r>
              <a:rPr lang="en-US" sz="2400" b="0" i="0" dirty="0" smtClean="0">
                <a:solidFill>
                  <a:srgbClr val="32323C"/>
                </a:solidFill>
                <a:effectLst/>
                <a:latin typeface="Times New Roman" panose="02020603050405020304" pitchFamily="18" charset="0"/>
                <a:cs typeface="Times New Roman" panose="02020603050405020304" pitchFamily="18" charset="0"/>
              </a:rPr>
              <a:t>It contains a large amount of</a:t>
            </a:r>
            <a:r>
              <a:rPr lang="en-US" sz="2400" b="1" i="0" dirty="0" smtClean="0">
                <a:solidFill>
                  <a:srgbClr val="32323C"/>
                </a:solidFill>
                <a:effectLst/>
                <a:latin typeface="Times New Roman" panose="02020603050405020304" pitchFamily="18" charset="0"/>
                <a:cs typeface="Times New Roman" panose="02020603050405020304" pitchFamily="18" charset="0"/>
              </a:rPr>
              <a:t> lymphoid tissue </a:t>
            </a:r>
            <a:r>
              <a:rPr lang="en-US" sz="2400" b="0" i="0" dirty="0" smtClean="0">
                <a:solidFill>
                  <a:srgbClr val="32323C"/>
                </a:solidFill>
                <a:effectLst/>
                <a:latin typeface="Times New Roman" panose="02020603050405020304" pitchFamily="18" charset="0"/>
                <a:cs typeface="Times New Roman" panose="02020603050405020304" pitchFamily="18" charset="0"/>
              </a:rPr>
              <a:t>but is not thought to have any vital functions in the human body.</a:t>
            </a:r>
            <a:endParaRPr lang="en-US" sz="2400" b="0" i="0" dirty="0">
              <a:solidFill>
                <a:srgbClr val="32323C"/>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12845"/>
            <a:ext cx="12192000" cy="5878532"/>
          </a:xfrm>
          <a:prstGeom prst="rect">
            <a:avLst/>
          </a:prstGeom>
        </p:spPr>
        <p:txBody>
          <a:bodyPr wrap="square">
            <a:spAutoFit/>
          </a:bodyPr>
          <a:lstStyle/>
          <a:p>
            <a:r>
              <a:rPr lang="en-US" sz="3200" b="1" i="0" dirty="0" smtClean="0">
                <a:solidFill>
                  <a:srgbClr val="C00000"/>
                </a:solidFill>
                <a:effectLst/>
                <a:latin typeface="Times New Roman" panose="02020603050405020304" pitchFamily="18" charset="0"/>
                <a:cs typeface="Times New Roman" panose="02020603050405020304" pitchFamily="18" charset="0"/>
              </a:rPr>
              <a:t>Anatomical Structure and Relations</a:t>
            </a:r>
            <a:endParaRPr lang="en-US" sz="3200" b="1" i="0" dirty="0" smtClean="0">
              <a:solidFill>
                <a:srgbClr val="C00000"/>
              </a:solidFill>
              <a:effectLst/>
              <a:latin typeface="Times New Roman" panose="02020603050405020304" pitchFamily="18" charset="0"/>
              <a:cs typeface="Times New Roman" panose="02020603050405020304" pitchFamily="18" charset="0"/>
            </a:endParaRPr>
          </a:p>
          <a:p>
            <a:endParaRPr lang="en-US" sz="3200" b="1" i="0" dirty="0" smtClean="0">
              <a:solidFill>
                <a:srgbClr val="C00000"/>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The </a:t>
            </a:r>
            <a:r>
              <a:rPr lang="en-US" sz="2400" b="1" i="0" dirty="0" smtClean="0">
                <a:solidFill>
                  <a:srgbClr val="32323C"/>
                </a:solidFill>
                <a:effectLst/>
                <a:latin typeface="Times New Roman" panose="02020603050405020304" pitchFamily="18" charset="0"/>
                <a:cs typeface="Times New Roman" panose="02020603050405020304" pitchFamily="18" charset="0"/>
              </a:rPr>
              <a:t>appendix</a:t>
            </a:r>
            <a:r>
              <a:rPr lang="en-US" sz="2400" b="0" i="0" dirty="0" smtClean="0">
                <a:solidFill>
                  <a:srgbClr val="32323C"/>
                </a:solidFill>
                <a:effectLst/>
                <a:latin typeface="Times New Roman" panose="02020603050405020304" pitchFamily="18" charset="0"/>
                <a:cs typeface="Times New Roman" panose="02020603050405020304" pitchFamily="18" charset="0"/>
              </a:rPr>
              <a:t> originates from the posteromedial aspect of the </a:t>
            </a:r>
            <a:r>
              <a:rPr lang="en-US" sz="2400" i="0" u="none" strike="noStrike" dirty="0" smtClean="0">
                <a:effectLst/>
                <a:latin typeface="Times New Roman" panose="02020603050405020304" pitchFamily="18" charset="0"/>
                <a:cs typeface="Times New Roman" panose="02020603050405020304" pitchFamily="18" charset="0"/>
              </a:rPr>
              <a:t>cecum</a:t>
            </a:r>
            <a:r>
              <a:rPr lang="en-US" sz="2400" b="0" i="0" dirty="0" smtClean="0">
                <a:solidFill>
                  <a:srgbClr val="32323C"/>
                </a:solidFill>
                <a:effectLst/>
                <a:latin typeface="Times New Roman" panose="02020603050405020304" pitchFamily="18" charset="0"/>
                <a:cs typeface="Times New Roman" panose="02020603050405020304" pitchFamily="18" charset="0"/>
              </a:rPr>
              <a:t>. It is supported by the </a:t>
            </a:r>
            <a:r>
              <a:rPr lang="en-US" sz="2400" b="0" i="0" dirty="0" err="1" smtClean="0">
                <a:solidFill>
                  <a:srgbClr val="32323C"/>
                </a:solidFill>
                <a:effectLst/>
                <a:latin typeface="Times New Roman" panose="02020603050405020304" pitchFamily="18" charset="0"/>
                <a:cs typeface="Times New Roman" panose="02020603050405020304" pitchFamily="18" charset="0"/>
              </a:rPr>
              <a:t>mesoappendix</a:t>
            </a:r>
            <a:r>
              <a:rPr lang="en-US" sz="2400" b="0" i="0" dirty="0" smtClean="0">
                <a:solidFill>
                  <a:srgbClr val="32323C"/>
                </a:solidFill>
                <a:effectLst/>
                <a:latin typeface="Times New Roman" panose="02020603050405020304" pitchFamily="18" charset="0"/>
                <a:cs typeface="Times New Roman" panose="02020603050405020304" pitchFamily="18" charset="0"/>
              </a:rPr>
              <a:t>, a fold of mesentery which suspends the appendix from the terminal ileum.</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The position of the free-end of the appendix is highly variable and can be </a:t>
            </a:r>
            <a:r>
              <a:rPr lang="en-US" sz="2400" b="0" i="0" dirty="0" err="1" smtClean="0">
                <a:solidFill>
                  <a:srgbClr val="32323C"/>
                </a:solidFill>
                <a:effectLst/>
                <a:latin typeface="Times New Roman" panose="02020603050405020304" pitchFamily="18" charset="0"/>
                <a:cs typeface="Times New Roman" panose="02020603050405020304" pitchFamily="18" charset="0"/>
              </a:rPr>
              <a:t>categorised</a:t>
            </a:r>
            <a:r>
              <a:rPr lang="en-US" sz="2400" b="0" i="0" dirty="0" smtClean="0">
                <a:solidFill>
                  <a:srgbClr val="32323C"/>
                </a:solidFill>
                <a:effectLst/>
                <a:latin typeface="Times New Roman" panose="02020603050405020304" pitchFamily="18" charset="0"/>
                <a:cs typeface="Times New Roman" panose="02020603050405020304" pitchFamily="18" charset="0"/>
              </a:rPr>
              <a:t> into seven main locations depending on its relationship to the ileum, caecum or pelvis. </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0" i="0" dirty="0" smtClean="0">
                <a:solidFill>
                  <a:srgbClr val="32323C"/>
                </a:solidFill>
                <a:effectLst/>
                <a:latin typeface="Times New Roman" panose="02020603050405020304" pitchFamily="18" charset="0"/>
                <a:cs typeface="Times New Roman" panose="02020603050405020304" pitchFamily="18" charset="0"/>
              </a:rPr>
              <a:t>The most common position is </a:t>
            </a:r>
            <a:r>
              <a:rPr lang="en-US" sz="2400" b="1" i="0" dirty="0" err="1" smtClean="0">
                <a:solidFill>
                  <a:srgbClr val="32323C"/>
                </a:solidFill>
                <a:effectLst/>
                <a:latin typeface="Times New Roman" panose="02020603050405020304" pitchFamily="18" charset="0"/>
                <a:cs typeface="Times New Roman" panose="02020603050405020304" pitchFamily="18" charset="0"/>
              </a:rPr>
              <a:t>retrocecal</a:t>
            </a:r>
            <a:r>
              <a:rPr lang="en-US" sz="2400" b="0" i="0" dirty="0" smtClean="0">
                <a:solidFill>
                  <a:srgbClr val="32323C"/>
                </a:solidFill>
                <a:effectLst/>
                <a:latin typeface="Times New Roman" panose="02020603050405020304" pitchFamily="18" charset="0"/>
                <a:cs typeface="Times New Roman" panose="02020603050405020304" pitchFamily="18" charset="0"/>
              </a:rPr>
              <a:t>. They may also be remembered by their relationship to a clock face:</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1" i="0" dirty="0" smtClean="0">
                <a:solidFill>
                  <a:srgbClr val="32323C"/>
                </a:solidFill>
                <a:effectLst/>
                <a:latin typeface="Times New Roman" panose="02020603050405020304" pitchFamily="18" charset="0"/>
                <a:cs typeface="Times New Roman" panose="02020603050405020304" pitchFamily="18" charset="0"/>
              </a:rPr>
              <a:t>Pre-</a:t>
            </a:r>
            <a:r>
              <a:rPr lang="en-US" sz="2400" b="1" i="0" dirty="0" err="1" smtClean="0">
                <a:solidFill>
                  <a:srgbClr val="32323C"/>
                </a:solidFill>
                <a:effectLst/>
                <a:latin typeface="Times New Roman" panose="02020603050405020304" pitchFamily="18" charset="0"/>
                <a:cs typeface="Times New Roman" panose="02020603050405020304" pitchFamily="18" charset="0"/>
              </a:rPr>
              <a:t>ileal</a:t>
            </a:r>
            <a:r>
              <a:rPr lang="en-US" sz="2400" b="1" i="0" dirty="0" smtClean="0">
                <a:solidFill>
                  <a:srgbClr val="32323C"/>
                </a:solidFill>
                <a:effectLst/>
                <a:latin typeface="Times New Roman" panose="02020603050405020304" pitchFamily="18" charset="0"/>
                <a:cs typeface="Times New Roman" panose="02020603050405020304" pitchFamily="18" charset="0"/>
              </a:rPr>
              <a:t> </a:t>
            </a:r>
            <a:r>
              <a:rPr lang="en-US" sz="2400" b="0" i="0" dirty="0" smtClean="0">
                <a:solidFill>
                  <a:srgbClr val="32323C"/>
                </a:solidFill>
                <a:effectLst/>
                <a:latin typeface="Times New Roman" panose="02020603050405020304" pitchFamily="18" charset="0"/>
                <a:cs typeface="Times New Roman" panose="02020603050405020304" pitchFamily="18" charset="0"/>
              </a:rPr>
              <a:t>– anterior to the terminal ileum – 1 or 2 o’clock.</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1" i="0" dirty="0" smtClean="0">
                <a:solidFill>
                  <a:srgbClr val="32323C"/>
                </a:solidFill>
                <a:effectLst/>
                <a:latin typeface="Times New Roman" panose="02020603050405020304" pitchFamily="18" charset="0"/>
                <a:cs typeface="Times New Roman" panose="02020603050405020304" pitchFamily="18" charset="0"/>
              </a:rPr>
              <a:t>Post-</a:t>
            </a:r>
            <a:r>
              <a:rPr lang="en-US" sz="2400" b="1" i="0" dirty="0" err="1" smtClean="0">
                <a:solidFill>
                  <a:srgbClr val="32323C"/>
                </a:solidFill>
                <a:effectLst/>
                <a:latin typeface="Times New Roman" panose="02020603050405020304" pitchFamily="18" charset="0"/>
                <a:cs typeface="Times New Roman" panose="02020603050405020304" pitchFamily="18" charset="0"/>
              </a:rPr>
              <a:t>ileal</a:t>
            </a:r>
            <a:r>
              <a:rPr lang="en-US" sz="2400" b="0" i="0" dirty="0" smtClean="0">
                <a:solidFill>
                  <a:srgbClr val="32323C"/>
                </a:solidFill>
                <a:effectLst/>
                <a:latin typeface="Times New Roman" panose="02020603050405020304" pitchFamily="18" charset="0"/>
                <a:cs typeface="Times New Roman" panose="02020603050405020304" pitchFamily="18" charset="0"/>
              </a:rPr>
              <a:t> – posterior to the terminal ileum – 1 or 2 o’clock.</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1" i="0" dirty="0" smtClean="0">
                <a:solidFill>
                  <a:srgbClr val="32323C"/>
                </a:solidFill>
                <a:effectLst/>
                <a:latin typeface="Times New Roman" panose="02020603050405020304" pitchFamily="18" charset="0"/>
                <a:cs typeface="Times New Roman" panose="02020603050405020304" pitchFamily="18" charset="0"/>
              </a:rPr>
              <a:t>Sub-</a:t>
            </a:r>
            <a:r>
              <a:rPr lang="en-US" sz="2400" b="1" i="0" dirty="0" err="1" smtClean="0">
                <a:solidFill>
                  <a:srgbClr val="32323C"/>
                </a:solidFill>
                <a:effectLst/>
                <a:latin typeface="Times New Roman" panose="02020603050405020304" pitchFamily="18" charset="0"/>
                <a:cs typeface="Times New Roman" panose="02020603050405020304" pitchFamily="18" charset="0"/>
              </a:rPr>
              <a:t>ileal</a:t>
            </a:r>
            <a:r>
              <a:rPr lang="en-US" sz="2400" b="0" i="0" dirty="0" smtClean="0">
                <a:solidFill>
                  <a:srgbClr val="32323C"/>
                </a:solidFill>
                <a:effectLst/>
                <a:latin typeface="Times New Roman" panose="02020603050405020304" pitchFamily="18" charset="0"/>
                <a:cs typeface="Times New Roman" panose="02020603050405020304" pitchFamily="18" charset="0"/>
              </a:rPr>
              <a:t> – parallel with the terminal ileum – 3 o’clock.</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1" i="0" dirty="0" smtClean="0">
                <a:solidFill>
                  <a:srgbClr val="32323C"/>
                </a:solidFill>
                <a:effectLst/>
                <a:latin typeface="Times New Roman" panose="02020603050405020304" pitchFamily="18" charset="0"/>
                <a:cs typeface="Times New Roman" panose="02020603050405020304" pitchFamily="18" charset="0"/>
              </a:rPr>
              <a:t>Pelvic</a:t>
            </a:r>
            <a:r>
              <a:rPr lang="en-US" sz="2400" b="0" i="0" dirty="0" smtClean="0">
                <a:solidFill>
                  <a:srgbClr val="32323C"/>
                </a:solidFill>
                <a:effectLst/>
                <a:latin typeface="Times New Roman" panose="02020603050405020304" pitchFamily="18" charset="0"/>
                <a:cs typeface="Times New Roman" panose="02020603050405020304" pitchFamily="18" charset="0"/>
              </a:rPr>
              <a:t> – descending over the pelvic brim – 5 o’clock.</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1" i="0" dirty="0" err="1" smtClean="0">
                <a:solidFill>
                  <a:srgbClr val="32323C"/>
                </a:solidFill>
                <a:effectLst/>
                <a:latin typeface="Times New Roman" panose="02020603050405020304" pitchFamily="18" charset="0"/>
                <a:cs typeface="Times New Roman" panose="02020603050405020304" pitchFamily="18" charset="0"/>
              </a:rPr>
              <a:t>Subcecal</a:t>
            </a:r>
            <a:r>
              <a:rPr lang="en-US" sz="2400" b="0" i="0" dirty="0" smtClean="0">
                <a:solidFill>
                  <a:srgbClr val="32323C"/>
                </a:solidFill>
                <a:effectLst/>
                <a:latin typeface="Times New Roman" panose="02020603050405020304" pitchFamily="18" charset="0"/>
                <a:cs typeface="Times New Roman" panose="02020603050405020304" pitchFamily="18" charset="0"/>
              </a:rPr>
              <a:t> – below the cecum – 6 o’clock.</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1" i="0" dirty="0" err="1" smtClean="0">
                <a:solidFill>
                  <a:srgbClr val="32323C"/>
                </a:solidFill>
                <a:effectLst/>
                <a:latin typeface="Times New Roman" panose="02020603050405020304" pitchFamily="18" charset="0"/>
                <a:cs typeface="Times New Roman" panose="02020603050405020304" pitchFamily="18" charset="0"/>
              </a:rPr>
              <a:t>Paracecal</a:t>
            </a:r>
            <a:r>
              <a:rPr lang="en-US" sz="2400" b="0" i="0" dirty="0" smtClean="0">
                <a:solidFill>
                  <a:srgbClr val="32323C"/>
                </a:solidFill>
                <a:effectLst/>
                <a:latin typeface="Times New Roman" panose="02020603050405020304" pitchFamily="18" charset="0"/>
                <a:cs typeface="Times New Roman" panose="02020603050405020304" pitchFamily="18" charset="0"/>
              </a:rPr>
              <a:t> – alongside the lateral border of the cecum – 10 o’clock.</a:t>
            </a:r>
            <a:endParaRPr lang="en-US" sz="2400" b="0" i="0" dirty="0" smtClean="0">
              <a:solidFill>
                <a:srgbClr val="32323C"/>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1" i="0" dirty="0" err="1" smtClean="0">
                <a:solidFill>
                  <a:srgbClr val="32323C"/>
                </a:solidFill>
                <a:effectLst/>
                <a:latin typeface="Times New Roman" panose="02020603050405020304" pitchFamily="18" charset="0"/>
                <a:cs typeface="Times New Roman" panose="02020603050405020304" pitchFamily="18" charset="0"/>
              </a:rPr>
              <a:t>Retrocecal</a:t>
            </a:r>
            <a:r>
              <a:rPr lang="en-US" sz="2400" b="0" i="0" dirty="0" smtClean="0">
                <a:solidFill>
                  <a:srgbClr val="32323C"/>
                </a:solidFill>
                <a:effectLst/>
                <a:latin typeface="Times New Roman" panose="02020603050405020304" pitchFamily="18" charset="0"/>
                <a:cs typeface="Times New Roman" panose="02020603050405020304" pitchFamily="18" charset="0"/>
              </a:rPr>
              <a:t> – behind the cecum – 11 o’clock.</a:t>
            </a:r>
            <a:endParaRPr lang="en-US" sz="2400" b="0" i="0" dirty="0">
              <a:solidFill>
                <a:srgbClr val="32323C"/>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teachmeanatomy.info/wp-content/uploads/Cecum-and-Appendix-Large-Intestine.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7209" y="0"/>
            <a:ext cx="6086475" cy="431482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87209" y="4314826"/>
            <a:ext cx="6096000" cy="646331"/>
          </a:xfrm>
          <a:prstGeom prst="rect">
            <a:avLst/>
          </a:prstGeom>
        </p:spPr>
        <p:txBody>
          <a:bodyPr>
            <a:spAutoFit/>
          </a:bodyPr>
          <a:lstStyle/>
          <a:p>
            <a:r>
              <a:rPr lang="en-US" b="0" i="0" dirty="0" smtClean="0">
                <a:effectLst/>
                <a:latin typeface="Times New Roman" panose="02020603050405020304" pitchFamily="18" charset="0"/>
                <a:cs typeface="Times New Roman" panose="02020603050405020304" pitchFamily="18" charset="0"/>
              </a:rPr>
              <a:t>The cecum. Note the blind end inferiorly, and its continuity with the ascending colon superiorly.</a:t>
            </a:r>
            <a:endParaRPr lang="en-US" dirty="0">
              <a:latin typeface="Times New Roman" panose="02020603050405020304" pitchFamily="18" charset="0"/>
              <a:cs typeface="Times New Roman" panose="02020603050405020304" pitchFamily="18" charset="0"/>
            </a:endParaRPr>
          </a:p>
        </p:txBody>
      </p:sp>
      <p:pic>
        <p:nvPicPr>
          <p:cNvPr id="4100" name="Picture 4" descr="https://teachmeanatomy.info/wp-content/uploads/Positions-of-the-Appendix1-1024x65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1158" y="92223"/>
            <a:ext cx="5910841" cy="497543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415185" y="5678119"/>
            <a:ext cx="6096000" cy="646331"/>
          </a:xfrm>
          <a:prstGeom prst="rect">
            <a:avLst/>
          </a:prstGeom>
        </p:spPr>
        <p:txBody>
          <a:bodyPr>
            <a:spAutoFit/>
          </a:bodyPr>
          <a:lstStyle/>
          <a:p>
            <a:r>
              <a:rPr lang="en-US" b="0" i="0" dirty="0" smtClean="0">
                <a:effectLst/>
                <a:latin typeface="Times New Roman" panose="02020603050405020304" pitchFamily="18" charset="0"/>
                <a:cs typeface="Times New Roman" panose="02020603050405020304" pitchFamily="18" charset="0"/>
              </a:rPr>
              <a:t>The common positions of the appendix. The most common position is </a:t>
            </a:r>
            <a:r>
              <a:rPr lang="en-US" b="0" i="0" dirty="0" err="1" smtClean="0">
                <a:effectLst/>
                <a:latin typeface="Times New Roman" panose="02020603050405020304" pitchFamily="18" charset="0"/>
                <a:cs typeface="Times New Roman" panose="02020603050405020304" pitchFamily="18" charset="0"/>
              </a:rPr>
              <a:t>retrocecal</a:t>
            </a:r>
            <a:r>
              <a:rPr lang="en-US" b="0" i="0" dirty="0" smtClean="0">
                <a:effectLs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01862"/>
          </a:xfrm>
          <a:prstGeom prst="rect">
            <a:avLst/>
          </a:prstGeom>
        </p:spPr>
        <p:txBody>
          <a:bodyPr wrap="square">
            <a:spAutoFit/>
          </a:bodyPr>
          <a:lstStyle/>
          <a:p>
            <a:r>
              <a:rPr lang="en-US" sz="3600" b="1" i="0" dirty="0" smtClean="0">
                <a:solidFill>
                  <a:srgbClr val="C00000"/>
                </a:solidFill>
                <a:effectLst/>
                <a:latin typeface="Times New Roman" panose="02020603050405020304" pitchFamily="18" charset="0"/>
                <a:cs typeface="Times New Roman" panose="02020603050405020304" pitchFamily="18" charset="0"/>
              </a:rPr>
              <a:t>		Neurovascular Supply</a:t>
            </a:r>
            <a:endParaRPr lang="en-US" sz="3600" b="1" i="0" dirty="0" smtClean="0">
              <a:solidFill>
                <a:srgbClr val="C00000"/>
              </a:solidFill>
              <a:effectLst/>
              <a:latin typeface="Times New Roman" panose="02020603050405020304" pitchFamily="18" charset="0"/>
              <a:cs typeface="Times New Roman" panose="02020603050405020304" pitchFamily="18" charset="0"/>
            </a:endParaRPr>
          </a:p>
          <a:p>
            <a:endParaRPr lang="en-US" sz="3600" b="1" i="0" dirty="0" smtClean="0">
              <a:solidFill>
                <a:srgbClr val="C00000"/>
              </a:solidFill>
              <a:effectLst/>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b="0" i="0" dirty="0" smtClean="0">
                <a:solidFill>
                  <a:srgbClr val="32323C"/>
                </a:solidFill>
                <a:effectLst/>
                <a:latin typeface="Times New Roman" panose="02020603050405020304" pitchFamily="18" charset="0"/>
                <a:cs typeface="Times New Roman" panose="02020603050405020304" pitchFamily="18" charset="0"/>
              </a:rPr>
              <a:t>The appendix is derived from the embryologic </a:t>
            </a:r>
            <a:r>
              <a:rPr lang="en-US" sz="2800" b="1" i="0" dirty="0" err="1" smtClean="0">
                <a:solidFill>
                  <a:srgbClr val="32323C"/>
                </a:solidFill>
                <a:effectLst/>
                <a:latin typeface="Times New Roman" panose="02020603050405020304" pitchFamily="18" charset="0"/>
                <a:cs typeface="Times New Roman" panose="02020603050405020304" pitchFamily="18" charset="0"/>
              </a:rPr>
              <a:t>midgut</a:t>
            </a:r>
            <a:r>
              <a:rPr lang="en-US" sz="2800" b="0" i="0" dirty="0" smtClean="0">
                <a:solidFill>
                  <a:srgbClr val="32323C"/>
                </a:solidFill>
                <a:effectLst/>
                <a:latin typeface="Times New Roman" panose="02020603050405020304" pitchFamily="18" charset="0"/>
                <a:cs typeface="Times New Roman" panose="02020603050405020304" pitchFamily="18" charset="0"/>
              </a:rPr>
              <a:t>. Therefore, the vascular supply is via branches of the superior mesenteric vessels.</a:t>
            </a:r>
            <a:endParaRPr lang="en-US" sz="2800" b="0" i="0" dirty="0" smtClean="0">
              <a:solidFill>
                <a:srgbClr val="32323C"/>
              </a:solidFill>
              <a:effectLst/>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b="0" i="0" dirty="0" smtClean="0">
                <a:solidFill>
                  <a:srgbClr val="32323C"/>
                </a:solidFill>
                <a:effectLst/>
                <a:latin typeface="Times New Roman" panose="02020603050405020304" pitchFamily="18" charset="0"/>
                <a:cs typeface="Times New Roman" panose="02020603050405020304" pitchFamily="18" charset="0"/>
              </a:rPr>
              <a:t>Arterial supply is from the </a:t>
            </a:r>
            <a:r>
              <a:rPr lang="en-US" sz="2800" b="1" i="0" dirty="0" smtClean="0">
                <a:solidFill>
                  <a:srgbClr val="32323C"/>
                </a:solidFill>
                <a:effectLst/>
                <a:latin typeface="Times New Roman" panose="02020603050405020304" pitchFamily="18" charset="0"/>
                <a:cs typeface="Times New Roman" panose="02020603050405020304" pitchFamily="18" charset="0"/>
              </a:rPr>
              <a:t>appendicular artery</a:t>
            </a:r>
            <a:r>
              <a:rPr lang="en-US" sz="2800" b="0" i="0" dirty="0" smtClean="0">
                <a:solidFill>
                  <a:srgbClr val="32323C"/>
                </a:solidFill>
                <a:effectLst/>
                <a:latin typeface="Times New Roman" panose="02020603050405020304" pitchFamily="18" charset="0"/>
                <a:cs typeface="Times New Roman" panose="02020603050405020304" pitchFamily="18" charset="0"/>
              </a:rPr>
              <a:t> (derived from the </a:t>
            </a:r>
            <a:r>
              <a:rPr lang="en-US" sz="2800" b="0" i="0" dirty="0" err="1" smtClean="0">
                <a:solidFill>
                  <a:srgbClr val="32323C"/>
                </a:solidFill>
                <a:effectLst/>
                <a:latin typeface="Times New Roman" panose="02020603050405020304" pitchFamily="18" charset="0"/>
                <a:cs typeface="Times New Roman" panose="02020603050405020304" pitchFamily="18" charset="0"/>
              </a:rPr>
              <a:t>ileocolic</a:t>
            </a:r>
            <a:r>
              <a:rPr lang="en-US" sz="2800" b="0" i="0" dirty="0" smtClean="0">
                <a:solidFill>
                  <a:srgbClr val="32323C"/>
                </a:solidFill>
                <a:effectLst/>
                <a:latin typeface="Times New Roman" panose="02020603050405020304" pitchFamily="18" charset="0"/>
                <a:cs typeface="Times New Roman" panose="02020603050405020304" pitchFamily="18" charset="0"/>
              </a:rPr>
              <a:t> artery, a branch of the </a:t>
            </a:r>
            <a:r>
              <a:rPr lang="en-US" sz="2800" b="0" i="0" u="none" strike="noStrike" dirty="0" smtClean="0">
                <a:effectLst/>
                <a:latin typeface="Times New Roman" panose="02020603050405020304" pitchFamily="18" charset="0"/>
                <a:cs typeface="Times New Roman" panose="02020603050405020304" pitchFamily="18" charset="0"/>
              </a:rPr>
              <a:t>superior mesenteric artery</a:t>
            </a:r>
            <a:r>
              <a:rPr lang="en-US" sz="2800" b="0" i="0" dirty="0" smtClean="0">
                <a:solidFill>
                  <a:srgbClr val="32323C"/>
                </a:solidFill>
                <a:effectLst/>
                <a:latin typeface="Times New Roman" panose="02020603050405020304" pitchFamily="18" charset="0"/>
                <a:cs typeface="Times New Roman" panose="02020603050405020304" pitchFamily="18" charset="0"/>
              </a:rPr>
              <a:t>) and venous drainage is via the corresponding appendicular vein. Both are contained within the </a:t>
            </a:r>
            <a:r>
              <a:rPr lang="en-US" sz="2800" b="0" i="0" dirty="0" err="1" smtClean="0">
                <a:solidFill>
                  <a:srgbClr val="32323C"/>
                </a:solidFill>
                <a:effectLst/>
                <a:latin typeface="Times New Roman" panose="02020603050405020304" pitchFamily="18" charset="0"/>
                <a:cs typeface="Times New Roman" panose="02020603050405020304" pitchFamily="18" charset="0"/>
              </a:rPr>
              <a:t>mesoappendix</a:t>
            </a:r>
            <a:r>
              <a:rPr lang="en-US" sz="2800" b="0" i="0" dirty="0" smtClean="0">
                <a:solidFill>
                  <a:srgbClr val="32323C"/>
                </a:solidFill>
                <a:effectLst/>
                <a:latin typeface="Times New Roman" panose="02020603050405020304" pitchFamily="18" charset="0"/>
                <a:cs typeface="Times New Roman" panose="02020603050405020304" pitchFamily="18" charset="0"/>
              </a:rPr>
              <a:t>.</a:t>
            </a:r>
            <a:endParaRPr lang="en-US" sz="2800" b="0" i="0" dirty="0" smtClean="0">
              <a:solidFill>
                <a:srgbClr val="32323C"/>
              </a:solidFill>
              <a:effectLst/>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b="0" i="0" dirty="0" smtClean="0">
                <a:solidFill>
                  <a:srgbClr val="32323C"/>
                </a:solidFill>
                <a:effectLst/>
                <a:latin typeface="Times New Roman" panose="02020603050405020304" pitchFamily="18" charset="0"/>
                <a:cs typeface="Times New Roman" panose="02020603050405020304" pitchFamily="18" charset="0"/>
              </a:rPr>
              <a:t>Sympathetic and parasympathetic branches of the autonomic nervous system innervate the appendix. </a:t>
            </a:r>
            <a:endParaRPr lang="en-US" sz="2800" b="0" i="0" dirty="0" smtClean="0">
              <a:solidFill>
                <a:srgbClr val="32323C"/>
              </a:solidFill>
              <a:effectLst/>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b="0" i="0" dirty="0" smtClean="0">
                <a:solidFill>
                  <a:srgbClr val="32323C"/>
                </a:solidFill>
                <a:effectLst/>
                <a:latin typeface="Times New Roman" panose="02020603050405020304" pitchFamily="18" charset="0"/>
                <a:cs typeface="Times New Roman" panose="02020603050405020304" pitchFamily="18" charset="0"/>
              </a:rPr>
              <a:t>This is achieved by the </a:t>
            </a:r>
            <a:r>
              <a:rPr lang="en-US" sz="2800" b="0" i="0" dirty="0" err="1" smtClean="0">
                <a:solidFill>
                  <a:srgbClr val="32323C"/>
                </a:solidFill>
                <a:effectLst/>
                <a:latin typeface="Times New Roman" panose="02020603050405020304" pitchFamily="18" charset="0"/>
                <a:cs typeface="Times New Roman" panose="02020603050405020304" pitchFamily="18" charset="0"/>
              </a:rPr>
              <a:t>ileocolic</a:t>
            </a:r>
            <a:r>
              <a:rPr lang="en-US" sz="2800" b="0" i="0" dirty="0" smtClean="0">
                <a:solidFill>
                  <a:srgbClr val="32323C"/>
                </a:solidFill>
                <a:effectLst/>
                <a:latin typeface="Times New Roman" panose="02020603050405020304" pitchFamily="18" charset="0"/>
                <a:cs typeface="Times New Roman" panose="02020603050405020304" pitchFamily="18" charset="0"/>
              </a:rPr>
              <a:t> branch of the </a:t>
            </a:r>
            <a:r>
              <a:rPr lang="en-US" sz="2800" b="1" i="0" dirty="0" smtClean="0">
                <a:solidFill>
                  <a:srgbClr val="32323C"/>
                </a:solidFill>
                <a:effectLst/>
                <a:latin typeface="Times New Roman" panose="02020603050405020304" pitchFamily="18" charset="0"/>
                <a:cs typeface="Times New Roman" panose="02020603050405020304" pitchFamily="18" charset="0"/>
              </a:rPr>
              <a:t>superior mesenteric plexus</a:t>
            </a:r>
            <a:r>
              <a:rPr lang="en-US" sz="2800" b="0" i="0" dirty="0" smtClean="0">
                <a:solidFill>
                  <a:srgbClr val="32323C"/>
                </a:solidFill>
                <a:effectLst/>
                <a:latin typeface="Times New Roman" panose="02020603050405020304" pitchFamily="18" charset="0"/>
                <a:cs typeface="Times New Roman" panose="02020603050405020304" pitchFamily="18" charset="0"/>
              </a:rPr>
              <a:t>. It accompanies the </a:t>
            </a:r>
            <a:r>
              <a:rPr lang="en-US" sz="2800" b="0" i="0" dirty="0" err="1" smtClean="0">
                <a:solidFill>
                  <a:srgbClr val="32323C"/>
                </a:solidFill>
                <a:effectLst/>
                <a:latin typeface="Times New Roman" panose="02020603050405020304" pitchFamily="18" charset="0"/>
                <a:cs typeface="Times New Roman" panose="02020603050405020304" pitchFamily="18" charset="0"/>
              </a:rPr>
              <a:t>ileocolic</a:t>
            </a:r>
            <a:r>
              <a:rPr lang="en-US" sz="2800" b="0" i="0" dirty="0" smtClean="0">
                <a:solidFill>
                  <a:srgbClr val="32323C"/>
                </a:solidFill>
                <a:effectLst/>
                <a:latin typeface="Times New Roman" panose="02020603050405020304" pitchFamily="18" charset="0"/>
                <a:cs typeface="Times New Roman" panose="02020603050405020304" pitchFamily="18" charset="0"/>
              </a:rPr>
              <a:t> artery to reach the appendix.</a:t>
            </a:r>
            <a:endParaRPr lang="en-US" sz="2800" b="0" i="0" dirty="0" smtClean="0">
              <a:solidFill>
                <a:srgbClr val="32323C"/>
              </a:solidFill>
              <a:effectLst/>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US" sz="2800" b="0" i="0" dirty="0" smtClean="0">
              <a:solidFill>
                <a:srgbClr val="32323C"/>
              </a:solidFill>
              <a:effectLst/>
              <a:latin typeface="Times New Roman" panose="02020603050405020304" pitchFamily="18" charset="0"/>
              <a:cs typeface="Times New Roman" panose="02020603050405020304" pitchFamily="18" charset="0"/>
            </a:endParaRPr>
          </a:p>
          <a:p>
            <a:pPr algn="just"/>
            <a:r>
              <a:rPr lang="en-US" sz="2800" b="0" i="1" dirty="0" smtClean="0">
                <a:solidFill>
                  <a:srgbClr val="32323C"/>
                </a:solidFill>
                <a:effectLst/>
                <a:latin typeface="Times New Roman" panose="02020603050405020304" pitchFamily="18" charset="0"/>
                <a:cs typeface="Times New Roman" panose="02020603050405020304" pitchFamily="18" charset="0"/>
              </a:rPr>
              <a:t>Note: Of clinical relevance, the sympathetic afferent </a:t>
            </a:r>
            <a:r>
              <a:rPr lang="en-US" sz="2800" b="0" i="1" dirty="0" err="1" smtClean="0">
                <a:solidFill>
                  <a:srgbClr val="32323C"/>
                </a:solidFill>
                <a:effectLst/>
                <a:latin typeface="Times New Roman" panose="02020603050405020304" pitchFamily="18" charset="0"/>
                <a:cs typeface="Times New Roman" panose="02020603050405020304" pitchFamily="18" charset="0"/>
              </a:rPr>
              <a:t>fibres</a:t>
            </a:r>
            <a:r>
              <a:rPr lang="en-US" sz="2800" b="0" i="1" dirty="0" smtClean="0">
                <a:solidFill>
                  <a:srgbClr val="32323C"/>
                </a:solidFill>
                <a:effectLst/>
                <a:latin typeface="Times New Roman" panose="02020603050405020304" pitchFamily="18" charset="0"/>
                <a:cs typeface="Times New Roman" panose="02020603050405020304" pitchFamily="18" charset="0"/>
              </a:rPr>
              <a:t> of the appendix arise from T10 of the spinal cord – thus explaining why the visceral pain of early appendicitis is felt centrally within the abdomen.</a:t>
            </a:r>
            <a:endParaRPr lang="en-US" sz="2800" b="0" i="0" dirty="0">
              <a:solidFill>
                <a:srgbClr val="32323C"/>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Fig 1.2 - The cecum, appendix and ascending colon. Note the inferior position of the cecum in relation to the ileu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663" y="251996"/>
            <a:ext cx="7067550" cy="462915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19342" y="5447383"/>
            <a:ext cx="6096000" cy="646331"/>
          </a:xfrm>
          <a:prstGeom prst="rect">
            <a:avLst/>
          </a:prstGeom>
        </p:spPr>
        <p:txBody>
          <a:bodyPr>
            <a:spAutoFit/>
          </a:bodyPr>
          <a:lstStyle/>
          <a:p>
            <a:r>
              <a:rPr lang="en-US" b="0" i="0" dirty="0" smtClean="0">
                <a:solidFill>
                  <a:srgbClr val="32323C"/>
                </a:solidFill>
                <a:effectLst/>
                <a:latin typeface="acumin-pro"/>
              </a:rPr>
              <a:t>Arterial supply to the cecum and appendix via the </a:t>
            </a:r>
            <a:r>
              <a:rPr lang="en-US" b="0" i="0" dirty="0" err="1" smtClean="0">
                <a:solidFill>
                  <a:srgbClr val="32323C"/>
                </a:solidFill>
                <a:effectLst/>
                <a:latin typeface="acumin-pro"/>
              </a:rPr>
              <a:t>ileocecal</a:t>
            </a:r>
            <a:r>
              <a:rPr lang="en-US" b="0" i="0" dirty="0" smtClean="0">
                <a:solidFill>
                  <a:srgbClr val="32323C"/>
                </a:solidFill>
                <a:effectLst/>
                <a:latin typeface="acumin-pro"/>
              </a:rPr>
              <a:t> artery.</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85204" y="2298997"/>
            <a:ext cx="6096000" cy="1200329"/>
          </a:xfrm>
          <a:prstGeom prst="rect">
            <a:avLst/>
          </a:prstGeom>
        </p:spPr>
        <p:txBody>
          <a:bodyPr>
            <a:spAutoFit/>
          </a:bodyPr>
          <a:lstStyle/>
          <a:p>
            <a:r>
              <a:rPr lang="en-US" b="1" i="0" dirty="0" smtClean="0">
                <a:solidFill>
                  <a:srgbClr val="32323C"/>
                </a:solidFill>
                <a:effectLst/>
                <a:latin typeface="acumin-pro"/>
              </a:rPr>
              <a:t>Lymphatic Drainage</a:t>
            </a:r>
            <a:endParaRPr lang="en-US" b="1" i="0" dirty="0" smtClean="0">
              <a:solidFill>
                <a:srgbClr val="32323C"/>
              </a:solidFill>
              <a:effectLst/>
              <a:latin typeface="acumin-pro"/>
            </a:endParaRPr>
          </a:p>
          <a:p>
            <a:pPr algn="just"/>
            <a:r>
              <a:rPr lang="en-US" b="0" i="0" dirty="0" smtClean="0">
                <a:solidFill>
                  <a:srgbClr val="32323C"/>
                </a:solidFill>
                <a:effectLst/>
                <a:latin typeface="acumin-pro"/>
              </a:rPr>
              <a:t>Lymphatic fluid from the appendix drains into lymph nodes within the </a:t>
            </a:r>
            <a:r>
              <a:rPr lang="en-US" b="0" i="0" dirty="0" err="1" smtClean="0">
                <a:solidFill>
                  <a:srgbClr val="32323C"/>
                </a:solidFill>
                <a:effectLst/>
                <a:latin typeface="acumin-pro"/>
              </a:rPr>
              <a:t>mesoappendix</a:t>
            </a:r>
            <a:r>
              <a:rPr lang="en-US" b="0" i="0" dirty="0" smtClean="0">
                <a:solidFill>
                  <a:srgbClr val="32323C"/>
                </a:solidFill>
                <a:effectLst/>
                <a:latin typeface="acumin-pro"/>
              </a:rPr>
              <a:t> and into the </a:t>
            </a:r>
            <a:r>
              <a:rPr lang="en-US" b="1" i="0" dirty="0" err="1" smtClean="0">
                <a:solidFill>
                  <a:srgbClr val="32323C"/>
                </a:solidFill>
                <a:effectLst/>
                <a:latin typeface="acumin-pro"/>
              </a:rPr>
              <a:t>ileocolic</a:t>
            </a:r>
            <a:r>
              <a:rPr lang="en-US" b="1" i="0" dirty="0" smtClean="0">
                <a:solidFill>
                  <a:srgbClr val="32323C"/>
                </a:solidFill>
                <a:effectLst/>
                <a:latin typeface="acumin-pro"/>
              </a:rPr>
              <a:t> lymph nodes </a:t>
            </a:r>
            <a:r>
              <a:rPr lang="en-US" b="0" i="0" dirty="0" smtClean="0">
                <a:solidFill>
                  <a:srgbClr val="32323C"/>
                </a:solidFill>
                <a:effectLst/>
                <a:latin typeface="acumin-pro"/>
              </a:rPr>
              <a:t>(which surround the </a:t>
            </a:r>
            <a:r>
              <a:rPr lang="en-US" b="0" i="0" dirty="0" err="1" smtClean="0">
                <a:solidFill>
                  <a:srgbClr val="32323C"/>
                </a:solidFill>
                <a:effectLst/>
                <a:latin typeface="acumin-pro"/>
              </a:rPr>
              <a:t>ileocolic</a:t>
            </a:r>
            <a:r>
              <a:rPr lang="en-US" b="0" i="0" dirty="0" smtClean="0">
                <a:solidFill>
                  <a:srgbClr val="32323C"/>
                </a:solidFill>
                <a:effectLst/>
                <a:latin typeface="acumin-pro"/>
              </a:rPr>
              <a:t> artery).</a:t>
            </a:r>
            <a:endParaRPr lang="en-US" b="0" i="0" dirty="0">
              <a:solidFill>
                <a:srgbClr val="32323C"/>
              </a:solidFill>
              <a:effectLst/>
              <a:latin typeface="acumin-pro"/>
            </a:endParaRPr>
          </a:p>
        </p:txBody>
      </p:sp>
      <p:pic>
        <p:nvPicPr>
          <p:cNvPr id="6146" name="Picture 2" descr="Fig 3 - Lymphatic drainage of the cecum and appendix."/>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8682" y="0"/>
            <a:ext cx="5191125" cy="43338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039699" y="4490551"/>
            <a:ext cx="4628255" cy="369332"/>
          </a:xfrm>
          <a:prstGeom prst="rect">
            <a:avLst/>
          </a:prstGeom>
        </p:spPr>
        <p:txBody>
          <a:bodyPr wrap="none">
            <a:spAutoFit/>
          </a:bodyPr>
          <a:lstStyle/>
          <a:p>
            <a:r>
              <a:rPr lang="en-US" b="0" i="0" dirty="0" smtClean="0">
                <a:effectLst/>
                <a:latin typeface="Times New Roman" panose="02020603050405020304" pitchFamily="18" charset="0"/>
                <a:cs typeface="Times New Roman" panose="02020603050405020304" pitchFamily="18" charset="0"/>
              </a:rPr>
              <a:t>Lymphatic drainage of the cecum and appendix.</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5386090"/>
          </a:xfrm>
          <a:prstGeom prst="rect">
            <a:avLst/>
          </a:prstGeom>
        </p:spPr>
        <p:txBody>
          <a:bodyPr wrap="square">
            <a:sp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Clinical Relevance: Inflammation of the Appendix</a:t>
            </a:r>
            <a:endParaRPr lang="en-US" sz="3200" b="1" dirty="0" smtClean="0">
              <a:solidFill>
                <a:srgbClr val="C00000"/>
              </a:solidFill>
              <a:latin typeface="Times New Roman" panose="02020603050405020304" pitchFamily="18" charset="0"/>
              <a:cs typeface="Times New Roman" panose="02020603050405020304" pitchFamily="18" charset="0"/>
            </a:endParaRPr>
          </a:p>
          <a:p>
            <a:endParaRPr lang="en-US" sz="3200" b="1" dirty="0" smtClean="0">
              <a:solidFill>
                <a:srgbClr val="C00000"/>
              </a:solidFill>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Inflammation of the appendix is known as appendicitis, and is a common cause for acute severe abdominal pain. In established appendicitis, the abdomen is most tender at </a:t>
            </a:r>
            <a:r>
              <a:rPr lang="en-US" sz="2800" dirty="0" err="1" smtClean="0">
                <a:latin typeface="Times New Roman" panose="02020603050405020304" pitchFamily="18" charset="0"/>
                <a:cs typeface="Times New Roman" panose="02020603050405020304" pitchFamily="18" charset="0"/>
              </a:rPr>
              <a:t>McBurney’s</a:t>
            </a:r>
            <a:r>
              <a:rPr lang="en-US" sz="2800" dirty="0" smtClean="0">
                <a:latin typeface="Times New Roman" panose="02020603050405020304" pitchFamily="18" charset="0"/>
                <a:cs typeface="Times New Roman" panose="02020603050405020304" pitchFamily="18" charset="0"/>
              </a:rPr>
              <a:t> point – situated one third of the distance from the right anterior superior iliac spine to the umbilicus. This corresponds to the location of the base of the appendix when it lies in a </a:t>
            </a:r>
            <a:r>
              <a:rPr lang="en-US" sz="2800" dirty="0" err="1" smtClean="0">
                <a:latin typeface="Times New Roman" panose="02020603050405020304" pitchFamily="18" charset="0"/>
                <a:cs typeface="Times New Roman" panose="02020603050405020304" pitchFamily="18" charset="0"/>
              </a:rPr>
              <a:t>retrocecal</a:t>
            </a:r>
            <a:r>
              <a:rPr lang="en-US" sz="2800" dirty="0" smtClean="0">
                <a:latin typeface="Times New Roman" panose="02020603050405020304" pitchFamily="18" charset="0"/>
                <a:cs typeface="Times New Roman" panose="02020603050405020304" pitchFamily="18" charset="0"/>
              </a:rPr>
              <a:t> position.</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The </a:t>
            </a:r>
            <a:r>
              <a:rPr lang="en-US" sz="2800" dirty="0" err="1" smtClean="0">
                <a:latin typeface="Times New Roman" panose="02020603050405020304" pitchFamily="18" charset="0"/>
                <a:cs typeface="Times New Roman" panose="02020603050405020304" pitchFamily="18" charset="0"/>
              </a:rPr>
              <a:t>aetiology</a:t>
            </a:r>
            <a:r>
              <a:rPr lang="en-US" sz="2800" dirty="0" smtClean="0">
                <a:latin typeface="Times New Roman" panose="02020603050405020304" pitchFamily="18" charset="0"/>
                <a:cs typeface="Times New Roman" panose="02020603050405020304" pitchFamily="18" charset="0"/>
              </a:rPr>
              <a:t> of appendicitis depends on age. In the young, it is mostly due to an increase in lymphoid tissue size, which occludes the lumen. From 30 years old onwards, it is more likely to be blocked due a </a:t>
            </a:r>
            <a:r>
              <a:rPr lang="en-US" sz="2800" dirty="0" err="1" smtClean="0">
                <a:latin typeface="Times New Roman" panose="02020603050405020304" pitchFamily="18" charset="0"/>
                <a:cs typeface="Times New Roman" panose="02020603050405020304" pitchFamily="18" charset="0"/>
              </a:rPr>
              <a:t>faecolith</a:t>
            </a:r>
            <a:r>
              <a:rPr lang="en-US" sz="2800" dirty="0" smtClean="0">
                <a:latin typeface="Times New Roman" panose="02020603050405020304" pitchFamily="18" charset="0"/>
                <a:cs typeface="Times New Roman" panose="02020603050405020304" pitchFamily="18" charset="0"/>
              </a:rPr>
              <a:t>.</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58030"/>
            <a:ext cx="12191999" cy="2677656"/>
          </a:xfrm>
          <a:prstGeom prst="rect">
            <a:avLst/>
          </a:prstGeom>
        </p:spPr>
        <p:txBody>
          <a:bodyPr wrap="square">
            <a:spAutoFit/>
          </a:bodyPr>
          <a:lstStyle/>
          <a:p>
            <a:r>
              <a:rPr lang="en-US" sz="2800" dirty="0" smtClean="0">
                <a:latin typeface="Times New Roman" panose="02020603050405020304" pitchFamily="18" charset="0"/>
                <a:cs typeface="Times New Roman" panose="02020603050405020304" pitchFamily="18" charset="0"/>
              </a:rPr>
              <a:t>Initially, pain from the appendix and its visceral peritoneum is referred to the umbilical region. As the appendix becomes increasingly inflamed, it irritates the parietal peritoneum, causing the pain to </a:t>
            </a:r>
            <a:r>
              <a:rPr lang="en-US" sz="2800" dirty="0" err="1" smtClean="0">
                <a:latin typeface="Times New Roman" panose="02020603050405020304" pitchFamily="18" charset="0"/>
                <a:cs typeface="Times New Roman" panose="02020603050405020304" pitchFamily="18" charset="0"/>
              </a:rPr>
              <a:t>localise</a:t>
            </a:r>
            <a:r>
              <a:rPr lang="en-US" sz="2800" dirty="0" smtClean="0">
                <a:latin typeface="Times New Roman" panose="02020603050405020304" pitchFamily="18" charset="0"/>
                <a:cs typeface="Times New Roman" panose="02020603050405020304" pitchFamily="18" charset="0"/>
              </a:rPr>
              <a:t> to the right lower quadrant.</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If the appendix is not removed, it can become necrotic and rupture, resulting in peritonitis (inflammation of the peritoneum).</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11070</Words>
  <Application>WPS Presentation</Application>
  <PresentationFormat>Widescreen</PresentationFormat>
  <Paragraphs>207</Paragraphs>
  <Slides>24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Times New Roman</vt:lpstr>
      <vt:lpstr>acumin-pro</vt:lpstr>
      <vt:lpstr>Liberation Mono</vt:lpstr>
      <vt:lpstr>Microsoft YaHei</vt:lpstr>
      <vt:lpstr>Arial Unicode MS</vt:lpstr>
      <vt:lpstr>Calibri Light</vt:lpstr>
      <vt:lpstr>Calibri</vt:lpstr>
      <vt:lpstr>Office Theme</vt:lpstr>
      <vt:lpstr>COLON AND APPENDIX</vt:lpstr>
      <vt:lpstr>LEARNING OBJECTIVES</vt:lpstr>
      <vt:lpstr>		INTRODUCTION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COLON AND APPENDIX</dc:title>
  <dc:creator>HP</dc:creator>
  <cp:lastModifiedBy>HP</cp:lastModifiedBy>
  <cp:revision>70</cp:revision>
  <dcterms:created xsi:type="dcterms:W3CDTF">2024-03-17T21:51:00Z</dcterms:created>
  <dcterms:modified xsi:type="dcterms:W3CDTF">2025-02-07T06:43:20Z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57B8E5586BFB49A9BA8E1D2A9058648B_12</vt:lpwstr>
  </property>
  <property fmtid="{D5CDD505-2E9C-101B-9397-08002B2CF9AE}" pid="3" name="KSOProductBuildVer">
    <vt:lpwstr>1033-12.2.0.19805</vt:lpwstr>
  </property>
</Properties>
</file>