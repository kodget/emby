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73" r:id="rId4"/>
    <p:sldId id="286" r:id="rId5"/>
    <p:sldId id="274" r:id="rId6"/>
    <p:sldId id="275" r:id="rId7"/>
    <p:sldId id="285" r:id="rId8"/>
    <p:sldId id="276" r:id="rId9"/>
    <p:sldId id="277" r:id="rId10"/>
    <p:sldId id="278" r:id="rId11"/>
    <p:sldId id="287" r:id="rId12"/>
    <p:sldId id="279" r:id="rId13"/>
    <p:sldId id="280" r:id="rId14"/>
    <p:sldId id="281" r:id="rId15"/>
    <p:sldId id="282" r:id="rId16"/>
    <p:sldId id="283" r:id="rId18"/>
    <p:sldId id="284" r:id="rId19"/>
    <p:sldId id="288" r:id="rId20"/>
    <p:sldId id="266" r:id="rId21"/>
    <p:sldId id="291" r:id="rId22"/>
    <p:sldId id="268" r:id="rId23"/>
    <p:sldId id="269" r:id="rId24"/>
    <p:sldId id="270" r:id="rId25"/>
    <p:sldId id="271" r:id="rId26"/>
    <p:sldId id="272" r:id="rId27"/>
    <p:sldId id="260" r:id="rId28"/>
    <p:sldId id="290" r:id="rId29"/>
    <p:sldId id="263" r:id="rId30"/>
    <p:sldId id="26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81821F-3B36-4EBC-B8D3-1C529BA7A2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81821F-3B36-4EBC-B8D3-1C529BA7A2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A581821F-3B36-4EBC-B8D3-1C529BA7A2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A581821F-3B36-4EBC-B8D3-1C529BA7A2A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A581821F-3B36-4EBC-B8D3-1C529BA7A2A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81821F-3B36-4EBC-B8D3-1C529BA7A2A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81821F-3B36-4EBC-B8D3-1C529BA7A2A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581821F-3B36-4EBC-B8D3-1C529BA7A2A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581821F-3B36-4EBC-B8D3-1C529BA7A2A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81821F-3B36-4EBC-B8D3-1C529BA7A2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81821F-3B36-4EBC-B8D3-1C529BA7A2A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C1804B-A875-4FB7-9D16-6F68FC62FBE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81821F-3B36-4EBC-B8D3-1C529BA7A2A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1804B-A875-4FB7-9D16-6F68FC62FBE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sciencenotes.org/organs-in-the-body-diagram-list-and-functions/" TargetMode="Externa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teachmeanatomy.info/abdomen/viscera/pancreas/" TargetMode="External"/><Relationship Id="rId6" Type="http://schemas.openxmlformats.org/officeDocument/2006/relationships/hyperlink" Target="https://teachmeanatomy.info/abdomen/viscera/kidney/" TargetMode="External"/><Relationship Id="rId5" Type="http://schemas.openxmlformats.org/officeDocument/2006/relationships/hyperlink" Target="https://teachmeanatomy.info/abdomen/gi-tract/colon/" TargetMode="External"/><Relationship Id="rId4" Type="http://schemas.openxmlformats.org/officeDocument/2006/relationships/hyperlink" Target="https://teachmeanatomy.info/thorax/bones/ribcage/" TargetMode="External"/><Relationship Id="rId3" Type="http://schemas.openxmlformats.org/officeDocument/2006/relationships/hyperlink" Target="https://teachmeanatomy.info/thorax/organs/lungs/" TargetMode="External"/><Relationship Id="rId2" Type="http://schemas.openxmlformats.org/officeDocument/2006/relationships/hyperlink" Target="https://teachmeanatomy.info/thorax/muscles/diaphragm/" TargetMode="External"/><Relationship Id="rId1" Type="http://schemas.openxmlformats.org/officeDocument/2006/relationships/hyperlink" Target="https://teachmeanatomy.info/abdomen/gi-tract/stomach/"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sciencenotes.org/parasitism-definition-and-examples/" TargetMode="External"/><Relationship Id="rId2" Type="http://schemas.openxmlformats.org/officeDocument/2006/relationships/hyperlink" Target="https://sciencenotes.org/examples-of-bacteria-in-everyday-life/" TargetMode="External"/><Relationship Id="rId1" Type="http://schemas.openxmlformats.org/officeDocument/2006/relationships/hyperlink" Target="https://sciencenotes.org/facts-about-viruse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KIDNEY AND SPLEEN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latin typeface="Times New Roman" panose="02020603050405020304" pitchFamily="18" charset="0"/>
                <a:cs typeface="Times New Roman" panose="02020603050405020304" pitchFamily="18" charset="0"/>
              </a:rPr>
              <a:t>BY</a:t>
            </a:r>
            <a:endParaRPr lang="en-GB" dirty="0" smtClean="0">
              <a:latin typeface="Times New Roman" panose="02020603050405020304" pitchFamily="18" charset="0"/>
              <a:cs typeface="Times New Roman" panose="02020603050405020304" pitchFamily="18" charset="0"/>
            </a:endParaRPr>
          </a:p>
          <a:p>
            <a:r>
              <a:rPr lang="en-GB" dirty="0" smtClean="0">
                <a:latin typeface="Times New Roman" panose="02020603050405020304" pitchFamily="18" charset="0"/>
                <a:cs typeface="Times New Roman" panose="02020603050405020304" pitchFamily="18" charset="0"/>
              </a:rPr>
              <a:t>Dr. F.O. OPOOLA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238500" y="762000"/>
            <a:ext cx="5715000" cy="5334000"/>
          </a:xfrm>
          <a:prstGeom prst="rect">
            <a:avLst/>
          </a:prstGeom>
        </p:spPr>
      </p:pic>
      <p:sp>
        <p:nvSpPr>
          <p:cNvPr id="3" name="Rectangle 2"/>
          <p:cNvSpPr/>
          <p:nvPr/>
        </p:nvSpPr>
        <p:spPr>
          <a:xfrm>
            <a:off x="3511954" y="6243908"/>
            <a:ext cx="3134191" cy="369332"/>
          </a:xfrm>
          <a:prstGeom prst="rect">
            <a:avLst/>
          </a:prstGeom>
        </p:spPr>
        <p:txBody>
          <a:bodyPr wrap="none">
            <a:spAutoFit/>
          </a:bodyPr>
          <a:lstStyle/>
          <a:p>
            <a:r>
              <a:rPr lang="en-US" b="0" i="0" dirty="0" smtClean="0">
                <a:solidFill>
                  <a:srgbClr val="000000"/>
                </a:solidFill>
                <a:effectLst/>
                <a:latin typeface="acumin-pro"/>
              </a:rPr>
              <a:t>Overview of the urinary tract.</a:t>
            </a:r>
            <a:endParaRPr lang="en-US" dirty="0"/>
          </a:p>
        </p:txBody>
      </p:sp>
      <p:sp>
        <p:nvSpPr>
          <p:cNvPr id="4" name="TextBox 3"/>
          <p:cNvSpPr txBox="1"/>
          <p:nvPr/>
        </p:nvSpPr>
        <p:spPr>
          <a:xfrm>
            <a:off x="1264778" y="350378"/>
            <a:ext cx="6905001" cy="769441"/>
          </a:xfrm>
          <a:prstGeom prst="rect">
            <a:avLst/>
          </a:prstGeom>
          <a:noFill/>
        </p:spPr>
        <p:txBody>
          <a:bodyPr wrap="square" rtlCol="0">
            <a:spAutoFit/>
          </a:bodyPr>
          <a:lstStyle/>
          <a:p>
            <a:r>
              <a:rPr lang="en-GB" sz="4400" dirty="0" smtClean="0">
                <a:solidFill>
                  <a:srgbClr val="C00000"/>
                </a:solidFill>
                <a:latin typeface="Times New Roman" panose="02020603050405020304" pitchFamily="18" charset="0"/>
                <a:cs typeface="Times New Roman" panose="02020603050405020304" pitchFamily="18" charset="0"/>
              </a:rPr>
              <a:t>KIDNEY</a:t>
            </a:r>
            <a:endParaRPr lang="en-US" sz="44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6614" y="182886"/>
            <a:ext cx="12015386" cy="6494085"/>
          </a:xfrm>
          <a:prstGeom prst="rect">
            <a:avLst/>
          </a:prstGeom>
        </p:spPr>
        <p:txBody>
          <a:bodyPr wrap="square">
            <a:spAutoFit/>
          </a:bodyPr>
          <a:lstStyle/>
          <a:p>
            <a:pPr marL="457200" indent="-4572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Introduction</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Anatomical position</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Structure</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Anatomical relation</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err="1" smtClean="0">
                <a:latin typeface="Times New Roman" panose="02020603050405020304" pitchFamily="18" charset="0"/>
                <a:cs typeface="Times New Roman" panose="02020603050405020304" pitchFamily="18" charset="0"/>
              </a:rPr>
              <a:t>Vasculation</a:t>
            </a:r>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Innervation</a:t>
            </a:r>
            <a:endParaRPr lang="en-US" sz="3200" dirty="0" smtClean="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lymphatic</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27112" y="604788"/>
            <a:ext cx="10783175" cy="5940088"/>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Anatomical Position</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endParaRPr lang="en-GB" sz="3200" b="1" dirty="0">
              <a:solidFill>
                <a:srgbClr val="C00000"/>
              </a:solidFill>
              <a:latin typeface="Times New Roman" panose="02020603050405020304" pitchFamily="18" charset="0"/>
              <a:cs typeface="Times New Roman" panose="02020603050405020304" pitchFamily="18" charset="0"/>
            </a:endParaRPr>
          </a:p>
          <a:p>
            <a:endParaRPr lang="en-GB" sz="32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 kidneys lie </a:t>
            </a:r>
            <a:r>
              <a:rPr lang="en-US" sz="2800" b="1" i="0" dirty="0" err="1" smtClean="0">
                <a:solidFill>
                  <a:srgbClr val="000000"/>
                </a:solidFill>
                <a:effectLst/>
                <a:latin typeface="Times New Roman" panose="02020603050405020304" pitchFamily="18" charset="0"/>
                <a:cs typeface="Times New Roman" panose="02020603050405020304" pitchFamily="18" charset="0"/>
              </a:rPr>
              <a:t>retroperitoneally</a:t>
            </a:r>
            <a:r>
              <a:rPr lang="en-US" sz="2800" b="0" i="0" dirty="0" smtClean="0">
                <a:solidFill>
                  <a:srgbClr val="000000"/>
                </a:solidFill>
                <a:effectLst/>
                <a:latin typeface="Times New Roman" panose="02020603050405020304" pitchFamily="18" charset="0"/>
                <a:cs typeface="Times New Roman" panose="02020603050405020304" pitchFamily="18" charset="0"/>
              </a:rPr>
              <a:t> (behind the peritoneum) in the abdomen, either side of the vertebral column.</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They typically extend from </a:t>
            </a:r>
            <a:r>
              <a:rPr lang="en-US" sz="2800" b="1" i="0" dirty="0" smtClean="0">
                <a:solidFill>
                  <a:srgbClr val="000000"/>
                </a:solidFill>
                <a:effectLst/>
                <a:latin typeface="Times New Roman" panose="02020603050405020304" pitchFamily="18" charset="0"/>
                <a:cs typeface="Times New Roman" panose="02020603050405020304" pitchFamily="18" charset="0"/>
              </a:rPr>
              <a:t>T12 to L3</a:t>
            </a:r>
            <a:r>
              <a:rPr lang="en-US" sz="2800" b="0" i="0" dirty="0" smtClean="0">
                <a:solidFill>
                  <a:srgbClr val="000000"/>
                </a:solidFill>
                <a:effectLst/>
                <a:latin typeface="Times New Roman" panose="02020603050405020304" pitchFamily="18" charset="0"/>
                <a:cs typeface="Times New Roman" panose="02020603050405020304" pitchFamily="18" charset="0"/>
              </a:rPr>
              <a:t>, although the right kidney is often situated slightly lower due to the presence of the liver. Each kidney is approximately three vertebrae in length.</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 </a:t>
            </a:r>
            <a:r>
              <a:rPr lang="en-US" sz="2800" b="0" i="0" u="none" strike="noStrike" dirty="0" smtClean="0">
                <a:solidFill>
                  <a:srgbClr val="000000"/>
                </a:solidFill>
                <a:effectLst/>
                <a:latin typeface="Times New Roman" panose="02020603050405020304" pitchFamily="18" charset="0"/>
                <a:cs typeface="Times New Roman" panose="02020603050405020304" pitchFamily="18" charset="0"/>
              </a:rPr>
              <a:t>adrenal glands</a:t>
            </a:r>
            <a:r>
              <a:rPr lang="en-US" sz="2800" b="0" i="0" dirty="0" smtClean="0">
                <a:solidFill>
                  <a:srgbClr val="000000"/>
                </a:solidFill>
                <a:effectLst/>
                <a:latin typeface="Times New Roman" panose="02020603050405020304" pitchFamily="18" charset="0"/>
                <a:cs typeface="Times New Roman" panose="02020603050405020304" pitchFamily="18" charset="0"/>
              </a:rPr>
              <a:t> sit immediately superior to the kidneys within a separate envelope of the</a:t>
            </a:r>
            <a:r>
              <a:rPr lang="en-US" sz="2800" b="1" i="0" dirty="0" smtClean="0">
                <a:solidFill>
                  <a:srgbClr val="000000"/>
                </a:solidFill>
                <a:effectLst/>
                <a:latin typeface="Times New Roman" panose="02020603050405020304" pitchFamily="18" charset="0"/>
                <a:cs typeface="Times New Roman" panose="02020603050405020304" pitchFamily="18" charset="0"/>
              </a:rPr>
              <a:t> renal fascia</a:t>
            </a:r>
            <a:r>
              <a:rPr lang="en-US" sz="2800" b="0" i="0" dirty="0" smtClean="0">
                <a:solidFill>
                  <a:srgbClr val="000000"/>
                </a:solidFill>
                <a:effectLst/>
                <a:latin typeface="Times New Roman" panose="02020603050405020304" pitchFamily="18" charset="0"/>
                <a:cs typeface="Times New Roman" panose="02020603050405020304" pitchFamily="18" charset="0"/>
              </a:rPr>
              <a:t>.</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0" y="0"/>
            <a:ext cx="9753600" cy="6264067"/>
          </a:xfrm>
          <a:prstGeom prst="rect">
            <a:avLst/>
          </a:prstGeom>
        </p:spPr>
      </p:pic>
      <p:sp>
        <p:nvSpPr>
          <p:cNvPr id="3" name="TextBox 2"/>
          <p:cNvSpPr txBox="1"/>
          <p:nvPr/>
        </p:nvSpPr>
        <p:spPr>
          <a:xfrm>
            <a:off x="769121" y="6246976"/>
            <a:ext cx="5315485" cy="369332"/>
          </a:xfrm>
          <a:prstGeom prst="rect">
            <a:avLst/>
          </a:prstGeom>
          <a:noFill/>
        </p:spPr>
        <p:txBody>
          <a:bodyPr wrap="square" rtlCol="0">
            <a:spAutoFit/>
          </a:bodyPr>
          <a:lstStyle/>
          <a:p>
            <a:r>
              <a:rPr lang="en-GB" dirty="0" err="1" smtClean="0"/>
              <a:t>Prosection</a:t>
            </a:r>
            <a:r>
              <a:rPr lang="en-GB" dirty="0" smtClean="0"/>
              <a:t> of the kidney within the abdominal cavity</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79064"/>
            <a:ext cx="11670706" cy="4278094"/>
          </a:xfrm>
          <a:prstGeom prst="rect">
            <a:avLst/>
          </a:prstGeom>
        </p:spPr>
        <p:txBody>
          <a:bodyPr wrap="square">
            <a:spAutoFit/>
          </a:bodyPr>
          <a:lstStyle/>
          <a:p>
            <a:r>
              <a:rPr lang="en-US" sz="3200" i="0" dirty="0" smtClean="0">
                <a:solidFill>
                  <a:srgbClr val="C00000"/>
                </a:solidFill>
                <a:effectLst/>
                <a:latin typeface="Times New Roman" panose="02020603050405020304" pitchFamily="18" charset="0"/>
                <a:cs typeface="Times New Roman" panose="02020603050405020304" pitchFamily="18" charset="0"/>
              </a:rPr>
              <a:t>Venous Drainage</a:t>
            </a:r>
            <a:endParaRPr lang="en-US" sz="3200" i="0" dirty="0" smtClean="0">
              <a:solidFill>
                <a:srgbClr val="C00000"/>
              </a:solidFill>
              <a:effectLst/>
              <a:latin typeface="Times New Roman" panose="02020603050405020304" pitchFamily="18" charset="0"/>
              <a:cs typeface="Times New Roman" panose="02020603050405020304" pitchFamily="18" charset="0"/>
            </a:endParaRPr>
          </a:p>
          <a:p>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kidneys are drained of venous blood by the left and right </a:t>
            </a:r>
            <a:r>
              <a:rPr lang="en-US" sz="2400" b="1" i="0" dirty="0" smtClean="0">
                <a:solidFill>
                  <a:srgbClr val="000000"/>
                </a:solidFill>
                <a:effectLst/>
                <a:latin typeface="Times New Roman" panose="02020603050405020304" pitchFamily="18" charset="0"/>
                <a:cs typeface="Times New Roman" panose="02020603050405020304" pitchFamily="18" charset="0"/>
              </a:rPr>
              <a:t>renal veins</a:t>
            </a:r>
            <a:r>
              <a:rPr lang="en-US" sz="2400" b="0" i="0" dirty="0" smtClean="0">
                <a:solidFill>
                  <a:srgbClr val="000000"/>
                </a:solidFill>
                <a:effectLst/>
                <a:latin typeface="Times New Roman" panose="02020603050405020304" pitchFamily="18" charset="0"/>
                <a:cs typeface="Times New Roman" panose="02020603050405020304" pitchFamily="18" charset="0"/>
              </a:rPr>
              <a:t>. They leave the renal hilum anteriorly to the renal arteries, and empty directly into the inferior vena cava.</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As the vena cava lies slightly to the right, the left renal vein is longer, and travels anteriorly to the abdominal aorta below the origin of the superior mesenteric artery. The right renal artery lies posterior to the inferior vena cava.</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1" i="0" dirty="0" err="1" smtClean="0">
                <a:solidFill>
                  <a:srgbClr val="C00000"/>
                </a:solidFill>
                <a:effectLst/>
                <a:latin typeface="Times New Roman" panose="02020603050405020304" pitchFamily="18" charset="0"/>
                <a:cs typeface="Times New Roman" panose="02020603050405020304" pitchFamily="18" charset="0"/>
              </a:rPr>
              <a:t>Lymphatics</a:t>
            </a:r>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Lymph from the kidney drains into the </a:t>
            </a:r>
            <a:r>
              <a:rPr lang="en-US" sz="2400" b="1" i="0" dirty="0" smtClean="0">
                <a:solidFill>
                  <a:srgbClr val="000000"/>
                </a:solidFill>
                <a:effectLst/>
                <a:latin typeface="Times New Roman" panose="02020603050405020304" pitchFamily="18" charset="0"/>
                <a:cs typeface="Times New Roman" panose="02020603050405020304" pitchFamily="18" charset="0"/>
              </a:rPr>
              <a:t>lateral aortic (or para-aortic) lymph nodes</a:t>
            </a:r>
            <a:r>
              <a:rPr lang="en-US" sz="2400" b="0" i="0" dirty="0" smtClean="0">
                <a:solidFill>
                  <a:srgbClr val="000000"/>
                </a:solidFill>
                <a:effectLst/>
                <a:latin typeface="Times New Roman" panose="02020603050405020304" pitchFamily="18" charset="0"/>
                <a:cs typeface="Times New Roman" panose="02020603050405020304" pitchFamily="18" charset="0"/>
              </a:rPr>
              <a:t>, which are located at the origin of the renal arteries.</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4561" y="596329"/>
            <a:ext cx="10904433" cy="5509200"/>
          </a:xfrm>
          <a:prstGeom prst="rect">
            <a:avLst/>
          </a:prstGeom>
        </p:spPr>
        <p:txBody>
          <a:bodyPr wrap="square">
            <a:spAutoFit/>
          </a:bodyPr>
          <a:lstStyle/>
          <a:p>
            <a:r>
              <a:rPr lang="en-US" sz="3600" b="1" dirty="0" smtClean="0">
                <a:solidFill>
                  <a:srgbClr val="C00000"/>
                </a:solidFill>
                <a:latin typeface="Times New Roman" panose="02020603050405020304" pitchFamily="18" charset="0"/>
                <a:cs typeface="Times New Roman" panose="02020603050405020304" pitchFamily="18" charset="0"/>
              </a:rPr>
              <a:t>Kidney Structure</a:t>
            </a:r>
            <a:endParaRPr lang="en-US" sz="3600" b="1" dirty="0" smtClean="0">
              <a:solidFill>
                <a:srgbClr val="C00000"/>
              </a:solidFill>
              <a:latin typeface="Times New Roman" panose="02020603050405020304" pitchFamily="18" charset="0"/>
              <a:cs typeface="Times New Roman" panose="02020603050405020304" pitchFamily="18" charset="0"/>
            </a:endParaRPr>
          </a:p>
          <a:p>
            <a:endParaRPr lang="en-US" sz="3600" b="1" dirty="0" smtClean="0">
              <a:solidFill>
                <a:srgbClr val="C00000"/>
              </a:solidFill>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kidneys are encased in complex layers of fascia and fat. They are arranged as  (deep to superficial):</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b="1" dirty="0" smtClean="0">
                <a:latin typeface="Times New Roman" panose="02020603050405020304" pitchFamily="18" charset="0"/>
                <a:cs typeface="Times New Roman" panose="02020603050405020304" pitchFamily="18" charset="0"/>
              </a:rPr>
              <a:t>Renal capsule </a:t>
            </a:r>
            <a:r>
              <a:rPr lang="en-US" sz="2800" dirty="0" smtClean="0">
                <a:latin typeface="Times New Roman" panose="02020603050405020304" pitchFamily="18" charset="0"/>
                <a:cs typeface="Times New Roman" panose="02020603050405020304" pitchFamily="18" charset="0"/>
              </a:rPr>
              <a:t>– tough fibrous capsule.</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b="1" dirty="0" err="1" smtClean="0">
                <a:latin typeface="Times New Roman" panose="02020603050405020304" pitchFamily="18" charset="0"/>
                <a:cs typeface="Times New Roman" panose="02020603050405020304" pitchFamily="18" charset="0"/>
              </a:rPr>
              <a:t>Perirenal</a:t>
            </a:r>
            <a:r>
              <a:rPr lang="en-US" sz="2800" b="1" dirty="0" smtClean="0">
                <a:latin typeface="Times New Roman" panose="02020603050405020304" pitchFamily="18" charset="0"/>
                <a:cs typeface="Times New Roman" panose="02020603050405020304" pitchFamily="18" charset="0"/>
              </a:rPr>
              <a:t> fat </a:t>
            </a:r>
            <a:r>
              <a:rPr lang="en-US" sz="2800" dirty="0" smtClean="0">
                <a:latin typeface="Times New Roman" panose="02020603050405020304" pitchFamily="18" charset="0"/>
                <a:cs typeface="Times New Roman" panose="02020603050405020304" pitchFamily="18" charset="0"/>
              </a:rPr>
              <a:t>– collection of </a:t>
            </a:r>
            <a:r>
              <a:rPr lang="en-US" sz="2800" dirty="0" err="1" smtClean="0">
                <a:latin typeface="Times New Roman" panose="02020603050405020304" pitchFamily="18" charset="0"/>
                <a:cs typeface="Times New Roman" panose="02020603050405020304" pitchFamily="18" charset="0"/>
              </a:rPr>
              <a:t>extraperitoneal</a:t>
            </a:r>
            <a:r>
              <a:rPr lang="en-US" sz="2800" dirty="0" smtClean="0">
                <a:latin typeface="Times New Roman" panose="02020603050405020304" pitchFamily="18" charset="0"/>
                <a:cs typeface="Times New Roman" panose="02020603050405020304" pitchFamily="18" charset="0"/>
              </a:rPr>
              <a:t> fat.</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Renal fascia (also known as </a:t>
            </a:r>
            <a:r>
              <a:rPr lang="en-US" sz="2800" dirty="0" err="1" smtClean="0">
                <a:latin typeface="Times New Roman" panose="02020603050405020304" pitchFamily="18" charset="0"/>
                <a:cs typeface="Times New Roman" panose="02020603050405020304" pitchFamily="18" charset="0"/>
              </a:rPr>
              <a:t>Gerota’s</a:t>
            </a:r>
            <a:r>
              <a:rPr lang="en-US" sz="2800" dirty="0" smtClean="0">
                <a:latin typeface="Times New Roman" panose="02020603050405020304" pitchFamily="18" charset="0"/>
                <a:cs typeface="Times New Roman" panose="02020603050405020304" pitchFamily="18" charset="0"/>
              </a:rPr>
              <a:t> fascia or </a:t>
            </a:r>
            <a:r>
              <a:rPr lang="en-US" sz="2800" dirty="0" err="1" smtClean="0">
                <a:latin typeface="Times New Roman" panose="02020603050405020304" pitchFamily="18" charset="0"/>
                <a:cs typeface="Times New Roman" panose="02020603050405020304" pitchFamily="18" charset="0"/>
              </a:rPr>
              <a:t>perirenal</a:t>
            </a:r>
            <a:r>
              <a:rPr lang="en-US" sz="2800" dirty="0" smtClean="0">
                <a:latin typeface="Times New Roman" panose="02020603050405020304" pitchFamily="18" charset="0"/>
                <a:cs typeface="Times New Roman" panose="02020603050405020304" pitchFamily="18" charset="0"/>
              </a:rPr>
              <a:t> fascia) – encloses the kidneys and the suprarenal glands.</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b="1" dirty="0" err="1" smtClean="0">
                <a:latin typeface="Times New Roman" panose="02020603050405020304" pitchFamily="18" charset="0"/>
                <a:cs typeface="Times New Roman" panose="02020603050405020304" pitchFamily="18" charset="0"/>
              </a:rPr>
              <a:t>Pararenal</a:t>
            </a:r>
            <a:r>
              <a:rPr lang="en-US" sz="2800" b="1" dirty="0" smtClean="0">
                <a:latin typeface="Times New Roman" panose="02020603050405020304" pitchFamily="18" charset="0"/>
                <a:cs typeface="Times New Roman" panose="02020603050405020304" pitchFamily="18" charset="0"/>
              </a:rPr>
              <a:t> fat </a:t>
            </a:r>
            <a:r>
              <a:rPr lang="en-US" sz="2800" dirty="0" smtClean="0">
                <a:latin typeface="Times New Roman" panose="02020603050405020304" pitchFamily="18" charset="0"/>
                <a:cs typeface="Times New Roman" panose="02020603050405020304" pitchFamily="18" charset="0"/>
              </a:rPr>
              <a:t>– mainly located on the </a:t>
            </a:r>
            <a:r>
              <a:rPr lang="en-US" sz="2800" dirty="0" err="1" smtClean="0">
                <a:latin typeface="Times New Roman" panose="02020603050405020304" pitchFamily="18" charset="0"/>
                <a:cs typeface="Times New Roman" panose="02020603050405020304" pitchFamily="18" charset="0"/>
              </a:rPr>
              <a:t>posterolateral</a:t>
            </a:r>
            <a:r>
              <a:rPr lang="en-US" sz="2800" dirty="0" smtClean="0">
                <a:latin typeface="Times New Roman" panose="02020603050405020304" pitchFamily="18" charset="0"/>
                <a:cs typeface="Times New Roman" panose="02020603050405020304" pitchFamily="18" charset="0"/>
              </a:rPr>
              <a:t> aspect of the kidney.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187723" y="1767421"/>
            <a:ext cx="7964681" cy="2981325"/>
          </a:xfrm>
          <a:prstGeom prst="rect">
            <a:avLst/>
          </a:prstGeom>
        </p:spPr>
      </p:pic>
      <p:sp>
        <p:nvSpPr>
          <p:cNvPr id="3" name="TextBox 2"/>
          <p:cNvSpPr txBox="1"/>
          <p:nvPr/>
        </p:nvSpPr>
        <p:spPr>
          <a:xfrm>
            <a:off x="3349951" y="5400942"/>
            <a:ext cx="5247118" cy="369332"/>
          </a:xfrm>
          <a:prstGeom prst="rect">
            <a:avLst/>
          </a:prstGeom>
          <a:noFill/>
        </p:spPr>
        <p:txBody>
          <a:bodyPr wrap="square" rtlCol="0">
            <a:spAutoFit/>
          </a:bodyPr>
          <a:lstStyle/>
          <a:p>
            <a:r>
              <a:rPr lang="en-GB" dirty="0" smtClean="0"/>
              <a:t>External structures of the kidney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370975"/>
          </a:xfrm>
          <a:prstGeom prst="rect">
            <a:avLst/>
          </a:prstGeom>
        </p:spPr>
        <p:txBody>
          <a:bodyPr wrap="square">
            <a:spAutoFit/>
          </a:bodyPr>
          <a:lstStyle/>
          <a:p>
            <a:r>
              <a:rPr lang="en-US" sz="2400" b="1" i="0" dirty="0" smtClean="0">
                <a:solidFill>
                  <a:srgbClr val="C00000"/>
                </a:solidFill>
                <a:effectLst/>
                <a:latin typeface="Times New Roman" panose="02020603050405020304" pitchFamily="18" charset="0"/>
                <a:cs typeface="Times New Roman" panose="02020603050405020304" pitchFamily="18" charset="0"/>
              </a:rPr>
              <a:t>Internally, the kidneys have an intricate and unique structure. </a:t>
            </a:r>
            <a:endParaRPr lang="en-US" sz="2400" b="1" i="0" dirty="0" smtClean="0">
              <a:solidFill>
                <a:srgbClr val="C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renal parenchyma can be divided into two main areas – the outer </a:t>
            </a:r>
            <a:r>
              <a:rPr lang="en-US" sz="2400" b="1" i="0" dirty="0" smtClean="0">
                <a:solidFill>
                  <a:srgbClr val="000000"/>
                </a:solidFill>
                <a:effectLst/>
                <a:latin typeface="Times New Roman" panose="02020603050405020304" pitchFamily="18" charset="0"/>
                <a:cs typeface="Times New Roman" panose="02020603050405020304" pitchFamily="18" charset="0"/>
              </a:rPr>
              <a:t>cortex</a:t>
            </a:r>
            <a:r>
              <a:rPr lang="en-US" sz="2400" b="0" i="0" dirty="0" smtClean="0">
                <a:solidFill>
                  <a:srgbClr val="000000"/>
                </a:solidFill>
                <a:effectLst/>
                <a:latin typeface="Times New Roman" panose="02020603050405020304" pitchFamily="18" charset="0"/>
                <a:cs typeface="Times New Roman" panose="02020603050405020304" pitchFamily="18" charset="0"/>
              </a:rPr>
              <a:t> and inner </a:t>
            </a:r>
            <a:r>
              <a:rPr lang="en-US" sz="2400" b="1" i="0" dirty="0" smtClean="0">
                <a:solidFill>
                  <a:srgbClr val="000000"/>
                </a:solidFill>
                <a:effectLst/>
                <a:latin typeface="Times New Roman" panose="02020603050405020304" pitchFamily="18" charset="0"/>
                <a:cs typeface="Times New Roman" panose="02020603050405020304" pitchFamily="18" charset="0"/>
              </a:rPr>
              <a:t>medulla</a:t>
            </a:r>
            <a:r>
              <a:rPr lang="en-US" sz="2400" b="0" i="0" dirty="0" smtClean="0">
                <a:solidFill>
                  <a:srgbClr val="000000"/>
                </a:solidFill>
                <a:effectLst/>
                <a:latin typeface="Times New Roman" panose="02020603050405020304" pitchFamily="18" charset="0"/>
                <a:cs typeface="Times New Roman" panose="02020603050405020304" pitchFamily="18" charset="0"/>
              </a:rPr>
              <a:t>. The cortex extends into the medulla, dividing it into triangular shapes – these are known as </a:t>
            </a:r>
            <a:r>
              <a:rPr lang="en-US" sz="2400" b="1" i="0" dirty="0" smtClean="0">
                <a:solidFill>
                  <a:srgbClr val="000000"/>
                </a:solidFill>
                <a:effectLst/>
                <a:latin typeface="Times New Roman" panose="02020603050405020304" pitchFamily="18" charset="0"/>
                <a:cs typeface="Times New Roman" panose="02020603050405020304" pitchFamily="18" charset="0"/>
              </a:rPr>
              <a:t>renal pyramids</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apex of a renal pyramid is called a </a:t>
            </a:r>
            <a:r>
              <a:rPr lang="en-US" sz="2400" b="1" i="0" dirty="0" smtClean="0">
                <a:solidFill>
                  <a:srgbClr val="000000"/>
                </a:solidFill>
                <a:effectLst/>
                <a:latin typeface="Times New Roman" panose="02020603050405020304" pitchFamily="18" charset="0"/>
                <a:cs typeface="Times New Roman" panose="02020603050405020304" pitchFamily="18" charset="0"/>
              </a:rPr>
              <a:t>renal papilla</a:t>
            </a:r>
            <a:r>
              <a:rPr lang="en-US" sz="2400" b="0" i="0" dirty="0" smtClean="0">
                <a:solidFill>
                  <a:srgbClr val="000000"/>
                </a:solidFill>
                <a:effectLst/>
                <a:latin typeface="Times New Roman" panose="02020603050405020304" pitchFamily="18" charset="0"/>
                <a:cs typeface="Times New Roman" panose="02020603050405020304" pitchFamily="18" charset="0"/>
              </a:rPr>
              <a:t>. Each renal papilla is associated with a structure known as the </a:t>
            </a:r>
            <a:r>
              <a:rPr lang="en-US" sz="2400" b="1" i="0" dirty="0" smtClean="0">
                <a:solidFill>
                  <a:srgbClr val="000000"/>
                </a:solidFill>
                <a:effectLst/>
                <a:latin typeface="Times New Roman" panose="02020603050405020304" pitchFamily="18" charset="0"/>
                <a:cs typeface="Times New Roman" panose="02020603050405020304" pitchFamily="18" charset="0"/>
              </a:rPr>
              <a:t>minor calyx</a:t>
            </a:r>
            <a:r>
              <a:rPr lang="en-US" sz="2400" b="0" i="0" dirty="0" smtClean="0">
                <a:solidFill>
                  <a:srgbClr val="000000"/>
                </a:solidFill>
                <a:effectLst/>
                <a:latin typeface="Times New Roman" panose="02020603050405020304" pitchFamily="18" charset="0"/>
                <a:cs typeface="Times New Roman" panose="02020603050405020304" pitchFamily="18" charset="0"/>
              </a:rPr>
              <a:t>, which collects urine from the pyramids. Several minor calices merge to form a </a:t>
            </a:r>
            <a:r>
              <a:rPr lang="en-US" sz="2400" b="1" i="0" dirty="0" smtClean="0">
                <a:solidFill>
                  <a:srgbClr val="000000"/>
                </a:solidFill>
                <a:effectLst/>
                <a:latin typeface="Times New Roman" panose="02020603050405020304" pitchFamily="18" charset="0"/>
                <a:cs typeface="Times New Roman" panose="02020603050405020304" pitchFamily="18" charset="0"/>
              </a:rPr>
              <a:t>major calyx</a:t>
            </a:r>
            <a:r>
              <a:rPr lang="en-US" sz="2400" b="0" i="0" dirty="0" smtClean="0">
                <a:solidFill>
                  <a:srgbClr val="000000"/>
                </a:solidFill>
                <a:effectLst/>
                <a:latin typeface="Times New Roman" panose="02020603050405020304" pitchFamily="18" charset="0"/>
                <a:cs typeface="Times New Roman" panose="02020603050405020304" pitchFamily="18" charset="0"/>
              </a:rPr>
              <a:t>. </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Urine passes through the major calices into the </a:t>
            </a:r>
            <a:r>
              <a:rPr lang="en-US" sz="2400" b="1" i="0" dirty="0" smtClean="0">
                <a:solidFill>
                  <a:srgbClr val="000000"/>
                </a:solidFill>
                <a:effectLst/>
                <a:latin typeface="Times New Roman" panose="02020603050405020304" pitchFamily="18" charset="0"/>
                <a:cs typeface="Times New Roman" panose="02020603050405020304" pitchFamily="18" charset="0"/>
              </a:rPr>
              <a:t>renal pelvis</a:t>
            </a:r>
            <a:r>
              <a:rPr lang="en-US" sz="2400" b="0" i="0" dirty="0" smtClean="0">
                <a:solidFill>
                  <a:srgbClr val="000000"/>
                </a:solidFill>
                <a:effectLst/>
                <a:latin typeface="Times New Roman" panose="02020603050405020304" pitchFamily="18" charset="0"/>
                <a:cs typeface="Times New Roman" panose="02020603050405020304" pitchFamily="18" charset="0"/>
              </a:rPr>
              <a:t>, a flattened and funnel-shaped structure. From the renal pelvis, urine drains into the ureter, which transports it to the bladder for storage.</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medial margin of each kidney is marked by a deep fissure, known as the </a:t>
            </a:r>
            <a:r>
              <a:rPr lang="en-US" sz="2400" b="1" i="0" dirty="0" smtClean="0">
                <a:solidFill>
                  <a:srgbClr val="000000"/>
                </a:solidFill>
                <a:effectLst/>
                <a:latin typeface="Times New Roman" panose="02020603050405020304" pitchFamily="18" charset="0"/>
                <a:cs typeface="Times New Roman" panose="02020603050405020304" pitchFamily="18" charset="0"/>
              </a:rPr>
              <a:t>renal hilum</a:t>
            </a:r>
            <a:r>
              <a:rPr lang="en-US" sz="2400" b="0" i="0" dirty="0" smtClean="0">
                <a:solidFill>
                  <a:srgbClr val="000000"/>
                </a:solidFill>
                <a:effectLst/>
                <a:latin typeface="Times New Roman" panose="02020603050405020304" pitchFamily="18" charset="0"/>
                <a:cs typeface="Times New Roman" panose="02020603050405020304" pitchFamily="18" charset="0"/>
              </a:rPr>
              <a:t>. This acts as a gateway to the kidney – normally the renal vessels and ureter enter/exit the kidney via this structure.</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524000" y="0"/>
            <a:ext cx="9144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771900" y="914400"/>
            <a:ext cx="4648200" cy="5029200"/>
          </a:xfrm>
          <a:prstGeom prst="rect">
            <a:avLst/>
          </a:prstGeom>
        </p:spPr>
      </p:pic>
      <p:sp>
        <p:nvSpPr>
          <p:cNvPr id="3" name="TextBox 2"/>
          <p:cNvSpPr txBox="1"/>
          <p:nvPr/>
        </p:nvSpPr>
        <p:spPr>
          <a:xfrm>
            <a:off x="1811708" y="6041877"/>
            <a:ext cx="4862557" cy="369332"/>
          </a:xfrm>
          <a:prstGeom prst="rect">
            <a:avLst/>
          </a:prstGeom>
          <a:noFill/>
        </p:spPr>
        <p:txBody>
          <a:bodyPr wrap="square" rtlCol="0">
            <a:spAutoFit/>
          </a:bodyPr>
          <a:lstStyle/>
          <a:p>
            <a:r>
              <a:rPr lang="en-GB" dirty="0" smtClean="0">
                <a:latin typeface="Times New Roman" panose="02020603050405020304" pitchFamily="18" charset="0"/>
                <a:cs typeface="Times New Roman" panose="02020603050405020304" pitchFamily="18" charset="0"/>
              </a:rPr>
              <a:t>Internal structure of the kidney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87865" y="1960343"/>
          <a:ext cx="7460480" cy="4437249"/>
        </p:xfrm>
        <a:graphic>
          <a:graphicData uri="http://schemas.openxmlformats.org/drawingml/2006/table">
            <a:tbl>
              <a:tblPr/>
              <a:tblGrid>
                <a:gridCol w="784647"/>
                <a:gridCol w="2414406"/>
                <a:gridCol w="4261427"/>
              </a:tblGrid>
              <a:tr h="168802">
                <a:tc>
                  <a:txBody>
                    <a:bodyPr/>
                    <a:lstStyle/>
                    <a:p>
                      <a:endParaRPr lang="en-US" sz="2000" dirty="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60281D"/>
                      </a:solidFill>
                      <a:prstDash val="solid"/>
                      <a:round/>
                      <a:headEnd type="none" w="med" len="med"/>
                      <a:tailEnd type="none" w="med" len="med"/>
                    </a:lnL>
                    <a:lnR w="12700" cap="flat" cmpd="sng" algn="ctr">
                      <a:solidFill>
                        <a:srgbClr val="A02A1D"/>
                      </a:solidFill>
                      <a:prstDash val="solid"/>
                      <a:round/>
                      <a:headEnd type="none" w="med" len="med"/>
                      <a:tailEnd type="none" w="med" len="med"/>
                    </a:lnR>
                    <a:lnT w="12700" cap="flat" cmpd="sng" algn="ctr">
                      <a:solidFill>
                        <a:srgbClr val="303F7E"/>
                      </a:solidFill>
                      <a:prstDash val="solid"/>
                      <a:round/>
                      <a:headEnd type="none" w="med" len="med"/>
                      <a:tailEnd type="none" w="med" len="med"/>
                    </a:lnT>
                    <a:lnB w="12700" cap="flat" cmpd="sng" algn="ctr">
                      <a:solidFill>
                        <a:srgbClr val="D03B7E"/>
                      </a:solidFill>
                      <a:prstDash val="solid"/>
                      <a:round/>
                      <a:headEnd type="none" w="med" len="med"/>
                      <a:tailEnd type="none" w="med" len="med"/>
                    </a:lnB>
                    <a:solidFill>
                      <a:srgbClr val="F1F1F1"/>
                    </a:solidFill>
                  </a:tcPr>
                </a:tc>
                <a:tc>
                  <a:txBody>
                    <a:bodyPr/>
                    <a:lstStyle/>
                    <a:p>
                      <a:r>
                        <a:rPr lang="en-US" sz="2000" b="1">
                          <a:effectLst/>
                          <a:latin typeface="Times New Roman" panose="02020603050405020304" pitchFamily="18" charset="0"/>
                          <a:cs typeface="Times New Roman" panose="02020603050405020304" pitchFamily="18" charset="0"/>
                        </a:rPr>
                        <a:t>Anterior</a:t>
                      </a:r>
                      <a:endParaRPr lang="en-US" sz="200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A02A1D"/>
                      </a:solidFill>
                      <a:prstDash val="solid"/>
                      <a:round/>
                      <a:headEnd type="none" w="med" len="med"/>
                      <a:tailEnd type="none" w="med" len="med"/>
                    </a:lnL>
                    <a:lnR w="12700" cap="flat" cmpd="sng" algn="ctr">
                      <a:solidFill>
                        <a:srgbClr val="E0311D"/>
                      </a:solidFill>
                      <a:prstDash val="solid"/>
                      <a:round/>
                      <a:headEnd type="none" w="med" len="med"/>
                      <a:tailEnd type="none" w="med" len="med"/>
                    </a:lnR>
                    <a:lnT w="12700" cap="flat" cmpd="sng" algn="ctr">
                      <a:solidFill>
                        <a:srgbClr val="403E7E"/>
                      </a:solidFill>
                      <a:prstDash val="solid"/>
                      <a:round/>
                      <a:headEnd type="none" w="med" len="med"/>
                      <a:tailEnd type="none" w="med" len="med"/>
                    </a:lnT>
                    <a:lnB w="12700" cap="flat" cmpd="sng" algn="ctr">
                      <a:solidFill>
                        <a:srgbClr val="603C7E"/>
                      </a:solidFill>
                      <a:prstDash val="solid"/>
                      <a:round/>
                      <a:headEnd type="none" w="med" len="med"/>
                      <a:tailEnd type="none" w="med" len="med"/>
                    </a:lnB>
                    <a:solidFill>
                      <a:srgbClr val="F1F1F1"/>
                    </a:solidFill>
                  </a:tcPr>
                </a:tc>
                <a:tc>
                  <a:txBody>
                    <a:bodyPr/>
                    <a:lstStyle/>
                    <a:p>
                      <a:r>
                        <a:rPr lang="en-US" sz="2000" b="1">
                          <a:effectLst/>
                          <a:latin typeface="Times New Roman" panose="02020603050405020304" pitchFamily="18" charset="0"/>
                          <a:cs typeface="Times New Roman" panose="02020603050405020304" pitchFamily="18" charset="0"/>
                        </a:rPr>
                        <a:t>Posterior</a:t>
                      </a:r>
                      <a:endParaRPr lang="en-US" sz="200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E0311D"/>
                      </a:solidFill>
                      <a:prstDash val="solid"/>
                      <a:round/>
                      <a:headEnd type="none" w="med" len="med"/>
                      <a:tailEnd type="none" w="med" len="med"/>
                    </a:lnL>
                    <a:lnR w="12700" cap="flat" cmpd="sng" algn="ctr">
                      <a:solidFill>
                        <a:srgbClr val="703E7E"/>
                      </a:solidFill>
                      <a:prstDash val="solid"/>
                      <a:round/>
                      <a:headEnd type="none" w="med" len="med"/>
                      <a:tailEnd type="none" w="med" len="med"/>
                    </a:lnR>
                    <a:lnT w="12700" cap="flat" cmpd="sng" algn="ctr">
                      <a:solidFill>
                        <a:srgbClr val="703E7E"/>
                      </a:solidFill>
                      <a:prstDash val="solid"/>
                      <a:round/>
                      <a:headEnd type="none" w="med" len="med"/>
                      <a:tailEnd type="none" w="med" len="med"/>
                    </a:lnT>
                    <a:lnB w="12700" cap="flat" cmpd="sng" algn="ctr">
                      <a:solidFill>
                        <a:srgbClr val="10417E"/>
                      </a:solidFill>
                      <a:prstDash val="solid"/>
                      <a:round/>
                      <a:headEnd type="none" w="med" len="med"/>
                      <a:tailEnd type="none" w="med" len="med"/>
                    </a:lnB>
                    <a:solidFill>
                      <a:srgbClr val="F1F1F1"/>
                    </a:solidFill>
                  </a:tcPr>
                </a:tc>
              </a:tr>
              <a:tr h="2133009">
                <a:tc>
                  <a:txBody>
                    <a:bodyPr/>
                    <a:lstStyle/>
                    <a:p>
                      <a:r>
                        <a:rPr lang="en-US" sz="2000" b="1">
                          <a:effectLst/>
                          <a:latin typeface="Times New Roman" panose="02020603050405020304" pitchFamily="18" charset="0"/>
                          <a:cs typeface="Times New Roman" panose="02020603050405020304" pitchFamily="18" charset="0"/>
                        </a:rPr>
                        <a:t>Left</a:t>
                      </a:r>
                      <a:endParaRPr lang="en-US" sz="200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E02C1D"/>
                      </a:solidFill>
                      <a:prstDash val="solid"/>
                      <a:round/>
                      <a:headEnd type="none" w="med" len="med"/>
                      <a:tailEnd type="none" w="med" len="med"/>
                    </a:lnL>
                    <a:lnR w="12700" cap="flat" cmpd="sng" algn="ctr">
                      <a:solidFill>
                        <a:srgbClr val="E0311D"/>
                      </a:solidFill>
                      <a:prstDash val="solid"/>
                      <a:round/>
                      <a:headEnd type="none" w="med" len="med"/>
                      <a:tailEnd type="none" w="med" len="med"/>
                    </a:lnR>
                    <a:lnT w="12700" cap="flat" cmpd="sng" algn="ctr">
                      <a:solidFill>
                        <a:srgbClr val="D03B7E"/>
                      </a:solidFill>
                      <a:prstDash val="solid"/>
                      <a:round/>
                      <a:headEnd type="none" w="med" len="med"/>
                      <a:tailEnd type="none" w="med" len="med"/>
                    </a:lnT>
                    <a:lnB w="12700" cap="flat" cmpd="sng" algn="ctr">
                      <a:solidFill>
                        <a:srgbClr val="F0427E"/>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Suprarenal gland</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Spleen</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Stomach</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Pancreas</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Left colic flexure</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Jejunum</a:t>
                      </a:r>
                      <a:endParaRPr lang="en-US" sz="2000" dirty="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E0311D"/>
                      </a:solidFill>
                      <a:prstDash val="solid"/>
                      <a:round/>
                      <a:headEnd type="none" w="med" len="med"/>
                      <a:tailEnd type="none" w="med" len="med"/>
                    </a:lnL>
                    <a:lnR w="12700" cap="flat" cmpd="sng" algn="ctr">
                      <a:solidFill>
                        <a:srgbClr val="40461D"/>
                      </a:solidFill>
                      <a:prstDash val="solid"/>
                      <a:round/>
                      <a:headEnd type="none" w="med" len="med"/>
                      <a:tailEnd type="none" w="med" len="med"/>
                    </a:lnR>
                    <a:lnT w="12700" cap="flat" cmpd="sng" algn="ctr">
                      <a:solidFill>
                        <a:srgbClr val="603C7E"/>
                      </a:solidFill>
                      <a:prstDash val="solid"/>
                      <a:round/>
                      <a:headEnd type="none" w="med" len="med"/>
                      <a:tailEnd type="none" w="med" len="med"/>
                    </a:lnT>
                    <a:lnB w="12700" cap="flat" cmpd="sng" algn="ctr">
                      <a:solidFill>
                        <a:srgbClr val="C03F7E"/>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Diaphragm</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11</a:t>
                      </a:r>
                      <a:r>
                        <a:rPr lang="en-US" sz="2000" baseline="30000" dirty="0">
                          <a:effectLst/>
                          <a:latin typeface="Times New Roman" panose="02020603050405020304" pitchFamily="18" charset="0"/>
                          <a:cs typeface="Times New Roman" panose="02020603050405020304" pitchFamily="18" charset="0"/>
                        </a:rPr>
                        <a:t>th</a:t>
                      </a:r>
                      <a:r>
                        <a:rPr lang="en-US" sz="2000" dirty="0">
                          <a:effectLst/>
                          <a:latin typeface="Times New Roman" panose="02020603050405020304" pitchFamily="18" charset="0"/>
                          <a:cs typeface="Times New Roman" panose="02020603050405020304" pitchFamily="18" charset="0"/>
                        </a:rPr>
                        <a:t> and 12</a:t>
                      </a:r>
                      <a:r>
                        <a:rPr lang="en-US" sz="2000" baseline="30000" dirty="0">
                          <a:effectLst/>
                          <a:latin typeface="Times New Roman" panose="02020603050405020304" pitchFamily="18" charset="0"/>
                          <a:cs typeface="Times New Roman" panose="02020603050405020304" pitchFamily="18" charset="0"/>
                        </a:rPr>
                        <a:t>th</a:t>
                      </a:r>
                      <a:r>
                        <a:rPr lang="en-US" sz="2000" dirty="0">
                          <a:effectLst/>
                          <a:latin typeface="Times New Roman" panose="02020603050405020304" pitchFamily="18" charset="0"/>
                          <a:cs typeface="Times New Roman" panose="02020603050405020304" pitchFamily="18" charset="0"/>
                        </a:rPr>
                        <a:t> ribs</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Psoas major, </a:t>
                      </a:r>
                      <a:r>
                        <a:rPr lang="en-US" sz="2000" dirty="0" err="1">
                          <a:effectLst/>
                          <a:latin typeface="Times New Roman" panose="02020603050405020304" pitchFamily="18" charset="0"/>
                          <a:cs typeface="Times New Roman" panose="02020603050405020304" pitchFamily="18" charset="0"/>
                        </a:rPr>
                        <a:t>quadratus</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lumborum</a:t>
                      </a:r>
                      <a:r>
                        <a:rPr lang="en-US" sz="2000" dirty="0">
                          <a:effectLst/>
                          <a:latin typeface="Times New Roman" panose="02020603050405020304" pitchFamily="18" charset="0"/>
                          <a:cs typeface="Times New Roman" panose="02020603050405020304" pitchFamily="18" charset="0"/>
                        </a:rPr>
                        <a:t> and </a:t>
                      </a:r>
                      <a:r>
                        <a:rPr lang="en-US" sz="2000" dirty="0" err="1">
                          <a:effectLst/>
                          <a:latin typeface="Times New Roman" panose="02020603050405020304" pitchFamily="18" charset="0"/>
                          <a:cs typeface="Times New Roman" panose="02020603050405020304" pitchFamily="18" charset="0"/>
                        </a:rPr>
                        <a:t>transversus</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abdominis</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Subcostal, </a:t>
                      </a:r>
                      <a:r>
                        <a:rPr lang="en-US" sz="2000" dirty="0" err="1">
                          <a:effectLst/>
                          <a:latin typeface="Times New Roman" panose="02020603050405020304" pitchFamily="18" charset="0"/>
                          <a:cs typeface="Times New Roman" panose="02020603050405020304" pitchFamily="18" charset="0"/>
                        </a:rPr>
                        <a:t>iliohypogastric</a:t>
                      </a:r>
                      <a:r>
                        <a:rPr lang="en-US" sz="2000" dirty="0">
                          <a:effectLst/>
                          <a:latin typeface="Times New Roman" panose="02020603050405020304" pitchFamily="18" charset="0"/>
                          <a:cs typeface="Times New Roman" panose="02020603050405020304" pitchFamily="18" charset="0"/>
                        </a:rPr>
                        <a:t> and </a:t>
                      </a:r>
                      <a:r>
                        <a:rPr lang="en-US" sz="2000" dirty="0" err="1">
                          <a:effectLst/>
                          <a:latin typeface="Times New Roman" panose="02020603050405020304" pitchFamily="18" charset="0"/>
                          <a:cs typeface="Times New Roman" panose="02020603050405020304" pitchFamily="18" charset="0"/>
                        </a:rPr>
                        <a:t>ilioinguinal</a:t>
                      </a:r>
                      <a:r>
                        <a:rPr lang="en-US" sz="2000" dirty="0">
                          <a:effectLst/>
                          <a:latin typeface="Times New Roman" panose="02020603050405020304" pitchFamily="18" charset="0"/>
                          <a:cs typeface="Times New Roman" panose="02020603050405020304" pitchFamily="18" charset="0"/>
                        </a:rPr>
                        <a:t> nerves</a:t>
                      </a:r>
                      <a:endParaRPr lang="en-US" sz="2000" dirty="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40461D"/>
                      </a:solidFill>
                      <a:prstDash val="solid"/>
                      <a:round/>
                      <a:headEnd type="none" w="med" len="med"/>
                      <a:tailEnd type="none" w="med" len="med"/>
                    </a:lnL>
                    <a:lnR w="12700" cap="flat" cmpd="sng" algn="ctr">
                      <a:solidFill>
                        <a:srgbClr val="10417E"/>
                      </a:solidFill>
                      <a:prstDash val="solid"/>
                      <a:round/>
                      <a:headEnd type="none" w="med" len="med"/>
                      <a:tailEnd type="none" w="med" len="med"/>
                    </a:lnR>
                    <a:lnT w="12700" cap="flat" cmpd="sng" algn="ctr">
                      <a:solidFill>
                        <a:srgbClr val="10417E"/>
                      </a:solidFill>
                      <a:prstDash val="solid"/>
                      <a:round/>
                      <a:headEnd type="none" w="med" len="med"/>
                      <a:tailEnd type="none" w="med" len="med"/>
                    </a:lnT>
                    <a:lnB w="12700" cap="flat" cmpd="sng" algn="ctr">
                      <a:solidFill>
                        <a:srgbClr val="40431D"/>
                      </a:solidFill>
                      <a:prstDash val="solid"/>
                      <a:round/>
                      <a:headEnd type="none" w="med" len="med"/>
                      <a:tailEnd type="none" w="med" len="med"/>
                    </a:lnB>
                    <a:solidFill>
                      <a:srgbClr val="F1F1F1"/>
                    </a:solidFill>
                  </a:tcPr>
                </a:tc>
              </a:tr>
              <a:tr h="1877048">
                <a:tc>
                  <a:txBody>
                    <a:bodyPr/>
                    <a:lstStyle/>
                    <a:p>
                      <a:r>
                        <a:rPr lang="en-US" sz="2000" b="1">
                          <a:effectLst/>
                          <a:latin typeface="Times New Roman" panose="02020603050405020304" pitchFamily="18" charset="0"/>
                          <a:cs typeface="Times New Roman" panose="02020603050405020304" pitchFamily="18" charset="0"/>
                        </a:rPr>
                        <a:t>Right</a:t>
                      </a:r>
                      <a:endParaRPr lang="en-US" sz="200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202B1D"/>
                      </a:solidFill>
                      <a:prstDash val="solid"/>
                      <a:round/>
                      <a:headEnd type="none" w="med" len="med"/>
                      <a:tailEnd type="none" w="med" len="med"/>
                    </a:lnL>
                    <a:lnR w="12700" cap="flat" cmpd="sng" algn="ctr">
                      <a:solidFill>
                        <a:srgbClr val="E0311D"/>
                      </a:solidFill>
                      <a:prstDash val="solid"/>
                      <a:round/>
                      <a:headEnd type="none" w="med" len="med"/>
                      <a:tailEnd type="none" w="med" len="med"/>
                    </a:lnR>
                    <a:lnT w="12700" cap="flat" cmpd="sng" algn="ctr">
                      <a:solidFill>
                        <a:srgbClr val="F0427E"/>
                      </a:solidFill>
                      <a:prstDash val="solid"/>
                      <a:round/>
                      <a:headEnd type="none" w="med" len="med"/>
                      <a:tailEnd type="none" w="med" len="med"/>
                    </a:lnT>
                    <a:lnB w="12700" cap="flat" cmpd="sng" algn="ctr">
                      <a:solidFill>
                        <a:srgbClr val="F0427E"/>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sz="2000">
                          <a:effectLst/>
                          <a:latin typeface="Times New Roman" panose="02020603050405020304" pitchFamily="18" charset="0"/>
                          <a:cs typeface="Times New Roman" panose="02020603050405020304" pitchFamily="18" charset="0"/>
                        </a:rPr>
                        <a:t>Suprarenal gland</a:t>
                      </a:r>
                      <a:endParaRPr lang="en-US" sz="200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a:effectLst/>
                          <a:latin typeface="Times New Roman" panose="02020603050405020304" pitchFamily="18" charset="0"/>
                          <a:cs typeface="Times New Roman" panose="02020603050405020304" pitchFamily="18" charset="0"/>
                        </a:rPr>
                        <a:t>Liver</a:t>
                      </a:r>
                      <a:endParaRPr lang="en-US" sz="200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a:effectLst/>
                          <a:latin typeface="Times New Roman" panose="02020603050405020304" pitchFamily="18" charset="0"/>
                          <a:cs typeface="Times New Roman" panose="02020603050405020304" pitchFamily="18" charset="0"/>
                        </a:rPr>
                        <a:t>Duodenum</a:t>
                      </a:r>
                      <a:endParaRPr lang="en-US" sz="200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a:effectLst/>
                          <a:latin typeface="Times New Roman" panose="02020603050405020304" pitchFamily="18" charset="0"/>
                          <a:cs typeface="Times New Roman" panose="02020603050405020304" pitchFamily="18" charset="0"/>
                        </a:rPr>
                        <a:t>Right colic flexure</a:t>
                      </a:r>
                      <a:endParaRPr lang="en-US" sz="200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E0311D"/>
                      </a:solidFill>
                      <a:prstDash val="solid"/>
                      <a:round/>
                      <a:headEnd type="none" w="med" len="med"/>
                      <a:tailEnd type="none" w="med" len="med"/>
                    </a:lnL>
                    <a:lnR w="12700" cap="flat" cmpd="sng" algn="ctr">
                      <a:solidFill>
                        <a:srgbClr val="40461D"/>
                      </a:solidFill>
                      <a:prstDash val="solid"/>
                      <a:round/>
                      <a:headEnd type="none" w="med" len="med"/>
                      <a:tailEnd type="none" w="med" len="med"/>
                    </a:lnR>
                    <a:lnT w="12700" cap="flat" cmpd="sng" algn="ctr">
                      <a:solidFill>
                        <a:srgbClr val="C03F7E"/>
                      </a:solidFill>
                      <a:prstDash val="solid"/>
                      <a:round/>
                      <a:headEnd type="none" w="med" len="med"/>
                      <a:tailEnd type="none" w="med" len="med"/>
                    </a:lnT>
                    <a:lnB w="12700" cap="flat" cmpd="sng" algn="ctr">
                      <a:solidFill>
                        <a:srgbClr val="C03F7E"/>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Diaphragm</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12</a:t>
                      </a:r>
                      <a:r>
                        <a:rPr lang="en-US" sz="2000" baseline="30000" dirty="0">
                          <a:effectLst/>
                          <a:latin typeface="Times New Roman" panose="02020603050405020304" pitchFamily="18" charset="0"/>
                          <a:cs typeface="Times New Roman" panose="02020603050405020304" pitchFamily="18" charset="0"/>
                        </a:rPr>
                        <a:t>th</a:t>
                      </a:r>
                      <a:r>
                        <a:rPr lang="en-US" sz="2000" dirty="0">
                          <a:effectLst/>
                          <a:latin typeface="Times New Roman" panose="02020603050405020304" pitchFamily="18" charset="0"/>
                          <a:cs typeface="Times New Roman" panose="02020603050405020304" pitchFamily="18" charset="0"/>
                        </a:rPr>
                        <a:t> rib</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Psoas major, </a:t>
                      </a:r>
                      <a:r>
                        <a:rPr lang="en-US" sz="2000" dirty="0" err="1">
                          <a:effectLst/>
                          <a:latin typeface="Times New Roman" panose="02020603050405020304" pitchFamily="18" charset="0"/>
                          <a:cs typeface="Times New Roman" panose="02020603050405020304" pitchFamily="18" charset="0"/>
                        </a:rPr>
                        <a:t>quadratus</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lumborum</a:t>
                      </a:r>
                      <a:r>
                        <a:rPr lang="en-US" sz="2000" dirty="0">
                          <a:effectLst/>
                          <a:latin typeface="Times New Roman" panose="02020603050405020304" pitchFamily="18" charset="0"/>
                          <a:cs typeface="Times New Roman" panose="02020603050405020304" pitchFamily="18" charset="0"/>
                        </a:rPr>
                        <a:t> and </a:t>
                      </a:r>
                      <a:r>
                        <a:rPr lang="en-US" sz="2000" dirty="0" err="1">
                          <a:effectLst/>
                          <a:latin typeface="Times New Roman" panose="02020603050405020304" pitchFamily="18" charset="0"/>
                          <a:cs typeface="Times New Roman" panose="02020603050405020304" pitchFamily="18" charset="0"/>
                        </a:rPr>
                        <a:t>transversus</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abdominis</a:t>
                      </a:r>
                      <a:endParaRPr lang="en-US"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effectLst/>
                          <a:latin typeface="Times New Roman" panose="02020603050405020304" pitchFamily="18" charset="0"/>
                          <a:cs typeface="Times New Roman" panose="02020603050405020304" pitchFamily="18" charset="0"/>
                        </a:rPr>
                        <a:t>Subcostal, </a:t>
                      </a:r>
                      <a:r>
                        <a:rPr lang="en-US" sz="2000" dirty="0" err="1">
                          <a:effectLst/>
                          <a:latin typeface="Times New Roman" panose="02020603050405020304" pitchFamily="18" charset="0"/>
                          <a:cs typeface="Times New Roman" panose="02020603050405020304" pitchFamily="18" charset="0"/>
                        </a:rPr>
                        <a:t>iliohypogastric</a:t>
                      </a:r>
                      <a:r>
                        <a:rPr lang="en-US" sz="2000" dirty="0">
                          <a:effectLst/>
                          <a:latin typeface="Times New Roman" panose="02020603050405020304" pitchFamily="18" charset="0"/>
                          <a:cs typeface="Times New Roman" panose="02020603050405020304" pitchFamily="18" charset="0"/>
                        </a:rPr>
                        <a:t> and </a:t>
                      </a:r>
                      <a:r>
                        <a:rPr lang="en-US" sz="2000" dirty="0" err="1">
                          <a:effectLst/>
                          <a:latin typeface="Times New Roman" panose="02020603050405020304" pitchFamily="18" charset="0"/>
                          <a:cs typeface="Times New Roman" panose="02020603050405020304" pitchFamily="18" charset="0"/>
                        </a:rPr>
                        <a:t>ilioinguinal</a:t>
                      </a:r>
                      <a:r>
                        <a:rPr lang="en-US" sz="2000" dirty="0">
                          <a:effectLst/>
                          <a:latin typeface="Times New Roman" panose="02020603050405020304" pitchFamily="18" charset="0"/>
                          <a:cs typeface="Times New Roman" panose="02020603050405020304" pitchFamily="18" charset="0"/>
                        </a:rPr>
                        <a:t> nerves</a:t>
                      </a:r>
                      <a:endParaRPr lang="en-US" sz="2000" dirty="0">
                        <a:effectLst/>
                        <a:latin typeface="Times New Roman" panose="02020603050405020304" pitchFamily="18" charset="0"/>
                        <a:cs typeface="Times New Roman" panose="02020603050405020304" pitchFamily="18" charset="0"/>
                      </a:endParaRPr>
                    </a:p>
                  </a:txBody>
                  <a:tcPr marL="85320" marR="85320" marT="42660" marB="42660" anchor="ctr">
                    <a:lnL w="12700" cap="flat" cmpd="sng" algn="ctr">
                      <a:solidFill>
                        <a:srgbClr val="40461D"/>
                      </a:solidFill>
                      <a:prstDash val="solid"/>
                      <a:round/>
                      <a:headEnd type="none" w="med" len="med"/>
                      <a:tailEnd type="none" w="med" len="med"/>
                    </a:lnL>
                    <a:lnR w="12700" cap="flat" cmpd="sng" algn="ctr">
                      <a:solidFill>
                        <a:srgbClr val="A0281D"/>
                      </a:solidFill>
                      <a:prstDash val="solid"/>
                      <a:round/>
                      <a:headEnd type="none" w="med" len="med"/>
                      <a:tailEnd type="none" w="med" len="med"/>
                    </a:lnR>
                    <a:lnT w="12700" cap="flat" cmpd="sng" algn="ctr">
                      <a:solidFill>
                        <a:srgbClr val="40431D"/>
                      </a:solidFill>
                      <a:prstDash val="solid"/>
                      <a:round/>
                      <a:headEnd type="none" w="med" len="med"/>
                      <a:tailEnd type="none" w="med" len="med"/>
                    </a:lnT>
                    <a:lnB w="12700" cap="flat" cmpd="sng" algn="ctr">
                      <a:solidFill>
                        <a:srgbClr val="A0281D"/>
                      </a:solidFill>
                      <a:prstDash val="solid"/>
                      <a:round/>
                      <a:headEnd type="none" w="med" len="med"/>
                      <a:tailEnd type="none" w="med" len="med"/>
                    </a:lnB>
                    <a:solidFill>
                      <a:srgbClr val="F1F1F1"/>
                    </a:solidFill>
                  </a:tcPr>
                </a:tc>
              </a:tr>
            </a:tbl>
          </a:graphicData>
        </a:graphic>
      </p:graphicFrame>
      <p:sp>
        <p:nvSpPr>
          <p:cNvPr id="3" name="Rectangle 1"/>
          <p:cNvSpPr>
            <a:spLocks noChangeArrowheads="1"/>
          </p:cNvSpPr>
          <p:nvPr/>
        </p:nvSpPr>
        <p:spPr bwMode="auto">
          <a:xfrm>
            <a:off x="68368" y="5962"/>
            <a:ext cx="11938474" cy="20159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sz="32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Anatomical Relations</a:t>
            </a:r>
            <a:endParaRPr kumimoji="0" lang="en-US" sz="32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4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The kidneys sit in close proximity to many other abdominal structures which are important to be aware of clinically:</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821" y="0"/>
            <a:ext cx="12132179" cy="6494085"/>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Arterial Supply</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endParaRPr lang="en-GB" sz="2400" b="1" dirty="0">
              <a:solidFill>
                <a:srgbClr val="000000"/>
              </a:solidFill>
              <a:latin typeface="Times New Roman" panose="02020603050405020304" pitchFamily="18" charset="0"/>
              <a:cs typeface="Times New Roman" panose="02020603050405020304" pitchFamily="18" charset="0"/>
            </a:endParaRPr>
          </a:p>
          <a:p>
            <a:endParaRPr lang="en-US" sz="2400" b="1"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kidneys are supplied with blood via the</a:t>
            </a:r>
            <a:r>
              <a:rPr lang="en-US" sz="2400" b="1" i="0" dirty="0" smtClean="0">
                <a:solidFill>
                  <a:srgbClr val="000000"/>
                </a:solidFill>
                <a:effectLst/>
                <a:latin typeface="Times New Roman" panose="02020603050405020304" pitchFamily="18" charset="0"/>
                <a:cs typeface="Times New Roman" panose="02020603050405020304" pitchFamily="18" charset="0"/>
              </a:rPr>
              <a:t> renal arteries</a:t>
            </a:r>
            <a:r>
              <a:rPr lang="en-US" sz="2400" b="0" i="0" dirty="0" smtClean="0">
                <a:solidFill>
                  <a:srgbClr val="000000"/>
                </a:solidFill>
                <a:effectLst/>
                <a:latin typeface="Times New Roman" panose="02020603050405020304" pitchFamily="18" charset="0"/>
                <a:cs typeface="Times New Roman" panose="02020603050405020304" pitchFamily="18" charset="0"/>
              </a:rPr>
              <a:t>, which arise directly from the abdominal aorta, immediately distal to the origin of the </a:t>
            </a:r>
            <a:r>
              <a:rPr lang="en-US" sz="2400" b="1" i="0" u="none" strike="noStrike" dirty="0" smtClean="0">
                <a:solidFill>
                  <a:srgbClr val="000000"/>
                </a:solidFill>
                <a:effectLst/>
                <a:latin typeface="Times New Roman" panose="02020603050405020304" pitchFamily="18" charset="0"/>
                <a:cs typeface="Times New Roman" panose="02020603050405020304" pitchFamily="18" charset="0"/>
              </a:rPr>
              <a:t>superior mesenteric artery</a:t>
            </a:r>
            <a:r>
              <a:rPr lang="en-US" sz="2400" b="0" i="0" dirty="0" smtClean="0">
                <a:solidFill>
                  <a:srgbClr val="000000"/>
                </a:solidFill>
                <a:effectLst/>
                <a:latin typeface="Times New Roman" panose="02020603050405020304" pitchFamily="18" charset="0"/>
                <a:cs typeface="Times New Roman" panose="02020603050405020304" pitchFamily="18" charset="0"/>
              </a:rPr>
              <a:t>.  Due to the anatomical position of the abdominal aorta (slightly to the left of the midline), the right renal artery is longer, and crosses the vena cava posteriorly.</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renal artery enters the kidney via the </a:t>
            </a:r>
            <a:r>
              <a:rPr lang="en-US" sz="2400" b="1" i="0" dirty="0" smtClean="0">
                <a:solidFill>
                  <a:srgbClr val="000000"/>
                </a:solidFill>
                <a:effectLst/>
                <a:latin typeface="Times New Roman" panose="02020603050405020304" pitchFamily="18" charset="0"/>
                <a:cs typeface="Times New Roman" panose="02020603050405020304" pitchFamily="18" charset="0"/>
              </a:rPr>
              <a:t>renal hilum</a:t>
            </a:r>
            <a:r>
              <a:rPr lang="en-US" sz="2400" b="0" i="0" dirty="0" smtClean="0">
                <a:solidFill>
                  <a:srgbClr val="000000"/>
                </a:solidFill>
                <a:effectLst/>
                <a:latin typeface="Times New Roman" panose="02020603050405020304" pitchFamily="18" charset="0"/>
                <a:cs typeface="Times New Roman" panose="02020603050405020304" pitchFamily="18" charset="0"/>
              </a:rPr>
              <a:t>. At the hilum level, the renal artery forms an </a:t>
            </a:r>
            <a:r>
              <a:rPr lang="en-US" sz="2400" b="1" i="0" dirty="0" smtClean="0">
                <a:solidFill>
                  <a:srgbClr val="000000"/>
                </a:solidFill>
                <a:effectLst/>
                <a:latin typeface="Times New Roman" panose="02020603050405020304" pitchFamily="18" charset="0"/>
                <a:cs typeface="Times New Roman" panose="02020603050405020304" pitchFamily="18" charset="0"/>
              </a:rPr>
              <a:t>anterior</a:t>
            </a:r>
            <a:r>
              <a:rPr lang="en-US" sz="2400" b="0" i="0" dirty="0" smtClean="0">
                <a:solidFill>
                  <a:srgbClr val="000000"/>
                </a:solidFill>
                <a:effectLst/>
                <a:latin typeface="Times New Roman" panose="02020603050405020304" pitchFamily="18" charset="0"/>
                <a:cs typeface="Times New Roman" panose="02020603050405020304" pitchFamily="18" charset="0"/>
              </a:rPr>
              <a:t> and a </a:t>
            </a:r>
            <a:r>
              <a:rPr lang="en-US" sz="2400" b="1" i="0" dirty="0" smtClean="0">
                <a:solidFill>
                  <a:srgbClr val="000000"/>
                </a:solidFill>
                <a:effectLst/>
                <a:latin typeface="Times New Roman" panose="02020603050405020304" pitchFamily="18" charset="0"/>
                <a:cs typeface="Times New Roman" panose="02020603050405020304" pitchFamily="18" charset="0"/>
              </a:rPr>
              <a:t>posterior</a:t>
            </a:r>
            <a:r>
              <a:rPr lang="en-US" sz="2400" b="0" i="0" dirty="0" smtClean="0">
                <a:solidFill>
                  <a:srgbClr val="000000"/>
                </a:solidFill>
                <a:effectLst/>
                <a:latin typeface="Times New Roman" panose="02020603050405020304" pitchFamily="18" charset="0"/>
                <a:cs typeface="Times New Roman" panose="02020603050405020304" pitchFamily="18" charset="0"/>
              </a:rPr>
              <a:t> division, which carry 75% and 25% of the blood supply to the kidney, respectively. </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Five </a:t>
            </a:r>
            <a:r>
              <a:rPr lang="en-US" sz="2400" b="1" i="0" dirty="0" smtClean="0">
                <a:solidFill>
                  <a:srgbClr val="000000"/>
                </a:solidFill>
                <a:effectLst/>
                <a:latin typeface="Times New Roman" panose="02020603050405020304" pitchFamily="18" charset="0"/>
                <a:cs typeface="Times New Roman" panose="02020603050405020304" pitchFamily="18" charset="0"/>
              </a:rPr>
              <a:t>segmental arteries</a:t>
            </a:r>
            <a:r>
              <a:rPr lang="en-US" sz="2400" b="0" i="0" dirty="0" smtClean="0">
                <a:solidFill>
                  <a:srgbClr val="000000"/>
                </a:solidFill>
                <a:effectLst/>
                <a:latin typeface="Times New Roman" panose="02020603050405020304" pitchFamily="18" charset="0"/>
                <a:cs typeface="Times New Roman" panose="02020603050405020304" pitchFamily="18" charset="0"/>
              </a:rPr>
              <a:t> originate from these two divisions.</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1" i="0" dirty="0" smtClean="0">
                <a:solidFill>
                  <a:srgbClr val="000000"/>
                </a:solidFill>
                <a:effectLst/>
                <a:latin typeface="Times New Roman" panose="02020603050405020304" pitchFamily="18" charset="0"/>
                <a:cs typeface="Times New Roman" panose="02020603050405020304" pitchFamily="18" charset="0"/>
              </a:rPr>
              <a:t>avascular plane of the kidney</a:t>
            </a:r>
            <a:r>
              <a:rPr lang="en-US" sz="2400" b="0" i="0" dirty="0" smtClean="0">
                <a:solidFill>
                  <a:srgbClr val="000000"/>
                </a:solidFill>
                <a:effectLst/>
                <a:latin typeface="Times New Roman" panose="02020603050405020304" pitchFamily="18" charset="0"/>
                <a:cs typeface="Times New Roman" panose="02020603050405020304" pitchFamily="18" charset="0"/>
              </a:rPr>
              <a:t> (line of </a:t>
            </a:r>
            <a:r>
              <a:rPr lang="en-US" sz="2400" b="0" i="0" dirty="0" err="1" smtClean="0">
                <a:solidFill>
                  <a:srgbClr val="000000"/>
                </a:solidFill>
                <a:effectLst/>
                <a:latin typeface="Times New Roman" panose="02020603050405020304" pitchFamily="18" charset="0"/>
                <a:cs typeface="Times New Roman" panose="02020603050405020304" pitchFamily="18" charset="0"/>
              </a:rPr>
              <a:t>Brodel</a:t>
            </a:r>
            <a:r>
              <a:rPr lang="en-US" sz="2400" b="0" i="0" dirty="0" smtClean="0">
                <a:solidFill>
                  <a:srgbClr val="000000"/>
                </a:solidFill>
                <a:effectLst/>
                <a:latin typeface="Times New Roman" panose="02020603050405020304" pitchFamily="18" charset="0"/>
                <a:cs typeface="Times New Roman" panose="02020603050405020304" pitchFamily="18" charset="0"/>
              </a:rPr>
              <a:t>) is an imaginary line along the lateral and slightly posterior border of the kidney, which delineates the segments of the kidney supplied by the anterior and posterior divisions. It is an important access route for both open and endoscopic surgical access of the kidney, as it </a:t>
            </a:r>
            <a:r>
              <a:rPr lang="en-US" sz="2400" b="0" i="0" dirty="0" err="1" smtClean="0">
                <a:solidFill>
                  <a:srgbClr val="000000"/>
                </a:solidFill>
                <a:effectLst/>
                <a:latin typeface="Times New Roman" panose="02020603050405020304" pitchFamily="18" charset="0"/>
                <a:cs typeface="Times New Roman" panose="02020603050405020304" pitchFamily="18" charset="0"/>
              </a:rPr>
              <a:t>minimises</a:t>
            </a:r>
            <a:r>
              <a:rPr lang="en-US" sz="2400" b="0" i="0" dirty="0" smtClean="0">
                <a:solidFill>
                  <a:srgbClr val="000000"/>
                </a:solidFill>
                <a:effectLst/>
                <a:latin typeface="Times New Roman" panose="02020603050405020304" pitchFamily="18" charset="0"/>
                <a:cs typeface="Times New Roman" panose="02020603050405020304" pitchFamily="18" charset="0"/>
              </a:rPr>
              <a:t> the risk of damage to major arterial branches.</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4202" y="156961"/>
            <a:ext cx="11400089" cy="6370975"/>
          </a:xfrm>
          <a:prstGeom prst="rect">
            <a:avLst/>
          </a:prstGeom>
        </p:spPr>
        <p:txBody>
          <a:bodyPr wrap="square">
            <a:spAutoFit/>
          </a:bodyPr>
          <a:lstStyle/>
          <a:p>
            <a:r>
              <a:rPr lang="en-US" sz="2400" b="0" i="0" dirty="0" smtClean="0">
                <a:solidFill>
                  <a:srgbClr val="000000"/>
                </a:solidFill>
                <a:effectLst/>
                <a:latin typeface="Times New Roman" panose="02020603050405020304" pitchFamily="18" charset="0"/>
                <a:cs typeface="Times New Roman" panose="02020603050405020304" pitchFamily="18" charset="0"/>
              </a:rPr>
              <a:t>Each segmental artery divides to form </a:t>
            </a:r>
            <a:r>
              <a:rPr lang="en-US" sz="2400" b="1" i="0" dirty="0" err="1" smtClean="0">
                <a:solidFill>
                  <a:srgbClr val="000000"/>
                </a:solidFill>
                <a:effectLst/>
                <a:latin typeface="Times New Roman" panose="02020603050405020304" pitchFamily="18" charset="0"/>
                <a:cs typeface="Times New Roman" panose="02020603050405020304" pitchFamily="18" charset="0"/>
              </a:rPr>
              <a:t>interlobar</a:t>
            </a:r>
            <a:r>
              <a:rPr lang="en-US" sz="2400" b="1" i="0" dirty="0" smtClean="0">
                <a:solidFill>
                  <a:srgbClr val="000000"/>
                </a:solidFill>
                <a:effectLst/>
                <a:latin typeface="Times New Roman" panose="02020603050405020304" pitchFamily="18" charset="0"/>
                <a:cs typeface="Times New Roman" panose="02020603050405020304" pitchFamily="18" charset="0"/>
              </a:rPr>
              <a:t> arteries</a:t>
            </a:r>
            <a:r>
              <a:rPr lang="en-US" sz="2400" b="0" i="0" dirty="0" smtClean="0">
                <a:solidFill>
                  <a:srgbClr val="000000"/>
                </a:solidFill>
                <a:effectLst/>
                <a:latin typeface="Times New Roman" panose="02020603050405020304" pitchFamily="18" charset="0"/>
                <a:cs typeface="Times New Roman" panose="02020603050405020304" pitchFamily="18" charset="0"/>
              </a:rPr>
              <a:t>. They are situated either side every renal pyramid.</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These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interlobar</a:t>
            </a:r>
            <a:r>
              <a:rPr lang="en-US" sz="2400" b="0" i="0" dirty="0" smtClean="0">
                <a:solidFill>
                  <a:srgbClr val="000000"/>
                </a:solidFill>
                <a:effectLst/>
                <a:latin typeface="Times New Roman" panose="02020603050405020304" pitchFamily="18" charset="0"/>
                <a:cs typeface="Times New Roman" panose="02020603050405020304" pitchFamily="18" charset="0"/>
              </a:rPr>
              <a:t> arteries undergo further division to form the </a:t>
            </a:r>
            <a:r>
              <a:rPr lang="en-US" sz="2400" b="1" i="0" dirty="0" err="1" smtClean="0">
                <a:solidFill>
                  <a:srgbClr val="000000"/>
                </a:solidFill>
                <a:effectLst/>
                <a:latin typeface="Times New Roman" panose="02020603050405020304" pitchFamily="18" charset="0"/>
                <a:cs typeface="Times New Roman" panose="02020603050405020304" pitchFamily="18" charset="0"/>
              </a:rPr>
              <a:t>arcuate</a:t>
            </a:r>
            <a:r>
              <a:rPr lang="en-US" sz="2400" b="1" i="0" dirty="0" smtClean="0">
                <a:solidFill>
                  <a:srgbClr val="000000"/>
                </a:solidFill>
                <a:effectLst/>
                <a:latin typeface="Times New Roman" panose="02020603050405020304" pitchFamily="18" charset="0"/>
                <a:cs typeface="Times New Roman" panose="02020603050405020304" pitchFamily="18" charset="0"/>
              </a:rPr>
              <a:t> arteries</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At 90 degrees to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arcuate</a:t>
            </a:r>
            <a:r>
              <a:rPr lang="en-US" sz="2400" b="0" i="0" dirty="0" smtClean="0">
                <a:solidFill>
                  <a:srgbClr val="000000"/>
                </a:solidFill>
                <a:effectLst/>
                <a:latin typeface="Times New Roman" panose="02020603050405020304" pitchFamily="18" charset="0"/>
                <a:cs typeface="Times New Roman" panose="02020603050405020304" pitchFamily="18" charset="0"/>
              </a:rPr>
              <a:t> arteries, the</a:t>
            </a:r>
            <a:r>
              <a:rPr lang="en-US" sz="2400" b="1" i="0" dirty="0" smtClean="0">
                <a:solidFill>
                  <a:srgbClr val="000000"/>
                </a:solidFill>
                <a:effectLst/>
                <a:latin typeface="Times New Roman" panose="02020603050405020304" pitchFamily="18" charset="0"/>
                <a:cs typeface="Times New Roman" panose="02020603050405020304" pitchFamily="18" charset="0"/>
              </a:rPr>
              <a:t> interlobular arteries</a:t>
            </a:r>
            <a:r>
              <a:rPr lang="en-US" sz="2400" b="0" i="0" dirty="0" smtClean="0">
                <a:solidFill>
                  <a:srgbClr val="000000"/>
                </a:solidFill>
                <a:effectLst/>
                <a:latin typeface="Times New Roman" panose="02020603050405020304" pitchFamily="18" charset="0"/>
                <a:cs typeface="Times New Roman" panose="02020603050405020304" pitchFamily="18" charset="0"/>
              </a:rPr>
              <a:t> arise.</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interlobular arteries pass through the cortex, dividing one last time to form </a:t>
            </a:r>
            <a:r>
              <a:rPr lang="en-US" sz="2400" b="1" i="0" dirty="0" smtClean="0">
                <a:solidFill>
                  <a:srgbClr val="000000"/>
                </a:solidFill>
                <a:effectLst/>
                <a:latin typeface="Times New Roman" panose="02020603050405020304" pitchFamily="18" charset="0"/>
                <a:cs typeface="Times New Roman" panose="02020603050405020304" pitchFamily="18" charset="0"/>
              </a:rPr>
              <a:t>afferent arteriole</a:t>
            </a:r>
            <a:r>
              <a:rPr lang="en-US" sz="2400" b="1" i="1" dirty="0" smtClean="0">
                <a:solidFill>
                  <a:srgbClr val="000000"/>
                </a:solidFill>
                <a:effectLst/>
                <a:latin typeface="Times New Roman" panose="02020603050405020304" pitchFamily="18" charset="0"/>
                <a:cs typeface="Times New Roman" panose="02020603050405020304" pitchFamily="18" charset="0"/>
              </a:rPr>
              <a:t>s</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afferent arterioles form a capillary network, the glomerulus, where filtration takes place. </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capillaries come together to form the efferent arterioles. </a:t>
            </a:r>
            <a:r>
              <a:rPr lang="en-US" sz="2400" dirty="0">
                <a:latin typeface="Times New Roman" panose="02020603050405020304" pitchFamily="18" charset="0"/>
                <a:cs typeface="Times New Roman" panose="02020603050405020304" pitchFamily="18" charset="0"/>
              </a:rPr>
              <a:t>In the outer two-thirds of the renal cortex, the efferent arterioles form what is a known as a </a:t>
            </a:r>
            <a:r>
              <a:rPr lang="en-US" sz="2400" b="1" dirty="0" err="1">
                <a:latin typeface="Times New Roman" panose="02020603050405020304" pitchFamily="18" charset="0"/>
                <a:cs typeface="Times New Roman" panose="02020603050405020304" pitchFamily="18" charset="0"/>
              </a:rPr>
              <a:t>peritubular</a:t>
            </a:r>
            <a:r>
              <a:rPr lang="en-US" sz="2400" b="1" dirty="0">
                <a:latin typeface="Times New Roman" panose="02020603050405020304" pitchFamily="18" charset="0"/>
                <a:cs typeface="Times New Roman" panose="02020603050405020304" pitchFamily="18" charset="0"/>
              </a:rPr>
              <a:t> network</a:t>
            </a:r>
            <a:r>
              <a:rPr lang="en-US" sz="2400" dirty="0">
                <a:latin typeface="Times New Roman" panose="02020603050405020304" pitchFamily="18" charset="0"/>
                <a:cs typeface="Times New Roman" panose="02020603050405020304" pitchFamily="18" charset="0"/>
              </a:rPr>
              <a:t>, supplying the nephron tubules with oxygen and nutrients. The inner third of the cortex and the medulla are supplied by long, straight arteries called vasa recta.</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br>
              <a:rPr lang="en-US" sz="2400" dirty="0" smtClean="0">
                <a:latin typeface="Times New Roman" panose="02020603050405020304" pitchFamily="18" charset="0"/>
                <a:cs typeface="Times New Roman" panose="02020603050405020304" pitchFamily="18" charset="0"/>
              </a:rPr>
            </a:b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747962" y="1257300"/>
            <a:ext cx="6696075" cy="4343400"/>
          </a:xfrm>
          <a:prstGeom prst="rect">
            <a:avLst/>
          </a:prstGeom>
        </p:spPr>
      </p:pic>
      <p:sp>
        <p:nvSpPr>
          <p:cNvPr id="3" name="TextBox 2"/>
          <p:cNvSpPr txBox="1"/>
          <p:nvPr/>
        </p:nvSpPr>
        <p:spPr>
          <a:xfrm>
            <a:off x="1811708" y="5939327"/>
            <a:ext cx="6417892" cy="369332"/>
          </a:xfrm>
          <a:prstGeom prst="rect">
            <a:avLst/>
          </a:prstGeom>
          <a:noFill/>
        </p:spPr>
        <p:txBody>
          <a:bodyPr wrap="square" rtlCol="0">
            <a:spAutoFit/>
          </a:bodyPr>
          <a:lstStyle/>
          <a:p>
            <a:r>
              <a:rPr lang="en-GB" dirty="0" smtClean="0"/>
              <a:t>Arterial and venous supply to the kidney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407350" y="91645"/>
            <a:ext cx="9753600" cy="5324475"/>
          </a:xfrm>
          <a:prstGeom prst="rect">
            <a:avLst/>
          </a:prstGeom>
        </p:spPr>
      </p:pic>
      <p:sp>
        <p:nvSpPr>
          <p:cNvPr id="4" name="TextBox 3"/>
          <p:cNvSpPr txBox="1"/>
          <p:nvPr/>
        </p:nvSpPr>
        <p:spPr>
          <a:xfrm>
            <a:off x="2879933" y="5819686"/>
            <a:ext cx="6511895" cy="369332"/>
          </a:xfrm>
          <a:prstGeom prst="rect">
            <a:avLst/>
          </a:prstGeom>
          <a:noFill/>
        </p:spPr>
        <p:txBody>
          <a:bodyPr wrap="square" rtlCol="0">
            <a:spAutoFit/>
          </a:bodyPr>
          <a:lstStyle/>
          <a:p>
            <a:r>
              <a:rPr lang="en-GB" dirty="0" smtClean="0"/>
              <a:t>Arterial supply to the kidney can be divided into five segments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71245" y="2888478"/>
            <a:ext cx="5665862" cy="1015663"/>
          </a:xfrm>
          <a:prstGeom prst="rect">
            <a:avLst/>
          </a:prstGeom>
          <a:noFill/>
        </p:spPr>
        <p:txBody>
          <a:bodyPr wrap="square" rtlCol="0">
            <a:spAutoFit/>
          </a:bodyPr>
          <a:lstStyle/>
          <a:p>
            <a:r>
              <a:rPr lang="en-GB" sz="6000" b="1" dirty="0" smtClean="0">
                <a:solidFill>
                  <a:srgbClr val="C00000"/>
                </a:solidFill>
                <a:latin typeface="Times New Roman" panose="02020603050405020304" pitchFamily="18" charset="0"/>
                <a:cs typeface="Times New Roman" panose="02020603050405020304" pitchFamily="18" charset="0"/>
              </a:rPr>
              <a:t>SPLEEN</a:t>
            </a:r>
            <a:endParaRPr lang="en-US" sz="6000" b="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3364" y="341832"/>
            <a:ext cx="11112382" cy="5755422"/>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Anatomical Position</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endParaRPr lang="en-US" sz="2400" b="1"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The spleen is located in the </a:t>
            </a:r>
            <a:r>
              <a:rPr lang="en-US" sz="2400" b="1" i="0" dirty="0" smtClean="0">
                <a:solidFill>
                  <a:srgbClr val="000000"/>
                </a:solidFill>
                <a:effectLst/>
                <a:latin typeface="Times New Roman" panose="02020603050405020304" pitchFamily="18" charset="0"/>
                <a:cs typeface="Times New Roman" panose="02020603050405020304" pitchFamily="18" charset="0"/>
              </a:rPr>
              <a:t>upper left quadrant</a:t>
            </a:r>
            <a:r>
              <a:rPr lang="en-US" sz="2400" b="0" i="0" dirty="0" smtClean="0">
                <a:solidFill>
                  <a:srgbClr val="000000"/>
                </a:solidFill>
                <a:effectLst/>
                <a:latin typeface="Times New Roman" panose="02020603050405020304" pitchFamily="18" charset="0"/>
                <a:cs typeface="Times New Roman" panose="02020603050405020304" pitchFamily="18" charset="0"/>
              </a:rPr>
              <a:t> of the abdomen, under cover of the </a:t>
            </a:r>
            <a:r>
              <a:rPr lang="en-US" sz="2400" b="1" i="0" u="none" strike="noStrike" dirty="0" smtClean="0">
                <a:solidFill>
                  <a:srgbClr val="000000"/>
                </a:solidFill>
                <a:effectLst/>
                <a:latin typeface="Times New Roman" panose="02020603050405020304" pitchFamily="18" charset="0"/>
                <a:cs typeface="Times New Roman" panose="02020603050405020304" pitchFamily="18" charset="0"/>
              </a:rPr>
              <a:t>diaphragm</a:t>
            </a:r>
            <a:r>
              <a:rPr lang="en-US" sz="2400" b="0" i="0" dirty="0" smtClean="0">
                <a:solidFill>
                  <a:srgbClr val="000000"/>
                </a:solidFill>
                <a:effectLst/>
                <a:latin typeface="Times New Roman" panose="02020603050405020304" pitchFamily="18" charset="0"/>
                <a:cs typeface="Times New Roman" panose="02020603050405020304" pitchFamily="18" charset="0"/>
              </a:rPr>
              <a:t> and  </a:t>
            </a:r>
            <a:r>
              <a:rPr lang="en-US" sz="2400" b="1" i="0" dirty="0" smtClean="0">
                <a:solidFill>
                  <a:srgbClr val="000000"/>
                </a:solidFill>
                <a:effectLst/>
                <a:latin typeface="Times New Roman" panose="02020603050405020304" pitchFamily="18" charset="0"/>
                <a:cs typeface="Times New Roman" panose="02020603050405020304" pitchFamily="18" charset="0"/>
              </a:rPr>
              <a:t>the </a:t>
            </a:r>
            <a:r>
              <a:rPr lang="en-US" sz="2400" b="1" i="0" u="none" strike="noStrike" dirty="0" smtClean="0">
                <a:solidFill>
                  <a:srgbClr val="000000"/>
                </a:solidFill>
                <a:effectLst/>
                <a:latin typeface="Times New Roman" panose="02020603050405020304" pitchFamily="18" charset="0"/>
                <a:cs typeface="Times New Roman" panose="02020603050405020304" pitchFamily="18" charset="0"/>
              </a:rPr>
              <a:t>ribcage</a:t>
            </a:r>
            <a:r>
              <a:rPr lang="en-US" sz="2400" b="0" i="0" dirty="0" smtClean="0">
                <a:solidFill>
                  <a:srgbClr val="000000"/>
                </a:solidFill>
                <a:effectLst/>
                <a:latin typeface="Times New Roman" panose="02020603050405020304" pitchFamily="18" charset="0"/>
                <a:cs typeface="Times New Roman" panose="02020603050405020304" pitchFamily="18" charset="0"/>
              </a:rPr>
              <a:t> – and therefore cannot normally be palpated on clinical examination (except when enlarged). </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smtClean="0">
                <a:solidFill>
                  <a:srgbClr val="000000"/>
                </a:solidFill>
                <a:effectLst/>
                <a:latin typeface="Times New Roman" panose="02020603050405020304" pitchFamily="18" charset="0"/>
                <a:cs typeface="Times New Roman" panose="02020603050405020304" pitchFamily="18" charset="0"/>
              </a:rPr>
              <a:t>It is an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intraperitoneal</a:t>
            </a:r>
            <a:r>
              <a:rPr lang="en-US" sz="2400" b="0" i="0" dirty="0" smtClean="0">
                <a:solidFill>
                  <a:srgbClr val="000000"/>
                </a:solidFill>
                <a:effectLst/>
                <a:latin typeface="Times New Roman" panose="02020603050405020304" pitchFamily="18" charset="0"/>
                <a:cs typeface="Times New Roman" panose="02020603050405020304" pitchFamily="18" charset="0"/>
              </a:rPr>
              <a:t> organ, entirely surrounded by peritoneum (except at the splenic hilum).</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spleen is connected to the </a:t>
            </a:r>
            <a:r>
              <a:rPr lang="en-US" sz="2400" b="0" i="0" u="none" strike="noStrike" dirty="0" smtClean="0">
                <a:solidFill>
                  <a:srgbClr val="000000"/>
                </a:solidFill>
                <a:effectLst/>
                <a:latin typeface="Times New Roman" panose="02020603050405020304" pitchFamily="18" charset="0"/>
                <a:cs typeface="Times New Roman" panose="02020603050405020304" pitchFamily="18" charset="0"/>
              </a:rPr>
              <a:t>stomach</a:t>
            </a:r>
            <a:r>
              <a:rPr lang="en-US" sz="2400" b="0" i="0" dirty="0" smtClean="0">
                <a:solidFill>
                  <a:srgbClr val="000000"/>
                </a:solidFill>
                <a:effectLst/>
                <a:latin typeface="Times New Roman" panose="02020603050405020304" pitchFamily="18" charset="0"/>
                <a:cs typeface="Times New Roman" panose="02020603050405020304" pitchFamily="18" charset="0"/>
              </a:rPr>
              <a:t> and </a:t>
            </a:r>
            <a:r>
              <a:rPr lang="en-US" sz="2400" b="0" i="0" u="none" strike="noStrike" dirty="0" smtClean="0">
                <a:solidFill>
                  <a:srgbClr val="000000"/>
                </a:solidFill>
                <a:effectLst/>
                <a:latin typeface="Times New Roman" panose="02020603050405020304" pitchFamily="18" charset="0"/>
                <a:cs typeface="Times New Roman" panose="02020603050405020304" pitchFamily="18" charset="0"/>
              </a:rPr>
              <a:t>kidney</a:t>
            </a:r>
            <a:r>
              <a:rPr lang="en-US" sz="2400" b="0" i="0" dirty="0" smtClean="0">
                <a:solidFill>
                  <a:srgbClr val="000000"/>
                </a:solidFill>
                <a:effectLst/>
                <a:latin typeface="Times New Roman" panose="02020603050405020304" pitchFamily="18" charset="0"/>
                <a:cs typeface="Times New Roman" panose="02020603050405020304" pitchFamily="18" charset="0"/>
              </a:rPr>
              <a:t> by parts of the </a:t>
            </a:r>
            <a:r>
              <a:rPr lang="en-US" sz="2400" b="1" i="0" dirty="0" smtClean="0">
                <a:solidFill>
                  <a:srgbClr val="000000"/>
                </a:solidFill>
                <a:effectLst/>
                <a:latin typeface="Times New Roman" panose="02020603050405020304" pitchFamily="18" charset="0"/>
                <a:cs typeface="Times New Roman" panose="02020603050405020304" pitchFamily="18" charset="0"/>
              </a:rPr>
              <a:t>greater </a:t>
            </a:r>
            <a:r>
              <a:rPr lang="en-US" sz="2400" b="1" i="0" dirty="0" err="1" smtClean="0">
                <a:solidFill>
                  <a:srgbClr val="000000"/>
                </a:solidFill>
                <a:effectLst/>
                <a:latin typeface="Times New Roman" panose="02020603050405020304" pitchFamily="18" charset="0"/>
                <a:cs typeface="Times New Roman" panose="02020603050405020304" pitchFamily="18" charset="0"/>
              </a:rPr>
              <a:t>omentum</a:t>
            </a:r>
            <a:r>
              <a:rPr lang="en-US" sz="2400" b="0" i="0" dirty="0" smtClean="0">
                <a:solidFill>
                  <a:srgbClr val="000000"/>
                </a:solidFill>
                <a:effectLst/>
                <a:latin typeface="Times New Roman" panose="02020603050405020304" pitchFamily="18" charset="0"/>
                <a:cs typeface="Times New Roman" panose="02020603050405020304" pitchFamily="18" charset="0"/>
              </a:rPr>
              <a:t> – a double fold of </a:t>
            </a:r>
            <a:r>
              <a:rPr lang="en-US" sz="2400" b="0" i="0" u="none" strike="noStrike" dirty="0" smtClean="0">
                <a:solidFill>
                  <a:srgbClr val="000000"/>
                </a:solidFill>
                <a:effectLst/>
                <a:latin typeface="Times New Roman" panose="02020603050405020304" pitchFamily="18" charset="0"/>
                <a:cs typeface="Times New Roman" panose="02020603050405020304" pitchFamily="18" charset="0"/>
              </a:rPr>
              <a:t>peritoneum</a:t>
            </a:r>
            <a:r>
              <a:rPr lang="en-US" sz="2400" b="0" i="0" dirty="0" smtClean="0">
                <a:solidFill>
                  <a:srgbClr val="000000"/>
                </a:solidFill>
                <a:effectLst/>
                <a:latin typeface="Times New Roman" panose="02020603050405020304" pitchFamily="18" charset="0"/>
                <a:cs typeface="Times New Roman" panose="02020603050405020304" pitchFamily="18" charset="0"/>
              </a:rPr>
              <a:t> that originates from the stomach:</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err="1" smtClean="0">
                <a:solidFill>
                  <a:srgbClr val="000000"/>
                </a:solidFill>
                <a:effectLst/>
                <a:latin typeface="Times New Roman" panose="02020603050405020304" pitchFamily="18" charset="0"/>
                <a:cs typeface="Times New Roman" panose="02020603050405020304" pitchFamily="18" charset="0"/>
              </a:rPr>
              <a:t>Gastrosplenic</a:t>
            </a:r>
            <a:r>
              <a:rPr lang="en-US" sz="2400" b="1" i="0" dirty="0" smtClean="0">
                <a:solidFill>
                  <a:srgbClr val="000000"/>
                </a:solidFill>
                <a:effectLst/>
                <a:latin typeface="Times New Roman" panose="02020603050405020304" pitchFamily="18" charset="0"/>
                <a:cs typeface="Times New Roman" panose="02020603050405020304" pitchFamily="18" charset="0"/>
              </a:rPr>
              <a:t> ligament </a:t>
            </a:r>
            <a:r>
              <a:rPr lang="en-US" sz="2400" b="0" i="0" dirty="0" smtClean="0">
                <a:solidFill>
                  <a:srgbClr val="000000"/>
                </a:solidFill>
                <a:effectLst/>
                <a:latin typeface="Times New Roman" panose="02020603050405020304" pitchFamily="18" charset="0"/>
                <a:cs typeface="Times New Roman" panose="02020603050405020304" pitchFamily="18" charset="0"/>
              </a:rPr>
              <a:t>– anterior to the splenic hilum, connects the spleen to the greater curvature of the stomach.</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err="1" smtClean="0">
                <a:solidFill>
                  <a:srgbClr val="000000"/>
                </a:solidFill>
                <a:effectLst/>
                <a:latin typeface="Times New Roman" panose="02020603050405020304" pitchFamily="18" charset="0"/>
                <a:cs typeface="Times New Roman" panose="02020603050405020304" pitchFamily="18" charset="0"/>
              </a:rPr>
              <a:t>Splenorenal</a:t>
            </a:r>
            <a:r>
              <a:rPr lang="en-US" sz="2400" b="1" i="0" dirty="0" smtClean="0">
                <a:solidFill>
                  <a:srgbClr val="000000"/>
                </a:solidFill>
                <a:effectLst/>
                <a:latin typeface="Times New Roman" panose="02020603050405020304" pitchFamily="18" charset="0"/>
                <a:cs typeface="Times New Roman" panose="02020603050405020304" pitchFamily="18" charset="0"/>
              </a:rPr>
              <a:t> ligament </a:t>
            </a:r>
            <a:r>
              <a:rPr lang="en-US" sz="2400" b="0" i="0" dirty="0" smtClean="0">
                <a:solidFill>
                  <a:srgbClr val="000000"/>
                </a:solidFill>
                <a:effectLst/>
                <a:latin typeface="Times New Roman" panose="02020603050405020304" pitchFamily="18" charset="0"/>
                <a:cs typeface="Times New Roman" panose="02020603050405020304" pitchFamily="18" charset="0"/>
              </a:rPr>
              <a:t>– posterior to the splenic hilum, connects the hilum of the spleen to the left kidney. The splenic vessels and tail of the pancreas lie within this ligament</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Between these two ligaments is the lesser sac.</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107" y="634045"/>
            <a:ext cx="11553913" cy="2677656"/>
          </a:xfrm>
          <a:prstGeom prst="rect">
            <a:avLst/>
          </a:prstGeom>
        </p:spPr>
        <p:txBody>
          <a:bodyPr wrap="square">
            <a:spAutoFit/>
          </a:bodyPr>
          <a:lstStyle/>
          <a:p>
            <a:r>
              <a:rPr lang="en-US" sz="2800" dirty="0" smtClean="0">
                <a:latin typeface="Times New Roman" panose="02020603050405020304" pitchFamily="18" charset="0"/>
                <a:cs typeface="Times New Roman" panose="02020603050405020304" pitchFamily="18" charset="0"/>
              </a:rPr>
              <a:t>In humans, the spleen is in the upper left quadrant of the abdomen, beneath the diaphragm and adjacent to the stomach. It is a fist-sized </a:t>
            </a:r>
            <a:r>
              <a:rPr lang="en-US" sz="2800" u="sng" dirty="0" smtClean="0">
                <a:latin typeface="Times New Roman" panose="02020603050405020304" pitchFamily="18" charset="0"/>
                <a:cs typeface="Times New Roman" panose="02020603050405020304" pitchFamily="18" charset="0"/>
                <a:hlinkClick r:id="rId1"/>
              </a:rPr>
              <a:t>organ</a:t>
            </a:r>
            <a:r>
              <a:rPr lang="en-US" sz="2800" dirty="0" smtClean="0">
                <a:latin typeface="Times New Roman" panose="02020603050405020304" pitchFamily="18" charset="0"/>
                <a:cs typeface="Times New Roman" panose="02020603050405020304" pitchFamily="18" charset="0"/>
              </a:rPr>
              <a:t>. In adult humans, a typical spleen is around 12 cm in length, 7 cm in width, and 4 cm in thickness, weighing approximately 150-200 grams. The size depends on height, weight, and the level of congestion, but not age or sex. The spleen has a soft, spongy texture and a purplish hue due to its rich blood supply.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teachmeanatomy.info/wp-content/uploads/Anatomical-Position-of-the-Spleen.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2052" name="Picture 4" descr="https://teachmeanatomy.info/wp-content/uploads/Anatomical-Position-of-the-Spleen.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5253" y="643382"/>
            <a:ext cx="6667500" cy="47244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028721" y="5594428"/>
            <a:ext cx="6699270" cy="369332"/>
          </a:xfrm>
          <a:prstGeom prst="rect">
            <a:avLst/>
          </a:prstGeom>
        </p:spPr>
        <p:txBody>
          <a:bodyPr wrap="none">
            <a:spAutoFit/>
          </a:bodyPr>
          <a:lstStyle/>
          <a:p>
            <a:r>
              <a:rPr lang="en-US" b="0" i="0" dirty="0" smtClean="0">
                <a:solidFill>
                  <a:srgbClr val="000000"/>
                </a:solidFill>
                <a:effectLst/>
                <a:latin typeface="acumin-pro"/>
              </a:rPr>
              <a:t>Figure 1 ;The anatomical position of the spleen in the abdomen.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838450" y="1323975"/>
            <a:ext cx="6515100" cy="4210050"/>
          </a:xfrm>
          <a:prstGeom prst="rect">
            <a:avLst/>
          </a:prstGeom>
        </p:spPr>
      </p:pic>
      <p:sp>
        <p:nvSpPr>
          <p:cNvPr id="3" name="Rectangle 2"/>
          <p:cNvSpPr/>
          <p:nvPr/>
        </p:nvSpPr>
        <p:spPr>
          <a:xfrm>
            <a:off x="666572" y="5534025"/>
            <a:ext cx="11525428" cy="369332"/>
          </a:xfrm>
          <a:prstGeom prst="rect">
            <a:avLst/>
          </a:prstGeom>
        </p:spPr>
        <p:txBody>
          <a:bodyPr wrap="square">
            <a:spAutoFit/>
          </a:bodyPr>
          <a:lstStyle/>
          <a:p>
            <a:r>
              <a:rPr lang="en-US" b="0" i="0" dirty="0" smtClean="0">
                <a:solidFill>
                  <a:srgbClr val="000000"/>
                </a:solidFill>
                <a:effectLst/>
                <a:latin typeface="acumin-pro"/>
              </a:rPr>
              <a:t>Figure 2; The ligaments of the spleen. Note how the splenic vessels run within the </a:t>
            </a:r>
            <a:r>
              <a:rPr lang="en-US" b="0" i="0" dirty="0" err="1" smtClean="0">
                <a:solidFill>
                  <a:srgbClr val="000000"/>
                </a:solidFill>
                <a:effectLst/>
                <a:latin typeface="acumin-pro"/>
              </a:rPr>
              <a:t>splenorenal</a:t>
            </a:r>
            <a:r>
              <a:rPr lang="en-US" b="0" i="0" dirty="0" smtClean="0">
                <a:solidFill>
                  <a:srgbClr val="000000"/>
                </a:solidFill>
                <a:effectLst/>
                <a:latin typeface="acumin-pro"/>
              </a:rPr>
              <a:t> ligament.</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219200" y="-23813"/>
            <a:ext cx="9753600" cy="5997323"/>
          </a:xfrm>
          <a:prstGeom prst="rect">
            <a:avLst/>
          </a:prstGeom>
        </p:spPr>
      </p:pic>
      <p:sp>
        <p:nvSpPr>
          <p:cNvPr id="3" name="TextBox 2"/>
          <p:cNvSpPr txBox="1"/>
          <p:nvPr/>
        </p:nvSpPr>
        <p:spPr>
          <a:xfrm>
            <a:off x="0" y="6212792"/>
            <a:ext cx="12191999" cy="646331"/>
          </a:xfrm>
          <a:prstGeom prst="rect">
            <a:avLst/>
          </a:prstGeom>
          <a:noFill/>
        </p:spPr>
        <p:txBody>
          <a:bodyPr wrap="square" rtlCol="0">
            <a:spAutoFit/>
          </a:bodyPr>
          <a:lstStyle/>
          <a:p>
            <a:r>
              <a:rPr lang="en-GB" dirty="0" smtClean="0"/>
              <a:t>Dissection of the visceral surface of the spleen, how the splenic artery divides into 5 branches, each supplying vascular segment of the spleen </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824" y="284859"/>
            <a:ext cx="12038176" cy="5262979"/>
          </a:xfrm>
          <a:prstGeom prst="rect">
            <a:avLst/>
          </a:prstGeom>
        </p:spPr>
        <p:txBody>
          <a:bodyPr wrap="square">
            <a:spAutoFit/>
          </a:bodyPr>
          <a:lstStyle/>
          <a:p>
            <a:r>
              <a:rPr lang="en-US" sz="2800" b="1" i="0" dirty="0" smtClean="0">
                <a:solidFill>
                  <a:srgbClr val="000000"/>
                </a:solidFill>
                <a:effectLst/>
                <a:latin typeface="Times New Roman" panose="02020603050405020304" pitchFamily="18" charset="0"/>
                <a:cs typeface="Times New Roman" panose="02020603050405020304" pitchFamily="18" charset="0"/>
              </a:rPr>
              <a:t>Structure</a:t>
            </a:r>
            <a:endParaRPr lang="en-US" sz="2800" b="1"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 spleen has a slightly </a:t>
            </a:r>
            <a:r>
              <a:rPr lang="en-US" sz="2800" b="1" i="0" dirty="0" smtClean="0">
                <a:solidFill>
                  <a:srgbClr val="000000"/>
                </a:solidFill>
                <a:effectLst/>
                <a:latin typeface="Times New Roman" panose="02020603050405020304" pitchFamily="18" charset="0"/>
                <a:cs typeface="Times New Roman" panose="02020603050405020304" pitchFamily="18" charset="0"/>
              </a:rPr>
              <a:t>oval</a:t>
            </a:r>
            <a:r>
              <a:rPr lang="en-US" sz="2800" b="0" i="0" dirty="0" smtClean="0">
                <a:solidFill>
                  <a:srgbClr val="000000"/>
                </a:solidFill>
                <a:effectLst/>
                <a:latin typeface="Times New Roman" panose="02020603050405020304" pitchFamily="18" charset="0"/>
                <a:cs typeface="Times New Roman" panose="02020603050405020304" pitchFamily="18" charset="0"/>
              </a:rPr>
              <a:t> shape. It is covered by a weak capsule that protects the organ whilst allowing it to expand in size.</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 outer surface of the spleen can be anatomically divided into two:</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Diaphragmatic surface </a:t>
            </a:r>
            <a:r>
              <a:rPr lang="en-US" sz="2800" b="0" i="0" dirty="0" smtClean="0">
                <a:solidFill>
                  <a:srgbClr val="000000"/>
                </a:solidFill>
                <a:effectLst/>
                <a:latin typeface="Times New Roman" panose="02020603050405020304" pitchFamily="18" charset="0"/>
                <a:cs typeface="Times New Roman" panose="02020603050405020304" pitchFamily="18" charset="0"/>
              </a:rPr>
              <a:t>– in contact with diaphragm and ribcage.</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Visceral surface </a:t>
            </a:r>
            <a:r>
              <a:rPr lang="en-US" sz="2800" b="0" i="0" dirty="0" smtClean="0">
                <a:solidFill>
                  <a:srgbClr val="000000"/>
                </a:solidFill>
                <a:effectLst/>
                <a:latin typeface="Times New Roman" panose="02020603050405020304" pitchFamily="18" charset="0"/>
                <a:cs typeface="Times New Roman" panose="02020603050405020304" pitchFamily="18" charset="0"/>
              </a:rPr>
              <a:t>– in contact with the other abdominal viscera.</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It has anterior, superior, posteromedial and inferior borders. The posteromedial and inferior borders are smooth, whilst the anterior and superior borders contain </a:t>
            </a:r>
            <a:r>
              <a:rPr lang="en-US" sz="2800" b="1" i="0" dirty="0" smtClean="0">
                <a:solidFill>
                  <a:srgbClr val="000000"/>
                </a:solidFill>
                <a:effectLst/>
                <a:latin typeface="Times New Roman" panose="02020603050405020304" pitchFamily="18" charset="0"/>
                <a:cs typeface="Times New Roman" panose="02020603050405020304" pitchFamily="18" charset="0"/>
              </a:rPr>
              <a:t>notches</a:t>
            </a:r>
            <a:r>
              <a:rPr lang="en-US" sz="2800" b="0" i="0" dirty="0" smtClean="0">
                <a:solidFill>
                  <a:srgbClr val="000000"/>
                </a:solidFill>
                <a:effectLst/>
                <a:latin typeface="Times New Roman" panose="02020603050405020304" pitchFamily="18" charset="0"/>
                <a:cs typeface="Times New Roman" panose="02020603050405020304" pitchFamily="18" charset="0"/>
              </a:rPr>
              <a:t>.</a:t>
            </a:r>
            <a:endParaRPr lang="en-US" sz="2800" b="0" i="0" dirty="0" smtClean="0">
              <a:solidFill>
                <a:srgbClr val="0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In enlargement of the spleen (known as splenomegaly), the superior border moves </a:t>
            </a:r>
            <a:r>
              <a:rPr lang="en-US" sz="2800" b="0" i="0" dirty="0" err="1" smtClean="0">
                <a:solidFill>
                  <a:srgbClr val="000000"/>
                </a:solidFill>
                <a:effectLst/>
                <a:latin typeface="Times New Roman" panose="02020603050405020304" pitchFamily="18" charset="0"/>
                <a:cs typeface="Times New Roman" panose="02020603050405020304" pitchFamily="18" charset="0"/>
              </a:rPr>
              <a:t>inferomedially</a:t>
            </a:r>
            <a:r>
              <a:rPr lang="en-US" sz="2800" b="0" i="0" dirty="0" smtClean="0">
                <a:solidFill>
                  <a:srgbClr val="000000"/>
                </a:solidFill>
                <a:effectLst/>
                <a:latin typeface="Times New Roman" panose="02020603050405020304" pitchFamily="18" charset="0"/>
                <a:cs typeface="Times New Roman" panose="02020603050405020304" pitchFamily="18" charset="0"/>
              </a:rPr>
              <a:t>, and its notches can be palpated.</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27518" y="880217"/>
          <a:ext cx="11008406" cy="3249965"/>
        </p:xfrm>
        <a:graphic>
          <a:graphicData uri="http://schemas.openxmlformats.org/drawingml/2006/table">
            <a:tbl>
              <a:tblPr/>
              <a:tblGrid>
                <a:gridCol w="2725179"/>
                <a:gridCol w="2725179"/>
                <a:gridCol w="2725179"/>
                <a:gridCol w="2832869"/>
              </a:tblGrid>
              <a:tr h="784474">
                <a:tc>
                  <a:txBody>
                    <a:bodyPr/>
                    <a:lstStyle/>
                    <a:p>
                      <a:r>
                        <a:rPr lang="en-US" b="1" dirty="0">
                          <a:effectLst/>
                        </a:rPr>
                        <a:t>Anterior</a:t>
                      </a:r>
                      <a:endParaRPr lang="en-US" dirty="0">
                        <a:effectLst/>
                      </a:endParaRPr>
                    </a:p>
                  </a:txBody>
                  <a:tcPr anchor="ctr">
                    <a:lnL w="12700" cap="flat" cmpd="sng" algn="ctr">
                      <a:solidFill>
                        <a:srgbClr val="90956B"/>
                      </a:solidFill>
                      <a:prstDash val="solid"/>
                      <a:round/>
                      <a:headEnd type="none" w="med" len="med"/>
                      <a:tailEnd type="none" w="med" len="med"/>
                    </a:lnL>
                    <a:lnR w="12700" cap="flat" cmpd="sng" algn="ctr">
                      <a:solidFill>
                        <a:srgbClr val="70966B"/>
                      </a:solidFill>
                      <a:prstDash val="solid"/>
                      <a:round/>
                      <a:headEnd type="none" w="med" len="med"/>
                      <a:tailEnd type="none" w="med" len="med"/>
                    </a:lnR>
                    <a:lnT w="12700" cap="flat" cmpd="sng" algn="ctr">
                      <a:solidFill>
                        <a:srgbClr val="805D22"/>
                      </a:solidFill>
                      <a:prstDash val="solid"/>
                      <a:round/>
                      <a:headEnd type="none" w="med" len="med"/>
                      <a:tailEnd type="none" w="med" len="med"/>
                    </a:lnT>
                    <a:lnB w="12700" cap="flat" cmpd="sng" algn="ctr">
                      <a:solidFill>
                        <a:srgbClr val="407022"/>
                      </a:solidFill>
                      <a:prstDash val="solid"/>
                      <a:round/>
                      <a:headEnd type="none" w="med" len="med"/>
                      <a:tailEnd type="none" w="med" len="med"/>
                    </a:lnB>
                    <a:solidFill>
                      <a:srgbClr val="F1F1F1"/>
                    </a:solidFill>
                  </a:tcPr>
                </a:tc>
                <a:tc>
                  <a:txBody>
                    <a:bodyPr/>
                    <a:lstStyle/>
                    <a:p>
                      <a:r>
                        <a:rPr lang="en-US" b="1">
                          <a:effectLst/>
                        </a:rPr>
                        <a:t>Posterior</a:t>
                      </a:r>
                      <a:endParaRPr lang="en-US">
                        <a:effectLst/>
                      </a:endParaRPr>
                    </a:p>
                  </a:txBody>
                  <a:tcPr anchor="ctr">
                    <a:lnL w="12700" cap="flat" cmpd="sng" algn="ctr">
                      <a:solidFill>
                        <a:srgbClr val="70966B"/>
                      </a:solidFill>
                      <a:prstDash val="solid"/>
                      <a:round/>
                      <a:headEnd type="none" w="med" len="med"/>
                      <a:tailEnd type="none" w="med" len="med"/>
                    </a:lnL>
                    <a:lnR w="12700" cap="flat" cmpd="sng" algn="ctr">
                      <a:solidFill>
                        <a:srgbClr val="10956B"/>
                      </a:solidFill>
                      <a:prstDash val="solid"/>
                      <a:round/>
                      <a:headEnd type="none" w="med" len="med"/>
                      <a:tailEnd type="none" w="med" len="med"/>
                    </a:lnR>
                    <a:lnT w="12700" cap="flat" cmpd="sng" algn="ctr">
                      <a:solidFill>
                        <a:srgbClr val="106122"/>
                      </a:solidFill>
                      <a:prstDash val="solid"/>
                      <a:round/>
                      <a:headEnd type="none" w="med" len="med"/>
                      <a:tailEnd type="none" w="med" len="med"/>
                    </a:lnT>
                    <a:lnB w="12700" cap="flat" cmpd="sng" algn="ctr">
                      <a:solidFill>
                        <a:srgbClr val="906B22"/>
                      </a:solidFill>
                      <a:prstDash val="solid"/>
                      <a:round/>
                      <a:headEnd type="none" w="med" len="med"/>
                      <a:tailEnd type="none" w="med" len="med"/>
                    </a:lnB>
                    <a:solidFill>
                      <a:srgbClr val="F1F1F1"/>
                    </a:solidFill>
                  </a:tcPr>
                </a:tc>
                <a:tc>
                  <a:txBody>
                    <a:bodyPr/>
                    <a:lstStyle/>
                    <a:p>
                      <a:r>
                        <a:rPr lang="en-US" b="1">
                          <a:effectLst/>
                        </a:rPr>
                        <a:t>Inferior</a:t>
                      </a:r>
                      <a:endParaRPr lang="en-US">
                        <a:effectLst/>
                      </a:endParaRPr>
                    </a:p>
                  </a:txBody>
                  <a:tcPr anchor="ctr">
                    <a:lnL w="12700" cap="flat" cmpd="sng" algn="ctr">
                      <a:solidFill>
                        <a:srgbClr val="10956B"/>
                      </a:solidFill>
                      <a:prstDash val="solid"/>
                      <a:round/>
                      <a:headEnd type="none" w="med" len="med"/>
                      <a:tailEnd type="none" w="med" len="med"/>
                    </a:lnL>
                    <a:lnR w="12700" cap="flat" cmpd="sng" algn="ctr">
                      <a:solidFill>
                        <a:srgbClr val="50986B"/>
                      </a:solidFill>
                      <a:prstDash val="solid"/>
                      <a:round/>
                      <a:headEnd type="none" w="med" len="med"/>
                      <a:tailEnd type="none" w="med" len="med"/>
                    </a:lnR>
                    <a:lnT w="12700" cap="flat" cmpd="sng" algn="ctr">
                      <a:solidFill>
                        <a:srgbClr val="006E22"/>
                      </a:solidFill>
                      <a:prstDash val="solid"/>
                      <a:round/>
                      <a:headEnd type="none" w="med" len="med"/>
                      <a:tailEnd type="none" w="med" len="med"/>
                    </a:lnT>
                    <a:lnB w="12700" cap="flat" cmpd="sng" algn="ctr">
                      <a:solidFill>
                        <a:srgbClr val="506C22"/>
                      </a:solidFill>
                      <a:prstDash val="solid"/>
                      <a:round/>
                      <a:headEnd type="none" w="med" len="med"/>
                      <a:tailEnd type="none" w="med" len="med"/>
                    </a:lnB>
                    <a:solidFill>
                      <a:srgbClr val="F1F1F1"/>
                    </a:solidFill>
                  </a:tcPr>
                </a:tc>
                <a:tc>
                  <a:txBody>
                    <a:bodyPr/>
                    <a:lstStyle/>
                    <a:p>
                      <a:r>
                        <a:rPr lang="en-US" b="1">
                          <a:effectLst/>
                        </a:rPr>
                        <a:t>Medial</a:t>
                      </a:r>
                      <a:endParaRPr lang="en-US">
                        <a:effectLst/>
                      </a:endParaRPr>
                    </a:p>
                  </a:txBody>
                  <a:tcPr anchor="ctr">
                    <a:lnL w="12700" cap="flat" cmpd="sng" algn="ctr">
                      <a:solidFill>
                        <a:srgbClr val="50986B"/>
                      </a:solidFill>
                      <a:prstDash val="solid"/>
                      <a:round/>
                      <a:headEnd type="none" w="med" len="med"/>
                      <a:tailEnd type="none" w="med" len="med"/>
                    </a:lnL>
                    <a:lnR w="12700" cap="flat" cmpd="sng" algn="ctr">
                      <a:solidFill>
                        <a:srgbClr val="D06A22"/>
                      </a:solidFill>
                      <a:prstDash val="solid"/>
                      <a:round/>
                      <a:headEnd type="none" w="med" len="med"/>
                      <a:tailEnd type="none" w="med" len="med"/>
                    </a:lnR>
                    <a:lnT w="12700" cap="flat" cmpd="sng" algn="ctr">
                      <a:solidFill>
                        <a:srgbClr val="D06A22"/>
                      </a:solidFill>
                      <a:prstDash val="solid"/>
                      <a:round/>
                      <a:headEnd type="none" w="med" len="med"/>
                      <a:tailEnd type="none" w="med" len="med"/>
                    </a:lnT>
                    <a:lnB w="12700" cap="flat" cmpd="sng" algn="ctr">
                      <a:solidFill>
                        <a:srgbClr val="F0986B"/>
                      </a:solidFill>
                      <a:prstDash val="solid"/>
                      <a:round/>
                      <a:headEnd type="none" w="med" len="med"/>
                      <a:tailEnd type="none" w="med" len="med"/>
                    </a:lnB>
                    <a:solidFill>
                      <a:srgbClr val="F1F1F1"/>
                    </a:solidFill>
                  </a:tcPr>
                </a:tc>
              </a:tr>
              <a:tr h="2465491">
                <a:tc>
                  <a:txBody>
                    <a:bodyPr/>
                    <a:lstStyle/>
                    <a:p>
                      <a:pPr>
                        <a:buFont typeface="Arial" panose="020B0604020202020204" pitchFamily="34" charset="0"/>
                        <a:buChar char="•"/>
                      </a:pPr>
                      <a:r>
                        <a:rPr lang="en-US" u="none" strike="noStrike">
                          <a:effectLst/>
                          <a:hlinkClick r:id="rId1"/>
                        </a:rPr>
                        <a:t>Stomach</a:t>
                      </a:r>
                      <a:endParaRPr lang="en-US">
                        <a:effectLst/>
                      </a:endParaRPr>
                    </a:p>
                  </a:txBody>
                  <a:tcPr anchor="ctr">
                    <a:lnL w="12700" cap="flat" cmpd="sng" algn="ctr">
                      <a:solidFill>
                        <a:srgbClr val="D0976B"/>
                      </a:solidFill>
                      <a:prstDash val="solid"/>
                      <a:round/>
                      <a:headEnd type="none" w="med" len="med"/>
                      <a:tailEnd type="none" w="med" len="med"/>
                    </a:lnL>
                    <a:lnR w="12700" cap="flat" cmpd="sng" algn="ctr">
                      <a:solidFill>
                        <a:srgbClr val="B0976B"/>
                      </a:solidFill>
                      <a:prstDash val="solid"/>
                      <a:round/>
                      <a:headEnd type="none" w="med" len="med"/>
                      <a:tailEnd type="none" w="med" len="med"/>
                    </a:lnR>
                    <a:lnT w="12700" cap="flat" cmpd="sng" algn="ctr">
                      <a:solidFill>
                        <a:srgbClr val="407022"/>
                      </a:solidFill>
                      <a:prstDash val="solid"/>
                      <a:round/>
                      <a:headEnd type="none" w="med" len="med"/>
                      <a:tailEnd type="none" w="med" len="med"/>
                    </a:lnT>
                    <a:lnB w="12700" cap="flat" cmpd="sng" algn="ctr">
                      <a:solidFill>
                        <a:srgbClr val="407022"/>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u="none" strike="noStrike" dirty="0">
                          <a:effectLst/>
                          <a:hlinkClick r:id="rId2"/>
                        </a:rPr>
                        <a:t>Diaphragm</a:t>
                      </a:r>
                      <a:endParaRPr lang="en-US" dirty="0">
                        <a:effectLst/>
                      </a:endParaRPr>
                    </a:p>
                    <a:p>
                      <a:pPr>
                        <a:buFont typeface="Arial" panose="020B0604020202020204" pitchFamily="34" charset="0"/>
                        <a:buChar char="•"/>
                      </a:pPr>
                      <a:r>
                        <a:rPr lang="en-US" dirty="0">
                          <a:effectLst/>
                        </a:rPr>
                        <a:t>Left </a:t>
                      </a:r>
                      <a:r>
                        <a:rPr lang="en-US" u="none" strike="noStrike" dirty="0">
                          <a:effectLst/>
                          <a:hlinkClick r:id="rId3"/>
                        </a:rPr>
                        <a:t>lung</a:t>
                      </a:r>
                      <a:endParaRPr lang="en-US" dirty="0">
                        <a:effectLst/>
                      </a:endParaRPr>
                    </a:p>
                    <a:p>
                      <a:pPr>
                        <a:buFont typeface="Arial" panose="020B0604020202020204" pitchFamily="34" charset="0"/>
                        <a:buChar char="•"/>
                      </a:pPr>
                      <a:r>
                        <a:rPr lang="en-US" u="none" strike="noStrike" dirty="0">
                          <a:effectLst/>
                          <a:hlinkClick r:id="rId4"/>
                        </a:rPr>
                        <a:t>Ribs </a:t>
                      </a:r>
                      <a:r>
                        <a:rPr lang="en-US" dirty="0">
                          <a:effectLst/>
                        </a:rPr>
                        <a:t>9-11</a:t>
                      </a:r>
                      <a:endParaRPr lang="en-US" dirty="0">
                        <a:effectLst/>
                      </a:endParaRPr>
                    </a:p>
                  </a:txBody>
                  <a:tcPr anchor="ctr">
                    <a:lnL w="12700" cap="flat" cmpd="sng" algn="ctr">
                      <a:solidFill>
                        <a:srgbClr val="B0976B"/>
                      </a:solidFill>
                      <a:prstDash val="solid"/>
                      <a:round/>
                      <a:headEnd type="none" w="med" len="med"/>
                      <a:tailEnd type="none" w="med" len="med"/>
                    </a:lnL>
                    <a:lnR w="12700" cap="flat" cmpd="sng" algn="ctr">
                      <a:solidFill>
                        <a:srgbClr val="30986B"/>
                      </a:solidFill>
                      <a:prstDash val="solid"/>
                      <a:round/>
                      <a:headEnd type="none" w="med" len="med"/>
                      <a:tailEnd type="none" w="med" len="med"/>
                    </a:lnR>
                    <a:lnT w="12700" cap="flat" cmpd="sng" algn="ctr">
                      <a:solidFill>
                        <a:srgbClr val="906B22"/>
                      </a:solidFill>
                      <a:prstDash val="solid"/>
                      <a:round/>
                      <a:headEnd type="none" w="med" len="med"/>
                      <a:tailEnd type="none" w="med" len="med"/>
                    </a:lnT>
                    <a:lnB w="12700" cap="flat" cmpd="sng" algn="ctr">
                      <a:solidFill>
                        <a:srgbClr val="906B22"/>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dirty="0">
                          <a:effectLst/>
                        </a:rPr>
                        <a:t>Left </a:t>
                      </a:r>
                      <a:r>
                        <a:rPr lang="en-US" u="none" strike="noStrike" dirty="0">
                          <a:effectLst/>
                          <a:latin typeface="inherit"/>
                          <a:hlinkClick r:id="rId5"/>
                        </a:rPr>
                        <a:t>colic </a:t>
                      </a:r>
                      <a:r>
                        <a:rPr lang="en-US" dirty="0">
                          <a:effectLst/>
                          <a:latin typeface="inherit"/>
                        </a:rPr>
                        <a:t>flexure (splenic flexure)</a:t>
                      </a:r>
                      <a:endParaRPr lang="en-US" dirty="0">
                        <a:effectLst/>
                      </a:endParaRPr>
                    </a:p>
                  </a:txBody>
                  <a:tcPr anchor="ctr">
                    <a:lnL w="12700" cap="flat" cmpd="sng" algn="ctr">
                      <a:solidFill>
                        <a:srgbClr val="30986B"/>
                      </a:solidFill>
                      <a:prstDash val="solid"/>
                      <a:round/>
                      <a:headEnd type="none" w="med" len="med"/>
                      <a:tailEnd type="none" w="med" len="med"/>
                    </a:lnL>
                    <a:lnR w="12700" cap="flat" cmpd="sng" algn="ctr">
                      <a:solidFill>
                        <a:srgbClr val="50936B"/>
                      </a:solidFill>
                      <a:prstDash val="solid"/>
                      <a:round/>
                      <a:headEnd type="none" w="med" len="med"/>
                      <a:tailEnd type="none" w="med" len="med"/>
                    </a:lnR>
                    <a:lnT w="12700" cap="flat" cmpd="sng" algn="ctr">
                      <a:solidFill>
                        <a:srgbClr val="506C22"/>
                      </a:solidFill>
                      <a:prstDash val="solid"/>
                      <a:round/>
                      <a:headEnd type="none" w="med" len="med"/>
                      <a:tailEnd type="none" w="med" len="med"/>
                    </a:lnT>
                    <a:lnB w="12700" cap="flat" cmpd="sng" algn="ctr">
                      <a:solidFill>
                        <a:srgbClr val="506C22"/>
                      </a:solidFill>
                      <a:prstDash val="solid"/>
                      <a:round/>
                      <a:headEnd type="none" w="med" len="med"/>
                      <a:tailEnd type="none" w="med" len="med"/>
                    </a:lnB>
                    <a:solidFill>
                      <a:srgbClr val="F1F1F1"/>
                    </a:solidFill>
                  </a:tcPr>
                </a:tc>
                <a:tc>
                  <a:txBody>
                    <a:bodyPr/>
                    <a:lstStyle/>
                    <a:p>
                      <a:pPr>
                        <a:buFont typeface="Arial" panose="020B0604020202020204" pitchFamily="34" charset="0"/>
                        <a:buChar char="•"/>
                      </a:pPr>
                      <a:r>
                        <a:rPr lang="en-US" dirty="0">
                          <a:effectLst/>
                        </a:rPr>
                        <a:t>Left </a:t>
                      </a:r>
                      <a:r>
                        <a:rPr lang="en-US" u="none" strike="noStrike" dirty="0">
                          <a:effectLst/>
                          <a:hlinkClick r:id="rId6"/>
                        </a:rPr>
                        <a:t>kidney</a:t>
                      </a:r>
                      <a:endParaRPr lang="en-US" dirty="0">
                        <a:effectLst/>
                      </a:endParaRPr>
                    </a:p>
                    <a:p>
                      <a:pPr>
                        <a:buFont typeface="Arial" panose="020B0604020202020204" pitchFamily="34" charset="0"/>
                        <a:buChar char="•"/>
                      </a:pPr>
                      <a:r>
                        <a:rPr lang="en-US" dirty="0">
                          <a:effectLst/>
                        </a:rPr>
                        <a:t>Tail of the </a:t>
                      </a:r>
                      <a:r>
                        <a:rPr lang="en-US" u="none" strike="noStrike" dirty="0">
                          <a:effectLst/>
                          <a:hlinkClick r:id="rId7"/>
                        </a:rPr>
                        <a:t>pancreas</a:t>
                      </a:r>
                      <a:endParaRPr lang="en-US" dirty="0">
                        <a:effectLst/>
                      </a:endParaRPr>
                    </a:p>
                  </a:txBody>
                  <a:tcPr anchor="ctr">
                    <a:lnL w="12700" cap="flat" cmpd="sng" algn="ctr">
                      <a:solidFill>
                        <a:srgbClr val="50936B"/>
                      </a:solidFill>
                      <a:prstDash val="solid"/>
                      <a:round/>
                      <a:headEnd type="none" w="med" len="med"/>
                      <a:tailEnd type="none" w="med" len="med"/>
                    </a:lnL>
                    <a:lnR w="12700" cap="flat" cmpd="sng" algn="ctr">
                      <a:solidFill>
                        <a:srgbClr val="D0926B"/>
                      </a:solidFill>
                      <a:prstDash val="solid"/>
                      <a:round/>
                      <a:headEnd type="none" w="med" len="med"/>
                      <a:tailEnd type="none" w="med" len="med"/>
                    </a:lnR>
                    <a:lnT w="12700" cap="flat" cmpd="sng" algn="ctr">
                      <a:solidFill>
                        <a:srgbClr val="F0986B"/>
                      </a:solidFill>
                      <a:prstDash val="solid"/>
                      <a:round/>
                      <a:headEnd type="none" w="med" len="med"/>
                      <a:tailEnd type="none" w="med" len="med"/>
                    </a:lnT>
                    <a:lnB w="12700" cap="flat" cmpd="sng" algn="ctr">
                      <a:solidFill>
                        <a:srgbClr val="D0926B"/>
                      </a:solidFill>
                      <a:prstDash val="solid"/>
                      <a:round/>
                      <a:headEnd type="none" w="med" len="med"/>
                      <a:tailEnd type="none" w="med" len="med"/>
                    </a:lnB>
                    <a:solidFill>
                      <a:srgbClr val="F1F1F1"/>
                    </a:solidFill>
                  </a:tcPr>
                </a:tc>
              </a:tr>
            </a:tbl>
          </a:graphicData>
        </a:graphic>
      </p:graphicFrame>
      <p:sp>
        <p:nvSpPr>
          <p:cNvPr id="3" name="Rectangle 1"/>
          <p:cNvSpPr>
            <a:spLocks noChangeArrowheads="1"/>
          </p:cNvSpPr>
          <p:nvPr/>
        </p:nvSpPr>
        <p:spPr bwMode="auto">
          <a:xfrm>
            <a:off x="374589" y="0"/>
            <a:ext cx="9256045" cy="10464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sz="25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Anatomical Relations</a:t>
            </a:r>
            <a:endParaRPr kumimoji="0" lang="en-US" sz="25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It lies in close proximity to other structures in the abdomen:</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p:cNvSpPr/>
          <p:nvPr/>
        </p:nvSpPr>
        <p:spPr>
          <a:xfrm>
            <a:off x="501352" y="4466096"/>
            <a:ext cx="10539814" cy="1200329"/>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Proximity to Other Organs</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spleen rests between the stomach and the left kidney, with its convex surface facing the diaphragm and its concave surface in contact with the stomach, pancreas, and left kidney. This proximity to major organs underscores its role in systemic physiology and pathology.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b="1" dirty="0" smtClean="0">
                <a:solidFill>
                  <a:srgbClr val="C00000"/>
                </a:solidFill>
                <a:latin typeface="Times New Roman" panose="02020603050405020304" pitchFamily="18" charset="0"/>
                <a:cs typeface="Times New Roman" panose="02020603050405020304" pitchFamily="18" charset="0"/>
              </a:rPr>
              <a:t>Functions of the Spleen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spleen performs multiple critical functions: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Hematopoiesis</a:t>
            </a:r>
            <a:r>
              <a:rPr lang="en-US" dirty="0">
                <a:latin typeface="Times New Roman" panose="02020603050405020304" pitchFamily="18" charset="0"/>
                <a:cs typeface="Times New Roman" panose="02020603050405020304" pitchFamily="18" charset="0"/>
              </a:rPr>
              <a:t>: The spleen produces blood cells in a fetus. While it stops producing red blood cells after the 5th month of gestation, it continues making lymphocytes (a type of </a:t>
            </a:r>
            <a:r>
              <a:rPr lang="en-US" u="sng" dirty="0">
                <a:latin typeface="Times New Roman" panose="02020603050405020304" pitchFamily="18" charset="0"/>
                <a:cs typeface="Times New Roman" panose="02020603050405020304" pitchFamily="18" charset="0"/>
              </a:rPr>
              <a:t>white blood cell</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Blood Filtration</a:t>
            </a:r>
            <a:r>
              <a:rPr lang="en-US" dirty="0">
                <a:latin typeface="Times New Roman" panose="02020603050405020304" pitchFamily="18" charset="0"/>
                <a:cs typeface="Times New Roman" panose="02020603050405020304" pitchFamily="18" charset="0"/>
              </a:rPr>
              <a:t>: The spleen filters blood, removing aged or damaged red blood cells and recycling iron</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Immune Response</a:t>
            </a:r>
            <a:r>
              <a:rPr lang="en-US" dirty="0">
                <a:latin typeface="Times New Roman" panose="02020603050405020304" pitchFamily="18" charset="0"/>
                <a:cs typeface="Times New Roman" panose="02020603050405020304" pitchFamily="18" charset="0"/>
              </a:rPr>
              <a:t>: The spleen detects and responds to pathogens, producing antibodies and activating lymphocytes</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Reservoir Function</a:t>
            </a:r>
            <a:r>
              <a:rPr lang="en-US" dirty="0">
                <a:latin typeface="Times New Roman" panose="02020603050405020304" pitchFamily="18" charset="0"/>
                <a:cs typeface="Times New Roman" panose="02020603050405020304" pitchFamily="18" charset="0"/>
              </a:rPr>
              <a:t>: The spleen stores blood, platelets, and monocytes, releasing them during hemorrhage or infection</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Phagocytosis</a:t>
            </a:r>
            <a:r>
              <a:rPr lang="en-US" dirty="0">
                <a:latin typeface="Times New Roman" panose="02020603050405020304" pitchFamily="18" charset="0"/>
                <a:cs typeface="Times New Roman" panose="02020603050405020304" pitchFamily="18" charset="0"/>
              </a:rPr>
              <a:t>: Macrophages in the spleen engulf and destroy pathogens and cellular debris.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2551837"/>
            <a:ext cx="11588096" cy="2800767"/>
          </a:xfrm>
          <a:prstGeom prst="rect">
            <a:avLst/>
          </a:prstGeom>
        </p:spPr>
        <p:txBody>
          <a:bodyPr wrap="square">
            <a:spAutoFit/>
          </a:bodyPr>
          <a:lstStyle/>
          <a:p>
            <a:r>
              <a:rPr lang="en-US" sz="3200" b="1" dirty="0" smtClean="0">
                <a:solidFill>
                  <a:srgbClr val="C00000"/>
                </a:solidFill>
                <a:latin typeface="Times New Roman" panose="02020603050405020304" pitchFamily="18" charset="0"/>
                <a:cs typeface="Times New Roman" panose="02020603050405020304" pitchFamily="18" charset="0"/>
              </a:rPr>
              <a:t>Embryonic Development</a:t>
            </a:r>
            <a:endParaRPr lang="en-US" sz="3200" b="1" dirty="0" smtClean="0">
              <a:solidFill>
                <a:srgbClr val="C00000"/>
              </a:solidFill>
              <a:latin typeface="Times New Roman" panose="02020603050405020304" pitchFamily="18" charset="0"/>
              <a:cs typeface="Times New Roman" panose="02020603050405020304" pitchFamily="18" charset="0"/>
            </a:endParaRPr>
          </a:p>
          <a:p>
            <a:endParaRPr lang="en-US" sz="3200" b="1" dirty="0" smtClean="0">
              <a:solidFill>
                <a:srgbClr val="C00000"/>
              </a:solidFill>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 spleen is unusual compared with other abdominal organs in that it derives from </a:t>
            </a:r>
            <a:r>
              <a:rPr lang="en-US" sz="2800" dirty="0" err="1" smtClean="0">
                <a:latin typeface="Times New Roman" panose="02020603050405020304" pitchFamily="18" charset="0"/>
                <a:cs typeface="Times New Roman" panose="02020603050405020304" pitchFamily="18" charset="0"/>
              </a:rPr>
              <a:t>mesenchymal</a:t>
            </a:r>
            <a:r>
              <a:rPr lang="en-US" sz="2800" dirty="0" smtClean="0">
                <a:latin typeface="Times New Roman" panose="02020603050405020304" pitchFamily="18" charset="0"/>
                <a:cs typeface="Times New Roman" panose="02020603050405020304" pitchFamily="18" charset="0"/>
              </a:rPr>
              <a:t> tissue (the dorsal mesentery). In contrast, most gut organs derive from the endoderm. Even so, the spleen shares the blood supply (the celiac trunk) with these other organs.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66" y="497929"/>
            <a:ext cx="12192000" cy="6001643"/>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Possible Problems With the Spleen</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r>
              <a:rPr lang="en-US" sz="2000" b="1" i="0" dirty="0" smtClean="0">
                <a:solidFill>
                  <a:srgbClr val="5A5A5A"/>
                </a:solidFill>
                <a:effectLst/>
                <a:latin typeface="Times New Roman" panose="02020603050405020304" pitchFamily="18" charset="0"/>
                <a:cs typeface="Times New Roman" panose="02020603050405020304" pitchFamily="18" charset="0"/>
              </a:rPr>
              <a:t>Ruptured Spleen</a:t>
            </a:r>
            <a:endParaRPr lang="en-US" sz="2000" b="1" i="0" dirty="0" smtClean="0">
              <a:solidFill>
                <a:srgbClr val="5A5A5A"/>
              </a:solidFill>
              <a:effectLst/>
              <a:latin typeface="Times New Roman" panose="02020603050405020304" pitchFamily="18" charset="0"/>
              <a:cs typeface="Times New Roman" panose="02020603050405020304" pitchFamily="18" charset="0"/>
            </a:endParaRPr>
          </a:p>
          <a:p>
            <a:r>
              <a:rPr lang="en-US" sz="2000" b="0" i="0" dirty="0" smtClean="0">
                <a:solidFill>
                  <a:srgbClr val="5A5A5A"/>
                </a:solidFill>
                <a:effectLst/>
                <a:latin typeface="Times New Roman" panose="02020603050405020304" pitchFamily="18" charset="0"/>
                <a:cs typeface="Times New Roman" panose="02020603050405020304" pitchFamily="18" charset="0"/>
              </a:rPr>
              <a:t>A ruptured spleen is a medical emergency often resulting from trauma, such as a car accident or sports injury. The spleen’s delicate tissue can tear, leading to internal bleeding. Symptoms include abdominal pain, tenderness, and signs of hypovolemic shock (e.g., low blood pressure, rapid heart rate). A ruptured spleen is potentially fatal due to significant blood loss, so it requires immediate surgical intervention.</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r>
              <a:rPr lang="en-US" sz="2000" b="1" i="0" dirty="0" smtClean="0">
                <a:solidFill>
                  <a:srgbClr val="5A5A5A"/>
                </a:solidFill>
                <a:effectLst/>
                <a:latin typeface="Times New Roman" panose="02020603050405020304" pitchFamily="18" charset="0"/>
                <a:cs typeface="Times New Roman" panose="02020603050405020304" pitchFamily="18" charset="0"/>
              </a:rPr>
              <a:t>Enlarged Spleen (Splenomegaly)</a:t>
            </a:r>
            <a:endParaRPr lang="en-US" sz="2000" b="1" i="0" dirty="0" smtClean="0">
              <a:solidFill>
                <a:srgbClr val="5A5A5A"/>
              </a:solidFill>
              <a:effectLst/>
              <a:latin typeface="Times New Roman" panose="02020603050405020304" pitchFamily="18" charset="0"/>
              <a:cs typeface="Times New Roman" panose="02020603050405020304" pitchFamily="18" charset="0"/>
            </a:endParaRPr>
          </a:p>
          <a:p>
            <a:r>
              <a:rPr lang="en-US" sz="2000" b="0" i="0" dirty="0" smtClean="0">
                <a:solidFill>
                  <a:srgbClr val="5A5A5A"/>
                </a:solidFill>
                <a:effectLst/>
                <a:latin typeface="Times New Roman" panose="02020603050405020304" pitchFamily="18" charset="0"/>
                <a:cs typeface="Times New Roman" panose="02020603050405020304" pitchFamily="18" charset="0"/>
              </a:rPr>
              <a:t>Splenomegaly refers to an enlarged spleen. This results from a variety of causes, including:</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i="0" dirty="0" smtClean="0">
                <a:solidFill>
                  <a:srgbClr val="5A5A5A"/>
                </a:solidFill>
                <a:effectLst/>
                <a:latin typeface="Times New Roman" panose="02020603050405020304" pitchFamily="18" charset="0"/>
                <a:cs typeface="Times New Roman" panose="02020603050405020304" pitchFamily="18" charset="0"/>
              </a:rPr>
              <a:t>Infections</a:t>
            </a:r>
            <a:r>
              <a:rPr lang="en-US" sz="2000" b="0" i="0" dirty="0" smtClean="0">
                <a:solidFill>
                  <a:srgbClr val="5A5A5A"/>
                </a:solidFill>
                <a:effectLst/>
                <a:latin typeface="Times New Roman" panose="02020603050405020304" pitchFamily="18" charset="0"/>
                <a:cs typeface="Times New Roman" panose="02020603050405020304" pitchFamily="18" charset="0"/>
              </a:rPr>
              <a:t>: </a:t>
            </a:r>
            <a:r>
              <a:rPr lang="en-US" sz="2000" b="0" i="0" u="sng" dirty="0" smtClean="0">
                <a:solidFill>
                  <a:srgbClr val="0088CC"/>
                </a:solidFill>
                <a:effectLst/>
                <a:latin typeface="Times New Roman" panose="02020603050405020304" pitchFamily="18" charset="0"/>
                <a:cs typeface="Times New Roman" panose="02020603050405020304" pitchFamily="18" charset="0"/>
                <a:hlinkClick r:id="rId1"/>
              </a:rPr>
              <a:t>Viral</a:t>
            </a:r>
            <a:r>
              <a:rPr lang="en-US" sz="2000" b="0" i="0" dirty="0" smtClean="0">
                <a:solidFill>
                  <a:srgbClr val="5A5A5A"/>
                </a:solidFill>
                <a:effectLst/>
                <a:latin typeface="Times New Roman" panose="02020603050405020304" pitchFamily="18" charset="0"/>
                <a:cs typeface="Times New Roman" panose="02020603050405020304" pitchFamily="18" charset="0"/>
              </a:rPr>
              <a:t> (e.g., mononucleosis), </a:t>
            </a:r>
            <a:r>
              <a:rPr lang="en-US" sz="2000" b="0" i="0" u="sng" dirty="0" smtClean="0">
                <a:solidFill>
                  <a:srgbClr val="0088CC"/>
                </a:solidFill>
                <a:effectLst/>
                <a:latin typeface="Times New Roman" panose="02020603050405020304" pitchFamily="18" charset="0"/>
                <a:cs typeface="Times New Roman" panose="02020603050405020304" pitchFamily="18" charset="0"/>
                <a:hlinkClick r:id="rId2"/>
              </a:rPr>
              <a:t>bacterial</a:t>
            </a:r>
            <a:r>
              <a:rPr lang="en-US" sz="2000" b="0" i="0" dirty="0" smtClean="0">
                <a:solidFill>
                  <a:srgbClr val="5A5A5A"/>
                </a:solidFill>
                <a:effectLst/>
                <a:latin typeface="Times New Roman" panose="02020603050405020304" pitchFamily="18" charset="0"/>
                <a:cs typeface="Times New Roman" panose="02020603050405020304" pitchFamily="18" charset="0"/>
              </a:rPr>
              <a:t> (e.g., tuberculosis), </a:t>
            </a:r>
            <a:r>
              <a:rPr lang="en-US" sz="2000" b="0" i="0" u="sng" dirty="0" smtClean="0">
                <a:solidFill>
                  <a:srgbClr val="0088CC"/>
                </a:solidFill>
                <a:effectLst/>
                <a:latin typeface="Times New Roman" panose="02020603050405020304" pitchFamily="18" charset="0"/>
                <a:cs typeface="Times New Roman" panose="02020603050405020304" pitchFamily="18" charset="0"/>
                <a:hlinkClick r:id="rId3"/>
              </a:rPr>
              <a:t>parasitic</a:t>
            </a:r>
            <a:r>
              <a:rPr lang="en-US" sz="2000" b="0" i="0" dirty="0" smtClean="0">
                <a:solidFill>
                  <a:srgbClr val="5A5A5A"/>
                </a:solidFill>
                <a:effectLst/>
                <a:latin typeface="Times New Roman" panose="02020603050405020304" pitchFamily="18" charset="0"/>
                <a:cs typeface="Times New Roman" panose="02020603050405020304" pitchFamily="18" charset="0"/>
              </a:rPr>
              <a:t> (e.g., malaria).</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i="0" dirty="0" smtClean="0">
                <a:solidFill>
                  <a:srgbClr val="5A5A5A"/>
                </a:solidFill>
                <a:effectLst/>
                <a:latin typeface="Times New Roman" panose="02020603050405020304" pitchFamily="18" charset="0"/>
                <a:cs typeface="Times New Roman" panose="02020603050405020304" pitchFamily="18" charset="0"/>
              </a:rPr>
              <a:t>Liver Diseases</a:t>
            </a:r>
            <a:r>
              <a:rPr lang="en-US" sz="2000" b="0" i="0" dirty="0" smtClean="0">
                <a:solidFill>
                  <a:srgbClr val="5A5A5A"/>
                </a:solidFill>
                <a:effectLst/>
                <a:latin typeface="Times New Roman" panose="02020603050405020304" pitchFamily="18" charset="0"/>
                <a:cs typeface="Times New Roman" panose="02020603050405020304" pitchFamily="18" charset="0"/>
              </a:rPr>
              <a:t>: Cirrhosis leading to portal hypertension.</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i="0" dirty="0" smtClean="0">
                <a:solidFill>
                  <a:srgbClr val="5A5A5A"/>
                </a:solidFill>
                <a:effectLst/>
                <a:latin typeface="Times New Roman" panose="02020603050405020304" pitchFamily="18" charset="0"/>
                <a:cs typeface="Times New Roman" panose="02020603050405020304" pitchFamily="18" charset="0"/>
              </a:rPr>
              <a:t>Hematologic Disorders</a:t>
            </a:r>
            <a:r>
              <a:rPr lang="en-US" sz="2000" b="0" i="0" dirty="0" smtClean="0">
                <a:solidFill>
                  <a:srgbClr val="5A5A5A"/>
                </a:solidFill>
                <a:effectLst/>
                <a:latin typeface="Times New Roman" panose="02020603050405020304" pitchFamily="18" charset="0"/>
                <a:cs typeface="Times New Roman" panose="02020603050405020304" pitchFamily="18" charset="0"/>
              </a:rPr>
              <a:t>: Leukemia, lymphoma, hemolytic anemia.</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i="0" dirty="0" smtClean="0">
                <a:solidFill>
                  <a:srgbClr val="5A5A5A"/>
                </a:solidFill>
                <a:effectLst/>
                <a:latin typeface="Times New Roman" panose="02020603050405020304" pitchFamily="18" charset="0"/>
                <a:cs typeface="Times New Roman" panose="02020603050405020304" pitchFamily="18" charset="0"/>
              </a:rPr>
              <a:t>Inflammatory Diseases</a:t>
            </a:r>
            <a:r>
              <a:rPr lang="en-US" sz="2000" b="0" i="0" dirty="0" smtClean="0">
                <a:solidFill>
                  <a:srgbClr val="5A5A5A"/>
                </a:solidFill>
                <a:effectLst/>
                <a:latin typeface="Times New Roman" panose="02020603050405020304" pitchFamily="18" charset="0"/>
                <a:cs typeface="Times New Roman" panose="02020603050405020304" pitchFamily="18" charset="0"/>
              </a:rPr>
              <a:t>: Rheumatoid arthritis, systemic lupus </a:t>
            </a:r>
            <a:r>
              <a:rPr lang="en-US" sz="2000" b="0" i="0" dirty="0" err="1" smtClean="0">
                <a:solidFill>
                  <a:srgbClr val="5A5A5A"/>
                </a:solidFill>
                <a:effectLst/>
                <a:latin typeface="Times New Roman" panose="02020603050405020304" pitchFamily="18" charset="0"/>
                <a:cs typeface="Times New Roman" panose="02020603050405020304" pitchFamily="18" charset="0"/>
              </a:rPr>
              <a:t>erythematosus</a:t>
            </a:r>
            <a:r>
              <a:rPr lang="en-US" sz="2000" b="0" i="0" dirty="0" smtClean="0">
                <a:solidFill>
                  <a:srgbClr val="5A5A5A"/>
                </a:solidFill>
                <a:effectLst/>
                <a:latin typeface="Times New Roman" panose="02020603050405020304" pitchFamily="18" charset="0"/>
                <a:cs typeface="Times New Roman" panose="02020603050405020304" pitchFamily="18" charset="0"/>
              </a:rPr>
              <a:t>.</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i="0" dirty="0" smtClean="0">
                <a:solidFill>
                  <a:srgbClr val="5A5A5A"/>
                </a:solidFill>
                <a:effectLst/>
                <a:latin typeface="Times New Roman" panose="02020603050405020304" pitchFamily="18" charset="0"/>
                <a:cs typeface="Times New Roman" panose="02020603050405020304" pitchFamily="18" charset="0"/>
              </a:rPr>
              <a:t>Metabolic Disorders</a:t>
            </a:r>
            <a:r>
              <a:rPr lang="en-US" sz="2000" b="0" i="0" dirty="0" smtClean="0">
                <a:solidFill>
                  <a:srgbClr val="5A5A5A"/>
                </a:solidFill>
                <a:effectLst/>
                <a:latin typeface="Times New Roman" panose="02020603050405020304" pitchFamily="18" charset="0"/>
                <a:cs typeface="Times New Roman" panose="02020603050405020304" pitchFamily="18" charset="0"/>
              </a:rPr>
              <a:t>: </a:t>
            </a:r>
            <a:r>
              <a:rPr lang="en-US" sz="2000" b="0" i="0" dirty="0" err="1" smtClean="0">
                <a:solidFill>
                  <a:srgbClr val="5A5A5A"/>
                </a:solidFill>
                <a:effectLst/>
                <a:latin typeface="Times New Roman" panose="02020603050405020304" pitchFamily="18" charset="0"/>
                <a:cs typeface="Times New Roman" panose="02020603050405020304" pitchFamily="18" charset="0"/>
              </a:rPr>
              <a:t>Gaucher</a:t>
            </a:r>
            <a:r>
              <a:rPr lang="en-US" sz="2000" b="0" i="0" dirty="0" smtClean="0">
                <a:solidFill>
                  <a:srgbClr val="5A5A5A"/>
                </a:solidFill>
                <a:effectLst/>
                <a:latin typeface="Times New Roman" panose="02020603050405020304" pitchFamily="18" charset="0"/>
                <a:cs typeface="Times New Roman" panose="02020603050405020304" pitchFamily="18" charset="0"/>
              </a:rPr>
              <a:t> disease, </a:t>
            </a:r>
            <a:r>
              <a:rPr lang="en-US" sz="2000" b="0" i="0" dirty="0" err="1" smtClean="0">
                <a:solidFill>
                  <a:srgbClr val="5A5A5A"/>
                </a:solidFill>
                <a:effectLst/>
                <a:latin typeface="Times New Roman" panose="02020603050405020304" pitchFamily="18" charset="0"/>
                <a:cs typeface="Times New Roman" panose="02020603050405020304" pitchFamily="18" charset="0"/>
              </a:rPr>
              <a:t>Niemann</a:t>
            </a:r>
            <a:r>
              <a:rPr lang="en-US" sz="2000" b="0" i="0" dirty="0" smtClean="0">
                <a:solidFill>
                  <a:srgbClr val="5A5A5A"/>
                </a:solidFill>
                <a:effectLst/>
                <a:latin typeface="Times New Roman" panose="02020603050405020304" pitchFamily="18" charset="0"/>
                <a:cs typeface="Times New Roman" panose="02020603050405020304" pitchFamily="18" charset="0"/>
              </a:rPr>
              <a:t>-Pick disease.</a:t>
            </a:r>
            <a:endParaRPr lang="en-US" sz="2000" b="0" i="0" dirty="0" smtClean="0">
              <a:solidFill>
                <a:srgbClr val="5A5A5A"/>
              </a:solidFill>
              <a:effectLst/>
              <a:latin typeface="Times New Roman" panose="02020603050405020304" pitchFamily="18" charset="0"/>
              <a:cs typeface="Times New Roman" panose="02020603050405020304" pitchFamily="18" charset="0"/>
            </a:endParaRPr>
          </a:p>
          <a:p>
            <a:r>
              <a:rPr lang="en-US" sz="2000" b="0" i="0" dirty="0" smtClean="0">
                <a:solidFill>
                  <a:srgbClr val="5A5A5A"/>
                </a:solidFill>
                <a:effectLst/>
                <a:latin typeface="Times New Roman" panose="02020603050405020304" pitchFamily="18" charset="0"/>
                <a:cs typeface="Times New Roman" panose="02020603050405020304" pitchFamily="18" charset="0"/>
              </a:rPr>
              <a:t>Symptoms of splenomegaly include pain or fullness in the left upper abdomen, fatigue, and increased susceptibility to infections. Treatment depends on the underlying cause and involves addressing the primary condition or, in severe cases, removal of the spleen or </a:t>
            </a:r>
            <a:r>
              <a:rPr lang="en-US" sz="2000" b="0" i="0" dirty="0" err="1" smtClean="0">
                <a:solidFill>
                  <a:srgbClr val="5A5A5A"/>
                </a:solidFill>
                <a:effectLst/>
                <a:latin typeface="Times New Roman" panose="02020603050405020304" pitchFamily="18" charset="0"/>
                <a:cs typeface="Times New Roman" panose="02020603050405020304" pitchFamily="18" charset="0"/>
              </a:rPr>
              <a:t>splenectomy</a:t>
            </a:r>
            <a:r>
              <a:rPr lang="en-US" sz="2000" b="0" i="0" dirty="0" smtClean="0">
                <a:solidFill>
                  <a:srgbClr val="5A5A5A"/>
                </a:solidFill>
                <a:effectLst/>
                <a:latin typeface="Times New Roman" panose="02020603050405020304" pitchFamily="18" charset="0"/>
                <a:cs typeface="Times New Roman" panose="02020603050405020304" pitchFamily="18" charset="0"/>
              </a:rPr>
              <a:t>.</a:t>
            </a:r>
            <a:endParaRPr lang="en-US" sz="2000" b="0" i="0" dirty="0">
              <a:solidFill>
                <a:srgbClr val="5A5A5A"/>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7289" y="377269"/>
            <a:ext cx="10938617" cy="5509200"/>
          </a:xfrm>
          <a:prstGeom prst="rect">
            <a:avLst/>
          </a:prstGeom>
        </p:spPr>
        <p:txBody>
          <a:bodyPr wrap="square">
            <a:spAutoFit/>
          </a:bodyPr>
          <a:lstStyle/>
          <a:p>
            <a:r>
              <a:rPr lang="en-US" sz="3200" b="1" i="0" dirty="0" smtClean="0">
                <a:solidFill>
                  <a:srgbClr val="C00000"/>
                </a:solidFill>
                <a:effectLst/>
                <a:latin typeface="Times New Roman" panose="02020603050405020304" pitchFamily="18" charset="0"/>
                <a:cs typeface="Times New Roman" panose="02020603050405020304" pitchFamily="18" charset="0"/>
              </a:rPr>
              <a:t>Can You Live Without a Spleen?</a:t>
            </a:r>
            <a:endParaRPr lang="en-US" sz="3200" b="1" i="0" dirty="0" smtClean="0">
              <a:solidFill>
                <a:srgbClr val="C00000"/>
              </a:solidFill>
              <a:effectLst/>
              <a:latin typeface="Times New Roman" panose="02020603050405020304" pitchFamily="18" charset="0"/>
              <a:cs typeface="Times New Roman" panose="02020603050405020304" pitchFamily="18" charset="0"/>
            </a:endParaRPr>
          </a:p>
          <a:p>
            <a:r>
              <a:rPr lang="en-US" sz="3200" b="0" i="0" dirty="0" smtClean="0">
                <a:solidFill>
                  <a:srgbClr val="5A5A5A"/>
                </a:solidFill>
                <a:effectLst/>
                <a:latin typeface="Times New Roman" panose="02020603050405020304" pitchFamily="18" charset="0"/>
                <a:cs typeface="Times New Roman" panose="02020603050405020304" pitchFamily="18" charset="0"/>
              </a:rPr>
              <a:t>A person can live without a spleen, but its absence compromises the immune system. </a:t>
            </a:r>
            <a:r>
              <a:rPr lang="en-US" sz="3200" b="0" i="0" dirty="0" err="1" smtClean="0">
                <a:solidFill>
                  <a:srgbClr val="5A5A5A"/>
                </a:solidFill>
                <a:effectLst/>
                <a:latin typeface="Times New Roman" panose="02020603050405020304" pitchFamily="18" charset="0"/>
                <a:cs typeface="Times New Roman" panose="02020603050405020304" pitchFamily="18" charset="0"/>
              </a:rPr>
              <a:t>Splenectomy</a:t>
            </a:r>
            <a:r>
              <a:rPr lang="en-US" sz="3200" b="0" i="0" dirty="0" smtClean="0">
                <a:solidFill>
                  <a:srgbClr val="5A5A5A"/>
                </a:solidFill>
                <a:effectLst/>
                <a:latin typeface="Times New Roman" panose="02020603050405020304" pitchFamily="18" charset="0"/>
                <a:cs typeface="Times New Roman" panose="02020603050405020304" pitchFamily="18" charset="0"/>
              </a:rPr>
              <a:t> (surgical removal of the spleen) is sometimes necessary due to trauma, disease, or cancer. </a:t>
            </a:r>
            <a:endParaRPr lang="en-US" sz="3200" b="0" i="0" dirty="0" smtClean="0">
              <a:solidFill>
                <a:srgbClr val="5A5A5A"/>
              </a:solidFill>
              <a:effectLst/>
              <a:latin typeface="Times New Roman" panose="02020603050405020304" pitchFamily="18" charset="0"/>
              <a:cs typeface="Times New Roman" panose="02020603050405020304" pitchFamily="18" charset="0"/>
            </a:endParaRPr>
          </a:p>
          <a:p>
            <a:endParaRPr lang="en-US" sz="3200" b="0" i="0" dirty="0" smtClean="0">
              <a:solidFill>
                <a:srgbClr val="5A5A5A"/>
              </a:solidFill>
              <a:effectLst/>
              <a:latin typeface="Times New Roman" panose="02020603050405020304" pitchFamily="18" charset="0"/>
              <a:cs typeface="Times New Roman" panose="02020603050405020304" pitchFamily="18" charset="0"/>
            </a:endParaRPr>
          </a:p>
          <a:p>
            <a:r>
              <a:rPr lang="en-US" sz="3200" b="0" i="0" dirty="0" smtClean="0">
                <a:solidFill>
                  <a:srgbClr val="5A5A5A"/>
                </a:solidFill>
                <a:effectLst/>
                <a:latin typeface="Times New Roman" panose="02020603050405020304" pitchFamily="18" charset="0"/>
                <a:cs typeface="Times New Roman" panose="02020603050405020304" pitchFamily="18" charset="0"/>
              </a:rPr>
              <a:t>Post-</a:t>
            </a:r>
            <a:r>
              <a:rPr lang="en-US" sz="3200" b="0" i="0" dirty="0" err="1" smtClean="0">
                <a:solidFill>
                  <a:srgbClr val="5A5A5A"/>
                </a:solidFill>
                <a:effectLst/>
                <a:latin typeface="Times New Roman" panose="02020603050405020304" pitchFamily="18" charset="0"/>
                <a:cs typeface="Times New Roman" panose="02020603050405020304" pitchFamily="18" charset="0"/>
              </a:rPr>
              <a:t>splenectomy</a:t>
            </a:r>
            <a:r>
              <a:rPr lang="en-US" sz="3200" b="0" i="0" dirty="0" smtClean="0">
                <a:solidFill>
                  <a:srgbClr val="5A5A5A"/>
                </a:solidFill>
                <a:effectLst/>
                <a:latin typeface="Times New Roman" panose="02020603050405020304" pitchFamily="18" charset="0"/>
                <a:cs typeface="Times New Roman" panose="02020603050405020304" pitchFamily="18" charset="0"/>
              </a:rPr>
              <a:t>, individuals are more susceptible to infections, particularly from encapsulated bacteria like </a:t>
            </a:r>
            <a:r>
              <a:rPr lang="en-US" sz="3200" b="0" i="1" dirty="0" smtClean="0">
                <a:solidFill>
                  <a:srgbClr val="5A5A5A"/>
                </a:solidFill>
                <a:effectLst/>
                <a:latin typeface="Times New Roman" panose="02020603050405020304" pitchFamily="18" charset="0"/>
                <a:cs typeface="Times New Roman" panose="02020603050405020304" pitchFamily="18" charset="0"/>
              </a:rPr>
              <a:t>Streptococcus </a:t>
            </a:r>
            <a:r>
              <a:rPr lang="en-US" sz="3200" b="0" i="1" dirty="0" err="1" smtClean="0">
                <a:solidFill>
                  <a:srgbClr val="5A5A5A"/>
                </a:solidFill>
                <a:effectLst/>
                <a:latin typeface="Times New Roman" panose="02020603050405020304" pitchFamily="18" charset="0"/>
                <a:cs typeface="Times New Roman" panose="02020603050405020304" pitchFamily="18" charset="0"/>
              </a:rPr>
              <a:t>pneumoniae</a:t>
            </a:r>
            <a:r>
              <a:rPr lang="en-US" sz="3200" b="0" i="0" dirty="0" smtClean="0">
                <a:solidFill>
                  <a:srgbClr val="5A5A5A"/>
                </a:solidFill>
                <a:effectLst/>
                <a:latin typeface="Times New Roman" panose="02020603050405020304" pitchFamily="18" charset="0"/>
                <a:cs typeface="Times New Roman" panose="02020603050405020304" pitchFamily="18" charset="0"/>
              </a:rPr>
              <a:t>, </a:t>
            </a:r>
            <a:r>
              <a:rPr lang="en-US" sz="3200" b="0" i="1" dirty="0" smtClean="0">
                <a:solidFill>
                  <a:srgbClr val="5A5A5A"/>
                </a:solidFill>
                <a:effectLst/>
                <a:latin typeface="Times New Roman" panose="02020603050405020304" pitchFamily="18" charset="0"/>
                <a:cs typeface="Times New Roman" panose="02020603050405020304" pitchFamily="18" charset="0"/>
              </a:rPr>
              <a:t>Neisseria </a:t>
            </a:r>
            <a:r>
              <a:rPr lang="en-US" sz="3200" b="0" i="1" dirty="0" err="1" smtClean="0">
                <a:solidFill>
                  <a:srgbClr val="5A5A5A"/>
                </a:solidFill>
                <a:effectLst/>
                <a:latin typeface="Times New Roman" panose="02020603050405020304" pitchFamily="18" charset="0"/>
                <a:cs typeface="Times New Roman" panose="02020603050405020304" pitchFamily="18" charset="0"/>
              </a:rPr>
              <a:t>meningitidis</a:t>
            </a:r>
            <a:r>
              <a:rPr lang="en-US" sz="3200" b="0" i="0" dirty="0" smtClean="0">
                <a:solidFill>
                  <a:srgbClr val="5A5A5A"/>
                </a:solidFill>
                <a:effectLst/>
                <a:latin typeface="Times New Roman" panose="02020603050405020304" pitchFamily="18" charset="0"/>
                <a:cs typeface="Times New Roman" panose="02020603050405020304" pitchFamily="18" charset="0"/>
              </a:rPr>
              <a:t>, and </a:t>
            </a:r>
            <a:r>
              <a:rPr lang="en-US" sz="3200" b="0" i="1" dirty="0" err="1" smtClean="0">
                <a:solidFill>
                  <a:srgbClr val="5A5A5A"/>
                </a:solidFill>
                <a:effectLst/>
                <a:latin typeface="Times New Roman" panose="02020603050405020304" pitchFamily="18" charset="0"/>
                <a:cs typeface="Times New Roman" panose="02020603050405020304" pitchFamily="18" charset="0"/>
              </a:rPr>
              <a:t>Haemophilus</a:t>
            </a:r>
            <a:r>
              <a:rPr lang="en-US" sz="3200" b="0" i="1" dirty="0" smtClean="0">
                <a:solidFill>
                  <a:srgbClr val="5A5A5A"/>
                </a:solidFill>
                <a:effectLst/>
                <a:latin typeface="Times New Roman" panose="02020603050405020304" pitchFamily="18" charset="0"/>
                <a:cs typeface="Times New Roman" panose="02020603050405020304" pitchFamily="18" charset="0"/>
              </a:rPr>
              <a:t> </a:t>
            </a:r>
            <a:r>
              <a:rPr lang="en-US" sz="3200" b="0" i="1" dirty="0" err="1" smtClean="0">
                <a:solidFill>
                  <a:srgbClr val="5A5A5A"/>
                </a:solidFill>
                <a:effectLst/>
                <a:latin typeface="Times New Roman" panose="02020603050405020304" pitchFamily="18" charset="0"/>
                <a:cs typeface="Times New Roman" panose="02020603050405020304" pitchFamily="18" charset="0"/>
              </a:rPr>
              <a:t>influenzae</a:t>
            </a:r>
            <a:r>
              <a:rPr lang="en-US" sz="3200" b="0" i="0" dirty="0" smtClean="0">
                <a:solidFill>
                  <a:srgbClr val="5A5A5A"/>
                </a:solidFill>
                <a:effectLst/>
                <a:latin typeface="Times New Roman" panose="02020603050405020304" pitchFamily="18" charset="0"/>
                <a:cs typeface="Times New Roman" panose="02020603050405020304" pitchFamily="18" charset="0"/>
              </a:rPr>
              <a:t>. </a:t>
            </a:r>
            <a:endParaRPr lang="en-US" sz="3200" b="0" i="0" dirty="0" smtClean="0">
              <a:solidFill>
                <a:srgbClr val="5A5A5A"/>
              </a:solidFill>
              <a:effectLst/>
              <a:latin typeface="Times New Roman" panose="02020603050405020304" pitchFamily="18" charset="0"/>
              <a:cs typeface="Times New Roman" panose="02020603050405020304" pitchFamily="18" charset="0"/>
            </a:endParaRPr>
          </a:p>
          <a:p>
            <a:r>
              <a:rPr lang="en-US" sz="3200" b="0" i="0" dirty="0" smtClean="0">
                <a:solidFill>
                  <a:srgbClr val="5A5A5A"/>
                </a:solidFill>
                <a:effectLst/>
                <a:latin typeface="Times New Roman" panose="02020603050405020304" pitchFamily="18" charset="0"/>
                <a:cs typeface="Times New Roman" panose="02020603050405020304" pitchFamily="18" charset="0"/>
              </a:rPr>
              <a:t>Prophylactic antibiotics and vaccinations aid in managing this increased risk.</a:t>
            </a:r>
            <a:endParaRPr lang="en-US" sz="3200" b="0" i="0" dirty="0">
              <a:solidFill>
                <a:srgbClr val="5A5A5A"/>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10405</Words>
  <Application>WPS Presentation</Application>
  <PresentationFormat>Widescreen</PresentationFormat>
  <Paragraphs>220</Paragraphs>
  <Slides>28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SimSun</vt:lpstr>
      <vt:lpstr>Wingdings</vt:lpstr>
      <vt:lpstr>Times New Roman</vt:lpstr>
      <vt:lpstr>acumin-pro</vt:lpstr>
      <vt:lpstr>Liberation Mono</vt:lpstr>
      <vt:lpstr>Microsoft YaHei</vt:lpstr>
      <vt:lpstr>Arial Unicode MS</vt:lpstr>
      <vt:lpstr>Calibri Light</vt:lpstr>
      <vt:lpstr>Calibri</vt:lpstr>
      <vt:lpstr>inherit</vt:lpstr>
      <vt:lpstr>Office Theme</vt:lpstr>
      <vt:lpstr>KIDNEY AND SPLEEN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Functions of the Spleen</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KIDNEY AND SPLEEN</dc:title>
  <dc:creator>HP</dc:creator>
  <cp:lastModifiedBy>HP</cp:lastModifiedBy>
  <cp:revision>76</cp:revision>
  <dcterms:created xsi:type="dcterms:W3CDTF">2025-02-03T09:03:00Z</dcterms:created>
  <dcterms:modified xsi:type="dcterms:W3CDTF">2025-12-15T17:55:19Z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D6BB054A8093448E93F1A33C6AC63127_12</vt:lpwstr>
  </property>
  <property fmtid="{D5CDD505-2E9C-101B-9397-08002B2CF9AE}" pid="3" name="KSOProductBuildVer">
    <vt:lpwstr>1033-12.2.0.23155</vt:lpwstr>
  </property>
</Properties>
</file>