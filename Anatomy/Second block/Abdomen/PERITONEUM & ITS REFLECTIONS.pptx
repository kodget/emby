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7" r:id="rId2"/>
    <p:sldId id="346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348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347" r:id="rId35"/>
    <p:sldId id="299" r:id="rId36"/>
    <p:sldId id="300" r:id="rId37"/>
    <p:sldId id="349" r:id="rId38"/>
    <p:sldId id="301" r:id="rId39"/>
    <p:sldId id="302" r:id="rId40"/>
    <p:sldId id="350" r:id="rId41"/>
    <p:sldId id="303" r:id="rId42"/>
    <p:sldId id="304" r:id="rId43"/>
    <p:sldId id="351" r:id="rId44"/>
    <p:sldId id="305" r:id="rId45"/>
    <p:sldId id="263" r:id="rId46"/>
    <p:sldId id="264" r:id="rId47"/>
    <p:sldId id="352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53" r:id="rId83"/>
    <p:sldId id="340" r:id="rId84"/>
    <p:sldId id="341" r:id="rId85"/>
    <p:sldId id="342" r:id="rId86"/>
    <p:sldId id="343" r:id="rId87"/>
    <p:sldId id="344" r:id="rId88"/>
    <p:sldId id="345" r:id="rId8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48AAF-85F8-4C39-87EB-A09CF31BC416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B4CC6-6E62-4BAE-A56A-FE0DCABA74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68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D93470-7BBF-41A9-8E9B-087F6CA12FF8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97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5B4CC6-6E62-4BAE-A56A-FE0DCABA74FF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3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7F6E95-BC04-43C3-A528-641E367B238E}" type="datetimeFigureOut">
              <a:rPr lang="en-US" smtClean="0"/>
              <a:pPr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77933-2023-4E26-9764-16A8B8758ED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158" y="1142985"/>
            <a:ext cx="8358246" cy="1428759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PERITONEUM &amp; ITS REFLECTIONS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71942"/>
            <a:ext cx="6400800" cy="200026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B</a:t>
            </a:r>
            <a:r>
              <a:rPr lang="en-AU" dirty="0" smtClean="0">
                <a:latin typeface="Arial Black" pitchFamily="34" charset="0"/>
              </a:rPr>
              <a:t>Y</a:t>
            </a:r>
          </a:p>
          <a:p>
            <a:endParaRPr lang="en-AU" dirty="0" smtClean="0">
              <a:latin typeface="Arial Black" pitchFamily="34" charset="0"/>
            </a:endParaRPr>
          </a:p>
          <a:p>
            <a:r>
              <a:rPr lang="en-AU" dirty="0" smtClean="0">
                <a:latin typeface="Arial Black" pitchFamily="34" charset="0"/>
              </a:rPr>
              <a:t>DR OJEWALE A.O.</a:t>
            </a:r>
            <a:endParaRPr lang="en-AU" dirty="0">
              <a:latin typeface="Arial Black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30100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Outline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/>
          <a:lstStyle/>
          <a:p>
            <a:r>
              <a:rPr lang="en-AU" dirty="0" smtClean="0">
                <a:latin typeface="Arial" pitchFamily="34" charset="0"/>
                <a:cs typeface="Arial" pitchFamily="34" charset="0"/>
              </a:rPr>
              <a:t>Intro’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Layers of peritoneum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Folds 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Classification of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folds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Peritoneal cavity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Subdivisions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Peritoneum reflections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Supracolic and Infracolic compartments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Applied Anatomy</a:t>
            </a:r>
          </a:p>
          <a:p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Intro’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857232"/>
            <a:ext cx="8786874" cy="6500858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peritoneum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 thin serous membrane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lines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interior of the abdominopelvic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made up of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tough layer of elastic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lined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simple squamous epithelium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forms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largest serous sac of the body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similar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pleura and serous pericardium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consisting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and visceral layers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These layers are separated from each other by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potential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is filled with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thin capillary film of fluid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572296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This fluid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lubricates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layers of the 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facilitates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movement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those parts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viscera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enclosed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mobile parts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intra-abdominal digestive tube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completely surrounded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except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where it passes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tube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double-layered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2984"/>
            <a:ext cx="8401080" cy="550072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layers of mesentery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extraperitoneal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fatty areolar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blood 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lymph 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run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to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digestive tubes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Where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layers of the visceral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meet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fascial lining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they become continuous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layer of 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lining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separated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fascial lining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 layer of loose areolar tissue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71868" y="357166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572560" cy="143985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itchFamily="34" charset="0"/>
              </a:rPr>
              <a:t>Layers of the peritoneum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12"/>
            <a:ext cx="8329642" cy="507209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closed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but when it becomes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invaginated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a number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viscera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it 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layers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(a) an outer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(b) an inner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suspended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Thus,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presents two layers: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428736"/>
            <a:ext cx="8229600" cy="4697427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simple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lining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abdominopelvic walls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arrangement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complex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forms folds, which surround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complex folded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tightly packed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gut tube.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00496" y="571480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Retroperitoneal organs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9006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815973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 Black" pitchFamily="34" charset="0"/>
                        </a:rPr>
                        <a:t>Classification</a:t>
                      </a:r>
                      <a:endParaRPr lang="en-US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Organs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408504"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Primarily retroperitoneal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Kidneys</a:t>
                      </a:r>
                    </a:p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Suprarenal glands</a:t>
                      </a:r>
                    </a:p>
                    <a:p>
                      <a:pPr algn="just"/>
                      <a:r>
                        <a:rPr lang="en-US" dirty="0" smtClean="0">
                          <a:latin typeface="Arial" pitchFamily="34" charset="0"/>
                          <a:cs typeface="Arial" pitchFamily="34" charset="0"/>
                        </a:rPr>
                        <a:t>• Ureters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2676157"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Secondarily retroperitoneal 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(mesentery lost during development by zygosis)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Pancreas (except tail)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Duodenum (except initial 2</a:t>
                      </a:r>
                      <a:r>
                        <a:rPr lang="en-AU" baseline="0" dirty="0" smtClean="0"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cm)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Ascending colon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Descending colon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Caecum</a:t>
                      </a: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•  Rectum (upper two-third)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en-AU" b="1" dirty="0" smtClean="0">
                <a:latin typeface="Arial Black" pitchFamily="34" charset="0"/>
                <a:cs typeface="Arial" pitchFamily="34" charset="0"/>
              </a:rPr>
              <a:t>PERITONEAL </a:t>
            </a:r>
            <a:r>
              <a:rPr lang="en-US" dirty="0" smtClean="0">
                <a:latin typeface="Arial Black" pitchFamily="34" charset="0"/>
              </a:rPr>
              <a:t>FOLDS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92933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These are 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Many organs within the abdomen are suspended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These organs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mobile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degree and direction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their mobility depend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size and direction of the 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Apart from allowing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mobility to organs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also provide pathways for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passage to vessels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lymphatics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5857916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organs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outside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(retroperitoneal organs)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fixed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immobile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Some organs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initially suspended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i.e., they possess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but later 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their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mesenteries by a process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zygosis and become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retroperitoneal.</a:t>
            </a:r>
          </a:p>
          <a:p>
            <a:pPr algn="just"/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4643446"/>
            <a:ext cx="5857916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214678" y="6429396"/>
            <a:ext cx="22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Process of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Z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ygosis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29058" y="0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</a:rPr>
              <a:t>CLASSIFICATION OF THE PERITONEAL FOLDS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00174"/>
            <a:ext cx="8472518" cy="5357826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classified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types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omenta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/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suspending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intestine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suspending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Omenta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(singular omentum):These are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that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connect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other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1000132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14488"/>
            <a:ext cx="8472518" cy="4786346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examples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omenta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connecting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connecting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Gastrosplenic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connecting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(it is usually termed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gastrosplenic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2858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714908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Ligaments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They are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that connect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organs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each other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examples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gastrosplenic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lienorenal ligamentum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kidney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v-SE" dirty="0" smtClean="0">
                <a:latin typeface="Arial Black" pitchFamily="34" charset="0"/>
              </a:rPr>
              <a:t>Greater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97207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large, thick, apron-like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that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hangs down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curvature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covers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loops of intestine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variable extent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5892" y="1648865"/>
            <a:ext cx="3678108" cy="4572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143636" y="6286520"/>
            <a:ext cx="24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G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reater omentum 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6072230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made up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four layers of 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fused together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form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thin fenestrated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variable amount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857496"/>
            <a:ext cx="5929354" cy="350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500166" y="6143644"/>
            <a:ext cx="6586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Stages of development of greater omentum (P = pancreas)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071934" y="0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Attachments of the greater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descend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curvature of the stomach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(where they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continuous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covering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and posterior surfaces of the 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to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variable extent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itself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two layers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mode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such that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becomes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fourth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second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becomes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third layer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143536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ascend up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where the fourth layer loosely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blends with the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surfaces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above it. The part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second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third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gets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obliterated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except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1 inch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(2.5 cm) 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curvature of the 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86182" y="428604"/>
            <a:ext cx="21515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Contents of the greater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Adipose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(fat) of variable amount depending upon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nutritional status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individual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Aggregation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macrophages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form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dense patches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milky spots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gastroepiploic vessels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run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layers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close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curvature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15416"/>
            <a:ext cx="9144000" cy="1733054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The functions of greater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449940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Fat storage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storehouse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adipose tissue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Immune defense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protects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due to the presence of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 number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macrophages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Infection control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limits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spread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moves to the site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seals it off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surrounding areas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also moves to the site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perforation of gut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plug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prevent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leakage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gut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11430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Grafting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used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sometimes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grafting material (biological patch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reinforcement)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surgeons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Protection: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It protects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viscera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forms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partition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supracolic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Lesser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46958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double-layered fold of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the lesser curvature of stomach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surface of the 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Parts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part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hepatogastric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the part 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hepatoduodenal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50019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Attachments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64347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Superiorly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attached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inverted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‘L’-shaped manner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margins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fissure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ligamentum venosum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 hepatis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esophagus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first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2 cm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-214338"/>
            <a:ext cx="8229600" cy="857256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Contents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6383062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curvature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contains: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gastric vessels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associated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gastric lymph nodes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Branches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gastric nerve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free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contains: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Portal vein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Hepatic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bile duct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anterior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with duct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Autonomic nerves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Lymphatic and lymph nodes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142984"/>
            <a:ext cx="6929486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14480" y="6143644"/>
            <a:ext cx="6465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dirty="0" smtClean="0">
                <a:latin typeface="Arial Black" pitchFamily="34" charset="0"/>
              </a:rPr>
              <a:t>Attachments and contents of the lesser omentum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71678"/>
            <a:ext cx="8229600" cy="2500330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Mesentery (Mesentery of Small Intestine)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>
                <a:latin typeface="Arial Black" pitchFamily="34" charset="0"/>
                <a:cs typeface="Arial" pitchFamily="34" charset="0"/>
              </a:rPr>
              <a:t>Mesentery (Mesentery of Small Intestine)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broad fan-shaped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fold of the peritoneum,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which suspends the coils of the small intestine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(jejunum and ileum)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width of mesentery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average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6 inches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(15 cm).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maximum width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8 inches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(20 cm)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central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gradually diminishes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toward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proximal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distal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ends.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2900"/>
            <a:ext cx="8229600" cy="114300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General Features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571480"/>
            <a:ext cx="8643998" cy="628652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presents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borders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>
              <a:buFont typeface="Wingdings" pitchFamily="2" charset="2"/>
              <a:buChar char="ü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Attached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ü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Free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intestinal border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Root of mesentery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(attached border): It is attached to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oblique line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across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extending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ileocecal 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lies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L2 vertebra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whereas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ileocaecal junction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lies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sacroiliac joint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857256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214422"/>
            <a:ext cx="8786874" cy="564357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root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from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above downward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crosses in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front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of: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Horizontal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(third) part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Abdominal aorta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Inferior vena cava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gonadal vessels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ureter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psoas major muscle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857232"/>
            <a:ext cx="678661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214546" y="6143644"/>
            <a:ext cx="5508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dirty="0" smtClean="0"/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Structures crossed by the root of the mesentery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divides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parts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one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terminates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iliac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one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passes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without interruption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true pelvis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14744" y="857232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6143668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Free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(intestinal border): It is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6 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(20 feet)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encloses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jejunum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6 inches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(15 cm)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whereas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periphery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(free border)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6 m long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This accounts for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formation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folds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(pleats) in it.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Its length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permits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free mobility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loops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jejunum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71868" y="285728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 smtClean="0">
              <a:latin typeface="Arial Black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042"/>
            <a:ext cx="8229600" cy="12858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has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fat deposition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along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diminishes toward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intestinal border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Near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intestinal border,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it presents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fat-free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oval/circular windows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translucent area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amount of fat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distal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07157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Contents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642918"/>
            <a:ext cx="9001156" cy="650085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Superior mesenteric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)-with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being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Jejunal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ileal branches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mesenteric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accompanying veins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Lymphatics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Lymph nodes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(100-200 in number).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Autonomic nerve plexuses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Fat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connective tissues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Jejunum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(enclosed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free border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28868"/>
            <a:ext cx="8229600" cy="200026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Transverse mesocolon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266504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T</a:t>
            </a:r>
            <a:r>
              <a:rPr lang="en-AU" dirty="0" smtClean="0">
                <a:latin typeface="Arial Black" pitchFamily="34" charset="0"/>
              </a:rPr>
              <a:t>ransverse mesocolon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8929718" cy="6237312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broad horizontal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peritoneum, which suspends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line of attachment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rather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organs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that lie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that level)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horizontal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upward inclination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toward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attached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aspect of the head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body of pancreas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28728" y="1428736"/>
            <a:ext cx="6286543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857356" y="5786454"/>
            <a:ext cx="55835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Attachments of the root of transverse mesocolon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3116"/>
            <a:ext cx="8229600" cy="2500330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Sigmoid mesocolon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en-AU" dirty="0">
                <a:latin typeface="Arial Black" pitchFamily="34" charset="0"/>
              </a:rPr>
              <a:t>S</a:t>
            </a:r>
            <a:r>
              <a:rPr lang="en-AU" dirty="0" smtClean="0">
                <a:latin typeface="Arial Black" pitchFamily="34" charset="0"/>
              </a:rPr>
              <a:t>igmoid mesocolon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6000768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sigmoid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triangular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suspends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sigmoid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attachment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sigmoid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takes the form of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inverted ‘V’,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apex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which lies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division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common iliac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intersigmoid recess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peritoneum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found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V-shaped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attachment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ureter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lies behind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intersigmoid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recess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692696"/>
            <a:ext cx="8640960" cy="5665262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limb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V-shaped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attached 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half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external iliac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limb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posterior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extending downward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medially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median plane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sacrum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up to the level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S3 vertebra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3714752"/>
            <a:ext cx="514353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571736" y="6357958"/>
            <a:ext cx="5378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Attachments of the root of sigmoid mesocolon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419872" y="46366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3050"/>
            <a:ext cx="8229600" cy="3000396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Falciform Ligament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42876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Falciform Ligament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000792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sickle-shaped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fold of peritoneum, which connects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anterosuperior surface of the liver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supraumbilical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anterior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surface of the 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concave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ligamentum teres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obliterated left umbilical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ligamentum teres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extends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umbilicus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notch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liver and joins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branch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vein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end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 hepatis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3"/>
            <a:ext cx="8229600" cy="1270011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Arial Black" pitchFamily="34" charset="0"/>
                <a:cs typeface="Arial" pitchFamily="34" charset="0"/>
              </a:rPr>
              <a:t>The </a:t>
            </a:r>
            <a:r>
              <a:rPr lang="en-US" b="1" dirty="0" smtClean="0">
                <a:latin typeface="Arial Black" pitchFamily="34" charset="0"/>
                <a:cs typeface="Arial" pitchFamily="34" charset="0"/>
              </a:rPr>
              <a:t>contents</a:t>
            </a:r>
            <a:r>
              <a:rPr lang="en-US" dirty="0" smtClean="0">
                <a:latin typeface="Arial Black" pitchFamily="34" charset="0"/>
                <a:cs typeface="Arial" pitchFamily="34" charset="0"/>
              </a:rPr>
              <a:t> of </a:t>
            </a:r>
            <a:r>
              <a:rPr lang="en-US" b="1" dirty="0" smtClean="0">
                <a:latin typeface="Arial Black" pitchFamily="34" charset="0"/>
                <a:cs typeface="Arial" pitchFamily="34" charset="0"/>
              </a:rPr>
              <a:t>falciform ligament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197361"/>
          </a:xfrm>
        </p:spPr>
        <p:txBody>
          <a:bodyPr>
            <a:normAutofit/>
          </a:bodyPr>
          <a:lstStyle/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Ligamentum teres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Paraumbilical veins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tributaries of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portal vein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dirty="0" smtClean="0">
                <a:latin typeface="Arial" pitchFamily="34" charset="0"/>
                <a:cs typeface="Arial" pitchFamily="34" charset="0"/>
              </a:rPr>
              <a:t>Numerous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small veins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which connect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paraumbilical vein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diaphragmatic veins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85926"/>
            <a:ext cx="8229600" cy="3071834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PERITONEAL CAVITY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Peritoneal cavity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286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peritoneal cavity 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largest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most complex serous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body.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potential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layers of the 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male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>
                <a:latin typeface="Arial" pitchFamily="34" charset="0"/>
                <a:cs typeface="Arial" pitchFamily="34" charset="0"/>
              </a:rPr>
              <a:t> is a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closed</a:t>
            </a:r>
            <a:r>
              <a:rPr lang="en-AU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serous sac </a:t>
            </a:r>
            <a:r>
              <a:rPr lang="en-AU" dirty="0">
                <a:latin typeface="Arial" pitchFamily="34" charset="0"/>
                <a:cs typeface="Arial" pitchFamily="34" charset="0"/>
              </a:rPr>
              <a:t>lined with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mesothelium &amp; </a:t>
            </a:r>
            <a:r>
              <a:rPr lang="en-AU" dirty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female</a:t>
            </a:r>
            <a:r>
              <a:rPr lang="en-AU" dirty="0">
                <a:latin typeface="Arial" pitchFamily="34" charset="0"/>
                <a:cs typeface="Arial" pitchFamily="34" charset="0"/>
              </a:rPr>
              <a:t>, the peritoneum is not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 closed sac </a:t>
            </a:r>
            <a:r>
              <a:rPr lang="en-AU" dirty="0">
                <a:latin typeface="Arial" pitchFamily="34" charset="0"/>
                <a:cs typeface="Arial" pitchFamily="34" charset="0"/>
              </a:rPr>
              <a:t>because it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communicates</a:t>
            </a:r>
            <a:r>
              <a:rPr lang="en-AU" dirty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exterior</a:t>
            </a:r>
            <a:r>
              <a:rPr lang="en-AU" dirty="0">
                <a:latin typeface="Arial" pitchFamily="34" charset="0"/>
                <a:cs typeface="Arial" pitchFamily="34" charset="0"/>
              </a:rPr>
              <a:t> through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uterine tubes</a:t>
            </a:r>
            <a:r>
              <a:rPr lang="en-AU" dirty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uterus</a:t>
            </a:r>
            <a:r>
              <a:rPr lang="en-AU" dirty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vagina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733054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anose="020B0A04020102020204" pitchFamily="34" charset="0"/>
                <a:cs typeface="Arial" pitchFamily="34" charset="0"/>
              </a:rPr>
              <a:t>Cont’d</a:t>
            </a:r>
            <a:endParaRPr lang="en-US" dirty="0">
              <a:latin typeface="Arial Black" panose="020B0A04020102020204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836712"/>
            <a:ext cx="8435280" cy="6305354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also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lined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mesothelium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as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male</a:t>
            </a:r>
            <a:r>
              <a:rPr lang="en-AU" dirty="0">
                <a:latin typeface="Arial" pitchFamily="34" charset="0"/>
                <a:cs typeface="Arial" pitchFamily="34" charset="0"/>
              </a:rPr>
              <a:t>. therefore,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pelvic infections </a:t>
            </a:r>
            <a:r>
              <a:rPr lang="en-AU" dirty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common</a:t>
            </a:r>
            <a:r>
              <a:rPr lang="en-AU" dirty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females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420888"/>
            <a:ext cx="8686800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979712" y="6264275"/>
            <a:ext cx="670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cavity: A, in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male;B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, in the female</a:t>
            </a:r>
            <a:endParaRPr lang="en-US" b="1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0"/>
            <a:ext cx="8472518" cy="121442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 </a:t>
            </a:r>
            <a:r>
              <a:rPr lang="en-AU" dirty="0" smtClean="0">
                <a:latin typeface="Arial Black" pitchFamily="34" charset="0"/>
              </a:rPr>
              <a:t>Differences between parietal and visceral peritoneum</a:t>
            </a:r>
            <a:endParaRPr lang="en-US" dirty="0">
              <a:latin typeface="Arial Black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97597"/>
              </p:ext>
            </p:extLst>
          </p:nvPr>
        </p:nvGraphicFramePr>
        <p:xfrm>
          <a:off x="0" y="1214423"/>
          <a:ext cx="9144000" cy="5742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604091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Parietal peritoneum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Visceral peritoneum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071450"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Arrangement of the parietal layer of the peritoneum is simple.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Arrangement of the visceral layer of peritoneum is complex.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924526"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lines the inner surface of the abdominopelvic walls (parietes) from which it is separated by extraperitoneal connective tissue and therefore can be easily stripped off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forms mesenteries, which surround the intricately folded and tightly packed gut tube, liver, and spleen. </a:t>
                      </a:r>
                      <a:endParaRPr lang="en-AU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is firmly attached to the outer surface of the viscera and cannot be stripped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off.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071450"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is derived from the somatopleuric layer of the lateral plate mesoderm.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is derived from the splanchnopleuric layer of the lateral plate mesoderm.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  <a:tr h="1071450"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is innervated by somatic nerves and therefore is sensitive to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pain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It is innervated by the autonomic nerves and therefore is insensitive to </a:t>
                      </a:r>
                      <a:r>
                        <a:rPr lang="en-AU" dirty="0" smtClean="0">
                          <a:latin typeface="Arial" pitchFamily="34" charset="0"/>
                          <a:cs typeface="Arial" pitchFamily="34" charset="0"/>
                        </a:rPr>
                        <a:t>pain</a:t>
                      </a:r>
                      <a:endParaRPr lang="en-US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14554"/>
            <a:ext cx="8229600" cy="2143140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Subdivisions of the peritoneal cavity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8604"/>
            <a:ext cx="8229600" cy="1285884"/>
          </a:xfrm>
        </p:spPr>
        <p:txBody>
          <a:bodyPr>
            <a:noAutofit/>
          </a:bodyPr>
          <a:lstStyle/>
          <a:p>
            <a:r>
              <a:rPr lang="en-AU" dirty="0" smtClean="0">
                <a:latin typeface="Arial Black" pitchFamily="34" charset="0"/>
              </a:rPr>
              <a:t>Subdivisions of the peritoneal cavity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85926"/>
            <a:ext cx="8715436" cy="5072074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It may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broadly divided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parts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(or omental bursa).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larger (main)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extends across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whole breadth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length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340237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smaller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lies behind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diverticulum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sacs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communicate with each other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epiploicum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43306" y="714356"/>
            <a:ext cx="215155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 smtClean="0">
              <a:latin typeface="Arial Black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3528" y="116632"/>
            <a:ext cx="8496944" cy="588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5852" y="5786454"/>
            <a:ext cx="6429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T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 division of peritoneal cavity into greater sac (orange colour) and lesser sac (light blue colour). 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401080" cy="1417638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 Black" pitchFamily="34" charset="0"/>
              </a:rPr>
              <a:t>Peritoneum reflection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572560" cy="5143536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 serous membrane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which lines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interior of the abdomino-pelvic walls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roof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reflected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along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certain lines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from these parietes to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continuous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layer of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over certain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viscera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Thus, although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usually divided descriptively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and visceral layers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they are really parts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same membrane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150019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Greater sac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/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I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 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main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into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protrudes all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organs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357166"/>
            <a:ext cx="9038238" cy="2214578"/>
          </a:xfrm>
        </p:spPr>
        <p:txBody>
          <a:bodyPr>
            <a:noAutofit/>
          </a:bodyPr>
          <a:lstStyle/>
          <a:p>
            <a:r>
              <a:rPr lang="en-AU" sz="3200" dirty="0" smtClean="0">
                <a:latin typeface="Arial Black" pitchFamily="34" charset="0"/>
                <a:cs typeface="Arial" pitchFamily="34" charset="0"/>
              </a:rPr>
              <a:t>Supracolic and Infracolic </a:t>
            </a:r>
            <a:r>
              <a:rPr lang="en-AU" sz="3200" dirty="0">
                <a:latin typeface="Arial Black" pitchFamily="34" charset="0"/>
                <a:cs typeface="Arial" pitchFamily="34" charset="0"/>
              </a:rPr>
              <a:t>c</a:t>
            </a:r>
            <a:r>
              <a:rPr lang="en-AU" sz="3200" dirty="0" smtClean="0">
                <a:latin typeface="Arial Black" pitchFamily="34" charset="0"/>
                <a:cs typeface="Arial" pitchFamily="34" charset="0"/>
              </a:rPr>
              <a:t>ompartments of </a:t>
            </a:r>
            <a:br>
              <a:rPr lang="en-AU" sz="3200" dirty="0" smtClean="0">
                <a:latin typeface="Arial Black" pitchFamily="34" charset="0"/>
                <a:cs typeface="Arial" pitchFamily="34" charset="0"/>
              </a:rPr>
            </a:br>
            <a:r>
              <a:rPr lang="en-AU" sz="3200" dirty="0" smtClean="0">
                <a:latin typeface="Arial Black" pitchFamily="34" charset="0"/>
                <a:cs typeface="Arial" pitchFamily="34" charset="0"/>
              </a:rPr>
              <a:t>the </a:t>
            </a:r>
            <a:r>
              <a:rPr lang="en-AU" sz="3200" dirty="0">
                <a:latin typeface="Arial Black" pitchFamily="34" charset="0"/>
                <a:cs typeface="Arial" pitchFamily="34" charset="0"/>
              </a:rPr>
              <a:t>p</a:t>
            </a:r>
            <a:r>
              <a:rPr lang="en-AU" sz="3200" dirty="0" smtClean="0">
                <a:latin typeface="Arial Black" pitchFamily="34" charset="0"/>
                <a:cs typeface="Arial" pitchFamily="34" charset="0"/>
              </a:rPr>
              <a:t>eritoneal </a:t>
            </a:r>
            <a:r>
              <a:rPr lang="en-AU" sz="3200" dirty="0">
                <a:latin typeface="Arial Black" pitchFamily="34" charset="0"/>
                <a:cs typeface="Arial" pitchFamily="34" charset="0"/>
              </a:rPr>
              <a:t>c</a:t>
            </a:r>
            <a:r>
              <a:rPr lang="en-AU" sz="3200" dirty="0" smtClean="0">
                <a:latin typeface="Arial Black" pitchFamily="34" charset="0"/>
                <a:cs typeface="Arial" pitchFamily="34" charset="0"/>
              </a:rPr>
              <a:t>avity</a:t>
            </a:r>
            <a:endParaRPr lang="en-US" sz="32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0306"/>
            <a:ext cx="8229600" cy="3625857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anterosuperior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supracolic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posteroinferior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-the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142984"/>
            <a:ext cx="600079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85918" y="6072206"/>
            <a:ext cx="7071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>
                <a:latin typeface="Arial" pitchFamily="34" charset="0"/>
                <a:cs typeface="Arial" pitchFamily="34" charset="0"/>
              </a:rPr>
              <a:t>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howing subphrenic spaces and 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paracolic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gutters (GB = gallbladder)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Supracolic Compartment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401080" cy="5643602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largely under the cover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costal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surrounds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lies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pancreas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kidney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suprarenal glands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attachments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define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subdivisions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supracolic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Infracolic Compartment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filled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coils of jejunum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surrounded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ascending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descending colons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 the level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divided into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spaces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intestine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0"/>
            <a:ext cx="8501122" cy="7143776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triangular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apex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lying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ileocaecal junction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bounded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ascending 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intestine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larger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than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infracolic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space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quadrangular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shape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bounded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the right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 of 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descending 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Below it is continuous across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brim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cavity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 Black" pitchFamily="34" charset="0"/>
              </a:rPr>
              <a:t>intraperitoneal fossae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472518" cy="528641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presents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number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pockets/recesses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loops of bowel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become caught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get strangulated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important ones are: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Lesser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diverticulum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behind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Paraduodenal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recess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duodenojejunal flexure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mesenteric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orifice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looks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</p:spPr>
        <p:txBody>
          <a:bodyPr/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Retrocaecal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peritoneum behind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caecum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in which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appendix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frequently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Intersigmoid 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triangular recess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inverted V-shaped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attachment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sigmoid 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open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inferomedially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00496" y="1000108"/>
            <a:ext cx="2151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 smtClean="0">
              <a:latin typeface="Arial Black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8"/>
          </a:xfrm>
        </p:spPr>
        <p:txBody>
          <a:bodyPr/>
          <a:lstStyle/>
          <a:p>
            <a:r>
              <a:rPr lang="en-US" dirty="0" err="1" smtClean="0">
                <a:latin typeface="Arial Black" pitchFamily="34" charset="0"/>
              </a:rPr>
              <a:t>Subphrenic</a:t>
            </a:r>
            <a:r>
              <a:rPr lang="en-US" dirty="0" smtClean="0">
                <a:latin typeface="Arial Black" pitchFamily="34" charset="0"/>
              </a:rPr>
              <a:t> spaces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642918"/>
            <a:ext cx="8786874" cy="5929354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Six spaces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well defined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relation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periphery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subphrenic 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 importance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surgeons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because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often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collects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subphrenic abscesses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ligaments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play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major role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delimiting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Of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six 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are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side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Out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three spaces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each side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intraperitoneal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extraperitoneal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00634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They are named as follows: 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posterior intraperitoneal compartment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anterior intraperitoneal compartment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Right extraperitoneal compartment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Left posterior intraperitoneal compartment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Left anterior intraperitoneal compartment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Left extraperitoneal compartment.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57554" y="714356"/>
            <a:ext cx="215155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 smtClean="0">
              <a:latin typeface="Arial Black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95450" y="1142984"/>
            <a:ext cx="575310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28597" y="5643578"/>
            <a:ext cx="87154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Anatomy of the subphrenic spaces, the viscera having been removed: 1 = right anterior intraperitoneal compartment, 2 = left anterior intraperitoneal compartment, 3 = left posterior intraperitoneal compartment.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329642" cy="1143000"/>
          </a:xfrm>
        </p:spPr>
        <p:txBody>
          <a:bodyPr>
            <a:noAutofit/>
          </a:bodyPr>
          <a:lstStyle/>
          <a:p>
            <a:r>
              <a:rPr lang="en-US" sz="2400" dirty="0" smtClean="0">
                <a:latin typeface="Arial Black" pitchFamily="34" charset="0"/>
              </a:rPr>
              <a:t>RIGHT POSTERIOR INTRAPERITONEAL COMPARTMENT (</a:t>
            </a:r>
            <a:r>
              <a:rPr lang="en-AU" sz="2400" dirty="0" smtClean="0">
                <a:latin typeface="Arial Black" pitchFamily="34" charset="0"/>
              </a:rPr>
              <a:t>hepatorenal </a:t>
            </a:r>
            <a:r>
              <a:rPr lang="en-AU" sz="2400" dirty="0">
                <a:latin typeface="Arial Black" pitchFamily="34" charset="0"/>
              </a:rPr>
              <a:t>p</a:t>
            </a:r>
            <a:r>
              <a:rPr lang="en-AU" sz="2400" dirty="0" smtClean="0">
                <a:latin typeface="Arial Black" pitchFamily="34" charset="0"/>
              </a:rPr>
              <a:t>ouch or Morison’s pouch)</a:t>
            </a:r>
            <a:endParaRPr lang="en-US" sz="24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980" y="1417638"/>
            <a:ext cx="8836516" cy="57150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situated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posteroinferior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kidney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Boundaries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Posteroinferior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(visceral)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surface of the 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covering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pole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kidney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(inferior)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layer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coronary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mesocolon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63</a:t>
            </a:fld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929354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Communications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On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communicates through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epiploicum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of peritoneum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omental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sharp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border of 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anterior intraperitoneal compartment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43174" y="4286256"/>
            <a:ext cx="3667127" cy="2290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2918"/>
            <a:ext cx="8229600" cy="1428760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rial Black" pitchFamily="34" charset="0"/>
              </a:rPr>
              <a:t>Right anterior intraperitoneal compartment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16"/>
            <a:ext cx="8229600" cy="3983047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situated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lobe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triangular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Boundaries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857916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Superior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side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falciform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Fossa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communicates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posterior intraperitoneal compartment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Open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>
                <a:latin typeface="Arial Black" pitchFamily="34" charset="0"/>
              </a:rPr>
              <a:t>Right extraperitoneal compartment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92922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space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bare 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extraperitoneal compartment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completely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shut off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if 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distended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pushed down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may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pushed up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Boundaries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643602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Superior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layer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vena cava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Fusion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coronary ligament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triangular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surface of the 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Autofit/>
          </a:bodyPr>
          <a:lstStyle/>
          <a:p>
            <a:r>
              <a:rPr lang="en-AU" sz="3200" dirty="0" smtClean="0">
                <a:latin typeface="Arial Black" pitchFamily="34" charset="0"/>
              </a:rPr>
              <a:t>Left posterior intraperitoneal compartment </a:t>
            </a:r>
            <a:r>
              <a:rPr lang="en-AU" sz="3200" dirty="0" smtClean="0">
                <a:latin typeface="Arial Black" pitchFamily="34" charset="0"/>
              </a:rPr>
              <a:t/>
            </a:r>
            <a:br>
              <a:rPr lang="en-AU" sz="3200" dirty="0" smtClean="0">
                <a:latin typeface="Arial Black" pitchFamily="34" charset="0"/>
              </a:rPr>
            </a:br>
            <a:r>
              <a:rPr lang="en-AU" sz="3200" dirty="0" smtClean="0">
                <a:latin typeface="Arial Black" pitchFamily="34" charset="0"/>
              </a:rPr>
              <a:t>(Lesser sac)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4357718"/>
          </a:xfrm>
        </p:spPr>
        <p:txBody>
          <a:bodyPr/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(also 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omental bursa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diverticulum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peritoneal cavity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behind the 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communicates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slit-like aperture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epiploic foramen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of Winslow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142984"/>
            <a:ext cx="6286544" cy="4786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714480" y="6000768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Lesser sac: as seen in 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sagittal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section. 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928694"/>
          </a:xfrm>
        </p:spPr>
        <p:txBody>
          <a:bodyPr>
            <a:normAutofit/>
          </a:bodyPr>
          <a:lstStyle/>
          <a:p>
            <a:r>
              <a:rPr lang="en-AU" dirty="0" smtClean="0">
                <a:latin typeface="Arial Black" pitchFamily="34" charset="0"/>
              </a:rPr>
              <a:t>Boundaries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786610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Anterior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above downward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formed by: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caudate lobe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posteroinferior surface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below upward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formed by: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structures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 bed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except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are: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Pancreas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kidney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left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suprarenal gland &amp; 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386392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Recesses of Lesser Sac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85794"/>
            <a:ext cx="6464760" cy="650085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AU" sz="3800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(omental bursa) presents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following three recesses</a:t>
            </a:r>
          </a:p>
          <a:p>
            <a:pPr algn="just"/>
            <a:r>
              <a:rPr lang="en-AU" sz="3800" b="1" dirty="0" smtClean="0">
                <a:latin typeface="Arial" pitchFamily="34" charset="0"/>
                <a:cs typeface="Arial" pitchFamily="34" charset="0"/>
              </a:rPr>
              <a:t>Superior recess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: It lies behind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portion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 behind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is termed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vestibule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lesser sac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sz="3800" b="1" dirty="0" smtClean="0">
                <a:latin typeface="Arial" pitchFamily="34" charset="0"/>
                <a:cs typeface="Arial" pitchFamily="34" charset="0"/>
              </a:rPr>
              <a:t>Inferior recess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: It lies between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anterior two layers 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and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posterior two layers 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greater omentum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sz="3800" b="1" dirty="0" smtClean="0">
                <a:latin typeface="Arial" pitchFamily="34" charset="0"/>
                <a:cs typeface="Arial" pitchFamily="34" charset="0"/>
              </a:rPr>
              <a:t>Splenic recess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: It lies between the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gastrosplenic</a:t>
            </a:r>
            <a:r>
              <a:rPr lang="en-AU" sz="38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sz="3800" b="1" dirty="0" smtClean="0">
                <a:latin typeface="Arial" pitchFamily="34" charset="0"/>
                <a:cs typeface="Arial" pitchFamily="34" charset="0"/>
              </a:rPr>
              <a:t>lienorenal ligaments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04248" y="2143116"/>
            <a:ext cx="2339752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572264" y="5286388"/>
            <a:ext cx="257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itchFamily="34" charset="0"/>
                <a:cs typeface="Arial" pitchFamily="34" charset="0"/>
              </a:rPr>
              <a:t>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he recesses of lesser </a:t>
            </a:r>
          </a:p>
          <a:p>
            <a:r>
              <a:rPr lang="en-AU" dirty="0" smtClean="0">
                <a:latin typeface="Arial" pitchFamily="34" charset="0"/>
                <a:cs typeface="Arial" pitchFamily="34" charset="0"/>
              </a:rPr>
              <a:t>sac (omental bursa)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582726"/>
          </a:xfrm>
        </p:spPr>
        <p:txBody>
          <a:bodyPr>
            <a:noAutofit/>
          </a:bodyPr>
          <a:lstStyle/>
          <a:p>
            <a:r>
              <a:rPr lang="en-AU" sz="3600" dirty="0" smtClean="0">
                <a:latin typeface="Arial Black" pitchFamily="34" charset="0"/>
              </a:rPr>
              <a:t>Foramen Epiploicum (Foramen of Winslow)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625989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epiploicum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vertical slit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(omental bursa)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situated behind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free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at the level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T12 vertebra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Arial Black" pitchFamily="34" charset="0"/>
              </a:rPr>
              <a:t>Boundaries of the </a:t>
            </a:r>
            <a:r>
              <a:rPr lang="en-AU" dirty="0" smtClean="0">
                <a:latin typeface="Arial Black" pitchFamily="34" charset="0"/>
              </a:rPr>
              <a:t>Foramen Epiploicum 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free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containing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bile duct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vertical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hepatic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vena cava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suprarenal gland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Superio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r: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Caudate process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caudate lobe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Inferior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First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duodenum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horizontal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hepatic artery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071546"/>
            <a:ext cx="664373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857356" y="5786454"/>
            <a:ext cx="6776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Boundaries of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f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oramen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piploicum (foramen of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winslow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)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274638"/>
            <a:ext cx="8572560" cy="1143000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Arial Black" pitchFamily="34" charset="0"/>
              </a:rPr>
              <a:t>Left anterior intraperitoneal compartment</a:t>
            </a:r>
            <a:endParaRPr lang="en-US" sz="32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550070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lies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lobe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diaphragm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triangular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>
                <a:latin typeface="Arial" pitchFamily="34" charset="0"/>
                <a:cs typeface="Arial" pitchFamily="34" charset="0"/>
              </a:rPr>
              <a:t>Boundaries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Anterior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Abdominal wall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Posterior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triangular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Right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Falciform ligament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Open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Open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Communications</a:t>
            </a:r>
          </a:p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Below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continuous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front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is continuous 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spleen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Arial Black" pitchFamily="34" charset="0"/>
              </a:rPr>
              <a:t>Left extraperitoneal compartment</a:t>
            </a:r>
            <a:endParaRPr lang="en-US" sz="3600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14488"/>
            <a:ext cx="8429684" cy="5143512"/>
          </a:xfrm>
        </p:spPr>
        <p:txBody>
          <a:bodyPr>
            <a:norm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merely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loose connective tissue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pole of the left kidney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left suprarenal gland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It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hardly infected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therefore is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least important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six subphrenic spaces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1480"/>
            <a:ext cx="5143504" cy="628652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rectouterine pouch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bounded: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Anteriorly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uterus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upper one-third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vagina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fornix of vagina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Posteriorly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b="1" dirty="0" smtClean="0">
                <a:latin typeface="Arial" pitchFamily="34" charset="0"/>
                <a:cs typeface="Arial" pitchFamily="34" charset="0"/>
              </a:rPr>
              <a:t>Inferiorly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(floor):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rectovaginal fold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floor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pouch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about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5.5 cm above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perineal 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142852"/>
            <a:ext cx="3657594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072066" y="4572008"/>
            <a:ext cx="40719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Peritoneum of the female pelvis (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sagittal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section): 1:anterior abdominal wall; 2: back of the pubis; 3: superior surface of the bladder; 4:uterovesical pouch; 5:posterior surface of the uterus and posterior fornix; 6:rectouterine pouch (of Douglas); 7:rectum.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203848" y="0"/>
            <a:ext cx="24482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Applied Anatomy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5786478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 length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permits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descent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protrusion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loops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intestine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hernial sacs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inguinal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femoral hernias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failure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root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fuse over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entire length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abdominal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allows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pocket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to be formed which may form a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intraperitoneal hernia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called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mesenteric parietal hernia of Waldeyer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64704"/>
            <a:ext cx="8501122" cy="6879138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dialysis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peritoneum is a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semipermeable membrane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extensive surface area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much of which overlies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blood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lymphatic capillary beds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It is a procedure by which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waste products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such as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urea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are removed from the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 blood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patients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with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renal failure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Paracentesis abdominis</a:t>
            </a:r>
            <a:r>
              <a:rPr lang="en-AU" dirty="0">
                <a:latin typeface="Arial" pitchFamily="34" charset="0"/>
                <a:cs typeface="Arial" pitchFamily="34" charset="0"/>
              </a:rPr>
              <a:t>: It is a procedure by which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excessive collection </a:t>
            </a:r>
            <a:r>
              <a:rPr lang="en-AU" dirty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intraperitoneal fluid </a:t>
            </a:r>
            <a:r>
              <a:rPr lang="en-AU" dirty="0">
                <a:latin typeface="Arial" pitchFamily="34" charset="0"/>
                <a:cs typeface="Arial" pitchFamily="34" charset="0"/>
              </a:rPr>
              <a:t>is evacuated by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err="1">
                <a:latin typeface="Arial" pitchFamily="34" charset="0"/>
                <a:cs typeface="Arial" pitchFamily="34" charset="0"/>
              </a:rPr>
              <a:t>canula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 </a:t>
            </a:r>
            <a:r>
              <a:rPr lang="en-AU" dirty="0">
                <a:latin typeface="Arial" pitchFamily="34" charset="0"/>
                <a:cs typeface="Arial" pitchFamily="34" charset="0"/>
              </a:rPr>
              <a:t>inserted through the </a:t>
            </a:r>
            <a:r>
              <a:rPr lang="en-AU" b="1" dirty="0">
                <a:latin typeface="Arial" pitchFamily="34" charset="0"/>
                <a:cs typeface="Arial" pitchFamily="34" charset="0"/>
              </a:rPr>
              <a:t>abdominal wall</a:t>
            </a:r>
            <a:r>
              <a:rPr lang="en-AU" dirty="0">
                <a:latin typeface="Arial" pitchFamily="34" charset="0"/>
                <a:cs typeface="Arial" pitchFamily="34" charset="0"/>
              </a:rPr>
              <a:t>.</a:t>
            </a:r>
            <a:endParaRPr lang="en-AU" dirty="0" smtClean="0">
              <a:latin typeface="Arial" pitchFamily="34" charset="0"/>
              <a:cs typeface="Arial" pitchFamily="34" charset="0"/>
            </a:endParaRPr>
          </a:p>
          <a:p>
            <a:pPr algn="just">
              <a:buNone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428992" y="285728"/>
            <a:ext cx="26516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>
                <a:latin typeface="Arial Black" pitchFamily="34" charset="0"/>
              </a:rPr>
              <a:t>Cont’d</a:t>
            </a:r>
            <a:endParaRPr lang="en-US" sz="44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692696"/>
            <a:ext cx="8715436" cy="5879576"/>
          </a:xfrm>
        </p:spPr>
        <p:txBody>
          <a:bodyPr>
            <a:noAutofit/>
          </a:bodyPr>
          <a:lstStyle/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canula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inserted in the flank will pass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skin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superficial fascia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aponeurosis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external oblique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oblique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transversus abdominis muscle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fascia transversalis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extraperitoneal fat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parietal peritoneum.</a:t>
            </a:r>
          </a:p>
          <a:p>
            <a:pPr algn="just"/>
            <a:r>
              <a:rPr lang="en-AU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capable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 distension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following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collection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AU" dirty="0" err="1" smtClean="0">
                <a:latin typeface="Arial" pitchFamily="34" charset="0"/>
                <a:cs typeface="Arial" pitchFamily="34" charset="0"/>
              </a:rPr>
              <a:t>ascitis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blood (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hemoperitoneum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), and air (</a:t>
            </a:r>
            <a:r>
              <a:rPr lang="en-AU" b="1" dirty="0" err="1" smtClean="0">
                <a:latin typeface="Arial" pitchFamily="34" charset="0"/>
                <a:cs typeface="Arial" pitchFamily="34" charset="0"/>
              </a:rPr>
              <a:t>pneumoperitoneum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707904" y="0"/>
            <a:ext cx="216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>
                <a:latin typeface="Arial Black" panose="020B0A04020102020204" pitchFamily="34" charset="0"/>
              </a:rPr>
              <a:t>Cont’d</a:t>
            </a:r>
            <a:endParaRPr lang="en-US" sz="44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642918"/>
            <a:ext cx="8643998" cy="621508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Hepatorenal pouch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important to note that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posterior intraperitoneal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anterior intraperitoneal compartments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communicate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with ea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ch other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along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sharp anterior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But if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abscess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forms in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one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these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compartments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prevented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from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extending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around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sharp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to enter other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compartment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due 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formation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adhesions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between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inferior border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00496" y="0"/>
            <a:ext cx="2071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 smtClean="0">
                <a:latin typeface="Arial Black" pitchFamily="34" charset="0"/>
              </a:rPr>
              <a:t>Cont’d</a:t>
            </a:r>
            <a:endParaRPr lang="en-US" sz="3600" dirty="0" smtClean="0">
              <a:latin typeface="Arial Black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643602"/>
          </a:xfrm>
        </p:spPr>
        <p:txBody>
          <a:bodyPr>
            <a:normAutofit lnSpcReduction="10000"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Pseudocyst of pancreas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collection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fluid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occurs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most frequently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as a result of 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acute pancreatitis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sometimes after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pancreatic injury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forming “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pseudocyst of pancreas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.”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pseudocyst of pancreas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projects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forward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either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between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liver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between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perforation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wall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stomach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also results 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passage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its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fluid contents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84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404664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>
                <a:latin typeface="Arial Black" pitchFamily="34" charset="0"/>
              </a:rPr>
              <a:t>Cont’d</a:t>
            </a:r>
            <a:endParaRPr lang="en-US" sz="4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947594"/>
          </a:xfrm>
        </p:spPr>
        <p:txBody>
          <a:bodyPr>
            <a:norm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Control of hemorrhage during cholecystectomy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cystic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is torn during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cholecystectomy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surgeon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can stop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hemorrhage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compressing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hepatic pedicle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(formed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right free margin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lesser omentum), containing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portal vein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hepatic artery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bile duct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between the index finger and thumb. It is achieved by inserting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index finger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of Winslow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compressing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hepatic pedicle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against it by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thumb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85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923928" y="260648"/>
            <a:ext cx="215155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dirty="0">
                <a:latin typeface="Arial Black" pitchFamily="34" charset="0"/>
              </a:rPr>
              <a:t>Cont’d</a:t>
            </a:r>
            <a:endParaRPr lang="en-US" sz="4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57972"/>
            <a:ext cx="8856984" cy="6300028"/>
          </a:xfrm>
        </p:spPr>
        <p:txBody>
          <a:bodyPr>
            <a:noAutofit/>
          </a:bodyPr>
          <a:lstStyle/>
          <a:p>
            <a:pPr algn="just"/>
            <a:r>
              <a:rPr lang="en-AU" b="1" dirty="0" smtClean="0">
                <a:latin typeface="Arial" pitchFamily="34" charset="0"/>
                <a:cs typeface="Arial" pitchFamily="34" charset="0"/>
              </a:rPr>
              <a:t>Internal hernia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Sometime,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loop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small intestine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may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herniate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into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through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epiploicum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producing an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internal hernia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This hernia if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strangulated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cannot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reduced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cutting any 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important boundaries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foramen of Winslow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However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, it can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reduced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aspirating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gut contents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pushing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herniated loop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out from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lesser sac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by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inserting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index finger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into it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through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anterior two layers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greater omentum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or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through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transverse mesocolon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86</a:t>
            </a:fld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067944" y="188640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>
                <a:latin typeface="Arial Black" pitchFamily="34" charset="0"/>
              </a:rPr>
              <a:t>Cont’d</a:t>
            </a:r>
            <a:endParaRPr lang="en-US" sz="3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latin typeface="Arial Black" pitchFamily="34" charset="0"/>
              </a:rPr>
              <a:t>Cont’d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2072"/>
          </a:xfrm>
        </p:spPr>
        <p:txBody>
          <a:bodyPr>
            <a:normAutofit/>
          </a:bodyPr>
          <a:lstStyle/>
          <a:p>
            <a:pPr algn="just"/>
            <a:r>
              <a:rPr lang="en-AU" b="1" dirty="0">
                <a:latin typeface="Arial" pitchFamily="34" charset="0"/>
                <a:cs typeface="Arial" pitchFamily="34" charset="0"/>
              </a:rPr>
              <a:t>R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ectouterine pouch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: It is the most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dependent part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of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peritoneal cavity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below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brim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the pus tends to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collect here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and form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pelvic abscess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.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pus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can be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drained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either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rectum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 or through the </a:t>
            </a:r>
            <a:r>
              <a:rPr lang="en-AU" b="1" dirty="0" smtClean="0">
                <a:latin typeface="Arial" pitchFamily="34" charset="0"/>
                <a:cs typeface="Arial" pitchFamily="34" charset="0"/>
              </a:rPr>
              <a:t>posterior fornix of the vagina </a:t>
            </a:r>
            <a:r>
              <a:rPr lang="en-AU" dirty="0" smtClean="0">
                <a:latin typeface="Arial" pitchFamily="34" charset="0"/>
                <a:cs typeface="Arial" pitchFamily="34" charset="0"/>
              </a:rPr>
              <a:t>(posterior colpotomy).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6144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69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0E364-75BC-4B61-B39B-7708A5668954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4667</Words>
  <Application>Microsoft Office PowerPoint</Application>
  <PresentationFormat>On-screen Show (4:3)</PresentationFormat>
  <Paragraphs>402</Paragraphs>
  <Slides>88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3" baseType="lpstr">
      <vt:lpstr>Arial</vt:lpstr>
      <vt:lpstr>Arial Black</vt:lpstr>
      <vt:lpstr>Calibri</vt:lpstr>
      <vt:lpstr>Wingdings</vt:lpstr>
      <vt:lpstr>Office Theme</vt:lpstr>
      <vt:lpstr>PERITONEUM &amp; ITS REFLECTIONS</vt:lpstr>
      <vt:lpstr>Outline</vt:lpstr>
      <vt:lpstr>Intro’</vt:lpstr>
      <vt:lpstr>Cont’d</vt:lpstr>
      <vt:lpstr>PowerPoint Presentation</vt:lpstr>
      <vt:lpstr>Layers of the peritoneum</vt:lpstr>
      <vt:lpstr>PowerPoint Presentation</vt:lpstr>
      <vt:lpstr>Retroperitoneal organs</vt:lpstr>
      <vt:lpstr>PERITONEAL FOLDS</vt:lpstr>
      <vt:lpstr>PowerPoint Presentation</vt:lpstr>
      <vt:lpstr>CLASSIFICATION OF THE PERITONEAL FOLDS</vt:lpstr>
      <vt:lpstr>Cont’d</vt:lpstr>
      <vt:lpstr>Cont’d</vt:lpstr>
      <vt:lpstr>Greater Omentum</vt:lpstr>
      <vt:lpstr>PowerPoint Presentation</vt:lpstr>
      <vt:lpstr>Attachments of the greater omentum</vt:lpstr>
      <vt:lpstr>PowerPoint Presentation</vt:lpstr>
      <vt:lpstr>Contents of the greater omentum</vt:lpstr>
      <vt:lpstr>The functions of greater omentum</vt:lpstr>
      <vt:lpstr>Cont’d</vt:lpstr>
      <vt:lpstr>Lesser Omentum</vt:lpstr>
      <vt:lpstr>Attachments</vt:lpstr>
      <vt:lpstr>Contents</vt:lpstr>
      <vt:lpstr>PowerPoint Presentation</vt:lpstr>
      <vt:lpstr>Mesentery (Mesentery of Small Intestine)</vt:lpstr>
      <vt:lpstr>Mesentery (Mesentery of Small Intestine)</vt:lpstr>
      <vt:lpstr>General Features</vt:lpstr>
      <vt:lpstr>Cont’d</vt:lpstr>
      <vt:lpstr>PowerPoint Presentation</vt:lpstr>
      <vt:lpstr>PowerPoint Presentation</vt:lpstr>
      <vt:lpstr>PowerPoint Presentation</vt:lpstr>
      <vt:lpstr>Cont’d</vt:lpstr>
      <vt:lpstr>Contents</vt:lpstr>
      <vt:lpstr>Transverse mesocolon</vt:lpstr>
      <vt:lpstr>Transverse mesocolon</vt:lpstr>
      <vt:lpstr>PowerPoint Presentation</vt:lpstr>
      <vt:lpstr>Sigmoid mesocolon</vt:lpstr>
      <vt:lpstr>Sigmoid mesocolon</vt:lpstr>
      <vt:lpstr>PowerPoint Presentation</vt:lpstr>
      <vt:lpstr>Falciform Ligament</vt:lpstr>
      <vt:lpstr>Falciform Ligament</vt:lpstr>
      <vt:lpstr>The contents of falciform ligament</vt:lpstr>
      <vt:lpstr>PERITONEAL CAVITY</vt:lpstr>
      <vt:lpstr>Peritoneal cavity</vt:lpstr>
      <vt:lpstr>Cont’d</vt:lpstr>
      <vt:lpstr> Differences between parietal and visceral peritoneum</vt:lpstr>
      <vt:lpstr>Subdivisions of the peritoneal cavity</vt:lpstr>
      <vt:lpstr>Subdivisions of the peritoneal cavity</vt:lpstr>
      <vt:lpstr>PowerPoint Presentation</vt:lpstr>
      <vt:lpstr>PowerPoint Presentation</vt:lpstr>
      <vt:lpstr>Peritoneum reflection</vt:lpstr>
      <vt:lpstr>Greater sac</vt:lpstr>
      <vt:lpstr>Supracolic and Infracolic compartments of  the peritoneal cavity</vt:lpstr>
      <vt:lpstr>PowerPoint Presentation</vt:lpstr>
      <vt:lpstr>Supracolic Compartment</vt:lpstr>
      <vt:lpstr>Infracolic Compartment</vt:lpstr>
      <vt:lpstr>PowerPoint Presentation</vt:lpstr>
      <vt:lpstr>intraperitoneal fossae</vt:lpstr>
      <vt:lpstr>PowerPoint Presentation</vt:lpstr>
      <vt:lpstr>Subphrenic spaces</vt:lpstr>
      <vt:lpstr>PowerPoint Presentation</vt:lpstr>
      <vt:lpstr>PowerPoint Presentation</vt:lpstr>
      <vt:lpstr>RIGHT POSTERIOR INTRAPERITONEAL COMPARTMENT (hepatorenal pouch or Morison’s pouch)</vt:lpstr>
      <vt:lpstr>Cont’d</vt:lpstr>
      <vt:lpstr>Right anterior intraperitoneal compartment</vt:lpstr>
      <vt:lpstr>Boundaries</vt:lpstr>
      <vt:lpstr>Right extraperitoneal compartment</vt:lpstr>
      <vt:lpstr>Boundaries</vt:lpstr>
      <vt:lpstr>Left posterior intraperitoneal compartment  (Lesser sac)</vt:lpstr>
      <vt:lpstr>PowerPoint Presentation</vt:lpstr>
      <vt:lpstr>Boundaries</vt:lpstr>
      <vt:lpstr>Recesses of Lesser Sac</vt:lpstr>
      <vt:lpstr>Foramen Epiploicum (Foramen of Winslow)</vt:lpstr>
      <vt:lpstr>Boundaries of the Foramen Epiploicum </vt:lpstr>
      <vt:lpstr>PowerPoint Presentation</vt:lpstr>
      <vt:lpstr>Left anterior intraperitoneal compartment</vt:lpstr>
      <vt:lpstr>Cont’d</vt:lpstr>
      <vt:lpstr>Left extraperitoneal compartment</vt:lpstr>
      <vt:lpstr>PowerPoint Presentation</vt:lpstr>
      <vt:lpstr>Applied Anatomy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Cont’d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PERITONEUM &amp; ITS REFLECTIONS</dc:title>
  <dc:creator>olakunle</dc:creator>
  <cp:lastModifiedBy>dell</cp:lastModifiedBy>
  <cp:revision>23</cp:revision>
  <dcterms:created xsi:type="dcterms:W3CDTF">2021-12-13T20:19:50Z</dcterms:created>
  <dcterms:modified xsi:type="dcterms:W3CDTF">2025-11-17T07:50:53Z</dcterms:modified>
</cp:coreProperties>
</file>