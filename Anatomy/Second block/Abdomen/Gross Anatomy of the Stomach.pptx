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5634" autoAdjust="0"/>
    <p:restoredTop sz="94669" autoAdjust="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tableStyles" Target="tableStyle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5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3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69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3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0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7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1363B-2BF7-4A99-881E-4773F26BA3A6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4AC3D-2103-48BE-A455-BE987F3CDEB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685800" y="1643050"/>
            <a:ext cx="8077200" cy="2714644"/>
          </a:xfrm>
        </p:spPr>
        <p:txBody>
          <a:bodyPr>
            <a:normAutofit/>
          </a:bodyPr>
          <a:p>
            <a:r>
              <a:rPr dirty="0" lang="en-AU" smtClean="0">
                <a:latin typeface="Arial Black" pitchFamily="34" charset="0"/>
              </a:rPr>
              <a:t>GROSS ANATOMY OF THE STOMACH</a:t>
            </a:r>
            <a:endParaRPr dirty="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OUTLINE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>
          <a:xfrm>
            <a:off x="285720" y="714356"/>
            <a:ext cx="8401080" cy="6143644"/>
          </a:xfrm>
        </p:spPr>
        <p:txBody>
          <a:bodyPr>
            <a:normAutofit lnSpcReduction="10000"/>
          </a:bodyPr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Intro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Shape of the stomach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Size and capacity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Functions of the stomach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Surface marking of the stomach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Parts of the stomach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External features of the stomach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Relations of the stomach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Blood supply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Lymphatic drainage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Applied Anatomy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381000" y="-457200"/>
            <a:ext cx="8229600" cy="914400"/>
          </a:xfrm>
        </p:spPr>
        <p:txBody>
          <a:bodyPr>
            <a:normAutofit fontScale="90000"/>
          </a:bodyPr>
          <a:p>
            <a:r>
              <a:rPr dirty="0" lang="en-US" smtClean="0"/>
              <a:t/>
            </a:r>
            <a:br>
              <a:rPr dirty="0" lang="en-US" smtClean="0"/>
            </a:br>
            <a:r>
              <a:rPr dirty="0" lang="en-US" smtClean="0">
                <a:latin typeface="Arial Black" pitchFamily="34" charset="0"/>
              </a:rPr>
              <a:t>Definition of Stomach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9144000" cy="6858000"/>
          </a:xfrm>
        </p:spPr>
        <p:txBody>
          <a:bodyPr>
            <a:normAutofit lnSpcReduction="10000"/>
          </a:bodyPr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is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muscular bag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forming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widest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most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distensible part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alimentary canal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between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esophagus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duodenum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It acts as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reservior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food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helps in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digestion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carbohydrates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proteins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fats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It is connected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above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to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lower end of the oesophagus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below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to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duodenum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It lies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obliquely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in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upper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part of abdomen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occupying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epigastric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umbilical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hypochondriac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regions .</a:t>
            </a:r>
          </a:p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Most of it lies under cover of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costal margin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and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ribs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89C99A0-6E5E-479A-B2E5-96C908BF504B}" type="datetime1">
              <a:rPr lang="en-US" smtClean="0"/>
              <a:t>2/7/2025</a:t>
            </a:fld>
            <a:endParaRPr lang="en-US"/>
          </a:p>
        </p:txBody>
      </p:sp>
      <p:sp>
        <p:nvSpPr>
          <p:cNvPr id="104859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82000" cy="6477000"/>
          </a:xfrm>
        </p:spPr>
        <p:txBody>
          <a:bodyPr>
            <a:normAutofit fontScale="96875"/>
          </a:bodyPr>
          <a:p>
            <a:pPr algn="just">
              <a:buFont typeface="Wingdings" pitchFamily="2" charset="2"/>
              <a:buChar char="Ø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Shape of the stomach</a:t>
            </a:r>
          </a:p>
          <a:p>
            <a:pPr algn="just">
              <a:buFont typeface="Wingdings" pitchFamily="2" charset="2"/>
              <a:buChar char="§"/>
            </a:pPr>
            <a:r>
              <a:rPr dirty="0" lang="en-AU" smtClean="0">
                <a:latin typeface="Arial" pitchFamily="34" charset="0"/>
                <a:cs typeface="Arial" pitchFamily="34" charset="0"/>
              </a:rPr>
              <a:t>It depends upon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degree of its distension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that 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surrounding viscera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e.g.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the colon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When empty, it becomes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J- shaped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(vertical); when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partially distended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it becomes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pyriform in shape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In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obese persons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it is more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horizonta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l.</a:t>
            </a:r>
          </a:p>
          <a:p>
            <a:pPr algn="just">
              <a:buFont typeface="Wingdings" pitchFamily="2" charset="2"/>
              <a:buChar char="Ø"/>
            </a:pPr>
            <a:endParaRPr dirty="0" lang="en-AU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Size and Capacity</a:t>
            </a:r>
          </a:p>
          <a:p>
            <a:pPr algn="just">
              <a:buFont typeface="Wingdings" pitchFamily="2" charset="2"/>
              <a:buChar char="§"/>
            </a:pPr>
            <a:r>
              <a:rPr dirty="0" lang="en-AU" smtClean="0">
                <a:latin typeface="Arial" pitchFamily="34" charset="0"/>
                <a:cs typeface="Arial" pitchFamily="34" charset="0"/>
              </a:rPr>
              <a:t>It is a very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distensible organ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It is about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25 cm long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30 ml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birth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one litre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(1000 ml) at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puberty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1½ to 2 litres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or more in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adults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37CBBE-7CE2-45C3-911C-3D9B1EDDED01}" type="datetime1">
              <a:rPr lang="en-US" smtClean="0"/>
              <a:t>2/7/2025</a:t>
            </a:fld>
            <a:endParaRPr lang="en-US"/>
          </a:p>
        </p:txBody>
      </p:sp>
      <p:sp>
        <p:nvSpPr>
          <p:cNvPr id="104860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STOMACH DIAGRAM</a:t>
            </a:r>
            <a:endParaRPr dirty="0" lang="en-US"/>
          </a:p>
        </p:txBody>
      </p:sp>
      <p:pic>
        <p:nvPicPr>
          <p:cNvPr id="2097152" name="Picture 2" descr="C:\Users\Dr Gbenga\Desktop\stomach diagram.jpg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228600" y="228600"/>
            <a:ext cx="8763000" cy="6400800"/>
          </a:xfrm>
          <a:prstGeom prst="rect"/>
          <a:noFill/>
        </p:spPr>
      </p:pic>
      <p:sp>
        <p:nvSpPr>
          <p:cNvPr id="10486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7F3D4A-5CFB-4B6C-B4CC-EF395587A025}" type="datetime1">
              <a:rPr lang="en-US" smtClean="0"/>
              <a:t>2/7/2025</a:t>
            </a:fld>
            <a:endParaRPr lang="en-US"/>
          </a:p>
        </p:txBody>
      </p:sp>
      <p:sp>
        <p:nvSpPr>
          <p:cNvPr id="104860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8915400" cy="914400"/>
          </a:xfrm>
        </p:spPr>
        <p:txBody>
          <a:bodyPr>
            <a:normAutofit/>
          </a:bodyPr>
          <a:p>
            <a:r>
              <a:rPr dirty="0" lang="en-AU" smtClean="0">
                <a:latin typeface="Arial Black" pitchFamily="34" charset="0"/>
              </a:rPr>
              <a:t>FUNCTIONS OF THE STOMACH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943600"/>
          </a:xfrm>
        </p:spPr>
        <p:txBody>
          <a:bodyPr>
            <a:normAutofit/>
          </a:bodyPr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It acts primarily as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reservior of food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It also acts as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mixer of food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By its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peristaltic movements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it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softens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mixes the food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with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juice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glands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produce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juice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which contains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enzymes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that play an important role in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digestion of food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glands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also produce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hydrochloric acid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which destroys many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organisms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present in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food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drink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A5F814F-72CA-4E06-9C57-79B01E7BD48D}" type="datetime1">
              <a:rPr lang="en-US" smtClean="0"/>
              <a:t>2/7/2025</a:t>
            </a:fld>
            <a:endParaRPr dirty="0" lang="en-US"/>
          </a:p>
        </p:txBody>
      </p:sp>
      <p:sp>
        <p:nvSpPr>
          <p:cNvPr id="104860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401080" cy="5357850"/>
          </a:xfrm>
        </p:spPr>
        <p:txBody>
          <a:bodyPr>
            <a:normAutofit/>
          </a:bodyPr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lining cells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stomach produce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abundant mucus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which protects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mucosa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against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corrosive action of hydrochloric acid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dirty="0" lang="en-US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Some substances like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alcohol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water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salt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few drugs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are absorbed in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dirty="0" lang="en-AU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Stomach produces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intrinsic factor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which helps in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absorption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vitamin B12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DD97E18-28DF-44E4-A0F7-F19C0D2405EB}" type="datetime1">
              <a:rPr lang="en-US" smtClean="0"/>
              <a:t>2/7/2025</a:t>
            </a:fld>
            <a:endParaRPr lang="en-US"/>
          </a:p>
        </p:txBody>
      </p:sp>
      <p:sp>
        <p:nvSpPr>
          <p:cNvPr id="10486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7</a:t>
            </a:fld>
            <a:endParaRPr lang="en-US"/>
          </a:p>
        </p:txBody>
      </p:sp>
      <p:sp>
        <p:nvSpPr>
          <p:cNvPr id="1048611" name="TextBox 5"/>
          <p:cNvSpPr txBox="1"/>
          <p:nvPr/>
        </p:nvSpPr>
        <p:spPr>
          <a:xfrm>
            <a:off x="3786182" y="285728"/>
            <a:ext cx="2286016" cy="707886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4000" lang="en-AU" smtClean="0">
                <a:latin typeface="Arial Black" pitchFamily="34" charset="0"/>
              </a:rPr>
              <a:t>Cont’d</a:t>
            </a:r>
            <a:endParaRPr dirty="0" sz="400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>
            <a:normAutofit/>
          </a:bodyPr>
          <a:p>
            <a:r>
              <a:rPr dirty="0" lang="en-US" smtClean="0">
                <a:latin typeface="Arial Black" pitchFamily="34" charset="0"/>
              </a:rPr>
              <a:t>SURFACE MARKING OF THE STOMACH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142844" y="857232"/>
            <a:ext cx="8858312" cy="6429420"/>
          </a:xfrm>
        </p:spPr>
        <p:txBody>
          <a:bodyPr>
            <a:noAutofit/>
          </a:bodyPr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Cardiac orifice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is at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junction between the lower end of the esophagus and stomach,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marks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level at which curvatures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begin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 It is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most fixed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and lies behind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7</a:t>
            </a:r>
            <a:r>
              <a:rPr baseline="30000" b="1" dirty="0" lang="en-US" smtClean="0">
                <a:latin typeface="Arial" pitchFamily="34" charset="0"/>
                <a:cs typeface="Arial" pitchFamily="34" charset="0"/>
              </a:rPr>
              <a:t>th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 costal cartilage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about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2.5cm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of a midline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on a level with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T11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endParaRPr dirty="0" lang="en-US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Pyloric orifice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is at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junction between the pyloric end of the stomach and first part of the duodenum.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It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is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variable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and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1.5 cm 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right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median plane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at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lower border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L1 (TPP).</a:t>
            </a:r>
          </a:p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. 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84D560-4C50-4B22-A12E-D14E6422B275}" type="datetime1">
              <a:rPr lang="en-US" smtClean="0"/>
              <a:t>2/7/2025</a:t>
            </a:fld>
            <a:endParaRPr dirty="0" lang="en-US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p>
            <a:r>
              <a:rPr dirty="0" lang="en-US" smtClean="0">
                <a:latin typeface="Arial Black" pitchFamily="34" charset="0"/>
              </a:rPr>
              <a:t>PARTS OF THE STOMACH</a:t>
            </a:r>
            <a:r>
              <a:rPr dirty="0" lang="en-US" smtClean="0"/>
              <a:t>.</a:t>
            </a:r>
            <a:endParaRPr dirty="0" lang="en-US"/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8991600" cy="6553200"/>
          </a:xfrm>
        </p:spPr>
        <p:txBody>
          <a:bodyPr>
            <a:noAutofit/>
          </a:bodyPr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Stomach can be divided into 4 regions namely:</a:t>
            </a:r>
          </a:p>
          <a:p>
            <a:pPr algn="just">
              <a:buNone/>
            </a:pPr>
            <a:r>
              <a:rPr dirty="0" lang="en-US" smtClean="0">
                <a:latin typeface="Arial" pitchFamily="34" charset="0"/>
                <a:cs typeface="Arial" pitchFamily="34" charset="0"/>
              </a:rPr>
              <a:t>i)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Cardia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surrounds the opening of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oesophagus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into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dirty="0" lang="en-US" smtClean="0">
                <a:latin typeface="Arial" pitchFamily="34" charset="0"/>
                <a:cs typeface="Arial" pitchFamily="34" charset="0"/>
              </a:rPr>
              <a:t>Ii)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Fundus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dome shaped area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above the level of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cardia orifice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which usually contain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gas bubble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food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fluid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dirty="0" lang="en-US" smtClean="0">
                <a:latin typeface="Arial" pitchFamily="34" charset="0"/>
                <a:cs typeface="Arial" pitchFamily="34" charset="0"/>
              </a:rPr>
              <a:t>Iii)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Body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largest part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which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extends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from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cardia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to </a:t>
            </a:r>
            <a:r>
              <a:rPr b="1" dirty="0" lang="en-US" err="1" smtClean="0">
                <a:latin typeface="Arial" pitchFamily="34" charset="0"/>
                <a:cs typeface="Arial" pitchFamily="34" charset="0"/>
              </a:rPr>
              <a:t>angula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 incisura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dirty="0" lang="en-US" smtClean="0">
                <a:latin typeface="Arial" pitchFamily="34" charset="0"/>
                <a:cs typeface="Arial" pitchFamily="34" charset="0"/>
              </a:rPr>
              <a:t>Iv)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Pylorus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distal end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extending from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angular incisura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pyloric sphincter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and is divided into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pyloric canal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antrum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340E98-26EC-4460-BE29-F9ACD758CC1C}" type="datetime1">
              <a:rPr lang="en-US" smtClean="0"/>
              <a:t>2/7/2025</a:t>
            </a:fld>
            <a:endParaRPr dirty="0" lang="en-US"/>
          </a:p>
        </p:txBody>
      </p:sp>
      <p:sp>
        <p:nvSpPr>
          <p:cNvPr id="10486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990600"/>
          </a:xfrm>
        </p:spPr>
        <p:txBody>
          <a:bodyPr>
            <a:normAutofit/>
          </a:bodyPr>
          <a:p>
            <a:r>
              <a:rPr dirty="0" sz="4000" lang="en-US" smtClean="0">
                <a:latin typeface="Arial Black" pitchFamily="34" charset="0"/>
              </a:rPr>
              <a:t>CONTD</a:t>
            </a:r>
            <a:endParaRPr dirty="0" sz="4000" lang="en-US">
              <a:latin typeface="Arial Black" pitchFamily="34" charset="0"/>
            </a:endParaRPr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>
          <a:xfrm>
            <a:off x="0" y="142852"/>
            <a:ext cx="9144000" cy="6629400"/>
          </a:xfrm>
        </p:spPr>
        <p:txBody>
          <a:bodyPr>
            <a:noAutofit/>
          </a:bodyPr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Other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features of the stomach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are :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Greater curvature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convex  border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which is a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point of attachment 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gastrosplenic ligament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&amp;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greater omentum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Lesser curvature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concave border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which is a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point of attachment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lesser omentum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Cardia notch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place where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oesophagus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enters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abdomen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Angula incisura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a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bend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in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which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indicates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junction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between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body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and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 pylorus of the stomach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32D7BD3-37C2-4127-992C-4C8B29C9B836}" type="datetime1">
              <a:rPr lang="en-US" smtClean="0"/>
              <a:t>2/7/2025</a:t>
            </a:fld>
            <a:endParaRPr dirty="0" lang="en-US"/>
          </a:p>
        </p:txBody>
      </p:sp>
      <p:sp>
        <p:nvSpPr>
          <p:cNvPr id="10486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10</a:t>
            </a:fld>
            <a:endParaRPr dirty="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11</a:t>
            </a:fld>
            <a:endParaRPr lang="en-US"/>
          </a:p>
        </p:txBody>
      </p:sp>
      <p:pic>
        <p:nvPicPr>
          <p:cNvPr id="2097153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304800" y="609600"/>
            <a:ext cx="8534400" cy="57150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26" name="TextBox 6"/>
          <p:cNvSpPr txBox="1"/>
          <p:nvPr/>
        </p:nvSpPr>
        <p:spPr>
          <a:xfrm>
            <a:off x="2286000" y="6400800"/>
            <a:ext cx="4495800" cy="369332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lang="en-AU" smtClean="0"/>
              <a:t>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External features of the stomach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sz="4000" lang="en-AU" smtClean="0">
                <a:latin typeface="Arial Black" pitchFamily="34" charset="0"/>
              </a:rPr>
              <a:t>INTERIOR OF THE STOMACH</a:t>
            </a:r>
            <a:endParaRPr dirty="0" sz="4000" lang="en-US">
              <a:latin typeface="Arial Black" pitchFamily="34" charset="0"/>
            </a:endParaRP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5334000"/>
          </a:xfrm>
        </p:spPr>
        <p:txBody>
          <a:bodyPr>
            <a:noAutofit/>
          </a:bodyPr>
          <a:p>
            <a:pPr algn="just"/>
            <a:r>
              <a:rPr b="1" dirty="0" sz="3200" lang="en-AU" smtClean="0">
                <a:latin typeface="Arial" pitchFamily="34" charset="0"/>
                <a:cs typeface="Arial" pitchFamily="34" charset="0"/>
              </a:rPr>
              <a:t>Gastric folds/gastric rugae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: The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mucosa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 of an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empty stomach 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is thrown into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numerous folds 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called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gastric rugae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. They are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longitudinal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 along the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irregular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 in the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remaining part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. The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rugae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 are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flattened 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when the stomach is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distended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sz="3200" lang="en-AU" smtClean="0">
                <a:latin typeface="Arial" pitchFamily="34" charset="0"/>
                <a:cs typeface="Arial" pitchFamily="34" charset="0"/>
              </a:rPr>
              <a:t>Gastric pits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: These are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small depressions 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on the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mucosal surface 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in which open the </a:t>
            </a:r>
            <a:r>
              <a:rPr b="1" dirty="0" sz="3200" lang="en-AU" smtClean="0">
                <a:latin typeface="Arial" pitchFamily="34" charset="0"/>
                <a:cs typeface="Arial" pitchFamily="34" charset="0"/>
              </a:rPr>
              <a:t>gastric glands</a:t>
            </a:r>
            <a:r>
              <a:rPr dirty="0" sz="3200" lang="en-AU" smtClean="0">
                <a:latin typeface="Arial" pitchFamily="34" charset="0"/>
                <a:cs typeface="Arial" pitchFamily="34" charset="0"/>
              </a:rPr>
              <a:t>.</a:t>
            </a:r>
            <a:endParaRPr dirty="0" sz="320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13</a:t>
            </a:fld>
            <a:endParaRPr lang="en-US"/>
          </a:p>
        </p:txBody>
      </p:sp>
      <p:pic>
        <p:nvPicPr>
          <p:cNvPr id="2097154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62000" y="609600"/>
            <a:ext cx="7848600" cy="55626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33" name="TextBox 6"/>
          <p:cNvSpPr txBox="1"/>
          <p:nvPr/>
        </p:nvSpPr>
        <p:spPr>
          <a:xfrm>
            <a:off x="2438400" y="6324600"/>
            <a:ext cx="3276600" cy="369332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lang="en-AU" smtClean="0">
                <a:latin typeface="Arial Black" pitchFamily="34" charset="0"/>
              </a:rPr>
              <a:t>Interior of the stomach</a:t>
            </a:r>
            <a:endParaRPr dirty="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0" y="785794"/>
            <a:ext cx="8915400" cy="6072206"/>
          </a:xfrm>
        </p:spPr>
        <p:txBody>
          <a:bodyPr>
            <a:normAutofit/>
          </a:bodyPr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Gastric canal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: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longitudinal furrow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that forms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temporarily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during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swallowing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between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longitudinal folds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mucosa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along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It forms due to firm attachment 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mucosa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underlying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muscular layer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which does not have an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oblique layer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at this site. This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canal allows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 rapid passage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swallowed liquids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along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lower part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before it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spreads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to the o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ther parts of the 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14</a:t>
            </a:fld>
            <a:endParaRPr dirty="0" lang="en-US"/>
          </a:p>
        </p:txBody>
      </p:sp>
      <p:sp>
        <p:nvSpPr>
          <p:cNvPr id="1048637" name="TextBox 5"/>
          <p:cNvSpPr txBox="1"/>
          <p:nvPr/>
        </p:nvSpPr>
        <p:spPr>
          <a:xfrm>
            <a:off x="3428992" y="142852"/>
            <a:ext cx="2151551" cy="76944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4400" lang="en-AU" smtClean="0">
                <a:latin typeface="Arial Black" pitchFamily="34" charset="0"/>
              </a:rPr>
              <a:t>Cont’d</a:t>
            </a:r>
            <a:endParaRPr dirty="0" sz="440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357322"/>
          </a:xfrm>
        </p:spPr>
        <p:txBody>
          <a:bodyPr>
            <a:normAutofit/>
          </a:bodyPr>
          <a:p>
            <a:r>
              <a:rPr dirty="0" sz="4900" lang="en-AU" smtClean="0">
                <a:latin typeface="Arial Black" pitchFamily="34" charset="0"/>
              </a:rPr>
              <a:t>Cont’d</a:t>
            </a:r>
            <a:r>
              <a:rPr dirty="0" lang="en-US" smtClean="0">
                <a:latin typeface="Arial Black" pitchFamily="34" charset="0"/>
              </a:rPr>
              <a:t/>
            </a:r>
            <a:br>
              <a:rPr dirty="0" lang="en-US" smtClean="0">
                <a:latin typeface="Arial Black" pitchFamily="34" charset="0"/>
              </a:rPr>
            </a:br>
            <a:endParaRPr dirty="0" lang="en-US"/>
          </a:p>
        </p:txBody>
      </p:sp>
      <p:sp>
        <p:nvSpPr>
          <p:cNvPr id="1048639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is subject to maximum insult 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swallowed spicy food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irritable liquids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(e.g., alcohol), which makes it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vulnerable to the gastric ulceration.</a:t>
            </a:r>
            <a:endParaRPr b="1" dirty="0" lang="en-US" smtClean="0">
              <a:latin typeface="Arial" pitchFamily="34" charset="0"/>
              <a:cs typeface="Arial" pitchFamily="34" charset="0"/>
            </a:endParaRPr>
          </a:p>
          <a:p>
            <a:endParaRPr dirty="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16</a:t>
            </a:fld>
            <a:endParaRPr lang="en-US"/>
          </a:p>
        </p:txBody>
      </p:sp>
      <p:pic>
        <p:nvPicPr>
          <p:cNvPr id="2097155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57200" y="609600"/>
            <a:ext cx="8458200" cy="5333999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42" name="TextBox 6"/>
          <p:cNvSpPr txBox="1"/>
          <p:nvPr/>
        </p:nvSpPr>
        <p:spPr>
          <a:xfrm>
            <a:off x="3276600" y="6248400"/>
            <a:ext cx="2057400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AU" smtClean="0"/>
              <a:t>Gastric canal</a:t>
            </a:r>
            <a:endParaRPr dirty="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/>
          </a:bodyPr>
          <a:p>
            <a:r>
              <a:rPr dirty="0" lang="en-US" smtClean="0">
                <a:latin typeface="Arial Black" pitchFamily="34" charset="0"/>
              </a:rPr>
              <a:t>RELATIONS OF STOMACH/STOMACH BED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44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5562600"/>
          </a:xfrm>
        </p:spPr>
        <p:txBody>
          <a:bodyPr>
            <a:normAutofit lnSpcReduction="10000"/>
          </a:bodyPr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Anteriorly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It related to 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lobe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liver, diaphragm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anterior abdominal wall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Posteriorly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It related to: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Omental bursa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which separates it from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diaphragm above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Stomach bed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on which it rests in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supine position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are: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Superiorly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dome of diaphragm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superior pole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kidney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Left suprarenal gland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spleen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Inferiorly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: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Body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&amp;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tail of pancreas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Transverse colon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D79CD5-7EF9-4217-8D55-FE6418D2BAE0}" type="datetime1">
              <a:rPr lang="en-US" smtClean="0"/>
              <a:t>2/7/2025</a:t>
            </a:fld>
            <a:endParaRPr lang="en-US"/>
          </a:p>
        </p:txBody>
      </p:sp>
      <p:sp>
        <p:nvSpPr>
          <p:cNvPr id="104864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060472"/>
          </a:xfrm>
        </p:spPr>
        <p:txBody>
          <a:bodyPr>
            <a:normAutofit/>
          </a:bodyPr>
          <a:p>
            <a:r>
              <a:rPr dirty="0" sz="4900" lang="en-AU" smtClean="0">
                <a:latin typeface="Arial Black" pitchFamily="34" charset="0"/>
              </a:rPr>
              <a:t>Peritoneal Relations</a:t>
            </a:r>
            <a:r>
              <a:rPr dirty="0" lang="en-AU" smtClean="0"/>
              <a:t/>
            </a:r>
            <a:br>
              <a:rPr dirty="0" lang="en-AU" smtClean="0"/>
            </a:br>
            <a:endParaRPr dirty="0" lang="en-US"/>
          </a:p>
        </p:txBody>
      </p:sp>
      <p:sp>
        <p:nvSpPr>
          <p:cNvPr id="1048648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lnSpcReduction="10000"/>
          </a:bodyPr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stomach is covered by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peritoneum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except where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blood vessels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run along its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curvatures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small area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(called bare area of the stomach) posteriorly near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cardiac orifice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bare area of the stomach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is directly related 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left crus of the diaphragm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peritoneal folds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extending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greater curvatures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other structures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50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5857916"/>
          </a:xfrm>
        </p:spPr>
        <p:txBody>
          <a:bodyPr>
            <a:noAutofit/>
          </a:bodyPr>
          <a:p>
            <a:pPr algn="just">
              <a:buFont typeface="Wingdings" pitchFamily="2" charset="2"/>
              <a:buChar char="§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Lesser omentum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extends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liver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Greater omentum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extends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lower two-third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greater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transverse colon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buFont typeface="Wingdings" pitchFamily="2" charset="2"/>
              <a:buChar char="§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Gastrosplenic ligament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extends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upper one third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greater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(i.e.,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fundus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) 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spleen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(near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hilum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b="1" dirty="0" lang="en-AU" err="1" smtClean="0">
                <a:latin typeface="Arial" pitchFamily="34" charset="0"/>
                <a:cs typeface="Arial" pitchFamily="34" charset="0"/>
              </a:rPr>
              <a:t>Gastrophrenic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 ligament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extends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uppermost part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fundus to the diaphragm</a:t>
            </a:r>
            <a:endParaRPr b="1"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>
              <a:latin typeface="Arial Black" pitchFamily="34" charset="0"/>
            </a:endParaRPr>
          </a:p>
        </p:txBody>
      </p:sp>
      <p:pic>
        <p:nvPicPr>
          <p:cNvPr id="2097156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857224" y="1071546"/>
            <a:ext cx="7072362" cy="528641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52" name="TextBox 4"/>
          <p:cNvSpPr txBox="1"/>
          <p:nvPr/>
        </p:nvSpPr>
        <p:spPr>
          <a:xfrm>
            <a:off x="2285984" y="6286520"/>
            <a:ext cx="3789820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AU" smtClean="0"/>
              <a:t>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Peritoneal relations of the stomach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dirty="0" lang="en-US"/>
          </a:p>
        </p:txBody>
      </p:sp>
      <p:sp>
        <p:nvSpPr>
          <p:cNvPr id="10486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21</a:t>
            </a:fld>
            <a:endParaRPr lang="en-US"/>
          </a:p>
        </p:txBody>
      </p:sp>
      <p:pic>
        <p:nvPicPr>
          <p:cNvPr id="2097157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57200" y="381000"/>
            <a:ext cx="8153400" cy="58674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55" name="TextBox 8"/>
          <p:cNvSpPr txBox="1"/>
          <p:nvPr/>
        </p:nvSpPr>
        <p:spPr>
          <a:xfrm>
            <a:off x="2971800" y="6324600"/>
            <a:ext cx="2190137" cy="369332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lang="en-US" smtClean="0">
                <a:latin typeface="Arial" pitchFamily="34" charset="0"/>
                <a:cs typeface="Arial" pitchFamily="34" charset="0"/>
              </a:rPr>
              <a:t>The stomach bed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p>
            <a:r>
              <a:rPr dirty="0" lang="en-AU" smtClean="0">
                <a:latin typeface="Arial Black" pitchFamily="34" charset="0"/>
              </a:rPr>
              <a:t>Arterial supply 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553200"/>
          </a:xfrm>
        </p:spPr>
        <p:txBody>
          <a:bodyPr>
            <a:noAutofit/>
          </a:bodyPr>
          <a:p>
            <a:pPr algn="just"/>
            <a:r>
              <a:rPr dirty="0" sz="3000" lang="en-US" smtClean="0">
                <a:latin typeface="Arial" pitchFamily="34" charset="0"/>
                <a:cs typeface="Arial" pitchFamily="34" charset="0"/>
              </a:rPr>
              <a:t>Stomach has rich arterial supply derived from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3 branches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celiac trunk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viz :</a:t>
            </a:r>
          </a:p>
          <a:p>
            <a:pPr algn="just"/>
            <a:r>
              <a:rPr dirty="0" sz="3000" lang="en-US" smtClean="0">
                <a:latin typeface="Arial" pitchFamily="34" charset="0"/>
                <a:cs typeface="Arial" pitchFamily="34" charset="0"/>
              </a:rPr>
              <a:t>i)Left gastric, (ii) Common hepatic  (iii) Splenic arteries.</a:t>
            </a:r>
          </a:p>
          <a:p>
            <a:pPr algn="just"/>
            <a:r>
              <a:rPr dirty="0" sz="3000" lang="en-US" smtClean="0">
                <a:latin typeface="Arial" pitchFamily="34" charset="0"/>
                <a:cs typeface="Arial" pitchFamily="34" charset="0"/>
              </a:rPr>
              <a:t>Both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Right and left gastric arteries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supply the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lesser curvature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sz="3000" lang="en-US" smtClean="0">
                <a:latin typeface="Arial" pitchFamily="34" charset="0"/>
                <a:cs typeface="Arial" pitchFamily="34" charset="0"/>
              </a:rPr>
              <a:t>Both 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Right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left gastro-epiploic arteries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supply the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greater curvature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sz="3000" lang="en-US" smtClean="0">
                <a:latin typeface="Arial" pitchFamily="34" charset="0"/>
                <a:cs typeface="Arial" pitchFamily="34" charset="0"/>
              </a:rPr>
              <a:t>Short gastric artery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supplies the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 fundus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sz="3000" lang="en-US" smtClean="0">
                <a:latin typeface="Arial" pitchFamily="34" charset="0"/>
                <a:cs typeface="Arial" pitchFamily="34" charset="0"/>
              </a:rPr>
              <a:t>Note that the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Left gastro-</a:t>
            </a:r>
            <a:r>
              <a:rPr b="1" dirty="0" sz="3000" lang="en-US" err="1" smtClean="0">
                <a:latin typeface="Arial" pitchFamily="34" charset="0"/>
                <a:cs typeface="Arial" pitchFamily="34" charset="0"/>
              </a:rPr>
              <a:t>epiploic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short gastric arteries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are from the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splenic artery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while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Right gastro-</a:t>
            </a:r>
            <a:r>
              <a:rPr b="1" dirty="0" sz="3000" lang="en-US" err="1" smtClean="0">
                <a:latin typeface="Arial" pitchFamily="34" charset="0"/>
                <a:cs typeface="Arial" pitchFamily="34" charset="0"/>
              </a:rPr>
              <a:t>epiploic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 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is from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gastroduodenal</a:t>
            </a:r>
            <a:r>
              <a:rPr dirty="0" sz="3000" lang="en-US" smtClean="0">
                <a:latin typeface="Arial" pitchFamily="34" charset="0"/>
                <a:cs typeface="Arial" pitchFamily="34" charset="0"/>
              </a:rPr>
              <a:t> artery of </a:t>
            </a:r>
            <a:r>
              <a:rPr b="1" dirty="0" sz="3000" lang="en-US" smtClean="0">
                <a:latin typeface="Arial" pitchFamily="34" charset="0"/>
                <a:cs typeface="Arial" pitchFamily="34" charset="0"/>
              </a:rPr>
              <a:t>hepatic artery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BA4915-7B9F-4219-9618-547A16CECBCD}" type="datetime1">
              <a:rPr lang="en-US" smtClean="0"/>
              <a:t>2/7/2025</a:t>
            </a:fld>
            <a:endParaRPr dirty="0" lang="en-US"/>
          </a:p>
        </p:txBody>
      </p:sp>
      <p:sp>
        <p:nvSpPr>
          <p:cNvPr id="10486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6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23</a:t>
            </a:fld>
            <a:endParaRPr lang="en-US"/>
          </a:p>
        </p:txBody>
      </p:sp>
      <p:pic>
        <p:nvPicPr>
          <p:cNvPr id="2097158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381000" y="457200"/>
            <a:ext cx="8382000" cy="58674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2" name="TextBox 6"/>
          <p:cNvSpPr txBox="1"/>
          <p:nvPr/>
        </p:nvSpPr>
        <p:spPr>
          <a:xfrm>
            <a:off x="1828800" y="6400800"/>
            <a:ext cx="6019800" cy="369332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lang="en-AU" smtClean="0">
                <a:latin typeface="Arial Black" pitchFamily="34" charset="0"/>
              </a:rPr>
              <a:t>Arteries of the stomach (CT = coeliac trunk)</a:t>
            </a:r>
            <a:endParaRPr dirty="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>
                <a:latin typeface="Arial Black" pitchFamily="34" charset="0"/>
              </a:rPr>
              <a:t>VENOUS DRAINAGE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562600"/>
          </a:xfrm>
        </p:spPr>
        <p:txBody>
          <a:bodyPr>
            <a:normAutofit/>
          </a:bodyPr>
          <a:p>
            <a:pPr algn="just"/>
            <a:r>
              <a:rPr b="1" dirty="0" sz="3200" lang="en-US" smtClean="0">
                <a:latin typeface="Arial" pitchFamily="34" charset="0"/>
                <a:cs typeface="Arial" pitchFamily="34" charset="0"/>
              </a:rPr>
              <a:t>Right and left gastric vein 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drain into the 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portal vein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sz="3200" lang="en-US" smtClean="0">
                <a:latin typeface="Arial" pitchFamily="34" charset="0"/>
                <a:cs typeface="Arial" pitchFamily="34" charset="0"/>
              </a:rPr>
              <a:t>Right gastro-epiploic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 vein drains into 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superior mesenteric vein 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or 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portal vein directly.</a:t>
            </a:r>
          </a:p>
          <a:p>
            <a:pPr algn="just"/>
            <a:r>
              <a:rPr b="1" dirty="0" sz="3200" lang="en-US" smtClean="0">
                <a:latin typeface="Arial" pitchFamily="34" charset="0"/>
                <a:cs typeface="Arial" pitchFamily="34" charset="0"/>
              </a:rPr>
              <a:t>Left gastro-epiploic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short gastric vein 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drains into  the 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splenic vein 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which joins with the 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superior mesenteric vein 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to form “</a:t>
            </a:r>
            <a:r>
              <a:rPr b="1" dirty="0" sz="3200" lang="en-US" smtClean="0">
                <a:latin typeface="Arial" pitchFamily="34" charset="0"/>
                <a:cs typeface="Arial" pitchFamily="34" charset="0"/>
              </a:rPr>
              <a:t>portal vein</a:t>
            </a:r>
            <a:r>
              <a:rPr dirty="0" sz="3200" lang="en-US" smtClean="0">
                <a:latin typeface="Arial" pitchFamily="34" charset="0"/>
                <a:cs typeface="Arial" pitchFamily="34" charset="0"/>
              </a:rPr>
              <a:t>”.</a:t>
            </a:r>
            <a:endParaRPr dirty="0" sz="3200"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107CA7D-1D8D-46E8-B2C2-11E563BAF748}" type="datetime1">
              <a:rPr lang="en-US" smtClean="0"/>
              <a:t>2/7/2025</a:t>
            </a:fld>
            <a:endParaRPr lang="en-US"/>
          </a:p>
        </p:txBody>
      </p:sp>
      <p:sp>
        <p:nvSpPr>
          <p:cNvPr id="104866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6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25</a:t>
            </a:fld>
            <a:endParaRPr lang="en-US"/>
          </a:p>
        </p:txBody>
      </p:sp>
      <p:pic>
        <p:nvPicPr>
          <p:cNvPr id="2097159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533400" y="838200"/>
            <a:ext cx="8382000" cy="54102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9" name="TextBox 6"/>
          <p:cNvSpPr txBox="1"/>
          <p:nvPr/>
        </p:nvSpPr>
        <p:spPr>
          <a:xfrm>
            <a:off x="1905000" y="6400800"/>
            <a:ext cx="4495800" cy="369332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lang="en-AU" smtClean="0">
                <a:latin typeface="Arial Black" pitchFamily="34" charset="0"/>
              </a:rPr>
              <a:t>Venous drainage of the stomach</a:t>
            </a:r>
            <a:endParaRPr dirty="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NERVE SUPPLY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71" name="Content Placeholder 2"/>
          <p:cNvSpPr>
            <a:spLocks noGrp="1"/>
          </p:cNvSpPr>
          <p:nvPr>
            <p:ph idx="1"/>
          </p:nvPr>
        </p:nvSpPr>
        <p:spPr>
          <a:xfrm>
            <a:off x="285720" y="928670"/>
            <a:ext cx="8401080" cy="5929330"/>
          </a:xfrm>
        </p:spPr>
        <p:txBody>
          <a:bodyPr>
            <a:normAutofit lnSpcReduction="10000"/>
          </a:bodyPr>
          <a:p>
            <a:pPr algn="just">
              <a:buFont typeface="Wingdings" pitchFamily="2" charset="2"/>
              <a:buChar char="§"/>
            </a:pPr>
            <a:r>
              <a:rPr dirty="0" lang="en-AU" smtClean="0">
                <a:latin typeface="Arial Black" pitchFamily="34" charset="0"/>
              </a:rPr>
              <a:t>Sympathetic </a:t>
            </a:r>
            <a:r>
              <a:rPr dirty="0" lang="en-AU" smtClean="0">
                <a:latin typeface="Arial Black" pitchFamily="34" charset="0"/>
              </a:rPr>
              <a:t>Innervation</a:t>
            </a:r>
            <a:endParaRPr dirty="0" lang="en-AU" smtClean="0">
              <a:latin typeface="Arial Black" pitchFamily="34" charset="0"/>
              <a:cs typeface="Arial" pitchFamily="34" charset="0"/>
            </a:endParaRP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sympathetic fibres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are derived from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T6 to T10 spinal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segments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via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greater splanchnic nerves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coeliac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hepatic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plexuses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They reach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by running along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its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arteries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sympathetic supply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stomach is (a)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vasomotor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b)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motor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to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pyloric sphincter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inhibitory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to the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remaining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musculature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and (c) serves as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chief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pathway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for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pain sensations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7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472518" cy="5857892"/>
          </a:xfrm>
        </p:spPr>
        <p:txBody>
          <a:bodyPr>
            <a:normAutofit/>
          </a:bodyPr>
          <a:p>
            <a:pPr>
              <a:buFont typeface="Wingdings" pitchFamily="2" charset="2"/>
              <a:buChar char="§"/>
            </a:pPr>
            <a:r>
              <a:rPr dirty="0" lang="en-AU" smtClean="0">
                <a:latin typeface="Arial Black" pitchFamily="34" charset="0"/>
              </a:rPr>
              <a:t>Parasympathetic Innervation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parasympathetic fibres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derived directly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vagus nerve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anterior vagal trunk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derived largely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left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vagus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nerve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partly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right vagus nerve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enters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abdomen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anterior surface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esophagus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Soon, after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entering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abdomen,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gives off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three branches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in the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vicinity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75" name="Content Placeholder 2"/>
          <p:cNvSpPr>
            <a:spLocks noGrp="1"/>
          </p:cNvSpPr>
          <p:nvPr>
            <p:ph idx="1"/>
          </p:nvPr>
        </p:nvSpPr>
        <p:spPr>
          <a:xfrm>
            <a:off x="285720" y="785794"/>
            <a:ext cx="8501122" cy="5786478"/>
          </a:xfrm>
        </p:spPr>
        <p:txBody>
          <a:bodyPr>
            <a:normAutofit lnSpcReduction="10000"/>
          </a:bodyPr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Hepatic branch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or branches), which runs in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upper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part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porta hepatis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supply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liver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gallbladder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It also gives a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pyloric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antrum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Coeliac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which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follows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left gastric artery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to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celiac plexus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Gastric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branch/nerve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Latarjet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largest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three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), which follows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distributes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anterior gastric branches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far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pylorus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214446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/>
          </a:p>
        </p:txBody>
      </p:sp>
      <p:sp>
        <p:nvSpPr>
          <p:cNvPr id="1048677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715436" cy="6072230"/>
          </a:xfrm>
        </p:spPr>
        <p:txBody>
          <a:bodyPr>
            <a:noAutofit/>
          </a:bodyPr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posterior vagal trunk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derived largely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right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vagus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nerve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partly from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left vagus nerve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enters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abdomen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on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posterior surface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esophagus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; soon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after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entering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abdomen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it also gives rise to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three types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Coeliac branch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coeliac ganglion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Nerve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of 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Grassi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name given to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one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or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more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posterior vagal trunk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which arises at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level 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gastroesophageal junction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supplies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fundus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  <a:endParaRPr dirty="0" lang="en-AU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/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472518" cy="5786454"/>
          </a:xfrm>
        </p:spPr>
        <p:txBody>
          <a:bodyPr>
            <a:normAutofit lnSpcReduction="10000"/>
          </a:bodyPr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Gastric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branch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nerve of Latarjet) which runs along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gives branches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posterior surface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Vagotomy</a:t>
            </a:r>
            <a:endParaRPr b="1" dirty="0" lang="en-AU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vagus nerves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largely control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secretion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acid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by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parietal cells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Since excess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acid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secretion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is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main cause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peptic ulcers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the section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vagal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trunks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(vagotomy) as they enter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abdomen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is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carried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out to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reduce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the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 production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acid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</a:t>
            </a:r>
            <a:endParaRPr dirty="0" lang="en-AU" smtClean="0">
              <a:latin typeface="Arial" pitchFamily="34" charset="0"/>
              <a:cs typeface="Arial" pitchFamily="34" charset="0"/>
            </a:endParaRPr>
          </a:p>
          <a:p>
            <a:endParaRPr dirty="0"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Cont’d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81" name="Content Placeholder 2"/>
          <p:cNvSpPr>
            <a:spLocks noGrp="1"/>
          </p:cNvSpPr>
          <p:nvPr>
            <p:ph idx="1"/>
          </p:nvPr>
        </p:nvSpPr>
        <p:spPr>
          <a:xfrm>
            <a:off x="214282" y="714356"/>
            <a:ext cx="8786874" cy="6786610"/>
          </a:xfrm>
        </p:spPr>
        <p:txBody>
          <a:bodyPr>
            <a:normAutofit/>
          </a:bodyPr>
          <a:p>
            <a:pPr algn="just">
              <a:buFont typeface="Wingdings" pitchFamily="2" charset="2"/>
              <a:buChar char="§"/>
            </a:pPr>
            <a:r>
              <a:rPr b="1" dirty="0" lang="en-AU" smtClean="0">
                <a:latin typeface="Arial" pitchFamily="34" charset="0"/>
                <a:cs typeface="Arial" pitchFamily="34" charset="0"/>
              </a:rPr>
              <a:t>Vagotomy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is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three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types</a:t>
            </a:r>
            <a:endParaRPr b="1" dirty="0" lang="en-AU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Truncal vagotomy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: In this both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vagal trunks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anterior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posterior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) are sectioned at the lower end of the esophagus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Selective vagotomy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: In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this,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nerves of Latarjet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are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selectively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cut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to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denervate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acid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pepsin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secreting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area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Highly selective vagotomy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: In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this only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parietal cells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stomach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are denervated by cutting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anterior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 and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posterior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gastric branches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particularly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nerve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Grassi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143008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NERVE SUPPLY</a:t>
            </a:r>
            <a:endParaRPr dirty="0" lang="en-US">
              <a:latin typeface="Arial Black" pitchFamily="34" charset="0"/>
            </a:endParaRPr>
          </a:p>
        </p:txBody>
      </p:sp>
      <p:pic>
        <p:nvPicPr>
          <p:cNvPr id="2097160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500034" y="1000108"/>
            <a:ext cx="8215370" cy="492922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83" name="TextBox 4"/>
          <p:cNvSpPr txBox="1"/>
          <p:nvPr/>
        </p:nvSpPr>
        <p:spPr>
          <a:xfrm>
            <a:off x="142844" y="6143644"/>
            <a:ext cx="10862078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AU" smtClean="0">
                <a:latin typeface="Arial" pitchFamily="34" charset="0"/>
                <a:cs typeface="Arial" pitchFamily="34" charset="0"/>
              </a:rPr>
              <a:t>Parasympathetic innervation of the stomach: A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, distribution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anterior vagal trunk; </a:t>
            </a:r>
            <a:endParaRPr dirty="0" lang="en-AU" smtClean="0">
              <a:latin typeface="Arial" pitchFamily="34" charset="0"/>
              <a:cs typeface="Arial" pitchFamily="34" charset="0"/>
            </a:endParaRPr>
          </a:p>
          <a:p>
            <a:r>
              <a:rPr dirty="0" lang="en-AU" smtClean="0">
                <a:latin typeface="Arial" pitchFamily="34" charset="0"/>
                <a:cs typeface="Arial" pitchFamily="34" charset="0"/>
              </a:rPr>
              <a:t>B, distribution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of the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posterior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vagal trunk</a:t>
            </a:r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5CCA9D2-28F2-4CD2-A0C3-C0785017D7F9}" type="datetime1">
              <a:rPr lang="en-US" smtClean="0"/>
              <a:t>2/7/2025</a:t>
            </a:fld>
            <a:endParaRPr lang="en-US"/>
          </a:p>
        </p:txBody>
      </p:sp>
      <p:sp>
        <p:nvSpPr>
          <p:cNvPr id="104868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33</a:t>
            </a:fld>
            <a:endParaRPr lang="en-US"/>
          </a:p>
        </p:txBody>
      </p:sp>
      <p:pic>
        <p:nvPicPr>
          <p:cNvPr id="2097161" name="Picture 2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62000" y="990600"/>
            <a:ext cx="7810528" cy="5153044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86" name="TextBox 6"/>
          <p:cNvSpPr txBox="1"/>
          <p:nvPr/>
        </p:nvSpPr>
        <p:spPr>
          <a:xfrm>
            <a:off x="533401" y="6172200"/>
            <a:ext cx="883920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AU" smtClean="0"/>
              <a:t>Lymphatic drainage of the stomach: A, lymphatic territories; B, lymph node groups draining the lymphatic territories of the stomach</a:t>
            </a:r>
            <a:endParaRPr dirty="0" lang="en-US"/>
          </a:p>
        </p:txBody>
      </p:sp>
      <p:sp>
        <p:nvSpPr>
          <p:cNvPr id="1048687" name="TextBox 5"/>
          <p:cNvSpPr txBox="1"/>
          <p:nvPr/>
        </p:nvSpPr>
        <p:spPr>
          <a:xfrm>
            <a:off x="500035" y="428604"/>
            <a:ext cx="8358246" cy="7694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4400" lang="en-AU" smtClean="0">
                <a:latin typeface="Arial Black" pitchFamily="34" charset="0"/>
              </a:rPr>
              <a:t>LYMPHATIC DRAINAGE</a:t>
            </a:r>
            <a:endParaRPr dirty="0" sz="4400" lang="en-US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p>
            <a:r>
              <a:rPr dirty="0" lang="en-AU" smtClean="0">
                <a:latin typeface="Arial Black" pitchFamily="34" charset="0"/>
              </a:rPr>
              <a:t>Applied Anatomy</a:t>
            </a:r>
            <a:endParaRPr dirty="0" lang="en-US">
              <a:latin typeface="Arial Black" pitchFamily="34" charset="0"/>
            </a:endParaRPr>
          </a:p>
        </p:txBody>
      </p:sp>
      <p:sp>
        <p:nvSpPr>
          <p:cNvPr id="1048689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6400800"/>
          </a:xfrm>
        </p:spPr>
        <p:txBody>
          <a:bodyPr>
            <a:normAutofit lnSpcReduction="10000"/>
          </a:bodyPr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Gastric ulcer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in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lesser curvature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b="1" dirty="0" lang="en-AU" smtClean="0">
                <a:latin typeface="Arial" pitchFamily="34" charset="0"/>
                <a:cs typeface="Arial" pitchFamily="34" charset="0"/>
              </a:rPr>
              <a:t>Gastric carcinoma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(gastric cancer): It commonly occurs in the region of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pyloric antrum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along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greater curvature of the stomach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.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cancer cells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reach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left supraclavicular lymph node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through the </a:t>
            </a:r>
            <a:r>
              <a:rPr b="1" dirty="0" lang="en-AU" smtClean="0">
                <a:latin typeface="Arial" pitchFamily="34" charset="0"/>
                <a:cs typeface="Arial" pitchFamily="34" charset="0"/>
              </a:rPr>
              <a:t>thoracic duct. </a:t>
            </a:r>
            <a:r>
              <a:rPr dirty="0" lang="en-AU" smtClean="0">
                <a:latin typeface="Arial" pitchFamily="34" charset="0"/>
                <a:cs typeface="Arial" pitchFamily="34" charset="0"/>
              </a:rPr>
              <a:t>It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can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rupture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 into the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pancreas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causing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back pain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which may be transmitted to 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splenic artery 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leading to “</a:t>
            </a:r>
            <a:r>
              <a:rPr b="1" dirty="0" lang="en-US" smtClean="0">
                <a:latin typeface="Arial" pitchFamily="34" charset="0"/>
                <a:cs typeface="Arial" pitchFamily="34" charset="0"/>
              </a:rPr>
              <a:t>retroperitoneal haemorrhage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”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Congenital hypertrophic pyloric stenosis</a:t>
            </a: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Pylorospasm</a:t>
            </a:r>
            <a:r>
              <a:rPr dirty="0" lang="en-US" smtClean="0">
                <a:latin typeface="Arial" pitchFamily="34" charset="0"/>
                <a:cs typeface="Arial" pitchFamily="34" charset="0"/>
              </a:rPr>
              <a:t>.</a:t>
            </a:r>
            <a:endParaRPr b="1" dirty="0" lang="en-US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b="1" dirty="0" lang="en-US" smtClean="0">
                <a:latin typeface="Arial" pitchFamily="34" charset="0"/>
                <a:cs typeface="Arial" pitchFamily="34" charset="0"/>
              </a:rPr>
              <a:t>Gastrectomy</a:t>
            </a:r>
          </a:p>
        </p:txBody>
      </p:sp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31CCE50-CBA9-40FC-A964-2E91065D5844}" type="datetime1">
              <a:rPr lang="en-US" smtClean="0"/>
              <a:t>2/7/2025</a:t>
            </a:fld>
            <a:endParaRPr lang="en-US"/>
          </a:p>
        </p:txBody>
      </p:sp>
      <p:sp>
        <p:nvSpPr>
          <p:cNvPr id="10486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0D11359-AFCA-4FE0-8450-4F885EB72F12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smtClean="0"/>
          </a:p>
        </p:txBody>
      </p:sp>
      <p:sp>
        <p:nvSpPr>
          <p:cNvPr id="10486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smtClean="0"/>
          </a:p>
        </p:txBody>
      </p:sp>
      <p:pic>
        <p:nvPicPr>
          <p:cNvPr id="2097162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0" y="-33338"/>
            <a:ext cx="9085263" cy="6815138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GROSS ANATOMY OF THE STOMACH</dc:title>
  <dc:creator>Dr. Ojewale</dc:creator>
  <cp:lastModifiedBy>Dr. Ojewale</cp:lastModifiedBy>
  <dcterms:created xsi:type="dcterms:W3CDTF">2022-02-22T09:29:08Z</dcterms:created>
  <dcterms:modified xsi:type="dcterms:W3CDTF">2025-02-07T14:16:01Z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0b65e78865744d2295b8ccf3719f80f0</vt:lpwstr>
  </property>
</Properties>
</file>