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embeddedFontLs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g238NqpP4TMt1EVPwX0z4w9WJB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GROSS ANATOMY OF THE PANCREAS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4714884"/>
            <a:ext cx="64008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BY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DR A.O OJEWALE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" name="Google Shape;86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AU"/>
              <a:t>OUTLINE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357298"/>
            <a:ext cx="8229600" cy="5214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LOCATION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SIZE &amp; SHAPE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PARTS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RELATIONS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DUCTS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BLOOD SUPPLY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APPLIED ANATOMY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285728"/>
            <a:ext cx="8229600" cy="1214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PANCREAS (Intro’)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285720" y="1285860"/>
            <a:ext cx="8401080" cy="535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pancreas 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soft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finely lobulated organ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elongated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exocrine-endocrine 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exocrine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secretes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 juice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endocrine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secretes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hormones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(insulin).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 juice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helps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digestion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lipids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carbohydrates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proteins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whereas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 hormones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maintain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glucose homeostasis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57200" y="274638"/>
            <a:ext cx="8229600" cy="1296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LOCATION OF THE PANCREAS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285720" y="1571612"/>
            <a:ext cx="8643998" cy="5000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32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lies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horizontally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on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posterior abdominal wall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epigastric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and left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hypochondriac regions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crosses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posterior abdominal wall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obliquely from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concavity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hilum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spleen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opposite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level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T12–L3 vertebrae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greater part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retroperitoneal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behind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serous floor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lesser sac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Its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left extremity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-the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lies in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lienorenal ligament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72" y="1071546"/>
            <a:ext cx="7929618" cy="471490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0" y="6000768"/>
            <a:ext cx="95012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of the pancreas: A, head lies opposite L1 and L3 vertebrae, body lies more or less in transpyloric plane (lower border of L1), and tail is at the level of T12 vertebra.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SIZE AND SHAPE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457200" y="1500174"/>
            <a:ext cx="8229600" cy="535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“J”-shaped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retort shaped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set obliquely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bowl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retort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represents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stem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retort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represents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measurements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Length: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12-15 cm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Width: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3-4 cm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Weight: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80-90 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57200" y="500042"/>
            <a:ext cx="8229600" cy="1214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PARTS (SUBDIVISIONS) AND RELATIONS</a:t>
            </a:r>
            <a:endParaRPr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457200" y="1928802"/>
            <a:ext cx="8229600" cy="464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subdivided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four parts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(with one process-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uncinate process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(with one process-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tuber omentale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HEAD OF THE PANCREAS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285720" y="1214422"/>
            <a:ext cx="3786214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enlarged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disc-shaped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end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lies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C-shaped duodenal loop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L2 vertebra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372" y="1285860"/>
            <a:ext cx="4786346" cy="478634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/>
          <p:nvPr/>
        </p:nvSpPr>
        <p:spPr>
          <a:xfrm>
            <a:off x="4572000" y="6072206"/>
            <a:ext cx="23775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Parts of the pancreas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457200" y="928670"/>
            <a:ext cx="8229600" cy="635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External Features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presents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following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external features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Three borders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lateral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Two surfaces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and posterior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One process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Uncinate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(It 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hook-like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head of the 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toward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behind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vessels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3500430" y="285728"/>
            <a:ext cx="229442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285720" y="785794"/>
            <a:ext cx="8572560" cy="5786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First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pancreaticoduodenal artery.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Third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pancreaticoduodenal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Right lateral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Second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pancreaticoduodenal arterial arcades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457200" y="714356"/>
            <a:ext cx="8401080" cy="614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from above downward to: (a)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gastroduodenal artery,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colon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(c)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mesocolon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(d)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jejunum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 (a)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IVC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(b)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renal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(c)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bile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(lying in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groove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may be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found embedded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 tissue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), and (d)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crus of diaphragm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Uncinate process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to: (a)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vessels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(b)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abdominal aorta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3929058" y="142852"/>
            <a:ext cx="222298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1285860"/>
            <a:ext cx="3929090" cy="4786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2" y="1357298"/>
            <a:ext cx="4071966" cy="46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2"/>
          <p:cNvSpPr txBox="1"/>
          <p:nvPr/>
        </p:nvSpPr>
        <p:spPr>
          <a:xfrm>
            <a:off x="1285852" y="6143644"/>
            <a:ext cx="76438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of the head of pancreas: A, anterior relations; B, posterior relations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2928926" y="5786454"/>
            <a:ext cx="279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7643834" y="5786454"/>
            <a:ext cx="3513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3714744" y="500042"/>
            <a:ext cx="250874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457200" y="274638"/>
            <a:ext cx="8229600" cy="1368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NECK OF THE PANCREAS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457200" y="1500174"/>
            <a:ext cx="8229600" cy="5143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slightly constricted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connects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2.5 cm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(1 inch)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is directed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forward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External features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Two surfaces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Anterior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Two borders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142844" y="785794"/>
            <a:ext cx="5214974" cy="5786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pylorus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commencement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portal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Upper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Lower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mesocolon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8" y="857232"/>
            <a:ext cx="3500462" cy="52864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4"/>
          <p:cNvSpPr txBox="1"/>
          <p:nvPr/>
        </p:nvSpPr>
        <p:spPr>
          <a:xfrm>
            <a:off x="5357818" y="6072206"/>
            <a:ext cx="35189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of the neck of pancreas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BODY OF THE PANCREAS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457200" y="1214422"/>
            <a:ext cx="8229600" cy="5214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elongated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extending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passes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toward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midline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a slight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backward inclination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lies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column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or just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below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transpyloric plane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911" y="4792632"/>
            <a:ext cx="3571900" cy="19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 txBox="1"/>
          <p:nvPr/>
        </p:nvSpPr>
        <p:spPr>
          <a:xfrm>
            <a:off x="2143108" y="6286520"/>
            <a:ext cx="55974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Surfaces and borders of the body of pancreas as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seen in cross section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 sz="4900">
                <a:latin typeface="Arial Black"/>
                <a:ea typeface="Arial Black"/>
                <a:cs typeface="Arial Black"/>
                <a:sym typeface="Arial Black"/>
              </a:rPr>
              <a:t>External Features</a:t>
            </a:r>
            <a:br>
              <a:rPr lang="en-AU"/>
            </a:br>
            <a:endParaRPr/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285720" y="857232"/>
            <a:ext cx="8401080" cy="5786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triangular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cross section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presents: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1.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borders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2.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surfaces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3.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One process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Tuber omentale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projects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lesser curvature of the stomach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comes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contact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lesser omentum across the lesser sac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endParaRPr/>
          </a:p>
        </p:txBody>
      </p: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214282" y="1071546"/>
            <a:ext cx="8643998" cy="578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provides the attachment to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root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mesocolon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coeliac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tuber omentale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hepatic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splenic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tuber omentale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vessels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(at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end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concave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directed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is related to:(a)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lesser sac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(b)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stomach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7" name="Google Shape;20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214282" y="1000108"/>
            <a:ext cx="8658228" cy="557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devoid of peritoneum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is related to: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aorta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origin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left kidney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suprarenal glands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splenic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usually lies in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groove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below the level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splenic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covered by peritoneum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is related to: (a)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duodenojejunal flexure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(b)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coils of jejunum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and(c)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colic flexure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3857620" y="285728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10" y="1142984"/>
            <a:ext cx="7858180" cy="478634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785786" y="6072206"/>
            <a:ext cx="8358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 of the body of pancreas: A, anterior and inferior relations; B, posterior relations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TAIL OF THE PANCREAS</a:t>
            </a:r>
            <a:endParaRPr/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457200" y="1500174"/>
            <a:ext cx="8229600" cy="5143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narrow left extremity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lies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lienorenal ligament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along with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splenic vessels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mobile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unlike the other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retroperitoneal parts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contains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largest number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islets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Langerhans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per unit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tissue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as compared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other parts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457200" y="0"/>
            <a:ext cx="8229600" cy="92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Relations</a:t>
            </a:r>
            <a:endParaRPr/>
          </a:p>
        </p:txBody>
      </p:sp>
      <p:sp>
        <p:nvSpPr>
          <p:cNvPr id="234" name="Google Shape;234;p21"/>
          <p:cNvSpPr txBox="1"/>
          <p:nvPr>
            <p:ph idx="1" type="body"/>
          </p:nvPr>
        </p:nvSpPr>
        <p:spPr>
          <a:xfrm>
            <a:off x="457200" y="785794"/>
            <a:ext cx="8329642" cy="5786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These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related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visceral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spleen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between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gastric impression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colic impression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visceral relations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different parts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shown below.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" y="3857628"/>
            <a:ext cx="6629400" cy="257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1500166" y="6357958"/>
            <a:ext cx="57864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Visceral relations of the different parts of the pancreas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DUCTS OF THE PANCREAS</a:t>
            </a:r>
            <a:endParaRPr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457200" y="1214422"/>
            <a:ext cx="8229600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ducts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usually: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accessory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drain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exocrine secretion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MAIN PANCREATIC DUCT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begins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traverses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whole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length of the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near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it turns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then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second part of 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title"/>
          </p:nvPr>
        </p:nvSpPr>
        <p:spPr>
          <a:xfrm>
            <a:off x="457200" y="0"/>
            <a:ext cx="8229600" cy="92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0" name="Google Shape;250;p23"/>
          <p:cNvSpPr txBox="1"/>
          <p:nvPr>
            <p:ph idx="1" type="body"/>
          </p:nvPr>
        </p:nvSpPr>
        <p:spPr>
          <a:xfrm>
            <a:off x="457200" y="785794"/>
            <a:ext cx="8229600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joins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bile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as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pierces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form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hepatopancreatic ampulla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(of Vater)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narrow mouth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 summit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 duodenal papilla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8-10 cm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distal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pylorus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252" name="Google Shape;2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976" y="3714752"/>
            <a:ext cx="6858048" cy="264795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3071802" y="6286520"/>
            <a:ext cx="22145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Pancreatic ducts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idx="1" type="body"/>
          </p:nvPr>
        </p:nvSpPr>
        <p:spPr>
          <a:xfrm>
            <a:off x="457200" y="1785926"/>
            <a:ext cx="8229600" cy="43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tributaries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smaller ducts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throughout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angle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its long axis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a “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herringbone pattern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.”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only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90% of cases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3786182" y="1000108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>
            <p:ph type="title"/>
          </p:nvPr>
        </p:nvSpPr>
        <p:spPr>
          <a:xfrm>
            <a:off x="457200" y="428604"/>
            <a:ext cx="8229600" cy="989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 sz="4900">
                <a:latin typeface="Arial Black"/>
                <a:ea typeface="Arial Black"/>
                <a:cs typeface="Arial Black"/>
                <a:sym typeface="Arial Black"/>
              </a:rPr>
              <a:t>ACCESSORY PANCREATIC DUCT </a:t>
            </a:r>
            <a:br>
              <a:rPr lang="en-AU"/>
            </a:br>
            <a:endParaRPr/>
          </a:p>
        </p:txBody>
      </p:sp>
      <p:sp>
        <p:nvSpPr>
          <p:cNvPr id="266" name="Google Shape;266;p25"/>
          <p:cNvSpPr txBox="1"/>
          <p:nvPr>
            <p:ph idx="1" type="body"/>
          </p:nvPr>
        </p:nvSpPr>
        <p:spPr>
          <a:xfrm>
            <a:off x="214282" y="1357298"/>
            <a:ext cx="8572560" cy="528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begins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part of the head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then runs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crossing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pancreatic duct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second part of the duodenum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 summit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minor duodenal papilla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2-3 cm 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pancreatic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6-8 cm distal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pylorus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40% of cases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communicates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crossing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it.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type="title"/>
          </p:nvPr>
        </p:nvSpPr>
        <p:spPr>
          <a:xfrm>
            <a:off x="457200" y="0"/>
            <a:ext cx="822960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ARTERIAL SUPPLY</a:t>
            </a:r>
            <a:endParaRPr/>
          </a:p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0" y="857232"/>
            <a:ext cx="8929718" cy="6000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high vascular structure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supplied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following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Splenic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is a branch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coeliac trunk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and 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source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blood supply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supply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Two branches are named. One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arises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runs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toward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arteria pancreatica magna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Another relatively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 branch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runs toward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tip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is termed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arteria caudae pancreatica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idx="1" type="body"/>
          </p:nvPr>
        </p:nvSpPr>
        <p:spPr>
          <a:xfrm>
            <a:off x="457200" y="1643050"/>
            <a:ext cx="8229600" cy="448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pancreaticoduodenal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pancreaticoduodenal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branch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gastroduodenal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pancreaticoduodenal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 The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pancreaticoduodenal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branch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3643306" y="785794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Both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pancreaticoduodenal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divide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run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duodenum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head of 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anastomoses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between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branches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pancreaticoduodenal arterial arcades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3428992" y="714356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928670"/>
            <a:ext cx="7429552" cy="50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2428860" y="6215082"/>
            <a:ext cx="33575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Arterial supply of the pancreas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VENOUS DRAINAGE</a:t>
            </a:r>
            <a:endParaRPr/>
          </a:p>
        </p:txBody>
      </p:sp>
      <p:sp>
        <p:nvSpPr>
          <p:cNvPr id="301" name="Google Shape;301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drain into (a)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portal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(b)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(c)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splenic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04" y="3214686"/>
            <a:ext cx="6072230" cy="279559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457200" y="571480"/>
            <a:ext cx="82296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NERVE SUPPLY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457200" y="2000240"/>
            <a:ext cx="8229600" cy="4125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sympathetic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parasympathetic nerve fibres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reach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along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coeliac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plexuses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sympathetic supply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vasomotor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whereas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parasympathetic supply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controls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 secretion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457200" y="500042"/>
            <a:ext cx="82296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LYMPHATIC DRAINAGE</a:t>
            </a:r>
            <a:endParaRPr/>
          </a:p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457200" y="1785926"/>
            <a:ext cx="8229600" cy="43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lymphatics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follow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drain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following groups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lymph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Pancreaticosplenic nodes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(main group).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Coeliac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mesenteric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Pyloric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7" name="Google Shape;31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3" name="Google Shape;323;p33"/>
          <p:cNvSpPr txBox="1"/>
          <p:nvPr>
            <p:ph idx="1" type="body"/>
          </p:nvPr>
        </p:nvSpPr>
        <p:spPr>
          <a:xfrm>
            <a:off x="457200" y="1285860"/>
            <a:ext cx="8229600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Carcinoma of the head of pancreas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common. It compresses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bile duct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leading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persistent obstructive jaundice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may press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portal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may involve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stomach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due to close vicinity of these structures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head of 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Acute pancreatitis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acute inflammation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occurs due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obstruction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pancreatic duct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ingestion of alcohol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viral infections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(mumps), or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trauma.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31" name="Google Shape;3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69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2021-12-19T09:11:47Z</dcterms:created>
  <dc:creator>olakunle</dc:creator>
</cp:coreProperties>
</file>