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2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CD8DF-5CC8-4ACA-8FDF-541D11395DBC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D9928-FEE4-4C5A-B7F1-308CE2B4D8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5861"/>
            <a:ext cx="7772400" cy="1428759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GROSS ANATOMY OF THE DUODENUM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BY</a:t>
            </a:r>
          </a:p>
          <a:p>
            <a:endParaRPr lang="en-AU" dirty="0">
              <a:latin typeface="Arial Black" pitchFamily="34" charset="0"/>
            </a:endParaRPr>
          </a:p>
          <a:p>
            <a:r>
              <a:rPr lang="en-AU" dirty="0">
                <a:latin typeface="Arial Black" pitchFamily="34" charset="0"/>
              </a:rPr>
              <a:t>DR OJEWALE A.O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6357982"/>
          </a:xfrm>
        </p:spPr>
        <p:txBody>
          <a:bodyPr>
            <a:normAutofit lnSpcReduction="10000"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Functions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Shape &amp; location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Parts &amp; relations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Suspensory muscle of duodenum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Duodenal recesses (fossae)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Arterial supply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Venous drainage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Nerve supply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Lymphatic drainage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lang="en-AU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Intro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85794"/>
            <a:ext cx="8715436" cy="6072206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first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shortest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widest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most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fixed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intestine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pylorus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duodenojejunal flexure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10 inches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25 cm</a:t>
            </a:r>
            <a:r>
              <a:rPr lang="en-AU" dirty="0">
                <a:latin typeface="Arial" pitchFamily="34" charset="0"/>
                <a:cs typeface="Arial" pitchFamily="34" charset="0"/>
              </a:rPr>
              <a:t>) long.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begins</a:t>
            </a:r>
            <a:r>
              <a:rPr lang="en-AU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pylorus</a:t>
            </a:r>
            <a:r>
              <a:rPr lang="en-AU" dirty="0">
                <a:latin typeface="Arial" pitchFamily="34" charset="0"/>
                <a:cs typeface="Arial" pitchFamily="34" charset="0"/>
              </a:rPr>
              <a:t> which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lies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transpyloric plane </a:t>
            </a:r>
            <a:r>
              <a:rPr lang="en-AU" dirty="0">
                <a:latin typeface="Arial" pitchFamily="34" charset="0"/>
                <a:cs typeface="Arial" pitchFamily="34" charset="0"/>
              </a:rPr>
              <a:t>about 2.5 cm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median plane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ends</a:t>
            </a:r>
            <a:r>
              <a:rPr lang="en-AU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duodenojejunal junction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which lies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2.5 cm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of the median plane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little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 the transpyloric plane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retroperitoneal </a:t>
            </a:r>
            <a:r>
              <a:rPr lang="en-AU" dirty="0">
                <a:latin typeface="Arial" pitchFamily="34" charset="0"/>
                <a:cs typeface="Arial" pitchFamily="34" charset="0"/>
              </a:rPr>
              <a:t>except the proximal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2.5 cm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is suspended above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>
                <a:latin typeface="Arial" pitchFamily="34" charset="0"/>
                <a:cs typeface="Arial" pitchFamily="34" charset="0"/>
              </a:rPr>
              <a:t>and below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omentum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main function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duodenum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digestion</a:t>
            </a:r>
            <a:r>
              <a:rPr lang="en-AU" dirty="0">
                <a:latin typeface="Arial" pitchFamily="34" charset="0"/>
                <a:cs typeface="Arial" pitchFamily="34" charset="0"/>
              </a:rPr>
              <a:t>. It receives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chyme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>
                <a:latin typeface="Arial" pitchFamily="34" charset="0"/>
                <a:cs typeface="Arial" pitchFamily="34" charset="0"/>
              </a:rPr>
              <a:t> which is mixed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bile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pancreatic enzymes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SHAPE AND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5500726" cy="5286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“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C”-shaped loop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small intestine.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concavity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duodenal loop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encloses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of pancreas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located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abdominal cavity </a:t>
            </a:r>
            <a:r>
              <a:rPr lang="en-AU" dirty="0">
                <a:latin typeface="Arial" pitchFamily="34" charset="0"/>
                <a:cs typeface="Arial" pitchFamily="34" charset="0"/>
              </a:rPr>
              <a:t>above the level of the umbilicus opposite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L1, L2, L3 vertebrae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214422"/>
            <a:ext cx="307183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86446" y="6000768"/>
            <a:ext cx="2852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Location of the duodenum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PARTS AND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142984"/>
            <a:ext cx="5715040" cy="5715016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It is measured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25 cm long</a:t>
            </a:r>
            <a:r>
              <a:rPr lang="en-AU" dirty="0">
                <a:latin typeface="Arial" pitchFamily="34" charset="0"/>
                <a:cs typeface="Arial" pitchFamily="34" charset="0"/>
              </a:rPr>
              <a:t>, it is also  divided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 parts </a:t>
            </a:r>
            <a:r>
              <a:rPr lang="en-AU" dirty="0">
                <a:latin typeface="Arial" pitchFamily="34" charset="0"/>
                <a:cs typeface="Arial" pitchFamily="34" charset="0"/>
              </a:rPr>
              <a:t>namely: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(first) part, 5 cm (2 inches) long.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Descending</a:t>
            </a:r>
            <a:r>
              <a:rPr lang="en-AU" dirty="0">
                <a:latin typeface="Arial" pitchFamily="34" charset="0"/>
                <a:cs typeface="Arial" pitchFamily="34" charset="0"/>
              </a:rPr>
              <a:t> (second) part, 7.5 cm (3 inches) long.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Horizontal </a:t>
            </a:r>
            <a:r>
              <a:rPr lang="en-AU" dirty="0">
                <a:latin typeface="Arial" pitchFamily="34" charset="0"/>
                <a:cs typeface="Arial" pitchFamily="34" charset="0"/>
              </a:rPr>
              <a:t>(third) part, 10 cm (4 inches) long.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Ascending </a:t>
            </a:r>
            <a:r>
              <a:rPr lang="en-AU" dirty="0">
                <a:latin typeface="Arial" pitchFamily="34" charset="0"/>
                <a:cs typeface="Arial" pitchFamily="34" charset="0"/>
              </a:rPr>
              <a:t>(fourth) part, 2.5 cm (1 inch) long.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1071546"/>
            <a:ext cx="3286116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72198" y="6211669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Parts of the duodenum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 pitchFamily="34" charset="0"/>
              </a:rPr>
              <a:t>FIRST PART OF THE DUODENUM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786346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Course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begins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pylorus</a:t>
            </a:r>
            <a:r>
              <a:rPr lang="en-AU" dirty="0">
                <a:latin typeface="Arial" pitchFamily="34" charset="0"/>
                <a:cs typeface="Arial" pitchFamily="34" charset="0"/>
              </a:rPr>
              <a:t>, passes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upward, backward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side of the vertebral column </a:t>
            </a:r>
            <a:r>
              <a:rPr lang="en-AU" dirty="0">
                <a:latin typeface="Arial" pitchFamily="34" charset="0"/>
                <a:cs typeface="Arial" pitchFamily="34" charset="0"/>
              </a:rPr>
              <a:t>to reach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 of the gallbladder</a:t>
            </a:r>
            <a:r>
              <a:rPr lang="en-AU" dirty="0">
                <a:latin typeface="Arial" pitchFamily="34" charset="0"/>
                <a:cs typeface="Arial" pitchFamily="34" charset="0"/>
              </a:rPr>
              <a:t>, where it curves downward (superior duodenal flexure) to become continuous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second part of the duodenum.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Features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5143536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develops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foregut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only partly </a:t>
            </a:r>
            <a:r>
              <a:rPr lang="en-AU" dirty="0">
                <a:latin typeface="Arial" pitchFamily="34" charset="0"/>
                <a:cs typeface="Arial" pitchFamily="34" charset="0"/>
              </a:rPr>
              <a:t>retroperitoneal.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freely mobile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distensible.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has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 circular folds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AU" dirty="0">
                <a:latin typeface="Arial" pitchFamily="34" charset="0"/>
                <a:cs typeface="Arial" pitchFamily="34" charset="0"/>
              </a:rPr>
              <a:t>of its initial 2.5 cm.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site for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duodenal ulcer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supplied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trunk/artery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RELATIONS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643998" cy="6072206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Quadrate lobe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liver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gallbladder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Posteriorly: Portal vein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gastroduodenal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 bile duct </a:t>
            </a:r>
            <a:r>
              <a:rPr lang="en-AU" dirty="0">
                <a:latin typeface="Arial" pitchFamily="34" charset="0"/>
                <a:cs typeface="Arial" pitchFamily="34" charset="0"/>
              </a:rPr>
              <a:t>(CBD).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Epiploic foramen </a:t>
            </a:r>
            <a:r>
              <a:rPr lang="en-AU" dirty="0">
                <a:latin typeface="Arial" pitchFamily="34" charset="0"/>
                <a:cs typeface="Arial" pitchFamily="34" charset="0"/>
              </a:rPr>
              <a:t>being separated from it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portal vein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bile duct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pancreas.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928670"/>
            <a:ext cx="3786214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142984"/>
            <a:ext cx="414340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1472" y="5857892"/>
            <a:ext cx="857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Relations of the first part of the duodenum: A, anterior relations as seen in sectional view; B, posterior relations as seen from anterior aspect (IVC = inferior vena cava)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 pitchFamily="34" charset="0"/>
              </a:rPr>
              <a:t>SECOND PART OF THE DUODENUM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Course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It begins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duodenal flexure</a:t>
            </a:r>
            <a:r>
              <a:rPr lang="en-AU" dirty="0">
                <a:latin typeface="Arial" pitchFamily="34" charset="0"/>
                <a:cs typeface="Arial" pitchFamily="34" charset="0"/>
              </a:rPr>
              <a:t>, passes downward, in front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kidney</a:t>
            </a:r>
            <a:r>
              <a:rPr lang="en-AU" dirty="0">
                <a:latin typeface="Arial" pitchFamily="34" charset="0"/>
                <a:cs typeface="Arial" pitchFamily="34" charset="0"/>
              </a:rPr>
              <a:t>, till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border of the L3 vertebra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it curves toward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duodenal flexure</a:t>
            </a:r>
            <a:r>
              <a:rPr lang="en-AU" dirty="0">
                <a:latin typeface="Arial" pitchFamily="34" charset="0"/>
                <a:cs typeface="Arial" pitchFamily="34" charset="0"/>
              </a:rPr>
              <a:t>) to become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continuous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third part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917596"/>
          </a:xfrm>
        </p:spPr>
        <p:txBody>
          <a:bodyPr>
            <a:normAutofit fontScale="90000"/>
          </a:bodyPr>
          <a:lstStyle/>
          <a:p>
            <a:r>
              <a:rPr lang="en-AU" sz="4900" dirty="0">
                <a:latin typeface="Arial Black" pitchFamily="34" charset="0"/>
              </a:rPr>
              <a:t>Features</a:t>
            </a:r>
            <a:br>
              <a:rPr lang="en-A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develops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foregut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midgut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receives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bile duct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chief </a:t>
            </a:r>
            <a:r>
              <a:rPr lang="en-AU" dirty="0">
                <a:latin typeface="Arial" pitchFamily="34" charset="0"/>
                <a:cs typeface="Arial" pitchFamily="34" charset="0"/>
              </a:rPr>
              <a:t>(main)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accessory</a:t>
            </a:r>
            <a:r>
              <a:rPr lang="en-AU" dirty="0">
                <a:latin typeface="Arial" pitchFamily="34" charset="0"/>
                <a:cs typeface="Arial" pitchFamily="34" charset="0"/>
              </a:rPr>
              <a:t> pancreatic ducts.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only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intestine</a:t>
            </a:r>
            <a:r>
              <a:rPr lang="en-AU" dirty="0">
                <a:latin typeface="Arial" pitchFamily="34" charset="0"/>
                <a:cs typeface="Arial" pitchFamily="34" charset="0"/>
              </a:rPr>
              <a:t> supplied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double rows of vasa recta</a:t>
            </a:r>
            <a:r>
              <a:rPr lang="en-AU" dirty="0">
                <a:latin typeface="Arial" pitchFamily="34" charset="0"/>
                <a:cs typeface="Arial" pitchFamily="34" charset="0"/>
              </a:rPr>
              <a:t>, arising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pancreaticoduodenal arterial arcades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RELATIONS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4286280" cy="6000768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Gallbladder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lobe of the liver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colon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>
                <a:latin typeface="Arial" pitchFamily="34" charset="0"/>
                <a:cs typeface="Arial" pitchFamily="34" charset="0"/>
              </a:rPr>
              <a:t>(commencement),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coils of the small intestine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428736"/>
            <a:ext cx="4286280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357686" y="5786454"/>
            <a:ext cx="47863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Anterior relations of the second part of the duodenum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00042"/>
            <a:ext cx="5572164" cy="6143668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kidney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renal 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edge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vena cava </a:t>
            </a:r>
            <a:r>
              <a:rPr lang="en-AU" dirty="0">
                <a:latin typeface="Arial" pitchFamily="34" charset="0"/>
                <a:cs typeface="Arial" pitchFamily="34" charset="0"/>
              </a:rPr>
              <a:t>(IVC),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psoas major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pancreas.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: From below upward,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ascending colon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colic flexure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lobe of the liver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1142984"/>
            <a:ext cx="3000396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572132" y="5929330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Posterior relations of the second part of the duodenum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THIRD PART OF THE DUODENUM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Course</a:t>
            </a:r>
          </a:p>
          <a:p>
            <a:pPr>
              <a:buNone/>
            </a:pP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runs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horizontally to the left</a:t>
            </a:r>
            <a:r>
              <a:rPr lang="en-AU" dirty="0">
                <a:latin typeface="Arial" pitchFamily="34" charset="0"/>
                <a:cs typeface="Arial" pitchFamily="34" charset="0"/>
              </a:rPr>
              <a:t>, across the lower part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of L3 vertebra</a:t>
            </a:r>
            <a:r>
              <a:rPr lang="en-AU" dirty="0">
                <a:latin typeface="Arial" pitchFamily="34" charset="0"/>
                <a:cs typeface="Arial" pitchFamily="34" charset="0"/>
              </a:rPr>
              <a:t>, crosses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 of IVC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then takes a smooth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curve upward </a:t>
            </a:r>
            <a:r>
              <a:rPr lang="en-AU" dirty="0">
                <a:latin typeface="Arial" pitchFamily="34" charset="0"/>
                <a:cs typeface="Arial" pitchFamily="34" charset="0"/>
              </a:rPr>
              <a:t>to become continuous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ascending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duodenum.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RELATIONS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14356"/>
            <a:ext cx="4214842" cy="6143644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Root</a:t>
            </a:r>
            <a:r>
              <a:rPr lang="en-US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mesentery, superior mesenteric vessels</a:t>
            </a:r>
            <a:r>
              <a:rPr lang="en-US" dirty="0">
                <a:latin typeface="Arial" pitchFamily="34" charset="0"/>
                <a:cs typeface="Arial" pitchFamily="34" charset="0"/>
              </a:rPr>
              <a:t>, and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coils</a:t>
            </a:r>
            <a:r>
              <a:rPr lang="en-US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jejunum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Right psoas major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right ureter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IVC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abdominal aorta</a:t>
            </a:r>
            <a:r>
              <a:rPr lang="en-US" dirty="0">
                <a:latin typeface="Arial" pitchFamily="34" charset="0"/>
                <a:cs typeface="Arial" pitchFamily="34" charset="0"/>
              </a:rPr>
              <a:t>, and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right gonadal vessels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071546"/>
            <a:ext cx="471487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357687" y="6000768"/>
            <a:ext cx="457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Anterior and posterior relations of the third part of the duodenum.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of the pancreas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uncinate process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Coils of the jejunum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FOURTH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Course</a:t>
            </a:r>
          </a:p>
          <a:p>
            <a:pPr algn="just">
              <a:buFont typeface="Wingdings" pitchFamily="2" charset="2"/>
              <a:buChar char="§"/>
            </a:pP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runs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 </a:t>
            </a:r>
            <a:r>
              <a:rPr lang="en-AU" dirty="0">
                <a:latin typeface="Arial" pitchFamily="34" charset="0"/>
                <a:cs typeface="Arial" pitchFamily="34" charset="0"/>
              </a:rPr>
              <a:t>on, 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immediately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abdominal aorta</a:t>
            </a:r>
            <a:r>
              <a:rPr lang="en-AU" dirty="0">
                <a:latin typeface="Arial" pitchFamily="34" charset="0"/>
                <a:cs typeface="Arial" pitchFamily="34" charset="0"/>
              </a:rPr>
              <a:t>,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end of the third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border of the L2 </a:t>
            </a:r>
            <a:r>
              <a:rPr lang="en-AU" dirty="0">
                <a:latin typeface="Arial" pitchFamily="34" charset="0"/>
                <a:cs typeface="Arial" pitchFamily="34" charset="0"/>
              </a:rPr>
              <a:t>vertebra where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turns forward </a:t>
            </a:r>
            <a:r>
              <a:rPr lang="en-AU" dirty="0">
                <a:latin typeface="Arial" pitchFamily="34" charset="0"/>
                <a:cs typeface="Arial" pitchFamily="34" charset="0"/>
              </a:rPr>
              <a:t>(ventrally) to become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continuous with the jejunum</a:t>
            </a:r>
            <a:r>
              <a:rPr lang="en-AU" dirty="0">
                <a:latin typeface="Arial" pitchFamily="34" charset="0"/>
                <a:cs typeface="Arial" pitchFamily="34" charset="0"/>
              </a:rPr>
              <a:t> (duodenojejunal flexure).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RELATIONS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4471990" cy="5857916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psoas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major muscle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sympathetic chain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gonadal 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mesenteric vein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000108"/>
            <a:ext cx="357190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429256" y="5715016"/>
            <a:ext cx="335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Anterior relations of the fourth part of the duodenum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4757742" cy="4911741"/>
          </a:xfrm>
        </p:spPr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On to the left: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kidney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ureter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On to the right: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1285860"/>
            <a:ext cx="3857620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286380" y="5715016"/>
            <a:ext cx="562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Posterior relations of the fourth part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 of the duodenum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715436" cy="122553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SUSPENSORY MUSCLE OF DUODENUM </a:t>
            </a:r>
            <a:br>
              <a:rPr lang="en-AU" dirty="0">
                <a:latin typeface="Arial Black" pitchFamily="34" charset="0"/>
              </a:rPr>
            </a:b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4422"/>
            <a:ext cx="8929718" cy="5643578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fibromuscular band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suspends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crus of the diaphragm</a:t>
            </a:r>
            <a:r>
              <a:rPr lang="en-AU" dirty="0">
                <a:latin typeface="Arial" pitchFamily="34" charset="0"/>
                <a:cs typeface="Arial" pitchFamily="34" charset="0"/>
              </a:rPr>
              <a:t>.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attached</a:t>
            </a:r>
            <a:r>
              <a:rPr lang="en-AU" dirty="0">
                <a:latin typeface="Arial" pitchFamily="34" charset="0"/>
                <a:cs typeface="Arial" pitchFamily="34" charset="0"/>
              </a:rPr>
              <a:t> on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crus of the diaphragm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attached on to the.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posterior surface of the duodenojejunal flexure. </a:t>
            </a:r>
            <a:r>
              <a:rPr lang="en-AU" dirty="0">
                <a:latin typeface="Arial" pitchFamily="34" charset="0"/>
                <a:cs typeface="Arial" pitchFamily="34" charset="0"/>
              </a:rPr>
              <a:t>This band contains:(a)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Striated muscle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part, </a:t>
            </a:r>
            <a:r>
              <a:rPr lang="en-AU" dirty="0">
                <a:latin typeface="Arial" pitchFamily="34" charset="0"/>
                <a:cs typeface="Arial" pitchFamily="34" charset="0"/>
              </a:rPr>
              <a:t>(b)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Elastic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part</a:t>
            </a:r>
            <a:r>
              <a:rPr lang="en-AU" dirty="0">
                <a:latin typeface="Arial" pitchFamily="34" charset="0"/>
                <a:cs typeface="Arial" pitchFamily="34" charset="0"/>
              </a:rPr>
              <a:t>. (c)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Non-striated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143504" y="928670"/>
            <a:ext cx="3857652" cy="4572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143504" y="571501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Suspensory ligament of Treitz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282" y="571480"/>
            <a:ext cx="492922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ligament of Treitz fixes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prevents it from being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dragged down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weight of loops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small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intestine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It also serves as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important landmark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radiological diagnosis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incomplete rotation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small intestine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 Black" pitchFamily="34" charset="0"/>
              </a:rPr>
              <a:t>DUODENAL RECESSES (FOSSAE)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 the region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duodenojejunal junction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pocket </a:t>
            </a:r>
            <a:r>
              <a:rPr lang="en-AU" dirty="0">
                <a:latin typeface="Arial" pitchFamily="34" charset="0"/>
                <a:cs typeface="Arial" pitchFamily="34" charset="0"/>
              </a:rPr>
              <a:t>like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pouches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>
                <a:latin typeface="Arial" pitchFamily="34" charset="0"/>
                <a:cs typeface="Arial" pitchFamily="34" charset="0"/>
              </a:rPr>
              <a:t>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duodenal recesses </a:t>
            </a:r>
            <a:r>
              <a:rPr lang="en-AU" dirty="0">
                <a:latin typeface="Arial" pitchFamily="34" charset="0"/>
                <a:cs typeface="Arial" pitchFamily="34" charset="0"/>
              </a:rPr>
              <a:t>do occur.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571876"/>
            <a:ext cx="5572164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57356" y="6429396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Duodenal recesses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57214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are sometimes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responsible</a:t>
            </a:r>
            <a:r>
              <a:rPr lang="en-AU" dirty="0">
                <a:latin typeface="Arial" pitchFamily="34" charset="0"/>
                <a:cs typeface="Arial" pitchFamily="34" charset="0"/>
              </a:rPr>
              <a:t> for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strangulated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retroperitoneal hernia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important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peritoneal recesses </a:t>
            </a:r>
            <a:r>
              <a:rPr lang="en-AU" dirty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dirty="0">
                <a:latin typeface="Arial" pitchFamily="34" charset="0"/>
                <a:cs typeface="Arial" pitchFamily="34" charset="0"/>
              </a:rPr>
              <a:t>are as follows: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duodenal recess</a:t>
            </a:r>
            <a:r>
              <a:rPr lang="en-AU" dirty="0">
                <a:latin typeface="Arial" pitchFamily="34" charset="0"/>
                <a:cs typeface="Arial" pitchFamily="34" charset="0"/>
              </a:rPr>
              <a:t>: It lies to the left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fourth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, 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duodenojejunal peritoneal fold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orifice</a:t>
            </a:r>
            <a:r>
              <a:rPr lang="en-AU" dirty="0">
                <a:latin typeface="Arial" pitchFamily="34" charset="0"/>
                <a:cs typeface="Arial" pitchFamily="34" charset="0"/>
              </a:rPr>
              <a:t> looking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86050" y="571480"/>
            <a:ext cx="26432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329642" cy="5857916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 duodenal recess</a:t>
            </a:r>
            <a:r>
              <a:rPr lang="en-AU" dirty="0">
                <a:latin typeface="Arial" pitchFamily="34" charset="0"/>
                <a:cs typeface="Arial" pitchFamily="34" charset="0"/>
              </a:rPr>
              <a:t>: It lies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little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recess behind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duodenojejunal peritoneal fold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orifice</a:t>
            </a:r>
            <a:r>
              <a:rPr lang="en-AU" dirty="0">
                <a:latin typeface="Arial" pitchFamily="34" charset="0"/>
                <a:cs typeface="Arial" pitchFamily="34" charset="0"/>
              </a:rPr>
              <a:t> looking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Paraduodenal recess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lowest</a:t>
            </a:r>
            <a:r>
              <a:rPr lang="en-AU" dirty="0">
                <a:latin typeface="Arial" pitchFamily="34" charset="0"/>
                <a:cs typeface="Arial" pitchFamily="34" charset="0"/>
              </a:rPr>
              <a:t> when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present</a:t>
            </a:r>
            <a:r>
              <a:rPr lang="en-AU" dirty="0">
                <a:latin typeface="Arial" pitchFamily="34" charset="0"/>
                <a:cs typeface="Arial" pitchFamily="34" charset="0"/>
              </a:rPr>
              <a:t>. It lies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fourth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paraduodenal fold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orifice</a:t>
            </a:r>
            <a:r>
              <a:rPr lang="en-AU" dirty="0">
                <a:latin typeface="Arial" pitchFamily="34" charset="0"/>
                <a:cs typeface="Arial" pitchFamily="34" charset="0"/>
              </a:rPr>
              <a:t> facing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medially.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paraduodenal fold </a:t>
            </a:r>
            <a:r>
              <a:rPr lang="en-AU" dirty="0">
                <a:latin typeface="Arial" pitchFamily="34" charset="0"/>
                <a:cs typeface="Arial" pitchFamily="34" charset="0"/>
              </a:rPr>
              <a:t>contains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mesenteric vein </a:t>
            </a:r>
            <a:r>
              <a:rPr lang="en-AU" dirty="0">
                <a:latin typeface="Arial" pitchFamily="34" charset="0"/>
                <a:cs typeface="Arial" pitchFamily="34" charset="0"/>
              </a:rPr>
              <a:t>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free border edge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Retroduodenal recess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largest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duodenal recesses</a:t>
            </a:r>
            <a:r>
              <a:rPr lang="en-AU" dirty="0">
                <a:latin typeface="Arial" pitchFamily="34" charset="0"/>
                <a:cs typeface="Arial" pitchFamily="34" charset="0"/>
              </a:rPr>
              <a:t>, but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rarely present</a:t>
            </a:r>
            <a:r>
              <a:rPr lang="en-AU" dirty="0">
                <a:latin typeface="Arial" pitchFamily="34" charset="0"/>
                <a:cs typeface="Arial" pitchFamily="34" charset="0"/>
              </a:rPr>
              <a:t>. If present, it lies 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fourth parts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.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orifice</a:t>
            </a:r>
            <a:r>
              <a:rPr lang="en-AU" dirty="0">
                <a:latin typeface="Arial" pitchFamily="34" charset="0"/>
                <a:cs typeface="Arial" pitchFamily="34" charset="0"/>
              </a:rPr>
              <a:t> looks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ARTERIAL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286412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 </a:t>
            </a:r>
            <a:r>
              <a:rPr lang="en-AU" dirty="0">
                <a:latin typeface="Arial" pitchFamily="34" charset="0"/>
                <a:cs typeface="Arial" pitchFamily="34" charset="0"/>
              </a:rPr>
              <a:t>develops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foregut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midgut</a:t>
            </a:r>
            <a:r>
              <a:rPr lang="en-AU" dirty="0">
                <a:latin typeface="Arial" pitchFamily="34" charset="0"/>
                <a:cs typeface="Arial" pitchFamily="34" charset="0"/>
              </a:rPr>
              <a:t>. Therefore, the arterial supply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is derived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 trunk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foregut</a:t>
            </a:r>
            <a:r>
              <a:rPr lang="en-AU" dirty="0">
                <a:latin typeface="Arial" pitchFamily="34" charset="0"/>
                <a:cs typeface="Arial" pitchFamily="34" charset="0"/>
              </a:rPr>
              <a:t>) and that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midgut</a:t>
            </a:r>
            <a:r>
              <a:rPr lang="en-AU" dirty="0">
                <a:latin typeface="Arial" pitchFamily="34" charset="0"/>
                <a:cs typeface="Arial" pitchFamily="34" charset="0"/>
              </a:rPr>
              <a:t>). The different arteries of the duodenum derived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directly</a:t>
            </a:r>
            <a:r>
              <a:rPr lang="en-AU" dirty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indirectly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above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arteries </a:t>
            </a:r>
            <a:r>
              <a:rPr lang="en-AU" dirty="0">
                <a:latin typeface="Arial" pitchFamily="34" charset="0"/>
                <a:cs typeface="Arial" pitchFamily="34" charset="0"/>
              </a:rPr>
              <a:t>are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357166"/>
            <a:ext cx="8572560" cy="6286544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pancreaticoduodenal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 branch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gastroduodenal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(a branch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hepatic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 trunk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 pancreaticoduodenal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 branch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Each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pancreaticoduodenal arteries </a:t>
            </a:r>
            <a:r>
              <a:rPr lang="en-AU" dirty="0">
                <a:latin typeface="Arial" pitchFamily="34" charset="0"/>
                <a:cs typeface="Arial" pitchFamily="34" charset="0"/>
              </a:rPr>
              <a:t>divide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then anastomose to form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pancreaticoduodenal arterial arcades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Each anastomotic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arterial arcade </a:t>
            </a:r>
            <a:r>
              <a:rPr lang="en-AU" dirty="0">
                <a:latin typeface="Arial" pitchFamily="34" charset="0"/>
                <a:cs typeface="Arial" pitchFamily="34" charset="0"/>
              </a:rPr>
              <a:t>gives off a row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vasa recta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vasa recta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arcade </a:t>
            </a:r>
            <a:r>
              <a:rPr lang="en-AU" dirty="0">
                <a:latin typeface="Arial" pitchFamily="34" charset="0"/>
                <a:cs typeface="Arial" pitchFamily="34" charset="0"/>
              </a:rPr>
              <a:t>supply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those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arcade </a:t>
            </a:r>
            <a:r>
              <a:rPr lang="en-AU" dirty="0">
                <a:latin typeface="Arial" pitchFamily="34" charset="0"/>
                <a:cs typeface="Arial" pitchFamily="34" charset="0"/>
              </a:rPr>
              <a:t>supply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rows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vasa recta </a:t>
            </a:r>
            <a:r>
              <a:rPr lang="en-AU" dirty="0">
                <a:latin typeface="Arial" pitchFamily="34" charset="0"/>
                <a:cs typeface="Arial" pitchFamily="34" charset="0"/>
              </a:rPr>
              <a:t>lies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pancreas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0"/>
            <a:ext cx="8643998" cy="664371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Supraduodenal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 branch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gastroduodenal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 trunk </a:t>
            </a:r>
            <a:r>
              <a:rPr lang="en-AU" dirty="0">
                <a:latin typeface="Arial" pitchFamily="34" charset="0"/>
                <a:cs typeface="Arial" pitchFamily="34" charset="0"/>
              </a:rPr>
              <a:t>and supplies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anterosuperior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first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Artery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first jejunal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: It supplies branches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fourth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Retroduodenal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gastroduodenal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Branches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right gastroepiploic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11430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VENOUS DRAINAGE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197361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veins</a:t>
            </a:r>
            <a:r>
              <a:rPr lang="en-AU" dirty="0">
                <a:latin typeface="Arial" pitchFamily="34" charset="0"/>
                <a:cs typeface="Arial" pitchFamily="34" charset="0"/>
              </a:rPr>
              <a:t> correspond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arteries </a:t>
            </a:r>
            <a:r>
              <a:rPr lang="en-AU" dirty="0">
                <a:latin typeface="Arial" pitchFamily="34" charset="0"/>
                <a:cs typeface="Arial" pitchFamily="34" charset="0"/>
              </a:rPr>
              <a:t>but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superficial </a:t>
            </a:r>
            <a:r>
              <a:rPr lang="en-AU" dirty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them</a:t>
            </a:r>
            <a:r>
              <a:rPr lang="en-AU" dirty="0">
                <a:latin typeface="Arial" pitchFamily="34" charset="0"/>
                <a:cs typeface="Arial" pitchFamily="34" charset="0"/>
              </a:rPr>
              <a:t>. They drain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splenic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portal veins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2858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NERVE SUPPLY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sympathetic nerves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are derived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T6-T9 segments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spinal cord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parasympathetic nerves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both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vagi</a:t>
            </a:r>
            <a:r>
              <a:rPr lang="en-AU" dirty="0">
                <a:latin typeface="Arial" pitchFamily="34" charset="0"/>
                <a:cs typeface="Arial" pitchFamily="34" charset="0"/>
              </a:rPr>
              <a:t> through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 plexuses</a:t>
            </a:r>
            <a:r>
              <a:rPr lang="en-AU" dirty="0">
                <a:latin typeface="Arial" pitchFamily="34" charset="0"/>
                <a:cs typeface="Arial" pitchFamily="34" charset="0"/>
              </a:rPr>
              <a:t>. From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plexuses</a:t>
            </a:r>
            <a:r>
              <a:rPr lang="en-AU" dirty="0">
                <a:latin typeface="Arial" pitchFamily="34" charset="0"/>
                <a:cs typeface="Arial" pitchFamily="34" charset="0"/>
              </a:rPr>
              <a:t>, fibres run along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to supply it.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LYMPHATIC DRAINAGE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lymph vessels </a:t>
            </a:r>
            <a:r>
              <a:rPr lang="en-AU" dirty="0">
                <a:latin typeface="Arial" pitchFamily="34" charset="0"/>
                <a:cs typeface="Arial" pitchFamily="34" charset="0"/>
              </a:rPr>
              <a:t>follow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arteries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most of them drain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pancreaticoduodenal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nodes</a:t>
            </a:r>
            <a:r>
              <a:rPr lang="en-AU" dirty="0">
                <a:latin typeface="Arial" pitchFamily="34" charset="0"/>
                <a:cs typeface="Arial" pitchFamily="34" charset="0"/>
              </a:rPr>
              <a:t> lying along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 curve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(junction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pancreas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). The efferents drain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coeliac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mesenteric lymph nodes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ultimately via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intestinal lymph trunk </a:t>
            </a:r>
            <a:r>
              <a:rPr lang="en-AU" dirty="0">
                <a:latin typeface="Arial" pitchFamily="34" charset="0"/>
                <a:cs typeface="Arial" pitchFamily="34" charset="0"/>
              </a:rPr>
              <a:t>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cisterna chyli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85725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4422"/>
            <a:ext cx="8929718" cy="5643578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Duodenal ulcer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duodenal ulcers </a:t>
            </a:r>
            <a:r>
              <a:rPr lang="en-AU" dirty="0">
                <a:latin typeface="Arial" pitchFamily="34" charset="0"/>
                <a:cs typeface="Arial" pitchFamily="34" charset="0"/>
              </a:rPr>
              <a:t>commonly occur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first part of the duodenum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 is supplied by a series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end arteries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receives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acidic chyme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Duodenal injuries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second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most protected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external injury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 lies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paravertebral gutter-a deeper plane </a:t>
            </a:r>
            <a:r>
              <a:rPr lang="en-AU" dirty="0">
                <a:latin typeface="Arial" pitchFamily="34" charset="0"/>
                <a:cs typeface="Arial" pitchFamily="34" charset="0"/>
              </a:rPr>
              <a:t>than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forward curvature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vertebral column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14356"/>
            <a:ext cx="8229600" cy="5929354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third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most vulnerable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external injury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gets crushed </a:t>
            </a:r>
            <a:r>
              <a:rPr lang="en-AU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vertebral column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abdominal wall </a:t>
            </a:r>
            <a:r>
              <a:rPr lang="en-AU" dirty="0">
                <a:latin typeface="Arial" pitchFamily="34" charset="0"/>
                <a:cs typeface="Arial" pitchFamily="34" charset="0"/>
              </a:rPr>
              <a:t>following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violence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Duodenal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diverticula</a:t>
            </a:r>
            <a:r>
              <a:rPr lang="en-AU" dirty="0">
                <a:latin typeface="Arial" pitchFamily="34" charset="0"/>
                <a:cs typeface="Arial" pitchFamily="34" charset="0"/>
              </a:rPr>
              <a:t>: They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congenital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almost always occur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wall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second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>
                <a:latin typeface="Arial" pitchFamily="34" charset="0"/>
                <a:cs typeface="Arial" pitchFamily="34" charset="0"/>
              </a:rPr>
              <a:t>. They are thought to be caused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herniation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duodenal lining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gaps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 coat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arteries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ducts</a:t>
            </a:r>
            <a:r>
              <a:rPr lang="en-AU" dirty="0">
                <a:latin typeface="Arial" pitchFamily="34" charset="0"/>
                <a:cs typeface="Arial" pitchFamily="34" charset="0"/>
              </a:rPr>
              <a:t> pierce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wall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71868" y="0"/>
            <a:ext cx="32147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357850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Referred pain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pain arising from duodenum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poorly localized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referred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central epigastrium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0EA2-A510-4FF7-943C-43FF532FB68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3536</Words>
  <Application>Microsoft Office PowerPoint</Application>
  <PresentationFormat>On-screen Show (4:3)</PresentationFormat>
  <Paragraphs>339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GROSS ANATOMY OF THE DUODENUM</vt:lpstr>
      <vt:lpstr>Outline</vt:lpstr>
      <vt:lpstr>Intro</vt:lpstr>
      <vt:lpstr>PowerPoint Presentation</vt:lpstr>
      <vt:lpstr>SHAPE AND LOCATION</vt:lpstr>
      <vt:lpstr>PARTS AND RELATIONS</vt:lpstr>
      <vt:lpstr>FIRST PART OF THE DUODENUM</vt:lpstr>
      <vt:lpstr>Features</vt:lpstr>
      <vt:lpstr>RELATIONS </vt:lpstr>
      <vt:lpstr>PowerPoint Presentation</vt:lpstr>
      <vt:lpstr>SECOND PART OF THE DUODENUM</vt:lpstr>
      <vt:lpstr>Features </vt:lpstr>
      <vt:lpstr>RELATIONS</vt:lpstr>
      <vt:lpstr>PowerPoint Presentation</vt:lpstr>
      <vt:lpstr>THIRD PART OF THE DUODENUM</vt:lpstr>
      <vt:lpstr>RELATIONS</vt:lpstr>
      <vt:lpstr>Cont’d</vt:lpstr>
      <vt:lpstr>FOURTH PART</vt:lpstr>
      <vt:lpstr>RELATIONS</vt:lpstr>
      <vt:lpstr>PowerPoint Presentation</vt:lpstr>
      <vt:lpstr>SUSPENSORY MUSCLE OF DUODENUM  </vt:lpstr>
      <vt:lpstr>PowerPoint Presentation</vt:lpstr>
      <vt:lpstr>DUODENAL RECESSES (FOSSAE)</vt:lpstr>
      <vt:lpstr>PowerPoint Presentation</vt:lpstr>
      <vt:lpstr>PowerPoint Presentation</vt:lpstr>
      <vt:lpstr>PowerPoint Presentation</vt:lpstr>
      <vt:lpstr>ARTERIAL SUPPLY</vt:lpstr>
      <vt:lpstr>PowerPoint Presentation</vt:lpstr>
      <vt:lpstr>PowerPoint Presentation</vt:lpstr>
      <vt:lpstr>PowerPoint Presentation</vt:lpstr>
      <vt:lpstr>VENOUS DRAINAGE</vt:lpstr>
      <vt:lpstr>NERVE SUPPLY</vt:lpstr>
      <vt:lpstr>LYMPHATIC DRAINAGE</vt:lpstr>
      <vt:lpstr>APPLIED ANATOMY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GROSS ANATOMY OF THE DUODENUM</dc:title>
  <dc:creator>olakunle</dc:creator>
  <cp:lastModifiedBy>Oluwajoba Gideon-Dada</cp:lastModifiedBy>
  <cp:revision>10</cp:revision>
  <dcterms:created xsi:type="dcterms:W3CDTF">2021-12-19T09:11:47Z</dcterms:created>
  <dcterms:modified xsi:type="dcterms:W3CDTF">2023-06-29T15:27:36Z</dcterms:modified>
</cp:coreProperties>
</file>