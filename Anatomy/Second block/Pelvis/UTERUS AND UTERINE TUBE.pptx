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j5iNBlaJl3ByU1Nbdz7wre/pFxL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3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5"/>
          <p:cNvSpPr/>
          <p:nvPr>
            <p:ph idx="2" type="pic"/>
          </p:nvPr>
        </p:nvSpPr>
        <p:spPr>
          <a:xfrm>
            <a:off x="5183188" y="987425"/>
            <a:ext cx="6172200" cy="4873625"/>
          </a:xfrm>
          <a:prstGeom prst="rect">
            <a:avLst/>
          </a:prstGeom>
          <a:noFill/>
          <a:ln>
            <a:noFill/>
          </a:ln>
        </p:spPr>
      </p:sp>
      <p:sp>
        <p:nvSpPr>
          <p:cNvPr id="64" name="Google Shape;64;p3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my.clevelandclinic.org/health/diseases/9130-uterine-fibroids" TargetMode="External"/><Relationship Id="rId4" Type="http://schemas.openxmlformats.org/officeDocument/2006/relationships/hyperlink" Target="https://my.clevelandclinic.org/health/diseases/14683-uterine-polyps" TargetMode="External"/><Relationship Id="rId5" Type="http://schemas.openxmlformats.org/officeDocument/2006/relationships/hyperlink" Target="https://my.clevelandclinic.org/health/diseases/16409-uterine-cancer"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teachmeanatomy.info/wp-content/uploads/Overview-of-the-Female-Reproductive-Tract.jpg" TargetMode="External"/><Relationship Id="rId4"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teachmeanatomy.info/wp-content/uploads/The-Parts-of-the-Fallopian-Tubes.png" TargetMode="External"/><Relationship Id="rId4" Type="http://schemas.openxmlformats.org/officeDocument/2006/relationships/hyperlink" Target="https://teachmeanatomy.info/wp-content/uploads/The-Parts-of-the-Fallopian-Tubes.png" TargetMode="External"/><Relationship Id="rId5" Type="http://schemas.openxmlformats.org/officeDocument/2006/relationships/hyperlink" Target="https://teachmeanatomy.info/wp-content/uploads/The-Parts-of-the-Fallopian-Tubes.png" TargetMode="External"/><Relationship Id="rId6"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teachmeanatomy.info/wp-content/uploads/Blood-Supply-to-Female-Reproductive-Tract.jpg" TargetMode="External"/><Relationship Id="rId4" Type="http://schemas.openxmlformats.org/officeDocument/2006/relationships/hyperlink" Target="https://teachmeanatomy.info/wp-content/uploads/Blood-Supply-to-Female-Reproductive-Tract.jpg" TargetMode="External"/><Relationship Id="rId5" Type="http://schemas.openxmlformats.org/officeDocument/2006/relationships/hyperlink" Target="https://teachmeanatomy.info/wp-content/uploads/Blood-Supply-to-Female-Reproductive-Tract.jpg" TargetMode="External"/><Relationship Id="rId6" Type="http://schemas.openxmlformats.org/officeDocument/2006/relationships/image" Target="../media/image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teachmeanatomy.info/wp-content/uploads/Ectopic-Pregnancy..jpg" TargetMode="External"/><Relationship Id="rId4" Type="http://schemas.openxmlformats.org/officeDocument/2006/relationships/hyperlink" Target="https://teachmeanatomy.info/wp-content/uploads/Ectopic-Pregnancy..jpg" TargetMode="External"/><Relationship Id="rId5" Type="http://schemas.openxmlformats.org/officeDocument/2006/relationships/hyperlink" Target="https://teachmeanatomy.info/wp-content/uploads/Ectopic-Pregnancy..jpg" TargetMode="External"/><Relationship Id="rId6" Type="http://schemas.openxmlformats.org/officeDocument/2006/relationships/image" Target="../media/image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C00000"/>
              </a:buClr>
              <a:buSzPts val="6000"/>
              <a:buFont typeface="Times New Roman"/>
              <a:buNone/>
            </a:pPr>
            <a:r>
              <a:rPr b="1" lang="en-US">
                <a:solidFill>
                  <a:srgbClr val="C00000"/>
                </a:solidFill>
                <a:latin typeface="Times New Roman"/>
                <a:ea typeface="Times New Roman"/>
                <a:cs typeface="Times New Roman"/>
                <a:sym typeface="Times New Roman"/>
              </a:rPr>
              <a:t>UTERUS AND UTERINE TUBE</a:t>
            </a:r>
            <a:endParaRPr b="1">
              <a:solidFill>
                <a:srgbClr val="C00000"/>
              </a:solidFill>
              <a:latin typeface="Times New Roman"/>
              <a:ea typeface="Times New Roman"/>
              <a:cs typeface="Times New Roman"/>
              <a:sym typeface="Times New Roman"/>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latin typeface="Times New Roman"/>
                <a:ea typeface="Times New Roman"/>
                <a:cs typeface="Times New Roman"/>
                <a:sym typeface="Times New Roman"/>
              </a:rPr>
              <a:t>BY </a:t>
            </a:r>
            <a:endParaRPr/>
          </a:p>
          <a:p>
            <a:pPr indent="0" lvl="0" marL="0" rtl="0" algn="ctr">
              <a:lnSpc>
                <a:spcPct val="90000"/>
              </a:lnSpc>
              <a:spcBef>
                <a:spcPts val="1000"/>
              </a:spcBef>
              <a:spcAft>
                <a:spcPts val="0"/>
              </a:spcAft>
              <a:buClr>
                <a:schemeClr val="dk1"/>
              </a:buClr>
              <a:buSzPts val="2400"/>
              <a:buNone/>
            </a:pPr>
            <a:r>
              <a:rPr lang="en-US">
                <a:latin typeface="Times New Roman"/>
                <a:ea typeface="Times New Roman"/>
                <a:cs typeface="Times New Roman"/>
                <a:sym typeface="Times New Roman"/>
              </a:rPr>
              <a:t>DR. F.O IGELIGE</a:t>
            </a:r>
            <a:endParaRPr>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0" y="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Times New Roman"/>
              <a:buNone/>
            </a:pPr>
            <a:r>
              <a:rPr b="1" lang="en-US">
                <a:solidFill>
                  <a:srgbClr val="C00000"/>
                </a:solidFill>
                <a:latin typeface="Times New Roman"/>
                <a:ea typeface="Times New Roman"/>
                <a:cs typeface="Times New Roman"/>
                <a:sym typeface="Times New Roman"/>
              </a:rPr>
              <a:t>UTERUS</a:t>
            </a:r>
            <a:endParaRPr b="1">
              <a:solidFill>
                <a:srgbClr val="C00000"/>
              </a:solidFill>
              <a:latin typeface="Times New Roman"/>
              <a:ea typeface="Times New Roman"/>
              <a:cs typeface="Times New Roman"/>
              <a:sym typeface="Times New Roman"/>
            </a:endParaRPr>
          </a:p>
        </p:txBody>
      </p:sp>
      <p:sp>
        <p:nvSpPr>
          <p:cNvPr id="91" name="Google Shape;91;p2"/>
          <p:cNvSpPr txBox="1"/>
          <p:nvPr>
            <p:ph idx="1" type="body"/>
          </p:nvPr>
        </p:nvSpPr>
        <p:spPr>
          <a:xfrm>
            <a:off x="133350" y="939799"/>
            <a:ext cx="10515600" cy="5832475"/>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uterus is a pear-shaped organ in the reproductive system of females. It’s where a fertilized egg implants during pregnancy and where the baby develops until birth. It’s also responsible for your menstrual cycle</a:t>
            </a:r>
            <a:endParaRPr/>
          </a:p>
          <a:p>
            <a:pPr indent="-50800" lvl="0" marL="228600" rtl="0" algn="l">
              <a:lnSpc>
                <a:spcPct val="90000"/>
              </a:lnSpc>
              <a:spcBef>
                <a:spcPts val="1000"/>
              </a:spcBef>
              <a:spcAft>
                <a:spcPts val="0"/>
              </a:spcAft>
              <a:buClr>
                <a:schemeClr val="dk1"/>
              </a:buClr>
              <a:buSzPts val="2800"/>
              <a:buFont typeface="Noto Sans Symbols"/>
              <a:buNone/>
            </a:pPr>
            <a:r>
              <a:t/>
            </a:r>
            <a:endParaRPr>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Font typeface="Noto Sans Symbols"/>
              <a:buNone/>
            </a:pPr>
            <a:r>
              <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It’s hollow and muscular and sits between the rectum and bladder in the pelvis.</a:t>
            </a:r>
            <a:endParaRPr/>
          </a:p>
          <a:p>
            <a:pPr indent="0" lvl="0" marL="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800"/>
              <a:buFont typeface="Noto Sans Symbols"/>
              <a:buChar char="⮚"/>
            </a:pPr>
            <a:r>
              <a:rPr lang="en-US">
                <a:latin typeface="Times New Roman"/>
                <a:ea typeface="Times New Roman"/>
                <a:cs typeface="Times New Roman"/>
                <a:sym typeface="Times New Roman"/>
              </a:rPr>
              <a:t> </a:t>
            </a:r>
            <a:r>
              <a:rPr b="0" i="0" lang="en-US">
                <a:solidFill>
                  <a:srgbClr val="555555"/>
                </a:solidFill>
                <a:latin typeface="Times New Roman"/>
                <a:ea typeface="Times New Roman"/>
                <a:cs typeface="Times New Roman"/>
                <a:sym typeface="Times New Roman"/>
              </a:rPr>
              <a:t>uterus is in the pelvis between the bladder and rectum. It’s supported by pelvic floor muscles and perineal body. Ligaments in the pelvis, lower back and hips also help hold the uterus in place.</a:t>
            </a:r>
            <a:endParaRPr/>
          </a:p>
          <a:p>
            <a:pPr indent="-50800" lvl="0" marL="228600" rtl="0" algn="l">
              <a:lnSpc>
                <a:spcPct val="90000"/>
              </a:lnSpc>
              <a:spcBef>
                <a:spcPts val="1000"/>
              </a:spcBef>
              <a:spcAft>
                <a:spcPts val="0"/>
              </a:spcAft>
              <a:buClr>
                <a:schemeClr val="dk1"/>
              </a:buClr>
              <a:buSzPts val="2800"/>
              <a:buFont typeface="Noto Sans Symbols"/>
              <a:buNone/>
            </a:pPr>
            <a:r>
              <a:t/>
            </a:r>
            <a:endParaRPr>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id="96" name="Google Shape;96;p3"/>
          <p:cNvPicPr preferRelativeResize="0"/>
          <p:nvPr/>
        </p:nvPicPr>
        <p:blipFill rotWithShape="1">
          <a:blip r:embed="rId3">
            <a:alphaModFix/>
          </a:blip>
          <a:srcRect b="0" l="0" r="0" t="0"/>
          <a:stretch/>
        </p:blipFill>
        <p:spPr>
          <a:xfrm>
            <a:off x="1980843" y="571252"/>
            <a:ext cx="8230313" cy="571549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4"/>
          <p:cNvSpPr/>
          <p:nvPr/>
        </p:nvSpPr>
        <p:spPr>
          <a:xfrm>
            <a:off x="85725" y="430590"/>
            <a:ext cx="12106275" cy="538609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C00000"/>
                </a:solidFill>
                <a:latin typeface="Times New Roman"/>
                <a:ea typeface="Times New Roman"/>
                <a:cs typeface="Times New Roman"/>
                <a:sym typeface="Times New Roman"/>
              </a:rPr>
              <a:t>Function</a:t>
            </a:r>
            <a:endParaRPr/>
          </a:p>
          <a:p>
            <a:pPr indent="0" lvl="0" marL="0" marR="0" rtl="0" algn="l">
              <a:spcBef>
                <a:spcPts val="0"/>
              </a:spcBef>
              <a:spcAft>
                <a:spcPts val="0"/>
              </a:spcAft>
              <a:buNone/>
            </a:pPr>
            <a:r>
              <a:rPr b="0" i="0" lang="en-US" sz="2800">
                <a:solidFill>
                  <a:srgbClr val="555555"/>
                </a:solidFill>
                <a:latin typeface="Times New Roman"/>
                <a:ea typeface="Times New Roman"/>
                <a:cs typeface="Times New Roman"/>
                <a:sym typeface="Times New Roman"/>
              </a:rPr>
              <a:t>uterus plays a key role in your reproductive health and function. The three main jobs of the uterus are:</a:t>
            </a:r>
            <a:endParaRPr/>
          </a:p>
          <a:p>
            <a:pPr indent="0" lvl="0" marL="0" marR="0" rtl="0" algn="l">
              <a:spcBef>
                <a:spcPts val="0"/>
              </a:spcBef>
              <a:spcAft>
                <a:spcPts val="0"/>
              </a:spcAft>
              <a:buNone/>
            </a:pPr>
            <a:r>
              <a:t/>
            </a:r>
            <a:endParaRPr b="0" i="0" sz="2800">
              <a:solidFill>
                <a:srgbClr val="555555"/>
              </a:solidFill>
              <a:latin typeface="Times New Roman"/>
              <a:ea typeface="Times New Roman"/>
              <a:cs typeface="Times New Roman"/>
              <a:sym typeface="Times New Roman"/>
            </a:endParaRPr>
          </a:p>
          <a:p>
            <a:pPr indent="-177800" lvl="0" marL="0" marR="0" rtl="0" algn="l">
              <a:spcBef>
                <a:spcPts val="0"/>
              </a:spcBef>
              <a:spcAft>
                <a:spcPts val="0"/>
              </a:spcAft>
              <a:buClr>
                <a:srgbClr val="555555"/>
              </a:buClr>
              <a:buSzPts val="2800"/>
              <a:buFont typeface="Arial"/>
              <a:buChar char="•"/>
            </a:pPr>
            <a:r>
              <a:rPr b="1" i="0" lang="en-US" sz="2800">
                <a:solidFill>
                  <a:srgbClr val="555555"/>
                </a:solidFill>
                <a:latin typeface="Times New Roman"/>
                <a:ea typeface="Times New Roman"/>
                <a:cs typeface="Times New Roman"/>
                <a:sym typeface="Times New Roman"/>
              </a:rPr>
              <a:t>Pregnancy</a:t>
            </a:r>
            <a:r>
              <a:rPr b="0" i="0" lang="en-US" sz="2800">
                <a:solidFill>
                  <a:srgbClr val="555555"/>
                </a:solidFill>
                <a:latin typeface="Times New Roman"/>
                <a:ea typeface="Times New Roman"/>
                <a:cs typeface="Times New Roman"/>
                <a:sym typeface="Times New Roman"/>
              </a:rPr>
              <a:t>. uterus stretches to grow the baby during pregnancy. It can also contract to help push the baby out of the vagina.</a:t>
            </a:r>
            <a:endParaRPr/>
          </a:p>
          <a:p>
            <a:pPr indent="0" lvl="0" marL="0" marR="0" rtl="0" algn="l">
              <a:spcBef>
                <a:spcPts val="0"/>
              </a:spcBef>
              <a:spcAft>
                <a:spcPts val="0"/>
              </a:spcAft>
              <a:buClr>
                <a:schemeClr val="dk1"/>
              </a:buClr>
              <a:buSzPts val="2800"/>
              <a:buFont typeface="Arial"/>
              <a:buNone/>
            </a:pPr>
            <a:r>
              <a:t/>
            </a:r>
            <a:endParaRPr b="0" i="0" sz="2800">
              <a:solidFill>
                <a:srgbClr val="555555"/>
              </a:solidFill>
              <a:latin typeface="Times New Roman"/>
              <a:ea typeface="Times New Roman"/>
              <a:cs typeface="Times New Roman"/>
              <a:sym typeface="Times New Roman"/>
            </a:endParaRPr>
          </a:p>
          <a:p>
            <a:pPr indent="-177800" lvl="0" marL="0" marR="0" rtl="0" algn="l">
              <a:spcBef>
                <a:spcPts val="0"/>
              </a:spcBef>
              <a:spcAft>
                <a:spcPts val="0"/>
              </a:spcAft>
              <a:buClr>
                <a:srgbClr val="555555"/>
              </a:buClr>
              <a:buSzPts val="2800"/>
              <a:buFont typeface="Arial"/>
              <a:buChar char="•"/>
            </a:pPr>
            <a:r>
              <a:rPr b="1" i="0" lang="en-US" sz="2800">
                <a:solidFill>
                  <a:srgbClr val="555555"/>
                </a:solidFill>
                <a:latin typeface="Times New Roman"/>
                <a:ea typeface="Times New Roman"/>
                <a:cs typeface="Times New Roman"/>
                <a:sym typeface="Times New Roman"/>
              </a:rPr>
              <a:t>Fertility</a:t>
            </a:r>
            <a:r>
              <a:rPr b="0" i="0" lang="en-US" sz="2800">
                <a:solidFill>
                  <a:srgbClr val="555555"/>
                </a:solidFill>
                <a:latin typeface="Times New Roman"/>
                <a:ea typeface="Times New Roman"/>
                <a:cs typeface="Times New Roman"/>
                <a:sym typeface="Times New Roman"/>
              </a:rPr>
              <a:t>. uterus is where a fertilized egg implants during </a:t>
            </a:r>
            <a:r>
              <a:rPr b="0" i="0" lang="en-US" sz="2800">
                <a:solidFill>
                  <a:srgbClr val="007BC2"/>
                </a:solidFill>
                <a:latin typeface="Times New Roman"/>
                <a:ea typeface="Times New Roman"/>
                <a:cs typeface="Times New Roman"/>
                <a:sym typeface="Times New Roman"/>
              </a:rPr>
              <a:t>conception</a:t>
            </a:r>
            <a:r>
              <a:rPr b="0" i="0" lang="en-US" sz="2800">
                <a:solidFill>
                  <a:srgbClr val="555555"/>
                </a:solidFill>
                <a:latin typeface="Times New Roman"/>
                <a:ea typeface="Times New Roman"/>
                <a:cs typeface="Times New Roman"/>
                <a:sym typeface="Times New Roman"/>
              </a:rPr>
              <a:t> and where your baby grows.</a:t>
            </a:r>
            <a:endParaRPr/>
          </a:p>
          <a:p>
            <a:pPr indent="0" lvl="0" marL="0" marR="0" rtl="0" algn="l">
              <a:spcBef>
                <a:spcPts val="0"/>
              </a:spcBef>
              <a:spcAft>
                <a:spcPts val="0"/>
              </a:spcAft>
              <a:buClr>
                <a:schemeClr val="dk1"/>
              </a:buClr>
              <a:buSzPts val="2800"/>
              <a:buFont typeface="Arial"/>
              <a:buNone/>
            </a:pPr>
            <a:r>
              <a:t/>
            </a:r>
            <a:endParaRPr b="0" i="0" sz="2800">
              <a:solidFill>
                <a:srgbClr val="555555"/>
              </a:solidFill>
              <a:latin typeface="Times New Roman"/>
              <a:ea typeface="Times New Roman"/>
              <a:cs typeface="Times New Roman"/>
              <a:sym typeface="Times New Roman"/>
            </a:endParaRPr>
          </a:p>
          <a:p>
            <a:pPr indent="-177800" lvl="0" marL="0" marR="0" rtl="0" algn="l">
              <a:spcBef>
                <a:spcPts val="0"/>
              </a:spcBef>
              <a:spcAft>
                <a:spcPts val="0"/>
              </a:spcAft>
              <a:buClr>
                <a:srgbClr val="555555"/>
              </a:buClr>
              <a:buSzPts val="2800"/>
              <a:buFont typeface="Arial"/>
              <a:buChar char="•"/>
            </a:pPr>
            <a:r>
              <a:rPr b="1" i="0" lang="en-US" sz="2800">
                <a:solidFill>
                  <a:srgbClr val="555555"/>
                </a:solidFill>
                <a:latin typeface="Times New Roman"/>
                <a:ea typeface="Times New Roman"/>
                <a:cs typeface="Times New Roman"/>
                <a:sym typeface="Times New Roman"/>
              </a:rPr>
              <a:t>Menstrual cycle</a:t>
            </a:r>
            <a:r>
              <a:rPr b="0" i="0" lang="en-US" sz="2800">
                <a:solidFill>
                  <a:srgbClr val="555555"/>
                </a:solidFill>
                <a:latin typeface="Times New Roman"/>
                <a:ea typeface="Times New Roman"/>
                <a:cs typeface="Times New Roman"/>
                <a:sym typeface="Times New Roman"/>
              </a:rPr>
              <a:t>. uterine lining is where blood and tissue come from during menstruation.</a:t>
            </a:r>
            <a:endParaRPr b="0" i="0" sz="2800">
              <a:solidFill>
                <a:srgbClr val="555555"/>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5"/>
          <p:cNvSpPr/>
          <p:nvPr/>
        </p:nvSpPr>
        <p:spPr>
          <a:xfrm>
            <a:off x="171450" y="960388"/>
            <a:ext cx="11830050" cy="44012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C00000"/>
                </a:solidFill>
                <a:latin typeface="Times New Roman"/>
                <a:ea typeface="Times New Roman"/>
                <a:cs typeface="Times New Roman"/>
                <a:sym typeface="Times New Roman"/>
              </a:rPr>
              <a:t>uterus consists of three layers:</a:t>
            </a:r>
            <a:endParaRPr/>
          </a:p>
          <a:p>
            <a:pPr indent="0" lvl="0" marL="0" marR="0" rtl="0" algn="l">
              <a:spcBef>
                <a:spcPts val="0"/>
              </a:spcBef>
              <a:spcAft>
                <a:spcPts val="0"/>
              </a:spcAft>
              <a:buNone/>
            </a:pPr>
            <a:r>
              <a:t/>
            </a:r>
            <a:endParaRPr b="1" sz="2800">
              <a:solidFill>
                <a:srgbClr val="C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0" i="0" sz="2800">
              <a:solidFill>
                <a:srgbClr val="555555"/>
              </a:solidFill>
              <a:latin typeface="Times New Roman"/>
              <a:ea typeface="Times New Roman"/>
              <a:cs typeface="Times New Roman"/>
              <a:sym typeface="Times New Roman"/>
            </a:endParaRPr>
          </a:p>
          <a:p>
            <a:pPr indent="-177800" lvl="0" marL="0" marR="0" rtl="0" algn="l">
              <a:spcBef>
                <a:spcPts val="0"/>
              </a:spcBef>
              <a:spcAft>
                <a:spcPts val="0"/>
              </a:spcAft>
              <a:buClr>
                <a:srgbClr val="555555"/>
              </a:buClr>
              <a:buSzPts val="2800"/>
              <a:buFont typeface="Arial"/>
              <a:buChar char="•"/>
            </a:pPr>
            <a:r>
              <a:rPr b="1" i="0" lang="en-US" sz="2800">
                <a:solidFill>
                  <a:srgbClr val="555555"/>
                </a:solidFill>
                <a:latin typeface="Times New Roman"/>
                <a:ea typeface="Times New Roman"/>
                <a:cs typeface="Times New Roman"/>
                <a:sym typeface="Times New Roman"/>
              </a:rPr>
              <a:t>Perimetrium</a:t>
            </a:r>
            <a:r>
              <a:rPr b="0" i="0" lang="en-US" sz="2800">
                <a:solidFill>
                  <a:srgbClr val="555555"/>
                </a:solidFill>
                <a:latin typeface="Times New Roman"/>
                <a:ea typeface="Times New Roman"/>
                <a:cs typeface="Times New Roman"/>
                <a:sym typeface="Times New Roman"/>
              </a:rPr>
              <a:t>. The outermost, protective layer.</a:t>
            </a:r>
            <a:endParaRPr/>
          </a:p>
          <a:p>
            <a:pPr indent="0" lvl="0" marL="0" marR="0" rtl="0" algn="l">
              <a:spcBef>
                <a:spcPts val="0"/>
              </a:spcBef>
              <a:spcAft>
                <a:spcPts val="0"/>
              </a:spcAft>
              <a:buClr>
                <a:schemeClr val="dk1"/>
              </a:buClr>
              <a:buSzPts val="2800"/>
              <a:buFont typeface="Arial"/>
              <a:buNone/>
            </a:pPr>
            <a:r>
              <a:t/>
            </a:r>
            <a:endParaRPr b="0" i="0" sz="2800">
              <a:solidFill>
                <a:srgbClr val="555555"/>
              </a:solidFill>
              <a:latin typeface="Times New Roman"/>
              <a:ea typeface="Times New Roman"/>
              <a:cs typeface="Times New Roman"/>
              <a:sym typeface="Times New Roman"/>
            </a:endParaRPr>
          </a:p>
          <a:p>
            <a:pPr indent="-177800" lvl="0" marL="0" marR="0" rtl="0" algn="l">
              <a:spcBef>
                <a:spcPts val="0"/>
              </a:spcBef>
              <a:spcAft>
                <a:spcPts val="0"/>
              </a:spcAft>
              <a:buClr>
                <a:srgbClr val="555555"/>
              </a:buClr>
              <a:buSzPts val="2800"/>
              <a:buFont typeface="Arial"/>
              <a:buChar char="•"/>
            </a:pPr>
            <a:r>
              <a:rPr b="1" i="0" lang="en-US" sz="2800">
                <a:solidFill>
                  <a:srgbClr val="555555"/>
                </a:solidFill>
                <a:latin typeface="Times New Roman"/>
                <a:ea typeface="Times New Roman"/>
                <a:cs typeface="Times New Roman"/>
                <a:sym typeface="Times New Roman"/>
              </a:rPr>
              <a:t>Myometrium</a:t>
            </a:r>
            <a:r>
              <a:rPr b="0" i="0" lang="en-US" sz="2800">
                <a:solidFill>
                  <a:srgbClr val="555555"/>
                </a:solidFill>
                <a:latin typeface="Times New Roman"/>
                <a:ea typeface="Times New Roman"/>
                <a:cs typeface="Times New Roman"/>
                <a:sym typeface="Times New Roman"/>
              </a:rPr>
              <a:t>. The highly muscular middle layer. This is what expands during pregnancy and contracts to push your baby out.</a:t>
            </a:r>
            <a:endParaRPr/>
          </a:p>
          <a:p>
            <a:pPr indent="0" lvl="0" marL="0" marR="0" rtl="0" algn="l">
              <a:spcBef>
                <a:spcPts val="0"/>
              </a:spcBef>
              <a:spcAft>
                <a:spcPts val="0"/>
              </a:spcAft>
              <a:buClr>
                <a:schemeClr val="dk1"/>
              </a:buClr>
              <a:buSzPts val="2800"/>
              <a:buFont typeface="Arial"/>
              <a:buNone/>
            </a:pPr>
            <a:r>
              <a:t/>
            </a:r>
            <a:endParaRPr b="0" i="0" sz="2800">
              <a:solidFill>
                <a:srgbClr val="555555"/>
              </a:solidFill>
              <a:latin typeface="Times New Roman"/>
              <a:ea typeface="Times New Roman"/>
              <a:cs typeface="Times New Roman"/>
              <a:sym typeface="Times New Roman"/>
            </a:endParaRPr>
          </a:p>
          <a:p>
            <a:pPr indent="-177800" lvl="0" marL="0" marR="0" rtl="0" algn="l">
              <a:spcBef>
                <a:spcPts val="0"/>
              </a:spcBef>
              <a:spcAft>
                <a:spcPts val="0"/>
              </a:spcAft>
              <a:buClr>
                <a:srgbClr val="555555"/>
              </a:buClr>
              <a:buSzPts val="2800"/>
              <a:buFont typeface="Arial"/>
              <a:buChar char="•"/>
            </a:pPr>
            <a:r>
              <a:rPr b="1" i="0" lang="en-US" sz="2800">
                <a:solidFill>
                  <a:srgbClr val="555555"/>
                </a:solidFill>
                <a:latin typeface="Times New Roman"/>
                <a:ea typeface="Times New Roman"/>
                <a:cs typeface="Times New Roman"/>
                <a:sym typeface="Times New Roman"/>
              </a:rPr>
              <a:t>Endometrium</a:t>
            </a:r>
            <a:r>
              <a:rPr b="0" i="0" lang="en-US" sz="2800">
                <a:solidFill>
                  <a:srgbClr val="555555"/>
                </a:solidFill>
                <a:latin typeface="Times New Roman"/>
                <a:ea typeface="Times New Roman"/>
                <a:cs typeface="Times New Roman"/>
                <a:sym typeface="Times New Roman"/>
              </a:rPr>
              <a:t>. The inner layer or lining of your uterus (uterine lining). This layer of your uterus is shed during your menstrual cycle.</a:t>
            </a:r>
            <a:endParaRPr b="0" i="0" sz="2800">
              <a:solidFill>
                <a:srgbClr val="555555"/>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6"/>
          <p:cNvSpPr/>
          <p:nvPr/>
        </p:nvSpPr>
        <p:spPr>
          <a:xfrm>
            <a:off x="161925" y="0"/>
            <a:ext cx="11830050" cy="489364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C00000"/>
                </a:solidFill>
                <a:latin typeface="Times New Roman"/>
                <a:ea typeface="Times New Roman"/>
                <a:cs typeface="Times New Roman"/>
                <a:sym typeface="Times New Roman"/>
              </a:rPr>
              <a:t>The uterus during menstruation</a:t>
            </a:r>
            <a:r>
              <a:rPr lang="en-US" sz="2800">
                <a:solidFill>
                  <a:schemeClr val="dk1"/>
                </a:solidFill>
                <a:latin typeface="Times New Roman"/>
                <a:ea typeface="Times New Roman"/>
                <a:cs typeface="Times New Roman"/>
                <a:sym typeface="Times New Roman"/>
              </a:rPr>
              <a:t>.</a:t>
            </a:r>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457200" lvl="0" marL="457200" marR="0" rtl="0" algn="l">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During menstrual cycle, the lining of the goes through several changes. The lining (called the endometrial lining) gets thicker and rich with blood as you near ovulation (releasing an egg from the ovaries). </a:t>
            </a:r>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457200" lvl="0" marL="457200" marR="0" rtl="0" algn="l">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If an egg is fertilized during that cycle, it implants into the lining of uterus, and pregnancy begins.</a:t>
            </a:r>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457200" lvl="0" marL="457200" marR="0" rtl="0" algn="l">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endometrial lining sheds if pregnancy doesn’t happen (this is the period). This process repeats every menstrual cycle unless pregnancy occurs.</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7"/>
          <p:cNvSpPr/>
          <p:nvPr/>
        </p:nvSpPr>
        <p:spPr>
          <a:xfrm>
            <a:off x="257175" y="0"/>
            <a:ext cx="11811000" cy="58169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C00000"/>
                </a:solidFill>
                <a:latin typeface="Times New Roman"/>
                <a:ea typeface="Times New Roman"/>
                <a:cs typeface="Times New Roman"/>
                <a:sym typeface="Times New Roman"/>
              </a:rPr>
              <a:t>The uterus during pregnancy.</a:t>
            </a:r>
            <a:endParaRPr/>
          </a:p>
          <a:p>
            <a:pPr indent="0" lvl="0" marL="0" marR="0" rtl="0" algn="l">
              <a:spcBef>
                <a:spcPts val="0"/>
              </a:spcBef>
              <a:spcAft>
                <a:spcPts val="0"/>
              </a:spcAft>
              <a:buNone/>
            </a:pPr>
            <a:r>
              <a:t/>
            </a:r>
            <a:endParaRPr b="1" sz="3200">
              <a:solidFill>
                <a:srgbClr val="C00000"/>
              </a:solidFill>
              <a:latin typeface="Times New Roman"/>
              <a:ea typeface="Times New Roman"/>
              <a:cs typeface="Times New Roman"/>
              <a:sym typeface="Times New Roman"/>
            </a:endParaRPr>
          </a:p>
          <a:p>
            <a:pPr indent="-457200" lvl="0" marL="457200" marR="0" rtl="0" algn="l">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If conception (when the egg is fertilized by sperm) occurs during menstrual cycle, the fertilized egg implants into the uterine lining. </a:t>
            </a:r>
            <a:endParaRPr/>
          </a:p>
          <a:p>
            <a:pPr indent="-457200" lvl="0" marL="457200" marR="0" rtl="0" algn="l">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The fertilized egg (called a blastocyte) burrows into the endometrial lining of the uterus (implantation). </a:t>
            </a:r>
            <a:endParaRPr/>
          </a:p>
          <a:p>
            <a:pPr indent="-457200" lvl="0" marL="457200" marR="0" rtl="0" algn="l">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This is when pregnancy officially begins, and misses menstrual period.</a:t>
            </a:r>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457200" lvl="0" marL="457200" marR="0" rtl="0" algn="l">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uterus grows and stretches like a balloon to accommodate  growing baby. It contracts during labor and delivery to help push baby out of the vagina. </a:t>
            </a:r>
            <a:endParaRPr/>
          </a:p>
          <a:p>
            <a:pPr indent="-279400" lvl="0" marL="457200" marR="0" rtl="0" algn="l">
              <a:spcBef>
                <a:spcPts val="0"/>
              </a:spcBef>
              <a:spcAft>
                <a:spcPts val="0"/>
              </a:spcAft>
              <a:buClr>
                <a:schemeClr val="dk1"/>
              </a:buClr>
              <a:buSzPts val="2800"/>
              <a:buFont typeface="Noto Sans Symbols"/>
              <a:buNone/>
            </a:pPr>
            <a:r>
              <a:t/>
            </a:r>
            <a:endParaRPr sz="2800">
              <a:solidFill>
                <a:schemeClr val="dk1"/>
              </a:solidFill>
              <a:latin typeface="Times New Roman"/>
              <a:ea typeface="Times New Roman"/>
              <a:cs typeface="Times New Roman"/>
              <a:sym typeface="Times New Roman"/>
            </a:endParaRPr>
          </a:p>
          <a:p>
            <a:pPr indent="-457200" lvl="0" marL="457200" marR="0" rtl="0" algn="l">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After about six weeks, uterus returns to its pre-pregnancy size (although, it can be slightly larger and show signs of being stretched).</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8"/>
          <p:cNvSpPr/>
          <p:nvPr/>
        </p:nvSpPr>
        <p:spPr>
          <a:xfrm>
            <a:off x="0" y="0"/>
            <a:ext cx="11649075" cy="526297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C00000"/>
                </a:solidFill>
                <a:latin typeface="Times New Roman"/>
                <a:ea typeface="Times New Roman"/>
                <a:cs typeface="Times New Roman"/>
                <a:sym typeface="Times New Roman"/>
              </a:rPr>
              <a:t>The size of the</a:t>
            </a:r>
            <a:r>
              <a:rPr b="1" i="0" lang="en-US" sz="2800">
                <a:solidFill>
                  <a:srgbClr val="C00000"/>
                </a:solidFill>
                <a:latin typeface="Times New Roman"/>
                <a:ea typeface="Times New Roman"/>
                <a:cs typeface="Times New Roman"/>
                <a:sym typeface="Times New Roman"/>
              </a:rPr>
              <a:t> uterus</a:t>
            </a:r>
            <a:endParaRPr/>
          </a:p>
          <a:p>
            <a:pPr indent="0" lvl="0" marL="0" marR="0" rtl="0" algn="l">
              <a:spcBef>
                <a:spcPts val="0"/>
              </a:spcBef>
              <a:spcAft>
                <a:spcPts val="0"/>
              </a:spcAft>
              <a:buNone/>
            </a:pPr>
            <a:r>
              <a:rPr b="0" i="0" lang="en-US" sz="2800">
                <a:solidFill>
                  <a:srgbClr val="555555"/>
                </a:solidFill>
                <a:latin typeface="Times New Roman"/>
                <a:ea typeface="Times New Roman"/>
                <a:cs typeface="Times New Roman"/>
                <a:sym typeface="Times New Roman"/>
              </a:rPr>
              <a:t>uterus is about 3 inches from top to bottom and 2 inches wide at the widest part. It’s about 1 inch thick and weighs around 1 ounce.</a:t>
            </a:r>
            <a:endParaRPr/>
          </a:p>
          <a:p>
            <a:pPr indent="0" lvl="0" marL="0" marR="0" rtl="0" algn="l">
              <a:spcBef>
                <a:spcPts val="0"/>
              </a:spcBef>
              <a:spcAft>
                <a:spcPts val="0"/>
              </a:spcAft>
              <a:buNone/>
            </a:pPr>
            <a:r>
              <a:t/>
            </a:r>
            <a:endParaRPr sz="2800">
              <a:solidFill>
                <a:srgbClr val="555555"/>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0" i="0" sz="2800">
              <a:solidFill>
                <a:srgbClr val="555555"/>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800">
                <a:solidFill>
                  <a:srgbClr val="C00000"/>
                </a:solidFill>
                <a:latin typeface="Times New Roman"/>
                <a:ea typeface="Times New Roman"/>
                <a:cs typeface="Times New Roman"/>
                <a:sym typeface="Times New Roman"/>
              </a:rPr>
              <a:t>Size of the uterus during pregnancy</a:t>
            </a:r>
            <a:endParaRPr/>
          </a:p>
          <a:p>
            <a:pPr indent="0" lvl="0" marL="0" marR="0" rtl="0" algn="l">
              <a:spcBef>
                <a:spcPts val="0"/>
              </a:spcBef>
              <a:spcAft>
                <a:spcPts val="0"/>
              </a:spcAft>
              <a:buNone/>
            </a:pPr>
            <a:r>
              <a:rPr b="0" i="0" lang="en-US" sz="2800">
                <a:solidFill>
                  <a:srgbClr val="555555"/>
                </a:solidFill>
                <a:latin typeface="Times New Roman"/>
                <a:ea typeface="Times New Roman"/>
                <a:cs typeface="Times New Roman"/>
                <a:sym typeface="Times New Roman"/>
              </a:rPr>
              <a:t>uterus is one of the most unique organs in the body. It can stretch from the size of a lemon to the size of a watermelon during pregnancy. </a:t>
            </a:r>
            <a:endParaRPr/>
          </a:p>
          <a:p>
            <a:pPr indent="0" lvl="0" marL="0" marR="0" rtl="0" algn="l">
              <a:spcBef>
                <a:spcPts val="0"/>
              </a:spcBef>
              <a:spcAft>
                <a:spcPts val="0"/>
              </a:spcAft>
              <a:buNone/>
            </a:pPr>
            <a:r>
              <a:t/>
            </a:r>
            <a:endParaRPr b="0" i="0" sz="2800">
              <a:solidFill>
                <a:srgbClr val="555555"/>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2800">
                <a:solidFill>
                  <a:srgbClr val="555555"/>
                </a:solidFill>
                <a:latin typeface="Times New Roman"/>
                <a:ea typeface="Times New Roman"/>
                <a:cs typeface="Times New Roman"/>
                <a:sym typeface="Times New Roman"/>
              </a:rPr>
              <a:t> uterus can be up to 2 pounds when baby is born. </a:t>
            </a:r>
            <a:endParaRPr sz="2800">
              <a:solidFill>
                <a:srgbClr val="555555"/>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2800">
                <a:solidFill>
                  <a:srgbClr val="555555"/>
                </a:solidFill>
                <a:latin typeface="Times New Roman"/>
                <a:ea typeface="Times New Roman"/>
                <a:cs typeface="Times New Roman"/>
                <a:sym typeface="Times New Roman"/>
              </a:rPr>
              <a:t>uterus shrinks down to its normal size (a process called involution) and position about six weeks postpartum (after giving birth).</a:t>
            </a:r>
            <a:endParaRPr b="0" i="0" sz="2800">
              <a:solidFill>
                <a:srgbClr val="555555"/>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9"/>
          <p:cNvSpPr/>
          <p:nvPr/>
        </p:nvSpPr>
        <p:spPr>
          <a:xfrm>
            <a:off x="133350" y="0"/>
            <a:ext cx="11544300" cy="6555641"/>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 uterus looks like a light bulb. It’s about the size of a fist. It’s also commonly described as an upside-down pear. </a:t>
            </a:r>
            <a:endParaRPr sz="2800">
              <a:solidFill>
                <a:schemeClr val="dk1"/>
              </a:solidFill>
              <a:latin typeface="Times New Roman"/>
              <a:ea typeface="Times New Roman"/>
              <a:cs typeface="Times New Roman"/>
              <a:sym typeface="Times New Roman"/>
            </a:endParaRPr>
          </a:p>
          <a:p>
            <a:pPr indent="-457200" lvl="0" marL="457200" marR="0" rtl="0" algn="l">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 uterus has two horn-like organs at the top (the fallopian tubes). It connects to cervix at the bottom, which is the part that opens (dilates) during vaginal delivery.</a:t>
            </a:r>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800">
                <a:solidFill>
                  <a:srgbClr val="C00000"/>
                </a:solidFill>
                <a:latin typeface="Times New Roman"/>
                <a:ea typeface="Times New Roman"/>
                <a:cs typeface="Times New Roman"/>
                <a:sym typeface="Times New Roman"/>
              </a:rPr>
              <a:t>uterus has several sections:</a:t>
            </a:r>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Fundus</a:t>
            </a:r>
            <a:r>
              <a:rPr lang="en-US" sz="2800">
                <a:solidFill>
                  <a:schemeClr val="dk1"/>
                </a:solidFill>
                <a:latin typeface="Times New Roman"/>
                <a:ea typeface="Times New Roman"/>
                <a:cs typeface="Times New Roman"/>
                <a:sym typeface="Times New Roman"/>
              </a:rPr>
              <a:t>. The uppermost and widest part of uterus. It connects to fallopian tubes.</a:t>
            </a:r>
            <a:endParaRPr/>
          </a:p>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Corpus</a:t>
            </a:r>
            <a:r>
              <a:rPr lang="en-US" sz="2800">
                <a:solidFill>
                  <a:schemeClr val="dk1"/>
                </a:solidFill>
                <a:latin typeface="Times New Roman"/>
                <a:ea typeface="Times New Roman"/>
                <a:cs typeface="Times New Roman"/>
                <a:sym typeface="Times New Roman"/>
              </a:rPr>
              <a:t>. The main body of uterus. This is where a fertilized egg implants during pregnancy.</a:t>
            </a:r>
            <a:endParaRPr/>
          </a:p>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Isthmus</a:t>
            </a:r>
            <a:r>
              <a:rPr lang="en-US" sz="2800">
                <a:solidFill>
                  <a:schemeClr val="dk1"/>
                </a:solidFill>
                <a:latin typeface="Times New Roman"/>
                <a:ea typeface="Times New Roman"/>
                <a:cs typeface="Times New Roman"/>
                <a:sym typeface="Times New Roman"/>
              </a:rPr>
              <a:t>. The part of uterus between corpus and cervix. It’s where the uterus starts to narrow or thin.</a:t>
            </a:r>
            <a:endParaRPr/>
          </a:p>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Cervix</a:t>
            </a:r>
            <a:r>
              <a:rPr lang="en-US" sz="2800">
                <a:solidFill>
                  <a:schemeClr val="dk1"/>
                </a:solidFill>
                <a:latin typeface="Times New Roman"/>
                <a:ea typeface="Times New Roman"/>
                <a:cs typeface="Times New Roman"/>
                <a:sym typeface="Times New Roman"/>
              </a:rPr>
              <a:t>. The lowest part of  uterus. cervix opens to vagina.</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0"/>
          <p:cNvSpPr/>
          <p:nvPr/>
        </p:nvSpPr>
        <p:spPr>
          <a:xfrm>
            <a:off x="104775" y="266700"/>
            <a:ext cx="11725275" cy="63709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a:solidFill>
                  <a:srgbClr val="C00000"/>
                </a:solidFill>
                <a:latin typeface="Times New Roman"/>
                <a:ea typeface="Times New Roman"/>
                <a:cs typeface="Times New Roman"/>
                <a:sym typeface="Times New Roman"/>
              </a:rPr>
              <a:t>the positions of the uterus</a:t>
            </a:r>
            <a:endParaRPr/>
          </a:p>
          <a:p>
            <a:pPr indent="0" lvl="0" marL="0" marR="0" rtl="0" algn="l">
              <a:spcBef>
                <a:spcPts val="0"/>
              </a:spcBef>
              <a:spcAft>
                <a:spcPts val="0"/>
              </a:spcAft>
              <a:buNone/>
            </a:pPr>
            <a:r>
              <a:t/>
            </a:r>
            <a:endParaRPr b="1" i="0" sz="2400">
              <a:solidFill>
                <a:srgbClr val="363636"/>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2400">
                <a:solidFill>
                  <a:srgbClr val="555555"/>
                </a:solidFill>
                <a:latin typeface="Times New Roman"/>
                <a:ea typeface="Times New Roman"/>
                <a:cs typeface="Times New Roman"/>
                <a:sym typeface="Times New Roman"/>
              </a:rPr>
              <a:t> uterus can lie in several positions. A typical uterus tilts forward at the cervix and points towards the abdomen. This is called an </a:t>
            </a:r>
            <a:r>
              <a:rPr b="1" i="0" lang="en-US" sz="2400">
                <a:solidFill>
                  <a:srgbClr val="555555"/>
                </a:solidFill>
                <a:latin typeface="Times New Roman"/>
                <a:ea typeface="Times New Roman"/>
                <a:cs typeface="Times New Roman"/>
                <a:sym typeface="Times New Roman"/>
              </a:rPr>
              <a:t>anteverted uterus</a:t>
            </a:r>
            <a:r>
              <a:rPr b="0" i="0" lang="en-US" sz="2400">
                <a:solidFill>
                  <a:srgbClr val="555555"/>
                </a:solidFill>
                <a:latin typeface="Times New Roman"/>
                <a:ea typeface="Times New Roman"/>
                <a:cs typeface="Times New Roman"/>
                <a:sym typeface="Times New Roman"/>
              </a:rPr>
              <a:t>. Most people have an anteverted uterus.</a:t>
            </a:r>
            <a:endParaRPr/>
          </a:p>
          <a:p>
            <a:pPr indent="0" lvl="0" marL="0" marR="0" rtl="0" algn="l">
              <a:spcBef>
                <a:spcPts val="0"/>
              </a:spcBef>
              <a:spcAft>
                <a:spcPts val="0"/>
              </a:spcAft>
              <a:buNone/>
            </a:pPr>
            <a:r>
              <a:rPr b="0" i="0" lang="en-US" sz="2400">
                <a:solidFill>
                  <a:srgbClr val="555555"/>
                </a:solidFill>
                <a:latin typeface="Times New Roman"/>
                <a:ea typeface="Times New Roman"/>
                <a:cs typeface="Times New Roman"/>
                <a:sym typeface="Times New Roman"/>
              </a:rPr>
              <a:t>If you don’t have an anteverted uterus, you might have a:</a:t>
            </a:r>
            <a:endParaRPr/>
          </a:p>
          <a:p>
            <a:pPr indent="-152400" lvl="0" marL="0" marR="0" rtl="0" algn="l">
              <a:spcBef>
                <a:spcPts val="0"/>
              </a:spcBef>
              <a:spcAft>
                <a:spcPts val="0"/>
              </a:spcAft>
              <a:buClr>
                <a:srgbClr val="555555"/>
              </a:buClr>
              <a:buSzPts val="2400"/>
              <a:buFont typeface="Arial"/>
              <a:buChar char="•"/>
            </a:pPr>
            <a:r>
              <a:rPr b="1" i="0" lang="en-US" sz="2400">
                <a:solidFill>
                  <a:srgbClr val="555555"/>
                </a:solidFill>
                <a:latin typeface="Times New Roman"/>
                <a:ea typeface="Times New Roman"/>
                <a:cs typeface="Times New Roman"/>
                <a:sym typeface="Times New Roman"/>
              </a:rPr>
              <a:t>Retroverted uterus</a:t>
            </a:r>
            <a:r>
              <a:rPr b="0" i="0" lang="en-US" sz="2400">
                <a:solidFill>
                  <a:srgbClr val="555555"/>
                </a:solidFill>
                <a:latin typeface="Times New Roman"/>
                <a:ea typeface="Times New Roman"/>
                <a:cs typeface="Times New Roman"/>
                <a:sym typeface="Times New Roman"/>
              </a:rPr>
              <a:t>. Commonly called a tipped or tilted uterus. This is when  uterus is tilted or tipped backward so it curves toward the spine instead of forward toward your abdomen.</a:t>
            </a:r>
            <a:endParaRPr/>
          </a:p>
          <a:p>
            <a:pPr indent="0" lvl="0" marL="0" marR="0" rtl="0" algn="l">
              <a:spcBef>
                <a:spcPts val="0"/>
              </a:spcBef>
              <a:spcAft>
                <a:spcPts val="0"/>
              </a:spcAft>
              <a:buClr>
                <a:schemeClr val="dk1"/>
              </a:buClr>
              <a:buSzPts val="2400"/>
              <a:buFont typeface="Arial"/>
              <a:buNone/>
            </a:pPr>
            <a:r>
              <a:t/>
            </a:r>
            <a:endParaRPr b="0" i="0" sz="2400">
              <a:solidFill>
                <a:srgbClr val="555555"/>
              </a:solidFill>
              <a:latin typeface="Times New Roman"/>
              <a:ea typeface="Times New Roman"/>
              <a:cs typeface="Times New Roman"/>
              <a:sym typeface="Times New Roman"/>
            </a:endParaRPr>
          </a:p>
          <a:p>
            <a:pPr indent="-152400" lvl="0" marL="0" marR="0" rtl="0" algn="l">
              <a:spcBef>
                <a:spcPts val="0"/>
              </a:spcBef>
              <a:spcAft>
                <a:spcPts val="0"/>
              </a:spcAft>
              <a:buClr>
                <a:srgbClr val="555555"/>
              </a:buClr>
              <a:buSzPts val="2400"/>
              <a:buFont typeface="Arial"/>
              <a:buChar char="•"/>
            </a:pPr>
            <a:r>
              <a:rPr b="1" i="0" lang="en-US" sz="2400">
                <a:solidFill>
                  <a:srgbClr val="555555"/>
                </a:solidFill>
                <a:latin typeface="Times New Roman"/>
                <a:ea typeface="Times New Roman"/>
                <a:cs typeface="Times New Roman"/>
                <a:sym typeface="Times New Roman"/>
              </a:rPr>
              <a:t>Anteflexed uterus</a:t>
            </a:r>
            <a:r>
              <a:rPr b="0" i="0" lang="en-US" sz="2400">
                <a:solidFill>
                  <a:srgbClr val="555555"/>
                </a:solidFill>
                <a:latin typeface="Times New Roman"/>
                <a:ea typeface="Times New Roman"/>
                <a:cs typeface="Times New Roman"/>
                <a:sym typeface="Times New Roman"/>
              </a:rPr>
              <a:t>. uterus is anteflexed when it’s bent forward. The tilt is severe and can put pressure on abdomen or bladder and cause painful symptoms</a:t>
            </a:r>
            <a:endParaRPr/>
          </a:p>
          <a:p>
            <a:pPr indent="0" lvl="0" marL="0" marR="0" rtl="0" algn="l">
              <a:spcBef>
                <a:spcPts val="0"/>
              </a:spcBef>
              <a:spcAft>
                <a:spcPts val="0"/>
              </a:spcAft>
              <a:buClr>
                <a:schemeClr val="dk1"/>
              </a:buClr>
              <a:buSzPts val="2400"/>
              <a:buFont typeface="Arial"/>
              <a:buNone/>
            </a:pPr>
            <a:r>
              <a:t/>
            </a:r>
            <a:endParaRPr b="0" i="0" sz="2400">
              <a:solidFill>
                <a:srgbClr val="555555"/>
              </a:solidFill>
              <a:latin typeface="Times New Roman"/>
              <a:ea typeface="Times New Roman"/>
              <a:cs typeface="Times New Roman"/>
              <a:sym typeface="Times New Roman"/>
            </a:endParaRPr>
          </a:p>
          <a:p>
            <a:pPr indent="-152400" lvl="0" marL="0" marR="0" rtl="0" algn="l">
              <a:spcBef>
                <a:spcPts val="0"/>
              </a:spcBef>
              <a:spcAft>
                <a:spcPts val="0"/>
              </a:spcAft>
              <a:buClr>
                <a:srgbClr val="555555"/>
              </a:buClr>
              <a:buSzPts val="2400"/>
              <a:buFont typeface="Arial"/>
              <a:buChar char="•"/>
            </a:pPr>
            <a:r>
              <a:rPr b="1" i="0" lang="en-US" sz="2400">
                <a:solidFill>
                  <a:srgbClr val="555555"/>
                </a:solidFill>
                <a:latin typeface="Times New Roman"/>
                <a:ea typeface="Times New Roman"/>
                <a:cs typeface="Times New Roman"/>
                <a:sym typeface="Times New Roman"/>
              </a:rPr>
              <a:t>Retroflexed uterus</a:t>
            </a:r>
            <a:r>
              <a:rPr b="0" i="0" lang="en-US" sz="2400">
                <a:solidFill>
                  <a:srgbClr val="555555"/>
                </a:solidFill>
                <a:latin typeface="Times New Roman"/>
                <a:ea typeface="Times New Roman"/>
                <a:cs typeface="Times New Roman"/>
                <a:sym typeface="Times New Roman"/>
              </a:rPr>
              <a:t>.  uterus is retroflexed when it’s bent backward. The tilt puts pressure on the lower back.</a:t>
            </a:r>
            <a:endParaRPr/>
          </a:p>
          <a:p>
            <a:pPr indent="0" lvl="0" marL="0" marR="0" rtl="0" algn="l">
              <a:spcBef>
                <a:spcPts val="0"/>
              </a:spcBef>
              <a:spcAft>
                <a:spcPts val="0"/>
              </a:spcAft>
              <a:buNone/>
            </a:pPr>
            <a:r>
              <a:rPr lang="en-US" sz="2400">
                <a:solidFill>
                  <a:srgbClr val="555555"/>
                </a:solidFill>
                <a:latin typeface="Times New Roman"/>
                <a:ea typeface="Times New Roman"/>
                <a:cs typeface="Times New Roman"/>
                <a:sym typeface="Times New Roman"/>
              </a:rPr>
              <a:t>An individual </a:t>
            </a:r>
            <a:r>
              <a:rPr b="0" i="0" lang="en-US" sz="2400">
                <a:solidFill>
                  <a:srgbClr val="555555"/>
                </a:solidFill>
                <a:latin typeface="Times New Roman"/>
                <a:ea typeface="Times New Roman"/>
                <a:cs typeface="Times New Roman"/>
                <a:sym typeface="Times New Roman"/>
              </a:rPr>
              <a:t>may never know you have an irregularly shaped uterus if you don’t have symptoms. In some cases, you’ll have symptoms that require treatment by your healthcare provider.</a:t>
            </a:r>
            <a:endParaRPr b="0" i="0" sz="2400">
              <a:solidFill>
                <a:srgbClr val="555555"/>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1"/>
          <p:cNvSpPr/>
          <p:nvPr/>
        </p:nvSpPr>
        <p:spPr>
          <a:xfrm>
            <a:off x="0" y="862043"/>
            <a:ext cx="12058649" cy="526297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C00000"/>
                </a:solidFill>
                <a:latin typeface="Times New Roman"/>
                <a:ea typeface="Times New Roman"/>
                <a:cs typeface="Times New Roman"/>
                <a:sym typeface="Times New Roman"/>
              </a:rPr>
              <a:t>common conditions of the uterus</a:t>
            </a:r>
            <a:endParaRPr/>
          </a:p>
          <a:p>
            <a:pPr indent="0" lvl="0" marL="0" marR="0" rtl="0" algn="l">
              <a:spcBef>
                <a:spcPts val="0"/>
              </a:spcBef>
              <a:spcAft>
                <a:spcPts val="0"/>
              </a:spcAft>
              <a:buNone/>
            </a:pPr>
            <a:r>
              <a:rPr b="0" i="0" lang="en-US" sz="2800">
                <a:solidFill>
                  <a:srgbClr val="555555"/>
                </a:solidFill>
                <a:latin typeface="Times New Roman"/>
                <a:ea typeface="Times New Roman"/>
                <a:cs typeface="Times New Roman"/>
                <a:sym typeface="Times New Roman"/>
              </a:rPr>
              <a:t>Several health conditions can be associated with  uterus. Some of the most common conditions are:</a:t>
            </a:r>
            <a:endParaRPr/>
          </a:p>
          <a:p>
            <a:pPr indent="-177800" lvl="0" marL="0" marR="0" rtl="0" algn="l">
              <a:spcBef>
                <a:spcPts val="0"/>
              </a:spcBef>
              <a:spcAft>
                <a:spcPts val="0"/>
              </a:spcAft>
              <a:buClr>
                <a:srgbClr val="007BC2"/>
              </a:buClr>
              <a:buSzPts val="2800"/>
              <a:buFont typeface="Arial"/>
              <a:buChar char="•"/>
            </a:pPr>
            <a:r>
              <a:rPr b="1" i="0" lang="en-US" sz="2800" u="sng">
                <a:solidFill>
                  <a:srgbClr val="007BC2"/>
                </a:solidFill>
                <a:latin typeface="Times New Roman"/>
                <a:ea typeface="Times New Roman"/>
                <a:cs typeface="Times New Roman"/>
                <a:sym typeface="Times New Roman"/>
                <a:hlinkClick r:id="rId3">
                  <a:extLst>
                    <a:ext uri="{A12FA001-AC4F-418D-AE19-62706E023703}">
                      <ahyp:hlinkClr val="tx"/>
                    </a:ext>
                  </a:extLst>
                </a:hlinkClick>
              </a:rPr>
              <a:t>Uterine fibroids</a:t>
            </a:r>
            <a:r>
              <a:rPr b="0" i="0" lang="en-US" sz="2800">
                <a:solidFill>
                  <a:srgbClr val="555555"/>
                </a:solidFill>
                <a:latin typeface="Times New Roman"/>
                <a:ea typeface="Times New Roman"/>
                <a:cs typeface="Times New Roman"/>
                <a:sym typeface="Times New Roman"/>
              </a:rPr>
              <a:t>. Small, noncancerous tumors in the uterus.</a:t>
            </a:r>
            <a:endParaRPr/>
          </a:p>
          <a:p>
            <a:pPr indent="-177800" lvl="0" marL="0" marR="0" rtl="0" algn="l">
              <a:spcBef>
                <a:spcPts val="0"/>
              </a:spcBef>
              <a:spcAft>
                <a:spcPts val="0"/>
              </a:spcAft>
              <a:buClr>
                <a:srgbClr val="007BC2"/>
              </a:buClr>
              <a:buSzPts val="2800"/>
              <a:buFont typeface="Arial"/>
              <a:buChar char="•"/>
            </a:pPr>
            <a:r>
              <a:rPr b="1" i="0" lang="en-US" sz="2800" u="sng">
                <a:solidFill>
                  <a:srgbClr val="007BC2"/>
                </a:solidFill>
                <a:latin typeface="Times New Roman"/>
                <a:ea typeface="Times New Roman"/>
                <a:cs typeface="Times New Roman"/>
                <a:sym typeface="Times New Roman"/>
                <a:hlinkClick r:id="rId4">
                  <a:extLst>
                    <a:ext uri="{A12FA001-AC4F-418D-AE19-62706E023703}">
                      <ahyp:hlinkClr val="tx"/>
                    </a:ext>
                  </a:extLst>
                </a:hlinkClick>
              </a:rPr>
              <a:t>Uterine polyps</a:t>
            </a:r>
            <a:r>
              <a:rPr b="0" i="0" lang="en-US" sz="2800">
                <a:solidFill>
                  <a:srgbClr val="555555"/>
                </a:solidFill>
                <a:latin typeface="Times New Roman"/>
                <a:ea typeface="Times New Roman"/>
                <a:cs typeface="Times New Roman"/>
                <a:sym typeface="Times New Roman"/>
              </a:rPr>
              <a:t>. Growths in the endometrial lining of </a:t>
            </a:r>
            <a:r>
              <a:rPr lang="en-US" sz="2800">
                <a:solidFill>
                  <a:srgbClr val="555555"/>
                </a:solidFill>
                <a:latin typeface="Times New Roman"/>
                <a:ea typeface="Times New Roman"/>
                <a:cs typeface="Times New Roman"/>
                <a:sym typeface="Times New Roman"/>
              </a:rPr>
              <a:t>the </a:t>
            </a:r>
            <a:r>
              <a:rPr b="0" i="0" lang="en-US" sz="2800">
                <a:solidFill>
                  <a:srgbClr val="555555"/>
                </a:solidFill>
                <a:latin typeface="Times New Roman"/>
                <a:ea typeface="Times New Roman"/>
                <a:cs typeface="Times New Roman"/>
                <a:sym typeface="Times New Roman"/>
              </a:rPr>
              <a:t>uterus.</a:t>
            </a:r>
            <a:endParaRPr/>
          </a:p>
          <a:p>
            <a:pPr indent="-177800" lvl="0" marL="0" marR="0" rtl="0" algn="l">
              <a:spcBef>
                <a:spcPts val="0"/>
              </a:spcBef>
              <a:spcAft>
                <a:spcPts val="0"/>
              </a:spcAft>
              <a:buClr>
                <a:srgbClr val="007BC2"/>
              </a:buClr>
              <a:buSzPts val="2800"/>
              <a:buFont typeface="Arial"/>
              <a:buChar char="•"/>
            </a:pPr>
            <a:r>
              <a:rPr b="1" i="0" lang="en-US" sz="2800" u="sng">
                <a:solidFill>
                  <a:srgbClr val="007BC2"/>
                </a:solidFill>
                <a:latin typeface="Times New Roman"/>
                <a:ea typeface="Times New Roman"/>
                <a:cs typeface="Times New Roman"/>
                <a:sym typeface="Times New Roman"/>
                <a:hlinkClick r:id="rId5">
                  <a:extLst>
                    <a:ext uri="{A12FA001-AC4F-418D-AE19-62706E023703}">
                      <ahyp:hlinkClr val="tx"/>
                    </a:ext>
                  </a:extLst>
                </a:hlinkClick>
              </a:rPr>
              <a:t>Uterine cancer</a:t>
            </a:r>
            <a:r>
              <a:rPr b="0" i="0" lang="en-US" sz="2800">
                <a:solidFill>
                  <a:srgbClr val="555555"/>
                </a:solidFill>
                <a:latin typeface="Times New Roman"/>
                <a:ea typeface="Times New Roman"/>
                <a:cs typeface="Times New Roman"/>
                <a:sym typeface="Times New Roman"/>
              </a:rPr>
              <a:t>. Cancer of the uterus, such as endometrial cancer or uterine sarcoma.</a:t>
            </a:r>
            <a:endParaRPr/>
          </a:p>
          <a:p>
            <a:pPr indent="-177800" lvl="0" marL="0" marR="0" rtl="0" algn="l">
              <a:spcBef>
                <a:spcPts val="0"/>
              </a:spcBef>
              <a:spcAft>
                <a:spcPts val="0"/>
              </a:spcAft>
              <a:buClr>
                <a:srgbClr val="007BC2"/>
              </a:buClr>
              <a:buSzPts val="2800"/>
              <a:buFont typeface="Arial"/>
              <a:buChar char="•"/>
            </a:pPr>
            <a:r>
              <a:rPr b="1" i="0" lang="en-US" sz="2800">
                <a:solidFill>
                  <a:srgbClr val="007BC2"/>
                </a:solidFill>
                <a:latin typeface="Times New Roman"/>
                <a:ea typeface="Times New Roman"/>
                <a:cs typeface="Times New Roman"/>
                <a:sym typeface="Times New Roman"/>
              </a:rPr>
              <a:t>Endometriosis</a:t>
            </a:r>
            <a:r>
              <a:rPr b="0" i="0" lang="en-US" sz="2800">
                <a:solidFill>
                  <a:srgbClr val="555555"/>
                </a:solidFill>
                <a:latin typeface="Times New Roman"/>
                <a:ea typeface="Times New Roman"/>
                <a:cs typeface="Times New Roman"/>
                <a:sym typeface="Times New Roman"/>
              </a:rPr>
              <a:t>. A condition when the uterine lining grows in places other than uterus.</a:t>
            </a:r>
            <a:endParaRPr/>
          </a:p>
          <a:p>
            <a:pPr indent="-177800" lvl="0" marL="0" marR="0" rtl="0" algn="l">
              <a:spcBef>
                <a:spcPts val="0"/>
              </a:spcBef>
              <a:spcAft>
                <a:spcPts val="0"/>
              </a:spcAft>
              <a:buClr>
                <a:srgbClr val="007BC2"/>
              </a:buClr>
              <a:buSzPts val="2800"/>
              <a:buFont typeface="Arial"/>
              <a:buChar char="•"/>
            </a:pPr>
            <a:r>
              <a:rPr b="1" i="0" lang="en-US" sz="2800">
                <a:solidFill>
                  <a:srgbClr val="007BC2"/>
                </a:solidFill>
                <a:latin typeface="Times New Roman"/>
                <a:ea typeface="Times New Roman"/>
                <a:cs typeface="Times New Roman"/>
                <a:sym typeface="Times New Roman"/>
              </a:rPr>
              <a:t>Pelvic inflammatory disease</a:t>
            </a:r>
            <a:r>
              <a:rPr b="0" i="0" lang="en-US" sz="2800">
                <a:solidFill>
                  <a:srgbClr val="555555"/>
                </a:solidFill>
                <a:latin typeface="Times New Roman"/>
                <a:ea typeface="Times New Roman"/>
                <a:cs typeface="Times New Roman"/>
                <a:sym typeface="Times New Roman"/>
              </a:rPr>
              <a:t>. An infection of </a:t>
            </a:r>
            <a:r>
              <a:rPr lang="en-US" sz="2800">
                <a:solidFill>
                  <a:srgbClr val="555555"/>
                </a:solidFill>
                <a:latin typeface="Times New Roman"/>
                <a:ea typeface="Times New Roman"/>
                <a:cs typeface="Times New Roman"/>
                <a:sym typeface="Times New Roman"/>
              </a:rPr>
              <a:t>the </a:t>
            </a:r>
            <a:r>
              <a:rPr b="0" i="0" lang="en-US" sz="2800">
                <a:solidFill>
                  <a:srgbClr val="555555"/>
                </a:solidFill>
                <a:latin typeface="Times New Roman"/>
                <a:ea typeface="Times New Roman"/>
                <a:cs typeface="Times New Roman"/>
                <a:sym typeface="Times New Roman"/>
              </a:rPr>
              <a:t>reproductive organs.</a:t>
            </a:r>
            <a:endParaRPr/>
          </a:p>
          <a:p>
            <a:pPr indent="-177800" lvl="0" marL="0" marR="0" rtl="0" algn="l">
              <a:spcBef>
                <a:spcPts val="0"/>
              </a:spcBef>
              <a:spcAft>
                <a:spcPts val="0"/>
              </a:spcAft>
              <a:buClr>
                <a:srgbClr val="007BC2"/>
              </a:buClr>
              <a:buSzPts val="2800"/>
              <a:buFont typeface="Arial"/>
              <a:buChar char="•"/>
            </a:pPr>
            <a:r>
              <a:rPr b="1" i="0" lang="en-US" sz="2800">
                <a:solidFill>
                  <a:srgbClr val="007BC2"/>
                </a:solidFill>
                <a:latin typeface="Times New Roman"/>
                <a:ea typeface="Times New Roman"/>
                <a:cs typeface="Times New Roman"/>
                <a:sym typeface="Times New Roman"/>
              </a:rPr>
              <a:t>Uterine prolapse</a:t>
            </a:r>
            <a:r>
              <a:rPr b="0" i="0" lang="en-US" sz="2800">
                <a:solidFill>
                  <a:srgbClr val="555555"/>
                </a:solidFill>
                <a:latin typeface="Times New Roman"/>
                <a:ea typeface="Times New Roman"/>
                <a:cs typeface="Times New Roman"/>
                <a:sym typeface="Times New Roman"/>
              </a:rPr>
              <a:t>. A condition where the uterus slips out of position.</a:t>
            </a:r>
            <a:endParaRPr/>
          </a:p>
          <a:p>
            <a:pPr indent="-177800" lvl="0" marL="0" marR="0" rtl="0" algn="l">
              <a:spcBef>
                <a:spcPts val="0"/>
              </a:spcBef>
              <a:spcAft>
                <a:spcPts val="0"/>
              </a:spcAft>
              <a:buClr>
                <a:srgbClr val="007BC2"/>
              </a:buClr>
              <a:buSzPts val="2800"/>
              <a:buFont typeface="Arial"/>
              <a:buChar char="•"/>
            </a:pPr>
            <a:r>
              <a:rPr b="1" i="0" lang="en-US" sz="2800">
                <a:solidFill>
                  <a:srgbClr val="007BC2"/>
                </a:solidFill>
                <a:latin typeface="Times New Roman"/>
                <a:ea typeface="Times New Roman"/>
                <a:cs typeface="Times New Roman"/>
                <a:sym typeface="Times New Roman"/>
              </a:rPr>
              <a:t>Infertility</a:t>
            </a:r>
            <a:r>
              <a:rPr b="0" i="0" lang="en-US" sz="2800">
                <a:solidFill>
                  <a:srgbClr val="555555"/>
                </a:solidFill>
                <a:latin typeface="Times New Roman"/>
                <a:ea typeface="Times New Roman"/>
                <a:cs typeface="Times New Roman"/>
                <a:sym typeface="Times New Roman"/>
              </a:rPr>
              <a:t>. The inability to get pregnant.</a:t>
            </a:r>
            <a:endParaRPr b="0" i="0" sz="2800">
              <a:solidFill>
                <a:srgbClr val="555555"/>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5400"/>
              <a:buFont typeface="Times New Roman"/>
              <a:buNone/>
            </a:pPr>
            <a:r>
              <a:rPr b="1" lang="en-US" sz="5400">
                <a:solidFill>
                  <a:srgbClr val="C00000"/>
                </a:solidFill>
                <a:latin typeface="Times New Roman"/>
                <a:ea typeface="Times New Roman"/>
                <a:cs typeface="Times New Roman"/>
                <a:sym typeface="Times New Roman"/>
              </a:rPr>
              <a:t>INTRODUCTION</a:t>
            </a:r>
            <a:endParaRPr b="1" sz="5400">
              <a:solidFill>
                <a:srgbClr val="C00000"/>
              </a:solidFill>
              <a:latin typeface="Times New Roman"/>
              <a:ea typeface="Times New Roman"/>
              <a:cs typeface="Times New Roman"/>
              <a:sym typeface="Times New Roman"/>
            </a:endParaRPr>
          </a:p>
        </p:txBody>
      </p:sp>
      <p:sp>
        <p:nvSpPr>
          <p:cNvPr id="142" name="Google Shape;142;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The </a:t>
            </a:r>
            <a:r>
              <a:rPr b="1" lang="en-US">
                <a:latin typeface="Times New Roman"/>
                <a:ea typeface="Times New Roman"/>
                <a:cs typeface="Times New Roman"/>
                <a:sym typeface="Times New Roman"/>
              </a:rPr>
              <a:t>uterine tubes</a:t>
            </a:r>
            <a:r>
              <a:rPr lang="en-US">
                <a:latin typeface="Times New Roman"/>
                <a:ea typeface="Times New Roman"/>
                <a:cs typeface="Times New Roman"/>
                <a:sym typeface="Times New Roman"/>
              </a:rPr>
              <a:t> (or fallopian tubes, oviducts, salpinx) are muscular ‘J-shaped’ tubes, found in the female reproductive tract.</a:t>
            </a:r>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They lie in the upper border of the</a:t>
            </a:r>
            <a:r>
              <a:rPr b="1" lang="en-US">
                <a:latin typeface="Times New Roman"/>
                <a:ea typeface="Times New Roman"/>
                <a:cs typeface="Times New Roman"/>
                <a:sym typeface="Times New Roman"/>
              </a:rPr>
              <a:t> broad ligament</a:t>
            </a:r>
            <a:r>
              <a:rPr lang="en-US">
                <a:latin typeface="Times New Roman"/>
                <a:ea typeface="Times New Roman"/>
                <a:cs typeface="Times New Roman"/>
                <a:sym typeface="Times New Roman"/>
              </a:rPr>
              <a:t>, extending laterally from the uterus, opening into the abdominal cavity, near the ovaries.</a:t>
            </a:r>
            <a:endParaRPr>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13"/>
          <p:cNvPicPr preferRelativeResize="0"/>
          <p:nvPr/>
        </p:nvPicPr>
        <p:blipFill rotWithShape="1">
          <a:blip r:embed="rId3">
            <a:alphaModFix/>
          </a:blip>
          <a:srcRect b="0" l="0" r="0" t="0"/>
          <a:stretch/>
        </p:blipFill>
        <p:spPr>
          <a:xfrm>
            <a:off x="1980843" y="380736"/>
            <a:ext cx="8230313" cy="609652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4"/>
          <p:cNvSpPr/>
          <p:nvPr/>
        </p:nvSpPr>
        <p:spPr>
          <a:xfrm>
            <a:off x="601664" y="4907980"/>
            <a:ext cx="4551362" cy="36933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Overview of the female reproductive tract.</a:t>
            </a:r>
            <a:endParaRPr b="0" i="0" sz="1200" u="none" cap="none" strike="noStrike">
              <a:solidFill>
                <a:srgbClr val="008178"/>
              </a:solidFill>
              <a:latin typeface="Arial"/>
              <a:ea typeface="Arial"/>
              <a:cs typeface="Arial"/>
              <a:sym typeface="Arial"/>
            </a:endParaRPr>
          </a:p>
        </p:txBody>
      </p:sp>
      <p:pic>
        <p:nvPicPr>
          <p:cNvPr descr="Diagram illustrating the overview of the female reproductive tract, including the vagina, fallopian tubes, uterus, and cervix." id="153" name="Google Shape;153;p14">
            <a:hlinkClick r:id="rId3"/>
          </p:cNvPr>
          <p:cNvPicPr preferRelativeResize="0"/>
          <p:nvPr/>
        </p:nvPicPr>
        <p:blipFill rotWithShape="1">
          <a:blip r:embed="rId4">
            <a:alphaModFix/>
          </a:blip>
          <a:srcRect b="0" l="0" r="0" t="0"/>
          <a:stretch/>
        </p:blipFill>
        <p:spPr>
          <a:xfrm>
            <a:off x="1287463" y="709612"/>
            <a:ext cx="4305300" cy="40481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p:nvPr/>
        </p:nvSpPr>
        <p:spPr>
          <a:xfrm>
            <a:off x="0" y="903238"/>
            <a:ext cx="12039600"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C00000"/>
              </a:buClr>
              <a:buSzPts val="2800"/>
              <a:buFont typeface="Times New Roman"/>
              <a:buNone/>
            </a:pPr>
            <a:r>
              <a:rPr b="1" lang="en-US" sz="2800">
                <a:solidFill>
                  <a:srgbClr val="C00000"/>
                </a:solidFill>
                <a:latin typeface="Times New Roman"/>
                <a:ea typeface="Times New Roman"/>
                <a:cs typeface="Times New Roman"/>
                <a:sym typeface="Times New Roman"/>
              </a:rPr>
              <a:t>Relations </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Anterior, posterior and superior - In front of, behind and above the uterine tubes are peritoneum cavity and intestines</a:t>
            </a:r>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Lateral - On either side of the uterine tubes are the side walls of the pelvis</a:t>
            </a:r>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Inferior - The broad ligaments and ovaries lie below the uterine tubes </a:t>
            </a:r>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Medial - The uterus lies below the two uterine tubes</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p:nvPr/>
        </p:nvSpPr>
        <p:spPr>
          <a:xfrm>
            <a:off x="161925" y="2090261"/>
            <a:ext cx="11896725" cy="22467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C00000"/>
              </a:buClr>
              <a:buSzPts val="2800"/>
              <a:buFont typeface="Times New Roman"/>
              <a:buNone/>
            </a:pPr>
            <a:r>
              <a:rPr b="1" lang="en-US" sz="2800">
                <a:solidFill>
                  <a:srgbClr val="C00000"/>
                </a:solidFill>
                <a:latin typeface="Times New Roman"/>
                <a:ea typeface="Times New Roman"/>
                <a:cs typeface="Times New Roman"/>
                <a:sym typeface="Times New Roman"/>
              </a:rPr>
              <a:t>Supports</a:t>
            </a:r>
            <a:endParaRPr/>
          </a:p>
          <a:p>
            <a:pPr indent="0" lvl="0" marL="0" marR="0" rtl="0" algn="l">
              <a:spcBef>
                <a:spcPts val="0"/>
              </a:spcBef>
              <a:spcAft>
                <a:spcPts val="0"/>
              </a:spcAft>
              <a:buClr>
                <a:schemeClr val="dk1"/>
              </a:buClr>
              <a:buSzPts val="2800"/>
              <a:buFont typeface="Calibri"/>
              <a:buNone/>
            </a:pPr>
            <a:r>
              <a:t/>
            </a:r>
            <a:endParaRPr b="1" sz="2800">
              <a:solidFill>
                <a:srgbClr val="C00000"/>
              </a:solidFill>
              <a:latin typeface="Times New Roman"/>
              <a:ea typeface="Times New Roman"/>
              <a:cs typeface="Times New Roman"/>
              <a:sym typeface="Times New Roman"/>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The uterine tubes are held in place by their attachment to the uterus </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The peritoneum folds over them as the broad ligaments and extend at the sides to form the </a:t>
            </a:r>
            <a:r>
              <a:rPr b="1" lang="en-US" sz="2800">
                <a:solidFill>
                  <a:schemeClr val="dk1"/>
                </a:solidFill>
                <a:latin typeface="Times New Roman"/>
                <a:ea typeface="Times New Roman"/>
                <a:cs typeface="Times New Roman"/>
                <a:sym typeface="Times New Roman"/>
              </a:rPr>
              <a:t>infundibulo pelvic ligaments</a:t>
            </a:r>
            <a:endParaRPr b="1" sz="280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p:nvPr/>
        </p:nvSpPr>
        <p:spPr>
          <a:xfrm>
            <a:off x="152400" y="0"/>
            <a:ext cx="12039599" cy="65556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Structure </a:t>
            </a:r>
            <a:endParaRPr/>
          </a:p>
          <a:p>
            <a:pPr indent="0" lvl="0" marL="0" marR="0" rtl="0" algn="l">
              <a:spcBef>
                <a:spcPts val="0"/>
              </a:spcBef>
              <a:spcAft>
                <a:spcPts val="0"/>
              </a:spcAft>
              <a:buClr>
                <a:schemeClr val="dk1"/>
              </a:buClr>
              <a:buSzPts val="2800"/>
              <a:buFont typeface="Calibri"/>
              <a:buNone/>
            </a:pPr>
            <a:r>
              <a:t/>
            </a:r>
            <a:endParaRPr b="1" sz="2800">
              <a:solidFill>
                <a:srgbClr val="C00000"/>
              </a:solidFill>
              <a:latin typeface="Times New Roman"/>
              <a:ea typeface="Times New Roman"/>
              <a:cs typeface="Times New Roman"/>
              <a:sym typeface="Times New Roman"/>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The tube is 10  to 13 cm long</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The lumen of the tube provides a pathway from outside to the peritoneum cavity</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The uterine tube has 4 portions</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The interstitial portion is 1.25 cm long and lies within the walls of the uterus</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Its lumen is 1 mm wide</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The Isthmus is another narrow part which extends to 2.5 cm from the uterus </a:t>
            </a:r>
            <a:endParaRPr/>
          </a:p>
          <a:p>
            <a:pPr indent="0" lvl="0" marL="0" marR="0" rtl="0" algn="l">
              <a:spcBef>
                <a:spcPts val="0"/>
              </a:spcBef>
              <a:spcAft>
                <a:spcPts val="0"/>
              </a:spcAft>
              <a:buNone/>
            </a:pPr>
            <a:r>
              <a:rPr lang="en-US" sz="2800">
                <a:solidFill>
                  <a:schemeClr val="dk1"/>
                </a:solidFill>
                <a:latin typeface="Calibri"/>
                <a:ea typeface="Calibri"/>
                <a:cs typeface="Calibri"/>
                <a:sym typeface="Calibri"/>
              </a:rPr>
              <a:t>The Ampulla is the wider portion 5 cm long where fertilization usually occur </a:t>
            </a:r>
            <a:endParaRPr/>
          </a:p>
          <a:p>
            <a:pPr indent="0" lvl="0" marL="0" marR="0" rtl="0" algn="l">
              <a:spcBef>
                <a:spcPts val="0"/>
              </a:spcBef>
              <a:spcAft>
                <a:spcPts val="0"/>
              </a:spcAft>
              <a:buNone/>
            </a:pPr>
            <a:r>
              <a:rPr lang="en-US" sz="2800">
                <a:solidFill>
                  <a:schemeClr val="dk1"/>
                </a:solidFill>
                <a:latin typeface="Calibri"/>
                <a:ea typeface="Calibri"/>
                <a:cs typeface="Calibri"/>
                <a:sym typeface="Calibri"/>
              </a:rPr>
              <a:t>The infundibulum is the funnel-shaped fringed end which is composed of many processes known as fimbriae</a:t>
            </a:r>
            <a:endParaRPr/>
          </a:p>
          <a:p>
            <a:pPr indent="0" lvl="0" marL="0" marR="0" rtl="0" algn="l">
              <a:spcBef>
                <a:spcPts val="0"/>
              </a:spcBef>
              <a:spcAft>
                <a:spcPts val="0"/>
              </a:spcAft>
              <a:buNone/>
            </a:pPr>
            <a:r>
              <a:rPr lang="en-US" sz="2800">
                <a:solidFill>
                  <a:schemeClr val="dk1"/>
                </a:solidFill>
                <a:latin typeface="Calibri"/>
                <a:ea typeface="Calibri"/>
                <a:cs typeface="Calibri"/>
                <a:sym typeface="Calibri"/>
              </a:rPr>
              <a:t>One fimbria is elongated to form the ovarian fimbria which is attached to the ovary</a:t>
            </a:r>
            <a:endParaRPr/>
          </a:p>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2800"/>
              <a:buFont typeface="Calibri"/>
              <a:buNone/>
            </a:pPr>
            <a:r>
              <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p:nvPr/>
        </p:nvSpPr>
        <p:spPr>
          <a:xfrm>
            <a:off x="3" y="-64200"/>
            <a:ext cx="12011100" cy="6986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C00000"/>
                </a:solidFill>
                <a:latin typeface="Times New Roman"/>
                <a:ea typeface="Times New Roman"/>
                <a:cs typeface="Times New Roman"/>
                <a:sym typeface="Times New Roman"/>
              </a:rPr>
              <a:t>Layers </a:t>
            </a:r>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The lining - This is a mucous membrane of ciliated cubical epithelium that are thrown into folds known as plicae</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These folds slow the movement of the ovum on its way to the uterus</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The cells in the lining produce a secretion containing glycogen which nourishes the ovum</a:t>
            </a:r>
            <a:endParaRPr/>
          </a:p>
          <a:p>
            <a:pPr indent="0" lvl="0" marL="0" marR="0" rtl="0" algn="l">
              <a:spcBef>
                <a:spcPts val="0"/>
              </a:spcBef>
              <a:spcAft>
                <a:spcPts val="0"/>
              </a:spcAft>
              <a:buClr>
                <a:schemeClr val="dk1"/>
              </a:buClr>
              <a:buSzPts val="2800"/>
              <a:buFont typeface="Calibri"/>
              <a:buNone/>
            </a:pPr>
            <a:r>
              <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Beneath the lining is a layer of vascular connective tissue </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The muscle coat - This consists of two layers of smooth muscles an inner circular layer and outer longitudinal layer</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The peristaltic movement of the tube is due to these muscles.</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The tube is covered with peritoneum</a:t>
            </a:r>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p:nvPr/>
        </p:nvSpPr>
        <p:spPr>
          <a:xfrm>
            <a:off x="0" y="0"/>
            <a:ext cx="8229600" cy="74174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C00000"/>
                </a:solidFill>
                <a:latin typeface="Times New Roman"/>
                <a:ea typeface="Times New Roman"/>
                <a:cs typeface="Times New Roman"/>
                <a:sym typeface="Times New Roman"/>
              </a:rPr>
              <a:t>Functions</a:t>
            </a:r>
            <a:endParaRPr/>
          </a:p>
          <a:p>
            <a:pPr indent="0" lvl="0" marL="0" marR="0" rtl="0" algn="l">
              <a:spcBef>
                <a:spcPts val="0"/>
              </a:spcBef>
              <a:spcAft>
                <a:spcPts val="0"/>
              </a:spcAft>
              <a:buNone/>
            </a:pPr>
            <a:r>
              <a:t/>
            </a:r>
            <a:endParaRPr b="1" i="0" sz="28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2800">
                <a:solidFill>
                  <a:srgbClr val="000000"/>
                </a:solidFill>
                <a:latin typeface="Times New Roman"/>
                <a:ea typeface="Times New Roman"/>
                <a:cs typeface="Times New Roman"/>
                <a:sym typeface="Times New Roman"/>
              </a:rPr>
              <a:t>The main function of the uterine tubes is to assist in the </a:t>
            </a:r>
            <a:r>
              <a:rPr b="1" i="0" lang="en-US" sz="2800">
                <a:solidFill>
                  <a:srgbClr val="000000"/>
                </a:solidFill>
                <a:latin typeface="Times New Roman"/>
                <a:ea typeface="Times New Roman"/>
                <a:cs typeface="Times New Roman"/>
                <a:sym typeface="Times New Roman"/>
              </a:rPr>
              <a:t>transfer</a:t>
            </a:r>
            <a:r>
              <a:rPr b="0" i="0" lang="en-US" sz="2800">
                <a:solidFill>
                  <a:srgbClr val="000000"/>
                </a:solidFill>
                <a:latin typeface="Times New Roman"/>
                <a:ea typeface="Times New Roman"/>
                <a:cs typeface="Times New Roman"/>
                <a:sym typeface="Times New Roman"/>
              </a:rPr>
              <a:t> and </a:t>
            </a:r>
            <a:r>
              <a:rPr b="1" i="0" lang="en-US" sz="2800">
                <a:solidFill>
                  <a:srgbClr val="000000"/>
                </a:solidFill>
                <a:latin typeface="Times New Roman"/>
                <a:ea typeface="Times New Roman"/>
                <a:cs typeface="Times New Roman"/>
                <a:sym typeface="Times New Roman"/>
              </a:rPr>
              <a:t>transport</a:t>
            </a:r>
            <a:r>
              <a:rPr b="0" i="0" lang="en-US" sz="2800">
                <a:solidFill>
                  <a:srgbClr val="000000"/>
                </a:solidFill>
                <a:latin typeface="Times New Roman"/>
                <a:ea typeface="Times New Roman"/>
                <a:cs typeface="Times New Roman"/>
                <a:sym typeface="Times New Roman"/>
              </a:rPr>
              <a:t> of the ovum from the ovary to the uterus.</a:t>
            </a:r>
            <a:endParaRPr/>
          </a:p>
          <a:p>
            <a:pPr indent="0" lvl="0" marL="0" marR="0" rtl="0" algn="l">
              <a:spcBef>
                <a:spcPts val="0"/>
              </a:spcBef>
              <a:spcAft>
                <a:spcPts val="0"/>
              </a:spcAft>
              <a:buNone/>
            </a:pPr>
            <a:r>
              <a:rPr b="0" i="0" lang="en-US" sz="2800">
                <a:solidFill>
                  <a:srgbClr val="000000"/>
                </a:solidFill>
                <a:latin typeface="Times New Roman"/>
                <a:ea typeface="Times New Roman"/>
                <a:cs typeface="Times New Roman"/>
                <a:sym typeface="Times New Roman"/>
              </a:rPr>
              <a:t>The ultrastructure of the uterine tubes facilitates the movement of the female gamete:</a:t>
            </a:r>
            <a:endParaRPr/>
          </a:p>
          <a:p>
            <a:pPr indent="-177800" lvl="0" marL="0" marR="0" rtl="0" algn="l">
              <a:spcBef>
                <a:spcPts val="0"/>
              </a:spcBef>
              <a:spcAft>
                <a:spcPts val="0"/>
              </a:spcAft>
              <a:buClr>
                <a:srgbClr val="000000"/>
              </a:buClr>
              <a:buSzPts val="2800"/>
              <a:buFont typeface="Arial"/>
              <a:buChar char="•"/>
            </a:pPr>
            <a:r>
              <a:rPr b="1" i="0" lang="en-US" sz="2800">
                <a:solidFill>
                  <a:srgbClr val="000000"/>
                </a:solidFill>
                <a:latin typeface="Times New Roman"/>
                <a:ea typeface="Times New Roman"/>
                <a:cs typeface="Times New Roman"/>
                <a:sym typeface="Times New Roman"/>
              </a:rPr>
              <a:t>The inner mucosa</a:t>
            </a:r>
            <a:r>
              <a:rPr b="0" i="0" lang="en-US" sz="2800">
                <a:solidFill>
                  <a:srgbClr val="000000"/>
                </a:solidFill>
                <a:latin typeface="Times New Roman"/>
                <a:ea typeface="Times New Roman"/>
                <a:cs typeface="Times New Roman"/>
                <a:sym typeface="Times New Roman"/>
              </a:rPr>
              <a:t> is lined with ciliated columnar epithelial cells and peg cells (non-ciliated secretory cells). They waft the ovum towards the uterus and supply it with nutrients.</a:t>
            </a:r>
            <a:endParaRPr/>
          </a:p>
          <a:p>
            <a:pPr indent="-177800" lvl="0" marL="0" marR="0" rtl="0" algn="l">
              <a:spcBef>
                <a:spcPts val="0"/>
              </a:spcBef>
              <a:spcAft>
                <a:spcPts val="0"/>
              </a:spcAft>
              <a:buClr>
                <a:srgbClr val="000000"/>
              </a:buClr>
              <a:buSzPts val="2800"/>
              <a:buFont typeface="Arial"/>
              <a:buChar char="•"/>
            </a:pPr>
            <a:r>
              <a:rPr b="1" i="0" lang="en-US" sz="2800">
                <a:solidFill>
                  <a:srgbClr val="000000"/>
                </a:solidFill>
                <a:latin typeface="Times New Roman"/>
                <a:ea typeface="Times New Roman"/>
                <a:cs typeface="Times New Roman"/>
                <a:sym typeface="Times New Roman"/>
              </a:rPr>
              <a:t>Smooth muscle layer</a:t>
            </a:r>
            <a:r>
              <a:rPr b="0" i="0" lang="en-US" sz="2800">
                <a:solidFill>
                  <a:srgbClr val="000000"/>
                </a:solidFill>
                <a:latin typeface="Times New Roman"/>
                <a:ea typeface="Times New Roman"/>
                <a:cs typeface="Times New Roman"/>
                <a:sym typeface="Times New Roman"/>
              </a:rPr>
              <a:t> contracts to assist with transportation of the ova and sperm. Muscle is sensitive to sex steroids, and thus peristalsis is greatest when oestrogen levels are high.</a:t>
            </a:r>
            <a:endParaRPr/>
          </a:p>
          <a:p>
            <a:pPr indent="0" lvl="0" marL="0" marR="0" rtl="0" algn="l">
              <a:spcBef>
                <a:spcPts val="0"/>
              </a:spcBef>
              <a:spcAft>
                <a:spcPts val="0"/>
              </a:spcAft>
              <a:buNone/>
            </a:pPr>
            <a:br>
              <a:rPr b="0" i="0" lang="en-US" sz="2800">
                <a:solidFill>
                  <a:srgbClr val="000000"/>
                </a:solidFill>
                <a:latin typeface="Times New Roman"/>
                <a:ea typeface="Times New Roman"/>
                <a:cs typeface="Times New Roman"/>
                <a:sym typeface="Times New Roman"/>
              </a:rPr>
            </a:br>
            <a:endParaRPr sz="2800">
              <a:solidFill>
                <a:schemeClr val="dk1"/>
              </a:solidFill>
              <a:latin typeface="Times New Roman"/>
              <a:ea typeface="Times New Roman"/>
              <a:cs typeface="Times New Roman"/>
              <a:sym typeface="Times New Roman"/>
            </a:endParaRPr>
          </a:p>
        </p:txBody>
      </p:sp>
      <p:sp>
        <p:nvSpPr>
          <p:cNvPr id="179" name="Google Shape;179;p19"/>
          <p:cNvSpPr/>
          <p:nvPr/>
        </p:nvSpPr>
        <p:spPr>
          <a:xfrm>
            <a:off x="8515349" y="174963"/>
            <a:ext cx="3905251"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Functions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Propels the ovum towards the uterus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Receives the spermatozoa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Provide a site for fertilization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It supplies the fertilized ovum with nutrition during its journey to the uterus</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0"/>
          <p:cNvSpPr/>
          <p:nvPr/>
        </p:nvSpPr>
        <p:spPr>
          <a:xfrm>
            <a:off x="66675" y="0"/>
            <a:ext cx="11791950" cy="57554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a:solidFill>
                  <a:srgbClr val="C00000"/>
                </a:solidFill>
                <a:latin typeface="Times New Roman"/>
                <a:ea typeface="Times New Roman"/>
                <a:cs typeface="Times New Roman"/>
                <a:sym typeface="Times New Roman"/>
              </a:rPr>
              <a:t>Anatomical Structure</a:t>
            </a:r>
            <a:endParaRPr/>
          </a:p>
          <a:p>
            <a:pPr indent="0" lvl="0" marL="0" marR="0" rtl="0" algn="l">
              <a:spcBef>
                <a:spcPts val="0"/>
              </a:spcBef>
              <a:spcAft>
                <a:spcPts val="0"/>
              </a:spcAft>
              <a:buNone/>
            </a:pPr>
            <a:r>
              <a:t/>
            </a:r>
            <a:endParaRPr b="1" i="0" sz="2800">
              <a:solidFill>
                <a:srgbClr val="C00000"/>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2800">
                <a:solidFill>
                  <a:srgbClr val="000000"/>
                </a:solidFill>
                <a:latin typeface="Times New Roman"/>
                <a:ea typeface="Times New Roman"/>
                <a:cs typeface="Times New Roman"/>
                <a:sym typeface="Times New Roman"/>
              </a:rPr>
              <a:t>The fallopian tube is described as having four parts (lateral to medial):</a:t>
            </a:r>
            <a:endParaRPr/>
          </a:p>
          <a:p>
            <a:pPr indent="-177800" lvl="0" marL="0" marR="0" rtl="0" algn="l">
              <a:spcBef>
                <a:spcPts val="0"/>
              </a:spcBef>
              <a:spcAft>
                <a:spcPts val="0"/>
              </a:spcAft>
              <a:buClr>
                <a:srgbClr val="000000"/>
              </a:buClr>
              <a:buSzPts val="2800"/>
              <a:buFont typeface="Arial"/>
              <a:buChar char="•"/>
            </a:pPr>
            <a:r>
              <a:rPr b="1" i="0" lang="en-US" sz="2800">
                <a:solidFill>
                  <a:srgbClr val="000000"/>
                </a:solidFill>
                <a:latin typeface="Times New Roman"/>
                <a:ea typeface="Times New Roman"/>
                <a:cs typeface="Times New Roman"/>
                <a:sym typeface="Times New Roman"/>
              </a:rPr>
              <a:t>Fimbriae </a:t>
            </a:r>
            <a:r>
              <a:rPr b="0" i="0" lang="en-US" sz="2800">
                <a:solidFill>
                  <a:srgbClr val="000000"/>
                </a:solidFill>
                <a:latin typeface="Times New Roman"/>
                <a:ea typeface="Times New Roman"/>
                <a:cs typeface="Times New Roman"/>
                <a:sym typeface="Times New Roman"/>
              </a:rPr>
              <a:t>– finger-like, ciliated projections which capture the ovum from the surface of the ovary.</a:t>
            </a:r>
            <a:endParaRPr/>
          </a:p>
          <a:p>
            <a:pPr indent="0" lvl="0" marL="0" marR="0" rtl="0" algn="l">
              <a:spcBef>
                <a:spcPts val="0"/>
              </a:spcBef>
              <a:spcAft>
                <a:spcPts val="0"/>
              </a:spcAft>
              <a:buClr>
                <a:schemeClr val="dk1"/>
              </a:buClr>
              <a:buSzPts val="2800"/>
              <a:buFont typeface="Arial"/>
              <a:buNone/>
            </a:pPr>
            <a:r>
              <a:t/>
            </a:r>
            <a:endParaRPr b="0" i="0" sz="2800">
              <a:solidFill>
                <a:srgbClr val="000000"/>
              </a:solidFill>
              <a:latin typeface="Times New Roman"/>
              <a:ea typeface="Times New Roman"/>
              <a:cs typeface="Times New Roman"/>
              <a:sym typeface="Times New Roman"/>
            </a:endParaRPr>
          </a:p>
          <a:p>
            <a:pPr indent="-177800" lvl="0" marL="0" marR="0" rtl="0" algn="l">
              <a:spcBef>
                <a:spcPts val="0"/>
              </a:spcBef>
              <a:spcAft>
                <a:spcPts val="0"/>
              </a:spcAft>
              <a:buClr>
                <a:srgbClr val="000000"/>
              </a:buClr>
              <a:buSzPts val="2800"/>
              <a:buFont typeface="Arial"/>
              <a:buChar char="•"/>
            </a:pPr>
            <a:r>
              <a:rPr b="1" i="0" lang="en-US" sz="2800">
                <a:solidFill>
                  <a:srgbClr val="000000"/>
                </a:solidFill>
                <a:latin typeface="Times New Roman"/>
                <a:ea typeface="Times New Roman"/>
                <a:cs typeface="Times New Roman"/>
                <a:sym typeface="Times New Roman"/>
              </a:rPr>
              <a:t>Infundibulum </a:t>
            </a:r>
            <a:r>
              <a:rPr b="0" i="0" lang="en-US" sz="2800">
                <a:solidFill>
                  <a:srgbClr val="000000"/>
                </a:solidFill>
                <a:latin typeface="Times New Roman"/>
                <a:ea typeface="Times New Roman"/>
                <a:cs typeface="Times New Roman"/>
                <a:sym typeface="Times New Roman"/>
              </a:rPr>
              <a:t>– funnel-shaped opening near the ovary to which fimbriae are attached.</a:t>
            </a:r>
            <a:endParaRPr/>
          </a:p>
          <a:p>
            <a:pPr indent="0" lvl="0" marL="0" marR="0" rtl="0" algn="l">
              <a:spcBef>
                <a:spcPts val="0"/>
              </a:spcBef>
              <a:spcAft>
                <a:spcPts val="0"/>
              </a:spcAft>
              <a:buClr>
                <a:schemeClr val="dk1"/>
              </a:buClr>
              <a:buSzPts val="2800"/>
              <a:buFont typeface="Arial"/>
              <a:buNone/>
            </a:pPr>
            <a:r>
              <a:t/>
            </a:r>
            <a:endParaRPr b="0" i="0" sz="2800">
              <a:solidFill>
                <a:srgbClr val="000000"/>
              </a:solidFill>
              <a:latin typeface="Times New Roman"/>
              <a:ea typeface="Times New Roman"/>
              <a:cs typeface="Times New Roman"/>
              <a:sym typeface="Times New Roman"/>
            </a:endParaRPr>
          </a:p>
          <a:p>
            <a:pPr indent="-177800" lvl="0" marL="0" marR="0" rtl="0" algn="l">
              <a:spcBef>
                <a:spcPts val="0"/>
              </a:spcBef>
              <a:spcAft>
                <a:spcPts val="0"/>
              </a:spcAft>
              <a:buClr>
                <a:srgbClr val="000000"/>
              </a:buClr>
              <a:buSzPts val="2800"/>
              <a:buFont typeface="Arial"/>
              <a:buChar char="•"/>
            </a:pPr>
            <a:r>
              <a:rPr b="1" i="0" lang="en-US" sz="2800">
                <a:solidFill>
                  <a:srgbClr val="000000"/>
                </a:solidFill>
                <a:latin typeface="Times New Roman"/>
                <a:ea typeface="Times New Roman"/>
                <a:cs typeface="Times New Roman"/>
                <a:sym typeface="Times New Roman"/>
              </a:rPr>
              <a:t>Ampulla </a:t>
            </a:r>
            <a:r>
              <a:rPr b="0" i="0" lang="en-US" sz="2800">
                <a:solidFill>
                  <a:srgbClr val="000000"/>
                </a:solidFill>
                <a:latin typeface="Times New Roman"/>
                <a:ea typeface="Times New Roman"/>
                <a:cs typeface="Times New Roman"/>
                <a:sym typeface="Times New Roman"/>
              </a:rPr>
              <a:t>– widest section of the uterine tubes. Fertilization usually occurs here.</a:t>
            </a:r>
            <a:endParaRPr/>
          </a:p>
          <a:p>
            <a:pPr indent="0" lvl="0" marL="0" marR="0" rtl="0" algn="l">
              <a:spcBef>
                <a:spcPts val="0"/>
              </a:spcBef>
              <a:spcAft>
                <a:spcPts val="0"/>
              </a:spcAft>
              <a:buNone/>
            </a:pPr>
            <a:r>
              <a:t/>
            </a:r>
            <a:endParaRPr b="0" i="0" sz="2800">
              <a:solidFill>
                <a:srgbClr val="000000"/>
              </a:solidFill>
              <a:latin typeface="Times New Roman"/>
              <a:ea typeface="Times New Roman"/>
              <a:cs typeface="Times New Roman"/>
              <a:sym typeface="Times New Roman"/>
            </a:endParaRPr>
          </a:p>
          <a:p>
            <a:pPr indent="-177800" lvl="0" marL="0" marR="0" rtl="0" algn="l">
              <a:spcBef>
                <a:spcPts val="0"/>
              </a:spcBef>
              <a:spcAft>
                <a:spcPts val="0"/>
              </a:spcAft>
              <a:buClr>
                <a:srgbClr val="000000"/>
              </a:buClr>
              <a:buSzPts val="2800"/>
              <a:buFont typeface="Arial"/>
              <a:buChar char="•"/>
            </a:pPr>
            <a:r>
              <a:rPr b="1" i="0" lang="en-US" sz="2800">
                <a:solidFill>
                  <a:srgbClr val="000000"/>
                </a:solidFill>
                <a:latin typeface="Times New Roman"/>
                <a:ea typeface="Times New Roman"/>
                <a:cs typeface="Times New Roman"/>
                <a:sym typeface="Times New Roman"/>
              </a:rPr>
              <a:t>Isthmus </a:t>
            </a:r>
            <a:r>
              <a:rPr b="0" i="0" lang="en-US" sz="2800">
                <a:solidFill>
                  <a:srgbClr val="000000"/>
                </a:solidFill>
                <a:latin typeface="Times New Roman"/>
                <a:ea typeface="Times New Roman"/>
                <a:cs typeface="Times New Roman"/>
                <a:sym typeface="Times New Roman"/>
              </a:rPr>
              <a:t>– narrow section of the uterine tubes connecting the ampulla to the uterine cavity.</a:t>
            </a:r>
            <a:endParaRPr b="0" i="0" sz="2800">
              <a:solidFill>
                <a:srgbClr val="000000"/>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1"/>
          <p:cNvSpPr/>
          <p:nvPr/>
        </p:nvSpPr>
        <p:spPr>
          <a:xfrm>
            <a:off x="885825" y="2419350"/>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sana Begum, TeachMeAnatomy</a:t>
            </a:r>
            <a:endParaRPr b="0" i="0" sz="1200" u="sng" cap="none" strike="noStrike">
              <a:solidFill>
                <a:srgbClr val="008178"/>
              </a:solidFill>
              <a:latin typeface="Arial"/>
              <a:ea typeface="Arial"/>
              <a:cs typeface="Arial"/>
              <a:sym typeface="Arial"/>
              <a:hlinkClick r:id="rId3">
                <a:extLst>
                  <a:ext uri="{A12FA001-AC4F-418D-AE19-62706E023703}">
                    <ahyp:hlinkClr val="tx"/>
                  </a:ext>
                </a:extLst>
              </a:hlinkClick>
            </a:endParaRPr>
          </a:p>
          <a:p>
            <a:pPr indent="0" lvl="0" marL="0" marR="0" rtl="0" algn="l">
              <a:lnSpc>
                <a:spcPct val="100000"/>
              </a:lnSpc>
              <a:spcBef>
                <a:spcPts val="0"/>
              </a:spcBef>
              <a:spcAft>
                <a:spcPts val="0"/>
              </a:spcAft>
              <a:buClr>
                <a:srgbClr val="008178"/>
              </a:buClr>
              <a:buSzPts val="1200"/>
              <a:buFont typeface="Arial"/>
              <a:buNone/>
            </a:pPr>
            <a:r>
              <a:rPr b="0" i="0" lang="en-US" sz="1200" u="sng" cap="none" strike="noStrike">
                <a:solidFill>
                  <a:srgbClr val="008178"/>
                </a:solidFill>
                <a:latin typeface="Arial"/>
                <a:ea typeface="Arial"/>
                <a:cs typeface="Arial"/>
                <a:sym typeface="Arial"/>
                <a:hlinkClick r:id="rId4">
                  <a:extLst>
                    <a:ext uri="{A12FA001-AC4F-418D-AE19-62706E023703}">
                      <ahyp:hlinkClr val="tx"/>
                    </a:ext>
                  </a:extLst>
                </a:hlinkClick>
              </a:rPr>
              <a:t>  </a:t>
            </a:r>
            <a:r>
              <a:rPr b="0" i="0" lang="en-US" sz="21400" u="none" cap="none" strike="noStrike">
                <a:solidFill>
                  <a:schemeClr val="dk1"/>
                </a:solidFill>
                <a:latin typeface="Calibri"/>
                <a:ea typeface="Calibri"/>
                <a:cs typeface="Calibri"/>
                <a:sym typeface="Calibri"/>
              </a:rPr>
              <a:t> </a:t>
            </a:r>
            <a:endParaRPr b="0" i="0" sz="1200" u="none" cap="none" strike="noStrike">
              <a:solidFill>
                <a:srgbClr val="008178"/>
              </a:solidFill>
              <a:latin typeface="Arial"/>
              <a:ea typeface="Arial"/>
              <a:cs typeface="Arial"/>
              <a:sym typeface="Arial"/>
            </a:endParaRPr>
          </a:p>
        </p:txBody>
      </p:sp>
      <p:pic>
        <p:nvPicPr>
          <p:cNvPr descr="Illustration of the four main parts of the fallopian tubes." id="190" name="Google Shape;190;p21">
            <a:hlinkClick r:id="rId5"/>
          </p:cNvPr>
          <p:cNvPicPr preferRelativeResize="0"/>
          <p:nvPr/>
        </p:nvPicPr>
        <p:blipFill rotWithShape="1">
          <a:blip r:embed="rId6">
            <a:alphaModFix/>
          </a:blip>
          <a:srcRect b="0" l="0" r="0" t="0"/>
          <a:stretch/>
        </p:blipFill>
        <p:spPr>
          <a:xfrm>
            <a:off x="1020763" y="927100"/>
            <a:ext cx="5353050" cy="3400425"/>
          </a:xfrm>
          <a:prstGeom prst="rect">
            <a:avLst/>
          </a:prstGeom>
          <a:noFill/>
          <a:ln>
            <a:noFill/>
          </a:ln>
        </p:spPr>
      </p:pic>
      <p:sp>
        <p:nvSpPr>
          <p:cNvPr id="191" name="Google Shape;191;p21"/>
          <p:cNvSpPr/>
          <p:nvPr/>
        </p:nvSpPr>
        <p:spPr>
          <a:xfrm>
            <a:off x="1170610" y="5096946"/>
            <a:ext cx="558358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a:solidFill>
                  <a:srgbClr val="000000"/>
                </a:solidFill>
                <a:latin typeface="Arial"/>
                <a:ea typeface="Arial"/>
                <a:cs typeface="Arial"/>
                <a:sym typeface="Arial"/>
              </a:rPr>
              <a:t>The fallopian tubes are comprised of four main parts.</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2"/>
          <p:cNvSpPr/>
          <p:nvPr/>
        </p:nvSpPr>
        <p:spPr>
          <a:xfrm>
            <a:off x="200025" y="-244811"/>
            <a:ext cx="6096000" cy="4401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C00000"/>
                </a:solidFill>
                <a:latin typeface="Times New Roman"/>
                <a:ea typeface="Times New Roman"/>
                <a:cs typeface="Times New Roman"/>
                <a:sym typeface="Times New Roman"/>
              </a:rPr>
              <a:t>Vascular Supply and Lymphatics</a:t>
            </a:r>
            <a:endParaRPr b="1" i="0" sz="2800">
              <a:solidFill>
                <a:srgbClr val="C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i="0" sz="2800">
              <a:solidFill>
                <a:srgbClr val="C00000"/>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2800">
                <a:solidFill>
                  <a:srgbClr val="000000"/>
                </a:solidFill>
                <a:latin typeface="Times New Roman"/>
                <a:ea typeface="Times New Roman"/>
                <a:cs typeface="Times New Roman"/>
                <a:sym typeface="Times New Roman"/>
              </a:rPr>
              <a:t>The arterial supply to the uterine tubes is via the </a:t>
            </a:r>
            <a:r>
              <a:rPr b="1" i="0" lang="en-US" sz="2800">
                <a:solidFill>
                  <a:srgbClr val="000000"/>
                </a:solidFill>
                <a:latin typeface="Times New Roman"/>
                <a:ea typeface="Times New Roman"/>
                <a:cs typeface="Times New Roman"/>
                <a:sym typeface="Times New Roman"/>
              </a:rPr>
              <a:t>uterine </a:t>
            </a:r>
            <a:r>
              <a:rPr b="0" i="0" lang="en-US" sz="2800">
                <a:solidFill>
                  <a:srgbClr val="000000"/>
                </a:solidFill>
                <a:latin typeface="Times New Roman"/>
                <a:ea typeface="Times New Roman"/>
                <a:cs typeface="Times New Roman"/>
                <a:sym typeface="Times New Roman"/>
              </a:rPr>
              <a:t>and </a:t>
            </a:r>
            <a:r>
              <a:rPr b="1" i="0" lang="en-US" sz="2800">
                <a:solidFill>
                  <a:srgbClr val="000000"/>
                </a:solidFill>
                <a:latin typeface="Times New Roman"/>
                <a:ea typeface="Times New Roman"/>
                <a:cs typeface="Times New Roman"/>
                <a:sym typeface="Times New Roman"/>
              </a:rPr>
              <a:t>ovarian arteries</a:t>
            </a:r>
            <a:r>
              <a:rPr b="0" i="0" lang="en-US" sz="2800">
                <a:solidFill>
                  <a:srgbClr val="000000"/>
                </a:solidFill>
                <a:latin typeface="Times New Roman"/>
                <a:ea typeface="Times New Roman"/>
                <a:cs typeface="Times New Roman"/>
                <a:sym typeface="Times New Roman"/>
              </a:rPr>
              <a:t>. Venous drainage is via the </a:t>
            </a:r>
            <a:r>
              <a:rPr b="1" i="0" lang="en-US" sz="2800">
                <a:solidFill>
                  <a:srgbClr val="000000"/>
                </a:solidFill>
                <a:latin typeface="Times New Roman"/>
                <a:ea typeface="Times New Roman"/>
                <a:cs typeface="Times New Roman"/>
                <a:sym typeface="Times New Roman"/>
              </a:rPr>
              <a:t>uterine </a:t>
            </a:r>
            <a:r>
              <a:rPr b="0" i="0" lang="en-US" sz="2800">
                <a:solidFill>
                  <a:srgbClr val="000000"/>
                </a:solidFill>
                <a:latin typeface="Times New Roman"/>
                <a:ea typeface="Times New Roman"/>
                <a:cs typeface="Times New Roman"/>
                <a:sym typeface="Times New Roman"/>
              </a:rPr>
              <a:t>and </a:t>
            </a:r>
            <a:r>
              <a:rPr b="1" i="0" lang="en-US" sz="2800">
                <a:solidFill>
                  <a:srgbClr val="000000"/>
                </a:solidFill>
                <a:latin typeface="Times New Roman"/>
                <a:ea typeface="Times New Roman"/>
                <a:cs typeface="Times New Roman"/>
                <a:sym typeface="Times New Roman"/>
              </a:rPr>
              <a:t>ovarian veins. </a:t>
            </a:r>
            <a:endParaRPr b="0" i="0" sz="28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2800">
                <a:solidFill>
                  <a:srgbClr val="000000"/>
                </a:solidFill>
                <a:latin typeface="Times New Roman"/>
                <a:ea typeface="Times New Roman"/>
                <a:cs typeface="Times New Roman"/>
                <a:sym typeface="Times New Roman"/>
              </a:rPr>
              <a:t>Lymphatic drainage is via the </a:t>
            </a:r>
            <a:r>
              <a:rPr b="1" i="0" lang="en-US" sz="2800">
                <a:solidFill>
                  <a:srgbClr val="000000"/>
                </a:solidFill>
                <a:latin typeface="Times New Roman"/>
                <a:ea typeface="Times New Roman"/>
                <a:cs typeface="Times New Roman"/>
                <a:sym typeface="Times New Roman"/>
              </a:rPr>
              <a:t>iliac, sacral </a:t>
            </a:r>
            <a:r>
              <a:rPr b="0" i="0" lang="en-US" sz="2800">
                <a:solidFill>
                  <a:srgbClr val="000000"/>
                </a:solidFill>
                <a:latin typeface="Times New Roman"/>
                <a:ea typeface="Times New Roman"/>
                <a:cs typeface="Times New Roman"/>
                <a:sym typeface="Times New Roman"/>
              </a:rPr>
              <a:t>and </a:t>
            </a:r>
            <a:r>
              <a:rPr b="1" i="0" lang="en-US" sz="2800">
                <a:solidFill>
                  <a:srgbClr val="000000"/>
                </a:solidFill>
                <a:latin typeface="Times New Roman"/>
                <a:ea typeface="Times New Roman"/>
                <a:cs typeface="Times New Roman"/>
                <a:sym typeface="Times New Roman"/>
              </a:rPr>
              <a:t>aortic lymph nodes.</a:t>
            </a:r>
            <a:endParaRPr b="0" i="0" sz="28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2800">
                <a:solidFill>
                  <a:srgbClr val="FFFFFF"/>
                </a:solidFill>
                <a:latin typeface="Times New Roman"/>
                <a:ea typeface="Times New Roman"/>
                <a:cs typeface="Times New Roman"/>
                <a:sym typeface="Times New Roman"/>
              </a:rPr>
              <a:t> By </a:t>
            </a:r>
            <a:r>
              <a:rPr b="0" i="0" lang="en-US" sz="2800" u="none" strike="noStrike">
                <a:solidFill>
                  <a:srgbClr val="FFFFFF"/>
                </a:solidFill>
                <a:latin typeface="Times New Roman"/>
                <a:ea typeface="Times New Roman"/>
                <a:cs typeface="Times New Roman"/>
                <a:sym typeface="Times New Roman"/>
              </a:rPr>
              <a:t>TeachMe</a:t>
            </a:r>
            <a:br>
              <a:rPr lang="en-US" sz="2800">
                <a:solidFill>
                  <a:schemeClr val="dk1"/>
                </a:solidFill>
                <a:latin typeface="Times New Roman"/>
                <a:ea typeface="Times New Roman"/>
                <a:cs typeface="Times New Roman"/>
                <a:sym typeface="Times New Roman"/>
              </a:rPr>
            </a:br>
            <a:endParaRPr sz="2800">
              <a:solidFill>
                <a:schemeClr val="dk1"/>
              </a:solidFill>
              <a:latin typeface="Times New Roman"/>
              <a:ea typeface="Times New Roman"/>
              <a:cs typeface="Times New Roman"/>
              <a:sym typeface="Times New Roman"/>
            </a:endParaRPr>
          </a:p>
        </p:txBody>
      </p:sp>
      <p:sp>
        <p:nvSpPr>
          <p:cNvPr id="197" name="Google Shape;197;p22"/>
          <p:cNvSpPr/>
          <p:nvPr/>
        </p:nvSpPr>
        <p:spPr>
          <a:xfrm>
            <a:off x="7153275" y="838676"/>
            <a:ext cx="2783839" cy="3447098"/>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 By TeachMeSerie (2026)</a:t>
            </a:r>
            <a:endParaRPr b="0" i="0" sz="1200" u="sng" cap="none" strike="noStrike">
              <a:solidFill>
                <a:srgbClr val="008178"/>
              </a:solidFill>
              <a:latin typeface="Arial"/>
              <a:ea typeface="Arial"/>
              <a:cs typeface="Arial"/>
              <a:sym typeface="Arial"/>
              <a:hlinkClick r:id="rId3">
                <a:extLst>
                  <a:ext uri="{A12FA001-AC4F-418D-AE19-62706E023703}">
                    <ahyp:hlinkClr val="tx"/>
                  </a:ext>
                </a:extLst>
              </a:hlinkClick>
            </a:endParaRPr>
          </a:p>
          <a:p>
            <a:pPr indent="0" lvl="0" marL="0" marR="0" rtl="0" algn="l">
              <a:lnSpc>
                <a:spcPct val="100000"/>
              </a:lnSpc>
              <a:spcBef>
                <a:spcPts val="0"/>
              </a:spcBef>
              <a:spcAft>
                <a:spcPts val="0"/>
              </a:spcAft>
              <a:buClr>
                <a:srgbClr val="008178"/>
              </a:buClr>
              <a:buSzPts val="1200"/>
              <a:buFont typeface="Arial"/>
              <a:buNone/>
            </a:pPr>
            <a:r>
              <a:rPr b="0" i="0" lang="en-US" sz="1200" u="sng" cap="none" strike="noStrike">
                <a:solidFill>
                  <a:srgbClr val="008178"/>
                </a:solidFill>
                <a:latin typeface="Arial"/>
                <a:ea typeface="Arial"/>
                <a:cs typeface="Arial"/>
                <a:sym typeface="Arial"/>
                <a:hlinkClick r:id="rId4">
                  <a:extLst>
                    <a:ext uri="{A12FA001-AC4F-418D-AE19-62706E023703}">
                      <ahyp:hlinkClr val="tx"/>
                    </a:ext>
                  </a:extLst>
                </a:hlinkClick>
              </a:rPr>
              <a:t>  </a:t>
            </a:r>
            <a:r>
              <a:rPr b="0" i="0" lang="en-US" sz="20000" u="none" cap="none" strike="noStrike">
                <a:solidFill>
                  <a:schemeClr val="dk1"/>
                </a:solidFill>
                <a:latin typeface="Calibri"/>
                <a:ea typeface="Calibri"/>
                <a:cs typeface="Calibri"/>
                <a:sym typeface="Calibri"/>
              </a:rPr>
              <a:t> </a:t>
            </a:r>
            <a:endParaRPr b="0" i="0" sz="1200" u="none" cap="none" strike="noStrike">
              <a:solidFill>
                <a:srgbClr val="008178"/>
              </a:solidFill>
              <a:latin typeface="Arial"/>
              <a:ea typeface="Arial"/>
              <a:cs typeface="Arial"/>
              <a:sym typeface="Arial"/>
            </a:endParaRPr>
          </a:p>
        </p:txBody>
      </p:sp>
      <p:pic>
        <p:nvPicPr>
          <p:cNvPr descr="Fig 1.3 - Posterior view of the arterial supply to the female reproductive tract." id="198" name="Google Shape;198;p22">
            <a:hlinkClick r:id="rId5"/>
          </p:cNvPr>
          <p:cNvPicPr preferRelativeResize="0"/>
          <p:nvPr/>
        </p:nvPicPr>
        <p:blipFill rotWithShape="1">
          <a:blip r:embed="rId6">
            <a:alphaModFix/>
          </a:blip>
          <a:srcRect b="0" l="0" r="0" t="0"/>
          <a:stretch/>
        </p:blipFill>
        <p:spPr>
          <a:xfrm>
            <a:off x="7496175" y="0"/>
            <a:ext cx="4695825" cy="3181351"/>
          </a:xfrm>
          <a:prstGeom prst="rect">
            <a:avLst/>
          </a:prstGeom>
          <a:noFill/>
          <a:ln>
            <a:noFill/>
          </a:ln>
        </p:spPr>
      </p:pic>
      <p:sp>
        <p:nvSpPr>
          <p:cNvPr id="199" name="Google Shape;199;p22"/>
          <p:cNvSpPr/>
          <p:nvPr/>
        </p:nvSpPr>
        <p:spPr>
          <a:xfrm>
            <a:off x="7239000" y="3410397"/>
            <a:ext cx="6096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a:solidFill>
                  <a:srgbClr val="000000"/>
                </a:solidFill>
                <a:latin typeface="Arial"/>
                <a:ea typeface="Arial"/>
                <a:cs typeface="Arial"/>
                <a:sym typeface="Arial"/>
              </a:rPr>
              <a:t>Posterior view of the arterial supply to the female reproductive tract.</a:t>
            </a:r>
            <a:endParaRPr sz="1800">
              <a:solidFill>
                <a:schemeClr val="dk1"/>
              </a:solidFill>
              <a:latin typeface="Calibri"/>
              <a:ea typeface="Calibri"/>
              <a:cs typeface="Calibri"/>
              <a:sym typeface="Calibri"/>
            </a:endParaRPr>
          </a:p>
        </p:txBody>
      </p:sp>
      <p:sp>
        <p:nvSpPr>
          <p:cNvPr id="200" name="Google Shape;200;p22"/>
          <p:cNvSpPr/>
          <p:nvPr/>
        </p:nvSpPr>
        <p:spPr>
          <a:xfrm>
            <a:off x="200025" y="4156502"/>
            <a:ext cx="6496050"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C00000"/>
                </a:solidFill>
                <a:latin typeface="Times New Roman"/>
                <a:ea typeface="Times New Roman"/>
                <a:cs typeface="Times New Roman"/>
                <a:sym typeface="Times New Roman"/>
              </a:rPr>
              <a:t>Innervation</a:t>
            </a:r>
            <a:endParaRPr/>
          </a:p>
          <a:p>
            <a:pPr indent="0" lvl="0" marL="0" marR="0" rtl="0" algn="l">
              <a:spcBef>
                <a:spcPts val="0"/>
              </a:spcBef>
              <a:spcAft>
                <a:spcPts val="0"/>
              </a:spcAft>
              <a:buNone/>
            </a:pPr>
            <a:r>
              <a:rPr b="0" i="0" lang="en-US" sz="2800">
                <a:solidFill>
                  <a:srgbClr val="000000"/>
                </a:solidFill>
                <a:latin typeface="Times New Roman"/>
                <a:ea typeface="Times New Roman"/>
                <a:cs typeface="Times New Roman"/>
                <a:sym typeface="Times New Roman"/>
              </a:rPr>
              <a:t>The uterine tubes receive both sympathetic and parasympathetic innervation via nerve fibres from the </a:t>
            </a:r>
            <a:r>
              <a:rPr b="1" i="0" lang="en-US" sz="2800">
                <a:solidFill>
                  <a:srgbClr val="000000"/>
                </a:solidFill>
                <a:latin typeface="Times New Roman"/>
                <a:ea typeface="Times New Roman"/>
                <a:cs typeface="Times New Roman"/>
                <a:sym typeface="Times New Roman"/>
              </a:rPr>
              <a:t>ovarian </a:t>
            </a:r>
            <a:r>
              <a:rPr b="0" i="0" lang="en-US" sz="2800">
                <a:solidFill>
                  <a:srgbClr val="000000"/>
                </a:solidFill>
                <a:latin typeface="Times New Roman"/>
                <a:ea typeface="Times New Roman"/>
                <a:cs typeface="Times New Roman"/>
                <a:sym typeface="Times New Roman"/>
              </a:rPr>
              <a:t>and </a:t>
            </a:r>
            <a:r>
              <a:rPr b="1" i="0" lang="en-US" sz="2800">
                <a:solidFill>
                  <a:srgbClr val="000000"/>
                </a:solidFill>
                <a:latin typeface="Times New Roman"/>
                <a:ea typeface="Times New Roman"/>
                <a:cs typeface="Times New Roman"/>
                <a:sym typeface="Times New Roman"/>
              </a:rPr>
              <a:t>uterine (pelvic) plexuses</a:t>
            </a:r>
            <a:r>
              <a:rPr b="0" i="0" lang="en-US" sz="2800">
                <a:solidFill>
                  <a:srgbClr val="000000"/>
                </a:solidFill>
                <a:latin typeface="Times New Roman"/>
                <a:ea typeface="Times New Roman"/>
                <a:cs typeface="Times New Roman"/>
                <a:sym typeface="Times New Roman"/>
              </a:rPr>
              <a:t>. Sensory afferent fibres run from </a:t>
            </a:r>
            <a:r>
              <a:rPr b="1" i="0" lang="en-US" sz="2800">
                <a:solidFill>
                  <a:srgbClr val="000000"/>
                </a:solidFill>
                <a:latin typeface="Times New Roman"/>
                <a:ea typeface="Times New Roman"/>
                <a:cs typeface="Times New Roman"/>
                <a:sym typeface="Times New Roman"/>
              </a:rPr>
              <a:t>T11- L1</a:t>
            </a:r>
            <a:r>
              <a:rPr b="0" i="0" lang="en-US" sz="2800">
                <a:solidFill>
                  <a:srgbClr val="000000"/>
                </a:solidFill>
                <a:latin typeface="Times New Roman"/>
                <a:ea typeface="Times New Roman"/>
                <a:cs typeface="Times New Roman"/>
                <a:sym typeface="Times New Roman"/>
              </a:rPr>
              <a:t>.</a:t>
            </a:r>
            <a:endParaRPr b="0" i="0" sz="2800">
              <a:solidFill>
                <a:srgbClr val="000000"/>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3"/>
          <p:cNvSpPr/>
          <p:nvPr/>
        </p:nvSpPr>
        <p:spPr>
          <a:xfrm>
            <a:off x="523875" y="957293"/>
            <a:ext cx="10534650" cy="38472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cap="none">
                <a:solidFill>
                  <a:srgbClr val="C00000"/>
                </a:solidFill>
                <a:latin typeface="Times New Roman"/>
                <a:ea typeface="Times New Roman"/>
                <a:cs typeface="Times New Roman"/>
                <a:sym typeface="Times New Roman"/>
              </a:rPr>
              <a:t>CLINICAL RELEVANCE</a:t>
            </a:r>
            <a:endParaRPr/>
          </a:p>
          <a:p>
            <a:pPr indent="0" lvl="0" marL="0" marR="0" rtl="0" algn="l">
              <a:spcBef>
                <a:spcPts val="0"/>
              </a:spcBef>
              <a:spcAft>
                <a:spcPts val="0"/>
              </a:spcAft>
              <a:buNone/>
            </a:pPr>
            <a:r>
              <a:rPr b="1" i="0" lang="en-US" sz="1800">
                <a:solidFill>
                  <a:srgbClr val="000000"/>
                </a:solidFill>
                <a:latin typeface="Times New Roman"/>
                <a:ea typeface="Times New Roman"/>
                <a:cs typeface="Times New Roman"/>
                <a:sym typeface="Times New Roman"/>
              </a:rPr>
              <a:t>Salpingitis</a:t>
            </a:r>
            <a:endParaRPr b="1" i="0" sz="18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rPr b="1" i="0" lang="en-US" sz="1800">
                <a:solidFill>
                  <a:srgbClr val="000000"/>
                </a:solidFill>
                <a:latin typeface="Times New Roman"/>
                <a:ea typeface="Times New Roman"/>
                <a:cs typeface="Times New Roman"/>
                <a:sym typeface="Times New Roman"/>
              </a:rPr>
              <a:t>Salpingitis</a:t>
            </a:r>
            <a:r>
              <a:rPr b="0" i="0" lang="en-US" sz="1800">
                <a:solidFill>
                  <a:srgbClr val="000000"/>
                </a:solidFill>
                <a:latin typeface="Times New Roman"/>
                <a:ea typeface="Times New Roman"/>
                <a:cs typeface="Times New Roman"/>
                <a:sym typeface="Times New Roman"/>
              </a:rPr>
              <a:t> is inflammation of the uterine tubes that is usually caused by bacterial infection. It can cause adhesions of the mucosa which may partially or completely block the lumen of the uterine tubes. This can potentially result in</a:t>
            </a:r>
            <a:r>
              <a:rPr b="1" i="0" lang="en-US" sz="1800">
                <a:solidFill>
                  <a:srgbClr val="000000"/>
                </a:solidFill>
                <a:latin typeface="Times New Roman"/>
                <a:ea typeface="Times New Roman"/>
                <a:cs typeface="Times New Roman"/>
                <a:sym typeface="Times New Roman"/>
              </a:rPr>
              <a:t> infertility</a:t>
            </a:r>
            <a:r>
              <a:rPr b="0" i="0" lang="en-US" sz="1800">
                <a:solidFill>
                  <a:srgbClr val="000000"/>
                </a:solidFill>
                <a:latin typeface="Times New Roman"/>
                <a:ea typeface="Times New Roman"/>
                <a:cs typeface="Times New Roman"/>
                <a:sym typeface="Times New Roman"/>
              </a:rPr>
              <a:t> or an </a:t>
            </a:r>
            <a:r>
              <a:rPr b="1" i="0" lang="en-US" sz="1800">
                <a:solidFill>
                  <a:srgbClr val="000000"/>
                </a:solidFill>
                <a:latin typeface="Times New Roman"/>
                <a:ea typeface="Times New Roman"/>
                <a:cs typeface="Times New Roman"/>
                <a:sym typeface="Times New Roman"/>
              </a:rPr>
              <a:t>ectopic pregnancy</a:t>
            </a:r>
            <a:r>
              <a:rPr b="0" i="0" lang="en-US" sz="1800">
                <a:solidFill>
                  <a:srgbClr val="000000"/>
                </a:solidFill>
                <a:latin typeface="Times New Roman"/>
                <a:ea typeface="Times New Roman"/>
                <a:cs typeface="Times New Roman"/>
                <a:sym typeface="Times New Roman"/>
              </a:rPr>
              <a:t>.</a:t>
            </a:r>
            <a:endParaRPr/>
          </a:p>
          <a:p>
            <a:pPr indent="0" lvl="0" marL="0" marR="0" rtl="0" algn="l">
              <a:spcBef>
                <a:spcPts val="0"/>
              </a:spcBef>
              <a:spcAft>
                <a:spcPts val="0"/>
              </a:spcAft>
              <a:buNone/>
            </a:pPr>
            <a:r>
              <a:t/>
            </a:r>
            <a:endParaRPr b="0" i="0" sz="18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rPr b="1" i="0" lang="en-US" sz="1800">
                <a:solidFill>
                  <a:srgbClr val="000000"/>
                </a:solidFill>
                <a:latin typeface="Times New Roman"/>
                <a:ea typeface="Times New Roman"/>
                <a:cs typeface="Times New Roman"/>
                <a:sym typeface="Times New Roman"/>
              </a:rPr>
              <a:t>Ectopic Pregnancy</a:t>
            </a:r>
            <a:endParaRPr/>
          </a:p>
          <a:p>
            <a:pPr indent="0" lvl="0" marL="0" marR="0" rtl="0" algn="l">
              <a:spcBef>
                <a:spcPts val="0"/>
              </a:spcBef>
              <a:spcAft>
                <a:spcPts val="0"/>
              </a:spcAft>
              <a:buNone/>
            </a:pPr>
            <a:r>
              <a:rPr b="0" i="0" lang="en-US" sz="1800">
                <a:solidFill>
                  <a:srgbClr val="000000"/>
                </a:solidFill>
                <a:latin typeface="Times New Roman"/>
                <a:ea typeface="Times New Roman"/>
                <a:cs typeface="Times New Roman"/>
                <a:sym typeface="Times New Roman"/>
              </a:rPr>
              <a:t>If the lumen of the uterine tube is </a:t>
            </a:r>
            <a:r>
              <a:rPr b="1" i="0" lang="en-US" sz="1800">
                <a:solidFill>
                  <a:srgbClr val="000000"/>
                </a:solidFill>
                <a:latin typeface="Times New Roman"/>
                <a:ea typeface="Times New Roman"/>
                <a:cs typeface="Times New Roman"/>
                <a:sym typeface="Times New Roman"/>
              </a:rPr>
              <a:t>partially occluded</a:t>
            </a:r>
            <a:r>
              <a:rPr b="0" i="0" lang="en-US" sz="1800">
                <a:solidFill>
                  <a:srgbClr val="000000"/>
                </a:solidFill>
                <a:latin typeface="Times New Roman"/>
                <a:ea typeface="Times New Roman"/>
                <a:cs typeface="Times New Roman"/>
                <a:sym typeface="Times New Roman"/>
              </a:rPr>
              <a:t>, sperm may be able to pass through and fertilise the ovum. However, the fertilised egg may not be able to pass into the uterus – and can implant in the uterine tube. This is known as an ectopic pregnancy.</a:t>
            </a:r>
            <a:endParaRPr/>
          </a:p>
          <a:p>
            <a:pPr indent="0" lvl="0" marL="0" marR="0" rtl="0" algn="l">
              <a:spcBef>
                <a:spcPts val="0"/>
              </a:spcBef>
              <a:spcAft>
                <a:spcPts val="0"/>
              </a:spcAft>
              <a:buNone/>
            </a:pPr>
            <a:r>
              <a:t/>
            </a:r>
            <a:endParaRPr b="0" i="0" sz="18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1800">
                <a:solidFill>
                  <a:srgbClr val="000000"/>
                </a:solidFill>
                <a:latin typeface="Times New Roman"/>
                <a:ea typeface="Times New Roman"/>
                <a:cs typeface="Times New Roman"/>
                <a:sym typeface="Times New Roman"/>
              </a:rPr>
              <a:t>An ectopic pregnancy is a </a:t>
            </a:r>
            <a:r>
              <a:rPr b="1" i="0" lang="en-US" sz="1800">
                <a:solidFill>
                  <a:srgbClr val="000000"/>
                </a:solidFill>
                <a:latin typeface="Times New Roman"/>
                <a:ea typeface="Times New Roman"/>
                <a:cs typeface="Times New Roman"/>
                <a:sym typeface="Times New Roman"/>
              </a:rPr>
              <a:t>medical emergency</a:t>
            </a:r>
            <a:r>
              <a:rPr b="0" i="0" lang="en-US" sz="1800">
                <a:solidFill>
                  <a:srgbClr val="000000"/>
                </a:solidFill>
                <a:latin typeface="Times New Roman"/>
                <a:ea typeface="Times New Roman"/>
                <a:cs typeface="Times New Roman"/>
                <a:sym typeface="Times New Roman"/>
              </a:rPr>
              <a:t> – if not diagnosed early, the implanted blastocyst can cause rupture and haemorrhage of the affected tube.</a:t>
            </a:r>
            <a:endParaRPr b="0" i="0" sz="1800">
              <a:solidFill>
                <a:srgbClr val="000000"/>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4"/>
          <p:cNvSpPr/>
          <p:nvPr/>
        </p:nvSpPr>
        <p:spPr>
          <a:xfrm>
            <a:off x="552450" y="904875"/>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CC-BY-SA-3.0], via Wikimedia Commons</a:t>
            </a:r>
            <a:endParaRPr b="0" i="0" sz="1200" u="sng" cap="none" strike="noStrike">
              <a:solidFill>
                <a:srgbClr val="008178"/>
              </a:solidFill>
              <a:latin typeface="Arial"/>
              <a:ea typeface="Arial"/>
              <a:cs typeface="Arial"/>
              <a:sym typeface="Arial"/>
              <a:hlinkClick r:id="rId3">
                <a:extLst>
                  <a:ext uri="{A12FA001-AC4F-418D-AE19-62706E023703}">
                    <ahyp:hlinkClr val="tx"/>
                  </a:ext>
                </a:extLst>
              </a:hlinkClick>
            </a:endParaRPr>
          </a:p>
          <a:p>
            <a:pPr indent="0" lvl="0" marL="0" marR="0" rtl="0" algn="l">
              <a:lnSpc>
                <a:spcPct val="100000"/>
              </a:lnSpc>
              <a:spcBef>
                <a:spcPts val="0"/>
              </a:spcBef>
              <a:spcAft>
                <a:spcPts val="0"/>
              </a:spcAft>
              <a:buClr>
                <a:srgbClr val="008178"/>
              </a:buClr>
              <a:buSzPts val="1200"/>
              <a:buFont typeface="Arial"/>
              <a:buNone/>
            </a:pPr>
            <a:r>
              <a:rPr b="0" i="0" lang="en-US" sz="1200" u="sng" cap="none" strike="noStrike">
                <a:solidFill>
                  <a:srgbClr val="008178"/>
                </a:solidFill>
                <a:latin typeface="Arial"/>
                <a:ea typeface="Arial"/>
                <a:cs typeface="Arial"/>
                <a:sym typeface="Arial"/>
                <a:hlinkClick r:id="rId4">
                  <a:extLst>
                    <a:ext uri="{A12FA001-AC4F-418D-AE19-62706E023703}">
                      <ahyp:hlinkClr val="tx"/>
                    </a:ext>
                  </a:extLst>
                </a:hlinkClick>
              </a:rPr>
              <a:t>  </a:t>
            </a:r>
            <a:endParaRPr b="0" i="0" sz="15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Fig 4</a:t>
            </a:r>
            <a:br>
              <a:rPr b="0" i="0" lang="en-US" sz="1200" u="none" cap="none" strike="noStrike">
                <a:solidFill>
                  <a:srgbClr val="000000"/>
                </a:solidFill>
                <a:latin typeface="Arial"/>
                <a:ea typeface="Arial"/>
                <a:cs typeface="Arial"/>
                <a:sym typeface="Arial"/>
              </a:rPr>
            </a:br>
            <a:r>
              <a:rPr b="0" i="0" lang="en-US" sz="1200" u="none" cap="none" strike="noStrike">
                <a:solidFill>
                  <a:srgbClr val="000000"/>
                </a:solidFill>
                <a:latin typeface="Arial"/>
                <a:ea typeface="Arial"/>
                <a:cs typeface="Arial"/>
                <a:sym typeface="Arial"/>
              </a:rPr>
              <a:t>Ectopic pregnancy.</a:t>
            </a:r>
            <a:endParaRPr b="0" i="0" sz="1200" u="none" cap="none" strike="noStrike">
              <a:solidFill>
                <a:srgbClr val="008178"/>
              </a:solidFill>
              <a:latin typeface="Arial"/>
              <a:ea typeface="Arial"/>
              <a:cs typeface="Arial"/>
              <a:sym typeface="Arial"/>
            </a:endParaRPr>
          </a:p>
        </p:txBody>
      </p:sp>
      <p:pic>
        <p:nvPicPr>
          <p:cNvPr descr="An anatomical illustration depicting an ectopic pregnancy occurring in the Fallopian tube." id="211" name="Google Shape;211;p24">
            <a:hlinkClick r:id="rId5"/>
          </p:cNvPr>
          <p:cNvPicPr preferRelativeResize="0"/>
          <p:nvPr/>
        </p:nvPicPr>
        <p:blipFill rotWithShape="1">
          <a:blip r:embed="rId6">
            <a:alphaModFix/>
          </a:blip>
          <a:srcRect b="0" l="0" r="0" t="0"/>
          <a:stretch/>
        </p:blipFill>
        <p:spPr>
          <a:xfrm>
            <a:off x="687388" y="768350"/>
            <a:ext cx="3762375" cy="2505075"/>
          </a:xfrm>
          <a:prstGeom prst="rect">
            <a:avLst/>
          </a:prstGeom>
          <a:noFill/>
          <a:ln>
            <a:noFill/>
          </a:ln>
        </p:spPr>
      </p:pic>
      <p:sp>
        <p:nvSpPr>
          <p:cNvPr id="212" name="Google Shape;212;p24"/>
          <p:cNvSpPr/>
          <p:nvPr/>
        </p:nvSpPr>
        <p:spPr>
          <a:xfrm>
            <a:off x="1611714" y="3088759"/>
            <a:ext cx="212962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a:solidFill>
                  <a:srgbClr val="000000"/>
                </a:solidFill>
                <a:latin typeface="Arial"/>
                <a:ea typeface="Arial"/>
                <a:cs typeface="Arial"/>
                <a:sym typeface="Arial"/>
              </a:rPr>
              <a:t>Ectopic pregnancy.</a:t>
            </a:r>
            <a:endParaRPr sz="1800">
              <a:solidFill>
                <a:schemeClr val="dk1"/>
              </a:solidFill>
              <a:latin typeface="Calibri"/>
              <a:ea typeface="Calibri"/>
              <a:cs typeface="Calibri"/>
              <a:sym typeface="Calibri"/>
            </a:endParaRPr>
          </a:p>
        </p:txBody>
      </p:sp>
      <p:sp>
        <p:nvSpPr>
          <p:cNvPr id="213" name="Google Shape;213;p24"/>
          <p:cNvSpPr/>
          <p:nvPr/>
        </p:nvSpPr>
        <p:spPr>
          <a:xfrm>
            <a:off x="4962525" y="325815"/>
            <a:ext cx="6096000" cy="526297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a:solidFill>
                  <a:srgbClr val="C00000"/>
                </a:solidFill>
                <a:latin typeface="Times New Roman"/>
                <a:ea typeface="Times New Roman"/>
                <a:cs typeface="Times New Roman"/>
                <a:sym typeface="Times New Roman"/>
              </a:rPr>
              <a:t>Ligation of the Uterine Tubes</a:t>
            </a:r>
            <a:endParaRPr/>
          </a:p>
          <a:p>
            <a:pPr indent="0" lvl="0" marL="0" marR="0" rtl="0" algn="l">
              <a:spcBef>
                <a:spcPts val="0"/>
              </a:spcBef>
              <a:spcAft>
                <a:spcPts val="0"/>
              </a:spcAft>
              <a:buNone/>
            </a:pPr>
            <a:r>
              <a:rPr b="0" i="0" lang="en-US" sz="2800">
                <a:solidFill>
                  <a:srgbClr val="000000"/>
                </a:solidFill>
                <a:latin typeface="Times New Roman"/>
                <a:ea typeface="Times New Roman"/>
                <a:cs typeface="Times New Roman"/>
                <a:sym typeface="Times New Roman"/>
              </a:rPr>
              <a:t>Surgical cutting of the uterine tubes is a method of </a:t>
            </a:r>
            <a:r>
              <a:rPr b="1" i="0" lang="en-US" sz="2800">
                <a:solidFill>
                  <a:srgbClr val="000000"/>
                </a:solidFill>
                <a:latin typeface="Times New Roman"/>
                <a:ea typeface="Times New Roman"/>
                <a:cs typeface="Times New Roman"/>
                <a:sym typeface="Times New Roman"/>
              </a:rPr>
              <a:t>sterilisation</a:t>
            </a:r>
            <a:r>
              <a:rPr b="0" i="0" lang="en-US" sz="2800">
                <a:solidFill>
                  <a:srgbClr val="000000"/>
                </a:solidFill>
                <a:latin typeface="Times New Roman"/>
                <a:ea typeface="Times New Roman"/>
                <a:cs typeface="Times New Roman"/>
                <a:sym typeface="Times New Roman"/>
              </a:rPr>
              <a:t>. The oocyte is unable to pass into the uterus, and therefore cannot progress to a pregnancy.</a:t>
            </a:r>
            <a:endParaRPr/>
          </a:p>
          <a:p>
            <a:pPr indent="0" lvl="0" marL="0" marR="0" rtl="0" algn="l">
              <a:spcBef>
                <a:spcPts val="0"/>
              </a:spcBef>
              <a:spcAft>
                <a:spcPts val="0"/>
              </a:spcAft>
              <a:buNone/>
            </a:pPr>
            <a:r>
              <a:rPr b="0" i="0" lang="en-US" sz="2800">
                <a:solidFill>
                  <a:srgbClr val="000000"/>
                </a:solidFill>
                <a:latin typeface="Times New Roman"/>
                <a:ea typeface="Times New Roman"/>
                <a:cs typeface="Times New Roman"/>
                <a:sym typeface="Times New Roman"/>
              </a:rPr>
              <a:t>There are two main methods of ligation:</a:t>
            </a:r>
            <a:endParaRPr/>
          </a:p>
          <a:p>
            <a:pPr indent="-177800" lvl="0" marL="0" marR="0" rtl="0" algn="l">
              <a:spcBef>
                <a:spcPts val="0"/>
              </a:spcBef>
              <a:spcAft>
                <a:spcPts val="0"/>
              </a:spcAft>
              <a:buClr>
                <a:srgbClr val="000000"/>
              </a:buClr>
              <a:buSzPts val="2800"/>
              <a:buFont typeface="Arial"/>
              <a:buChar char="•"/>
            </a:pPr>
            <a:r>
              <a:rPr b="1" i="0" lang="en-US" sz="2800">
                <a:solidFill>
                  <a:srgbClr val="000000"/>
                </a:solidFill>
                <a:latin typeface="Times New Roman"/>
                <a:ea typeface="Times New Roman"/>
                <a:cs typeface="Times New Roman"/>
                <a:sym typeface="Times New Roman"/>
              </a:rPr>
              <a:t>Open abdominal</a:t>
            </a:r>
            <a:r>
              <a:rPr b="0" i="0" lang="en-US" sz="2800">
                <a:solidFill>
                  <a:srgbClr val="000000"/>
                </a:solidFill>
                <a:latin typeface="Times New Roman"/>
                <a:ea typeface="Times New Roman"/>
                <a:cs typeface="Times New Roman"/>
                <a:sym typeface="Times New Roman"/>
              </a:rPr>
              <a:t> – Carried out via a suprapubic incision </a:t>
            </a:r>
            <a:endParaRPr/>
          </a:p>
          <a:p>
            <a:pPr indent="0" lvl="0" marL="0" marR="0" rtl="0" algn="l">
              <a:spcBef>
                <a:spcPts val="0"/>
              </a:spcBef>
              <a:spcAft>
                <a:spcPts val="0"/>
              </a:spcAft>
              <a:buClr>
                <a:schemeClr val="dk1"/>
              </a:buClr>
              <a:buSzPts val="2800"/>
              <a:buFont typeface="Arial"/>
              <a:buNone/>
            </a:pPr>
            <a:r>
              <a:t/>
            </a:r>
            <a:endParaRPr sz="2800">
              <a:solidFill>
                <a:srgbClr val="000000"/>
              </a:solidFill>
              <a:latin typeface="Times New Roman"/>
              <a:ea typeface="Times New Roman"/>
              <a:cs typeface="Times New Roman"/>
              <a:sym typeface="Times New Roman"/>
            </a:endParaRPr>
          </a:p>
          <a:p>
            <a:pPr indent="-177800" lvl="0" marL="0" marR="0" rtl="0" algn="l">
              <a:spcBef>
                <a:spcPts val="0"/>
              </a:spcBef>
              <a:spcAft>
                <a:spcPts val="0"/>
              </a:spcAft>
              <a:buClr>
                <a:srgbClr val="000000"/>
              </a:buClr>
              <a:buSzPts val="2800"/>
              <a:buFont typeface="Arial"/>
              <a:buChar char="•"/>
            </a:pPr>
            <a:r>
              <a:rPr b="1" i="0" lang="en-US" sz="2800">
                <a:solidFill>
                  <a:srgbClr val="000000"/>
                </a:solidFill>
                <a:latin typeface="Times New Roman"/>
                <a:ea typeface="Times New Roman"/>
                <a:cs typeface="Times New Roman"/>
                <a:sym typeface="Times New Roman"/>
              </a:rPr>
              <a:t>Laparoscopic – </a:t>
            </a:r>
            <a:r>
              <a:rPr b="0" i="0" lang="en-US" sz="2800">
                <a:solidFill>
                  <a:srgbClr val="000000"/>
                </a:solidFill>
                <a:latin typeface="Times New Roman"/>
                <a:ea typeface="Times New Roman"/>
                <a:cs typeface="Times New Roman"/>
                <a:sym typeface="Times New Roman"/>
              </a:rPr>
              <a:t>Carried out via a fibre optic laparoscope, inserted via a small incision near the umbilicus.</a:t>
            </a:r>
            <a:endParaRPr b="0" i="0" sz="2800">
              <a:solidFill>
                <a:srgbClr val="000000"/>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5"/>
          <p:cNvSpPr/>
          <p:nvPr/>
        </p:nvSpPr>
        <p:spPr>
          <a:xfrm>
            <a:off x="495300" y="555189"/>
            <a:ext cx="6096000"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The fallopian tube is comprised of four parts. Which is located most medially?</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Fimbriae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Ampulla</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Isthmus</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Infundibulim</a:t>
            </a:r>
            <a:endParaRPr sz="1800">
              <a:solidFill>
                <a:schemeClr val="dk1"/>
              </a:solidFill>
              <a:latin typeface="Calibri"/>
              <a:ea typeface="Calibri"/>
              <a:cs typeface="Calibri"/>
              <a:sym typeface="Calibri"/>
            </a:endParaRPr>
          </a:p>
        </p:txBody>
      </p:sp>
      <p:sp>
        <p:nvSpPr>
          <p:cNvPr id="219" name="Google Shape;219;p25"/>
          <p:cNvSpPr/>
          <p:nvPr/>
        </p:nvSpPr>
        <p:spPr>
          <a:xfrm>
            <a:off x="6505575" y="555188"/>
            <a:ext cx="6096000"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Which of the following provides blood supply to the fallopian tubes?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Vaginal arteries</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Pudendal artery</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Rectal artery</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Ovarian artery</a:t>
            </a:r>
            <a:endParaRPr b="1" sz="1800">
              <a:solidFill>
                <a:schemeClr val="dk1"/>
              </a:solidFill>
              <a:latin typeface="Calibri"/>
              <a:ea typeface="Calibri"/>
              <a:cs typeface="Calibri"/>
              <a:sym typeface="Calibri"/>
            </a:endParaRPr>
          </a:p>
        </p:txBody>
      </p:sp>
      <p:sp>
        <p:nvSpPr>
          <p:cNvPr id="220" name="Google Shape;220;p25"/>
          <p:cNvSpPr/>
          <p:nvPr/>
        </p:nvSpPr>
        <p:spPr>
          <a:xfrm>
            <a:off x="495300" y="3907989"/>
            <a:ext cx="6096000"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Which of the following is the term for when a fertilised egg implants in the fallopian tube?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Ectopic pregnancy</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Placenta praevia</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Salpingitis</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Ligation of the fallopian tubes</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2026-01-22T16:57:59Z</dcterms:created>
  <dc:creator>HP</dc:creator>
</cp:coreProperties>
</file>