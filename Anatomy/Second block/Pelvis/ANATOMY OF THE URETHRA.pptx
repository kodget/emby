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2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6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0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8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9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2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9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9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9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6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3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154-4BF3-4D1C-8EA0-28D469412D7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B776D-2E92-4AE4-9D3F-5E11778D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1158" y="571482"/>
            <a:ext cx="8358246" cy="157163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ANATOMY OF THE URETHRA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BY</a:t>
            </a:r>
          </a:p>
          <a:p>
            <a:endParaRPr lang="en-AU" dirty="0">
              <a:latin typeface="Arial Black" pitchFamily="34" charset="0"/>
              <a:cs typeface="Arial" pitchFamily="34" charset="0"/>
            </a:endParaRPr>
          </a:p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DR A.O OJEWALE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9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Outline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Intro</a:t>
            </a:r>
          </a:p>
          <a:p>
            <a:pPr algn="just"/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</a:p>
          <a:p>
            <a:pPr algn="just"/>
            <a:r>
              <a:rPr lang="en-AU" sz="4400" dirty="0">
                <a:latin typeface="Arial" panose="020B0604020202020204" pitchFamily="34" charset="0"/>
                <a:cs typeface="Arial" panose="020B0604020202020204" pitchFamily="34" charset="0"/>
              </a:rPr>
              <a:t>The features of different </a:t>
            </a:r>
            <a:r>
              <a:rPr lang="en-AU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</a:p>
          <a:p>
            <a:pPr algn="just"/>
            <a:r>
              <a:rPr lang="en-AU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Urethral mucosa</a:t>
            </a:r>
          </a:p>
          <a:p>
            <a:pPr algn="just"/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Sphincters of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he Urethra</a:t>
            </a:r>
          </a:p>
          <a:p>
            <a:pPr algn="just"/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Applied Anatomy</a:t>
            </a:r>
            <a:endParaRPr lang="en-AU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0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0016" y="0"/>
            <a:ext cx="7660783" cy="57148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21" y="425004"/>
            <a:ext cx="7007188" cy="6432996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tubular passage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transmits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urine and seminal fluid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males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only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urine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females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male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about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18-20 cm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long.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neck of the urinary bladder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(EUO)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tip of the glans 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11414" y="1357298"/>
            <a:ext cx="406972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453322" y="6000769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Left view in the </a:t>
            </a:r>
            <a:r>
              <a:rPr lang="en-AU" dirty="0" err="1">
                <a:latin typeface="Arial" pitchFamily="34" charset="0"/>
                <a:cs typeface="Arial" pitchFamily="34" charset="0"/>
              </a:rPr>
              <a:t>sagittal</a:t>
            </a:r>
            <a:r>
              <a:rPr lang="en-AU" dirty="0">
                <a:latin typeface="Arial" pitchFamily="34" charset="0"/>
                <a:cs typeface="Arial" pitchFamily="34" charset="0"/>
              </a:rPr>
              <a:t> section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of the male urethra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2746"/>
            <a:ext cx="10173237" cy="4351338"/>
          </a:xfrm>
        </p:spPr>
        <p:txBody>
          <a:bodyPr/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long axis of the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two curvatures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is therefore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S-shaped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flaccid state of the penis.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distal curvature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disappears and as a result it becomes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J-shaped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erect state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1"/>
            <a:ext cx="8229600" cy="158410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P</a:t>
            </a:r>
            <a:r>
              <a:rPr lang="en-US" dirty="0" smtClean="0">
                <a:latin typeface="Arial Black" pitchFamily="34" charset="0"/>
              </a:rPr>
              <a:t>arts of the male urethra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98490" y="1313644"/>
            <a:ext cx="6083328" cy="53300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divided into the following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three parts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according to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location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(passes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Membranous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(passes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urogenital diaphragm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Spongy or penile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(passes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corpus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spongiosum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24694" y="1142984"/>
            <a:ext cx="4862506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381752" y="6143644"/>
            <a:ext cx="497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Anterior view</a:t>
            </a:r>
            <a:r>
              <a:rPr lang="en-US" dirty="0">
                <a:latin typeface="Arial" pitchFamily="34" charset="0"/>
                <a:cs typeface="Arial" pitchFamily="34" charset="0"/>
              </a:rPr>
              <a:t> of the m</a:t>
            </a:r>
            <a:r>
              <a:rPr lang="en-AU" dirty="0">
                <a:latin typeface="Arial" pitchFamily="34" charset="0"/>
                <a:cs typeface="Arial" pitchFamily="34" charset="0"/>
              </a:rPr>
              <a:t>ale urethra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3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515155"/>
            <a:ext cx="8229600" cy="1658139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2" y="425003"/>
            <a:ext cx="11590986" cy="6432997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part of the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(3 cm long) traverses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widest and most dilatable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male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fusiform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coronal section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Font typeface="Wingdings" pitchFamily="2" charset="2"/>
              <a:buChar char="§"/>
            </a:pPr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inner aspect of its posterior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urethra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presents the following features:</a:t>
            </a:r>
          </a:p>
          <a:p>
            <a:pPr algn="just">
              <a:buFont typeface="Wingdings" pitchFamily="2" charset="2"/>
              <a:buChar char="§"/>
            </a:pPr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crest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median longitudinal ridge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mucous membrane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Colliculus seminalis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(verumontanum),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 elevation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middle of the urethral crest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0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885" y="1071546"/>
            <a:ext cx="6233247" cy="5572164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utricle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opens on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summit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by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slit-like orifice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either side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orifice of the prostatic utricle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opens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ejaculatory ducts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sinuses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vertical grooves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one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each side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crest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Each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sinus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15-20 openings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glands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8232" y="1071546"/>
            <a:ext cx="4185634" cy="475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662929" y="5500703"/>
            <a:ext cx="3296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Features of the posterior wall of the prostatic urethra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6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6979" y="1017430"/>
            <a:ext cx="9066727" cy="584056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Membranous part of the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(2 cm long)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traverses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urogenital diaphragm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pierces the perineal membrane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2.5 cm below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pubic symphysis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surrounded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sphincter urethrae muscle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serves as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voluntary external sphincter of the bladder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With the exception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it is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narrowest and least dilatable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Numerous mucous glands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 often found in it.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cross section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its lumen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star-shaped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09882" y="437882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0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1375" y="1223492"/>
            <a:ext cx="9878095" cy="5634507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Spongy part of the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(15 cm long) traverses 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corpus spongiosum of the 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first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passes upward and forward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bulb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lie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pubic symphysis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Then it bends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downward and forward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traverses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corpus spongiosum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free part of the penis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terminates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just below the tip of glans 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presents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two dilatations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bulb of penis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form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intrabulbar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(3 cm long) and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glans penis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form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navicular fossa/terminal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(1.25 cm long)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31854" y="386366"/>
            <a:ext cx="2151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23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71546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8282" y="1071546"/>
            <a:ext cx="8715436" cy="5500726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shape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spongy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differs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different parts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viz.,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trapezoid-shaped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the bulb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like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transverse slit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body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like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vertical slit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cross section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small simple tubular mucous glands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glands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(Littre’s glands) open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entire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spongy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except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terminal fossa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3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7285" y="1374748"/>
            <a:ext cx="9028089" cy="5197524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pit-like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small mucous recesses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lacunae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(of </a:t>
            </a:r>
            <a:r>
              <a:rPr lang="en-AU" sz="3200" dirty="0" err="1" smtClean="0">
                <a:latin typeface="Arial" pitchFamily="34" charset="0"/>
                <a:cs typeface="Arial" pitchFamily="34" charset="0"/>
              </a:rPr>
              <a:t>Morgagni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project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entire spongy part of the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except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terminal fossa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lacunae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receive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openings of urethral glands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One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lacuna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roof of terminal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called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lacuna magna or sinus of Guerin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narrowest part of the male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in the form of a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sagittal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slit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6 mm long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434885" y="605307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5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214422"/>
          </a:xfrm>
        </p:spPr>
        <p:txBody>
          <a:bodyPr>
            <a:noAutofit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The features of different parts of the male urethra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207155"/>
              </p:ext>
            </p:extLst>
          </p:nvPr>
        </p:nvGraphicFramePr>
        <p:xfrm>
          <a:off x="940159" y="1214421"/>
          <a:ext cx="10560675" cy="5667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199"/>
                <a:gridCol w="2575774"/>
                <a:gridCol w="2747492"/>
                <a:gridCol w="2919210"/>
              </a:tblGrid>
              <a:tr h="712952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Prostatic part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Membranous part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Spongy part</a:t>
                      </a:r>
                      <a:endParaRPr lang="en-US" dirty="0"/>
                    </a:p>
                  </a:txBody>
                  <a:tcPr/>
                </a:tc>
              </a:tr>
              <a:tr h="840137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Location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Within prostate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Within urogenital diaphragm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Within penis (corpus spongiosum)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12952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Length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3 cm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1.5-2 cm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15 cm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596259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Shape in cross section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Horseshoe shaped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Star-shaped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In the bulb-trapezoid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In the body-transverse slit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At external urethral orifice-vertical slit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890639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Diameter and </a:t>
                      </a:r>
                    </a:p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dilatability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Widest and most dilatable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Narrowest and least dilatable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Mostly uniform diameter with medium dilatation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890639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Openings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Prostatic utricle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Ejaculatory ducts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Prostatic glands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Minute mucous glands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Urethral glands (Littre’s glands)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6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71977" y="1071546"/>
            <a:ext cx="9994006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452794" y="6143645"/>
            <a:ext cx="607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Different parts of the male urethra and their shapes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6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71546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U</a:t>
            </a:r>
            <a:r>
              <a:rPr lang="en-US" dirty="0" smtClean="0">
                <a:latin typeface="Arial Black" pitchFamily="34" charset="0"/>
              </a:rPr>
              <a:t>rethral mucosa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19" y="928670"/>
            <a:ext cx="9446415" cy="628654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mucosa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regional variations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as follows: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Prostatic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seminal colliculus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transitional epithelium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below it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stratified columnar epithelium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Membranous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stratified columnar epithelium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Spongy 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up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navicular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stratified columnar epithelium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navicular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stratified squamous epithelium.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9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14356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itchFamily="34" charset="0"/>
              </a:rPr>
              <a:t>Sphincters of the urethra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79549"/>
            <a:ext cx="9474558" cy="6141926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has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two sphincters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Sphincter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sphincter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surrounds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probably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formed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muscle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bladder 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involuntary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nature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often termed 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sphincter vesicae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supplied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sympathetic fibres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from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lower thoracic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lumbar segments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spinal cord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(T11 to L2).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relaxes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urination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closes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(i.e.,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contracts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during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ejaculation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(to prevent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retrograde entry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semen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bladder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1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02275"/>
            <a:ext cx="8229600" cy="948721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30992" cy="497207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Sphincter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(or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Sphincter urethrae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sphincter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surrounds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membranous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is derived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sphincter urethrae muscle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voluntary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nature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is supplied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pudendal nerve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S2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S3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S4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2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4290"/>
            <a:ext cx="9017358" cy="1500198"/>
          </a:xfrm>
        </p:spPr>
        <p:txBody>
          <a:bodyPr>
            <a:noAutofit/>
          </a:bodyPr>
          <a:lstStyle/>
          <a:p>
            <a:pPr algn="just"/>
            <a:r>
              <a:rPr lang="en-AU" sz="3200" dirty="0">
                <a:latin typeface="Arial Black" pitchFamily="34" charset="0"/>
              </a:rPr>
              <a:t>Differences between the internal and external sphincters of the urethra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741139"/>
              </p:ext>
            </p:extLst>
          </p:nvPr>
        </p:nvGraphicFramePr>
        <p:xfrm>
          <a:off x="1584100" y="1714489"/>
          <a:ext cx="9769700" cy="492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850"/>
                <a:gridCol w="4884850"/>
              </a:tblGrid>
              <a:tr h="932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Internal urethral sphincter</a:t>
                      </a:r>
                    </a:p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External urethral sphincter</a:t>
                      </a:r>
                    </a:p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065773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Surrounds the internal urethral orifice</a:t>
                      </a:r>
                      <a:endParaRPr lang="en-US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Surrounds the membranous part of urethra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065773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Derived from the bladder musculature of trigonal region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Derived from the sphincter urethrae muscle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932558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Innervated by the sympathetic fibres (T11–L2 </a:t>
                      </a:r>
                      <a:r>
                        <a:rPr lang="en-AU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segments)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Innervated by the somatic fibres (S2, S3, S4 segments)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93255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Involuntary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Voluntary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3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28670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837126"/>
            <a:ext cx="9384406" cy="6020873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Rupture of the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rupture of the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leads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extravasation of urine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commonest site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rupture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bulb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penis, just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urogenital diaphragm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following a fall astride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sharp object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crushed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against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edge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pubic bones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urine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extravasates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superficial perineal pouch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passes forward over the scrotum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part of the anterior abdominal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deep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membranous layer of the superficial fascia (superficial extravasation)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3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14338"/>
            <a:ext cx="8229600" cy="1143008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642" y="500042"/>
            <a:ext cx="9929612" cy="6357958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 ruptures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urogenital diaphragm, urine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escapes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deep perineal pouch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may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pass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upward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around the prostate and bladder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extraperitoneal space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(deep extravasation).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8642" y="3013656"/>
            <a:ext cx="10315977" cy="3168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0" y="6143645"/>
            <a:ext cx="12368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Rupture of urethra</a:t>
            </a:r>
            <a:r>
              <a:rPr lang="en-AU" dirty="0">
                <a:latin typeface="Arial" pitchFamily="34" charset="0"/>
                <a:cs typeface="Arial" pitchFamily="34" charset="0"/>
              </a:rPr>
              <a:t>: A, rupture of the bulbous urethra leading to superficial extravasation; </a:t>
            </a:r>
          </a:p>
          <a:p>
            <a:pPr algn="just"/>
            <a:r>
              <a:rPr lang="en-AU" dirty="0" err="1">
                <a:latin typeface="Arial" pitchFamily="34" charset="0"/>
                <a:cs typeface="Arial" pitchFamily="34" charset="0"/>
              </a:rPr>
              <a:t>B,rupture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urethra above the urogenital diaphragm leading to deep extravasation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1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1"/>
            <a:ext cx="8229600" cy="1429555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9" y="1000108"/>
            <a:ext cx="9204101" cy="5857892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Catheterization of the male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patients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who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unable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pass urine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their bladders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distended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due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retention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urine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leading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severe discomfort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pain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hypogastric region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While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passing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catheter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one should remember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normal curvatures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Above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meatus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large mucosal recess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guarded by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mucosal fold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may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catch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tip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catheter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catheter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should therefore always be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introduced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beak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turned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downward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Otherwise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forceful insertion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catheter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may create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false passage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rupture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it.</a:t>
            </a:r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1701" y="1184856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7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052776"/>
            <a:ext cx="8023538" cy="5519496"/>
          </a:xfrm>
        </p:spPr>
        <p:txBody>
          <a:bodyPr>
            <a:norm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Hypospadias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congenital anomaly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which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located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inferior/ventral aspect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instead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tip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glans 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occurs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failure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fusion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urethral folds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Depending upon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location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(EUO).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hypospadias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classified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5 types namely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; glandular, </a:t>
            </a:r>
            <a:r>
              <a:rPr lang="en-AU" sz="3200" dirty="0" err="1" smtClean="0">
                <a:latin typeface="Arial" pitchFamily="34" charset="0"/>
                <a:cs typeface="Arial" pitchFamily="34" charset="0"/>
              </a:rPr>
              <a:t>balanic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penile, </a:t>
            </a:r>
            <a:r>
              <a:rPr lang="en-AU" sz="3200" dirty="0" err="1" smtClean="0">
                <a:latin typeface="Arial" pitchFamily="34" charset="0"/>
                <a:cs typeface="Arial" pitchFamily="34" charset="0"/>
              </a:rPr>
              <a:t>penioscrotal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&amp; perineal.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92727" y="1052776"/>
            <a:ext cx="3033715" cy="4579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739075" y="5572140"/>
            <a:ext cx="302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        Types </a:t>
            </a:r>
            <a:r>
              <a:rPr lang="en-US" dirty="0">
                <a:latin typeface="Arial" pitchFamily="34" charset="0"/>
                <a:cs typeface="Arial" pitchFamily="34" charset="0"/>
              </a:rPr>
              <a:t>of Hypospadias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43211" y="283335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4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463639"/>
            <a:ext cx="8229600" cy="1970467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682580"/>
            <a:ext cx="11075831" cy="6175420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Glandular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opens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under surface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glans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Balanic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opens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glans 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opens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ventral aspect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body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Penioscrotal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opens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junction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penis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scrotum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Perineal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external urethral orifice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opens as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sagittal slit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ventral aspect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scrotum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AFEC-219A-45B5-9C9D-782370EA6B6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9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6801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1490</Words>
  <Application>Microsoft Office PowerPoint</Application>
  <PresentationFormat>Widescreen</PresentationFormat>
  <Paragraphs>153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Wingdings</vt:lpstr>
      <vt:lpstr>Office Theme</vt:lpstr>
      <vt:lpstr>ANATOMY OF THE URETHRA</vt:lpstr>
      <vt:lpstr>Outline</vt:lpstr>
      <vt:lpstr>Intro’</vt:lpstr>
      <vt:lpstr>Cont’d</vt:lpstr>
      <vt:lpstr>Parts of the male urethra</vt:lpstr>
      <vt:lpstr>Cont’d</vt:lpstr>
      <vt:lpstr>Cont’d</vt:lpstr>
      <vt:lpstr>PowerPoint Presentation</vt:lpstr>
      <vt:lpstr>PowerPoint Presentation</vt:lpstr>
      <vt:lpstr>Cont’d</vt:lpstr>
      <vt:lpstr>PowerPoint Presentation</vt:lpstr>
      <vt:lpstr>The features of different parts of the male urethra</vt:lpstr>
      <vt:lpstr>PowerPoint Presentation</vt:lpstr>
      <vt:lpstr>Urethral mucosa</vt:lpstr>
      <vt:lpstr>Sphincters of the urethra</vt:lpstr>
      <vt:lpstr>Cont’d</vt:lpstr>
      <vt:lpstr>Differences between the internal and external sphincters of the urethra</vt:lpstr>
      <vt:lpstr>Applied Anatomy</vt:lpstr>
      <vt:lpstr>Cont’d</vt:lpstr>
      <vt:lpstr>Cont’d</vt:lpstr>
      <vt:lpstr>PowerPoint Presentation</vt:lpstr>
      <vt:lpstr>PowerPoint Presentation</vt:lpstr>
      <vt:lpstr>Cont’d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URETHRA</dc:title>
  <dc:creator>dell</dc:creator>
  <cp:lastModifiedBy>dell</cp:lastModifiedBy>
  <cp:revision>11</cp:revision>
  <dcterms:created xsi:type="dcterms:W3CDTF">2025-07-28T02:58:23Z</dcterms:created>
  <dcterms:modified xsi:type="dcterms:W3CDTF">2026-02-13T07:04:36Z</dcterms:modified>
</cp:coreProperties>
</file>