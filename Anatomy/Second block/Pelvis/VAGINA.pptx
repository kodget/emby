
<file path=[Content_Types].xml><?xml version="1.0" encoding="utf-8"?>
<Types xmlns="http://schemas.openxmlformats.org/package/2006/content-types">
  <Default Extension="webp" ContentType="image/webp"/>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58" r:id="rId5"/>
    <p:sldId id="270" r:id="rId6"/>
    <p:sldId id="272" r:id="rId7"/>
    <p:sldId id="273" r:id="rId8"/>
    <p:sldId id="274" r:id="rId9"/>
    <p:sldId id="281" r:id="rId10"/>
    <p:sldId id="275" r:id="rId11"/>
    <p:sldId id="259" r:id="rId12"/>
    <p:sldId id="260" r:id="rId13"/>
    <p:sldId id="262" r:id="rId14"/>
    <p:sldId id="263" r:id="rId15"/>
    <p:sldId id="264" r:id="rId16"/>
    <p:sldId id="265" r:id="rId17"/>
    <p:sldId id="282" r:id="rId18"/>
    <p:sldId id="278" r:id="rId19"/>
    <p:sldId id="268" r:id="rId20"/>
    <p:sldId id="280" r:id="rId21"/>
    <p:sldId id="283"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13AC81-5DEE-836E-53A7-1D8CB84B87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FDD59825-1A73-AF0C-082B-DEB4392241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61AAB956-D3FF-1BE0-4A74-F0E0B130F7DD}"/>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5" name="Footer Placeholder 4">
            <a:extLst>
              <a:ext uri="{FF2B5EF4-FFF2-40B4-BE49-F238E27FC236}">
                <a16:creationId xmlns="" xmlns:a16="http://schemas.microsoft.com/office/drawing/2014/main" id="{342D27D3-F12D-AA15-FC03-7120D9A4BA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B3BB890-AC47-2638-2967-05E8951C38FF}"/>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2670125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B83684-4402-1AA4-8B4B-B5CB0B847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D9458FBE-D3FD-6CF1-E1E2-DB14492D27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5CD7BCE-86E7-60B2-F3C3-861EC6AB8754}"/>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5" name="Footer Placeholder 4">
            <a:extLst>
              <a:ext uri="{FF2B5EF4-FFF2-40B4-BE49-F238E27FC236}">
                <a16:creationId xmlns="" xmlns:a16="http://schemas.microsoft.com/office/drawing/2014/main" id="{2D527297-389D-DE4C-7849-6C29E9E61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DC2A86C-D0A7-81AF-6845-11830CF2D083}"/>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26332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85BBF8-A7D4-30ED-4391-9BA450B4D4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583E9B90-3ED2-FC58-A567-2259180CD5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6FE93E6-5222-1950-4654-CAE6FDB923E3}"/>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5" name="Footer Placeholder 4">
            <a:extLst>
              <a:ext uri="{FF2B5EF4-FFF2-40B4-BE49-F238E27FC236}">
                <a16:creationId xmlns="" xmlns:a16="http://schemas.microsoft.com/office/drawing/2014/main" id="{0860BA02-4462-8C7B-BD7E-661983EE6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1159B19-7251-2C66-AE1E-3B707FF8FED9}"/>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2356616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DFD664-48EC-B9C9-D6C3-75F71FDB1E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CB392A69-B31D-BC61-6956-D5E9F2C8FD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4A785D8E-5ADA-75A9-591E-60CCEFA64B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209C32F8-AB00-7D43-5F03-CA05416688A5}"/>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6" name="Footer Placeholder 5">
            <a:extLst>
              <a:ext uri="{FF2B5EF4-FFF2-40B4-BE49-F238E27FC236}">
                <a16:creationId xmlns="" xmlns:a16="http://schemas.microsoft.com/office/drawing/2014/main" id="{5375A581-46CE-0AA2-2B17-1D21C87B7C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093AC85-5E2F-4785-C9E2-9A467679B913}"/>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967110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722B1C-588B-FBB9-625F-781F3700FC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812D63AE-7E1B-526B-F627-17FD9F8958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07A8C4A-BA37-6D9C-0964-86E3420B3C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9ECCF76B-B083-684F-5F57-419C986C3A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CDAC281-1EDB-7618-0C0A-E569885BA6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0464ABD-4037-522B-2E53-B2992A39DE38}"/>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8" name="Footer Placeholder 7">
            <a:extLst>
              <a:ext uri="{FF2B5EF4-FFF2-40B4-BE49-F238E27FC236}">
                <a16:creationId xmlns="" xmlns:a16="http://schemas.microsoft.com/office/drawing/2014/main" id="{B8EF1CBA-95F2-626D-31CA-12F2CE011D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78DEC063-228D-2BE0-3A51-B461785E257E}"/>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332371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BF4196-00EA-7F51-A28C-CF596503B2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DF4A0113-FDAF-6BCE-0FFB-CA0B175E85B6}"/>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4" name="Footer Placeholder 3">
            <a:extLst>
              <a:ext uri="{FF2B5EF4-FFF2-40B4-BE49-F238E27FC236}">
                <a16:creationId xmlns="" xmlns:a16="http://schemas.microsoft.com/office/drawing/2014/main" id="{113C4921-ED81-37C9-C8FF-C622AF3EC8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0FC55E86-DE8B-C7CB-30C6-81CA07E0152D}"/>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131450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31EF9B1-741B-97A1-3610-8B02546CE6DB}"/>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3" name="Footer Placeholder 2">
            <a:extLst>
              <a:ext uri="{FF2B5EF4-FFF2-40B4-BE49-F238E27FC236}">
                <a16:creationId xmlns="" xmlns:a16="http://schemas.microsoft.com/office/drawing/2014/main" id="{1BCA5A5A-66F6-991A-407C-D031883F64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7CBC9AFD-E437-307E-CDA2-2D5ADA3D7C4F}"/>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506195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A319A6-8F5D-FFE6-6D69-9DD359E0B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ED7E51D5-DBC3-0313-1849-6C9C73D124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CF9BE7C5-F017-0CC0-E5D2-B9FD1F6236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F8B903E-E24F-B4DF-D518-A0F3271C84A7}"/>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6" name="Footer Placeholder 5">
            <a:extLst>
              <a:ext uri="{FF2B5EF4-FFF2-40B4-BE49-F238E27FC236}">
                <a16:creationId xmlns="" xmlns:a16="http://schemas.microsoft.com/office/drawing/2014/main" id="{3E59AEE4-34A0-0ECB-AA77-63469E1DF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45AA9CD-C941-284D-8B31-E6FD2086F839}"/>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669722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776A2D-3EEF-D372-3379-9C713BD71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7D0B8C7D-686C-EC7B-1671-7A8DC8E15F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78CA76EC-DEB2-E0E6-DF3F-37419F1A4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C2479D4-1F07-4F92-86CF-976947526E6B}"/>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6" name="Footer Placeholder 5">
            <a:extLst>
              <a:ext uri="{FF2B5EF4-FFF2-40B4-BE49-F238E27FC236}">
                <a16:creationId xmlns="" xmlns:a16="http://schemas.microsoft.com/office/drawing/2014/main" id="{8B893436-9CA3-969D-8255-FADCD4B749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D7DA6E2-80C4-3FDD-D0CE-39D3C5AA4036}"/>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2294680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0BF599-FA73-C0E1-D996-607348A948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6ECE8642-474E-117E-82BC-8FAB565C42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C23EFADC-5B51-633A-6704-BBAFFF28B060}"/>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5" name="Footer Placeholder 4">
            <a:extLst>
              <a:ext uri="{FF2B5EF4-FFF2-40B4-BE49-F238E27FC236}">
                <a16:creationId xmlns="" xmlns:a16="http://schemas.microsoft.com/office/drawing/2014/main" id="{35CEE53B-F1CB-5E43-AB69-62E73E31FA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F71EB6B-A857-6921-92DC-3890C0EA448E}"/>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2301902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9D6534E-063F-794C-4B75-B7A13D41B1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57D0B13A-235A-57E7-558F-599379A112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E5DC558-89B8-28D4-DFE9-D329BB091542}"/>
              </a:ext>
            </a:extLst>
          </p:cNvPr>
          <p:cNvSpPr>
            <a:spLocks noGrp="1"/>
          </p:cNvSpPr>
          <p:nvPr>
            <p:ph type="dt" sz="half" idx="10"/>
          </p:nvPr>
        </p:nvSpPr>
        <p:spPr/>
        <p:txBody>
          <a:bodyPr/>
          <a:lstStyle/>
          <a:p>
            <a:fld id="{2C831035-6582-4D1C-BC73-F5868929D660}" type="datetimeFigureOut">
              <a:rPr lang="en-US" smtClean="0"/>
              <a:t>4/22/2024</a:t>
            </a:fld>
            <a:endParaRPr lang="en-US"/>
          </a:p>
        </p:txBody>
      </p:sp>
      <p:sp>
        <p:nvSpPr>
          <p:cNvPr id="5" name="Footer Placeholder 4">
            <a:extLst>
              <a:ext uri="{FF2B5EF4-FFF2-40B4-BE49-F238E27FC236}">
                <a16:creationId xmlns="" xmlns:a16="http://schemas.microsoft.com/office/drawing/2014/main" id="{56A78A63-1EDE-4696-6409-61CDAB3D1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A036E53-0273-249B-C4C3-DF7B803B4800}"/>
              </a:ext>
            </a:extLst>
          </p:cNvPr>
          <p:cNvSpPr>
            <a:spLocks noGrp="1"/>
          </p:cNvSpPr>
          <p:nvPr>
            <p:ph type="sldNum" sz="quarter" idx="12"/>
          </p:nvPr>
        </p:nvSpPr>
        <p:spPr/>
        <p:txBody>
          <a:bodyPr/>
          <a:lstStyle/>
          <a:p>
            <a:fld id="{B7ACB96D-EA7D-4878-B84D-F00346F39768}" type="slidenum">
              <a:rPr lang="en-US" smtClean="0"/>
              <a:t>‹#›</a:t>
            </a:fld>
            <a:endParaRPr lang="en-US"/>
          </a:p>
        </p:txBody>
      </p:sp>
    </p:spTree>
    <p:extLst>
      <p:ext uri="{BB962C8B-B14F-4D97-AF65-F5344CB8AC3E}">
        <p14:creationId xmlns:p14="http://schemas.microsoft.com/office/powerpoint/2010/main" val="1157611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4CFEA772-7045-685C-0327-C087FE3A60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4E2F6DB8-4700-210D-3DC4-C37D06D099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7D474818-9545-3BC1-9266-F2CD383DE9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831035-6582-4D1C-BC73-F5868929D660}" type="datetimeFigureOut">
              <a:rPr lang="en-US" smtClean="0"/>
              <a:t>4/22/2024</a:t>
            </a:fld>
            <a:endParaRPr lang="en-US"/>
          </a:p>
        </p:txBody>
      </p:sp>
      <p:sp>
        <p:nvSpPr>
          <p:cNvPr id="5" name="Footer Placeholder 4">
            <a:extLst>
              <a:ext uri="{FF2B5EF4-FFF2-40B4-BE49-F238E27FC236}">
                <a16:creationId xmlns="" xmlns:a16="http://schemas.microsoft.com/office/drawing/2014/main" id="{5BC89DAC-7923-5789-6DAD-DAC6C140E1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474F9276-21A6-B6EA-1251-603CEA493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ACB96D-EA7D-4878-B84D-F00346F39768}" type="slidenum">
              <a:rPr lang="en-US" smtClean="0"/>
              <a:t>‹#›</a:t>
            </a:fld>
            <a:endParaRPr lang="en-US"/>
          </a:p>
        </p:txBody>
      </p:sp>
    </p:spTree>
    <p:extLst>
      <p:ext uri="{BB962C8B-B14F-4D97-AF65-F5344CB8AC3E}">
        <p14:creationId xmlns:p14="http://schemas.microsoft.com/office/powerpoint/2010/main" val="1596422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03F2EC-45A5-9BDD-A822-1490B8C1DEFD}"/>
              </a:ext>
            </a:extLst>
          </p:cNvPr>
          <p:cNvSpPr>
            <a:spLocks noGrp="1"/>
          </p:cNvSpPr>
          <p:nvPr>
            <p:ph type="ctr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VAGINA</a:t>
            </a:r>
          </a:p>
        </p:txBody>
      </p:sp>
      <p:sp>
        <p:nvSpPr>
          <p:cNvPr id="3" name="Subtitle 2">
            <a:extLst>
              <a:ext uri="{FF2B5EF4-FFF2-40B4-BE49-F238E27FC236}">
                <a16:creationId xmlns="" xmlns:a16="http://schemas.microsoft.com/office/drawing/2014/main" id="{8009082A-8215-CB19-0C0E-DFC18482072D}"/>
              </a:ext>
            </a:extLst>
          </p:cNvPr>
          <p:cNvSpPr>
            <a:spLocks noGrp="1"/>
          </p:cNvSpPr>
          <p:nvPr>
            <p:ph type="subTitle" idx="1"/>
          </p:nvPr>
        </p:nvSpPr>
        <p:spPr/>
        <p:txBody>
          <a:bodyPr>
            <a:normAutofit/>
          </a:bodyPr>
          <a:lstStyle/>
          <a:p>
            <a:r>
              <a:rPr lang="en-US" dirty="0">
                <a:latin typeface="Times New Roman" panose="02020603050405020304" pitchFamily="18" charset="0"/>
                <a:cs typeface="Times New Roman" panose="02020603050405020304" pitchFamily="18" charset="0"/>
              </a:rPr>
              <a:t>BY</a:t>
            </a:r>
          </a:p>
          <a:p>
            <a:r>
              <a:rPr lang="en-US" dirty="0">
                <a:latin typeface="Times New Roman" panose="02020603050405020304" pitchFamily="18" charset="0"/>
                <a:cs typeface="Times New Roman" panose="02020603050405020304" pitchFamily="18" charset="0"/>
              </a:rPr>
              <a:t>F.O.OPOOLA</a:t>
            </a:r>
          </a:p>
        </p:txBody>
      </p:sp>
    </p:spTree>
    <p:extLst>
      <p:ext uri="{BB962C8B-B14F-4D97-AF65-F5344CB8AC3E}">
        <p14:creationId xmlns:p14="http://schemas.microsoft.com/office/powerpoint/2010/main" val="901763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01F1B3-3684-8CC9-2DB3-F349EDDA19F8}"/>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		INTRODUCTION</a:t>
            </a:r>
          </a:p>
        </p:txBody>
      </p:sp>
      <p:sp>
        <p:nvSpPr>
          <p:cNvPr id="3" name="Content Placeholder 2">
            <a:extLst>
              <a:ext uri="{FF2B5EF4-FFF2-40B4-BE49-F238E27FC236}">
                <a16:creationId xmlns="" xmlns:a16="http://schemas.microsoft.com/office/drawing/2014/main" id="{197A32C4-104F-77E3-32F4-39E64EA872DF}"/>
              </a:ext>
            </a:extLst>
          </p:cNvPr>
          <p:cNvSpPr>
            <a:spLocks noGrp="1"/>
          </p:cNvSpPr>
          <p:nvPr>
            <p:ph idx="1"/>
          </p:nvPr>
        </p:nvSpPr>
        <p:spPr/>
        <p:txBody>
          <a:bodyPr>
            <a:normAutofit/>
          </a:bodyPr>
          <a:lstStyle/>
          <a:p>
            <a:pPr algn="just">
              <a:buFont typeface="Wingdings" panose="05000000000000000000" pitchFamily="2" charset="2"/>
              <a:buChar char="§"/>
            </a:pPr>
            <a:r>
              <a:rPr lang="en-US" b="0" i="0" dirty="0">
                <a:solidFill>
                  <a:srgbClr val="32323C"/>
                </a:solidFill>
                <a:effectLst/>
                <a:latin typeface="Times New Roman" panose="02020603050405020304" pitchFamily="18" charset="0"/>
                <a:cs typeface="Times New Roman" panose="02020603050405020304" pitchFamily="18" charset="0"/>
              </a:rPr>
              <a:t>The </a:t>
            </a:r>
            <a:r>
              <a:rPr lang="en-US" b="1" i="0" dirty="0">
                <a:solidFill>
                  <a:srgbClr val="32323C"/>
                </a:solidFill>
                <a:effectLst/>
                <a:latin typeface="Times New Roman" panose="02020603050405020304" pitchFamily="18" charset="0"/>
                <a:cs typeface="Times New Roman" panose="02020603050405020304" pitchFamily="18" charset="0"/>
              </a:rPr>
              <a:t>vagina</a:t>
            </a:r>
            <a:r>
              <a:rPr lang="en-US" b="0" i="0" dirty="0">
                <a:solidFill>
                  <a:srgbClr val="32323C"/>
                </a:solidFill>
                <a:effectLst/>
                <a:latin typeface="Times New Roman" panose="02020603050405020304" pitchFamily="18" charset="0"/>
                <a:cs typeface="Times New Roman" panose="02020603050405020304" pitchFamily="18" charset="0"/>
              </a:rPr>
              <a:t> is an organ of the female reproductive tract. It is a distensible fibromuscular tube which extends </a:t>
            </a:r>
            <a:r>
              <a:rPr lang="en-US" b="0" i="0" dirty="0" err="1">
                <a:solidFill>
                  <a:srgbClr val="32323C"/>
                </a:solidFill>
                <a:effectLst/>
                <a:latin typeface="Times New Roman" panose="02020603050405020304" pitchFamily="18" charset="0"/>
                <a:cs typeface="Times New Roman" panose="02020603050405020304" pitchFamily="18" charset="0"/>
              </a:rPr>
              <a:t>posterosuperiorly</a:t>
            </a:r>
            <a:r>
              <a:rPr lang="en-US" b="0" i="0" dirty="0">
                <a:solidFill>
                  <a:srgbClr val="32323C"/>
                </a:solidFill>
                <a:effectLst/>
                <a:latin typeface="Times New Roman" panose="02020603050405020304" pitchFamily="18" charset="0"/>
                <a:cs typeface="Times New Roman" panose="02020603050405020304" pitchFamily="18" charset="0"/>
              </a:rPr>
              <a:t> from the external vaginal orifice to the cervix.</a:t>
            </a:r>
          </a:p>
          <a:p>
            <a:pPr marL="0" indent="0" algn="just">
              <a:buNone/>
            </a:pPr>
            <a:endParaRPr lang="en-US" b="0" i="0" dirty="0">
              <a:solidFill>
                <a:srgbClr val="32323C"/>
              </a:solidFill>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b="0" i="0" dirty="0">
                <a:solidFill>
                  <a:srgbClr val="495354"/>
                </a:solidFill>
                <a:effectLst/>
                <a:latin typeface="Times New Roman" panose="02020603050405020304" pitchFamily="18" charset="0"/>
                <a:cs typeface="Times New Roman" panose="02020603050405020304" pitchFamily="18" charset="0"/>
              </a:rPr>
              <a:t>The cervix protrudes into its proximal end, which is enlarged and forms the vaginal fornix (vaginal vault). The vagina opens into the vaginal vestibule of the </a:t>
            </a:r>
            <a:r>
              <a:rPr lang="en-US" u="sng" dirty="0">
                <a:solidFill>
                  <a:srgbClr val="495354"/>
                </a:solidFill>
                <a:latin typeface="Times New Roman" panose="02020603050405020304" pitchFamily="18" charset="0"/>
                <a:cs typeface="Times New Roman" panose="02020603050405020304" pitchFamily="18" charset="0"/>
              </a:rPr>
              <a:t>vulva</a:t>
            </a:r>
            <a:r>
              <a:rPr lang="en-US" b="0" i="0" dirty="0">
                <a:solidFill>
                  <a:srgbClr val="495354"/>
                </a:solidFill>
                <a:effectLst/>
                <a:latin typeface="Times New Roman" panose="02020603050405020304" pitchFamily="18" charset="0"/>
                <a:cs typeface="Times New Roman" panose="02020603050405020304" pitchFamily="18" charset="0"/>
              </a:rPr>
              <a:t> (vaginal opening) at its distal end.</a:t>
            </a:r>
          </a:p>
          <a:p>
            <a:pPr marL="0" indent="0" algn="just">
              <a:buNone/>
            </a:pPr>
            <a:endParaRPr lang="en-US" b="0" i="0" dirty="0">
              <a:solidFill>
                <a:srgbClr val="32323C"/>
              </a:solidFill>
              <a:effectLst/>
              <a:latin typeface="Times New Roman" panose="02020603050405020304" pitchFamily="18" charset="0"/>
              <a:cs typeface="Times New Roman" panose="02020603050405020304" pitchFamily="18" charset="0"/>
            </a:endParaRPr>
          </a:p>
          <a:p>
            <a:pPr algn="just"/>
            <a:endParaRPr lang="en-US" b="0" i="0" dirty="0">
              <a:solidFill>
                <a:srgbClr val="32323C"/>
              </a:solidFill>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754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180194-5922-C701-FB96-236CA9CFF695}"/>
              </a:ext>
            </a:extLst>
          </p:cNvPr>
          <p:cNvSpPr>
            <a:spLocks noGrp="1"/>
          </p:cNvSpPr>
          <p:nvPr>
            <p:ph type="title"/>
          </p:nvPr>
        </p:nvSpPr>
        <p:spPr>
          <a:xfrm>
            <a:off x="351090" y="0"/>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		INTRODUCTION</a:t>
            </a:r>
            <a:endParaRPr lang="en-US" dirty="0"/>
          </a:p>
        </p:txBody>
      </p:sp>
      <p:sp>
        <p:nvSpPr>
          <p:cNvPr id="3" name="Content Placeholder 2">
            <a:extLst>
              <a:ext uri="{FF2B5EF4-FFF2-40B4-BE49-F238E27FC236}">
                <a16:creationId xmlns="" xmlns:a16="http://schemas.microsoft.com/office/drawing/2014/main" id="{237EE67F-8B29-2255-0D83-764C7C422F22}"/>
              </a:ext>
            </a:extLst>
          </p:cNvPr>
          <p:cNvSpPr>
            <a:spLocks noGrp="1"/>
          </p:cNvSpPr>
          <p:nvPr>
            <p:ph idx="1"/>
          </p:nvPr>
        </p:nvSpPr>
        <p:spPr>
          <a:xfrm>
            <a:off x="351090" y="971045"/>
            <a:ext cx="10515600" cy="5575034"/>
          </a:xfrm>
        </p:spPr>
        <p:txBody>
          <a:bodyPr>
            <a:noAutofit/>
          </a:bodyPr>
          <a:lstStyle/>
          <a:p>
            <a:pPr>
              <a:buFont typeface="Wingdings" panose="05000000000000000000" pitchFamily="2" charset="2"/>
              <a:buChar char="§"/>
            </a:pPr>
            <a:r>
              <a:rPr lang="en-US" dirty="0">
                <a:solidFill>
                  <a:srgbClr val="495354"/>
                </a:solidFill>
                <a:effectLst/>
                <a:latin typeface="Times New Roman" panose="02020603050405020304" pitchFamily="18" charset="0"/>
                <a:cs typeface="Times New Roman" panose="02020603050405020304" pitchFamily="18" charset="0"/>
              </a:rPr>
              <a:t>The vagina tilts posteriorly between the urethra and </a:t>
            </a:r>
            <a:r>
              <a:rPr lang="en-US" u="sng" dirty="0">
                <a:solidFill>
                  <a:srgbClr val="495354"/>
                </a:solidFill>
                <a:latin typeface="Times New Roman" panose="02020603050405020304" pitchFamily="18" charset="0"/>
                <a:cs typeface="Times New Roman" panose="02020603050405020304" pitchFamily="18" charset="0"/>
              </a:rPr>
              <a:t>rectum</a:t>
            </a:r>
            <a:r>
              <a:rPr lang="en-US" dirty="0">
                <a:solidFill>
                  <a:srgbClr val="495354"/>
                </a:solidFill>
                <a:effectLst/>
                <a:latin typeface="Times New Roman" panose="02020603050405020304" pitchFamily="18" charset="0"/>
                <a:cs typeface="Times New Roman" panose="02020603050405020304" pitchFamily="18" charset="0"/>
              </a:rPr>
              <a:t>, with the urethra bound to its anterior wall. </a:t>
            </a:r>
          </a:p>
          <a:p>
            <a:pPr>
              <a:buFont typeface="Wingdings" panose="05000000000000000000" pitchFamily="2" charset="2"/>
              <a:buChar char="§"/>
            </a:pPr>
            <a:r>
              <a:rPr lang="en-US" dirty="0">
                <a:solidFill>
                  <a:srgbClr val="495354"/>
                </a:solidFill>
                <a:effectLst/>
                <a:latin typeface="Times New Roman" panose="02020603050405020304" pitchFamily="18" charset="0"/>
                <a:cs typeface="Times New Roman" panose="02020603050405020304" pitchFamily="18" charset="0"/>
              </a:rPr>
              <a:t>If standing, the vaginal tube will point in a </a:t>
            </a:r>
            <a:r>
              <a:rPr lang="en-US" dirty="0" err="1">
                <a:solidFill>
                  <a:srgbClr val="495354"/>
                </a:solidFill>
                <a:effectLst/>
                <a:latin typeface="Times New Roman" panose="02020603050405020304" pitchFamily="18" charset="0"/>
                <a:cs typeface="Times New Roman" panose="02020603050405020304" pitchFamily="18" charset="0"/>
              </a:rPr>
              <a:t>superoposterior</a:t>
            </a:r>
            <a:r>
              <a:rPr lang="en-US" dirty="0">
                <a:solidFill>
                  <a:srgbClr val="495354"/>
                </a:solidFill>
                <a:effectLst/>
                <a:latin typeface="Times New Roman" panose="02020603050405020304" pitchFamily="18" charset="0"/>
                <a:cs typeface="Times New Roman" panose="02020603050405020304" pitchFamily="18" charset="0"/>
              </a:rPr>
              <a:t> direction to form a </a:t>
            </a:r>
            <a:r>
              <a:rPr lang="en-US" b="0" dirty="0">
                <a:solidFill>
                  <a:srgbClr val="495354"/>
                </a:solidFill>
                <a:effectLst/>
                <a:latin typeface="Times New Roman" panose="02020603050405020304" pitchFamily="18" charset="0"/>
                <a:cs typeface="Times New Roman" panose="02020603050405020304" pitchFamily="18" charset="0"/>
              </a:rPr>
              <a:t>45 degree angle</a:t>
            </a:r>
            <a:r>
              <a:rPr lang="en-US" dirty="0">
                <a:solidFill>
                  <a:srgbClr val="495354"/>
                </a:solidFill>
                <a:effectLst/>
                <a:latin typeface="Times New Roman" panose="02020603050405020304" pitchFamily="18" charset="0"/>
                <a:cs typeface="Times New Roman" panose="02020603050405020304" pitchFamily="18" charset="0"/>
              </a:rPr>
              <a:t> with the uterus and an about </a:t>
            </a:r>
            <a:r>
              <a:rPr lang="en-US" b="0" dirty="0">
                <a:solidFill>
                  <a:srgbClr val="495354"/>
                </a:solidFill>
                <a:effectLst/>
                <a:latin typeface="Times New Roman" panose="02020603050405020304" pitchFamily="18" charset="0"/>
                <a:cs typeface="Times New Roman" panose="02020603050405020304" pitchFamily="18" charset="0"/>
              </a:rPr>
              <a:t>60 degree angle</a:t>
            </a:r>
            <a:r>
              <a:rPr lang="en-US" dirty="0">
                <a:solidFill>
                  <a:srgbClr val="495354"/>
                </a:solidFill>
                <a:effectLst/>
                <a:latin typeface="Times New Roman" panose="02020603050405020304" pitchFamily="18" charset="0"/>
                <a:cs typeface="Times New Roman" panose="02020603050405020304" pitchFamily="18" charset="0"/>
              </a:rPr>
              <a:t> to the horizontal. </a:t>
            </a:r>
          </a:p>
          <a:p>
            <a:pPr>
              <a:buFont typeface="Wingdings" panose="05000000000000000000" pitchFamily="2" charset="2"/>
              <a:buChar char="§"/>
            </a:pPr>
            <a:endParaRPr lang="en-US" dirty="0">
              <a:solidFill>
                <a:srgbClr val="495354"/>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a:solidFill>
                  <a:srgbClr val="495354"/>
                </a:solidFill>
                <a:effectLst/>
                <a:latin typeface="Times New Roman" panose="02020603050405020304" pitchFamily="18" charset="0"/>
                <a:cs typeface="Times New Roman" panose="02020603050405020304" pitchFamily="18" charset="0"/>
              </a:rPr>
              <a:t>The exact angle is variable depending on individual anatomy and with contents of the bladder and colon</a:t>
            </a:r>
            <a:r>
              <a:rPr lang="en-US" dirty="0" smtClean="0">
                <a:solidFill>
                  <a:srgbClr val="495354"/>
                </a:solidFill>
                <a:effectLst/>
                <a:latin typeface="Times New Roman" panose="02020603050405020304" pitchFamily="18" charset="0"/>
                <a:cs typeface="Times New Roman" panose="02020603050405020304" pitchFamily="18" charset="0"/>
              </a:rPr>
              <a:t>.</a:t>
            </a:r>
          </a:p>
          <a:p>
            <a:pPr marL="0" indent="0">
              <a:buNone/>
            </a:pPr>
            <a:r>
              <a:rPr lang="en-US" dirty="0" smtClean="0">
                <a:solidFill>
                  <a:srgbClr val="495354"/>
                </a:solidFill>
                <a:effectLst/>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dirty="0">
                <a:solidFill>
                  <a:srgbClr val="495354"/>
                </a:solidFill>
                <a:latin typeface="Times New Roman" panose="02020603050405020304" pitchFamily="18" charset="0"/>
                <a:cs typeface="Times New Roman" panose="02020603050405020304" pitchFamily="18" charset="0"/>
              </a:rPr>
              <a:t>Due to this tilting, the posterior wall of the vagina (8 to 10 centimeters (3 to 4 inches)) is longer than its anterior wall (7.5 centimeters (2.5 to 3 inches)).</a:t>
            </a:r>
          </a:p>
          <a:p>
            <a:pPr>
              <a:buFont typeface="Wingdings" panose="05000000000000000000" pitchFamily="2" charset="2"/>
              <a:buChar char="§"/>
            </a:pPr>
            <a:endParaRPr lang="en-US" dirty="0">
              <a:solidFill>
                <a:srgbClr val="495354"/>
              </a:solidFill>
              <a:effectLst/>
              <a:latin typeface="Times New Roman" panose="02020603050405020304" pitchFamily="18" charset="0"/>
              <a:cs typeface="Times New Roman" panose="02020603050405020304" pitchFamily="18" charset="0"/>
            </a:endParaRPr>
          </a:p>
          <a:p>
            <a:pPr marL="0" indent="0">
              <a:buNone/>
            </a:pPr>
            <a:endParaRPr lang="en-US" dirty="0">
              <a:solidFill>
                <a:srgbClr val="495354"/>
              </a:solidFill>
              <a:effectLst/>
              <a:latin typeface="Times New Roman" panose="02020603050405020304" pitchFamily="18" charset="0"/>
              <a:cs typeface="Times New Roman" panose="02020603050405020304" pitchFamily="18" charset="0"/>
            </a:endParaRPr>
          </a:p>
          <a:p>
            <a:pPr marL="0" indent="0">
              <a:buNone/>
            </a:pPr>
            <a:endParaRPr lang="en-US" dirty="0">
              <a:solidFill>
                <a:srgbClr val="495354"/>
              </a:solidFill>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82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EE39A9-3A97-09BB-28DD-6BE2A157EC5E}"/>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			INTRO.. CONT’D</a:t>
            </a:r>
          </a:p>
        </p:txBody>
      </p:sp>
      <p:pic>
        <p:nvPicPr>
          <p:cNvPr id="7" name="Content Placeholder 6">
            <a:extLst>
              <a:ext uri="{FF2B5EF4-FFF2-40B4-BE49-F238E27FC236}">
                <a16:creationId xmlns="" xmlns:a16="http://schemas.microsoft.com/office/drawing/2014/main" id="{6F0BEE1E-96F7-2E33-4115-D91C115D09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776655" y="1825625"/>
            <a:ext cx="4638690" cy="435133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 xmlns:a16="http://schemas.microsoft.com/office/drawing/2014/main" id="{4F437859-F7A5-C024-6AEE-B0A9E4318251}"/>
              </a:ext>
            </a:extLst>
          </p:cNvPr>
          <p:cNvSpPr txBox="1"/>
          <p:nvPr/>
        </p:nvSpPr>
        <p:spPr>
          <a:xfrm>
            <a:off x="2940728" y="6123543"/>
            <a:ext cx="6094520" cy="369332"/>
          </a:xfrm>
          <a:prstGeom prst="rect">
            <a:avLst/>
          </a:prstGeom>
          <a:noFill/>
        </p:spPr>
        <p:txBody>
          <a:bodyPr wrap="square">
            <a:spAutoFit/>
          </a:bodyPr>
          <a:lstStyle/>
          <a:p>
            <a:r>
              <a:rPr lang="en-US" b="0" i="0" dirty="0">
                <a:solidFill>
                  <a:srgbClr val="32323C"/>
                </a:solidFill>
                <a:effectLst/>
                <a:latin typeface="acumin-pro"/>
              </a:rPr>
              <a:t>Fig 1 – Overview of the female reproductive tract.</a:t>
            </a:r>
            <a:endParaRPr lang="en-US" dirty="0"/>
          </a:p>
        </p:txBody>
      </p:sp>
    </p:spTree>
    <p:extLst>
      <p:ext uri="{BB962C8B-B14F-4D97-AF65-F5344CB8AC3E}">
        <p14:creationId xmlns:p14="http://schemas.microsoft.com/office/powerpoint/2010/main" val="538532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B3298D-4B72-F5ED-1114-CCDCC561C85E}"/>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		FUNCTION</a:t>
            </a:r>
          </a:p>
        </p:txBody>
      </p:sp>
      <p:sp>
        <p:nvSpPr>
          <p:cNvPr id="3" name="Content Placeholder 2">
            <a:extLst>
              <a:ext uri="{FF2B5EF4-FFF2-40B4-BE49-F238E27FC236}">
                <a16:creationId xmlns="" xmlns:a16="http://schemas.microsoft.com/office/drawing/2014/main" id="{BDEAE056-572B-FBFC-5404-C306C1494CDA}"/>
              </a:ext>
            </a:extLst>
          </p:cNvPr>
          <p:cNvSpPr>
            <a:spLocks noGrp="1"/>
          </p:cNvSpPr>
          <p:nvPr>
            <p:ph idx="1"/>
          </p:nvPr>
        </p:nvSpPr>
        <p:spPr/>
        <p:txBody>
          <a:bodyPr>
            <a:normAutofit/>
          </a:bodyPr>
          <a:lstStyle/>
          <a:p>
            <a:pPr algn="just">
              <a:buFont typeface="Wingdings" panose="05000000000000000000" pitchFamily="2" charset="2"/>
              <a:buChar char="§"/>
            </a:pPr>
            <a:r>
              <a:rPr lang="en-US" b="0" i="0" dirty="0">
                <a:solidFill>
                  <a:srgbClr val="32323C"/>
                </a:solidFill>
                <a:effectLst/>
                <a:latin typeface="Times New Roman" panose="02020603050405020304" pitchFamily="18" charset="0"/>
                <a:cs typeface="Times New Roman" panose="02020603050405020304" pitchFamily="18" charset="0"/>
              </a:rPr>
              <a:t>It has several roles within the female reproductive system:</a:t>
            </a:r>
          </a:p>
          <a:p>
            <a:pPr algn="just">
              <a:buFont typeface="Wingdings" panose="05000000000000000000" pitchFamily="2" charset="2"/>
              <a:buChar char="§"/>
            </a:pPr>
            <a:r>
              <a:rPr lang="en-US" b="1" i="0" dirty="0">
                <a:solidFill>
                  <a:srgbClr val="32323C"/>
                </a:solidFill>
                <a:effectLst/>
                <a:latin typeface="Times New Roman" panose="02020603050405020304" pitchFamily="18" charset="0"/>
                <a:cs typeface="Times New Roman" panose="02020603050405020304" pitchFamily="18" charset="0"/>
              </a:rPr>
              <a:t>Sexual intercourse</a:t>
            </a:r>
            <a:r>
              <a:rPr lang="en-US" b="0" i="0" dirty="0">
                <a:solidFill>
                  <a:srgbClr val="32323C"/>
                </a:solidFill>
                <a:effectLst/>
                <a:latin typeface="Times New Roman" panose="02020603050405020304" pitchFamily="18" charset="0"/>
                <a:cs typeface="Times New Roman" panose="02020603050405020304" pitchFamily="18" charset="0"/>
              </a:rPr>
              <a:t> – receives the penis and ejaculate, assisting in its transport to the uterus.</a:t>
            </a:r>
          </a:p>
          <a:p>
            <a:pPr algn="just">
              <a:buFont typeface="Wingdings" panose="05000000000000000000" pitchFamily="2" charset="2"/>
              <a:buChar char="§"/>
            </a:pPr>
            <a:r>
              <a:rPr lang="en-US" b="1" i="0" dirty="0">
                <a:solidFill>
                  <a:srgbClr val="32323C"/>
                </a:solidFill>
                <a:effectLst/>
                <a:latin typeface="Times New Roman" panose="02020603050405020304" pitchFamily="18" charset="0"/>
                <a:cs typeface="Times New Roman" panose="02020603050405020304" pitchFamily="18" charset="0"/>
              </a:rPr>
              <a:t>Childbirth</a:t>
            </a:r>
            <a:r>
              <a:rPr lang="en-US" b="0" i="0" dirty="0">
                <a:solidFill>
                  <a:srgbClr val="32323C"/>
                </a:solidFill>
                <a:effectLst/>
                <a:latin typeface="Times New Roman" panose="02020603050405020304" pitchFamily="18" charset="0"/>
                <a:cs typeface="Times New Roman" panose="02020603050405020304" pitchFamily="18" charset="0"/>
              </a:rPr>
              <a:t> – expands to provide a channel for delivery of a newborn from the uterus.</a:t>
            </a:r>
          </a:p>
          <a:p>
            <a:pPr algn="just">
              <a:buFont typeface="Wingdings" panose="05000000000000000000" pitchFamily="2" charset="2"/>
              <a:buChar char="§"/>
            </a:pPr>
            <a:r>
              <a:rPr lang="en-US" b="1" i="0" dirty="0">
                <a:solidFill>
                  <a:srgbClr val="32323C"/>
                </a:solidFill>
                <a:effectLst/>
                <a:latin typeface="Times New Roman" panose="02020603050405020304" pitchFamily="18" charset="0"/>
                <a:cs typeface="Times New Roman" panose="02020603050405020304" pitchFamily="18" charset="0"/>
              </a:rPr>
              <a:t>Menstruation </a:t>
            </a:r>
            <a:r>
              <a:rPr lang="en-US" b="0" i="0" dirty="0">
                <a:solidFill>
                  <a:srgbClr val="32323C"/>
                </a:solidFill>
                <a:effectLst/>
                <a:latin typeface="Times New Roman" panose="02020603050405020304" pitchFamily="18" charset="0"/>
                <a:cs typeface="Times New Roman" panose="02020603050405020304" pitchFamily="18" charset="0"/>
              </a:rPr>
              <a:t>– serves as a canal for menstrual fluid and tissue to </a:t>
            </a:r>
            <a:r>
              <a:rPr lang="en-US" b="0" i="0" smtClean="0">
                <a:solidFill>
                  <a:srgbClr val="32323C"/>
                </a:solidFill>
                <a:effectLst/>
                <a:latin typeface="Times New Roman" panose="02020603050405020304" pitchFamily="18" charset="0"/>
                <a:cs typeface="Times New Roman" panose="02020603050405020304" pitchFamily="18" charset="0"/>
              </a:rPr>
              <a:t>leavethebody</a:t>
            </a:r>
            <a:r>
              <a:rPr lang="en-US" dirty="0"/>
              <a:t/>
            </a:r>
            <a:br>
              <a:rPr lang="en-US" dirty="0"/>
            </a:br>
            <a:endParaRPr lang="en-US" dirty="0"/>
          </a:p>
        </p:txBody>
      </p:sp>
    </p:spTree>
    <p:extLst>
      <p:ext uri="{BB962C8B-B14F-4D97-AF65-F5344CB8AC3E}">
        <p14:creationId xmlns:p14="http://schemas.microsoft.com/office/powerpoint/2010/main" val="1316708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776C47-48E3-D2DE-A700-E9AFF32287A7}"/>
              </a:ext>
            </a:extLst>
          </p:cNvPr>
          <p:cNvSpPr>
            <a:spLocks noGrp="1"/>
          </p:cNvSpPr>
          <p:nvPr>
            <p:ph type="title"/>
          </p:nvPr>
        </p:nvSpPr>
        <p:spPr>
          <a:xfrm>
            <a:off x="86170" y="0"/>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ANATOMICAL STRUCTURE</a:t>
            </a:r>
          </a:p>
        </p:txBody>
      </p:sp>
      <p:sp>
        <p:nvSpPr>
          <p:cNvPr id="3" name="Content Placeholder 2">
            <a:extLst>
              <a:ext uri="{FF2B5EF4-FFF2-40B4-BE49-F238E27FC236}">
                <a16:creationId xmlns="" xmlns:a16="http://schemas.microsoft.com/office/drawing/2014/main" id="{DA119C30-C109-A12A-F0CD-E6D46F2D174E}"/>
              </a:ext>
            </a:extLst>
          </p:cNvPr>
          <p:cNvSpPr>
            <a:spLocks noGrp="1"/>
          </p:cNvSpPr>
          <p:nvPr>
            <p:ph idx="1"/>
          </p:nvPr>
        </p:nvSpPr>
        <p:spPr>
          <a:xfrm>
            <a:off x="351089" y="1325563"/>
            <a:ext cx="10515600" cy="4351338"/>
          </a:xfrm>
        </p:spPr>
        <p:txBody>
          <a:bodyPr/>
          <a:lstStyle/>
          <a:p>
            <a:pPr marL="0" indent="0" algn="l">
              <a:buNone/>
            </a:pPr>
            <a:r>
              <a:rPr lang="en-US" b="1" i="0" dirty="0">
                <a:effectLst/>
                <a:latin typeface="Times New Roman" panose="02020603050405020304" pitchFamily="18" charset="0"/>
                <a:cs typeface="Times New Roman" panose="02020603050405020304" pitchFamily="18" charset="0"/>
              </a:rPr>
              <a:t>Upper two thirds of vagina</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Anatomically, the base of the bladder and the urethra is related to the anterior wall of the vagina, while, posteriorly, the vagina is related to the rectum.</a:t>
            </a:r>
            <a:endParaRPr lang="en-US"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Internally, the cervix protrudes into the proximal end of the vagina forming an enlarged recess between its lower margin and the vaginal wall. </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This blind-ended space is called vaginal fornix. There is a large posterior part of vaginal fornix, a smaller anterior part in addition to two small lateral parts.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8587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48B2EA-B863-A7D2-7505-E2B6A7D4DD4A}"/>
              </a:ext>
            </a:extLst>
          </p:cNvPr>
          <p:cNvSpPr>
            <a:spLocks noGrp="1"/>
          </p:cNvSpPr>
          <p:nvPr>
            <p:ph type="title"/>
          </p:nvPr>
        </p:nvSpPr>
        <p:spPr>
          <a:xfrm>
            <a:off x="197266" y="74568"/>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ANATOMICAL STRUCTURE</a:t>
            </a:r>
            <a:endParaRPr lang="en-US" dirty="0"/>
          </a:p>
        </p:txBody>
      </p:sp>
      <p:sp>
        <p:nvSpPr>
          <p:cNvPr id="3" name="Content Placeholder 2">
            <a:extLst>
              <a:ext uri="{FF2B5EF4-FFF2-40B4-BE49-F238E27FC236}">
                <a16:creationId xmlns="" xmlns:a16="http://schemas.microsoft.com/office/drawing/2014/main" id="{C6809627-C8A5-6839-05DD-842750530978}"/>
              </a:ext>
            </a:extLst>
          </p:cNvPr>
          <p:cNvSpPr>
            <a:spLocks noGrp="1"/>
          </p:cNvSpPr>
          <p:nvPr>
            <p:ph idx="1"/>
          </p:nvPr>
        </p:nvSpPr>
        <p:spPr>
          <a:xfrm>
            <a:off x="197266" y="1400131"/>
            <a:ext cx="11997585" cy="5333955"/>
          </a:xfrm>
        </p:spPr>
        <p:txBody>
          <a:bodyPr>
            <a:normAutofit/>
          </a:bodyPr>
          <a:lstStyle/>
          <a:p>
            <a:pPr marL="0" indent="0" algn="l">
              <a:buNone/>
            </a:pPr>
            <a:r>
              <a:rPr lang="en-US" b="1" i="0" dirty="0">
                <a:effectLst/>
                <a:latin typeface="Times New Roman" panose="02020603050405020304" pitchFamily="18" charset="0"/>
                <a:cs typeface="Times New Roman" panose="02020603050405020304" pitchFamily="18" charset="0"/>
              </a:rPr>
              <a:t>Lower third of vagina</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At the lower end of the vagina (lower third) are </a:t>
            </a:r>
            <a:r>
              <a:rPr lang="en-US" b="1" i="0" dirty="0">
                <a:effectLst/>
                <a:latin typeface="Times New Roman" panose="02020603050405020304" pitchFamily="18" charset="0"/>
                <a:cs typeface="Times New Roman" panose="02020603050405020304" pitchFamily="18" charset="0"/>
              </a:rPr>
              <a:t>vaginal rugae, </a:t>
            </a:r>
            <a:r>
              <a:rPr lang="en-US" b="0" i="0" dirty="0">
                <a:effectLst/>
                <a:latin typeface="Times New Roman" panose="02020603050405020304" pitchFamily="18" charset="0"/>
                <a:cs typeface="Times New Roman" panose="02020603050405020304" pitchFamily="18" charset="0"/>
              </a:rPr>
              <a:t>which allow for expansion of the luminal surface of the vaginal wall during childbirth</a:t>
            </a:r>
            <a:r>
              <a:rPr lang="en-US" b="0" i="0" dirty="0" smtClean="0">
                <a:effectLst/>
                <a:latin typeface="Times New Roman" panose="02020603050405020304" pitchFamily="18" charset="0"/>
                <a:cs typeface="Times New Roman" panose="02020603050405020304" pitchFamily="18" charset="0"/>
              </a:rPr>
              <a:t>.</a:t>
            </a:r>
            <a:endParaRPr lang="en-US" b="0" i="0" dirty="0">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While the vagina itself does not have glands, it is lubricated by mucus from the cervical glands found above it, a process which is hormonally controlled. </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Upon sexual arousal, vaginal secretions can also come from the uterus, or a minuscule amount from the greater vestibular glands (of Bartholin).</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Engorgement of vaginal blood vessels during arousal also results in increased blood flow/pressure which causes fluid, known as </a:t>
            </a:r>
            <a:r>
              <a:rPr lang="en-US" b="1" i="0" dirty="0">
                <a:effectLst/>
                <a:latin typeface="Times New Roman" panose="02020603050405020304" pitchFamily="18" charset="0"/>
                <a:cs typeface="Times New Roman" panose="02020603050405020304" pitchFamily="18" charset="0"/>
              </a:rPr>
              <a:t>vaginal transudate</a:t>
            </a:r>
            <a:r>
              <a:rPr lang="en-US" b="0" i="0" dirty="0">
                <a:effectLst/>
                <a:latin typeface="Times New Roman" panose="02020603050405020304" pitchFamily="18" charset="0"/>
                <a:cs typeface="Times New Roman" panose="02020603050405020304" pitchFamily="18" charset="0"/>
              </a:rPr>
              <a:t>, to be pushed from the vasculature of the </a:t>
            </a:r>
            <a:r>
              <a:rPr lang="en-US" u="sng" dirty="0">
                <a:latin typeface="Times New Roman" panose="02020603050405020304" pitchFamily="18" charset="0"/>
                <a:cs typeface="Times New Roman" panose="02020603050405020304" pitchFamily="18" charset="0"/>
              </a:rPr>
              <a:t>lamina propria</a:t>
            </a:r>
            <a:r>
              <a:rPr lang="en-US" b="0" i="0" dirty="0">
                <a:effectLst/>
                <a:latin typeface="Times New Roman" panose="02020603050405020304" pitchFamily="18" charset="0"/>
                <a:cs typeface="Times New Roman" panose="02020603050405020304" pitchFamily="18" charset="0"/>
              </a:rPr>
              <a:t> onto the vaginal surface through transudation (i.e. escape of liquids via pores or breaks in the cell membranes).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7043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8C2F8D-84A4-2029-6946-8E078BEF974F}"/>
              </a:ext>
            </a:extLst>
          </p:cNvPr>
          <p:cNvSpPr>
            <a:spLocks noGrp="1"/>
          </p:cNvSpPr>
          <p:nvPr>
            <p:ph type="title"/>
          </p:nvPr>
        </p:nvSpPr>
        <p:spPr>
          <a:xfrm>
            <a:off x="248539" y="108752"/>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ANATOMICAL STRUCTURE</a:t>
            </a:r>
            <a:endParaRPr lang="en-US" dirty="0"/>
          </a:p>
        </p:txBody>
      </p:sp>
      <p:sp>
        <p:nvSpPr>
          <p:cNvPr id="3" name="Content Placeholder 2">
            <a:extLst>
              <a:ext uri="{FF2B5EF4-FFF2-40B4-BE49-F238E27FC236}">
                <a16:creationId xmlns="" xmlns:a16="http://schemas.microsoft.com/office/drawing/2014/main" id="{5FF05B9E-3804-3E31-1D7F-59F2999DED0A}"/>
              </a:ext>
            </a:extLst>
          </p:cNvPr>
          <p:cNvSpPr>
            <a:spLocks noGrp="1"/>
          </p:cNvSpPr>
          <p:nvPr>
            <p:ph idx="1"/>
          </p:nvPr>
        </p:nvSpPr>
        <p:spPr>
          <a:xfrm>
            <a:off x="248539" y="1230593"/>
            <a:ext cx="12006130" cy="5563314"/>
          </a:xfrm>
        </p:spPr>
        <p:txBody>
          <a:bodyPr>
            <a:normAutofit/>
          </a:bodyPr>
          <a:lstStyle/>
          <a:p>
            <a:pPr marL="0" indent="0" algn="l">
              <a:buNone/>
            </a:pPr>
            <a:r>
              <a:rPr lang="en-US" b="1" i="0" dirty="0">
                <a:effectLst/>
                <a:latin typeface="Times New Roman" panose="02020603050405020304" pitchFamily="18" charset="0"/>
                <a:cs typeface="Times New Roman" panose="02020603050405020304" pitchFamily="18" charset="0"/>
              </a:rPr>
              <a:t>Vaginal opening</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 Anatomically, the vagina is the fibromuscular canal between the hymen and cervix</a:t>
            </a:r>
            <a:r>
              <a:rPr lang="en-US" dirty="0">
                <a:latin typeface="Times New Roman" panose="02020603050405020304" pitchFamily="18" charset="0"/>
                <a:cs typeface="Times New Roman" panose="02020603050405020304" pitchFamily="18" charset="0"/>
              </a:rPr>
              <a:t>.</a:t>
            </a:r>
            <a:endParaRPr lang="en-US" b="0" i="0" dirty="0">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The vulva includes all of the external genital organs seen outside of the body, which include:</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a:t>
            </a:r>
            <a:r>
              <a:rPr lang="en-US" b="0" i="0" u="sng" dirty="0">
                <a:effectLst/>
                <a:latin typeface="Times New Roman" panose="02020603050405020304" pitchFamily="18" charset="0"/>
                <a:cs typeface="Times New Roman" panose="02020603050405020304" pitchFamily="18" charset="0"/>
              </a:rPr>
              <a:t>mons pubis</a:t>
            </a:r>
            <a:r>
              <a:rPr lang="en-US" b="0" i="0" dirty="0">
                <a:effectLst/>
                <a:latin typeface="Times New Roman" panose="02020603050405020304" pitchFamily="18" charset="0"/>
                <a:cs typeface="Times New Roman" panose="02020603050405020304" pitchFamily="18" charset="0"/>
              </a:rPr>
              <a:t> (Latin for “pubic mound”)</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labia majora (outer lips)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labia minora (inner lips)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clitoris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external openings of the urethra and vagina.</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812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009D928-2FB4-17FA-0461-76F85E83E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309" y="390618"/>
            <a:ext cx="11904955" cy="6502892"/>
          </a:xfrm>
          <a:prstGeom prst="rect">
            <a:avLst/>
          </a:prstGeom>
        </p:spPr>
      </p:pic>
    </p:spTree>
    <p:extLst>
      <p:ext uri="{BB962C8B-B14F-4D97-AF65-F5344CB8AC3E}">
        <p14:creationId xmlns:p14="http://schemas.microsoft.com/office/powerpoint/2010/main" val="597186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D9D3AA-7AAA-5878-E2B1-9754635A4DCE}"/>
              </a:ext>
            </a:extLst>
          </p:cNvPr>
          <p:cNvSpPr>
            <a:spLocks noGrp="1"/>
          </p:cNvSpPr>
          <p:nvPr>
            <p:ph type="title"/>
          </p:nvPr>
        </p:nvSpPr>
        <p:spPr>
          <a:xfrm>
            <a:off x="120354" y="117297"/>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		ANATOMICAL STRUCTURE</a:t>
            </a:r>
            <a:endParaRPr lang="en-US" dirty="0"/>
          </a:p>
        </p:txBody>
      </p:sp>
      <p:sp>
        <p:nvSpPr>
          <p:cNvPr id="3" name="Content Placeholder 2">
            <a:extLst>
              <a:ext uri="{FF2B5EF4-FFF2-40B4-BE49-F238E27FC236}">
                <a16:creationId xmlns="" xmlns:a16="http://schemas.microsoft.com/office/drawing/2014/main" id="{0D6FEF7C-5BA9-13EC-B488-C966C29CD160}"/>
              </a:ext>
            </a:extLst>
          </p:cNvPr>
          <p:cNvSpPr>
            <a:spLocks noGrp="1"/>
          </p:cNvSpPr>
          <p:nvPr>
            <p:ph idx="1"/>
          </p:nvPr>
        </p:nvSpPr>
        <p:spPr>
          <a:xfrm>
            <a:off x="120354" y="1082141"/>
            <a:ext cx="12071645" cy="4351338"/>
          </a:xfrm>
        </p:spPr>
        <p:txBody>
          <a:bodyPr>
            <a:noAutofit/>
          </a:bodyPr>
          <a:lstStyle/>
          <a:p>
            <a:pPr marL="0" indent="0" algn="l">
              <a:buNone/>
            </a:pPr>
            <a:r>
              <a:rPr lang="en-US" b="1" i="0" dirty="0">
                <a:effectLst/>
                <a:latin typeface="Times New Roman" panose="02020603050405020304" pitchFamily="18" charset="0"/>
                <a:cs typeface="Times New Roman" panose="02020603050405020304" pitchFamily="18" charset="0"/>
              </a:rPr>
              <a:t>Hymen</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At the vulva, the vaginal orifice (the introitus) may be partially covered by a membrane formed by inward folding mucosa known as the hymen. This is a thin mucosal structure found posterior to the urethra that partially or completely covers the entrance to the vagina. </a:t>
            </a: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It is surrounded by the vaginal vestibule, which is exposed with spreading of the labia. The hymen stretches across the vaginal lumen and is normally incomplete to allow for passage of menstrual flow. It can be perforated during sexual intercourse, insertion of menstrual products, such as tampons, or during childbirth.</a:t>
            </a:r>
            <a:endParaRPr lang="en-US"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Hymenal caruncles are small firm reddish nodules located around the vaginal orifice in adult women; they are remnants of the hymen. The hymen is often crescent-shaped in preadolescent females, but many shapes are possible.</a:t>
            </a:r>
          </a:p>
          <a:p>
            <a:endParaRPr lang="en-US" dirty="0"/>
          </a:p>
        </p:txBody>
      </p:sp>
    </p:spTree>
    <p:extLst>
      <p:ext uri="{BB962C8B-B14F-4D97-AF65-F5344CB8AC3E}">
        <p14:creationId xmlns:p14="http://schemas.microsoft.com/office/powerpoint/2010/main" val="1453291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111128-BD33-366F-31AA-ABCF7E9211AC}"/>
              </a:ext>
            </a:extLst>
          </p:cNvPr>
          <p:cNvSpPr>
            <a:spLocks noGrp="1"/>
          </p:cNvSpPr>
          <p:nvPr>
            <p:ph type="title"/>
          </p:nvPr>
        </p:nvSpPr>
        <p:spPr>
          <a:xfrm>
            <a:off x="83599" y="97654"/>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		BOUNDARIES</a:t>
            </a:r>
          </a:p>
        </p:txBody>
      </p:sp>
      <p:sp>
        <p:nvSpPr>
          <p:cNvPr id="3" name="Content Placeholder 2">
            <a:extLst>
              <a:ext uri="{FF2B5EF4-FFF2-40B4-BE49-F238E27FC236}">
                <a16:creationId xmlns="" xmlns:a16="http://schemas.microsoft.com/office/drawing/2014/main" id="{23A607B9-E9BF-140F-F5CE-AA68A4A8E10F}"/>
              </a:ext>
            </a:extLst>
          </p:cNvPr>
          <p:cNvSpPr>
            <a:spLocks noGrp="1"/>
          </p:cNvSpPr>
          <p:nvPr>
            <p:ph idx="1"/>
          </p:nvPr>
        </p:nvSpPr>
        <p:spPr>
          <a:xfrm>
            <a:off x="838200" y="1825625"/>
            <a:ext cx="4692588" cy="4351338"/>
          </a:xfrm>
        </p:spPr>
        <p:txBody>
          <a:bodyPr>
            <a:noAutofit/>
          </a:bodyPr>
          <a:lstStyle/>
          <a:p>
            <a:pPr algn="just">
              <a:buFont typeface="Wingdings" panose="05000000000000000000" pitchFamily="2" charset="2"/>
              <a:buChar char="§"/>
            </a:pPr>
            <a:r>
              <a:rPr lang="en-US" b="0" i="0" dirty="0">
                <a:solidFill>
                  <a:srgbClr val="32323C"/>
                </a:solidFill>
                <a:effectLst/>
                <a:latin typeface="Times New Roman" panose="02020603050405020304" pitchFamily="18" charset="0"/>
                <a:cs typeface="Times New Roman" panose="02020603050405020304" pitchFamily="18" charset="0"/>
              </a:rPr>
              <a:t>The vagina is closely related to many of the organs in the pelvic region:</a:t>
            </a:r>
          </a:p>
          <a:p>
            <a:pPr algn="just">
              <a:buFont typeface="Wingdings" panose="05000000000000000000" pitchFamily="2" charset="2"/>
              <a:buChar char="§"/>
            </a:pPr>
            <a:r>
              <a:rPr lang="en-US" b="1" i="0" dirty="0">
                <a:solidFill>
                  <a:srgbClr val="32323C"/>
                </a:solidFill>
                <a:effectLst/>
                <a:latin typeface="Times New Roman" panose="02020603050405020304" pitchFamily="18" charset="0"/>
                <a:cs typeface="Times New Roman" panose="02020603050405020304" pitchFamily="18" charset="0"/>
              </a:rPr>
              <a:t>Anterior </a:t>
            </a:r>
            <a:r>
              <a:rPr lang="en-US" b="0" i="0" dirty="0">
                <a:solidFill>
                  <a:srgbClr val="32323C"/>
                </a:solidFill>
                <a:effectLst/>
                <a:latin typeface="Times New Roman" panose="02020603050405020304" pitchFamily="18" charset="0"/>
                <a:cs typeface="Times New Roman" panose="02020603050405020304" pitchFamily="18" charset="0"/>
              </a:rPr>
              <a:t>– bladder and urethra.</a:t>
            </a:r>
            <a:endParaRPr lang="en-US" dirty="0">
              <a:solidFill>
                <a:srgbClr val="32323C"/>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b="1" i="0" dirty="0">
                <a:solidFill>
                  <a:srgbClr val="32323C"/>
                </a:solidFill>
                <a:effectLst/>
                <a:latin typeface="Times New Roman" panose="02020603050405020304" pitchFamily="18" charset="0"/>
                <a:cs typeface="Times New Roman" panose="02020603050405020304" pitchFamily="18" charset="0"/>
              </a:rPr>
              <a:t>Posterior </a:t>
            </a:r>
            <a:r>
              <a:rPr lang="en-US" b="0" i="0" dirty="0">
                <a:solidFill>
                  <a:srgbClr val="32323C"/>
                </a:solidFill>
                <a:effectLst/>
                <a:latin typeface="Times New Roman" panose="02020603050405020304" pitchFamily="18" charset="0"/>
                <a:cs typeface="Times New Roman" panose="02020603050405020304" pitchFamily="18" charset="0"/>
              </a:rPr>
              <a:t>– rectouterine pouch, rectum and anal canal.</a:t>
            </a:r>
          </a:p>
          <a:p>
            <a:pPr algn="just">
              <a:buFont typeface="Wingdings" panose="05000000000000000000" pitchFamily="2" charset="2"/>
              <a:buChar char="§"/>
            </a:pPr>
            <a:r>
              <a:rPr lang="en-US" b="1" i="0" dirty="0">
                <a:solidFill>
                  <a:srgbClr val="32323C"/>
                </a:solidFill>
                <a:effectLst/>
                <a:latin typeface="Times New Roman" panose="02020603050405020304" pitchFamily="18" charset="0"/>
                <a:cs typeface="Times New Roman" panose="02020603050405020304" pitchFamily="18" charset="0"/>
              </a:rPr>
              <a:t>Lateral </a:t>
            </a:r>
            <a:r>
              <a:rPr lang="en-US" b="0" i="0" dirty="0">
                <a:solidFill>
                  <a:srgbClr val="32323C"/>
                </a:solidFill>
                <a:effectLst/>
                <a:latin typeface="Times New Roman" panose="02020603050405020304" pitchFamily="18" charset="0"/>
                <a:cs typeface="Times New Roman" panose="02020603050405020304" pitchFamily="18" charset="0"/>
              </a:rPr>
              <a:t>– ureters and </a:t>
            </a:r>
            <a:r>
              <a:rPr lang="en-US" b="0" i="0" dirty="0" err="1">
                <a:solidFill>
                  <a:srgbClr val="32323C"/>
                </a:solidFill>
                <a:effectLst/>
                <a:latin typeface="Times New Roman" panose="02020603050405020304" pitchFamily="18" charset="0"/>
                <a:cs typeface="Times New Roman" panose="02020603050405020304" pitchFamily="18" charset="0"/>
              </a:rPr>
              <a:t>levator</a:t>
            </a:r>
            <a:r>
              <a:rPr lang="en-US" b="0" i="0" dirty="0">
                <a:solidFill>
                  <a:srgbClr val="32323C"/>
                </a:solidFill>
                <a:effectLst/>
                <a:latin typeface="Times New Roman" panose="02020603050405020304" pitchFamily="18" charset="0"/>
                <a:cs typeface="Times New Roman" panose="02020603050405020304" pitchFamily="18" charset="0"/>
              </a:rPr>
              <a:t> ani muscle.</a:t>
            </a:r>
          </a:p>
          <a:p>
            <a:r>
              <a:rPr lang="en-US" b="0" i="0" dirty="0">
                <a:solidFill>
                  <a:srgbClr val="FFFFFF"/>
                </a:solidFill>
                <a:effectLst/>
                <a:latin typeface="Times New Roman" panose="02020603050405020304" pitchFamily="18" charset="0"/>
                <a:cs typeface="Times New Roman" panose="02020603050405020304" pitchFamily="18" charset="0"/>
              </a:rPr>
              <a:t/>
            </a:r>
            <a:br>
              <a:rPr lang="en-US" b="0" i="0" dirty="0">
                <a:solidFill>
                  <a:srgbClr val="FFFFFF"/>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E0471C13-FDE6-F925-03B2-794D08400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0602" y="-97654"/>
            <a:ext cx="6118816" cy="6858000"/>
          </a:xfrm>
          <a:prstGeom prst="rect">
            <a:avLst/>
          </a:prstGeom>
        </p:spPr>
      </p:pic>
      <p:sp>
        <p:nvSpPr>
          <p:cNvPr id="8" name="TextBox 7">
            <a:extLst>
              <a:ext uri="{FF2B5EF4-FFF2-40B4-BE49-F238E27FC236}">
                <a16:creationId xmlns="" xmlns:a16="http://schemas.microsoft.com/office/drawing/2014/main" id="{1C8EDB3B-809B-BAF4-5718-03793C7F8609}"/>
              </a:ext>
            </a:extLst>
          </p:cNvPr>
          <p:cNvSpPr txBox="1"/>
          <p:nvPr/>
        </p:nvSpPr>
        <p:spPr>
          <a:xfrm>
            <a:off x="284085" y="6176963"/>
            <a:ext cx="7981026" cy="646331"/>
          </a:xfrm>
          <a:prstGeom prst="rect">
            <a:avLst/>
          </a:prstGeom>
          <a:noFill/>
        </p:spPr>
        <p:txBody>
          <a:bodyPr wrap="square" rtlCol="0">
            <a:spAutoFit/>
          </a:bodyPr>
          <a:lstStyle/>
          <a:p>
            <a:r>
              <a:rPr lang="en-US" dirty="0"/>
              <a:t>Fig 2: </a:t>
            </a:r>
            <a:r>
              <a:rPr lang="en-US" dirty="0" err="1"/>
              <a:t>Saggital</a:t>
            </a:r>
            <a:r>
              <a:rPr lang="en-US" dirty="0"/>
              <a:t> section of the female pelvis showing the anatomical relation of the Vagina</a:t>
            </a:r>
          </a:p>
        </p:txBody>
      </p:sp>
    </p:spTree>
    <p:extLst>
      <p:ext uri="{BB962C8B-B14F-4D97-AF65-F5344CB8AC3E}">
        <p14:creationId xmlns:p14="http://schemas.microsoft.com/office/powerpoint/2010/main" val="3062839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8E7B87-E31C-3C2C-0F18-43B75916C0AD}"/>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ANATOMICAL STRUCTURE</a:t>
            </a:r>
          </a:p>
        </p:txBody>
      </p:sp>
      <p:sp>
        <p:nvSpPr>
          <p:cNvPr id="3" name="Content Placeholder 2">
            <a:extLst>
              <a:ext uri="{FF2B5EF4-FFF2-40B4-BE49-F238E27FC236}">
                <a16:creationId xmlns="" xmlns:a16="http://schemas.microsoft.com/office/drawing/2014/main" id="{B292BFA6-F57A-AEBE-CF51-BA3A60817536}"/>
              </a:ext>
            </a:extLst>
          </p:cNvPr>
          <p:cNvSpPr>
            <a:spLocks noGrp="1"/>
          </p:cNvSpPr>
          <p:nvPr>
            <p:ph idx="1"/>
          </p:nvPr>
        </p:nvSpPr>
        <p:spPr/>
        <p:txBody>
          <a:bodyPr/>
          <a:lstStyle/>
          <a:p>
            <a:pPr algn="just">
              <a:buFont typeface="Wingdings" panose="05000000000000000000" pitchFamily="2" charset="2"/>
              <a:buChar char="§"/>
            </a:pPr>
            <a:r>
              <a:rPr lang="en-US" b="0" i="0" dirty="0">
                <a:solidFill>
                  <a:srgbClr val="32323C"/>
                </a:solidFill>
                <a:effectLst/>
                <a:latin typeface="Times New Roman" panose="02020603050405020304" pitchFamily="18" charset="0"/>
                <a:cs typeface="Times New Roman" panose="02020603050405020304" pitchFamily="18" charset="0"/>
              </a:rPr>
              <a:t>The vagina is a </a:t>
            </a:r>
            <a:r>
              <a:rPr lang="en-US" b="1" i="0" dirty="0">
                <a:solidFill>
                  <a:srgbClr val="32323C"/>
                </a:solidFill>
                <a:effectLst/>
                <a:latin typeface="Times New Roman" panose="02020603050405020304" pitchFamily="18" charset="0"/>
                <a:cs typeface="Times New Roman" panose="02020603050405020304" pitchFamily="18" charset="0"/>
              </a:rPr>
              <a:t>fibromuscular tube</a:t>
            </a:r>
            <a:r>
              <a:rPr lang="en-US" b="0" i="0" dirty="0">
                <a:solidFill>
                  <a:srgbClr val="32323C"/>
                </a:solidFill>
                <a:effectLst/>
                <a:latin typeface="Times New Roman" panose="02020603050405020304" pitchFamily="18" charset="0"/>
                <a:cs typeface="Times New Roman" panose="02020603050405020304" pitchFamily="18" charset="0"/>
              </a:rPr>
              <a:t> with anterior and posterior walls – these are normally collapsed and thus in contact with one another.</a:t>
            </a:r>
          </a:p>
          <a:p>
            <a:pPr algn="just">
              <a:buFont typeface="Wingdings" panose="05000000000000000000" pitchFamily="2" charset="2"/>
              <a:buChar char="§"/>
            </a:pPr>
            <a:r>
              <a:rPr lang="en-US" b="0" i="0" dirty="0">
                <a:solidFill>
                  <a:srgbClr val="32323C"/>
                </a:solidFill>
                <a:effectLst/>
                <a:latin typeface="Times New Roman" panose="02020603050405020304" pitchFamily="18" charset="0"/>
                <a:cs typeface="Times New Roman" panose="02020603050405020304" pitchFamily="18" charset="0"/>
              </a:rPr>
              <a:t>The shape of the vagina is not a round tunnel. In the transverse plane it is more like an </a:t>
            </a:r>
            <a:r>
              <a:rPr lang="en-US" b="1" i="0" dirty="0">
                <a:solidFill>
                  <a:srgbClr val="32323C"/>
                </a:solidFill>
                <a:effectLst/>
                <a:latin typeface="Times New Roman" panose="02020603050405020304" pitchFamily="18" charset="0"/>
                <a:cs typeface="Times New Roman" panose="02020603050405020304" pitchFamily="18" charset="0"/>
              </a:rPr>
              <a:t>“H”</a:t>
            </a:r>
            <a:r>
              <a:rPr lang="en-US" b="0" i="0" dirty="0">
                <a:solidFill>
                  <a:srgbClr val="32323C"/>
                </a:solidFill>
                <a:effectLst/>
                <a:latin typeface="Times New Roman" panose="02020603050405020304" pitchFamily="18" charset="0"/>
                <a:cs typeface="Times New Roman" panose="02020603050405020304" pitchFamily="18" charset="0"/>
              </a:rPr>
              <a:t> lying on the side. At the upper ending, the vagina surrounds the cervix, creating two domes (</a:t>
            </a:r>
            <a:r>
              <a:rPr lang="en-US" b="0" i="0" dirty="0" err="1">
                <a:solidFill>
                  <a:srgbClr val="32323C"/>
                </a:solidFill>
                <a:effectLst/>
                <a:latin typeface="Times New Roman" panose="02020603050405020304" pitchFamily="18" charset="0"/>
                <a:cs typeface="Times New Roman" panose="02020603050405020304" pitchFamily="18" charset="0"/>
              </a:rPr>
              <a:t>fornices</a:t>
            </a:r>
            <a:r>
              <a:rPr lang="en-US" b="0" i="0" dirty="0">
                <a:solidFill>
                  <a:srgbClr val="32323C"/>
                </a:solidFill>
                <a:effectLst/>
                <a:latin typeface="Times New Roman" panose="02020603050405020304" pitchFamily="18" charset="0"/>
                <a:cs typeface="Times New Roman" panose="02020603050405020304" pitchFamily="18" charset="0"/>
              </a:rPr>
              <a:t> or vaults): an anterior and a (deeper) posterior one.</a:t>
            </a:r>
          </a:p>
          <a:p>
            <a:pPr algn="just">
              <a:buFont typeface="Wingdings" panose="05000000000000000000" pitchFamily="2" charset="2"/>
              <a:buChar char="§"/>
            </a:pPr>
            <a:r>
              <a:rPr lang="en-US" b="0" i="0" dirty="0">
                <a:solidFill>
                  <a:srgbClr val="32323C"/>
                </a:solidFill>
                <a:effectLst/>
                <a:latin typeface="Times New Roman" panose="02020603050405020304" pitchFamily="18" charset="0"/>
                <a:cs typeface="Times New Roman" panose="02020603050405020304" pitchFamily="18" charset="0"/>
              </a:rPr>
              <a:t>The</a:t>
            </a:r>
            <a:r>
              <a:rPr lang="en-US" b="1" i="0" dirty="0">
                <a:solidFill>
                  <a:srgbClr val="32323C"/>
                </a:solidFill>
                <a:effectLst/>
                <a:latin typeface="Times New Roman" panose="02020603050405020304" pitchFamily="18" charset="0"/>
                <a:cs typeface="Times New Roman" panose="02020603050405020304" pitchFamily="18" charset="0"/>
              </a:rPr>
              <a:t> posterior fornix</a:t>
            </a:r>
            <a:r>
              <a:rPr lang="en-US" b="0" i="0" dirty="0">
                <a:solidFill>
                  <a:srgbClr val="32323C"/>
                </a:solidFill>
                <a:effectLst/>
                <a:latin typeface="Times New Roman" panose="02020603050405020304" pitchFamily="18" charset="0"/>
                <a:cs typeface="Times New Roman" panose="02020603050405020304" pitchFamily="18" charset="0"/>
              </a:rPr>
              <a:t> is important as it acts like a natural reservoir for semen after intravaginal ejaculation. The semen retained in the fornix liquefies in the next 20-30 mins, allowing for easier permeation through the cervical canal.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4432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0AE6CE0-645C-72D9-206F-A921D4C6D8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4343"/>
            <a:ext cx="12192000" cy="5929313"/>
          </a:xfrm>
          <a:prstGeom prst="rect">
            <a:avLst/>
          </a:prstGeom>
        </p:spPr>
      </p:pic>
      <p:sp>
        <p:nvSpPr>
          <p:cNvPr id="5" name="TextBox 4">
            <a:extLst>
              <a:ext uri="{FF2B5EF4-FFF2-40B4-BE49-F238E27FC236}">
                <a16:creationId xmlns="" xmlns:a16="http://schemas.microsoft.com/office/drawing/2014/main" id="{05393834-9A1F-CE08-53F7-706FB56DFF98}"/>
              </a:ext>
            </a:extLst>
          </p:cNvPr>
          <p:cNvSpPr txBox="1"/>
          <p:nvPr/>
        </p:nvSpPr>
        <p:spPr>
          <a:xfrm>
            <a:off x="2372557" y="6393656"/>
            <a:ext cx="6094520" cy="369332"/>
          </a:xfrm>
          <a:prstGeom prst="rect">
            <a:avLst/>
          </a:prstGeom>
          <a:noFill/>
        </p:spPr>
        <p:txBody>
          <a:bodyPr wrap="square">
            <a:spAutoFit/>
          </a:bodyPr>
          <a:lstStyle/>
          <a:p>
            <a:r>
              <a:rPr lang="en-US" b="0" i="0" dirty="0">
                <a:solidFill>
                  <a:srgbClr val="32323C"/>
                </a:solidFill>
                <a:effectLst/>
                <a:latin typeface="acumin-pro"/>
              </a:rPr>
              <a:t>Fig 3 – The anterior and posterior vaginal </a:t>
            </a:r>
            <a:r>
              <a:rPr lang="en-US" b="0" i="0" dirty="0" err="1">
                <a:solidFill>
                  <a:srgbClr val="32323C"/>
                </a:solidFill>
                <a:effectLst/>
                <a:latin typeface="acumin-pro"/>
              </a:rPr>
              <a:t>fornices</a:t>
            </a:r>
            <a:endParaRPr lang="en-US" dirty="0"/>
          </a:p>
        </p:txBody>
      </p:sp>
    </p:spTree>
    <p:extLst>
      <p:ext uri="{BB962C8B-B14F-4D97-AF65-F5344CB8AC3E}">
        <p14:creationId xmlns:p14="http://schemas.microsoft.com/office/powerpoint/2010/main" val="22157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4D1E94D-A072-D7FC-1481-20DCD13AF5CA}"/>
              </a:ext>
            </a:extLst>
          </p:cNvPr>
          <p:cNvSpPr txBox="1"/>
          <p:nvPr/>
        </p:nvSpPr>
        <p:spPr>
          <a:xfrm>
            <a:off x="1" y="-66686"/>
            <a:ext cx="12191999" cy="6494085"/>
          </a:xfrm>
          <a:prstGeom prst="rect">
            <a:avLst/>
          </a:prstGeom>
          <a:noFill/>
        </p:spPr>
        <p:txBody>
          <a:bodyPr wrap="square">
            <a:spAutoFit/>
          </a:bodyPr>
          <a:lstStyle/>
          <a:p>
            <a:pPr algn="ctr"/>
            <a:r>
              <a:rPr lang="en-US" sz="4400" b="1" i="0" dirty="0">
                <a:solidFill>
                  <a:srgbClr val="C00000"/>
                </a:solidFill>
                <a:effectLst/>
                <a:latin typeface="Times New Roman" panose="02020603050405020304" pitchFamily="18" charset="0"/>
                <a:cs typeface="Times New Roman" panose="02020603050405020304" pitchFamily="18" charset="0"/>
              </a:rPr>
              <a:t>HISTOLOGY OF THE VAGINA</a:t>
            </a:r>
          </a:p>
          <a:p>
            <a:pPr algn="ctr"/>
            <a:endParaRPr lang="en-US" b="1" dirty="0">
              <a:latin typeface="Times New Roman" panose="02020603050405020304" pitchFamily="18" charset="0"/>
              <a:cs typeface="Times New Roman" panose="02020603050405020304" pitchFamily="18" charset="0"/>
            </a:endParaRPr>
          </a:p>
          <a:p>
            <a:pPr algn="ctr"/>
            <a:endParaRPr lang="en-US" b="1" i="0" dirty="0">
              <a:effectLst/>
              <a:latin typeface="Times New Roman" panose="02020603050405020304" pitchFamily="18" charset="0"/>
              <a:cs typeface="Times New Roman" panose="02020603050405020304" pitchFamily="18" charset="0"/>
            </a:endParaRPr>
          </a:p>
          <a:p>
            <a:pPr algn="just"/>
            <a:r>
              <a:rPr lang="en-US" sz="2800" b="0" i="0" dirty="0">
                <a:effectLst/>
                <a:latin typeface="Times New Roman" panose="02020603050405020304" pitchFamily="18" charset="0"/>
                <a:cs typeface="Times New Roman" panose="02020603050405020304" pitchFamily="18" charset="0"/>
              </a:rPr>
              <a:t>The vagina is composed of four histological layers (internal to external):</a:t>
            </a:r>
          </a:p>
          <a:p>
            <a:pPr marL="342900" indent="-342900" algn="just">
              <a:buFont typeface="Wingdings" panose="05000000000000000000" pitchFamily="2" charset="2"/>
              <a:buChar char="§"/>
            </a:pPr>
            <a:r>
              <a:rPr lang="en-US" sz="2800" b="1" i="0" dirty="0" smtClean="0">
                <a:effectLst/>
                <a:latin typeface="Times New Roman" panose="02020603050405020304" pitchFamily="18" charset="0"/>
                <a:cs typeface="Times New Roman" panose="02020603050405020304" pitchFamily="18" charset="0"/>
              </a:rPr>
              <a:t>Stratified </a:t>
            </a:r>
            <a:r>
              <a:rPr lang="en-US" sz="2800" b="1" i="0" dirty="0">
                <a:effectLst/>
                <a:latin typeface="Times New Roman" panose="02020603050405020304" pitchFamily="18" charset="0"/>
                <a:cs typeface="Times New Roman" panose="02020603050405020304" pitchFamily="18" charset="0"/>
              </a:rPr>
              <a:t>squamous epithelium</a:t>
            </a:r>
            <a:r>
              <a:rPr lang="en-US" sz="2800" b="0" i="0" dirty="0">
                <a:effectLst/>
                <a:latin typeface="Times New Roman" panose="02020603050405020304" pitchFamily="18" charset="0"/>
                <a:cs typeface="Times New Roman" panose="02020603050405020304" pitchFamily="18" charset="0"/>
              </a:rPr>
              <a:t> – this layer provides protection and is lubricated by cervical mucus (the vagina itself does not contain any glands).</a:t>
            </a:r>
          </a:p>
          <a:p>
            <a:pPr algn="just">
              <a:buFont typeface="Arial" panose="020B0604020202020204" pitchFamily="34" charset="0"/>
              <a:buChar char="•"/>
            </a:pPr>
            <a:endParaRPr lang="en-US" sz="28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800" b="1" i="0" dirty="0">
                <a:effectLst/>
                <a:latin typeface="Times New Roman" panose="02020603050405020304" pitchFamily="18" charset="0"/>
                <a:cs typeface="Times New Roman" panose="02020603050405020304" pitchFamily="18" charset="0"/>
              </a:rPr>
              <a:t>Elastic lamina propria</a:t>
            </a:r>
            <a:r>
              <a:rPr lang="en-US" sz="2800" b="0" i="0" dirty="0">
                <a:effectLst/>
                <a:latin typeface="Times New Roman" panose="02020603050405020304" pitchFamily="18" charset="0"/>
                <a:cs typeface="Times New Roman" panose="02020603050405020304" pitchFamily="18" charset="0"/>
              </a:rPr>
              <a:t> – a dense connective tissue layer which projects papillae into the overlying epithelium. The larger veins are located here.</a:t>
            </a:r>
          </a:p>
          <a:p>
            <a:pPr algn="just">
              <a:buFont typeface="Arial" panose="020B0604020202020204" pitchFamily="34" charset="0"/>
              <a:buChar char="•"/>
            </a:pPr>
            <a:endParaRPr lang="en-US" sz="28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800" b="1" i="0" dirty="0">
                <a:effectLst/>
                <a:latin typeface="Times New Roman" panose="02020603050405020304" pitchFamily="18" charset="0"/>
                <a:cs typeface="Times New Roman" panose="02020603050405020304" pitchFamily="18" charset="0"/>
              </a:rPr>
              <a:t>Fibromuscular layer</a:t>
            </a:r>
            <a:r>
              <a:rPr lang="en-US" sz="2800" b="0" i="0" dirty="0">
                <a:effectLst/>
                <a:latin typeface="Times New Roman" panose="02020603050405020304" pitchFamily="18" charset="0"/>
                <a:cs typeface="Times New Roman" panose="02020603050405020304" pitchFamily="18" charset="0"/>
              </a:rPr>
              <a:t> – comprising two layers of smooth muscle; an inner circular and an outer longitudinal layer.</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800" b="1" i="0" dirty="0">
                <a:effectLst/>
                <a:latin typeface="Times New Roman" panose="02020603050405020304" pitchFamily="18" charset="0"/>
                <a:cs typeface="Times New Roman" panose="02020603050405020304" pitchFamily="18" charset="0"/>
              </a:rPr>
              <a:t>Adventitia</a:t>
            </a:r>
            <a:r>
              <a:rPr lang="en-US" sz="2800" b="0" i="0" dirty="0">
                <a:effectLst/>
                <a:latin typeface="Times New Roman" panose="02020603050405020304" pitchFamily="18" charset="0"/>
                <a:cs typeface="Times New Roman" panose="02020603050405020304" pitchFamily="18" charset="0"/>
              </a:rPr>
              <a:t> – a fibrous layer, which provides additional strength to the vagina whilst also binding it to surrounding structures</a:t>
            </a:r>
            <a:r>
              <a:rPr lang="en-US" sz="2800" b="0" i="0" dirty="0">
                <a:effectLst/>
                <a:latin typeface="acumin-pro"/>
              </a:rPr>
              <a:t>.</a:t>
            </a:r>
          </a:p>
        </p:txBody>
      </p:sp>
    </p:spTree>
    <p:extLst>
      <p:ext uri="{BB962C8B-B14F-4D97-AF65-F5344CB8AC3E}">
        <p14:creationId xmlns:p14="http://schemas.microsoft.com/office/powerpoint/2010/main" val="4001053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D36D377E-0813-CAAA-E0EA-0682DD779164}"/>
              </a:ext>
            </a:extLst>
          </p:cNvPr>
          <p:cNvSpPr txBox="1"/>
          <p:nvPr/>
        </p:nvSpPr>
        <p:spPr>
          <a:xfrm>
            <a:off x="232145" y="116828"/>
            <a:ext cx="7211241" cy="7325082"/>
          </a:xfrm>
          <a:prstGeom prst="rect">
            <a:avLst/>
          </a:prstGeom>
          <a:noFill/>
        </p:spPr>
        <p:txBody>
          <a:bodyPr wrap="square">
            <a:spAutoFit/>
          </a:bodyPr>
          <a:lstStyle/>
          <a:p>
            <a:pPr algn="l"/>
            <a:r>
              <a:rPr lang="en-US" sz="4400" b="1" dirty="0">
                <a:solidFill>
                  <a:srgbClr val="C00000"/>
                </a:solidFill>
                <a:effectLst/>
                <a:latin typeface="Times New Roman" panose="02020603050405020304" pitchFamily="18" charset="0"/>
                <a:cs typeface="Times New Roman" panose="02020603050405020304" pitchFamily="18" charset="0"/>
              </a:rPr>
              <a:t>Vascular Supply and Lymphatics</a:t>
            </a:r>
          </a:p>
          <a:p>
            <a:pPr marL="285750" indent="-285750">
              <a:buFont typeface="Wingdings" panose="05000000000000000000" pitchFamily="2" charset="2"/>
              <a:buChar char="§"/>
            </a:pPr>
            <a:r>
              <a:rPr lang="en-US" sz="2800" dirty="0">
                <a:effectLst/>
                <a:latin typeface="Times New Roman" panose="02020603050405020304" pitchFamily="18" charset="0"/>
                <a:cs typeface="Times New Roman" panose="02020603050405020304" pitchFamily="18" charset="0"/>
              </a:rPr>
              <a:t>The arterial supply to the vagina is via the uterine and vaginal arteries – both branches of the</a:t>
            </a:r>
            <a:r>
              <a:rPr lang="en-US" sz="2800" b="1" dirty="0">
                <a:effectLst/>
                <a:latin typeface="Times New Roman" panose="02020603050405020304" pitchFamily="18" charset="0"/>
                <a:cs typeface="Times New Roman" panose="02020603050405020304" pitchFamily="18" charset="0"/>
              </a:rPr>
              <a:t> internal iliac artery</a:t>
            </a:r>
            <a:r>
              <a:rPr lang="en-US" sz="2800" dirty="0" smtClean="0">
                <a:effectLst/>
                <a:latin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800" dirty="0">
                <a:effectLst/>
                <a:latin typeface="Times New Roman" panose="02020603050405020304" pitchFamily="18" charset="0"/>
                <a:cs typeface="Times New Roman" panose="02020603050405020304" pitchFamily="18" charset="0"/>
              </a:rPr>
              <a:t>Venous return is by the vaginal venous plexus, which drains into the </a:t>
            </a:r>
            <a:r>
              <a:rPr lang="en-US" sz="2800" b="1" dirty="0">
                <a:effectLst/>
                <a:latin typeface="Times New Roman" panose="02020603050405020304" pitchFamily="18" charset="0"/>
                <a:cs typeface="Times New Roman" panose="02020603050405020304" pitchFamily="18" charset="0"/>
              </a:rPr>
              <a:t>internal iliac veins </a:t>
            </a:r>
            <a:r>
              <a:rPr lang="en-US" sz="2800" dirty="0">
                <a:effectLst/>
                <a:latin typeface="Times New Roman" panose="02020603050405020304" pitchFamily="18" charset="0"/>
                <a:cs typeface="Times New Roman" panose="02020603050405020304" pitchFamily="18" charset="0"/>
              </a:rPr>
              <a:t>via the uterine vein.</a:t>
            </a:r>
          </a:p>
          <a:p>
            <a:r>
              <a:rPr lang="en-US" sz="2800" b="1" dirty="0" smtClean="0">
                <a:effectLst/>
                <a:latin typeface="Times New Roman" panose="02020603050405020304" pitchFamily="18" charset="0"/>
                <a:cs typeface="Times New Roman" panose="02020603050405020304" pitchFamily="18" charset="0"/>
              </a:rPr>
              <a:t>Lymphatic </a:t>
            </a:r>
            <a:r>
              <a:rPr lang="en-US" sz="2800" b="1" dirty="0">
                <a:effectLst/>
                <a:latin typeface="Times New Roman" panose="02020603050405020304" pitchFamily="18" charset="0"/>
                <a:cs typeface="Times New Roman" panose="02020603050405020304" pitchFamily="18" charset="0"/>
              </a:rPr>
              <a:t>drainage is divided into three sections</a:t>
            </a:r>
            <a:r>
              <a:rPr lang="en-US" sz="2800" dirty="0">
                <a:effectLst/>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800" b="1" dirty="0">
                <a:effectLst/>
                <a:latin typeface="Times New Roman" panose="02020603050405020304" pitchFamily="18" charset="0"/>
                <a:cs typeface="Times New Roman" panose="02020603050405020304" pitchFamily="18" charset="0"/>
              </a:rPr>
              <a:t>Superior</a:t>
            </a:r>
            <a:r>
              <a:rPr lang="en-US" sz="2800" dirty="0">
                <a:effectLst/>
                <a:latin typeface="Times New Roman" panose="02020603050405020304" pitchFamily="18" charset="0"/>
                <a:cs typeface="Times New Roman" panose="02020603050405020304" pitchFamily="18" charset="0"/>
              </a:rPr>
              <a:t> – drains to external iliac nodes</a:t>
            </a:r>
          </a:p>
          <a:p>
            <a:pPr>
              <a:buFont typeface="Arial" panose="020B0604020202020204" pitchFamily="34" charset="0"/>
              <a:buChar char="•"/>
            </a:pPr>
            <a:r>
              <a:rPr lang="en-US" sz="2800" b="1" dirty="0">
                <a:effectLst/>
                <a:latin typeface="Times New Roman" panose="02020603050405020304" pitchFamily="18" charset="0"/>
                <a:cs typeface="Times New Roman" panose="02020603050405020304" pitchFamily="18" charset="0"/>
              </a:rPr>
              <a:t>Middle</a:t>
            </a:r>
            <a:r>
              <a:rPr lang="en-US" sz="2800" dirty="0">
                <a:effectLst/>
                <a:latin typeface="Times New Roman" panose="02020603050405020304" pitchFamily="18" charset="0"/>
                <a:cs typeface="Times New Roman" panose="02020603050405020304" pitchFamily="18" charset="0"/>
              </a:rPr>
              <a:t> – drains to internal iliac nodes</a:t>
            </a:r>
          </a:p>
          <a:p>
            <a:pPr>
              <a:buFont typeface="Arial" panose="020B0604020202020204" pitchFamily="34" charset="0"/>
              <a:buChar char="•"/>
            </a:pPr>
            <a:r>
              <a:rPr lang="en-US" sz="2800" b="1" dirty="0">
                <a:effectLst/>
                <a:latin typeface="Times New Roman" panose="02020603050405020304" pitchFamily="18" charset="0"/>
                <a:cs typeface="Times New Roman" panose="02020603050405020304" pitchFamily="18" charset="0"/>
              </a:rPr>
              <a:t>Inferior</a:t>
            </a:r>
            <a:r>
              <a:rPr lang="en-US" sz="2800" dirty="0">
                <a:effectLst/>
                <a:latin typeface="Times New Roman" panose="02020603050405020304" pitchFamily="18" charset="0"/>
                <a:cs typeface="Times New Roman" panose="02020603050405020304" pitchFamily="18" charset="0"/>
              </a:rPr>
              <a:t> – drains to superficial inguinal lymph nodes.</a:t>
            </a:r>
          </a:p>
          <a:p>
            <a:pPr algn="just" latinLnBrk="1"/>
            <a:r>
              <a:rPr lang="en-US" sz="2800" b="0" i="0" dirty="0">
                <a:solidFill>
                  <a:srgbClr val="FFFFFF"/>
                </a:solidFill>
                <a:effectLst/>
                <a:latin typeface="Times New Roman" panose="02020603050405020304" pitchFamily="18" charset="0"/>
                <a:cs typeface="Times New Roman" panose="02020603050405020304" pitchFamily="18" charset="0"/>
              </a:rPr>
              <a:t> By </a:t>
            </a:r>
            <a:r>
              <a:rPr lang="en-US" u="sng" dirty="0" err="1">
                <a:solidFill>
                  <a:srgbClr val="FFFFFF"/>
                </a:solidFill>
                <a:latin typeface="Times New Roman" panose="02020603050405020304" pitchFamily="18" charset="0"/>
                <a:cs typeface="Times New Roman" panose="02020603050405020304" pitchFamily="18" charset="0"/>
              </a:rPr>
              <a:t>TeachMeSe</a:t>
            </a:r>
            <a:r>
              <a:rPr lang="en-US" dirty="0">
                <a:solidFill>
                  <a:srgbClr val="FFFFFF"/>
                </a:solidFill>
                <a:effectLst/>
                <a:latin typeface="Times New Roman" panose="02020603050405020304" pitchFamily="18" charset="0"/>
                <a:cs typeface="Times New Roman" panose="02020603050405020304" pitchFamily="18" charset="0"/>
              </a:rPr>
              <a:t/>
            </a:r>
            <a:br>
              <a:rPr lang="en-US" dirty="0">
                <a:solidFill>
                  <a:srgbClr val="FFFFFF"/>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5BD6E0D7-C7F2-F60B-B96F-89915F3032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6654" y="116828"/>
            <a:ext cx="4761058" cy="6642100"/>
          </a:xfrm>
          <a:prstGeom prst="rect">
            <a:avLst/>
          </a:prstGeom>
        </p:spPr>
      </p:pic>
      <p:sp>
        <p:nvSpPr>
          <p:cNvPr id="6" name="TextBox 5">
            <a:extLst>
              <a:ext uri="{FF2B5EF4-FFF2-40B4-BE49-F238E27FC236}">
                <a16:creationId xmlns="" xmlns:a16="http://schemas.microsoft.com/office/drawing/2014/main" id="{F1619422-89C2-55C6-9C42-9D96ECF2B9D6}"/>
              </a:ext>
            </a:extLst>
          </p:cNvPr>
          <p:cNvSpPr txBox="1"/>
          <p:nvPr/>
        </p:nvSpPr>
        <p:spPr>
          <a:xfrm flipH="1">
            <a:off x="2469734" y="6211669"/>
            <a:ext cx="6403761" cy="646331"/>
          </a:xfrm>
          <a:prstGeom prst="rect">
            <a:avLst/>
          </a:prstGeom>
          <a:noFill/>
        </p:spPr>
        <p:txBody>
          <a:bodyPr wrap="square" rtlCol="0">
            <a:spAutoFit/>
          </a:bodyPr>
          <a:lstStyle/>
          <a:p>
            <a:r>
              <a:rPr lang="en-US" dirty="0"/>
              <a:t>Fig4:posterior view of the arterial supply to the female reproductive tract</a:t>
            </a:r>
          </a:p>
        </p:txBody>
      </p:sp>
    </p:spTree>
    <p:extLst>
      <p:ext uri="{BB962C8B-B14F-4D97-AF65-F5344CB8AC3E}">
        <p14:creationId xmlns:p14="http://schemas.microsoft.com/office/powerpoint/2010/main" val="984030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2E16B2F-CFF8-7E0B-64F5-0EC557E4479E}"/>
              </a:ext>
            </a:extLst>
          </p:cNvPr>
          <p:cNvSpPr txBox="1"/>
          <p:nvPr/>
        </p:nvSpPr>
        <p:spPr>
          <a:xfrm>
            <a:off x="0" y="0"/>
            <a:ext cx="12192000" cy="6863417"/>
          </a:xfrm>
          <a:prstGeom prst="rect">
            <a:avLst/>
          </a:prstGeom>
          <a:noFill/>
        </p:spPr>
        <p:txBody>
          <a:bodyPr wrap="square">
            <a:spAutoFit/>
          </a:bodyPr>
          <a:lstStyle/>
          <a:p>
            <a:pPr algn="l"/>
            <a:r>
              <a:rPr lang="en-US" sz="2800" b="1" i="0" dirty="0">
                <a:solidFill>
                  <a:srgbClr val="C00000"/>
                </a:solidFill>
                <a:effectLst/>
                <a:latin typeface="Times New Roman" panose="02020603050405020304" pitchFamily="18" charset="0"/>
                <a:cs typeface="Times New Roman" panose="02020603050405020304" pitchFamily="18" charset="0"/>
              </a:rPr>
              <a:t>			</a:t>
            </a:r>
            <a:r>
              <a:rPr lang="en-US" sz="4400" b="1" i="0" dirty="0">
                <a:solidFill>
                  <a:srgbClr val="C00000"/>
                </a:solidFill>
                <a:effectLst/>
                <a:latin typeface="Times New Roman" panose="02020603050405020304" pitchFamily="18" charset="0"/>
                <a:cs typeface="Times New Roman" panose="02020603050405020304" pitchFamily="18" charset="0"/>
              </a:rPr>
              <a:t>Innervation</a:t>
            </a:r>
          </a:p>
          <a:p>
            <a:pPr algn="l"/>
            <a:endParaRPr lang="en-US" b="1" i="0" dirty="0">
              <a:solidFill>
                <a:srgbClr val="32323C"/>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2800" b="0" i="0" dirty="0">
                <a:solidFill>
                  <a:srgbClr val="32323C"/>
                </a:solidFill>
                <a:effectLst/>
                <a:latin typeface="Times New Roman" panose="02020603050405020304" pitchFamily="18" charset="0"/>
                <a:cs typeface="Times New Roman" panose="02020603050405020304" pitchFamily="18" charset="0"/>
              </a:rPr>
              <a:t>Innervation is predominantly from the autonomic nervous system. Parasympathetic and sympathetic nerves arise from the </a:t>
            </a:r>
            <a:r>
              <a:rPr lang="en-US" sz="2800" b="1" i="0" dirty="0">
                <a:solidFill>
                  <a:srgbClr val="32323C"/>
                </a:solidFill>
                <a:effectLst/>
                <a:latin typeface="Times New Roman" panose="02020603050405020304" pitchFamily="18" charset="0"/>
                <a:cs typeface="Times New Roman" panose="02020603050405020304" pitchFamily="18" charset="0"/>
              </a:rPr>
              <a:t>uterovaginal nerve plexus </a:t>
            </a:r>
            <a:r>
              <a:rPr lang="en-US" sz="2800" b="0" i="0" dirty="0">
                <a:solidFill>
                  <a:srgbClr val="32323C"/>
                </a:solidFill>
                <a:effectLst/>
                <a:latin typeface="Times New Roman" panose="02020603050405020304" pitchFamily="18" charset="0"/>
                <a:cs typeface="Times New Roman" panose="02020603050405020304" pitchFamily="18" charset="0"/>
              </a:rPr>
              <a:t>(in turn a subsidiary of the inferior hypogastric plexus).</a:t>
            </a:r>
          </a:p>
          <a:p>
            <a:pPr algn="just"/>
            <a:r>
              <a:rPr lang="en-US" sz="2800" b="0" i="0" dirty="0">
                <a:solidFill>
                  <a:srgbClr val="32323C"/>
                </a:solidFill>
                <a:effectLst/>
                <a:latin typeface="Times New Roman" panose="02020603050405020304" pitchFamily="18" charset="0"/>
                <a:cs typeface="Times New Roman" panose="02020603050405020304" pitchFamily="18" charset="0"/>
              </a:rPr>
              <a:t>Only the inferior 1/5 of the vagina receives somatic innervation. This is via a branch of the </a:t>
            </a:r>
            <a:r>
              <a:rPr lang="en-US" sz="2800" dirty="0">
                <a:latin typeface="Times New Roman" panose="02020603050405020304" pitchFamily="18" charset="0"/>
                <a:cs typeface="Times New Roman" panose="02020603050405020304" pitchFamily="18" charset="0"/>
              </a:rPr>
              <a:t>pudendal nerve</a:t>
            </a:r>
            <a:r>
              <a:rPr lang="en-US" sz="2800" b="0" i="0" dirty="0">
                <a:solidFill>
                  <a:srgbClr val="32323C"/>
                </a:solidFill>
                <a:effectLst/>
                <a:latin typeface="Times New Roman" panose="02020603050405020304" pitchFamily="18" charset="0"/>
                <a:cs typeface="Times New Roman" panose="02020603050405020304" pitchFamily="18" charset="0"/>
              </a:rPr>
              <a:t>, the</a:t>
            </a:r>
            <a:r>
              <a:rPr lang="en-US" sz="2800" b="1" i="0" dirty="0">
                <a:solidFill>
                  <a:srgbClr val="32323C"/>
                </a:solidFill>
                <a:effectLst/>
                <a:latin typeface="Times New Roman" panose="02020603050405020304" pitchFamily="18" charset="0"/>
                <a:cs typeface="Times New Roman" panose="02020603050405020304" pitchFamily="18" charset="0"/>
              </a:rPr>
              <a:t> deep perineal nerve</a:t>
            </a:r>
            <a:r>
              <a:rPr lang="en-US" sz="2800" b="0" i="0" dirty="0">
                <a:solidFill>
                  <a:srgbClr val="32323C"/>
                </a:solidFill>
                <a:effectLst/>
                <a:latin typeface="Times New Roman" panose="02020603050405020304" pitchFamily="18" charset="0"/>
                <a:cs typeface="Times New Roman" panose="02020603050405020304" pitchFamily="18" charset="0"/>
              </a:rPr>
              <a:t>.</a:t>
            </a:r>
          </a:p>
          <a:p>
            <a:pPr algn="l"/>
            <a:endParaRPr lang="en-US" sz="2800" b="1" i="0" dirty="0">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
            </a:pPr>
            <a:r>
              <a:rPr lang="en-US" sz="2800" b="0" i="0" dirty="0">
                <a:solidFill>
                  <a:srgbClr val="495354"/>
                </a:solidFill>
                <a:effectLst/>
                <a:latin typeface="Times New Roman" panose="02020603050405020304" pitchFamily="18" charset="0"/>
                <a:cs typeface="Times New Roman" panose="02020603050405020304" pitchFamily="18" charset="0"/>
              </a:rPr>
              <a:t>There is a higher concentration of nerve endings near the entrance of the vagina (lower third) that provides sexual pleasure when stimulated, and women may also derive pleasure from a feeling of closeness and fullness during sexual intercourse.</a:t>
            </a:r>
          </a:p>
          <a:p>
            <a:pPr algn="l"/>
            <a:r>
              <a:rPr lang="en-US" sz="2800" b="0" i="0" dirty="0">
                <a:solidFill>
                  <a:srgbClr val="495354"/>
                </a:solidFill>
                <a:effectLst/>
                <a:latin typeface="Times New Roman" panose="02020603050405020304" pitchFamily="18" charset="0"/>
                <a:cs typeface="Times New Roman" panose="02020603050405020304" pitchFamily="18" charset="0"/>
              </a:rPr>
              <a:t>	Uterovaginal plexus</a:t>
            </a:r>
          </a:p>
          <a:p>
            <a:pPr algn="l"/>
            <a:r>
              <a:rPr lang="en-US" sz="2800" b="0" i="0" dirty="0">
                <a:solidFill>
                  <a:srgbClr val="495354"/>
                </a:solidFill>
                <a:effectLst/>
                <a:latin typeface="Times New Roman" panose="02020603050405020304" pitchFamily="18" charset="0"/>
                <a:cs typeface="Times New Roman" panose="02020603050405020304" pitchFamily="18" charset="0"/>
              </a:rPr>
              <a:t>	Plexus </a:t>
            </a:r>
            <a:r>
              <a:rPr lang="en-US" sz="2800" b="0" i="0" dirty="0" err="1">
                <a:solidFill>
                  <a:srgbClr val="495354"/>
                </a:solidFill>
                <a:effectLst/>
                <a:latin typeface="Times New Roman" panose="02020603050405020304" pitchFamily="18" charset="0"/>
                <a:cs typeface="Times New Roman" panose="02020603050405020304" pitchFamily="18" charset="0"/>
              </a:rPr>
              <a:t>uterovaginalis</a:t>
            </a:r>
            <a:endParaRPr lang="en-US" sz="2800" b="0" i="0" dirty="0">
              <a:solidFill>
                <a:srgbClr val="495354"/>
              </a:solidFill>
              <a:effectLst/>
              <a:latin typeface="Times New Roman" panose="02020603050405020304" pitchFamily="18" charset="0"/>
              <a:cs typeface="Times New Roman" panose="02020603050405020304" pitchFamily="18" charset="0"/>
            </a:endParaRPr>
          </a:p>
          <a:p>
            <a:pPr algn="l"/>
            <a:endParaRPr lang="en-US" sz="2400" b="0" i="0" dirty="0">
              <a:solidFill>
                <a:srgbClr val="495354"/>
              </a:solidFill>
              <a:effectLst/>
              <a:latin typeface="Times New Roman" panose="02020603050405020304" pitchFamily="18" charset="0"/>
              <a:cs typeface="Times New Roman" panose="02020603050405020304" pitchFamily="18" charset="0"/>
            </a:endParaRPr>
          </a:p>
          <a:p>
            <a:pPr algn="just"/>
            <a:endParaRPr lang="en-US" b="0" i="0" dirty="0">
              <a:solidFill>
                <a:srgbClr val="32323C"/>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620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417415"/>
          </a:xfrm>
          <a:prstGeom prst="rect">
            <a:avLst/>
          </a:prstGeom>
        </p:spPr>
        <p:txBody>
          <a:bodyPr wrap="square">
            <a:spAutoFit/>
          </a:bodyPr>
          <a:lstStyle/>
          <a:p>
            <a:pPr marL="285750" indent="-285750">
              <a:buFont typeface="Wingdings" panose="05000000000000000000" pitchFamily="2" charset="2"/>
              <a:buChar char="§"/>
            </a:pPr>
            <a:r>
              <a:rPr lang="en-US" sz="2800" dirty="0">
                <a:solidFill>
                  <a:srgbClr val="495354"/>
                </a:solidFill>
                <a:latin typeface="Times New Roman" panose="02020603050405020304" pitchFamily="18" charset="0"/>
                <a:cs typeface="Times New Roman" panose="02020603050405020304" pitchFamily="18" charset="0"/>
              </a:rPr>
              <a:t>Autonomic efferent innervation to the upper two thirds of the vagina is supplied through the </a:t>
            </a:r>
            <a:r>
              <a:rPr lang="en-US" sz="2800" dirty="0" err="1">
                <a:solidFill>
                  <a:srgbClr val="495354"/>
                </a:solidFill>
                <a:latin typeface="Times New Roman" panose="02020603050405020304" pitchFamily="18" charset="0"/>
                <a:cs typeface="Times New Roman" panose="02020603050405020304" pitchFamily="18" charset="0"/>
              </a:rPr>
              <a:t>uterovaginal</a:t>
            </a:r>
            <a:r>
              <a:rPr lang="en-US" sz="2800" dirty="0">
                <a:solidFill>
                  <a:srgbClr val="495354"/>
                </a:solidFill>
                <a:latin typeface="Times New Roman" panose="02020603050405020304" pitchFamily="18" charset="0"/>
                <a:cs typeface="Times New Roman" panose="02020603050405020304" pitchFamily="18" charset="0"/>
              </a:rPr>
              <a:t> plexus containing both sympathetic and parasympathetic fibers. </a:t>
            </a:r>
            <a:endParaRPr lang="en-US" sz="2800" dirty="0" smtClean="0">
              <a:solidFill>
                <a:srgbClr val="495354"/>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sz="2800" dirty="0">
              <a:solidFill>
                <a:srgbClr val="495354"/>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800" dirty="0">
                <a:solidFill>
                  <a:srgbClr val="495354"/>
                </a:solidFill>
                <a:latin typeface="Times New Roman" panose="02020603050405020304" pitchFamily="18" charset="0"/>
                <a:cs typeface="Times New Roman" panose="02020603050405020304" pitchFamily="18" charset="0"/>
              </a:rPr>
              <a:t>Sympathetic efferent fibers from the lumbar splanchnic nerves (lumbar outflow) travel first through the superior </a:t>
            </a:r>
            <a:r>
              <a:rPr lang="en-US" sz="2800" dirty="0" err="1">
                <a:solidFill>
                  <a:srgbClr val="495354"/>
                </a:solidFill>
                <a:latin typeface="Times New Roman" panose="02020603050405020304" pitchFamily="18" charset="0"/>
                <a:cs typeface="Times New Roman" panose="02020603050405020304" pitchFamily="18" charset="0"/>
              </a:rPr>
              <a:t>hypogastric</a:t>
            </a:r>
            <a:r>
              <a:rPr lang="en-US" sz="2800" dirty="0">
                <a:solidFill>
                  <a:srgbClr val="495354"/>
                </a:solidFill>
                <a:latin typeface="Times New Roman" panose="02020603050405020304" pitchFamily="18" charset="0"/>
                <a:cs typeface="Times New Roman" panose="02020603050405020304" pitchFamily="18" charset="0"/>
              </a:rPr>
              <a:t> plexus, and then through the bilateral </a:t>
            </a:r>
            <a:r>
              <a:rPr lang="en-US" sz="2800" dirty="0" err="1">
                <a:solidFill>
                  <a:srgbClr val="495354"/>
                </a:solidFill>
                <a:latin typeface="Times New Roman" panose="02020603050405020304" pitchFamily="18" charset="0"/>
                <a:cs typeface="Times New Roman" panose="02020603050405020304" pitchFamily="18" charset="0"/>
              </a:rPr>
              <a:t>hypogastric</a:t>
            </a:r>
            <a:r>
              <a:rPr lang="en-US" sz="2800" dirty="0">
                <a:solidFill>
                  <a:srgbClr val="495354"/>
                </a:solidFill>
                <a:latin typeface="Times New Roman" panose="02020603050405020304" pitchFamily="18" charset="0"/>
                <a:cs typeface="Times New Roman" panose="02020603050405020304" pitchFamily="18" charset="0"/>
              </a:rPr>
              <a:t> nerves to reach the inferior </a:t>
            </a:r>
            <a:r>
              <a:rPr lang="en-US" sz="2800" dirty="0" err="1">
                <a:solidFill>
                  <a:srgbClr val="495354"/>
                </a:solidFill>
                <a:latin typeface="Times New Roman" panose="02020603050405020304" pitchFamily="18" charset="0"/>
                <a:cs typeface="Times New Roman" panose="02020603050405020304" pitchFamily="18" charset="0"/>
              </a:rPr>
              <a:t>hypogastric</a:t>
            </a:r>
            <a:r>
              <a:rPr lang="en-US" sz="2800" dirty="0">
                <a:solidFill>
                  <a:srgbClr val="495354"/>
                </a:solidFill>
                <a:latin typeface="Times New Roman" panose="02020603050405020304" pitchFamily="18" charset="0"/>
                <a:cs typeface="Times New Roman" panose="02020603050405020304" pitchFamily="18" charset="0"/>
              </a:rPr>
              <a:t> plexuses, and finally the </a:t>
            </a:r>
            <a:r>
              <a:rPr lang="en-US" sz="2800" dirty="0" err="1">
                <a:solidFill>
                  <a:srgbClr val="495354"/>
                </a:solidFill>
                <a:latin typeface="Times New Roman" panose="02020603050405020304" pitchFamily="18" charset="0"/>
                <a:cs typeface="Times New Roman" panose="02020603050405020304" pitchFamily="18" charset="0"/>
              </a:rPr>
              <a:t>uterovaginal</a:t>
            </a:r>
            <a:r>
              <a:rPr lang="en-US" sz="2800" dirty="0">
                <a:solidFill>
                  <a:srgbClr val="495354"/>
                </a:solidFill>
                <a:latin typeface="Times New Roman" panose="02020603050405020304" pitchFamily="18" charset="0"/>
                <a:cs typeface="Times New Roman" panose="02020603050405020304" pitchFamily="18" charset="0"/>
              </a:rPr>
              <a:t> plexus</a:t>
            </a:r>
            <a:r>
              <a:rPr lang="en-US" sz="2800" dirty="0" smtClean="0">
                <a:solidFill>
                  <a:srgbClr val="495354"/>
                </a:solidFill>
                <a:latin typeface="Times New Roman" panose="02020603050405020304" pitchFamily="18" charset="0"/>
                <a:cs typeface="Times New Roman" panose="02020603050405020304" pitchFamily="18" charset="0"/>
              </a:rPr>
              <a:t>.</a:t>
            </a:r>
          </a:p>
          <a:p>
            <a:r>
              <a:rPr lang="en-US" sz="2800" dirty="0">
                <a:solidFill>
                  <a:srgbClr val="495354"/>
                </a:solidFill>
                <a:latin typeface="Times New Roman" panose="02020603050405020304" pitchFamily="18" charset="0"/>
                <a:cs typeface="Times New Roman" panose="02020603050405020304" pitchFamily="18" charset="0"/>
              </a:rPr>
              <a:t>Parasympathetic efferent fibers to the </a:t>
            </a:r>
            <a:r>
              <a:rPr lang="en-US" sz="2800" dirty="0" err="1">
                <a:solidFill>
                  <a:srgbClr val="495354"/>
                </a:solidFill>
                <a:latin typeface="Times New Roman" panose="02020603050405020304" pitchFamily="18" charset="0"/>
                <a:cs typeface="Times New Roman" panose="02020603050405020304" pitchFamily="18" charset="0"/>
              </a:rPr>
              <a:t>uterovaginal</a:t>
            </a:r>
            <a:r>
              <a:rPr lang="en-US" sz="2800" dirty="0">
                <a:solidFill>
                  <a:srgbClr val="495354"/>
                </a:solidFill>
                <a:latin typeface="Times New Roman" panose="02020603050405020304" pitchFamily="18" charset="0"/>
                <a:cs typeface="Times New Roman" panose="02020603050405020304" pitchFamily="18" charset="0"/>
              </a:rPr>
              <a:t> plexus originate from the pelvic splanchnic nerves (S2-S4) (sacral outflow).</a:t>
            </a:r>
          </a:p>
          <a:p>
            <a:pPr marL="285750" indent="-285750">
              <a:buFont typeface="Wingdings" panose="05000000000000000000" pitchFamily="2" charset="2"/>
              <a:buChar char="§"/>
            </a:pPr>
            <a:endParaRPr lang="en-US" sz="2800" dirty="0">
              <a:solidFill>
                <a:srgbClr val="495354"/>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800" dirty="0">
                <a:solidFill>
                  <a:srgbClr val="495354"/>
                </a:solidFill>
                <a:latin typeface="Times New Roman" panose="02020603050405020304" pitchFamily="18" charset="0"/>
                <a:cs typeface="Times New Roman" panose="02020603050405020304" pitchFamily="18" charset="0"/>
              </a:rPr>
              <a:t>Autonomic efferent innervation to the lower third of the vagina is carried through the pelvic splanchnic nerves (S2-S4).</a:t>
            </a:r>
          </a:p>
          <a:p>
            <a:r>
              <a:rPr lang="en-US" sz="2800" dirty="0">
                <a:solidFill>
                  <a:srgbClr val="495354"/>
                </a:solidFill>
                <a:latin typeface="Times New Roman" panose="02020603050405020304" pitchFamily="18" charset="0"/>
                <a:cs typeface="Times New Roman" panose="02020603050405020304" pitchFamily="18" charset="0"/>
              </a:rPr>
              <a:t>General visceral afferent (GVA) fibers from the upper vagina travel through the pelvic splanchnic nerves to the </a:t>
            </a:r>
            <a:r>
              <a:rPr lang="en-US" sz="2800" u="sng" dirty="0">
                <a:latin typeface="Times New Roman" panose="02020603050405020304" pitchFamily="18" charset="0"/>
                <a:cs typeface="Times New Roman" panose="02020603050405020304" pitchFamily="18" charset="0"/>
              </a:rPr>
              <a:t>sacral plexus</a:t>
            </a:r>
            <a:r>
              <a:rPr lang="en-US" sz="2800" dirty="0">
                <a:latin typeface="Times New Roman" panose="02020603050405020304" pitchFamily="18" charset="0"/>
                <a:cs typeface="Times New Roman" panose="02020603050405020304" pitchFamily="18" charset="0"/>
              </a:rPr>
              <a:t>. </a:t>
            </a:r>
            <a:r>
              <a:rPr lang="en-US" sz="2800" dirty="0">
                <a:solidFill>
                  <a:srgbClr val="495354"/>
                </a:solidFill>
                <a:latin typeface="Times New Roman" panose="02020603050405020304" pitchFamily="18" charset="0"/>
                <a:cs typeface="Times New Roman" panose="02020603050405020304" pitchFamily="18" charset="0"/>
              </a:rPr>
              <a:t>Afferent fibers from the lower vagina are carried by the </a:t>
            </a:r>
            <a:r>
              <a:rPr lang="en-US" sz="2800" u="sng" dirty="0" err="1">
                <a:latin typeface="Times New Roman" panose="02020603050405020304" pitchFamily="18" charset="0"/>
                <a:cs typeface="Times New Roman" panose="02020603050405020304" pitchFamily="18" charset="0"/>
              </a:rPr>
              <a:t>pudendal</a:t>
            </a:r>
            <a:r>
              <a:rPr lang="en-US" sz="2800" u="sng" dirty="0">
                <a:latin typeface="Times New Roman" panose="02020603050405020304" pitchFamily="18" charset="0"/>
                <a:cs typeface="Times New Roman" panose="02020603050405020304" pitchFamily="18" charset="0"/>
              </a:rPr>
              <a:t> nerve</a:t>
            </a:r>
          </a:p>
          <a:p>
            <a:pPr marL="285750" indent="-285750">
              <a:buFont typeface="Wingdings" panose="05000000000000000000" pitchFamily="2" charset="2"/>
              <a:buChar char="§"/>
            </a:pPr>
            <a:endParaRPr lang="en-US" sz="2800" dirty="0">
              <a:solidFill>
                <a:srgbClr val="49535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505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EF41665-F82F-88F5-E25F-01C89AF3A766}"/>
              </a:ext>
            </a:extLst>
          </p:cNvPr>
          <p:cNvSpPr txBox="1"/>
          <p:nvPr/>
        </p:nvSpPr>
        <p:spPr>
          <a:xfrm>
            <a:off x="-74590" y="0"/>
            <a:ext cx="12266589" cy="8710077"/>
          </a:xfrm>
          <a:prstGeom prst="rect">
            <a:avLst/>
          </a:prstGeom>
          <a:noFill/>
        </p:spPr>
        <p:txBody>
          <a:bodyPr wrap="square">
            <a:spAutoFit/>
          </a:bodyPr>
          <a:lstStyle/>
          <a:p>
            <a:pPr algn="l"/>
            <a:endParaRPr lang="en-US" sz="2800" u="sng" dirty="0">
              <a:latin typeface="PlutoSansLight"/>
            </a:endParaRPr>
          </a:p>
          <a:p>
            <a:pPr marL="285750" indent="-285750" algn="l">
              <a:buFont typeface="Wingdings" panose="05000000000000000000" pitchFamily="2" charset="2"/>
              <a:buChar char="§"/>
            </a:pPr>
            <a:r>
              <a:rPr lang="en-US" sz="2800" dirty="0">
                <a:solidFill>
                  <a:srgbClr val="495354"/>
                </a:solidFill>
                <a:effectLst/>
                <a:latin typeface="Times New Roman" panose="02020603050405020304" pitchFamily="18" charset="0"/>
                <a:cs typeface="Times New Roman" panose="02020603050405020304" pitchFamily="18" charset="0"/>
              </a:rPr>
              <a:t>Somatic sensation exists primarily in the distal one third of the vagina and is also carried by general somatic afferent fibers within the pudendal nerve to the sacral plexus.</a:t>
            </a:r>
          </a:p>
          <a:p>
            <a:pPr marL="285750" indent="-285750" algn="l">
              <a:buFont typeface="Wingdings" panose="05000000000000000000" pitchFamily="2" charset="2"/>
              <a:buChar char="§"/>
            </a:pPr>
            <a:endParaRPr lang="en-US" sz="2800" dirty="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800" dirty="0">
                <a:solidFill>
                  <a:srgbClr val="495354"/>
                </a:solidFill>
                <a:effectLst/>
                <a:latin typeface="Times New Roman" panose="02020603050405020304" pitchFamily="18" charset="0"/>
                <a:cs typeface="Times New Roman" panose="02020603050405020304" pitchFamily="18" charset="0"/>
              </a:rPr>
              <a:t>Despite the scientific examinations of vaginal wall innervation showing no consistent or single areas with greater nerve ending densities, some women do have a greater density of nerve endings in the</a:t>
            </a:r>
            <a:r>
              <a:rPr lang="en-US" sz="2800" b="0" dirty="0">
                <a:solidFill>
                  <a:srgbClr val="495354"/>
                </a:solidFill>
                <a:effectLst/>
                <a:latin typeface="Times New Roman" panose="02020603050405020304" pitchFamily="18" charset="0"/>
                <a:cs typeface="Times New Roman" panose="02020603050405020304" pitchFamily="18" charset="0"/>
              </a:rPr>
              <a:t> anterior vaginal wall</a:t>
            </a:r>
            <a:r>
              <a:rPr lang="en-US" sz="2800" dirty="0">
                <a:solidFill>
                  <a:srgbClr val="495354"/>
                </a:solidFill>
                <a:effectLst/>
                <a:latin typeface="Times New Roman" panose="02020603050405020304" pitchFamily="18" charset="0"/>
                <a:cs typeface="Times New Roman" panose="02020603050405020304" pitchFamily="18" charset="0"/>
              </a:rPr>
              <a:t> that can lead to heightened sensitivity and pleasure when the anterior wall is stimulated. </a:t>
            </a:r>
          </a:p>
          <a:p>
            <a:pPr marL="285750" indent="-285750">
              <a:buFont typeface="Wingdings" panose="05000000000000000000" pitchFamily="2" charset="2"/>
              <a:buChar char="§"/>
            </a:pPr>
            <a:endParaRPr lang="en-US" sz="2800" dirty="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800" dirty="0">
                <a:solidFill>
                  <a:srgbClr val="495354"/>
                </a:solidFill>
                <a:effectLst/>
                <a:latin typeface="Times New Roman" panose="02020603050405020304" pitchFamily="18" charset="0"/>
                <a:cs typeface="Times New Roman" panose="02020603050405020304" pitchFamily="18" charset="0"/>
              </a:rPr>
              <a:t>Therefore, it is in the anterior wall that the vaginal erogenous zone is located (commonly referred to as the ‘</a:t>
            </a:r>
            <a:r>
              <a:rPr lang="en-US" sz="2800" b="0" dirty="0">
                <a:solidFill>
                  <a:srgbClr val="495354"/>
                </a:solidFill>
                <a:effectLst/>
                <a:latin typeface="Times New Roman" panose="02020603050405020304" pitchFamily="18" charset="0"/>
                <a:cs typeface="Times New Roman" panose="02020603050405020304" pitchFamily="18" charset="0"/>
              </a:rPr>
              <a:t>G-spot</a:t>
            </a:r>
            <a:r>
              <a:rPr lang="en-US" sz="2800" dirty="0">
                <a:solidFill>
                  <a:srgbClr val="495354"/>
                </a:solidFill>
                <a:effectLst/>
                <a:latin typeface="Times New Roman" panose="02020603050405020304" pitchFamily="18" charset="0"/>
                <a:cs typeface="Times New Roman" panose="02020603050405020304" pitchFamily="18" charset="0"/>
              </a:rPr>
              <a:t>’ or </a:t>
            </a:r>
            <a:r>
              <a:rPr lang="en-US" sz="2800" dirty="0" err="1">
                <a:solidFill>
                  <a:srgbClr val="495354"/>
                </a:solidFill>
                <a:effectLst/>
                <a:latin typeface="Times New Roman" panose="02020603050405020304" pitchFamily="18" charset="0"/>
                <a:cs typeface="Times New Roman" panose="02020603050405020304" pitchFamily="18" charset="0"/>
              </a:rPr>
              <a:t>Gräfenberg</a:t>
            </a:r>
            <a:r>
              <a:rPr lang="en-US" sz="2800" dirty="0">
                <a:solidFill>
                  <a:srgbClr val="495354"/>
                </a:solidFill>
                <a:effectLst/>
                <a:latin typeface="Times New Roman" panose="02020603050405020304" pitchFamily="18" charset="0"/>
                <a:cs typeface="Times New Roman" panose="02020603050405020304" pitchFamily="18" charset="0"/>
              </a:rPr>
              <a:t> spot).</a:t>
            </a:r>
          </a:p>
          <a:p>
            <a:pPr marL="285750" indent="-285750">
              <a:buFont typeface="Wingdings" panose="05000000000000000000" pitchFamily="2" charset="2"/>
              <a:buChar char="§"/>
            </a:pPr>
            <a:endParaRPr lang="en-US" sz="2800" dirty="0">
              <a:solidFill>
                <a:srgbClr val="495354"/>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800" dirty="0">
                <a:solidFill>
                  <a:srgbClr val="495354"/>
                </a:solidFill>
                <a:effectLst/>
                <a:latin typeface="Times New Roman" panose="02020603050405020304" pitchFamily="18" charset="0"/>
                <a:cs typeface="Times New Roman" panose="02020603050405020304" pitchFamily="18" charset="0"/>
              </a:rPr>
              <a:t> In these examples, the outer third of the vagina near the opening will have more nerve endings, making it more sensitive to touch than the deeper and inner two-thirds of the vagina. Functionally, this is most likely the case so that childbirth will be significantly less painful, since increased nerve endings throughout would otherwise equate to more pain.</a:t>
            </a:r>
          </a:p>
          <a:p>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791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BE483E-F63E-7D44-E9E9-2E1ADE30161B}"/>
              </a:ext>
            </a:extLst>
          </p:cNvPr>
          <p:cNvSpPr>
            <a:spLocks noGrp="1"/>
          </p:cNvSpPr>
          <p:nvPr>
            <p:ph type="title"/>
          </p:nvPr>
        </p:nvSpPr>
        <p:spPr>
          <a:xfrm>
            <a:off x="285960" y="0"/>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		Clinical Anatomy</a:t>
            </a:r>
          </a:p>
        </p:txBody>
      </p:sp>
      <p:sp>
        <p:nvSpPr>
          <p:cNvPr id="4" name="TextBox 3">
            <a:extLst>
              <a:ext uri="{FF2B5EF4-FFF2-40B4-BE49-F238E27FC236}">
                <a16:creationId xmlns="" xmlns:a16="http://schemas.microsoft.com/office/drawing/2014/main" id="{EF1B5BB8-3CE5-257A-54E0-C6D215E08EB5}"/>
              </a:ext>
            </a:extLst>
          </p:cNvPr>
          <p:cNvSpPr txBox="1"/>
          <p:nvPr/>
        </p:nvSpPr>
        <p:spPr>
          <a:xfrm>
            <a:off x="-76912" y="887182"/>
            <a:ext cx="12192000" cy="6124754"/>
          </a:xfrm>
          <a:prstGeom prst="rect">
            <a:avLst/>
          </a:prstGeom>
          <a:noFill/>
        </p:spPr>
        <p:txBody>
          <a:bodyPr wrap="square">
            <a:spAutoFit/>
          </a:bodyPr>
          <a:lstStyle/>
          <a:p>
            <a:pPr algn="ctr"/>
            <a:r>
              <a:rPr lang="en-US" sz="2800" b="1" i="0" dirty="0">
                <a:effectLst/>
                <a:latin typeface="Times New Roman" panose="02020603050405020304" pitchFamily="18" charset="0"/>
                <a:cs typeface="Times New Roman" panose="02020603050405020304" pitchFamily="18" charset="0"/>
              </a:rPr>
              <a:t>Vaginal (Obstetric) Fistulae</a:t>
            </a:r>
          </a:p>
          <a:p>
            <a:pPr marL="342900" indent="-342900" algn="just">
              <a:buFont typeface="Wingdings" panose="05000000000000000000" pitchFamily="2" charset="2"/>
              <a:buChar char="§"/>
            </a:pPr>
            <a:r>
              <a:rPr lang="en-US" sz="2800" b="0" i="0" dirty="0">
                <a:effectLst/>
                <a:latin typeface="Times New Roman" panose="02020603050405020304" pitchFamily="18" charset="0"/>
                <a:cs typeface="Times New Roman" panose="02020603050405020304" pitchFamily="18" charset="0"/>
              </a:rPr>
              <a:t>A </a:t>
            </a:r>
            <a:r>
              <a:rPr lang="en-US" sz="2800" b="1" i="0" dirty="0">
                <a:effectLst/>
                <a:latin typeface="Times New Roman" panose="02020603050405020304" pitchFamily="18" charset="0"/>
                <a:cs typeface="Times New Roman" panose="02020603050405020304" pitchFamily="18" charset="0"/>
              </a:rPr>
              <a:t>vaginal fistula </a:t>
            </a:r>
            <a:r>
              <a:rPr lang="en-US" sz="2800" b="0" i="0" dirty="0">
                <a:effectLst/>
                <a:latin typeface="Times New Roman" panose="02020603050405020304" pitchFamily="18" charset="0"/>
                <a:cs typeface="Times New Roman" panose="02020603050405020304" pitchFamily="18" charset="0"/>
              </a:rPr>
              <a:t>is an open communication between the vagina and one of the adjacent pelvic organs.</a:t>
            </a:r>
          </a:p>
          <a:p>
            <a:pPr algn="just"/>
            <a:r>
              <a:rPr lang="en-US" sz="2800" b="0" i="0" dirty="0">
                <a:effectLst/>
                <a:latin typeface="Times New Roman" panose="02020603050405020304" pitchFamily="18" charset="0"/>
                <a:cs typeface="Times New Roman" panose="02020603050405020304" pitchFamily="18" charset="0"/>
              </a:rPr>
              <a:t>It typically occurs as a result of </a:t>
            </a:r>
            <a:r>
              <a:rPr lang="en-US" sz="2800" b="1" i="0" dirty="0">
                <a:effectLst/>
                <a:latin typeface="Times New Roman" panose="02020603050405020304" pitchFamily="18" charset="0"/>
                <a:cs typeface="Times New Roman" panose="02020603050405020304" pitchFamily="18" charset="0"/>
              </a:rPr>
              <a:t>prolonged </a:t>
            </a:r>
            <a:r>
              <a:rPr lang="en-US" sz="2800" b="1" i="0" dirty="0" err="1">
                <a:effectLst/>
                <a:latin typeface="Times New Roman" panose="02020603050405020304" pitchFamily="18" charset="0"/>
                <a:cs typeface="Times New Roman" panose="02020603050405020304" pitchFamily="18" charset="0"/>
              </a:rPr>
              <a:t>labour</a:t>
            </a:r>
            <a:r>
              <a:rPr lang="en-US" sz="2800" b="1" i="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(where a Caesarean section is not available). As the fetus slowly progresses down the vaginal wall, it exerts pressure – obstructing the blood supply and causing tissue necrosis.</a:t>
            </a:r>
          </a:p>
          <a:p>
            <a:pPr algn="just"/>
            <a:endParaRPr lang="en-US" sz="2800" b="0" i="0" dirty="0">
              <a:effectLst/>
              <a:latin typeface="Times New Roman" panose="02020603050405020304" pitchFamily="18" charset="0"/>
              <a:cs typeface="Times New Roman" panose="02020603050405020304" pitchFamily="18" charset="0"/>
            </a:endParaRPr>
          </a:p>
          <a:p>
            <a:pPr algn="just"/>
            <a:r>
              <a:rPr lang="en-US" sz="2800" b="0" i="0" dirty="0">
                <a:effectLst/>
                <a:latin typeface="Times New Roman" panose="02020603050405020304" pitchFamily="18" charset="0"/>
                <a:cs typeface="Times New Roman" panose="02020603050405020304" pitchFamily="18" charset="0"/>
              </a:rPr>
              <a:t>There are three main types of vaginal fistulae:</a:t>
            </a:r>
          </a:p>
          <a:p>
            <a:pPr algn="just">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Vesicovaginal </a:t>
            </a:r>
            <a:r>
              <a:rPr lang="en-US" sz="2800" b="0" i="0" dirty="0">
                <a:effectLst/>
                <a:latin typeface="Times New Roman" panose="02020603050405020304" pitchFamily="18" charset="0"/>
                <a:cs typeface="Times New Roman" panose="02020603050405020304" pitchFamily="18" charset="0"/>
              </a:rPr>
              <a:t>– abnormal communication with the bladder. Urine enters the vagina.</a:t>
            </a:r>
          </a:p>
          <a:p>
            <a:pPr algn="just">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Urethrovaginal </a:t>
            </a:r>
            <a:r>
              <a:rPr lang="en-US" sz="2800" b="0" i="0" dirty="0">
                <a:effectLst/>
                <a:latin typeface="Times New Roman" panose="02020603050405020304" pitchFamily="18" charset="0"/>
                <a:cs typeface="Times New Roman" panose="02020603050405020304" pitchFamily="18" charset="0"/>
              </a:rPr>
              <a:t>– abnormal communication with the urethra. Urine only enters the vagina during urination.</a:t>
            </a:r>
          </a:p>
          <a:p>
            <a:pPr algn="just">
              <a:buFont typeface="Arial" panose="020B0604020202020204" pitchFamily="34" charset="0"/>
              <a:buChar char="•"/>
            </a:pPr>
            <a:r>
              <a:rPr lang="en-US" sz="2800" b="1" i="0" dirty="0">
                <a:effectLst/>
                <a:latin typeface="Times New Roman" panose="02020603050405020304" pitchFamily="18" charset="0"/>
                <a:cs typeface="Times New Roman" panose="02020603050405020304" pitchFamily="18" charset="0"/>
              </a:rPr>
              <a:t>Rectovaginal</a:t>
            </a:r>
            <a:r>
              <a:rPr lang="en-US" sz="2800" b="0" i="0" dirty="0">
                <a:effectLst/>
                <a:latin typeface="Times New Roman" panose="02020603050405020304" pitchFamily="18" charset="0"/>
                <a:cs typeface="Times New Roman" panose="02020603050405020304" pitchFamily="18" charset="0"/>
              </a:rPr>
              <a:t> – abnormal communication with the rectum. </a:t>
            </a:r>
            <a:r>
              <a:rPr lang="en-US" sz="2800" b="0" i="0" dirty="0" err="1">
                <a:effectLst/>
                <a:latin typeface="Times New Roman" panose="02020603050405020304" pitchFamily="18" charset="0"/>
                <a:cs typeface="Times New Roman" panose="02020603050405020304" pitchFamily="18" charset="0"/>
              </a:rPr>
              <a:t>Faecal</a:t>
            </a:r>
            <a:r>
              <a:rPr lang="en-US" sz="2800" b="0" i="0" dirty="0">
                <a:effectLst/>
                <a:latin typeface="Times New Roman" panose="02020603050405020304" pitchFamily="18" charset="0"/>
                <a:cs typeface="Times New Roman" panose="02020603050405020304" pitchFamily="18" charset="0"/>
              </a:rPr>
              <a:t> matter can enter the vagina.</a:t>
            </a:r>
          </a:p>
        </p:txBody>
      </p:sp>
    </p:spTree>
    <p:extLst>
      <p:ext uri="{BB962C8B-B14F-4D97-AF65-F5344CB8AC3E}">
        <p14:creationId xmlns:p14="http://schemas.microsoft.com/office/powerpoint/2010/main" val="1722237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3CCE888-8B45-CFF3-EBA0-5F8EF5821B60}"/>
              </a:ext>
            </a:extLst>
          </p:cNvPr>
          <p:cNvSpPr txBox="1"/>
          <p:nvPr/>
        </p:nvSpPr>
        <p:spPr>
          <a:xfrm>
            <a:off x="0" y="319597"/>
            <a:ext cx="11967099" cy="6986528"/>
          </a:xfrm>
          <a:prstGeom prst="rect">
            <a:avLst/>
          </a:prstGeom>
          <a:noFill/>
        </p:spPr>
        <p:txBody>
          <a:bodyPr wrap="square">
            <a:spAutoFit/>
          </a:bodyPr>
          <a:lstStyle/>
          <a:p>
            <a:pPr marL="285750" indent="-285750" algn="l">
              <a:buFont typeface="Wingdings" panose="05000000000000000000" pitchFamily="2" charset="2"/>
              <a:buChar char="§"/>
            </a:pPr>
            <a:r>
              <a:rPr lang="en-US" sz="2800" b="0" i="0" dirty="0">
                <a:effectLst/>
                <a:latin typeface="Times New Roman" panose="02020603050405020304" pitchFamily="18" charset="0"/>
                <a:cs typeface="Times New Roman" panose="02020603050405020304" pitchFamily="18" charset="0"/>
              </a:rPr>
              <a:t>Common infections and diseases that can affect the vagina include </a:t>
            </a:r>
            <a:r>
              <a:rPr lang="en-US" sz="2800" b="0" i="0" dirty="0" err="1">
                <a:effectLst/>
                <a:latin typeface="Times New Roman" panose="02020603050405020304" pitchFamily="18" charset="0"/>
                <a:cs typeface="Times New Roman" panose="02020603050405020304" pitchFamily="18" charset="0"/>
              </a:rPr>
              <a:t>candidal</a:t>
            </a:r>
            <a:r>
              <a:rPr lang="en-US" sz="2800" b="0" i="0" dirty="0">
                <a:effectLst/>
                <a:latin typeface="Times New Roman" panose="02020603050405020304" pitchFamily="18" charset="0"/>
                <a:cs typeface="Times New Roman" panose="02020603050405020304" pitchFamily="18" charset="0"/>
              </a:rPr>
              <a:t> vulvovaginitis, vaginitis, vaginismus, sexually transmitted infections (STIs) or cancer.</a:t>
            </a:r>
          </a:p>
          <a:p>
            <a:pPr marL="285750" indent="-285750" algn="l">
              <a:buFont typeface="Wingdings" panose="05000000000000000000" pitchFamily="2" charset="2"/>
              <a:buChar char="§"/>
            </a:pPr>
            <a:endParaRPr lang="en-US" sz="2800" b="0" i="0" dirty="0">
              <a:effectLst/>
              <a:latin typeface="Times New Roman" panose="02020603050405020304" pitchFamily="18" charset="0"/>
              <a:cs typeface="Times New Roman" panose="02020603050405020304" pitchFamily="18" charset="0"/>
            </a:endParaRPr>
          </a:p>
          <a:p>
            <a:r>
              <a:rPr lang="en-US" sz="2800" b="1" dirty="0">
                <a:effectLst/>
                <a:latin typeface="Times New Roman" panose="02020603050405020304" pitchFamily="18" charset="0"/>
                <a:cs typeface="Times New Roman" panose="02020603050405020304" pitchFamily="18" charset="0"/>
              </a:rPr>
              <a:t>Vaginitis</a:t>
            </a:r>
          </a:p>
          <a:p>
            <a:r>
              <a:rPr lang="en-US" sz="2800" dirty="0">
                <a:effectLst/>
                <a:latin typeface="Times New Roman" panose="02020603050405020304" pitchFamily="18" charset="0"/>
                <a:cs typeface="Times New Roman" panose="02020603050405020304" pitchFamily="18" charset="0"/>
              </a:rPr>
              <a:t>Vaginitis is an </a:t>
            </a:r>
            <a:r>
              <a:rPr lang="en-US" sz="2800" b="0" dirty="0">
                <a:effectLst/>
                <a:latin typeface="Times New Roman" panose="02020603050405020304" pitchFamily="18" charset="0"/>
                <a:cs typeface="Times New Roman" panose="02020603050405020304" pitchFamily="18" charset="0"/>
              </a:rPr>
              <a:t>inflammation</a:t>
            </a:r>
            <a:r>
              <a:rPr lang="en-US" sz="2800" dirty="0">
                <a:effectLst/>
                <a:latin typeface="Times New Roman" panose="02020603050405020304" pitchFamily="18" charset="0"/>
                <a:cs typeface="Times New Roman" panose="02020603050405020304" pitchFamily="18" charset="0"/>
              </a:rPr>
              <a:t> of the vagina, and is attributed to several vaginal diseases.</a:t>
            </a:r>
          </a:p>
          <a:p>
            <a:r>
              <a:rPr lang="en-US" sz="2800" b="0" dirty="0">
                <a:effectLst/>
                <a:latin typeface="Times New Roman" panose="02020603050405020304" pitchFamily="18" charset="0"/>
                <a:cs typeface="Times New Roman" panose="02020603050405020304" pitchFamily="18" charset="0"/>
              </a:rPr>
              <a:t>Sexually transmitted infections</a:t>
            </a:r>
          </a:p>
          <a:p>
            <a:r>
              <a:rPr lang="en-US" sz="2800" dirty="0">
                <a:effectLst/>
                <a:latin typeface="Times New Roman" panose="02020603050405020304" pitchFamily="18" charset="0"/>
                <a:cs typeface="Times New Roman" panose="02020603050405020304" pitchFamily="18" charset="0"/>
              </a:rPr>
              <a:t>Sexually transmitted infections (STIs) or sexually transmitted diseases (STDs) are often caused by:</a:t>
            </a:r>
          </a:p>
          <a:p>
            <a:pPr marL="285750" indent="-285750">
              <a:buFont typeface="Wingdings" panose="05000000000000000000" pitchFamily="2" charset="2"/>
              <a:buChar char="§"/>
            </a:pPr>
            <a:r>
              <a:rPr lang="en-US" sz="2800" dirty="0">
                <a:effectLst/>
                <a:latin typeface="Times New Roman" panose="02020603050405020304" pitchFamily="18" charset="0"/>
                <a:cs typeface="Times New Roman" panose="02020603050405020304" pitchFamily="18" charset="0"/>
              </a:rPr>
              <a:t>HIV/AIDS</a:t>
            </a:r>
          </a:p>
          <a:p>
            <a:pPr marL="285750" indent="-285750">
              <a:buFont typeface="Wingdings" panose="05000000000000000000" pitchFamily="2" charset="2"/>
              <a:buChar char="§"/>
            </a:pPr>
            <a:r>
              <a:rPr lang="en-US" sz="2800" dirty="0">
                <a:effectLst/>
                <a:latin typeface="Times New Roman" panose="02020603050405020304" pitchFamily="18" charset="0"/>
                <a:cs typeface="Times New Roman" panose="02020603050405020304" pitchFamily="18" charset="0"/>
              </a:rPr>
              <a:t>human papillomavirus (HPV)</a:t>
            </a:r>
          </a:p>
          <a:p>
            <a:pPr marL="285750" indent="-285750">
              <a:buFont typeface="Wingdings" panose="05000000000000000000" pitchFamily="2" charset="2"/>
              <a:buChar char="§"/>
            </a:pPr>
            <a:r>
              <a:rPr lang="en-US" sz="2800" dirty="0">
                <a:effectLst/>
                <a:latin typeface="Times New Roman" panose="02020603050405020304" pitchFamily="18" charset="0"/>
                <a:cs typeface="Times New Roman" panose="02020603050405020304" pitchFamily="18" charset="0"/>
              </a:rPr>
              <a:t>genital herpes</a:t>
            </a:r>
          </a:p>
          <a:p>
            <a:pPr marL="285750" indent="-285750">
              <a:buFont typeface="Wingdings" panose="05000000000000000000" pitchFamily="2" charset="2"/>
              <a:buChar char="§"/>
            </a:pPr>
            <a:r>
              <a:rPr lang="en-US" sz="2800" dirty="0">
                <a:effectLst/>
                <a:latin typeface="Times New Roman" panose="02020603050405020304" pitchFamily="18" charset="0"/>
                <a:cs typeface="Times New Roman" panose="02020603050405020304" pitchFamily="18" charset="0"/>
              </a:rPr>
              <a:t>Trichomoniasis</a:t>
            </a:r>
          </a:p>
          <a:p>
            <a:pPr marL="285750" indent="-285750">
              <a:buFont typeface="Wingdings" panose="05000000000000000000" pitchFamily="2" charset="2"/>
              <a:buChar char="§"/>
            </a:pPr>
            <a:endParaRPr lang="en-US" sz="2800" dirty="0">
              <a:effectLst/>
              <a:latin typeface="Times New Roman" panose="02020603050405020304" pitchFamily="18" charset="0"/>
              <a:cs typeface="Times New Roman" panose="02020603050405020304" pitchFamily="18" charset="0"/>
            </a:endParaRPr>
          </a:p>
          <a:p>
            <a:r>
              <a:rPr lang="en-US" sz="2800" dirty="0" smtClean="0">
                <a:effectLst/>
                <a:latin typeface="Times New Roman" panose="02020603050405020304" pitchFamily="18" charset="0"/>
                <a:cs typeface="Times New Roman" panose="02020603050405020304" pitchFamily="18" charset="0"/>
              </a:rPr>
              <a:t>.</a:t>
            </a:r>
            <a:endParaRPr lang="en-US" sz="2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9836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978355" cy="6555641"/>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It is therefore recommended by health care providers to appreciate safe sex practices (male or female condoms), while engaging in sexual activity to prevent transmittance of these STIs and STDs.</a:t>
            </a:r>
          </a:p>
          <a:p>
            <a:endParaRPr lang="en-US" sz="2800" dirty="0">
              <a:latin typeface="Times New Roman" panose="02020603050405020304" pitchFamily="18" charset="0"/>
              <a:cs typeface="Times New Roman" panose="02020603050405020304" pitchFamily="18" charset="0"/>
            </a:endParaRPr>
          </a:p>
          <a:p>
            <a:r>
              <a:rPr lang="en-US" sz="2800" b="1" dirty="0" err="1">
                <a:latin typeface="Times New Roman" panose="02020603050405020304" pitchFamily="18" charset="0"/>
                <a:cs typeface="Times New Roman" panose="02020603050405020304" pitchFamily="18" charset="0"/>
              </a:rPr>
              <a:t>Cervicovaginal</a:t>
            </a:r>
            <a:r>
              <a:rPr lang="en-US" sz="2800" b="1" dirty="0">
                <a:latin typeface="Times New Roman" panose="02020603050405020304" pitchFamily="18" charset="0"/>
                <a:cs typeface="Times New Roman" panose="02020603050405020304" pitchFamily="18" charset="0"/>
              </a:rPr>
              <a:t> (PAP) smear</a:t>
            </a:r>
          </a:p>
          <a:p>
            <a:r>
              <a:rPr lang="en-US" sz="2800" dirty="0">
                <a:latin typeface="Times New Roman" panose="02020603050405020304" pitchFamily="18" charset="0"/>
                <a:cs typeface="Times New Roman" panose="02020603050405020304" pitchFamily="18" charset="0"/>
              </a:rPr>
              <a:t>For women of childbearing age, it is recommended to receive cervical screens (Pap smear tests and HPV vaccines). Cervical cancer can be prevented if caught early enough through cervical screening or prophylactically by HPV vaccines. </a:t>
            </a:r>
          </a:p>
          <a:p>
            <a:endParaRPr lang="en-US"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 is recommended for women to begin Pap smear tests starting around 21 years old until 65 years of age, with frequency varying from 3 to 5 years depending on age, genetics, or environmental factors. </a:t>
            </a:r>
          </a:p>
          <a:p>
            <a:pPr marL="285750" indent="-28575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Vaginal cancer is a very rare condition that is related more to old age, and its symptoms include abnormal vaginal bleeding or vaginal discharge</a:t>
            </a:r>
            <a:endParaRPr lang="en-US" sz="2800" dirty="0"/>
          </a:p>
        </p:txBody>
      </p:sp>
    </p:spTree>
    <p:extLst>
      <p:ext uri="{BB962C8B-B14F-4D97-AF65-F5344CB8AC3E}">
        <p14:creationId xmlns:p14="http://schemas.microsoft.com/office/powerpoint/2010/main" val="1035358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F2DEE6-7183-7438-3E59-491A7ADDF974}"/>
              </a:ext>
            </a:extLst>
          </p:cNvPr>
          <p:cNvSpPr>
            <a:spLocks noGrp="1"/>
          </p:cNvSpPr>
          <p:nvPr>
            <p:ph type="title"/>
          </p:nvPr>
        </p:nvSpPr>
        <p:spPr>
          <a:xfrm>
            <a:off x="1518082" y="-88777"/>
            <a:ext cx="5930283" cy="1100832"/>
          </a:xfrm>
        </p:spPr>
        <p:txBody>
          <a:bodyPr>
            <a:normAutofit fontScale="90000"/>
          </a:bodyPr>
          <a:lstStyle/>
          <a:p>
            <a:r>
              <a:rPr lang="en-US" b="1" dirty="0">
                <a:solidFill>
                  <a:srgbClr val="C00000"/>
                </a:solidFill>
                <a:latin typeface="Times New Roman" panose="02020603050405020304" pitchFamily="18" charset="0"/>
                <a:cs typeface="Times New Roman" panose="02020603050405020304" pitchFamily="18" charset="0"/>
              </a:rPr>
              <a:t>				SUMMARY</a:t>
            </a:r>
          </a:p>
        </p:txBody>
      </p:sp>
      <p:graphicFrame>
        <p:nvGraphicFramePr>
          <p:cNvPr id="3" name="Table 2">
            <a:extLst>
              <a:ext uri="{FF2B5EF4-FFF2-40B4-BE49-F238E27FC236}">
                <a16:creationId xmlns="" xmlns:a16="http://schemas.microsoft.com/office/drawing/2014/main" id="{F7BD9D0E-5EF3-EBA2-BB98-6AD44F5FE472}"/>
              </a:ext>
            </a:extLst>
          </p:cNvPr>
          <p:cNvGraphicFramePr>
            <a:graphicFrameLocks noGrp="1"/>
          </p:cNvGraphicFramePr>
          <p:nvPr>
            <p:extLst>
              <p:ext uri="{D42A27DB-BD31-4B8C-83A1-F6EECF244321}">
                <p14:modId xmlns:p14="http://schemas.microsoft.com/office/powerpoint/2010/main" val="552804579"/>
              </p:ext>
            </p:extLst>
          </p:nvPr>
        </p:nvGraphicFramePr>
        <p:xfrm>
          <a:off x="17755" y="941034"/>
          <a:ext cx="12174245" cy="6061666"/>
        </p:xfrm>
        <a:graphic>
          <a:graphicData uri="http://schemas.openxmlformats.org/drawingml/2006/table">
            <a:tbl>
              <a:tblPr/>
              <a:tblGrid>
                <a:gridCol w="3108398">
                  <a:extLst>
                    <a:ext uri="{9D8B030D-6E8A-4147-A177-3AD203B41FA5}">
                      <a16:colId xmlns="" xmlns:a16="http://schemas.microsoft.com/office/drawing/2014/main" val="1651894541"/>
                    </a:ext>
                  </a:extLst>
                </a:gridCol>
                <a:gridCol w="9065847">
                  <a:extLst>
                    <a:ext uri="{9D8B030D-6E8A-4147-A177-3AD203B41FA5}">
                      <a16:colId xmlns="" xmlns:a16="http://schemas.microsoft.com/office/drawing/2014/main" val="434422508"/>
                    </a:ext>
                  </a:extLst>
                </a:gridCol>
              </a:tblGrid>
              <a:tr h="248889">
                <a:tc gridSpan="2">
                  <a:txBody>
                    <a:bodyPr/>
                    <a:lstStyle/>
                    <a:p>
                      <a:endParaRPr lang="en-US" sz="1800" dirty="0">
                        <a:latin typeface="Times New Roman" panose="02020603050405020304" pitchFamily="18" charset="0"/>
                        <a:cs typeface="Times New Roman" panose="02020603050405020304" pitchFamily="18" charset="0"/>
                      </a:endParaRPr>
                    </a:p>
                  </a:txBody>
                  <a:tcPr marL="43805" marR="43805" marT="21903" marB="21903" anchor="ctr">
                    <a:solidFill>
                      <a:srgbClr val="F7F7F7"/>
                    </a:solidFill>
                  </a:tcPr>
                </a:tc>
                <a:tc hMerge="1">
                  <a:txBody>
                    <a:bodyPr/>
                    <a:lstStyle/>
                    <a:p>
                      <a:endParaRPr lang="en-US"/>
                    </a:p>
                  </a:txBody>
                  <a:tcPr/>
                </a:tc>
                <a:extLst>
                  <a:ext uri="{0D108BD9-81ED-4DB2-BD59-A6C34878D82A}">
                    <a16:rowId xmlns="" xmlns:a16="http://schemas.microsoft.com/office/drawing/2014/main" val="564013989"/>
                  </a:ext>
                </a:extLst>
              </a:tr>
              <a:tr h="461893">
                <a:tc>
                  <a:txBody>
                    <a:bodyPr/>
                    <a:lstStyle/>
                    <a:p>
                      <a:pPr fontAlgn="t"/>
                      <a:r>
                        <a:rPr lang="en-US" sz="1800" b="0" dirty="0">
                          <a:solidFill>
                            <a:srgbClr val="495354"/>
                          </a:solidFill>
                          <a:effectLst/>
                          <a:latin typeface="Times New Roman" panose="02020603050405020304" pitchFamily="18" charset="0"/>
                          <a:cs typeface="Times New Roman" panose="02020603050405020304" pitchFamily="18" charset="0"/>
                        </a:rPr>
                        <a:t>Definition</a:t>
                      </a:r>
                    </a:p>
                  </a:txBody>
                  <a:tcPr marL="54757" marR="54757" marT="36505" marB="36505">
                    <a:lnL>
                      <a:noFill/>
                    </a:lnL>
                    <a:lnR w="7620" cap="flat" cmpd="sng" algn="ctr">
                      <a:solidFill>
                        <a:srgbClr val="D8D8D8"/>
                      </a:solidFill>
                      <a:prstDash val="solid"/>
                      <a:round/>
                      <a:headEnd type="none" w="med" len="med"/>
                      <a:tailEnd type="none" w="med" len="med"/>
                    </a:lnR>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1800" dirty="0">
                          <a:solidFill>
                            <a:srgbClr val="495354"/>
                          </a:solidFill>
                          <a:effectLst/>
                          <a:latin typeface="Times New Roman" panose="02020603050405020304" pitchFamily="18" charset="0"/>
                          <a:cs typeface="Times New Roman" panose="02020603050405020304" pitchFamily="18" charset="0"/>
                        </a:rPr>
                        <a:t>A copulatory organ of the female reproductive system</a:t>
                      </a:r>
                    </a:p>
                  </a:txBody>
                  <a:tcPr marL="54757" marR="54757" marT="36505" marB="365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extLst>
                  <a:ext uri="{0D108BD9-81ED-4DB2-BD59-A6C34878D82A}">
                    <a16:rowId xmlns="" xmlns:a16="http://schemas.microsoft.com/office/drawing/2014/main" val="2837910180"/>
                  </a:ext>
                </a:extLst>
              </a:tr>
              <a:tr h="1184856">
                <a:tc>
                  <a:txBody>
                    <a:bodyPr/>
                    <a:lstStyle/>
                    <a:p>
                      <a:pPr fontAlgn="t"/>
                      <a:r>
                        <a:rPr lang="en-US" sz="1800" b="0" dirty="0">
                          <a:solidFill>
                            <a:srgbClr val="495354"/>
                          </a:solidFill>
                          <a:effectLst/>
                          <a:latin typeface="Times New Roman" panose="02020603050405020304" pitchFamily="18" charset="0"/>
                          <a:cs typeface="Times New Roman" panose="02020603050405020304" pitchFamily="18" charset="0"/>
                        </a:rPr>
                        <a:t>Parts</a:t>
                      </a:r>
                    </a:p>
                  </a:txBody>
                  <a:tcPr marL="54757" marR="54757" marT="36505" marB="365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1800" dirty="0">
                          <a:solidFill>
                            <a:srgbClr val="495354"/>
                          </a:solidFill>
                          <a:effectLst/>
                          <a:latin typeface="Times New Roman" panose="02020603050405020304" pitchFamily="18" charset="0"/>
                          <a:cs typeface="Times New Roman" panose="02020603050405020304" pitchFamily="18" charset="0"/>
                        </a:rPr>
                        <a:t>Vaginal fornix (anterior/posterior/lateral parts), anterior and posterior walls of vagina, hymen, vaginal wall layers (mucosa [vaginal rugae → vaginal columns], lamina propria, muscular layer, adventitial layer)</a:t>
                      </a:r>
                    </a:p>
                  </a:txBody>
                  <a:tcPr marL="54757" marR="54757" marT="36505" marB="365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extLst>
                  <a:ext uri="{0D108BD9-81ED-4DB2-BD59-A6C34878D82A}">
                    <a16:rowId xmlns="" xmlns:a16="http://schemas.microsoft.com/office/drawing/2014/main" val="2835218995"/>
                  </a:ext>
                </a:extLst>
              </a:tr>
              <a:tr h="461893">
                <a:tc>
                  <a:txBody>
                    <a:bodyPr/>
                    <a:lstStyle/>
                    <a:p>
                      <a:pPr fontAlgn="t"/>
                      <a:r>
                        <a:rPr lang="en-US" sz="1800" b="0">
                          <a:solidFill>
                            <a:srgbClr val="495354"/>
                          </a:solidFill>
                          <a:effectLst/>
                          <a:latin typeface="Times New Roman" panose="02020603050405020304" pitchFamily="18" charset="0"/>
                          <a:cs typeface="Times New Roman" panose="02020603050405020304" pitchFamily="18" charset="0"/>
                        </a:rPr>
                        <a:t>Blood supply</a:t>
                      </a:r>
                    </a:p>
                  </a:txBody>
                  <a:tcPr marL="54757" marR="54757" marT="36505" marB="365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1800" dirty="0">
                          <a:solidFill>
                            <a:srgbClr val="495354"/>
                          </a:solidFill>
                          <a:effectLst/>
                          <a:latin typeface="Times New Roman" panose="02020603050405020304" pitchFamily="18" charset="0"/>
                          <a:cs typeface="Times New Roman" panose="02020603050405020304" pitchFamily="18" charset="0"/>
                        </a:rPr>
                        <a:t>Vaginal and uterine arteries (branches of internal iliac artery)</a:t>
                      </a:r>
                    </a:p>
                  </a:txBody>
                  <a:tcPr marL="54757" marR="54757" marT="36505" marB="365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extLst>
                  <a:ext uri="{0D108BD9-81ED-4DB2-BD59-A6C34878D82A}">
                    <a16:rowId xmlns="" xmlns:a16="http://schemas.microsoft.com/office/drawing/2014/main" val="870783367"/>
                  </a:ext>
                </a:extLst>
              </a:tr>
              <a:tr h="2992264">
                <a:tc>
                  <a:txBody>
                    <a:bodyPr/>
                    <a:lstStyle/>
                    <a:p>
                      <a:pPr fontAlgn="t"/>
                      <a:r>
                        <a:rPr lang="en-US" sz="1800" b="0" dirty="0">
                          <a:solidFill>
                            <a:srgbClr val="495354"/>
                          </a:solidFill>
                          <a:effectLst/>
                          <a:latin typeface="Times New Roman" panose="02020603050405020304" pitchFamily="18" charset="0"/>
                          <a:cs typeface="Times New Roman" panose="02020603050405020304" pitchFamily="18" charset="0"/>
                        </a:rPr>
                        <a:t>Innervation</a:t>
                      </a:r>
                    </a:p>
                  </a:txBody>
                  <a:tcPr marL="54757" marR="54757" marT="36505" marB="365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tc>
                  <a:txBody>
                    <a:bodyPr/>
                    <a:lstStyle/>
                    <a:p>
                      <a:pPr fontAlgn="t"/>
                      <a:r>
                        <a:rPr lang="en-US" sz="1800" b="0" dirty="0">
                          <a:solidFill>
                            <a:srgbClr val="495354"/>
                          </a:solidFill>
                          <a:effectLst/>
                          <a:latin typeface="Times New Roman" panose="02020603050405020304" pitchFamily="18" charset="0"/>
                          <a:cs typeface="Times New Roman" panose="02020603050405020304" pitchFamily="18" charset="0"/>
                        </a:rPr>
                        <a:t>Upper two thirds of vagina</a:t>
                      </a:r>
                      <a:r>
                        <a:rPr lang="en-US" sz="1800" dirty="0">
                          <a:solidFill>
                            <a:srgbClr val="495354"/>
                          </a:solidFill>
                          <a:effectLst/>
                          <a:latin typeface="Times New Roman" panose="02020603050405020304" pitchFamily="18" charset="0"/>
                          <a:cs typeface="Times New Roman" panose="02020603050405020304" pitchFamily="18" charset="0"/>
                        </a:rPr>
                        <a:t>:</a:t>
                      </a:r>
                      <a:br>
                        <a:rPr lang="en-US" sz="1800" dirty="0">
                          <a:solidFill>
                            <a:srgbClr val="495354"/>
                          </a:solidFill>
                          <a:effectLst/>
                          <a:latin typeface="Times New Roman" panose="02020603050405020304" pitchFamily="18" charset="0"/>
                          <a:cs typeface="Times New Roman" panose="02020603050405020304" pitchFamily="18" charset="0"/>
                        </a:rPr>
                      </a:br>
                      <a:r>
                        <a:rPr lang="en-US" sz="1800" dirty="0">
                          <a:solidFill>
                            <a:srgbClr val="495354"/>
                          </a:solidFill>
                          <a:effectLst/>
                          <a:latin typeface="Times New Roman" panose="02020603050405020304" pitchFamily="18" charset="0"/>
                          <a:cs typeface="Times New Roman" panose="02020603050405020304" pitchFamily="18" charset="0"/>
                        </a:rPr>
                        <a:t>- Sympathetic efferent fibers from lumbar splanchnic nerves via uterovaginal plexus</a:t>
                      </a:r>
                      <a:br>
                        <a:rPr lang="en-US" sz="1800" dirty="0">
                          <a:solidFill>
                            <a:srgbClr val="495354"/>
                          </a:solidFill>
                          <a:effectLst/>
                          <a:latin typeface="Times New Roman" panose="02020603050405020304" pitchFamily="18" charset="0"/>
                          <a:cs typeface="Times New Roman" panose="02020603050405020304" pitchFamily="18" charset="0"/>
                        </a:rPr>
                      </a:br>
                      <a:r>
                        <a:rPr lang="en-US" sz="1800" dirty="0">
                          <a:solidFill>
                            <a:srgbClr val="495354"/>
                          </a:solidFill>
                          <a:effectLst/>
                          <a:latin typeface="Times New Roman" panose="02020603050405020304" pitchFamily="18" charset="0"/>
                          <a:cs typeface="Times New Roman" panose="02020603050405020304" pitchFamily="18" charset="0"/>
                        </a:rPr>
                        <a:t>- Parasympathetic efferent fibers from pelvic splanchnic nerves via uterovaginal plexus</a:t>
                      </a:r>
                      <a:br>
                        <a:rPr lang="en-US" sz="1800" dirty="0">
                          <a:solidFill>
                            <a:srgbClr val="495354"/>
                          </a:solidFill>
                          <a:effectLst/>
                          <a:latin typeface="Times New Roman" panose="02020603050405020304" pitchFamily="18" charset="0"/>
                          <a:cs typeface="Times New Roman" panose="02020603050405020304" pitchFamily="18" charset="0"/>
                        </a:rPr>
                      </a:br>
                      <a:r>
                        <a:rPr lang="en-US" sz="1800" dirty="0">
                          <a:solidFill>
                            <a:srgbClr val="495354"/>
                          </a:solidFill>
                          <a:effectLst/>
                          <a:latin typeface="Times New Roman" panose="02020603050405020304" pitchFamily="18" charset="0"/>
                          <a:cs typeface="Times New Roman" panose="02020603050405020304" pitchFamily="18" charset="0"/>
                        </a:rPr>
                        <a:t>- General visceral afferent (GVA) fibers carried via pelvic splanchnic nerves (S2-S4)</a:t>
                      </a:r>
                      <a:br>
                        <a:rPr lang="en-US" sz="1800" dirty="0">
                          <a:solidFill>
                            <a:srgbClr val="495354"/>
                          </a:solidFill>
                          <a:effectLst/>
                          <a:latin typeface="Times New Roman" panose="02020603050405020304" pitchFamily="18" charset="0"/>
                          <a:cs typeface="Times New Roman" panose="02020603050405020304" pitchFamily="18" charset="0"/>
                        </a:rPr>
                      </a:br>
                      <a:r>
                        <a:rPr lang="en-US" sz="1800" b="0" dirty="0">
                          <a:solidFill>
                            <a:srgbClr val="495354"/>
                          </a:solidFill>
                          <a:effectLst/>
                          <a:latin typeface="Times New Roman" panose="02020603050405020304" pitchFamily="18" charset="0"/>
                          <a:cs typeface="Times New Roman" panose="02020603050405020304" pitchFamily="18" charset="0"/>
                        </a:rPr>
                        <a:t/>
                      </a:r>
                      <a:br>
                        <a:rPr lang="en-US" sz="1800" b="0" dirty="0">
                          <a:solidFill>
                            <a:srgbClr val="495354"/>
                          </a:solidFill>
                          <a:effectLst/>
                          <a:latin typeface="Times New Roman" panose="02020603050405020304" pitchFamily="18" charset="0"/>
                          <a:cs typeface="Times New Roman" panose="02020603050405020304" pitchFamily="18" charset="0"/>
                        </a:rPr>
                      </a:br>
                      <a:r>
                        <a:rPr lang="en-US" sz="1800" b="0" dirty="0">
                          <a:solidFill>
                            <a:srgbClr val="495354"/>
                          </a:solidFill>
                          <a:effectLst/>
                          <a:latin typeface="Times New Roman" panose="02020603050405020304" pitchFamily="18" charset="0"/>
                          <a:cs typeface="Times New Roman" panose="02020603050405020304" pitchFamily="18" charset="0"/>
                        </a:rPr>
                        <a:t>Lower third of vagina</a:t>
                      </a:r>
                      <a:r>
                        <a:rPr lang="en-US" sz="1800" dirty="0">
                          <a:solidFill>
                            <a:srgbClr val="495354"/>
                          </a:solidFill>
                          <a:effectLst/>
                          <a:latin typeface="Times New Roman" panose="02020603050405020304" pitchFamily="18" charset="0"/>
                          <a:cs typeface="Times New Roman" panose="02020603050405020304" pitchFamily="18" charset="0"/>
                        </a:rPr>
                        <a:t>:</a:t>
                      </a:r>
                      <a:br>
                        <a:rPr lang="en-US" sz="1800" dirty="0">
                          <a:solidFill>
                            <a:srgbClr val="495354"/>
                          </a:solidFill>
                          <a:effectLst/>
                          <a:latin typeface="Times New Roman" panose="02020603050405020304" pitchFamily="18" charset="0"/>
                          <a:cs typeface="Times New Roman" panose="02020603050405020304" pitchFamily="18" charset="0"/>
                        </a:rPr>
                      </a:br>
                      <a:r>
                        <a:rPr lang="en-US" sz="1800" dirty="0">
                          <a:solidFill>
                            <a:srgbClr val="495354"/>
                          </a:solidFill>
                          <a:effectLst/>
                          <a:latin typeface="Times New Roman" panose="02020603050405020304" pitchFamily="18" charset="0"/>
                          <a:cs typeface="Times New Roman" panose="02020603050405020304" pitchFamily="18" charset="0"/>
                        </a:rPr>
                        <a:t>- Parasympathetic efferent fibers from pelvic splanchnic nerves (S2-S4)</a:t>
                      </a:r>
                      <a:br>
                        <a:rPr lang="en-US" sz="1800" dirty="0">
                          <a:solidFill>
                            <a:srgbClr val="495354"/>
                          </a:solidFill>
                          <a:effectLst/>
                          <a:latin typeface="Times New Roman" panose="02020603050405020304" pitchFamily="18" charset="0"/>
                          <a:cs typeface="Times New Roman" panose="02020603050405020304" pitchFamily="18" charset="0"/>
                        </a:rPr>
                      </a:br>
                      <a:r>
                        <a:rPr lang="en-US" sz="1800" dirty="0">
                          <a:solidFill>
                            <a:srgbClr val="495354"/>
                          </a:solidFill>
                          <a:effectLst/>
                          <a:latin typeface="Times New Roman" panose="02020603050405020304" pitchFamily="18" charset="0"/>
                          <a:cs typeface="Times New Roman" panose="02020603050405020304" pitchFamily="18" charset="0"/>
                        </a:rPr>
                        <a:t>- General somatic afferent (GSA) fibers carried via pudendal nerve (S2-S4)</a:t>
                      </a:r>
                    </a:p>
                  </a:txBody>
                  <a:tcPr marL="54757" marR="54757" marT="36505" marB="365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w="7620" cap="flat" cmpd="sng" algn="ctr">
                      <a:solidFill>
                        <a:srgbClr val="D8D8D8"/>
                      </a:solidFill>
                      <a:prstDash val="solid"/>
                      <a:round/>
                      <a:headEnd type="none" w="med" len="med"/>
                      <a:tailEnd type="none" w="med" len="med"/>
                    </a:lnB>
                    <a:solidFill>
                      <a:srgbClr val="F7F7F7"/>
                    </a:solidFill>
                  </a:tcPr>
                </a:tc>
                <a:extLst>
                  <a:ext uri="{0D108BD9-81ED-4DB2-BD59-A6C34878D82A}">
                    <a16:rowId xmlns="" xmlns:a16="http://schemas.microsoft.com/office/drawing/2014/main" val="1362066050"/>
                  </a:ext>
                </a:extLst>
              </a:tr>
              <a:tr h="642634">
                <a:tc>
                  <a:txBody>
                    <a:bodyPr/>
                    <a:lstStyle/>
                    <a:p>
                      <a:pPr fontAlgn="t"/>
                      <a:r>
                        <a:rPr lang="en-US" sz="1800" b="0" dirty="0">
                          <a:solidFill>
                            <a:srgbClr val="495354"/>
                          </a:solidFill>
                          <a:effectLst/>
                          <a:latin typeface="Times New Roman" panose="02020603050405020304" pitchFamily="18" charset="0"/>
                          <a:cs typeface="Times New Roman" panose="02020603050405020304" pitchFamily="18" charset="0"/>
                        </a:rPr>
                        <a:t>Function</a:t>
                      </a:r>
                    </a:p>
                  </a:txBody>
                  <a:tcPr marL="54757" marR="54757" marT="36505" marB="36505">
                    <a:lnL>
                      <a:noFill/>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a:noFill/>
                    </a:lnB>
                    <a:solidFill>
                      <a:srgbClr val="F7F7F7"/>
                    </a:solidFill>
                  </a:tcPr>
                </a:tc>
                <a:tc>
                  <a:txBody>
                    <a:bodyPr/>
                    <a:lstStyle/>
                    <a:p>
                      <a:pPr fontAlgn="t"/>
                      <a:r>
                        <a:rPr lang="en-US" sz="1800" dirty="0">
                          <a:solidFill>
                            <a:srgbClr val="495354"/>
                          </a:solidFill>
                          <a:effectLst/>
                          <a:latin typeface="Times New Roman" panose="02020603050405020304" pitchFamily="18" charset="0"/>
                          <a:cs typeface="Times New Roman" panose="02020603050405020304" pitchFamily="18" charset="0"/>
                        </a:rPr>
                        <a:t>Acts as a birth canal, the outlet for the menstrual blood flow and a cavity for sexual intercourse.</a:t>
                      </a:r>
                    </a:p>
                  </a:txBody>
                  <a:tcPr marL="54757" marR="54757" marT="36505" marB="36505">
                    <a:lnL w="7620" cap="flat" cmpd="sng" algn="ctr">
                      <a:solidFill>
                        <a:srgbClr val="D8D8D8"/>
                      </a:solidFill>
                      <a:prstDash val="solid"/>
                      <a:round/>
                      <a:headEnd type="none" w="med" len="med"/>
                      <a:tailEnd type="none" w="med" len="med"/>
                    </a:lnL>
                    <a:lnR w="7620" cap="flat" cmpd="sng" algn="ctr">
                      <a:solidFill>
                        <a:srgbClr val="D8D8D8"/>
                      </a:solidFill>
                      <a:prstDash val="solid"/>
                      <a:round/>
                      <a:headEnd type="none" w="med" len="med"/>
                      <a:tailEnd type="none" w="med" len="med"/>
                    </a:lnR>
                    <a:lnT w="7620" cap="flat" cmpd="sng" algn="ctr">
                      <a:solidFill>
                        <a:srgbClr val="D8D8D8"/>
                      </a:solidFill>
                      <a:prstDash val="solid"/>
                      <a:round/>
                      <a:headEnd type="none" w="med" len="med"/>
                      <a:tailEnd type="none" w="med" len="med"/>
                    </a:lnT>
                    <a:lnB>
                      <a:noFill/>
                    </a:lnB>
                    <a:solidFill>
                      <a:srgbClr val="F7F7F7"/>
                    </a:solidFill>
                  </a:tcPr>
                </a:tc>
                <a:extLst>
                  <a:ext uri="{0D108BD9-81ED-4DB2-BD59-A6C34878D82A}">
                    <a16:rowId xmlns="" xmlns:a16="http://schemas.microsoft.com/office/drawing/2014/main" val="1016822602"/>
                  </a:ext>
                </a:extLst>
              </a:tr>
            </a:tbl>
          </a:graphicData>
        </a:graphic>
      </p:graphicFrame>
    </p:spTree>
    <p:extLst>
      <p:ext uri="{BB962C8B-B14F-4D97-AF65-F5344CB8AC3E}">
        <p14:creationId xmlns:p14="http://schemas.microsoft.com/office/powerpoint/2010/main" val="4020375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2701</TotalTime>
  <Words>476</Words>
  <Application>Microsoft Office PowerPoint</Application>
  <PresentationFormat>Widescreen</PresentationFormat>
  <Paragraphs>146</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acumin-pro</vt:lpstr>
      <vt:lpstr>Arial</vt:lpstr>
      <vt:lpstr>Calibri</vt:lpstr>
      <vt:lpstr>Calibri Light</vt:lpstr>
      <vt:lpstr>PlutoSansLight</vt:lpstr>
      <vt:lpstr>Times New Roman</vt:lpstr>
      <vt:lpstr>Wingdings</vt:lpstr>
      <vt:lpstr>Office Theme</vt:lpstr>
      <vt:lpstr>VAGINA</vt:lpstr>
      <vt:lpstr>  INTRODUCTION</vt:lpstr>
      <vt:lpstr>  INTRODUCTION</vt:lpstr>
      <vt:lpstr>   INTRO.. CONT’D</vt:lpstr>
      <vt:lpstr>  FUNCTION</vt:lpstr>
      <vt:lpstr>ANATOMICAL STRUCTURE</vt:lpstr>
      <vt:lpstr>ANATOMICAL STRUCTURE</vt:lpstr>
      <vt:lpstr>ANATOMICAL STRUCTURE</vt:lpstr>
      <vt:lpstr>PowerPoint Presentation</vt:lpstr>
      <vt:lpstr>  ANATOMICAL STRUCTURE</vt:lpstr>
      <vt:lpstr>  BOUNDARIES</vt:lpstr>
      <vt:lpstr>ANATOMICAL STRUCTURE</vt:lpstr>
      <vt:lpstr>PowerPoint Presentation</vt:lpstr>
      <vt:lpstr>PowerPoint Presentation</vt:lpstr>
      <vt:lpstr>PowerPoint Presentation</vt:lpstr>
      <vt:lpstr>PowerPoint Presentation</vt:lpstr>
      <vt:lpstr>PowerPoint Presentation</vt:lpstr>
      <vt:lpstr>PowerPoint Presentation</vt:lpstr>
      <vt:lpstr>  Clinical Anatomy</vt:lpstr>
      <vt:lpstr>PowerPoint Presentation</vt:lpstr>
      <vt:lpstr>PowerPoint Presentation</vt:lpstr>
      <vt:lpstr>    SUMMARY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VAGINA</dc:title>
  <dc:creator>Florence Igelige</dc:creator>
  <cp:lastModifiedBy>HP</cp:lastModifiedBy>
  <cp:revision>121</cp:revision>
  <dcterms:created xsi:type="dcterms:W3CDTF">2023-09-06T13:48:09Z</dcterms:created>
  <dcterms:modified xsi:type="dcterms:W3CDTF">2024-04-22T09:30:40Z</dcterms:modified>
</cp:coreProperties>
</file>