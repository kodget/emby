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9144000"/>
  <p:notesSz cx="6858000" cy="9144000"/>
  <p:embeddedFontLst>
    <p:embeddedFont>
      <p:font typeface="Arial Black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imqsvEyYaLUzZU4Drop1x2NE7B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ArialBlack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A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357158" y="642919"/>
            <a:ext cx="8501122" cy="1500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lang="en-AU">
                <a:latin typeface="Arial Black"/>
                <a:ea typeface="Arial Black"/>
                <a:cs typeface="Arial Black"/>
                <a:sym typeface="Arial Black"/>
              </a:rPr>
              <a:t>ANATOMY OF THE PROSTATE</a:t>
            </a:r>
            <a:endParaRPr b="1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4214818"/>
            <a:ext cx="6400800" cy="2000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BY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DR. OJEWALE A.O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AU"/>
              <a:t>OUTLINE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857232"/>
            <a:ext cx="8229600" cy="6000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Intro’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Location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Shape &amp; size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External features &amp; lobes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Structures within &amp; capsules of the prostate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Supports of the prostate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Structure &amp; structural zones of the prostate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Blood supply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Applied anatomy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011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Intro’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285860"/>
            <a:ext cx="8229600" cy="5572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pyramidal-shaped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fibromuscular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glandular organ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surrounds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urethra.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The prostate gland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secretes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acid phosphatase, fibrinolysin, citric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acid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, amylase, prostate-specific antigen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(PSA), and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prostaglandins.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secretions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form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bulk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seminal fluid.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female homologue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paraurethral glands (of Skene)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457200" y="0"/>
            <a:ext cx="8229600" cy="785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Location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214282" y="571480"/>
            <a:ext cx="8715436" cy="6072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located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lesser pelvis below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neck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urinary bladder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urogenital diaphragm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lies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behind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lower part of the pubic symphysis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 front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rectal ampulla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embraced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each side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levator ani muscle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4414" y="4071942"/>
            <a:ext cx="69342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1714480" y="6488668"/>
            <a:ext cx="65008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 of the prostate gland: as seen in the sagittal section.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0" y="0"/>
            <a:ext cx="8858280" cy="1142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Shape &amp; Size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457200" y="1071546"/>
            <a:ext cx="8472518" cy="5500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like an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inverted cone in shape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resembles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chestnut in appearance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presents the following measurements: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Weight: 3 g.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Length: 3 cm.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9952" y="2714620"/>
            <a:ext cx="4727814" cy="358616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4427984" y="6286520"/>
            <a:ext cx="43748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seen in the coronal section</a:t>
            </a:r>
            <a:r>
              <a:rPr b="0" i="0" lang="en-A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457200" y="0"/>
            <a:ext cx="8229600" cy="141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 sz="4900">
                <a:latin typeface="Arial Black"/>
                <a:ea typeface="Arial Black"/>
                <a:cs typeface="Arial Black"/>
                <a:sym typeface="Arial Black"/>
              </a:rPr>
              <a:t>External Features </a:t>
            </a: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and Relations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251520" y="1285860"/>
            <a:ext cx="8640960" cy="5572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presents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following external features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Apex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Four surfaces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(anterior, posterior and two inferolateral).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Apex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directed downward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rests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urogenital diaphragm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457200" y="-214338"/>
            <a:ext cx="8229600" cy="107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0" y="571480"/>
            <a:ext cx="8929718" cy="62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Base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directed upward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surrounds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neck of the urinary bladder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with which it is continuous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structurally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junction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marked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circular groove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pierced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urethra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plane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junction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one-third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two-third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Surfaces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surface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narrow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convex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side to side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situated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2 cm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behind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pubis symphysis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457200" y="0"/>
            <a:ext cx="8229600" cy="1071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214282" y="785794"/>
            <a:ext cx="8715436" cy="6072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separated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symphysis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retropubic space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Retzius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filled with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extraperitoneal fat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A little above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apex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surface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pierced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urethra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surface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broad and flat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ampulla of the rectum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which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separated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fascia of Denonvilliers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divided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upper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lower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sulcus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is pierced on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each side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plane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ejaculatory duct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457200" y="0"/>
            <a:ext cx="8229600" cy="1071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179512" y="785794"/>
            <a:ext cx="8507288" cy="5340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areas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represent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lobe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lower area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divided 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sulcus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two lateral lobes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Inferolateral surfaces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These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related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fibres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levator ani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levator prostate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713" y="3748348"/>
            <a:ext cx="5515546" cy="237783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/>
        </p:nvSpPr>
        <p:spPr>
          <a:xfrm>
            <a:off x="3095836" y="6209614"/>
            <a:ext cx="51195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 of the posterior surface of the prostate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457200" y="-214338"/>
            <a:ext cx="8229600" cy="1214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Lobes of the Prostate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8" name="Google Shape;158;p10"/>
          <p:cNvSpPr txBox="1"/>
          <p:nvPr>
            <p:ph idx="1" type="body"/>
          </p:nvPr>
        </p:nvSpPr>
        <p:spPr>
          <a:xfrm>
            <a:off x="457200" y="785794"/>
            <a:ext cx="8401080" cy="6072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prostate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divided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five lobes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Anterior lobe (isthmus).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Posterior lobe.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Median lobe.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Two lateral lobes.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Lobe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lobe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lies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urethra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connects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two lateral lobes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devoid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glandular tissue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often called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isthmus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457200" y="0"/>
            <a:ext cx="8229600" cy="785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b="1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5" name="Google Shape;165;p11"/>
          <p:cNvSpPr txBox="1"/>
          <p:nvPr>
            <p:ph idx="1" type="body"/>
          </p:nvPr>
        </p:nvSpPr>
        <p:spPr>
          <a:xfrm>
            <a:off x="214282" y="785794"/>
            <a:ext cx="8786874" cy="6072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Lobe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It lies behind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ejaculatory ducts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lobe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connects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two lateral lobes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primary carcinoma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prostate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begins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lobe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Median Lobe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(Middle Lobe)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wedge-shaped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lies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behind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part of the urethra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ejaculatory ducts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produces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 elevation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apex of trigonum vesicae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called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uvula vesicae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457200" y="0"/>
            <a:ext cx="8229600" cy="857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2" name="Google Shape;172;p12"/>
          <p:cNvSpPr txBox="1"/>
          <p:nvPr>
            <p:ph idx="1" type="body"/>
          </p:nvPr>
        </p:nvSpPr>
        <p:spPr>
          <a:xfrm>
            <a:off x="214282" y="642918"/>
            <a:ext cx="8715436" cy="6215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31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median lobe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normally projects into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prostatic urethra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raising a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 ridge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called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urethral crest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 It contains much of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glandular tissue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and is a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common site of adenoma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31" lvl="0" marL="342900" rtl="0" algn="just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Lateral lobes</a:t>
            </a:r>
            <a:endParaRPr/>
          </a:p>
          <a:p>
            <a:pPr indent="-342931" lvl="0" marL="342900" rtl="0" algn="just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It lie one on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each side of the urethra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 On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posterior surface of the prostate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two lateral lobes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separated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each other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by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posterior median sulcus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lateral lobes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contain some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glandular tissue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and therefore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adenoma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may arise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here in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old age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73" name="Google Shape;1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214290"/>
            <a:ext cx="4286280" cy="35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3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596" y="285728"/>
            <a:ext cx="4071966" cy="342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0166" y="3643314"/>
            <a:ext cx="5857875" cy="264320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3"/>
          <p:cNvSpPr txBox="1"/>
          <p:nvPr/>
        </p:nvSpPr>
        <p:spPr>
          <a:xfrm>
            <a:off x="785786" y="6215082"/>
            <a:ext cx="75009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Lobes of the prostate gland as seen in sections through different planes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Structures within the Prostate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8" name="Google Shape;188;p14"/>
          <p:cNvSpPr txBox="1"/>
          <p:nvPr>
            <p:ph idx="1" type="body"/>
          </p:nvPr>
        </p:nvSpPr>
        <p:spPr>
          <a:xfrm>
            <a:off x="0" y="785794"/>
            <a:ext cx="8929718" cy="62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urethra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traverses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vertically downward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through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at the junction of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one-third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two-third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opens 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just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apex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Ejaculatory ducts traverse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posterolateral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lobe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open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urethra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utricle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mucous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cul-de-sac about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6 mm long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extends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upward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backward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urethra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behind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lobe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214282" y="-387424"/>
            <a:ext cx="8786874" cy="1601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Capsules of the Prostate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214282" y="620688"/>
            <a:ext cx="8929718" cy="6237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capsules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two in number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normal gland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three in number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if gland is affected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benign hypertrophy of the prostate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True capsule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formed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condensation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peripheral fibrous stroma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False capsule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sheath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):It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derived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pelvic fascia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outside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true capsule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envelops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 gland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urinary bladder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s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ame compartment.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2" name="Google Shape;202;p16"/>
          <p:cNvSpPr txBox="1"/>
          <p:nvPr>
            <p:ph idx="1" type="body"/>
          </p:nvPr>
        </p:nvSpPr>
        <p:spPr>
          <a:xfrm>
            <a:off x="457200" y="1142984"/>
            <a:ext cx="8229600" cy="535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Surgical/pathological capsule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When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adenoma of the gland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enlarges,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peripheral part of the organ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becomes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compressed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compressed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gland is called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surgical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pathological capsule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venous plexus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lies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false capsules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except 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surface of the 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03" name="Google Shape;20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52" y="1500174"/>
            <a:ext cx="6877050" cy="392909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1357290" y="5715016"/>
            <a:ext cx="70472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Capsules of the prostate gland as seen in the sagittal section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>
            <a:off x="214282" y="0"/>
            <a:ext cx="8715436" cy="92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Supports of the Prostate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6" name="Google Shape;216;p18"/>
          <p:cNvSpPr txBox="1"/>
          <p:nvPr>
            <p:ph idx="1" type="body"/>
          </p:nvPr>
        </p:nvSpPr>
        <p:spPr>
          <a:xfrm>
            <a:off x="0" y="764704"/>
            <a:ext cx="9144000" cy="6093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Urogenital diaphragm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apex of the gland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rests on it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sheath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(false capsule)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continuous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with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fascia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Two pairs of puboprostatic ligaments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They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extend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sheath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false capsule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back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pubic bones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pair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lies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near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apex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pair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close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Rectovesical fascia of Denonvilliers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aspect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sheath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attaches to this fascia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posteriorly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>
            <p:ph type="title"/>
          </p:nvPr>
        </p:nvSpPr>
        <p:spPr>
          <a:xfrm>
            <a:off x="0" y="0"/>
            <a:ext cx="9144000" cy="1142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STRUCTURE OF THE PROSTATE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3" name="Google Shape;223;p19"/>
          <p:cNvSpPr txBox="1"/>
          <p:nvPr>
            <p:ph idx="1" type="body"/>
          </p:nvPr>
        </p:nvSpPr>
        <p:spPr>
          <a:xfrm>
            <a:off x="457200" y="1214422"/>
            <a:ext cx="8401080" cy="564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made up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fibrous tissue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(1/4),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muscular tissue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(1/4),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glandular tissue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(1/2).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glandular tissue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consists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tubuloalveolar glands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arranged in three concentric groups 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mucosal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submucosal,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); all of them open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urethra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fibromuscular tissue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forms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stroma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glandular tissue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forms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parenchyma of the prostate 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lumen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tubuloalveolar gland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contains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 colloid masses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called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corpora amylacea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/>
          <p:nvPr>
            <p:ph type="title"/>
          </p:nvPr>
        </p:nvSpPr>
        <p:spPr>
          <a:xfrm>
            <a:off x="457200" y="0"/>
            <a:ext cx="8229600" cy="1142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Structural zones of the Prostate Gland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0" name="Google Shape;230;p20"/>
          <p:cNvSpPr txBox="1"/>
          <p:nvPr>
            <p:ph idx="1" type="body"/>
          </p:nvPr>
        </p:nvSpPr>
        <p:spPr>
          <a:xfrm>
            <a:off x="214282" y="1142984"/>
            <a:ext cx="8715436" cy="5715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There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two well-defined concentric zones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separated by an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ill-defined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irregular fibrous layer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zones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absent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Outer zone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larger outer zone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composed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long branching glands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(prostatic gland proper). The ducts of these glands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curve backward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open in the prostatic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below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colliculus seminalis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zone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common site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carcinoma prostate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type="title"/>
          </p:nvPr>
        </p:nvSpPr>
        <p:spPr>
          <a:xfrm>
            <a:off x="457200" y="-214338"/>
            <a:ext cx="8229600" cy="857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7" name="Google Shape;237;p21"/>
          <p:cNvSpPr txBox="1"/>
          <p:nvPr>
            <p:ph idx="1" type="body"/>
          </p:nvPr>
        </p:nvSpPr>
        <p:spPr>
          <a:xfrm>
            <a:off x="285720" y="428604"/>
            <a:ext cx="8643998" cy="6429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Inner zone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smaller inner zone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composed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outer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submucosal glands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open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at the level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colliculus seminalis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Deep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these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simple mucosal glands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suburethral glands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), which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short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open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all around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urethra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level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colliculus seminalis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All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hypertrophies of the prostate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arise from these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mucosal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(suburethral/subcervical)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glands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Therefore,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inner zone of prostate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common site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benign prostatic hypertrophy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(BPH).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58" y="1000108"/>
            <a:ext cx="8215370" cy="507209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214282" y="5786454"/>
            <a:ext cx="1084791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Horizontal section of the prostate gland showing its structural zones. Note mucosal,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submucosal, and main prostatic glands arranged into three concentric layers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 = prostatic sinus, C = colliculus seminalis (urethral crest).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>
            <p:ph type="title"/>
          </p:nvPr>
        </p:nvSpPr>
        <p:spPr>
          <a:xfrm>
            <a:off x="457200" y="0"/>
            <a:ext cx="8229600" cy="1142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Blood supply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1" name="Google Shape;251;p23"/>
          <p:cNvSpPr txBox="1"/>
          <p:nvPr>
            <p:ph idx="1" type="body"/>
          </p:nvPr>
        </p:nvSpPr>
        <p:spPr>
          <a:xfrm>
            <a:off x="457200" y="928670"/>
            <a:ext cx="8401080" cy="592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Arterial supply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 gland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supplied by the branches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vesical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rectal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pudendal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arteries.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Venous drainage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veins from the prostate form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rich venous plexus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around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base of the gland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occupy the space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false capsules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deep dorsal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penis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continuous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above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vesical venous plexus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 txBox="1"/>
          <p:nvPr>
            <p:ph type="title"/>
          </p:nvPr>
        </p:nvSpPr>
        <p:spPr>
          <a:xfrm>
            <a:off x="457200" y="0"/>
            <a:ext cx="8229600" cy="92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8" name="Google Shape;258;p24"/>
          <p:cNvSpPr txBox="1"/>
          <p:nvPr>
            <p:ph idx="1" type="body"/>
          </p:nvPr>
        </p:nvSpPr>
        <p:spPr>
          <a:xfrm>
            <a:off x="214282" y="1000108"/>
            <a:ext cx="8715436" cy="5857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mode of venous drainage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venous plexus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follows two pathways: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iliac veins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through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ligaments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urinary bladder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external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vertebral venous plexus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(of Batson) through veins passing through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sacral foramina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communication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vesical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vertebral venous plexuses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valveless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Nerve supply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5" name="Google Shape;265;p25"/>
          <p:cNvSpPr txBox="1"/>
          <p:nvPr>
            <p:ph idx="1" type="body"/>
          </p:nvPr>
        </p:nvSpPr>
        <p:spPr>
          <a:xfrm>
            <a:off x="457200" y="1142984"/>
            <a:ext cx="8229600" cy="542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supplied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following nerves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sympathetic supply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provided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hypogastric plexus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preganglionic sympathetic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fibres arise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L1 and L2 spinal segments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parasympathetic  supply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provided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pelvic splanchnic nerves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convey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preganglionic fibres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S2, S3, S4 spinal segments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type="title"/>
          </p:nvPr>
        </p:nvSpPr>
        <p:spPr>
          <a:xfrm>
            <a:off x="457200" y="332656"/>
            <a:ext cx="8229600" cy="1368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Lymphatic drainage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2" name="Google Shape;272;p26"/>
          <p:cNvSpPr txBox="1"/>
          <p:nvPr>
            <p:ph idx="1" type="body"/>
          </p:nvPr>
        </p:nvSpPr>
        <p:spPr>
          <a:xfrm>
            <a:off x="457200" y="1785926"/>
            <a:ext cx="8229600" cy="43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lymphatics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drain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iliac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external iliac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sacral groups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lymph nodes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type="title"/>
          </p:nvPr>
        </p:nvSpPr>
        <p:spPr>
          <a:xfrm>
            <a:off x="457200" y="0"/>
            <a:ext cx="8229600" cy="1071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Applied Anatomy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80" name="Google Shape;280;p27"/>
          <p:cNvSpPr txBox="1"/>
          <p:nvPr>
            <p:ph idx="1" type="body"/>
          </p:nvPr>
        </p:nvSpPr>
        <p:spPr>
          <a:xfrm>
            <a:off x="285720" y="857232"/>
            <a:ext cx="8643998" cy="628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Benign prostatic hypertrophy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(BPH): After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50 years of age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 gland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enlarged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due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hypertrophy of median lobe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hypertrophy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subcervical glands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Albarran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forming an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adenoma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BPH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commonly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involves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lobe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compresses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urethra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obstructs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urine flow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enlargement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uvula vesicae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due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enlarged median lobe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results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formation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postprostatic pouch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stagnant urine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urinary bladder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behind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urethral orifice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457200" y="0"/>
            <a:ext cx="8229600" cy="92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Cont’d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8"/>
          <p:cNvSpPr txBox="1"/>
          <p:nvPr>
            <p:ph idx="1" type="body"/>
          </p:nvPr>
        </p:nvSpPr>
        <p:spPr>
          <a:xfrm>
            <a:off x="285720" y="714356"/>
            <a:ext cx="8643998" cy="6143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surgical removal of adenoma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called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prostatectomy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adenoma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enucleated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leaving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behind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both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capsules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venous plexus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between them. After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prostatectomy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patient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becomes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infecund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because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mechanism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urethral sphincter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disturbed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semen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enters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urinary bladder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during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ejaculation.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There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several surgical approaches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prostatectomy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namely,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suprapubic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retropubic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perineal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transurethral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"/>
          <p:cNvSpPr txBox="1"/>
          <p:nvPr>
            <p:ph type="title"/>
          </p:nvPr>
        </p:nvSpPr>
        <p:spPr>
          <a:xfrm>
            <a:off x="457200" y="274638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4" name="Google Shape;294;p29"/>
          <p:cNvSpPr txBox="1"/>
          <p:nvPr>
            <p:ph idx="1" type="body"/>
          </p:nvPr>
        </p:nvSpPr>
        <p:spPr>
          <a:xfrm>
            <a:off x="457200" y="980728"/>
            <a:ext cx="8229600" cy="609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Clinically,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BPH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presents as: (a)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increased frequency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urination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(b)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urgency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urination, (c)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difficulty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starting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stopping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urination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(d)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sense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incomplete emptying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urinary bladder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carcinoma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It usually occurs after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age of 50 years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carcinoma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commonly found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outer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(peripheral)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zone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which usually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involves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lobe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1" name="Google Shape;301;p30"/>
          <p:cNvSpPr txBox="1"/>
          <p:nvPr>
            <p:ph idx="1" type="body"/>
          </p:nvPr>
        </p:nvSpPr>
        <p:spPr>
          <a:xfrm>
            <a:off x="214282" y="692696"/>
            <a:ext cx="8715436" cy="6451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 a digital rectal examination (DRE) reveals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irregular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hard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fixed prostate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absence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groove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surface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serum levels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acid phosphatase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 specific antigen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(PSA) are used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diagnosis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management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 cancer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metastasis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prostatic carcinoma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commonly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occurs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lumbar vertebrae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pelvis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Clinically,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presents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as: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perineum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urinary obstruction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difficulty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urination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8" name="Google Shape;308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309" name="Google Shape;30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69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2022-01-20T11:26:17Z</dcterms:created>
  <dc:creator>olakunle</dc:creator>
</cp:coreProperties>
</file>