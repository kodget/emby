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2" r:id="rId4"/>
    <p:sldId id="261" r:id="rId5"/>
    <p:sldId id="279" r:id="rId6"/>
    <p:sldId id="265" r:id="rId7"/>
    <p:sldId id="276" r:id="rId8"/>
    <p:sldId id="272" r:id="rId9"/>
    <p:sldId id="277" r:id="rId10"/>
    <p:sldId id="274" r:id="rId11"/>
    <p:sldId id="263" r:id="rId12"/>
    <p:sldId id="281" r:id="rId13"/>
    <p:sldId id="267" r:id="rId14"/>
    <p:sldId id="273" r:id="rId15"/>
    <p:sldId id="271" r:id="rId16"/>
    <p:sldId id="268" r:id="rId17"/>
    <p:sldId id="2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14FC-30C5-4977-94AC-362F45C15C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E317745-4B00-6947-1181-9F7EBC0925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6CD9143-B494-1F04-A65E-09A4573FD397}"/>
              </a:ext>
            </a:extLst>
          </p:cNvPr>
          <p:cNvSpPr>
            <a:spLocks noGrp="1"/>
          </p:cNvSpPr>
          <p:nvPr>
            <p:ph type="dt" sz="half" idx="10"/>
          </p:nvPr>
        </p:nvSpPr>
        <p:spPr/>
        <p:txBody>
          <a:bodyPr/>
          <a:lstStyle/>
          <a:p>
            <a:fld id="{4AD150AD-6DC3-4B2C-B13E-1D57E1367B31}" type="datetimeFigureOut">
              <a:rPr lang="en-GB" smtClean="0"/>
              <a:t>08/01/2026</a:t>
            </a:fld>
            <a:endParaRPr lang="en-GB"/>
          </a:p>
        </p:txBody>
      </p:sp>
      <p:sp>
        <p:nvSpPr>
          <p:cNvPr id="5" name="Footer Placeholder 4">
            <a:extLst>
              <a:ext uri="{FF2B5EF4-FFF2-40B4-BE49-F238E27FC236}">
                <a16:creationId xmlns:a16="http://schemas.microsoft.com/office/drawing/2014/main" id="{14B1A1E9-F1E8-35D9-24ED-2114E22FF29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1179BD-E64E-1B9A-78B4-2FF26ABF67E1}"/>
              </a:ext>
            </a:extLst>
          </p:cNvPr>
          <p:cNvSpPr>
            <a:spLocks noGrp="1"/>
          </p:cNvSpPr>
          <p:nvPr>
            <p:ph type="sldNum" sz="quarter" idx="12"/>
          </p:nvPr>
        </p:nvSpPr>
        <p:spPr/>
        <p:txBody>
          <a:bodyPr/>
          <a:lstStyle/>
          <a:p>
            <a:fld id="{89F580A8-6D17-4361-B7D2-7B2653C1A2E2}" type="slidenum">
              <a:rPr lang="en-GB" smtClean="0"/>
              <a:t>‹#›</a:t>
            </a:fld>
            <a:endParaRPr lang="en-GB"/>
          </a:p>
        </p:txBody>
      </p:sp>
    </p:spTree>
    <p:extLst>
      <p:ext uri="{BB962C8B-B14F-4D97-AF65-F5344CB8AC3E}">
        <p14:creationId xmlns:p14="http://schemas.microsoft.com/office/powerpoint/2010/main" val="318047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F8946-31FE-28A7-3322-BBD59F17748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F92AA58-9EDB-C275-70B0-91CE413D8D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CF8B43A-9D59-63BF-B788-0E24CE2B52D4}"/>
              </a:ext>
            </a:extLst>
          </p:cNvPr>
          <p:cNvSpPr>
            <a:spLocks noGrp="1"/>
          </p:cNvSpPr>
          <p:nvPr>
            <p:ph type="dt" sz="half" idx="10"/>
          </p:nvPr>
        </p:nvSpPr>
        <p:spPr/>
        <p:txBody>
          <a:bodyPr/>
          <a:lstStyle/>
          <a:p>
            <a:fld id="{4AD150AD-6DC3-4B2C-B13E-1D57E1367B31}" type="datetimeFigureOut">
              <a:rPr lang="en-GB" smtClean="0"/>
              <a:t>08/01/2026</a:t>
            </a:fld>
            <a:endParaRPr lang="en-GB"/>
          </a:p>
        </p:txBody>
      </p:sp>
      <p:sp>
        <p:nvSpPr>
          <p:cNvPr id="5" name="Footer Placeholder 4">
            <a:extLst>
              <a:ext uri="{FF2B5EF4-FFF2-40B4-BE49-F238E27FC236}">
                <a16:creationId xmlns:a16="http://schemas.microsoft.com/office/drawing/2014/main" id="{BC92CF16-0981-EE31-1E97-75D1442B3FA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FC30770-0E15-61D8-A8AA-212103A2EA03}"/>
              </a:ext>
            </a:extLst>
          </p:cNvPr>
          <p:cNvSpPr>
            <a:spLocks noGrp="1"/>
          </p:cNvSpPr>
          <p:nvPr>
            <p:ph type="sldNum" sz="quarter" idx="12"/>
          </p:nvPr>
        </p:nvSpPr>
        <p:spPr/>
        <p:txBody>
          <a:bodyPr/>
          <a:lstStyle/>
          <a:p>
            <a:fld id="{89F580A8-6D17-4361-B7D2-7B2653C1A2E2}" type="slidenum">
              <a:rPr lang="en-GB" smtClean="0"/>
              <a:t>‹#›</a:t>
            </a:fld>
            <a:endParaRPr lang="en-GB"/>
          </a:p>
        </p:txBody>
      </p:sp>
    </p:spTree>
    <p:extLst>
      <p:ext uri="{BB962C8B-B14F-4D97-AF65-F5344CB8AC3E}">
        <p14:creationId xmlns:p14="http://schemas.microsoft.com/office/powerpoint/2010/main" val="3565781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2601D-D527-6DA7-D813-98CA3600A4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2B65CAC-80DA-A942-0F08-A37FD9D9A84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51150F-F2E4-33AC-C8F6-4F5F40078EDF}"/>
              </a:ext>
            </a:extLst>
          </p:cNvPr>
          <p:cNvSpPr>
            <a:spLocks noGrp="1"/>
          </p:cNvSpPr>
          <p:nvPr>
            <p:ph type="dt" sz="half" idx="10"/>
          </p:nvPr>
        </p:nvSpPr>
        <p:spPr/>
        <p:txBody>
          <a:bodyPr/>
          <a:lstStyle/>
          <a:p>
            <a:fld id="{4AD150AD-6DC3-4B2C-B13E-1D57E1367B31}" type="datetimeFigureOut">
              <a:rPr lang="en-GB" smtClean="0"/>
              <a:t>08/01/2026</a:t>
            </a:fld>
            <a:endParaRPr lang="en-GB"/>
          </a:p>
        </p:txBody>
      </p:sp>
      <p:sp>
        <p:nvSpPr>
          <p:cNvPr id="5" name="Footer Placeholder 4">
            <a:extLst>
              <a:ext uri="{FF2B5EF4-FFF2-40B4-BE49-F238E27FC236}">
                <a16:creationId xmlns:a16="http://schemas.microsoft.com/office/drawing/2014/main" id="{CEF8333E-5D7A-DA6A-8556-15EC8A3DA48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67CE8EE-8FCC-47CB-C93B-AC465C45A87D}"/>
              </a:ext>
            </a:extLst>
          </p:cNvPr>
          <p:cNvSpPr>
            <a:spLocks noGrp="1"/>
          </p:cNvSpPr>
          <p:nvPr>
            <p:ph type="sldNum" sz="quarter" idx="12"/>
          </p:nvPr>
        </p:nvSpPr>
        <p:spPr/>
        <p:txBody>
          <a:bodyPr/>
          <a:lstStyle/>
          <a:p>
            <a:fld id="{89F580A8-6D17-4361-B7D2-7B2653C1A2E2}" type="slidenum">
              <a:rPr lang="en-GB" smtClean="0"/>
              <a:t>‹#›</a:t>
            </a:fld>
            <a:endParaRPr lang="en-GB"/>
          </a:p>
        </p:txBody>
      </p:sp>
    </p:spTree>
    <p:extLst>
      <p:ext uri="{BB962C8B-B14F-4D97-AF65-F5344CB8AC3E}">
        <p14:creationId xmlns:p14="http://schemas.microsoft.com/office/powerpoint/2010/main" val="737780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B9954-D115-C521-3471-F761999A83D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8B5D457-6C4C-78D1-7A26-8C45744F16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B5E83E2-365F-4378-820D-7AE75D753B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F207CC0-3882-003E-0760-A6DA72995E59}"/>
              </a:ext>
            </a:extLst>
          </p:cNvPr>
          <p:cNvSpPr>
            <a:spLocks noGrp="1"/>
          </p:cNvSpPr>
          <p:nvPr>
            <p:ph type="dt" sz="half" idx="10"/>
          </p:nvPr>
        </p:nvSpPr>
        <p:spPr/>
        <p:txBody>
          <a:bodyPr/>
          <a:lstStyle/>
          <a:p>
            <a:fld id="{4AD150AD-6DC3-4B2C-B13E-1D57E1367B31}" type="datetimeFigureOut">
              <a:rPr lang="en-GB" smtClean="0"/>
              <a:t>08/01/2026</a:t>
            </a:fld>
            <a:endParaRPr lang="en-GB"/>
          </a:p>
        </p:txBody>
      </p:sp>
      <p:sp>
        <p:nvSpPr>
          <p:cNvPr id="6" name="Footer Placeholder 5">
            <a:extLst>
              <a:ext uri="{FF2B5EF4-FFF2-40B4-BE49-F238E27FC236}">
                <a16:creationId xmlns:a16="http://schemas.microsoft.com/office/drawing/2014/main" id="{CA76BE7C-92C4-C0AB-6E0B-0DF0A276488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62F52F6-5F8C-C0C0-C215-A22573BCBD2B}"/>
              </a:ext>
            </a:extLst>
          </p:cNvPr>
          <p:cNvSpPr>
            <a:spLocks noGrp="1"/>
          </p:cNvSpPr>
          <p:nvPr>
            <p:ph type="sldNum" sz="quarter" idx="12"/>
          </p:nvPr>
        </p:nvSpPr>
        <p:spPr/>
        <p:txBody>
          <a:bodyPr/>
          <a:lstStyle/>
          <a:p>
            <a:fld id="{89F580A8-6D17-4361-B7D2-7B2653C1A2E2}" type="slidenum">
              <a:rPr lang="en-GB" smtClean="0"/>
              <a:t>‹#›</a:t>
            </a:fld>
            <a:endParaRPr lang="en-GB"/>
          </a:p>
        </p:txBody>
      </p:sp>
    </p:spTree>
    <p:extLst>
      <p:ext uri="{BB962C8B-B14F-4D97-AF65-F5344CB8AC3E}">
        <p14:creationId xmlns:p14="http://schemas.microsoft.com/office/powerpoint/2010/main" val="1605628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D86C8-C123-8C78-4A1D-08A52A7AB4D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068118F-E4E5-B949-2CC1-E6432F71A0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0FD86A-F964-8D8A-77C2-EE963553A3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ECE5900-F677-FF5D-FD95-4E62743225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B69F15-594F-678B-BAA4-86C4770554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A21C5FD-AD8D-1AC5-FE49-E9048DF02AF6}"/>
              </a:ext>
            </a:extLst>
          </p:cNvPr>
          <p:cNvSpPr>
            <a:spLocks noGrp="1"/>
          </p:cNvSpPr>
          <p:nvPr>
            <p:ph type="dt" sz="half" idx="10"/>
          </p:nvPr>
        </p:nvSpPr>
        <p:spPr/>
        <p:txBody>
          <a:bodyPr/>
          <a:lstStyle/>
          <a:p>
            <a:fld id="{4AD150AD-6DC3-4B2C-B13E-1D57E1367B31}" type="datetimeFigureOut">
              <a:rPr lang="en-GB" smtClean="0"/>
              <a:t>08/01/2026</a:t>
            </a:fld>
            <a:endParaRPr lang="en-GB"/>
          </a:p>
        </p:txBody>
      </p:sp>
      <p:sp>
        <p:nvSpPr>
          <p:cNvPr id="8" name="Footer Placeholder 7">
            <a:extLst>
              <a:ext uri="{FF2B5EF4-FFF2-40B4-BE49-F238E27FC236}">
                <a16:creationId xmlns:a16="http://schemas.microsoft.com/office/drawing/2014/main" id="{CE2A9FF0-7775-750C-795B-71B9CEAD03D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9CFCE4-1840-3D0A-F023-49FB77780A43}"/>
              </a:ext>
            </a:extLst>
          </p:cNvPr>
          <p:cNvSpPr>
            <a:spLocks noGrp="1"/>
          </p:cNvSpPr>
          <p:nvPr>
            <p:ph type="sldNum" sz="quarter" idx="12"/>
          </p:nvPr>
        </p:nvSpPr>
        <p:spPr/>
        <p:txBody>
          <a:bodyPr/>
          <a:lstStyle/>
          <a:p>
            <a:fld id="{89F580A8-6D17-4361-B7D2-7B2653C1A2E2}" type="slidenum">
              <a:rPr lang="en-GB" smtClean="0"/>
              <a:t>‹#›</a:t>
            </a:fld>
            <a:endParaRPr lang="en-GB"/>
          </a:p>
        </p:txBody>
      </p:sp>
    </p:spTree>
    <p:extLst>
      <p:ext uri="{BB962C8B-B14F-4D97-AF65-F5344CB8AC3E}">
        <p14:creationId xmlns:p14="http://schemas.microsoft.com/office/powerpoint/2010/main" val="1730326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5E3BF-2A5C-B458-328C-C71263FC0A8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DAC7353-9055-4F68-BCBE-11AF5C5193A9}"/>
              </a:ext>
            </a:extLst>
          </p:cNvPr>
          <p:cNvSpPr>
            <a:spLocks noGrp="1"/>
          </p:cNvSpPr>
          <p:nvPr>
            <p:ph type="dt" sz="half" idx="10"/>
          </p:nvPr>
        </p:nvSpPr>
        <p:spPr/>
        <p:txBody>
          <a:bodyPr/>
          <a:lstStyle/>
          <a:p>
            <a:fld id="{4AD150AD-6DC3-4B2C-B13E-1D57E1367B31}" type="datetimeFigureOut">
              <a:rPr lang="en-GB" smtClean="0"/>
              <a:t>08/01/2026</a:t>
            </a:fld>
            <a:endParaRPr lang="en-GB"/>
          </a:p>
        </p:txBody>
      </p:sp>
      <p:sp>
        <p:nvSpPr>
          <p:cNvPr id="4" name="Footer Placeholder 3">
            <a:extLst>
              <a:ext uri="{FF2B5EF4-FFF2-40B4-BE49-F238E27FC236}">
                <a16:creationId xmlns:a16="http://schemas.microsoft.com/office/drawing/2014/main" id="{E9CD279B-905B-9792-61A8-5DFC91C4D89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AB28EE8-B2D7-F9FA-FE8A-04351F3E8EDA}"/>
              </a:ext>
            </a:extLst>
          </p:cNvPr>
          <p:cNvSpPr>
            <a:spLocks noGrp="1"/>
          </p:cNvSpPr>
          <p:nvPr>
            <p:ph type="sldNum" sz="quarter" idx="12"/>
          </p:nvPr>
        </p:nvSpPr>
        <p:spPr/>
        <p:txBody>
          <a:bodyPr/>
          <a:lstStyle/>
          <a:p>
            <a:fld id="{89F580A8-6D17-4361-B7D2-7B2653C1A2E2}" type="slidenum">
              <a:rPr lang="en-GB" smtClean="0"/>
              <a:t>‹#›</a:t>
            </a:fld>
            <a:endParaRPr lang="en-GB"/>
          </a:p>
        </p:txBody>
      </p:sp>
    </p:spTree>
    <p:extLst>
      <p:ext uri="{BB962C8B-B14F-4D97-AF65-F5344CB8AC3E}">
        <p14:creationId xmlns:p14="http://schemas.microsoft.com/office/powerpoint/2010/main" val="3424784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093447-228C-0B8F-1D85-F1E953442842}"/>
              </a:ext>
            </a:extLst>
          </p:cNvPr>
          <p:cNvSpPr>
            <a:spLocks noGrp="1"/>
          </p:cNvSpPr>
          <p:nvPr>
            <p:ph type="dt" sz="half" idx="10"/>
          </p:nvPr>
        </p:nvSpPr>
        <p:spPr/>
        <p:txBody>
          <a:bodyPr/>
          <a:lstStyle/>
          <a:p>
            <a:fld id="{4AD150AD-6DC3-4B2C-B13E-1D57E1367B31}" type="datetimeFigureOut">
              <a:rPr lang="en-GB" smtClean="0"/>
              <a:t>08/01/2026</a:t>
            </a:fld>
            <a:endParaRPr lang="en-GB"/>
          </a:p>
        </p:txBody>
      </p:sp>
      <p:sp>
        <p:nvSpPr>
          <p:cNvPr id="3" name="Footer Placeholder 2">
            <a:extLst>
              <a:ext uri="{FF2B5EF4-FFF2-40B4-BE49-F238E27FC236}">
                <a16:creationId xmlns:a16="http://schemas.microsoft.com/office/drawing/2014/main" id="{C9B04183-83CD-D2E0-89D8-E3426293C45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92E806A-6A1A-720B-DD38-C896A3F3095C}"/>
              </a:ext>
            </a:extLst>
          </p:cNvPr>
          <p:cNvSpPr>
            <a:spLocks noGrp="1"/>
          </p:cNvSpPr>
          <p:nvPr>
            <p:ph type="sldNum" sz="quarter" idx="12"/>
          </p:nvPr>
        </p:nvSpPr>
        <p:spPr/>
        <p:txBody>
          <a:bodyPr/>
          <a:lstStyle/>
          <a:p>
            <a:fld id="{89F580A8-6D17-4361-B7D2-7B2653C1A2E2}" type="slidenum">
              <a:rPr lang="en-GB" smtClean="0"/>
              <a:t>‹#›</a:t>
            </a:fld>
            <a:endParaRPr lang="en-GB"/>
          </a:p>
        </p:txBody>
      </p:sp>
    </p:spTree>
    <p:extLst>
      <p:ext uri="{BB962C8B-B14F-4D97-AF65-F5344CB8AC3E}">
        <p14:creationId xmlns:p14="http://schemas.microsoft.com/office/powerpoint/2010/main" val="4051365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6A28D-C825-720D-F2BF-E07AF74B39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BFC8CB1-998B-A918-B171-3E2DB3D5C9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D2561FC-B300-5DD4-C409-032A411249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4A6CD-E7E4-AA36-BF7C-5910A97C4379}"/>
              </a:ext>
            </a:extLst>
          </p:cNvPr>
          <p:cNvSpPr>
            <a:spLocks noGrp="1"/>
          </p:cNvSpPr>
          <p:nvPr>
            <p:ph type="dt" sz="half" idx="10"/>
          </p:nvPr>
        </p:nvSpPr>
        <p:spPr/>
        <p:txBody>
          <a:bodyPr/>
          <a:lstStyle/>
          <a:p>
            <a:fld id="{4AD150AD-6DC3-4B2C-B13E-1D57E1367B31}" type="datetimeFigureOut">
              <a:rPr lang="en-GB" smtClean="0"/>
              <a:t>08/01/2026</a:t>
            </a:fld>
            <a:endParaRPr lang="en-GB"/>
          </a:p>
        </p:txBody>
      </p:sp>
      <p:sp>
        <p:nvSpPr>
          <p:cNvPr id="6" name="Footer Placeholder 5">
            <a:extLst>
              <a:ext uri="{FF2B5EF4-FFF2-40B4-BE49-F238E27FC236}">
                <a16:creationId xmlns:a16="http://schemas.microsoft.com/office/drawing/2014/main" id="{3DDB7D7D-7BD4-218A-928B-374B7A5AA3F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D072CC5-2F14-9922-33FB-98D7EE977D51}"/>
              </a:ext>
            </a:extLst>
          </p:cNvPr>
          <p:cNvSpPr>
            <a:spLocks noGrp="1"/>
          </p:cNvSpPr>
          <p:nvPr>
            <p:ph type="sldNum" sz="quarter" idx="12"/>
          </p:nvPr>
        </p:nvSpPr>
        <p:spPr/>
        <p:txBody>
          <a:bodyPr/>
          <a:lstStyle/>
          <a:p>
            <a:fld id="{89F580A8-6D17-4361-B7D2-7B2653C1A2E2}" type="slidenum">
              <a:rPr lang="en-GB" smtClean="0"/>
              <a:t>‹#›</a:t>
            </a:fld>
            <a:endParaRPr lang="en-GB"/>
          </a:p>
        </p:txBody>
      </p:sp>
    </p:spTree>
    <p:extLst>
      <p:ext uri="{BB962C8B-B14F-4D97-AF65-F5344CB8AC3E}">
        <p14:creationId xmlns:p14="http://schemas.microsoft.com/office/powerpoint/2010/main" val="3997851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B84C7-5F87-F4E5-BD0A-CE147A7F33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39C23B4-E852-C3E8-504F-29449EDD51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391744A-D5CF-C19F-AF85-C0540CE166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1CB707-7312-2338-0A5B-12C4B52FB5D1}"/>
              </a:ext>
            </a:extLst>
          </p:cNvPr>
          <p:cNvSpPr>
            <a:spLocks noGrp="1"/>
          </p:cNvSpPr>
          <p:nvPr>
            <p:ph type="dt" sz="half" idx="10"/>
          </p:nvPr>
        </p:nvSpPr>
        <p:spPr/>
        <p:txBody>
          <a:bodyPr/>
          <a:lstStyle/>
          <a:p>
            <a:fld id="{4AD150AD-6DC3-4B2C-B13E-1D57E1367B31}" type="datetimeFigureOut">
              <a:rPr lang="en-GB" smtClean="0"/>
              <a:t>08/01/2026</a:t>
            </a:fld>
            <a:endParaRPr lang="en-GB"/>
          </a:p>
        </p:txBody>
      </p:sp>
      <p:sp>
        <p:nvSpPr>
          <p:cNvPr id="6" name="Footer Placeholder 5">
            <a:extLst>
              <a:ext uri="{FF2B5EF4-FFF2-40B4-BE49-F238E27FC236}">
                <a16:creationId xmlns:a16="http://schemas.microsoft.com/office/drawing/2014/main" id="{3EEE8817-2872-EF64-CC72-B001AE22407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2037F44-993A-8F48-1B22-B28157354050}"/>
              </a:ext>
            </a:extLst>
          </p:cNvPr>
          <p:cNvSpPr>
            <a:spLocks noGrp="1"/>
          </p:cNvSpPr>
          <p:nvPr>
            <p:ph type="sldNum" sz="quarter" idx="12"/>
          </p:nvPr>
        </p:nvSpPr>
        <p:spPr/>
        <p:txBody>
          <a:bodyPr/>
          <a:lstStyle/>
          <a:p>
            <a:fld id="{89F580A8-6D17-4361-B7D2-7B2653C1A2E2}" type="slidenum">
              <a:rPr lang="en-GB" smtClean="0"/>
              <a:t>‹#›</a:t>
            </a:fld>
            <a:endParaRPr lang="en-GB"/>
          </a:p>
        </p:txBody>
      </p:sp>
    </p:spTree>
    <p:extLst>
      <p:ext uri="{BB962C8B-B14F-4D97-AF65-F5344CB8AC3E}">
        <p14:creationId xmlns:p14="http://schemas.microsoft.com/office/powerpoint/2010/main" val="854535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63C00-3117-0CC9-61A0-B90D435DA4F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0429978-D4CD-0993-042C-F17B2A794E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8167E2B-9255-3F93-A550-045E831354A9}"/>
              </a:ext>
            </a:extLst>
          </p:cNvPr>
          <p:cNvSpPr>
            <a:spLocks noGrp="1"/>
          </p:cNvSpPr>
          <p:nvPr>
            <p:ph type="dt" sz="half" idx="10"/>
          </p:nvPr>
        </p:nvSpPr>
        <p:spPr/>
        <p:txBody>
          <a:bodyPr/>
          <a:lstStyle/>
          <a:p>
            <a:fld id="{4AD150AD-6DC3-4B2C-B13E-1D57E1367B31}" type="datetimeFigureOut">
              <a:rPr lang="en-GB" smtClean="0"/>
              <a:t>08/01/2026</a:t>
            </a:fld>
            <a:endParaRPr lang="en-GB"/>
          </a:p>
        </p:txBody>
      </p:sp>
      <p:sp>
        <p:nvSpPr>
          <p:cNvPr id="5" name="Footer Placeholder 4">
            <a:extLst>
              <a:ext uri="{FF2B5EF4-FFF2-40B4-BE49-F238E27FC236}">
                <a16:creationId xmlns:a16="http://schemas.microsoft.com/office/drawing/2014/main" id="{006A1572-F795-F3E3-203F-11FC64DAE72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A8D2B05-F1F4-9B1A-800F-D4467CDBF0DB}"/>
              </a:ext>
            </a:extLst>
          </p:cNvPr>
          <p:cNvSpPr>
            <a:spLocks noGrp="1"/>
          </p:cNvSpPr>
          <p:nvPr>
            <p:ph type="sldNum" sz="quarter" idx="12"/>
          </p:nvPr>
        </p:nvSpPr>
        <p:spPr/>
        <p:txBody>
          <a:bodyPr/>
          <a:lstStyle/>
          <a:p>
            <a:fld id="{89F580A8-6D17-4361-B7D2-7B2653C1A2E2}" type="slidenum">
              <a:rPr lang="en-GB" smtClean="0"/>
              <a:t>‹#›</a:t>
            </a:fld>
            <a:endParaRPr lang="en-GB"/>
          </a:p>
        </p:txBody>
      </p:sp>
    </p:spTree>
    <p:extLst>
      <p:ext uri="{BB962C8B-B14F-4D97-AF65-F5344CB8AC3E}">
        <p14:creationId xmlns:p14="http://schemas.microsoft.com/office/powerpoint/2010/main" val="2663395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4F93CF-152B-47F0-E3FD-24ED7DF137E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C596FC8-55C3-FEA9-2129-ED95AA54F9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0CD78FE-3F0F-D5AF-AF8E-A2C8447EB805}"/>
              </a:ext>
            </a:extLst>
          </p:cNvPr>
          <p:cNvSpPr>
            <a:spLocks noGrp="1"/>
          </p:cNvSpPr>
          <p:nvPr>
            <p:ph type="dt" sz="half" idx="10"/>
          </p:nvPr>
        </p:nvSpPr>
        <p:spPr/>
        <p:txBody>
          <a:bodyPr/>
          <a:lstStyle/>
          <a:p>
            <a:fld id="{4AD150AD-6DC3-4B2C-B13E-1D57E1367B31}" type="datetimeFigureOut">
              <a:rPr lang="en-GB" smtClean="0"/>
              <a:t>08/01/2026</a:t>
            </a:fld>
            <a:endParaRPr lang="en-GB"/>
          </a:p>
        </p:txBody>
      </p:sp>
      <p:sp>
        <p:nvSpPr>
          <p:cNvPr id="5" name="Footer Placeholder 4">
            <a:extLst>
              <a:ext uri="{FF2B5EF4-FFF2-40B4-BE49-F238E27FC236}">
                <a16:creationId xmlns:a16="http://schemas.microsoft.com/office/drawing/2014/main" id="{53C24BBF-9F3A-0E8E-803D-94CFB45563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5024CB2-EBB5-38E8-1346-8936209C66AF}"/>
              </a:ext>
            </a:extLst>
          </p:cNvPr>
          <p:cNvSpPr>
            <a:spLocks noGrp="1"/>
          </p:cNvSpPr>
          <p:nvPr>
            <p:ph type="sldNum" sz="quarter" idx="12"/>
          </p:nvPr>
        </p:nvSpPr>
        <p:spPr/>
        <p:txBody>
          <a:bodyPr/>
          <a:lstStyle/>
          <a:p>
            <a:fld id="{89F580A8-6D17-4361-B7D2-7B2653C1A2E2}" type="slidenum">
              <a:rPr lang="en-GB" smtClean="0"/>
              <a:t>‹#›</a:t>
            </a:fld>
            <a:endParaRPr lang="en-GB"/>
          </a:p>
        </p:txBody>
      </p:sp>
    </p:spTree>
    <p:extLst>
      <p:ext uri="{BB962C8B-B14F-4D97-AF65-F5344CB8AC3E}">
        <p14:creationId xmlns:p14="http://schemas.microsoft.com/office/powerpoint/2010/main" val="4076813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604221-D585-2DA7-EF84-65B59E1789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F1BCC6C-E105-2C08-D33B-C0746135F5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6A7C193-210E-7372-431B-F3F6B8C92D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AD150AD-6DC3-4B2C-B13E-1D57E1367B31}" type="datetimeFigureOut">
              <a:rPr lang="en-GB" smtClean="0"/>
              <a:t>08/01/2026</a:t>
            </a:fld>
            <a:endParaRPr lang="en-GB"/>
          </a:p>
        </p:txBody>
      </p:sp>
      <p:sp>
        <p:nvSpPr>
          <p:cNvPr id="5" name="Footer Placeholder 4">
            <a:extLst>
              <a:ext uri="{FF2B5EF4-FFF2-40B4-BE49-F238E27FC236}">
                <a16:creationId xmlns:a16="http://schemas.microsoft.com/office/drawing/2014/main" id="{27C59A12-4FAD-BE08-243E-72D8DEC08B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7B10B928-067F-113B-0494-8DAFFB2DCC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9F580A8-6D17-4361-B7D2-7B2653C1A2E2}" type="slidenum">
              <a:rPr lang="en-GB" smtClean="0"/>
              <a:t>‹#›</a:t>
            </a:fld>
            <a:endParaRPr lang="en-GB"/>
          </a:p>
        </p:txBody>
      </p:sp>
    </p:spTree>
    <p:extLst>
      <p:ext uri="{BB962C8B-B14F-4D97-AF65-F5344CB8AC3E}">
        <p14:creationId xmlns:p14="http://schemas.microsoft.com/office/powerpoint/2010/main" val="27360607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69B92-BBF8-9A00-C335-C83F6F1C05B7}"/>
              </a:ext>
            </a:extLst>
          </p:cNvPr>
          <p:cNvSpPr>
            <a:spLocks noGrp="1"/>
          </p:cNvSpPr>
          <p:nvPr>
            <p:ph type="ctrTitle"/>
          </p:nvPr>
        </p:nvSpPr>
        <p:spPr/>
        <p:txBody>
          <a:bodyPr/>
          <a:lstStyle/>
          <a:p>
            <a:r>
              <a:rPr lang="en-GB" dirty="0"/>
              <a:t>URINARY BLADDER</a:t>
            </a:r>
          </a:p>
        </p:txBody>
      </p:sp>
      <p:sp>
        <p:nvSpPr>
          <p:cNvPr id="3" name="Subtitle 2">
            <a:extLst>
              <a:ext uri="{FF2B5EF4-FFF2-40B4-BE49-F238E27FC236}">
                <a16:creationId xmlns:a16="http://schemas.microsoft.com/office/drawing/2014/main" id="{46F0D6DD-DB5B-1C42-7825-F849231D67A2}"/>
              </a:ext>
            </a:extLst>
          </p:cNvPr>
          <p:cNvSpPr>
            <a:spLocks noGrp="1"/>
          </p:cNvSpPr>
          <p:nvPr>
            <p:ph type="subTitle" idx="1"/>
          </p:nvPr>
        </p:nvSpPr>
        <p:spPr/>
        <p:txBody>
          <a:bodyPr/>
          <a:lstStyle/>
          <a:p>
            <a:endParaRPr lang="en-GB" dirty="0"/>
          </a:p>
          <a:p>
            <a:r>
              <a:rPr lang="en-GB" dirty="0"/>
              <a:t>DR OSO O.A</a:t>
            </a:r>
          </a:p>
          <a:p>
            <a:endParaRPr lang="en-GB" dirty="0"/>
          </a:p>
        </p:txBody>
      </p:sp>
    </p:spTree>
    <p:extLst>
      <p:ext uri="{BB962C8B-B14F-4D97-AF65-F5344CB8AC3E}">
        <p14:creationId xmlns:p14="http://schemas.microsoft.com/office/powerpoint/2010/main" val="66591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87AFB-FB0C-38AB-D919-4EB3BCD5A4B0}"/>
              </a:ext>
            </a:extLst>
          </p:cNvPr>
          <p:cNvSpPr>
            <a:spLocks noGrp="1"/>
          </p:cNvSpPr>
          <p:nvPr>
            <p:ph type="title"/>
          </p:nvPr>
        </p:nvSpPr>
        <p:spPr>
          <a:xfrm>
            <a:off x="228600" y="141514"/>
            <a:ext cx="11723914" cy="1186544"/>
          </a:xfrm>
        </p:spPr>
        <p:txBody>
          <a:bodyPr/>
          <a:lstStyle/>
          <a:p>
            <a:r>
              <a:rPr lang="en-GB" dirty="0">
                <a:solidFill>
                  <a:schemeClr val="accent1">
                    <a:lumMod val="60000"/>
                    <a:lumOff val="40000"/>
                  </a:schemeClr>
                </a:solidFill>
              </a:rPr>
              <a:t>INTRODUCTION</a:t>
            </a:r>
          </a:p>
        </p:txBody>
      </p:sp>
      <p:sp>
        <p:nvSpPr>
          <p:cNvPr id="3" name="Content Placeholder 2">
            <a:extLst>
              <a:ext uri="{FF2B5EF4-FFF2-40B4-BE49-F238E27FC236}">
                <a16:creationId xmlns:a16="http://schemas.microsoft.com/office/drawing/2014/main" id="{C99F3D1A-6F82-E0AF-E545-2D1193F75A04}"/>
              </a:ext>
            </a:extLst>
          </p:cNvPr>
          <p:cNvSpPr>
            <a:spLocks noGrp="1"/>
          </p:cNvSpPr>
          <p:nvPr>
            <p:ph idx="1"/>
          </p:nvPr>
        </p:nvSpPr>
        <p:spPr>
          <a:xfrm>
            <a:off x="228599" y="1251856"/>
            <a:ext cx="11723913" cy="5312229"/>
          </a:xfrm>
        </p:spPr>
        <p:txBody>
          <a:bodyPr>
            <a:normAutofit/>
          </a:bodyPr>
          <a:lstStyle/>
          <a:p>
            <a:r>
              <a:rPr lang="en-GB" dirty="0"/>
              <a:t>The urinary bladder is a muscular reservoir of urine</a:t>
            </a:r>
          </a:p>
          <a:p>
            <a:endParaRPr lang="en-GB" dirty="0"/>
          </a:p>
          <a:p>
            <a:r>
              <a:rPr lang="en-GB" dirty="0"/>
              <a:t>The bladder is the most anterior element of the pelvic viscera</a:t>
            </a:r>
          </a:p>
          <a:p>
            <a:endParaRPr lang="en-GB" dirty="0"/>
          </a:p>
          <a:p>
            <a:r>
              <a:rPr lang="en-GB" dirty="0"/>
              <a:t>Although the bladder is considered to be pelvic in the adult. It has a higher position in children</a:t>
            </a:r>
          </a:p>
          <a:p>
            <a:endParaRPr lang="en-GB" dirty="0"/>
          </a:p>
          <a:p>
            <a:r>
              <a:rPr lang="en-GB" dirty="0"/>
              <a:t>At birth, the bladder is almost entirely abdominal. With age, the bladder descends until after puberty when it assumes the adult position</a:t>
            </a:r>
          </a:p>
          <a:p>
            <a:endParaRPr lang="en-GB" dirty="0"/>
          </a:p>
        </p:txBody>
      </p:sp>
    </p:spTree>
    <p:extLst>
      <p:ext uri="{BB962C8B-B14F-4D97-AF65-F5344CB8AC3E}">
        <p14:creationId xmlns:p14="http://schemas.microsoft.com/office/powerpoint/2010/main" val="142544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Anatomy-Of-Urinary-Bladder-3-2048.jpg"/>
          <p:cNvPicPr>
            <a:picLocks noChangeAspect="1"/>
          </p:cNvPicPr>
          <p:nvPr/>
        </p:nvPicPr>
        <p:blipFill>
          <a:blip r:embed="rId2"/>
          <a:stretch>
            <a:fillRect/>
          </a:stretch>
        </p:blipFill>
        <p:spPr>
          <a:xfrm>
            <a:off x="174171" y="-21772"/>
            <a:ext cx="11734800" cy="679268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4-Anatomy-Of-Urinary-Bladder-4-2048.jpg"/>
          <p:cNvPicPr>
            <a:picLocks noChangeAspect="1"/>
          </p:cNvPicPr>
          <p:nvPr/>
        </p:nvPicPr>
        <p:blipFill>
          <a:blip r:embed="rId2"/>
          <a:stretch>
            <a:fillRect/>
          </a:stretch>
        </p:blipFill>
        <p:spPr>
          <a:xfrm>
            <a:off x="108857" y="155122"/>
            <a:ext cx="11865429" cy="64851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C524E-C3FD-F39B-2E05-1D6DA90DFD3B}"/>
              </a:ext>
            </a:extLst>
          </p:cNvPr>
          <p:cNvSpPr>
            <a:spLocks noGrp="1"/>
          </p:cNvSpPr>
          <p:nvPr>
            <p:ph type="title"/>
          </p:nvPr>
        </p:nvSpPr>
        <p:spPr>
          <a:xfrm>
            <a:off x="217713" y="76201"/>
            <a:ext cx="11767457" cy="772886"/>
          </a:xfrm>
        </p:spPr>
        <p:txBody>
          <a:bodyPr>
            <a:normAutofit/>
          </a:bodyPr>
          <a:lstStyle/>
          <a:p>
            <a:pPr algn="ctr"/>
            <a:r>
              <a:rPr lang="en-GB" dirty="0">
                <a:solidFill>
                  <a:schemeClr val="accent1">
                    <a:lumMod val="60000"/>
                    <a:lumOff val="40000"/>
                  </a:schemeClr>
                </a:solidFill>
              </a:rPr>
              <a:t>GROSS ANATOMY OF THE BLADDER</a:t>
            </a:r>
            <a:endParaRPr lang="en-GB" dirty="0"/>
          </a:p>
        </p:txBody>
      </p:sp>
      <p:sp>
        <p:nvSpPr>
          <p:cNvPr id="3" name="Content Placeholder 2">
            <a:extLst>
              <a:ext uri="{FF2B5EF4-FFF2-40B4-BE49-F238E27FC236}">
                <a16:creationId xmlns:a16="http://schemas.microsoft.com/office/drawing/2014/main" id="{8D1BAEA0-BD89-C2E7-9B58-ED2C2CF98E11}"/>
              </a:ext>
            </a:extLst>
          </p:cNvPr>
          <p:cNvSpPr>
            <a:spLocks noGrp="1"/>
          </p:cNvSpPr>
          <p:nvPr>
            <p:ph sz="half" idx="1"/>
          </p:nvPr>
        </p:nvSpPr>
        <p:spPr>
          <a:xfrm>
            <a:off x="206830" y="849086"/>
            <a:ext cx="6335484" cy="5780313"/>
          </a:xfrm>
        </p:spPr>
        <p:txBody>
          <a:bodyPr>
            <a:normAutofit/>
          </a:bodyPr>
          <a:lstStyle/>
          <a:p>
            <a:r>
              <a:rPr lang="en-GB" dirty="0"/>
              <a:t>The empty bladder is shaped like a three-sided pyramids</a:t>
            </a:r>
          </a:p>
          <a:p>
            <a:endParaRPr lang="en-GB" dirty="0"/>
          </a:p>
          <a:p>
            <a:r>
              <a:rPr lang="en-GB" dirty="0"/>
              <a:t>It has an apex, base, superior surface, and two inferolateral surfaces</a:t>
            </a:r>
          </a:p>
          <a:p>
            <a:endParaRPr lang="en-GB" dirty="0"/>
          </a:p>
          <a:p>
            <a:r>
              <a:rPr lang="en-GB" dirty="0"/>
              <a:t>The apex of the bladder is directed toward the top of the pubic symphysis</a:t>
            </a:r>
          </a:p>
          <a:p>
            <a:endParaRPr lang="en-GB" dirty="0"/>
          </a:p>
          <a:p>
            <a:r>
              <a:rPr lang="en-GB" dirty="0"/>
              <a:t>The base is shaped like an inverted triangle and faces posteroinferiorly. </a:t>
            </a:r>
          </a:p>
          <a:p>
            <a:endParaRPr lang="en-GB" dirty="0"/>
          </a:p>
        </p:txBody>
      </p:sp>
      <p:pic>
        <p:nvPicPr>
          <p:cNvPr id="5" name="Content Placeholder 5">
            <a:extLst>
              <a:ext uri="{FF2B5EF4-FFF2-40B4-BE49-F238E27FC236}">
                <a16:creationId xmlns:a16="http://schemas.microsoft.com/office/drawing/2014/main" id="{9D7F5F46-A96C-647A-9B20-8106C11EE33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40830" y="849087"/>
            <a:ext cx="5344340" cy="5780312"/>
          </a:xfrm>
        </p:spPr>
      </p:pic>
    </p:spTree>
    <p:extLst>
      <p:ext uri="{BB962C8B-B14F-4D97-AF65-F5344CB8AC3E}">
        <p14:creationId xmlns:p14="http://schemas.microsoft.com/office/powerpoint/2010/main" val="2547356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AEE68-6BF6-DB69-EC08-F411AD35925B}"/>
              </a:ext>
            </a:extLst>
          </p:cNvPr>
          <p:cNvSpPr>
            <a:spLocks noGrp="1"/>
          </p:cNvSpPr>
          <p:nvPr>
            <p:ph type="title"/>
          </p:nvPr>
        </p:nvSpPr>
        <p:spPr>
          <a:xfrm>
            <a:off x="337457" y="365125"/>
            <a:ext cx="11016343" cy="1325563"/>
          </a:xfrm>
        </p:spPr>
        <p:txBody>
          <a:bodyPr/>
          <a:lstStyle/>
          <a:p>
            <a:r>
              <a:rPr lang="en-GB" dirty="0">
                <a:solidFill>
                  <a:schemeClr val="accent1">
                    <a:lumMod val="60000"/>
                    <a:lumOff val="40000"/>
                  </a:schemeClr>
                </a:solidFill>
              </a:rPr>
              <a:t>GROSS ANATOMY OF THE BLADDER</a:t>
            </a:r>
          </a:p>
        </p:txBody>
      </p:sp>
      <p:sp>
        <p:nvSpPr>
          <p:cNvPr id="3" name="Content Placeholder 2">
            <a:extLst>
              <a:ext uri="{FF2B5EF4-FFF2-40B4-BE49-F238E27FC236}">
                <a16:creationId xmlns:a16="http://schemas.microsoft.com/office/drawing/2014/main" id="{A2223AE7-96B8-7B4C-009D-C865043D0B71}"/>
              </a:ext>
            </a:extLst>
          </p:cNvPr>
          <p:cNvSpPr>
            <a:spLocks noGrp="1"/>
          </p:cNvSpPr>
          <p:nvPr>
            <p:ph idx="1"/>
          </p:nvPr>
        </p:nvSpPr>
        <p:spPr>
          <a:xfrm>
            <a:off x="239485" y="1534886"/>
            <a:ext cx="11756571" cy="4957989"/>
          </a:xfrm>
        </p:spPr>
        <p:txBody>
          <a:bodyPr/>
          <a:lstStyle/>
          <a:p>
            <a:endParaRPr lang="en-GB" dirty="0"/>
          </a:p>
          <a:p>
            <a:r>
              <a:rPr lang="en-GB" dirty="0"/>
              <a:t>The inferolateral surfaces are cradled between the levator ani muscles of the pelvic diaphragm and the adjacent obturator internus muscle above the attachment of the pelvic diaphragm</a:t>
            </a:r>
          </a:p>
          <a:p>
            <a:endParaRPr lang="en-GB" dirty="0"/>
          </a:p>
          <a:p>
            <a:r>
              <a:rPr lang="en-GB" dirty="0"/>
              <a:t>The superior surface is slightly domed when the bladder is empty. It balloons upward as the bladder fills</a:t>
            </a:r>
          </a:p>
        </p:txBody>
      </p:sp>
    </p:spTree>
    <p:extLst>
      <p:ext uri="{BB962C8B-B14F-4D97-AF65-F5344CB8AC3E}">
        <p14:creationId xmlns:p14="http://schemas.microsoft.com/office/powerpoint/2010/main" val="980837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0-Anatomy-Of-Urinary-Bladder-20-2048.jpg"/>
          <p:cNvPicPr>
            <a:picLocks noChangeAspect="1"/>
          </p:cNvPicPr>
          <p:nvPr/>
        </p:nvPicPr>
        <p:blipFill>
          <a:blip r:embed="rId2"/>
          <a:stretch>
            <a:fillRect/>
          </a:stretch>
        </p:blipFill>
        <p:spPr>
          <a:xfrm>
            <a:off x="1524000" y="0"/>
            <a:ext cx="9144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2-Urinary-bladder-12-638.jpg"/>
          <p:cNvPicPr>
            <a:picLocks noChangeAspect="1"/>
          </p:cNvPicPr>
          <p:nvPr/>
        </p:nvPicPr>
        <p:blipFill>
          <a:blip r:embed="rId2"/>
          <a:stretch>
            <a:fillRect/>
          </a:stretch>
        </p:blipFill>
        <p:spPr>
          <a:xfrm>
            <a:off x="152400" y="143363"/>
            <a:ext cx="11843657" cy="664572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19D70-D315-5474-67A8-B649D1B4F905}"/>
              </a:ext>
            </a:extLst>
          </p:cNvPr>
          <p:cNvSpPr>
            <a:spLocks noGrp="1"/>
          </p:cNvSpPr>
          <p:nvPr>
            <p:ph type="title"/>
          </p:nvPr>
        </p:nvSpPr>
        <p:spPr>
          <a:xfrm>
            <a:off x="283409" y="185057"/>
            <a:ext cx="11669105" cy="664029"/>
          </a:xfrm>
        </p:spPr>
        <p:txBody>
          <a:bodyPr>
            <a:normAutofit fontScale="90000"/>
          </a:bodyPr>
          <a:lstStyle/>
          <a:p>
            <a:pPr algn="ctr"/>
            <a:r>
              <a:rPr lang="en-GB" dirty="0">
                <a:solidFill>
                  <a:schemeClr val="tx2">
                    <a:lumMod val="50000"/>
                    <a:lumOff val="50000"/>
                  </a:schemeClr>
                </a:solidFill>
              </a:rPr>
              <a:t>Relations of the urinary bladder</a:t>
            </a:r>
          </a:p>
        </p:txBody>
      </p:sp>
      <p:pic>
        <p:nvPicPr>
          <p:cNvPr id="10" name="Content Placeholder 9">
            <a:extLst>
              <a:ext uri="{FF2B5EF4-FFF2-40B4-BE49-F238E27FC236}">
                <a16:creationId xmlns:a16="http://schemas.microsoft.com/office/drawing/2014/main" id="{7D9297EE-DE9C-04F0-0887-0AE5CBD06EA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83409" y="951706"/>
            <a:ext cx="6588354" cy="5721237"/>
          </a:xfrm>
        </p:spPr>
      </p:pic>
      <p:pic>
        <p:nvPicPr>
          <p:cNvPr id="12" name="Content Placeholder 11">
            <a:extLst>
              <a:ext uri="{FF2B5EF4-FFF2-40B4-BE49-F238E27FC236}">
                <a16:creationId xmlns:a16="http://schemas.microsoft.com/office/drawing/2014/main" id="{1023C239-1DD2-3500-68F2-B359F54245C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bwMode="auto">
          <a:xfrm>
            <a:off x="6988628" y="951705"/>
            <a:ext cx="4963885" cy="5721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6702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A617E-70A7-B3F9-8FE2-52334C286B76}"/>
              </a:ext>
            </a:extLst>
          </p:cNvPr>
          <p:cNvSpPr>
            <a:spLocks noGrp="1"/>
          </p:cNvSpPr>
          <p:nvPr>
            <p:ph type="title"/>
          </p:nvPr>
        </p:nvSpPr>
        <p:spPr>
          <a:xfrm>
            <a:off x="239486" y="76200"/>
            <a:ext cx="11636828" cy="794658"/>
          </a:xfrm>
        </p:spPr>
        <p:txBody>
          <a:bodyPr>
            <a:normAutofit/>
          </a:bodyPr>
          <a:lstStyle/>
          <a:p>
            <a:r>
              <a:rPr lang="en-GB" dirty="0">
                <a:solidFill>
                  <a:schemeClr val="accent1">
                    <a:lumMod val="60000"/>
                    <a:lumOff val="40000"/>
                  </a:schemeClr>
                </a:solidFill>
              </a:rPr>
              <a:t>INTERIOR OF THE URINARY BLADDDER</a:t>
            </a:r>
          </a:p>
        </p:txBody>
      </p:sp>
      <p:sp>
        <p:nvSpPr>
          <p:cNvPr id="3" name="Content Placeholder 2">
            <a:extLst>
              <a:ext uri="{FF2B5EF4-FFF2-40B4-BE49-F238E27FC236}">
                <a16:creationId xmlns:a16="http://schemas.microsoft.com/office/drawing/2014/main" id="{3D8D0D03-C2FB-15AB-A74B-CD0311257FCB}"/>
              </a:ext>
            </a:extLst>
          </p:cNvPr>
          <p:cNvSpPr>
            <a:spLocks noGrp="1"/>
          </p:cNvSpPr>
          <p:nvPr>
            <p:ph idx="1"/>
          </p:nvPr>
        </p:nvSpPr>
        <p:spPr>
          <a:xfrm>
            <a:off x="239486" y="968829"/>
            <a:ext cx="11713028" cy="5682342"/>
          </a:xfrm>
        </p:spPr>
        <p:txBody>
          <a:bodyPr>
            <a:normAutofit/>
          </a:bodyPr>
          <a:lstStyle/>
          <a:p>
            <a:r>
              <a:rPr lang="en-GB" b="1" dirty="0"/>
              <a:t>The </a:t>
            </a:r>
            <a:r>
              <a:rPr lang="en-GB" b="1" dirty="0" err="1"/>
              <a:t>triagone</a:t>
            </a:r>
            <a:r>
              <a:rPr lang="en-GB" b="1" dirty="0"/>
              <a:t>, ureteric orifices, inter ureteric crest, uvula of the bladder, internal urethral meatus</a:t>
            </a:r>
          </a:p>
          <a:p>
            <a:endParaRPr lang="en-GB" dirty="0"/>
          </a:p>
          <a:p>
            <a:r>
              <a:rPr lang="en-GB" dirty="0"/>
              <a:t>The two ureters enter the bladder at each of the upper corners of the base and the urethra drains inferiorly from them the lower corner of the base</a:t>
            </a:r>
          </a:p>
          <a:p>
            <a:r>
              <a:rPr lang="en-GB" dirty="0"/>
              <a:t>The mucosal lining on the base of the bladder is smooth and firmly attached to the underlying smooth muscle coat of the wall unlike elsewhere in the bladder where the mucosal is folded and loosely attached to the wall</a:t>
            </a:r>
          </a:p>
          <a:p>
            <a:endParaRPr lang="en-GB" dirty="0"/>
          </a:p>
          <a:p>
            <a:r>
              <a:rPr lang="en-GB" dirty="0"/>
              <a:t>The smooth triangular area between the openings of the ureters and urethra on the inside of the bladder is known as the trigone</a:t>
            </a:r>
          </a:p>
          <a:p>
            <a:endParaRPr lang="en-GB" dirty="0"/>
          </a:p>
        </p:txBody>
      </p:sp>
    </p:spTree>
    <p:extLst>
      <p:ext uri="{BB962C8B-B14F-4D97-AF65-F5344CB8AC3E}">
        <p14:creationId xmlns:p14="http://schemas.microsoft.com/office/powerpoint/2010/main" val="2024890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8-anatomy-of-Urinary-bladder-9-638.jpg"/>
          <p:cNvPicPr>
            <a:picLocks noChangeAspect="1"/>
          </p:cNvPicPr>
          <p:nvPr/>
        </p:nvPicPr>
        <p:blipFill>
          <a:blip r:embed="rId2"/>
          <a:stretch>
            <a:fillRect/>
          </a:stretch>
        </p:blipFill>
        <p:spPr>
          <a:xfrm>
            <a:off x="816428" y="-81208"/>
            <a:ext cx="9350829"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76728-7D29-DF6A-2326-29791A9E7511}"/>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5D38E716-DFF5-B13A-B1C7-AC43774A4B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8343" y="338826"/>
            <a:ext cx="11615057" cy="6265784"/>
          </a:xfrm>
        </p:spPr>
      </p:pic>
    </p:spTree>
    <p:extLst>
      <p:ext uri="{BB962C8B-B14F-4D97-AF65-F5344CB8AC3E}">
        <p14:creationId xmlns:p14="http://schemas.microsoft.com/office/powerpoint/2010/main" val="95679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DA791-FB2F-06A2-A8E5-1F5C3C511559}"/>
              </a:ext>
            </a:extLst>
          </p:cNvPr>
          <p:cNvSpPr>
            <a:spLocks noGrp="1"/>
          </p:cNvSpPr>
          <p:nvPr>
            <p:ph type="title"/>
          </p:nvPr>
        </p:nvSpPr>
        <p:spPr>
          <a:xfrm>
            <a:off x="261257" y="250371"/>
            <a:ext cx="11092543" cy="1023259"/>
          </a:xfrm>
        </p:spPr>
        <p:txBody>
          <a:bodyPr/>
          <a:lstStyle/>
          <a:p>
            <a:r>
              <a:rPr lang="en-GB" dirty="0">
                <a:solidFill>
                  <a:schemeClr val="accent1">
                    <a:lumMod val="60000"/>
                    <a:lumOff val="40000"/>
                  </a:schemeClr>
                </a:solidFill>
              </a:rPr>
              <a:t>NECK OF BLADDER</a:t>
            </a:r>
          </a:p>
        </p:txBody>
      </p:sp>
      <p:sp>
        <p:nvSpPr>
          <p:cNvPr id="3" name="Content Placeholder 2">
            <a:extLst>
              <a:ext uri="{FF2B5EF4-FFF2-40B4-BE49-F238E27FC236}">
                <a16:creationId xmlns:a16="http://schemas.microsoft.com/office/drawing/2014/main" id="{7329FD88-19B9-81BB-1918-F97376D0F49D}"/>
              </a:ext>
            </a:extLst>
          </p:cNvPr>
          <p:cNvSpPr>
            <a:spLocks noGrp="1"/>
          </p:cNvSpPr>
          <p:nvPr>
            <p:ph idx="1"/>
          </p:nvPr>
        </p:nvSpPr>
        <p:spPr>
          <a:xfrm>
            <a:off x="261257" y="1273630"/>
            <a:ext cx="11789229" cy="5333999"/>
          </a:xfrm>
        </p:spPr>
        <p:txBody>
          <a:bodyPr>
            <a:normAutofit/>
          </a:bodyPr>
          <a:lstStyle/>
          <a:p>
            <a:r>
              <a:rPr lang="en-GB" dirty="0"/>
              <a:t>The neck of the urinary bladder surrounds the origin of the urethra at the point where the two inferolateral surfaces and the base intersect</a:t>
            </a:r>
          </a:p>
          <a:p>
            <a:endParaRPr lang="en-GB" dirty="0"/>
          </a:p>
          <a:p>
            <a:r>
              <a:rPr lang="en-GB" dirty="0"/>
              <a:t>The neck is the most inferior part of the bladder and also the most fixed part. It is anchored into position by a pair of tough fibromuscular bands</a:t>
            </a:r>
          </a:p>
          <a:p>
            <a:endParaRPr lang="en-GB" dirty="0"/>
          </a:p>
          <a:p>
            <a:r>
              <a:rPr lang="en-GB" dirty="0"/>
              <a:t>In women, the fibromuscular bands are termed </a:t>
            </a:r>
            <a:r>
              <a:rPr lang="en-GB" dirty="0" err="1"/>
              <a:t>pubovesical</a:t>
            </a:r>
            <a:r>
              <a:rPr lang="en-GB" dirty="0"/>
              <a:t> ligaments and in men is termed puboprostatic ligaments. The ligaments help support the bladder</a:t>
            </a:r>
          </a:p>
        </p:txBody>
      </p:sp>
    </p:spTree>
    <p:extLst>
      <p:ext uri="{BB962C8B-B14F-4D97-AF65-F5344CB8AC3E}">
        <p14:creationId xmlns:p14="http://schemas.microsoft.com/office/powerpoint/2010/main" val="737789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3-Urinary-bladder-13-638.jpg"/>
          <p:cNvPicPr>
            <a:picLocks noChangeAspect="1"/>
          </p:cNvPicPr>
          <p:nvPr/>
        </p:nvPicPr>
        <p:blipFill>
          <a:blip r:embed="rId2"/>
          <a:stretch>
            <a:fillRect/>
          </a:stretch>
        </p:blipFill>
        <p:spPr>
          <a:xfrm>
            <a:off x="283029" y="192349"/>
            <a:ext cx="11713027" cy="667022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1-anatomy-of-Urinary-bladder-12-638.jpg"/>
          <p:cNvPicPr>
            <a:picLocks noChangeAspect="1"/>
          </p:cNvPicPr>
          <p:nvPr/>
        </p:nvPicPr>
        <p:blipFill>
          <a:blip r:embed="rId2"/>
          <a:srcRect l="2813" r="22172" b="-1"/>
          <a:stretch>
            <a:fillRect/>
          </a:stretch>
        </p:blipFill>
        <p:spPr>
          <a:xfrm>
            <a:off x="130628" y="152400"/>
            <a:ext cx="11832771" cy="638050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C965E-FBC9-A8DB-E951-6E3152826750}"/>
              </a:ext>
            </a:extLst>
          </p:cNvPr>
          <p:cNvSpPr>
            <a:spLocks noGrp="1"/>
          </p:cNvSpPr>
          <p:nvPr>
            <p:ph type="title"/>
          </p:nvPr>
        </p:nvSpPr>
        <p:spPr>
          <a:xfrm>
            <a:off x="239485" y="169182"/>
            <a:ext cx="11713029" cy="1325563"/>
          </a:xfrm>
        </p:spPr>
        <p:txBody>
          <a:bodyPr/>
          <a:lstStyle/>
          <a:p>
            <a:r>
              <a:rPr lang="en-GB" dirty="0">
                <a:solidFill>
                  <a:schemeClr val="accent1">
                    <a:lumMod val="60000"/>
                    <a:lumOff val="40000"/>
                  </a:schemeClr>
                </a:solidFill>
              </a:rPr>
              <a:t>CLINICAL ANATOMY </a:t>
            </a:r>
          </a:p>
        </p:txBody>
      </p:sp>
      <p:sp>
        <p:nvSpPr>
          <p:cNvPr id="3" name="Content Placeholder 2">
            <a:extLst>
              <a:ext uri="{FF2B5EF4-FFF2-40B4-BE49-F238E27FC236}">
                <a16:creationId xmlns:a16="http://schemas.microsoft.com/office/drawing/2014/main" id="{531172B3-8F7B-EF1A-AFDE-CDD55835974A}"/>
              </a:ext>
            </a:extLst>
          </p:cNvPr>
          <p:cNvSpPr>
            <a:spLocks noGrp="1"/>
          </p:cNvSpPr>
          <p:nvPr>
            <p:ph idx="1"/>
          </p:nvPr>
        </p:nvSpPr>
        <p:spPr>
          <a:xfrm>
            <a:off x="250371" y="1825625"/>
            <a:ext cx="11713029" cy="4782004"/>
          </a:xfrm>
        </p:spPr>
        <p:txBody>
          <a:bodyPr/>
          <a:lstStyle/>
          <a:p>
            <a:r>
              <a:rPr lang="en-GB" dirty="0"/>
              <a:t>Bladder stones </a:t>
            </a:r>
          </a:p>
          <a:p>
            <a:endParaRPr lang="en-GB" dirty="0"/>
          </a:p>
          <a:p>
            <a:r>
              <a:rPr lang="en-GB" dirty="0"/>
              <a:t>Suprapubic Catheterization </a:t>
            </a:r>
          </a:p>
          <a:p>
            <a:endParaRPr lang="en-GB" dirty="0"/>
          </a:p>
          <a:p>
            <a:r>
              <a:rPr lang="en-GB" dirty="0"/>
              <a:t>Bladder cancer</a:t>
            </a:r>
          </a:p>
        </p:txBody>
      </p:sp>
    </p:spTree>
    <p:extLst>
      <p:ext uri="{BB962C8B-B14F-4D97-AF65-F5344CB8AC3E}">
        <p14:creationId xmlns:p14="http://schemas.microsoft.com/office/powerpoint/2010/main" val="476028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DA610-1122-3294-2560-2A61B750C164}"/>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A92170C4-8B02-29B4-2E71-4722601391B1}"/>
              </a:ext>
            </a:extLst>
          </p:cNvPr>
          <p:cNvSpPr>
            <a:spLocks noGrp="1"/>
          </p:cNvSpPr>
          <p:nvPr>
            <p:ph idx="1"/>
          </p:nvPr>
        </p:nvSpPr>
        <p:spPr/>
        <p:txBody>
          <a:bodyPr>
            <a:normAutofit/>
          </a:bodyPr>
          <a:lstStyle/>
          <a:p>
            <a:pPr algn="ctr"/>
            <a:r>
              <a:rPr lang="en-GB" sz="8800" dirty="0"/>
              <a:t>THANK YOU</a:t>
            </a:r>
          </a:p>
        </p:txBody>
      </p:sp>
    </p:spTree>
    <p:extLst>
      <p:ext uri="{BB962C8B-B14F-4D97-AF65-F5344CB8AC3E}">
        <p14:creationId xmlns:p14="http://schemas.microsoft.com/office/powerpoint/2010/main" val="25167835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938</TotalTime>
  <Words>385</Words>
  <Application>Microsoft Office PowerPoint</Application>
  <PresentationFormat>Widescreen</PresentationFormat>
  <Paragraphs>45</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URINARY BLADDER</vt:lpstr>
      <vt:lpstr>INTRODUCTION</vt:lpstr>
      <vt:lpstr>PowerPoint Presentation</vt:lpstr>
      <vt:lpstr>PowerPoint Presentation</vt:lpstr>
      <vt:lpstr>GROSS ANATOMY OF THE BLADDER</vt:lpstr>
      <vt:lpstr>GROSS ANATOMY OF THE BLADDER</vt:lpstr>
      <vt:lpstr>PowerPoint Presentation</vt:lpstr>
      <vt:lpstr>PowerPoint Presentation</vt:lpstr>
      <vt:lpstr>Relations of the urinary bladder</vt:lpstr>
      <vt:lpstr>INTERIOR OF THE URINARY BLADDDER</vt:lpstr>
      <vt:lpstr>PowerPoint Presentation</vt:lpstr>
      <vt:lpstr>PowerPoint Presentation</vt:lpstr>
      <vt:lpstr>NECK OF BLADDER</vt:lpstr>
      <vt:lpstr>PowerPoint Presentation</vt:lpstr>
      <vt:lpstr>PowerPoint Presentation</vt:lpstr>
      <vt:lpstr>CLINICAL ANATOMY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Rotimi Oso</dc:creator>
  <cp:lastModifiedBy>Rotimi Oso</cp:lastModifiedBy>
  <cp:revision>8</cp:revision>
  <dcterms:created xsi:type="dcterms:W3CDTF">2026-01-08T07:26:44Z</dcterms:created>
  <dcterms:modified xsi:type="dcterms:W3CDTF">2026-01-08T23:06:42Z</dcterms:modified>
</cp:coreProperties>
</file>