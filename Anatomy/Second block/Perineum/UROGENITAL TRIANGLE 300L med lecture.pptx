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95" r:id="rId3"/>
    <p:sldId id="404" r:id="rId4"/>
    <p:sldId id="257" r:id="rId5"/>
    <p:sldId id="392" r:id="rId6"/>
    <p:sldId id="405" r:id="rId7"/>
    <p:sldId id="396" r:id="rId8"/>
    <p:sldId id="351" r:id="rId9"/>
    <p:sldId id="271" r:id="rId10"/>
    <p:sldId id="406" r:id="rId11"/>
    <p:sldId id="376" r:id="rId12"/>
    <p:sldId id="407" r:id="rId13"/>
    <p:sldId id="273" r:id="rId14"/>
    <p:sldId id="387" r:id="rId15"/>
    <p:sldId id="408" r:id="rId16"/>
    <p:sldId id="409" r:id="rId17"/>
    <p:sldId id="410" r:id="rId18"/>
    <p:sldId id="368" r:id="rId19"/>
    <p:sldId id="388" r:id="rId20"/>
    <p:sldId id="380" r:id="rId21"/>
    <p:sldId id="299" r:id="rId22"/>
    <p:sldId id="411" r:id="rId23"/>
    <p:sldId id="413" r:id="rId24"/>
    <p:sldId id="379" r:id="rId25"/>
    <p:sldId id="284" r:id="rId26"/>
    <p:sldId id="298" r:id="rId27"/>
    <p:sldId id="297" r:id="rId28"/>
    <p:sldId id="397" r:id="rId29"/>
    <p:sldId id="307" r:id="rId30"/>
    <p:sldId id="308" r:id="rId31"/>
    <p:sldId id="293" r:id="rId32"/>
    <p:sldId id="306" r:id="rId33"/>
    <p:sldId id="398" r:id="rId34"/>
    <p:sldId id="399" r:id="rId35"/>
    <p:sldId id="419" r:id="rId36"/>
    <p:sldId id="420" r:id="rId37"/>
    <p:sldId id="400" r:id="rId38"/>
    <p:sldId id="311" r:id="rId39"/>
    <p:sldId id="415" r:id="rId40"/>
    <p:sldId id="278" r:id="rId41"/>
    <p:sldId id="417" r:id="rId42"/>
    <p:sldId id="414" r:id="rId43"/>
    <p:sldId id="289" r:id="rId44"/>
    <p:sldId id="300" r:id="rId45"/>
    <p:sldId id="301" r:id="rId46"/>
    <p:sldId id="302" r:id="rId47"/>
    <p:sldId id="303" r:id="rId48"/>
    <p:sldId id="418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73919-BEB6-73ED-D079-1BC8A9914B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7E83BA-729A-BF88-2170-DD692BE71B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9654D-99D2-C416-1F41-C6231D476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6302F-349F-4DC1-96FD-0CD3C8F89781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A314C-BC9C-46BB-5233-C621EAA2F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F30F2-8D05-31C9-586A-1E7E9A9C7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FA750-91C6-4172-B0E2-BACAA41870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788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4519E-31CB-C954-FB04-E9CBB1003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ED0A9-B920-B2DE-CC07-FC844241B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08A9A-B792-019C-459C-DCE8F027C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6302F-349F-4DC1-96FD-0CD3C8F89781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5168-9F89-3D67-7752-563911D12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F4425-B598-20C5-AFD8-3D43EC736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FA750-91C6-4172-B0E2-BACAA41870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2288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D695B-6D5D-4BEC-D2FE-8A32B52A7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F4AEDF-7699-A433-FB8F-5767DE196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309E2-9B64-B0F7-F4A7-AABEA05AD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6302F-349F-4DC1-96FD-0CD3C8F89781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C6C26-DCC7-D2DD-BD3E-B11B80BFB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86AB7-83E6-8B2F-619E-2E9D593C7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FA750-91C6-4172-B0E2-BACAA41870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3206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73EB4-F37D-68C2-6B55-F9A75F65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87713-4EC2-AA67-5576-38DDDF822F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6EFFD-ADC0-7600-8E61-25B951D9D5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8FC2C-C4FE-48F8-FA02-DDD747349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6302F-349F-4DC1-96FD-0CD3C8F89781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81817F-769A-99F9-5D78-B6734FBDF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CAC059-362E-2848-50D9-76803A0B7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FA750-91C6-4172-B0E2-BACAA41870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213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D867D-D81D-8E83-0BBA-FC468AEF1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13E66-F609-6B6C-8201-5BC03C621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1DBE6-33C4-73D2-D68E-F855B11AD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BD6FF2-82B5-C752-FB39-B023FC2F0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C2FA8-8A9D-CB04-35CB-E4E5A8E4ED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10F03-C238-EAA2-FBAF-DEC0D7DE6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6302F-349F-4DC1-96FD-0CD3C8F89781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1C9AC2-03BC-897D-0C8C-C19685C11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46F9DC-069D-E3B3-4A84-A066A4E7C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FA750-91C6-4172-B0E2-BACAA41870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5032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E25EF-2C7B-9647-A0A8-853F5E54A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67D1D4-1C11-5E2D-E116-AE233ACAA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6302F-349F-4DC1-96FD-0CD3C8F89781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EE2A3-8726-929E-0064-763D93BF9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24233-9461-6AEA-8736-BA9103B7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FA750-91C6-4172-B0E2-BACAA41870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9644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08A57F-6F3F-3BA8-8F54-FF71E354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6302F-349F-4DC1-96FD-0CD3C8F89781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B77F31-C67B-A61C-64ED-CA9631BF9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70CA2-86A3-72D2-CE23-A96D000B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FA750-91C6-4172-B0E2-BACAA41870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98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E6D69-DCF8-E0F7-6846-81FAEAAFB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DB7A6-02D5-9644-01E5-71AE63828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58DCB-E21A-9CFC-A9F4-98E818E49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D8B49B-852F-DFFC-AA7A-A317A70C2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6302F-349F-4DC1-96FD-0CD3C8F89781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E2F90-CACC-F736-E279-80ED8D4BA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53B62-47C7-EB48-6391-84672F617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FA750-91C6-4172-B0E2-BACAA41870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854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C8A70-E0E9-A3FA-7C46-F74C80B41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38B792-F1D9-958F-DF26-7F46DED15B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8472D7-CA53-5937-1794-0027DAAB98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3FC81B-8FEF-8A1D-6B89-056528F02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6302F-349F-4DC1-96FD-0CD3C8F89781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BD519-AB5C-3C17-2C34-E9E6A7D15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9B3C8B-968F-75FE-25F1-9FDD479AF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FA750-91C6-4172-B0E2-BACAA41870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299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8A263-FBAA-26A1-10A5-F977A2F0D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555559-345C-C602-0BBE-2B5BDC507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AE862-36A5-95D7-AFC3-4B5A17E88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6302F-349F-4DC1-96FD-0CD3C8F89781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D022B-C352-63A5-FC43-CE3978AA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7634-5DAF-2760-DD59-93ADA621B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FA750-91C6-4172-B0E2-BACAA41870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6308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39A8E0-D439-CFF4-5E96-7F04A40D72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069EFD-6F71-6457-F305-ED125E551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8973E-BD78-ACC0-4E62-3CE66A62B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6302F-349F-4DC1-96FD-0CD3C8F89781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5DDFA-141D-8476-8EFE-C49B05C0D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85EB2-0AC9-F3B1-F75A-C07556770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FA750-91C6-4172-B0E2-BACAA41870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400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8A720F-9586-D859-4E03-E450497D1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7F927-8C14-C482-77E9-253D67EB5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9585E-9317-E7CA-ED1C-0FF3287F8C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A6302F-349F-4DC1-96FD-0CD3C8F89781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4A1AC-1C22-3ACF-7C0D-AD7DB9BA9B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CAEE3-1E33-95F5-A47B-21B6A1500B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0FA750-91C6-4172-B0E2-BACAA41870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2899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C63DB-7FF8-394D-85D3-786A67A614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UROGENITAL TRIANGLE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92BE0B-0AF4-8E63-8487-04D9F04BBD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sz="3600" dirty="0"/>
              <a:t>DR OSO</a:t>
            </a:r>
          </a:p>
        </p:txBody>
      </p:sp>
    </p:spTree>
    <p:extLst>
      <p:ext uri="{BB962C8B-B14F-4D97-AF65-F5344CB8AC3E}">
        <p14:creationId xmlns:p14="http://schemas.microsoft.com/office/powerpoint/2010/main" val="40770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9F094-0A7A-406A-D8A9-E2C2833CA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3" y="152401"/>
            <a:ext cx="11887200" cy="838199"/>
          </a:xfrm>
        </p:spPr>
        <p:txBody>
          <a:bodyPr/>
          <a:lstStyle/>
          <a:p>
            <a:r>
              <a:rPr lang="en-GB" b="1" dirty="0"/>
              <a:t>OUTLINE</a:t>
            </a:r>
            <a:r>
              <a:rPr lang="en-GB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266E1-27B2-93F7-4F36-E176732AE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057" y="1143000"/>
            <a:ext cx="11821886" cy="5562599"/>
          </a:xfrm>
        </p:spPr>
        <p:txBody>
          <a:bodyPr>
            <a:normAutofit fontScale="92500" lnSpcReduction="20000"/>
          </a:bodyPr>
          <a:lstStyle/>
          <a:p>
            <a:r>
              <a:rPr lang="en-GB" sz="3200" dirty="0"/>
              <a:t>Introduction </a:t>
            </a:r>
          </a:p>
          <a:p>
            <a:endParaRPr lang="en-GB" sz="3200" dirty="0"/>
          </a:p>
          <a:p>
            <a:r>
              <a:rPr lang="en-GB" sz="3200" dirty="0"/>
              <a:t>Boundaries </a:t>
            </a:r>
          </a:p>
          <a:p>
            <a:endParaRPr lang="en-GB" sz="3200" dirty="0"/>
          </a:p>
          <a:p>
            <a:r>
              <a:rPr lang="en-GB" sz="3200" dirty="0"/>
              <a:t>Layers and contents </a:t>
            </a:r>
          </a:p>
          <a:p>
            <a:pPr lvl="1"/>
            <a:r>
              <a:rPr lang="en-GB" dirty="0"/>
              <a:t>Superficial perineal pouch</a:t>
            </a:r>
          </a:p>
          <a:p>
            <a:pPr lvl="1"/>
            <a:r>
              <a:rPr lang="en-GB" dirty="0"/>
              <a:t>Deep perineal pouch</a:t>
            </a:r>
          </a:p>
          <a:p>
            <a:pPr lvl="1"/>
            <a:r>
              <a:rPr lang="en-GB" dirty="0"/>
              <a:t>Perineal membrane</a:t>
            </a:r>
          </a:p>
          <a:p>
            <a:r>
              <a:rPr lang="en-GB" sz="3200" dirty="0"/>
              <a:t>Blood supply </a:t>
            </a:r>
          </a:p>
          <a:p>
            <a:endParaRPr lang="en-GB" sz="3200" dirty="0"/>
          </a:p>
          <a:p>
            <a:r>
              <a:rPr lang="en-GB" sz="3200" dirty="0"/>
              <a:t>Nerve supply </a:t>
            </a:r>
          </a:p>
          <a:p>
            <a:endParaRPr lang="en-GB" sz="3200" dirty="0"/>
          </a:p>
          <a:p>
            <a:r>
              <a:rPr lang="en-GB" sz="3200" dirty="0"/>
              <a:t>Clinical importance </a:t>
            </a:r>
          </a:p>
        </p:txBody>
      </p:sp>
    </p:spTree>
    <p:extLst>
      <p:ext uri="{BB962C8B-B14F-4D97-AF65-F5344CB8AC3E}">
        <p14:creationId xmlns:p14="http://schemas.microsoft.com/office/powerpoint/2010/main" val="1218508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5E0DD-E966-AE59-6CC3-02C495603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Perineum-2-8-2048.jpg">
            <a:extLst>
              <a:ext uri="{FF2B5EF4-FFF2-40B4-BE49-F238E27FC236}">
                <a16:creationId xmlns:a16="http://schemas.microsoft.com/office/drawing/2014/main" id="{BFD50F81-3519-A005-14EA-C98CFED16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" y="83127"/>
            <a:ext cx="11982203" cy="6578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885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08436-F72E-2B10-2C55-9F58574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29" y="97971"/>
            <a:ext cx="11723914" cy="1219201"/>
          </a:xfrm>
        </p:spPr>
        <p:txBody>
          <a:bodyPr/>
          <a:lstStyle/>
          <a:p>
            <a:r>
              <a:rPr lang="en-GB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A1056-3325-4C8A-A800-C050144CB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9" y="1534886"/>
            <a:ext cx="11723914" cy="5094514"/>
          </a:xfrm>
        </p:spPr>
        <p:txBody>
          <a:bodyPr>
            <a:normAutofit/>
          </a:bodyPr>
          <a:lstStyle/>
          <a:p>
            <a:r>
              <a:rPr lang="en-GB" sz="3600" dirty="0"/>
              <a:t>The urogenital triangle of the perineum is the anterior half of the perineum</a:t>
            </a:r>
          </a:p>
          <a:p>
            <a:endParaRPr lang="en-GB" sz="3600" dirty="0"/>
          </a:p>
          <a:p>
            <a:endParaRPr lang="en-GB" sz="3600" dirty="0"/>
          </a:p>
          <a:p>
            <a:r>
              <a:rPr lang="en-GB" sz="3600" dirty="0"/>
              <a:t> It’s concerned mainly with urinary and reproductive function</a:t>
            </a:r>
          </a:p>
        </p:txBody>
      </p:sp>
    </p:spTree>
    <p:extLst>
      <p:ext uri="{BB962C8B-B14F-4D97-AF65-F5344CB8AC3E}">
        <p14:creationId xmlns:p14="http://schemas.microsoft.com/office/powerpoint/2010/main" val="1349990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12AB3-5A17-F2FF-2FF8-8292CAEDB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29" y="141515"/>
            <a:ext cx="11778342" cy="903514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b="1" dirty="0"/>
              <a:t>Boundaries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DB298-D065-2D56-60D3-923D2F1F7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9" y="1045028"/>
            <a:ext cx="11843657" cy="5595257"/>
          </a:xfrm>
        </p:spPr>
        <p:txBody>
          <a:bodyPr>
            <a:normAutofit/>
          </a:bodyPr>
          <a:lstStyle/>
          <a:p>
            <a:r>
              <a:rPr lang="en-GB" dirty="0"/>
              <a:t>Anterior: inferior border of pubic symphysis</a:t>
            </a:r>
          </a:p>
          <a:p>
            <a:endParaRPr lang="en-GB" dirty="0"/>
          </a:p>
          <a:p>
            <a:r>
              <a:rPr lang="en-GB" dirty="0"/>
              <a:t>Lateral: right and left </a:t>
            </a:r>
            <a:r>
              <a:rPr lang="en-GB" dirty="0" err="1"/>
              <a:t>ischiopupic</a:t>
            </a:r>
            <a:r>
              <a:rPr lang="en-GB" dirty="0"/>
              <a:t> rami</a:t>
            </a:r>
          </a:p>
          <a:p>
            <a:endParaRPr lang="en-GB" dirty="0"/>
          </a:p>
          <a:p>
            <a:r>
              <a:rPr lang="en-GB" dirty="0"/>
              <a:t>Posterior: imaginary line joining the ischial tuberosities </a:t>
            </a:r>
          </a:p>
          <a:p>
            <a:endParaRPr lang="en-GB" dirty="0"/>
          </a:p>
          <a:p>
            <a:r>
              <a:rPr lang="en-GB" dirty="0"/>
              <a:t>Roof: perineal membrane </a:t>
            </a:r>
          </a:p>
          <a:p>
            <a:endParaRPr lang="en-GB" dirty="0"/>
          </a:p>
          <a:p>
            <a:r>
              <a:rPr lang="en-GB" dirty="0"/>
              <a:t>Floor: skin and superficial fascia of the perineum</a:t>
            </a:r>
          </a:p>
        </p:txBody>
      </p:sp>
    </p:spTree>
    <p:extLst>
      <p:ext uri="{BB962C8B-B14F-4D97-AF65-F5344CB8AC3E}">
        <p14:creationId xmlns:p14="http://schemas.microsoft.com/office/powerpoint/2010/main" val="829192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F6A5F49-22B6-08A5-16AC-86D44AC7504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22455"/>
          <a:stretch>
            <a:fillRect/>
          </a:stretch>
        </p:blipFill>
        <p:spPr bwMode="auto">
          <a:xfrm>
            <a:off x="-6588" y="10"/>
            <a:ext cx="12198588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389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84630-9700-0ECD-D1F3-7489F7786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29" y="163286"/>
            <a:ext cx="11767457" cy="751114"/>
          </a:xfrm>
        </p:spPr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GB" b="1" dirty="0"/>
              <a:t>Layers and Contents 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A0D28-8C70-34FB-8FF2-353CC5C3D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3" y="990600"/>
            <a:ext cx="11843657" cy="5704114"/>
          </a:xfrm>
        </p:spPr>
        <p:txBody>
          <a:bodyPr>
            <a:normAutofit/>
          </a:bodyPr>
          <a:lstStyle/>
          <a:p>
            <a:endParaRPr lang="en-GB" sz="3200" b="1" u="sng" dirty="0"/>
          </a:p>
          <a:p>
            <a:r>
              <a:rPr lang="en-GB" sz="3200" b="1" u="sng" dirty="0"/>
              <a:t>Layers </a:t>
            </a:r>
            <a:endParaRPr lang="en-GB" sz="3200" b="1" dirty="0"/>
          </a:p>
          <a:p>
            <a:r>
              <a:rPr lang="en-GB" sz="3200" dirty="0"/>
              <a:t>Skin </a:t>
            </a:r>
          </a:p>
          <a:p>
            <a:r>
              <a:rPr lang="en-GB" sz="3200" dirty="0"/>
              <a:t>Superficial fascia</a:t>
            </a:r>
          </a:p>
          <a:p>
            <a:r>
              <a:rPr lang="en-GB" sz="3200" dirty="0"/>
              <a:t>Superficial perineal pouch</a:t>
            </a:r>
          </a:p>
          <a:p>
            <a:r>
              <a:rPr lang="en-GB" sz="3200" dirty="0"/>
              <a:t>Perineal membrane </a:t>
            </a:r>
          </a:p>
          <a:p>
            <a:r>
              <a:rPr lang="en-GB" sz="3200" dirty="0"/>
              <a:t>Deep perineal pouch</a:t>
            </a:r>
          </a:p>
        </p:txBody>
      </p:sp>
    </p:spTree>
    <p:extLst>
      <p:ext uri="{BB962C8B-B14F-4D97-AF65-F5344CB8AC3E}">
        <p14:creationId xmlns:p14="http://schemas.microsoft.com/office/powerpoint/2010/main" val="1653891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Perineum-2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05" y="190004"/>
            <a:ext cx="11804073" cy="649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057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anatomy-of-Perineum-urogenital-triangle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53" y="356260"/>
            <a:ext cx="11934702" cy="639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186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3DC37-FA55-83B9-60E6-D054A1F4E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" y="87086"/>
            <a:ext cx="11789229" cy="1023258"/>
          </a:xfrm>
        </p:spPr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GB" b="1" dirty="0"/>
              <a:t>Superficial fascia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B9498-189F-03E9-9FD7-5B67A3AFF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72" y="1110344"/>
            <a:ext cx="11103428" cy="5066619"/>
          </a:xfrm>
        </p:spPr>
        <p:txBody>
          <a:bodyPr/>
          <a:lstStyle/>
          <a:p>
            <a:r>
              <a:rPr lang="en-GB" sz="3200" dirty="0"/>
              <a:t>Fatty layer (Camper’s fascia)- minimal in the perineum</a:t>
            </a:r>
          </a:p>
          <a:p>
            <a:endParaRPr lang="en-GB" sz="3200" dirty="0"/>
          </a:p>
          <a:p>
            <a:r>
              <a:rPr lang="en-GB" sz="3200" dirty="0"/>
              <a:t>Membranous layer (Colle’s fascia)</a:t>
            </a:r>
          </a:p>
          <a:p>
            <a:pPr lvl="1"/>
            <a:r>
              <a:rPr lang="en-GB" sz="3200" dirty="0"/>
              <a:t> Continuous with Scarpa’s fascia of the anterior abdominal wall</a:t>
            </a:r>
          </a:p>
          <a:p>
            <a:pPr lvl="1"/>
            <a:r>
              <a:rPr lang="en-GB" sz="3200" dirty="0"/>
              <a:t>Important in extravasation of urine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3239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Perineum-2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3" y="0"/>
            <a:ext cx="117892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61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BD74A-D92C-CBF8-87ED-926C3BE4E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Superficial perineal pouch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D208F-81AF-CDC0-60E5-273D44CF2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1104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Perineum-2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53" y="166254"/>
            <a:ext cx="11910951" cy="653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274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anatomy-of-Perineum-urogenital-triangle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" y="158892"/>
            <a:ext cx="11985171" cy="650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201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Perineum-2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29" y="142504"/>
            <a:ext cx="11827823" cy="655517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Perineum-2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56" y="118752"/>
            <a:ext cx="11851574" cy="661455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046B8-5BB5-BBBD-AF83-484ECF69C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Perineal membrane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CA822-FC66-D699-BF38-5D236F983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037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Perineum-2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55" y="285008"/>
            <a:ext cx="11815948" cy="647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399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anatomy-of-Perineum-urogenital-triangle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767"/>
            <a:ext cx="11985171" cy="658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678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-Perineum-2-3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29" y="0"/>
            <a:ext cx="11887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6918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4-Perineum-2-4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14" y="0"/>
            <a:ext cx="118980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8842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0730F-80D2-A4C9-33B6-A2D2C8495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3" y="365126"/>
            <a:ext cx="11843657" cy="984704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Deep perineal pouch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86A50-1F1B-5E80-C179-130BA465F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43" y="1262743"/>
            <a:ext cx="11767457" cy="5323114"/>
          </a:xfrm>
        </p:spPr>
        <p:txBody>
          <a:bodyPr>
            <a:normAutofit/>
          </a:bodyPr>
          <a:lstStyle/>
          <a:p>
            <a:r>
              <a:rPr lang="en-GB" sz="3200" dirty="0"/>
              <a:t>Bounded by:</a:t>
            </a:r>
          </a:p>
          <a:p>
            <a:endParaRPr lang="en-GB" sz="3200" dirty="0"/>
          </a:p>
          <a:p>
            <a:r>
              <a:rPr lang="en-GB" sz="3200" dirty="0"/>
              <a:t>Inferiorly: perineal membrane </a:t>
            </a:r>
          </a:p>
          <a:p>
            <a:endParaRPr lang="en-GB" sz="3200" dirty="0"/>
          </a:p>
          <a:p>
            <a:r>
              <a:rPr lang="en-GB" sz="3200" dirty="0"/>
              <a:t>Superiorly: pelvic diaphragm</a:t>
            </a:r>
          </a:p>
        </p:txBody>
      </p:sp>
    </p:spTree>
    <p:extLst>
      <p:ext uri="{BB962C8B-B14F-4D97-AF65-F5344CB8AC3E}">
        <p14:creationId xmlns:p14="http://schemas.microsoft.com/office/powerpoint/2010/main" val="40486071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5A525-9182-FDFE-1812-FBC93081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943" y="97971"/>
            <a:ext cx="11800114" cy="1091067"/>
          </a:xfrm>
        </p:spPr>
        <p:txBody>
          <a:bodyPr/>
          <a:lstStyle/>
          <a:p>
            <a:r>
              <a:rPr lang="en-GB" b="1" dirty="0"/>
              <a:t>Contents of the deep perineal pouch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978E9-7CF4-F240-66DB-D91195F4C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359" y="1023145"/>
            <a:ext cx="5157787" cy="823912"/>
          </a:xfrm>
        </p:spPr>
        <p:txBody>
          <a:bodyPr/>
          <a:lstStyle/>
          <a:p>
            <a:r>
              <a:rPr lang="en-GB" sz="3200" dirty="0"/>
              <a:t>Male</a:t>
            </a:r>
            <a:r>
              <a:rPr lang="en-GB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436CC2-FDCF-0E9D-2EE2-5AE99741C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5944" y="1959429"/>
            <a:ext cx="5801632" cy="4800600"/>
          </a:xfrm>
        </p:spPr>
        <p:txBody>
          <a:bodyPr/>
          <a:lstStyle/>
          <a:p>
            <a:r>
              <a:rPr lang="en-GB" dirty="0"/>
              <a:t>External urethral sphincter</a:t>
            </a:r>
          </a:p>
          <a:p>
            <a:endParaRPr lang="en-GB" dirty="0"/>
          </a:p>
          <a:p>
            <a:r>
              <a:rPr lang="en-GB" dirty="0"/>
              <a:t>Membranous urethra</a:t>
            </a:r>
          </a:p>
          <a:p>
            <a:endParaRPr lang="en-GB" dirty="0"/>
          </a:p>
          <a:p>
            <a:r>
              <a:rPr lang="en-GB" dirty="0" err="1"/>
              <a:t>Bulbourethra</a:t>
            </a:r>
            <a:r>
              <a:rPr lang="en-GB" dirty="0"/>
              <a:t> (Cowpea’s) glands</a:t>
            </a:r>
          </a:p>
          <a:p>
            <a:endParaRPr lang="en-GB" dirty="0"/>
          </a:p>
          <a:p>
            <a:r>
              <a:rPr lang="en-GB" dirty="0"/>
              <a:t>Deep transverse perineal muscle</a:t>
            </a:r>
          </a:p>
          <a:p>
            <a:endParaRPr lang="en-GB" dirty="0"/>
          </a:p>
          <a:p>
            <a:r>
              <a:rPr lang="en-GB" dirty="0"/>
              <a:t>Dorsal nerve and vessels of penis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4ACE82-7464-D71B-6AF1-17E1DD61E3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20543" y="1023144"/>
            <a:ext cx="5183188" cy="823912"/>
          </a:xfrm>
        </p:spPr>
        <p:txBody>
          <a:bodyPr>
            <a:normAutofit/>
          </a:bodyPr>
          <a:lstStyle/>
          <a:p>
            <a:r>
              <a:rPr lang="en-GB" sz="3200" dirty="0"/>
              <a:t>Female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96D50B-2035-485F-80C5-D5DA9F6438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1847056"/>
            <a:ext cx="5801631" cy="4800600"/>
          </a:xfrm>
        </p:spPr>
        <p:txBody>
          <a:bodyPr/>
          <a:lstStyle/>
          <a:p>
            <a:r>
              <a:rPr lang="en-GB" dirty="0"/>
              <a:t>External urethral sphincter </a:t>
            </a:r>
          </a:p>
          <a:p>
            <a:endParaRPr lang="en-GB" dirty="0"/>
          </a:p>
          <a:p>
            <a:r>
              <a:rPr lang="en-GB" dirty="0"/>
              <a:t>Compressor urethra </a:t>
            </a:r>
          </a:p>
          <a:p>
            <a:endParaRPr lang="en-GB" dirty="0"/>
          </a:p>
          <a:p>
            <a:r>
              <a:rPr lang="en-GB" dirty="0" err="1"/>
              <a:t>urethrovagina;l</a:t>
            </a:r>
            <a:r>
              <a:rPr lang="en-GB" dirty="0"/>
              <a:t> sphincter </a:t>
            </a:r>
          </a:p>
          <a:p>
            <a:endParaRPr lang="en-GB" dirty="0"/>
          </a:p>
          <a:p>
            <a:r>
              <a:rPr lang="en-GB" dirty="0"/>
              <a:t>Deep transverse perineal muscle </a:t>
            </a:r>
          </a:p>
        </p:txBody>
      </p:sp>
    </p:spTree>
    <p:extLst>
      <p:ext uri="{BB962C8B-B14F-4D97-AF65-F5344CB8AC3E}">
        <p14:creationId xmlns:p14="http://schemas.microsoft.com/office/powerpoint/2010/main" val="15208625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-Perineum-2-3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43" y="0"/>
            <a:ext cx="118001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9336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Perineum-2-2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3" y="0"/>
            <a:ext cx="118545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801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3-Perineum-2-4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0"/>
            <a:ext cx="11908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3823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2-Perineum-2-4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6" y="0"/>
            <a:ext cx="117892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0671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C5ACB-76A8-4FE7-0121-2BA01D065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767458" cy="1325563"/>
          </a:xfrm>
        </p:spPr>
        <p:txBody>
          <a:bodyPr/>
          <a:lstStyle/>
          <a:p>
            <a:r>
              <a:rPr lang="en-GB" dirty="0"/>
              <a:t>Neurovascular supply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B1B16-97EF-51C6-FB04-7026904EF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171" y="1589314"/>
            <a:ext cx="11843658" cy="5061857"/>
          </a:xfrm>
        </p:spPr>
        <p:txBody>
          <a:bodyPr>
            <a:normAutofit/>
          </a:bodyPr>
          <a:lstStyle/>
          <a:p>
            <a:r>
              <a:rPr lang="en-GB" sz="3200" dirty="0"/>
              <a:t>Nerve: Pudendal nerve</a:t>
            </a:r>
          </a:p>
          <a:p>
            <a:endParaRPr lang="en-GB" sz="3200" dirty="0"/>
          </a:p>
          <a:p>
            <a:r>
              <a:rPr lang="en-GB" sz="3200" dirty="0"/>
              <a:t>Artery: Internal pudendal artery</a:t>
            </a:r>
          </a:p>
          <a:p>
            <a:endParaRPr lang="en-GB" sz="3200" dirty="0"/>
          </a:p>
          <a:p>
            <a:r>
              <a:rPr lang="en-GB" sz="3200" dirty="0"/>
              <a:t>Vein: Internal pudendal vein</a:t>
            </a:r>
          </a:p>
        </p:txBody>
      </p:sp>
    </p:spTree>
    <p:extLst>
      <p:ext uri="{BB962C8B-B14F-4D97-AF65-F5344CB8AC3E}">
        <p14:creationId xmlns:p14="http://schemas.microsoft.com/office/powerpoint/2010/main" val="38175917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2-Perineum-2-5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71" y="0"/>
            <a:ext cx="118218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0897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3-Perineum-2-5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43" y="0"/>
            <a:ext cx="117674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2259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8-Perineum-2-3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4603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1-Perineum-2-5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7" y="0"/>
            <a:ext cx="118436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2491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3F22B-2C03-6E22-3FE8-85E7B2395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14" y="185057"/>
            <a:ext cx="11811000" cy="1023257"/>
          </a:xfrm>
        </p:spPr>
        <p:txBody>
          <a:bodyPr/>
          <a:lstStyle/>
          <a:p>
            <a:r>
              <a:rPr lang="en-GB" dirty="0"/>
              <a:t>Function of the urogenital triangle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DF229-A98B-F2B2-7A91-A8215C74B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132114"/>
            <a:ext cx="11908972" cy="5627915"/>
          </a:xfrm>
        </p:spPr>
        <p:txBody>
          <a:bodyPr>
            <a:normAutofit/>
          </a:bodyPr>
          <a:lstStyle/>
          <a:p>
            <a:r>
              <a:rPr lang="en-GB" sz="3200" dirty="0"/>
              <a:t>Supports external genitalia</a:t>
            </a:r>
          </a:p>
          <a:p>
            <a:endParaRPr lang="en-GB" sz="3200" dirty="0"/>
          </a:p>
          <a:p>
            <a:r>
              <a:rPr lang="en-GB" sz="3200" dirty="0"/>
              <a:t>Maintain urinary continence</a:t>
            </a:r>
          </a:p>
          <a:p>
            <a:endParaRPr lang="en-GB" sz="3200" dirty="0"/>
          </a:p>
          <a:p>
            <a:r>
              <a:rPr lang="en-GB" sz="3200" dirty="0"/>
              <a:t> Assist in sexual function</a:t>
            </a:r>
          </a:p>
          <a:p>
            <a:endParaRPr lang="en-GB" sz="3200" dirty="0"/>
          </a:p>
          <a:p>
            <a:r>
              <a:rPr lang="en-GB" sz="3200" dirty="0"/>
              <a:t>Provides structural support to pelvic organs </a:t>
            </a:r>
          </a:p>
        </p:txBody>
      </p:sp>
    </p:spTree>
    <p:extLst>
      <p:ext uri="{BB962C8B-B14F-4D97-AF65-F5344CB8AC3E}">
        <p14:creationId xmlns:p14="http://schemas.microsoft.com/office/powerpoint/2010/main" val="26157292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A4FCE-1CEB-7F5B-960C-76169489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86" y="87086"/>
            <a:ext cx="11876314" cy="1088572"/>
          </a:xfrm>
        </p:spPr>
        <p:txBody>
          <a:bodyPr/>
          <a:lstStyle/>
          <a:p>
            <a:r>
              <a:rPr lang="en-GB" dirty="0"/>
              <a:t>Clinical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23CEC-7170-6163-1580-9ABE9406E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12370"/>
            <a:ext cx="11876314" cy="5758543"/>
          </a:xfrm>
        </p:spPr>
        <p:txBody>
          <a:bodyPr>
            <a:normAutofit/>
          </a:bodyPr>
          <a:lstStyle/>
          <a:p>
            <a:r>
              <a:rPr lang="en-GB" dirty="0"/>
              <a:t>Urethral injury and urine extravasation</a:t>
            </a:r>
          </a:p>
          <a:p>
            <a:endParaRPr lang="en-GB" dirty="0"/>
          </a:p>
          <a:p>
            <a:r>
              <a:rPr lang="en-GB" dirty="0"/>
              <a:t>Episiotomy (female)</a:t>
            </a:r>
          </a:p>
          <a:p>
            <a:endParaRPr lang="en-GB" dirty="0"/>
          </a:p>
          <a:p>
            <a:r>
              <a:rPr lang="en-GB" dirty="0"/>
              <a:t>Perineal trauma</a:t>
            </a:r>
          </a:p>
          <a:p>
            <a:endParaRPr lang="en-GB" dirty="0"/>
          </a:p>
          <a:p>
            <a:r>
              <a:rPr lang="en-GB" dirty="0"/>
              <a:t>Pudendal nerve block</a:t>
            </a:r>
          </a:p>
          <a:p>
            <a:endParaRPr lang="en-GB" dirty="0"/>
          </a:p>
          <a:p>
            <a:r>
              <a:rPr lang="en-GB" dirty="0"/>
              <a:t>Infections of the perineal spaces </a:t>
            </a:r>
          </a:p>
        </p:txBody>
      </p:sp>
    </p:spTree>
    <p:extLst>
      <p:ext uri="{BB962C8B-B14F-4D97-AF65-F5344CB8AC3E}">
        <p14:creationId xmlns:p14="http://schemas.microsoft.com/office/powerpoint/2010/main" val="14384255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D8894-A346-AE3A-64E0-DAAB3A39F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172C6-BC19-6B7E-2203-25598C08D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54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502692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62BD0-65A8-7BD5-9BC9-73B800A26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Male urogenital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8297E-7284-0D74-2F5E-606AD787E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5194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3" name="Freeform: Shape 206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1A994A-103E-FF77-EC6C-B314F5847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Male urogenital system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DF6FB25-835A-975D-EDC0-A4A729BA8D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06037" y="174171"/>
            <a:ext cx="7211792" cy="6216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46215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6-Perineum-2-5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5912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D3D55-460D-6334-2CDA-058230EF0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86" y="97971"/>
            <a:ext cx="11963400" cy="583067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Male urethra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7F6AB-624B-64E1-448B-9A0F54EA0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6" y="870857"/>
            <a:ext cx="11887200" cy="5889172"/>
          </a:xfrm>
        </p:spPr>
        <p:txBody>
          <a:bodyPr>
            <a:normAutofit lnSpcReduction="10000"/>
          </a:bodyPr>
          <a:lstStyle/>
          <a:p>
            <a:r>
              <a:rPr lang="en-GB" dirty="0"/>
              <a:t> It extends from the internal urethral orifice in the bladder to the external urethral orifice at the tip of the meatus </a:t>
            </a:r>
          </a:p>
          <a:p>
            <a:endParaRPr lang="en-GB" dirty="0"/>
          </a:p>
          <a:p>
            <a:r>
              <a:rPr lang="en-GB" dirty="0"/>
              <a:t>Roughly S-shaped</a:t>
            </a:r>
          </a:p>
          <a:p>
            <a:r>
              <a:rPr lang="en-GB" dirty="0"/>
              <a:t>Length varies from 17.5cm to 20cm </a:t>
            </a:r>
          </a:p>
          <a:p>
            <a:endParaRPr lang="en-GB" dirty="0"/>
          </a:p>
          <a:p>
            <a:r>
              <a:rPr lang="en-GB" dirty="0"/>
              <a:t>Urethral is divided into:</a:t>
            </a:r>
          </a:p>
          <a:p>
            <a:pPr lvl="1"/>
            <a:r>
              <a:rPr lang="en-GB" dirty="0"/>
              <a:t>Pre-prostatic urethra (0.5-1.5)- intramural segment extending from the bladder neck to the prostate</a:t>
            </a:r>
          </a:p>
          <a:p>
            <a:pPr lvl="1"/>
            <a:r>
              <a:rPr lang="en-GB" dirty="0"/>
              <a:t>Prostatic urethra (3-4cm)- passes through the prostate gland, receiving the ejaculatory duct</a:t>
            </a:r>
          </a:p>
          <a:p>
            <a:pPr lvl="1"/>
            <a:r>
              <a:rPr lang="en-GB" dirty="0"/>
              <a:t>Membranous urethra (1-2cm)-the shortest, narrowest and least </a:t>
            </a:r>
            <a:r>
              <a:rPr lang="en-GB" dirty="0" err="1"/>
              <a:t>distensiblepart</a:t>
            </a:r>
            <a:r>
              <a:rPr lang="en-GB" dirty="0"/>
              <a:t> passing through the urogenital diaphragm and surrounded by the external sphincter</a:t>
            </a:r>
          </a:p>
          <a:p>
            <a:pPr lvl="1"/>
            <a:r>
              <a:rPr lang="en-GB" dirty="0"/>
              <a:t>Penile urethra (15cm). The longest part is enclosed within the corpus spongiosum, which is further divided into the bulbar and pendulous part</a:t>
            </a:r>
          </a:p>
        </p:txBody>
      </p:sp>
    </p:spTree>
    <p:extLst>
      <p:ext uri="{BB962C8B-B14F-4D97-AF65-F5344CB8AC3E}">
        <p14:creationId xmlns:p14="http://schemas.microsoft.com/office/powerpoint/2010/main" val="20696937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Urogenital-triangle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5" y="0"/>
            <a:ext cx="1193074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66449-90D5-3642-5FFB-D9ABDDC8C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5" y="174172"/>
            <a:ext cx="11810999" cy="870858"/>
          </a:xfrm>
        </p:spPr>
        <p:txBody>
          <a:bodyPr/>
          <a:lstStyle/>
          <a:p>
            <a:r>
              <a:rPr lang="en-GB" dirty="0"/>
              <a:t>Blood supply of the male urethra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672FB-F36F-8BD9-9F8D-FF1CF70E2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6" y="1545771"/>
            <a:ext cx="11811000" cy="5138058"/>
          </a:xfrm>
        </p:spPr>
        <p:txBody>
          <a:bodyPr>
            <a:normAutofit/>
          </a:bodyPr>
          <a:lstStyle/>
          <a:p>
            <a:r>
              <a:rPr lang="en-GB" dirty="0"/>
              <a:t>The arterial supply of the urethra is primarily from the bulbar arteries, which are proximal branches of the internal pudendal artery</a:t>
            </a:r>
          </a:p>
          <a:p>
            <a:endParaRPr lang="en-GB" dirty="0"/>
          </a:p>
          <a:p>
            <a:r>
              <a:rPr lang="en-GB" dirty="0"/>
              <a:t>Distally, it is supplied by the dorsal artery of the penis, which is a terminal branch of the internal pudendal artery and collateral from the corporal bodies</a:t>
            </a:r>
          </a:p>
          <a:p>
            <a:endParaRPr lang="en-GB" dirty="0"/>
          </a:p>
          <a:p>
            <a:r>
              <a:rPr lang="en-GB" dirty="0"/>
              <a:t>This dual supply allows the urethra to be detached at either end without compromise to its viability, a fact frequently used during urethroplasty</a:t>
            </a:r>
          </a:p>
        </p:txBody>
      </p:sp>
    </p:spTree>
    <p:extLst>
      <p:ext uri="{BB962C8B-B14F-4D97-AF65-F5344CB8AC3E}">
        <p14:creationId xmlns:p14="http://schemas.microsoft.com/office/powerpoint/2010/main" val="29399472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C5728-B6C3-F75C-0520-3E2EB8FB3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Female urogenital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37F9A-D17D-4391-AD4E-9DEBF03AB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02115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4-Perineum-2-3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29" y="0"/>
            <a:ext cx="118763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1425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5-Perineum-2-4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6" y="0"/>
            <a:ext cx="117892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73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6-Perineum-2-4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14" y="0"/>
            <a:ext cx="118872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7-Perineum-2-4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57" y="0"/>
            <a:ext cx="1187631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8-Perineum-2-4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0"/>
            <a:ext cx="1189808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84C54-1F5D-0ABF-E7A0-311380BED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E2354-2C56-6B35-6335-3D223A696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8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96805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467</Words>
  <Application>Microsoft Office PowerPoint</Application>
  <PresentationFormat>Widescreen</PresentationFormat>
  <Paragraphs>119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Aptos</vt:lpstr>
      <vt:lpstr>Aptos Display</vt:lpstr>
      <vt:lpstr>Arial</vt:lpstr>
      <vt:lpstr>Office Theme</vt:lpstr>
      <vt:lpstr>UROGENITAL TRIANGLE</vt:lpstr>
      <vt:lpstr>OUTLINE </vt:lpstr>
      <vt:lpstr>PowerPoint Presentation</vt:lpstr>
      <vt:lpstr>Introduction</vt:lpstr>
      <vt:lpstr> Boundaries </vt:lpstr>
      <vt:lpstr>PowerPoint Presentation</vt:lpstr>
      <vt:lpstr> Layers and Contents  </vt:lpstr>
      <vt:lpstr>PowerPoint Presentation</vt:lpstr>
      <vt:lpstr>PowerPoint Presentation</vt:lpstr>
      <vt:lpstr> Superficial fascia </vt:lpstr>
      <vt:lpstr>PowerPoint Presentation</vt:lpstr>
      <vt:lpstr>Superficial perineal pouch </vt:lpstr>
      <vt:lpstr>PowerPoint Presentation</vt:lpstr>
      <vt:lpstr>PowerPoint Presentation</vt:lpstr>
      <vt:lpstr>PowerPoint Presentation</vt:lpstr>
      <vt:lpstr>PowerPoint Presentation</vt:lpstr>
      <vt:lpstr>Perineal membrane</vt:lpstr>
      <vt:lpstr>PowerPoint Presentation</vt:lpstr>
      <vt:lpstr>PowerPoint Presentation</vt:lpstr>
      <vt:lpstr>PowerPoint Presentation</vt:lpstr>
      <vt:lpstr>PowerPoint Presentation</vt:lpstr>
      <vt:lpstr>Deep perineal pouch </vt:lpstr>
      <vt:lpstr>Contents of the deep perineal pouch</vt:lpstr>
      <vt:lpstr>PowerPoint Presentation</vt:lpstr>
      <vt:lpstr>PowerPoint Presentation</vt:lpstr>
      <vt:lpstr>PowerPoint Presentation</vt:lpstr>
      <vt:lpstr>PowerPoint Presentation</vt:lpstr>
      <vt:lpstr>Neurovascular supply</vt:lpstr>
      <vt:lpstr>PowerPoint Presentation</vt:lpstr>
      <vt:lpstr>PowerPoint Presentation</vt:lpstr>
      <vt:lpstr>PowerPoint Presentation</vt:lpstr>
      <vt:lpstr>PowerPoint Presentation</vt:lpstr>
      <vt:lpstr>Function of the urogenital triangle  </vt:lpstr>
      <vt:lpstr>Clinical importance</vt:lpstr>
      <vt:lpstr>PowerPoint Presentation</vt:lpstr>
      <vt:lpstr>Male urogenital system</vt:lpstr>
      <vt:lpstr>Male urogenital system</vt:lpstr>
      <vt:lpstr>PowerPoint Presentation</vt:lpstr>
      <vt:lpstr>Male urethra</vt:lpstr>
      <vt:lpstr>PowerPoint Presentation</vt:lpstr>
      <vt:lpstr>Blood supply of the male urethra </vt:lpstr>
      <vt:lpstr>Female urogenital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Rotimi Oso</dc:creator>
  <cp:lastModifiedBy>Rotimi Oso</cp:lastModifiedBy>
  <cp:revision>12</cp:revision>
  <dcterms:created xsi:type="dcterms:W3CDTF">2026-01-20T21:25:27Z</dcterms:created>
  <dcterms:modified xsi:type="dcterms:W3CDTF">2026-01-29T15:48:53Z</dcterms:modified>
</cp:coreProperties>
</file>