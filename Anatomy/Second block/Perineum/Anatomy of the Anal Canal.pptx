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7B8B4-828A-4D80-BB1A-50C7BDC35D07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2FA1E-C645-4AD7-8AEE-AB80EEC26C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4423"/>
            <a:ext cx="7772400" cy="1928825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ANATOMY OF THE ANAL CANAL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BY</a:t>
            </a:r>
          </a:p>
          <a:p>
            <a:endParaRPr lang="en-AU" dirty="0">
              <a:latin typeface="Arial Black" pitchFamily="34" charset="0"/>
            </a:endParaRPr>
          </a:p>
          <a:p>
            <a:r>
              <a:rPr lang="en-AU" dirty="0" smtClean="0">
                <a:latin typeface="Arial Black" pitchFamily="34" charset="0"/>
              </a:rPr>
              <a:t>DR. OJEWALE A.O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Outline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Intro’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Location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Extent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Relations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Interior of the Anal canal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Arterial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supply 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Venous drainage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Lymphatic drainage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Applied Anatomy</a:t>
            </a:r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Intro’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786478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terminal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(4 cm long)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 intestine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situated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devoid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sacculations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taenia coli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appendices epiploicae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like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surrounded by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inner involuntary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outer voluntary sphincter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whose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tone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keeps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closed except during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defecation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8229600" cy="1143008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Location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0240"/>
            <a:ext cx="8229600" cy="4125923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located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triangle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and left fat-filled ischiorectal fossae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allow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expansion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defecation</a:t>
            </a:r>
            <a:r>
              <a:rPr lang="en-AU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Extent and Course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50070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begins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junction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passes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downward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backward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opens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orifice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is situated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natal cleft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buttocks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4 cm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below and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coccyx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surrounding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orifice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pigmented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thrown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radiating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due to a pull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exerted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underlying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muscle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-the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corrugator cutis ani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junction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surrounded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puborectalis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which pulls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forward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producing, forward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convexity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backward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bend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90°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(perineal flexure).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42876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Relations of the Anal canal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401080" cy="6072230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Perineal body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Bulb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penis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spongy urethra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vagina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female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Anococcygeal raphe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Tip of coccyx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Fibrofatty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perineal skin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anococcygeal raphe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Laterally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(on each side):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Ischiorectal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Interior of </a:t>
            </a:r>
            <a:r>
              <a:rPr lang="en-AU" dirty="0">
                <a:latin typeface="Arial Black" pitchFamily="34" charset="0"/>
              </a:rPr>
              <a:t>t</a:t>
            </a:r>
            <a:r>
              <a:rPr lang="en-AU" dirty="0" smtClean="0">
                <a:latin typeface="Arial Black" pitchFamily="34" charset="0"/>
              </a:rPr>
              <a:t>he Anal canal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35798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represents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embryological site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attachment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membrane.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extends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junction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line;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of the 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extends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the pectinate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verge.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upper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lower parts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different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development, blood supply, lymphatic drainage,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nerve supply.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 </a:t>
            </a:r>
            <a:r>
              <a:rPr lang="en-AU" dirty="0" smtClean="0">
                <a:latin typeface="Arial Black" pitchFamily="34" charset="0"/>
              </a:rPr>
              <a:t>Differences between the upper and lower anal canals</a:t>
            </a:r>
            <a:endParaRPr lang="en-US" dirty="0">
              <a:latin typeface="Arial Black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" y="1428734"/>
          <a:ext cx="9072593" cy="547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07"/>
                <a:gridCol w="3564943"/>
                <a:gridCol w="3364543"/>
              </a:tblGrid>
              <a:tr h="593345"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Features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Upper anal canal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Lower anal canal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68907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Development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Endoderm of the hind gut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Ectoderm of</a:t>
                      </a:r>
                      <a:r>
                        <a:rPr lang="en-US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proctodeum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93345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Epithelial lining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Simple columnar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Stratified squamous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93345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Arterial supply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Superior rectal artery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Inferior rectal artery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68907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Venous drainage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Superior rectal vein draining into portal system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Inferior rectal vein draining into caval system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9886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Innervation</a:t>
                      </a:r>
                    </a:p>
                    <a:p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Autonomic nerves, hence insensitive to pain,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and temperature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Somatic nerves, hence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sensitive to pain,</a:t>
                      </a:r>
                      <a:r>
                        <a:rPr lang="en-AU" sz="20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sz="2000" dirty="0" smtClean="0">
                          <a:latin typeface="Arial" pitchFamily="34" charset="0"/>
                          <a:cs typeface="Arial" pitchFamily="34" charset="0"/>
                        </a:rPr>
                        <a:t>and temperature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68907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Lymphatic drainage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Internal iliac lymph nodes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Superficial inguinal lymph nodes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593345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Hemorrhoids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Internal hemorrhoids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External hemorrhoids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0"/>
            <a:ext cx="8472518" cy="1071546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Features </a:t>
            </a:r>
            <a:r>
              <a:rPr lang="en-AU" dirty="0">
                <a:latin typeface="Arial Black" pitchFamily="34" charset="0"/>
              </a:rPr>
              <a:t>i</a:t>
            </a:r>
            <a:r>
              <a:rPr lang="en-AU" dirty="0" smtClean="0">
                <a:latin typeface="Arial Black" pitchFamily="34" charset="0"/>
              </a:rPr>
              <a:t>n the Upper part </a:t>
            </a:r>
            <a:r>
              <a:rPr lang="en-AU" dirty="0" smtClean="0">
                <a:latin typeface="Arial Black" pitchFamily="34" charset="0"/>
              </a:rPr>
              <a:t>of </a:t>
            </a:r>
            <a:r>
              <a:rPr lang="en-AU" dirty="0" smtClean="0">
                <a:latin typeface="Arial Black" pitchFamily="34" charset="0"/>
              </a:rPr>
              <a:t>Anal canal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635798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1.5 cm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long) presents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following features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Anal columns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(columns of Morgagni):These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permanent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longitudinal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mucous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numbering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6 to 10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contain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radicles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Anal valves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(valves of Morgagni):These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crescentic folds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mucous 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connect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ends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adjacent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columns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free margins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valves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directed upward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position of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valves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indicated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wavy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(also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dentate 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/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Anal sinuses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These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vertical recesses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columns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above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valves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ducts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tubular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glands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present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submucosa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open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floor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sinuses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714488"/>
            <a:ext cx="7143800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401080" cy="1000108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Features in </a:t>
            </a:r>
            <a:r>
              <a:rPr lang="en-AU" dirty="0">
                <a:latin typeface="Arial Black" pitchFamily="34" charset="0"/>
              </a:rPr>
              <a:t>t</a:t>
            </a:r>
            <a:r>
              <a:rPr lang="en-AU" dirty="0" smtClean="0">
                <a:latin typeface="Arial Black" pitchFamily="34" charset="0"/>
              </a:rPr>
              <a:t>he </a:t>
            </a:r>
            <a:r>
              <a:rPr lang="en-AU" dirty="0">
                <a:latin typeface="Arial Black" pitchFamily="34" charset="0"/>
              </a:rPr>
              <a:t>l</a:t>
            </a:r>
            <a:r>
              <a:rPr lang="en-AU" dirty="0" smtClean="0">
                <a:latin typeface="Arial Black" pitchFamily="34" charset="0"/>
              </a:rPr>
              <a:t>ower </a:t>
            </a:r>
            <a:r>
              <a:rPr lang="en-AU" dirty="0">
                <a:latin typeface="Arial Black" pitchFamily="34" charset="0"/>
              </a:rPr>
              <a:t>p</a:t>
            </a:r>
            <a:r>
              <a:rPr lang="en-AU" dirty="0" smtClean="0">
                <a:latin typeface="Arial Black" pitchFamily="34" charset="0"/>
              </a:rPr>
              <a:t>art </a:t>
            </a:r>
            <a:r>
              <a:rPr lang="en-AU" dirty="0">
                <a:latin typeface="Arial Black" pitchFamily="34" charset="0"/>
              </a:rPr>
              <a:t>o</a:t>
            </a:r>
            <a:r>
              <a:rPr lang="en-AU" dirty="0" smtClean="0">
                <a:latin typeface="Arial Black" pitchFamily="34" charset="0"/>
              </a:rPr>
              <a:t>f </a:t>
            </a:r>
            <a:r>
              <a:rPr lang="en-AU" dirty="0">
                <a:latin typeface="Arial Black" pitchFamily="34" charset="0"/>
              </a:rPr>
              <a:t>a</a:t>
            </a:r>
            <a:r>
              <a:rPr lang="en-AU" dirty="0" smtClean="0">
                <a:latin typeface="Arial Black" pitchFamily="34" charset="0"/>
              </a:rPr>
              <a:t>nal </a:t>
            </a:r>
            <a:r>
              <a:rPr lang="en-AU" dirty="0">
                <a:latin typeface="Arial Black" pitchFamily="34" charset="0"/>
              </a:rPr>
              <a:t>c</a:t>
            </a:r>
            <a:r>
              <a:rPr lang="en-AU" dirty="0" smtClean="0">
                <a:latin typeface="Arial Black" pitchFamily="34" charset="0"/>
              </a:rPr>
              <a:t>anal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7232"/>
            <a:ext cx="8858280" cy="64294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further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regions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Upper region of lower anal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1.5 cm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Hilton’s 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lined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stratified squamous (non-keratinized) epithelium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mucous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lining in this region appears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bluish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colour due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underlying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dense venous plexus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is attached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underlying structures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Lower region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anal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0.8 cm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extent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lined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true skin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containing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sweat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sebaceous gland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shows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pigmentation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adult males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coarse hairs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often found 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orifice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472518" cy="6500858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Hilton’s 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situated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junction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 anal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end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anal sphincter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represented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intersphincteric groove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presents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following features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separates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mucocutaneous junction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appears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white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because, it lies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bluish pinkish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blackish skin 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hence the name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white line of Hilton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8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Anal sphincters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50085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There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sphincters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provide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powerful sphincteric mechanism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distal end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gastrointestinal tract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INTERNAL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ANAL SPHINCTER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formed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thickened circular muscle coat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surrounds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two-third of the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continuous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circular muscle coat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below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reaches up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level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white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Hilton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surrounded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parts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 anal sphincter.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EXTERNAL ANAL SPHINCTER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external anal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surrounds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the whole length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consists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of three parts: deep, superficial, and subcutaneous.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07157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428604"/>
            <a:ext cx="8643998" cy="700092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AU" dirty="0" smtClean="0">
                <a:latin typeface="Arial Black" pitchFamily="34" charset="0"/>
              </a:rPr>
              <a:t>Deep Part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surrounds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sphincter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has no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bony attachments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puborectalis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blends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deep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behind and forms a sling 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junction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is attached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pubis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resting state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tube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angled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forward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level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contraction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puborectalis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sling will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increase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angle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 important factor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continence mechanism</a:t>
            </a:r>
            <a:r>
              <a:rPr lang="en-AU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928670"/>
            <a:ext cx="8229600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28662" y="6286520"/>
            <a:ext cx="812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 coronal section of anal canal showing internal and external anal sphincters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2144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00042"/>
            <a:ext cx="8786874" cy="6572296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Part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oval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shape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arises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coccyx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anococcygeal raphe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behind, surrounds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then gets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inserted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perineal body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Part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subcutaneous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lies 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perianal space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surrounds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has the form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flat band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1.5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broad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has no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bony attachment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8637" y="1428736"/>
            <a:ext cx="8086725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428728" y="6143644"/>
            <a:ext cx="692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Anorectal sling and different parts of the external anal sphincters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643998" cy="6786610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traversed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fibroblastic septa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derived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conjoint longitudinal coat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Nerve Supply of the Sphincter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made up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smooth muscle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supplied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autonomic nerve fibres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sympathetic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parasympathetic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hence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involuntary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 anal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made up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striated muscle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hence, supplied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somatic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rectal nerve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perineal branch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4th sacral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therefore under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voluntary control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A</a:t>
            </a:r>
            <a:r>
              <a:rPr lang="en-US" dirty="0" smtClean="0">
                <a:latin typeface="Arial Black" pitchFamily="34" charset="0"/>
                <a:cs typeface="Arial" pitchFamily="34" charset="0"/>
              </a:rPr>
              <a:t>rterial Supply &amp; Venous </a:t>
            </a:r>
            <a:r>
              <a:rPr lang="en-US" dirty="0">
                <a:latin typeface="Arial Black" pitchFamily="34" charset="0"/>
                <a:cs typeface="Arial" pitchFamily="34" charset="0"/>
              </a:rPr>
              <a:t>d</a:t>
            </a:r>
            <a:r>
              <a:rPr lang="en-US" dirty="0" smtClean="0">
                <a:latin typeface="Arial Black" pitchFamily="34" charset="0"/>
                <a:cs typeface="Arial" pitchFamily="34" charset="0"/>
              </a:rPr>
              <a:t>rainage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6072230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supplied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supplied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rectal artery</a:t>
            </a:r>
            <a:r>
              <a:rPr lang="en-AU" dirty="0" smtClean="0"/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drained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portal venous system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drained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caval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(systemic)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system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rectal veins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Lymphatic drainage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drains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iliac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lymph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whereas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drains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horizontal group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inguinal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lymph nodes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Therefore,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forms the “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water shed 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”of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Hemorrhoids (or piles):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These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variceal dilatations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submucosal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perianal venous plexuses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are classified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types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Internal hemorrhoids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(true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piles):These are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saccular dilatations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tributaries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(hemorrhoidal) vein above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portal obstruction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600079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hemorrhoids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may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primary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secondary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primary piles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formed due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dilatations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main tributaries/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radicles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lie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columns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which occupy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lateral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anterior positions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dilatations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radicles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other positions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termed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secondary piles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600079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primary piles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corresponds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3 o’clock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7 o’clock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11 o’clock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positions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when viewing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lithotomy position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Anatomically, each hemorrhoids/pile consists of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 of mucosa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submucosa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containing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varicose radicle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terminal branch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rectal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They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painless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bleed profusely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straining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defecation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passing stool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Types: Initially they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confined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(1st degree), gradually they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enlarge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prolapse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defecation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(2nd degree), and finally remain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prolapsed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(3rd degree).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929354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External hemorrhoids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(false piles):These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dilatations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tributaries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rectal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pectinate 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are covered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mucous 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They are very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painful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do not bleed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straining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defecation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so-called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thrombosed external pile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tense hematoma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caused due to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rupture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subcutaneous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Therefore, it should be truly termed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perianal hematoma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72138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Fissure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caused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rupture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valves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(valves of Morgagni)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passage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hard fecal mass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They occur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midline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are very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painful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because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aspect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valve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lined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mucous membrane/skin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half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supplied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somatic 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Fistula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anorectal 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caused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rupture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abscess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abscess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opens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spontaneously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canal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track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becomes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epithelialized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Low-level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anal fistula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passing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through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lower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anal sphincter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most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5DBC-F43A-44D0-B456-2D9ACEA9519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3338"/>
            <a:ext cx="9085263" cy="681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66DD-AE06-4A26-BC5F-5F09F89D1658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1799</Words>
  <Application>Microsoft Office PowerPoint</Application>
  <PresentationFormat>On-screen Show (4:3)</PresentationFormat>
  <Paragraphs>161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ANATOMY OF THE ANAL CANAL</vt:lpstr>
      <vt:lpstr>Outline</vt:lpstr>
      <vt:lpstr>Intro’</vt:lpstr>
      <vt:lpstr>Location</vt:lpstr>
      <vt:lpstr>Extent and Course</vt:lpstr>
      <vt:lpstr>Cont’d</vt:lpstr>
      <vt:lpstr>Relations of the Anal canal</vt:lpstr>
      <vt:lpstr>Interior of the Anal canal</vt:lpstr>
      <vt:lpstr> Differences between the upper and lower anal canals</vt:lpstr>
      <vt:lpstr>Features in the Upper part of Anal canal</vt:lpstr>
      <vt:lpstr>Cont’d</vt:lpstr>
      <vt:lpstr>Cont’d</vt:lpstr>
      <vt:lpstr>Features in the lower part of anal canal</vt:lpstr>
      <vt:lpstr>Cont’d</vt:lpstr>
      <vt:lpstr>Anal sphincters</vt:lpstr>
      <vt:lpstr>Cont’d</vt:lpstr>
      <vt:lpstr>Cont’d</vt:lpstr>
      <vt:lpstr>Cont’d</vt:lpstr>
      <vt:lpstr>Cont’d</vt:lpstr>
      <vt:lpstr>Cont’d</vt:lpstr>
      <vt:lpstr>Cont’d</vt:lpstr>
      <vt:lpstr>Arterial Supply &amp; Venous drainage</vt:lpstr>
      <vt:lpstr>Lymphatic drainage</vt:lpstr>
      <vt:lpstr>Applied Anatomy</vt:lpstr>
      <vt:lpstr>Cont’d</vt:lpstr>
      <vt:lpstr>Cont’d</vt:lpstr>
      <vt:lpstr>Cont’d</vt:lpstr>
      <vt:lpstr>Cont’d</vt:lpstr>
      <vt:lpstr>Cont’d</vt:lpstr>
      <vt:lpstr>Cont’d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THE ANAL CANAL</dc:title>
  <dc:creator>Dr. Ojewale</dc:creator>
  <cp:lastModifiedBy>Dr. Ojewale</cp:lastModifiedBy>
  <cp:revision>2</cp:revision>
  <dcterms:created xsi:type="dcterms:W3CDTF">2023-07-17T06:55:30Z</dcterms:created>
  <dcterms:modified xsi:type="dcterms:W3CDTF">2023-07-17T07:33:18Z</dcterms:modified>
</cp:coreProperties>
</file>