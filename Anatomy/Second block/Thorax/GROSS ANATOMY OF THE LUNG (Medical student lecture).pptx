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9.jpg" ContentType="image/jpeg"/>
  <Override PartName="/ppt/media/image59.jpg" ContentType="image/jpeg"/>
  <Override PartName="/ppt/media/image61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3" r:id="rId3"/>
    <p:sldId id="275" r:id="rId4"/>
    <p:sldId id="260" r:id="rId5"/>
    <p:sldId id="279" r:id="rId6"/>
    <p:sldId id="263" r:id="rId7"/>
    <p:sldId id="312" r:id="rId8"/>
    <p:sldId id="315" r:id="rId9"/>
    <p:sldId id="266" r:id="rId10"/>
    <p:sldId id="318" r:id="rId11"/>
    <p:sldId id="280" r:id="rId12"/>
    <p:sldId id="281" r:id="rId13"/>
    <p:sldId id="283" r:id="rId14"/>
    <p:sldId id="284" r:id="rId15"/>
    <p:sldId id="285" r:id="rId16"/>
    <p:sldId id="290" r:id="rId17"/>
    <p:sldId id="319" r:id="rId18"/>
    <p:sldId id="292" r:id="rId19"/>
    <p:sldId id="299" r:id="rId20"/>
    <p:sldId id="296" r:id="rId21"/>
    <p:sldId id="288" r:id="rId22"/>
    <p:sldId id="293" r:id="rId23"/>
    <p:sldId id="289" r:id="rId24"/>
    <p:sldId id="300" r:id="rId25"/>
    <p:sldId id="291" r:id="rId26"/>
    <p:sldId id="302" r:id="rId27"/>
    <p:sldId id="320" r:id="rId28"/>
    <p:sldId id="268" r:id="rId29"/>
    <p:sldId id="269" r:id="rId30"/>
    <p:sldId id="306" r:id="rId31"/>
    <p:sldId id="307" r:id="rId32"/>
    <p:sldId id="308" r:id="rId33"/>
    <p:sldId id="321" r:id="rId34"/>
    <p:sldId id="265" r:id="rId35"/>
    <p:sldId id="317" r:id="rId36"/>
    <p:sldId id="26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E413-E9B2-8754-9057-6F6CEBCBD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68F04-A927-B376-7DD7-18127BD32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5EFC-9399-2FFF-7541-6B2AAF8B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81E82-D91E-B63E-BAF4-118A1675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E0CE4-1150-1217-EB3C-B3EBC6D2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44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B5BA-111F-89C2-D334-001B83EA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C26F0-680A-A65C-67B7-8F73D859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19B22-6FCE-E5E7-E635-36A2279E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E387-FF90-D385-4436-2655A835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B2BE-20C9-A2F7-C5C1-DFCDB725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54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7974-13E6-16BB-CB04-4D80FE30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D7CF1-791E-F0A6-AE75-414B1494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73A34-200E-15F0-E581-23B7A8F3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0E941-6BF0-A040-8770-532EA3D5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AB5E9-7085-5742-D7BE-BF980066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9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AC06-242B-775C-E2E6-68B5B9EB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A2D1B-60CA-38C5-C478-E39EE2D6E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B493E-5ECC-0328-78A1-3CB9BCAA9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BC078-C00F-80A1-251E-872D19DE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BCD3C-6202-5423-5194-718800CF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987A5-5704-A37D-2652-AD6A4198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91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9CF5-B295-E71D-EAE0-10631A5F8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5C227-A348-9BBA-F885-015EA01A0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EE29C-FB99-729C-2730-0A08403BC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68061-E701-8399-6988-39C7F64DA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F332A-0B60-7D34-05E6-F0C5E3DE8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CF096-C930-81DB-13A1-318FE9A8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9E32D-34C9-3515-8FE3-F707573A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419F-DB63-BC79-6EAA-69B952AB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46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8B82-462E-6E19-38C6-FB3002BB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354C1-6AB8-29B2-3F20-B923A699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6A226-A6A8-0A01-1552-50D118C4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C177A-169B-7EA9-76BB-7D71E367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49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73DB4-A76A-97CE-B3E0-91E620D6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3E084-0CDB-5A8D-F223-2AB4D40F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9781-7F75-252F-B2F2-17E342A0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26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4515-4A6C-A050-D5BA-2AE4389E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7C26-496D-1AE5-A5A9-157C031E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520D6-1C6C-56B8-2FFB-5143DCA49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C317B-05E6-6661-4CF9-31C72DCB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F59FA-8234-F1E1-8626-EBECC879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A7B01-291F-A7A2-77D6-410CCBDB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9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5107-829F-35F3-08DF-D5D15AC8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B1AEA-63DA-3889-8E69-6E5E47CD8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F701A-C28F-D275-9861-F09D93F5C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DAE7B-641B-A7CA-DCBE-4B3205CA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DEEEE-B802-44A0-ACA5-1B75628D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B95E2-20EE-61B0-1E4D-581A0D12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00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4FF1-3404-9712-B05A-583A54E9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FA95B-207B-37B2-FB90-6A08A2820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4213-658A-8E39-6387-789A646F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49C51-AD77-4A9B-A032-87793506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FA77A-79E9-ED71-DE16-CD36086D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78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360C6-352A-1569-3256-F5DEFD9B2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E411C-2100-E263-090D-712B45F5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5C30B-9BAD-0FAB-67D4-4C460301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98A6-025B-DC89-CB60-FB507370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ED01-5EA6-9E98-AE27-6635EC53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61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41E65-FAF7-5E05-954C-01C3793B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C4DFB-2761-E185-467D-75A0A12CC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22282-62F3-FAFB-7752-A7B98AD88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5C3A-39E7-41B0-A831-AB6F15A76CD7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9DC9D-7651-8ABD-EF0B-43C272E3B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9AB0-4524-DE57-99C2-35EB5DFA8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1FD0E-53DE-457F-A6A1-31013C667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3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jpg"/><Relationship Id="rId18" Type="http://schemas.openxmlformats.org/officeDocument/2006/relationships/image" Target="../media/image37.jpg"/><Relationship Id="rId26" Type="http://schemas.openxmlformats.org/officeDocument/2006/relationships/image" Target="../media/image45.jpg"/><Relationship Id="rId3" Type="http://schemas.openxmlformats.org/officeDocument/2006/relationships/image" Target="../media/image22.jpg"/><Relationship Id="rId21" Type="http://schemas.openxmlformats.org/officeDocument/2006/relationships/image" Target="../media/image40.jpg"/><Relationship Id="rId34" Type="http://schemas.openxmlformats.org/officeDocument/2006/relationships/image" Target="../media/image53.jp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jpg"/><Relationship Id="rId33" Type="http://schemas.openxmlformats.org/officeDocument/2006/relationships/image" Target="../media/image52.jpg"/><Relationship Id="rId2" Type="http://schemas.openxmlformats.org/officeDocument/2006/relationships/image" Target="../media/image21.png"/><Relationship Id="rId16" Type="http://schemas.openxmlformats.org/officeDocument/2006/relationships/image" Target="../media/image35.jpg"/><Relationship Id="rId20" Type="http://schemas.openxmlformats.org/officeDocument/2006/relationships/image" Target="../media/image39.jpg"/><Relationship Id="rId29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jpg"/><Relationship Id="rId24" Type="http://schemas.openxmlformats.org/officeDocument/2006/relationships/image" Target="../media/image43.jpg"/><Relationship Id="rId32" Type="http://schemas.openxmlformats.org/officeDocument/2006/relationships/image" Target="../media/image51.jpg"/><Relationship Id="rId5" Type="http://schemas.openxmlformats.org/officeDocument/2006/relationships/image" Target="../media/image24.jpg"/><Relationship Id="rId15" Type="http://schemas.openxmlformats.org/officeDocument/2006/relationships/image" Target="../media/image34.jpg"/><Relationship Id="rId23" Type="http://schemas.openxmlformats.org/officeDocument/2006/relationships/image" Target="../media/image42.png"/><Relationship Id="rId28" Type="http://schemas.openxmlformats.org/officeDocument/2006/relationships/image" Target="../media/image47.jpg"/><Relationship Id="rId10" Type="http://schemas.openxmlformats.org/officeDocument/2006/relationships/image" Target="../media/image29.jpg"/><Relationship Id="rId19" Type="http://schemas.openxmlformats.org/officeDocument/2006/relationships/image" Target="../media/image38.jpg"/><Relationship Id="rId31" Type="http://schemas.openxmlformats.org/officeDocument/2006/relationships/image" Target="../media/image50.jpg"/><Relationship Id="rId4" Type="http://schemas.openxmlformats.org/officeDocument/2006/relationships/image" Target="../media/image23.jpg"/><Relationship Id="rId9" Type="http://schemas.openxmlformats.org/officeDocument/2006/relationships/image" Target="../media/image28.jpg"/><Relationship Id="rId14" Type="http://schemas.openxmlformats.org/officeDocument/2006/relationships/image" Target="../media/image33.jpg"/><Relationship Id="rId22" Type="http://schemas.openxmlformats.org/officeDocument/2006/relationships/image" Target="../media/image41.jpg"/><Relationship Id="rId27" Type="http://schemas.openxmlformats.org/officeDocument/2006/relationships/image" Target="../media/image46.jpg"/><Relationship Id="rId30" Type="http://schemas.openxmlformats.org/officeDocument/2006/relationships/image" Target="../media/image49.jpg"/><Relationship Id="rId35" Type="http://schemas.openxmlformats.org/officeDocument/2006/relationships/image" Target="../media/image54.jpg"/><Relationship Id="rId8" Type="http://schemas.openxmlformats.org/officeDocument/2006/relationships/image" Target="../media/image2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C20C-F868-E9E9-6E45-71360E0AC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 GROSS ANATOMY OF THE LUNG</a:t>
            </a:r>
            <a:endParaRPr lang="en-GB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6C834-E4C8-D76B-4D0F-8CEAD53F7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DR OSO O.A</a:t>
            </a:r>
          </a:p>
        </p:txBody>
      </p:sp>
    </p:spTree>
    <p:extLst>
      <p:ext uri="{BB962C8B-B14F-4D97-AF65-F5344CB8AC3E}">
        <p14:creationId xmlns:p14="http://schemas.microsoft.com/office/powerpoint/2010/main" val="309771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222-6A1A-4A72-52C8-C01EE5E3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01" y="149368"/>
            <a:ext cx="11517331" cy="68283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C1B51-24E4-0BD1-CD3B-0E2FBCA75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01" y="934948"/>
            <a:ext cx="11517331" cy="5923052"/>
          </a:xfrm>
        </p:spPr>
        <p:txBody>
          <a:bodyPr>
            <a:noAutofit/>
          </a:bodyPr>
          <a:lstStyle/>
          <a:p>
            <a:r>
              <a:rPr lang="en-GB" dirty="0"/>
              <a:t>Introduction </a:t>
            </a:r>
          </a:p>
          <a:p>
            <a:r>
              <a:rPr lang="en-GB" dirty="0"/>
              <a:t>External Morphology</a:t>
            </a:r>
          </a:p>
          <a:p>
            <a:r>
              <a:rPr lang="en-GB" dirty="0"/>
              <a:t>Hilum / Root of Lung</a:t>
            </a:r>
          </a:p>
          <a:p>
            <a:r>
              <a:rPr lang="en-GB" dirty="0"/>
              <a:t>Lobes &amp; Fissures</a:t>
            </a:r>
          </a:p>
          <a:p>
            <a:r>
              <a:rPr lang="en-GB" dirty="0"/>
              <a:t>Bronchopulmonary Segments</a:t>
            </a:r>
          </a:p>
          <a:p>
            <a:r>
              <a:rPr lang="en-GB" dirty="0"/>
              <a:t>Pleura &amp; Pleural Cavities</a:t>
            </a:r>
          </a:p>
          <a:p>
            <a:r>
              <a:rPr lang="en-GB" dirty="0"/>
              <a:t>Blood Supply &amp; Innervation</a:t>
            </a:r>
          </a:p>
          <a:p>
            <a:r>
              <a:rPr lang="en-GB" dirty="0"/>
              <a:t>Variations &amp; Anatomical Considerations</a:t>
            </a:r>
          </a:p>
          <a:p>
            <a:r>
              <a:rPr lang="en-GB" dirty="0"/>
              <a:t>Clinical Implications</a:t>
            </a:r>
          </a:p>
          <a:p>
            <a:r>
              <a:rPr lang="en-GB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7799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A83-1DCA-756F-EB97-9460C826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3" y="102743"/>
            <a:ext cx="11271607" cy="914400"/>
          </a:xfrm>
        </p:spPr>
        <p:txBody>
          <a:bodyPr>
            <a:normAutofit/>
          </a:bodyPr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FDFE6-16DB-2264-0B41-7E1299415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5483" y="1017143"/>
            <a:ext cx="6822041" cy="5738114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>
                <a:cs typeface="Times New Roman"/>
              </a:rPr>
              <a:t>Lungs</a:t>
            </a:r>
            <a:r>
              <a:rPr lang="en-US" sz="3000" spc="-35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are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a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pair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of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respiratory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organs</a:t>
            </a:r>
            <a:r>
              <a:rPr lang="en-US" sz="3000" spc="-35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situated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in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the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thoracic</a:t>
            </a:r>
            <a:r>
              <a:rPr lang="en-US" sz="3000" spc="-30" dirty="0">
                <a:cs typeface="Times New Roman"/>
              </a:rPr>
              <a:t> </a:t>
            </a:r>
            <a:r>
              <a:rPr lang="en-US" sz="3000" spc="-10" dirty="0">
                <a:cs typeface="Times New Roman"/>
              </a:rPr>
              <a:t>cavity</a:t>
            </a:r>
          </a:p>
          <a:p>
            <a:pPr marL="0" indent="0">
              <a:buNone/>
            </a:pPr>
            <a:r>
              <a:rPr lang="en-US" sz="3000" spc="-10" dirty="0">
                <a:cs typeface="Times New Roman"/>
              </a:rPr>
              <a:t> </a:t>
            </a:r>
          </a:p>
          <a:p>
            <a:r>
              <a:rPr lang="en-US" sz="3000" dirty="0">
                <a:cs typeface="Times New Roman"/>
              </a:rPr>
              <a:t> The mediastinum separates the right and left lungs</a:t>
            </a:r>
            <a:r>
              <a:rPr lang="en-US" sz="3000" spc="-10" dirty="0">
                <a:cs typeface="Times New Roman"/>
              </a:rPr>
              <a:t>.</a:t>
            </a:r>
          </a:p>
          <a:p>
            <a:endParaRPr lang="en-US" sz="3000" spc="-10" dirty="0">
              <a:cs typeface="Times New Roman"/>
            </a:endParaRPr>
          </a:p>
          <a:p>
            <a:r>
              <a:rPr lang="en-GB" sz="3000" b="1" dirty="0">
                <a:uFill>
                  <a:solidFill>
                    <a:srgbClr val="00FF00"/>
                  </a:solidFill>
                </a:uFill>
                <a:cs typeface="Times New Roman"/>
              </a:rPr>
              <a:t>Texture</a:t>
            </a:r>
            <a:r>
              <a:rPr lang="en-GB" sz="3000" b="1" spc="-30" dirty="0">
                <a:cs typeface="Times New Roman"/>
              </a:rPr>
              <a:t> </a:t>
            </a:r>
            <a:endParaRPr lang="en-GB" sz="3000" spc="452" dirty="0">
              <a:cs typeface="Times New Roman"/>
            </a:endParaRPr>
          </a:p>
          <a:p>
            <a:pPr marL="0" indent="0">
              <a:buNone/>
            </a:pPr>
            <a:r>
              <a:rPr lang="en-GB" sz="3000" spc="452" dirty="0">
                <a:cs typeface="Times New Roman"/>
              </a:rPr>
              <a:t>	</a:t>
            </a:r>
            <a:r>
              <a:rPr lang="en-GB" sz="3000" spc="-10" dirty="0">
                <a:cs typeface="Times New Roman"/>
              </a:rPr>
              <a:t>Spongy</a:t>
            </a:r>
          </a:p>
          <a:p>
            <a:r>
              <a:rPr lang="en-GB" sz="3000" b="1" dirty="0">
                <a:uFill>
                  <a:solidFill>
                    <a:srgbClr val="00FF00"/>
                  </a:solidFill>
                </a:uFill>
                <a:cs typeface="Times New Roman"/>
              </a:rPr>
              <a:t>Colour </a:t>
            </a:r>
          </a:p>
          <a:p>
            <a:pPr marL="0" indent="0">
              <a:buNone/>
            </a:pPr>
            <a:r>
              <a:rPr lang="en-GB" sz="3000" b="1" dirty="0">
                <a:uFill>
                  <a:solidFill>
                    <a:srgbClr val="00FF00"/>
                  </a:solidFill>
                </a:uFill>
                <a:cs typeface="Times New Roman"/>
              </a:rPr>
              <a:t>	</a:t>
            </a:r>
            <a:r>
              <a:rPr lang="en-GB" sz="3000" dirty="0">
                <a:uFill>
                  <a:solidFill>
                    <a:srgbClr val="00FF00"/>
                  </a:solidFill>
                </a:uFill>
                <a:cs typeface="Times New Roman"/>
              </a:rPr>
              <a:t>young - brown </a:t>
            </a:r>
          </a:p>
          <a:p>
            <a:pPr marL="0" indent="0">
              <a:buNone/>
            </a:pPr>
            <a:r>
              <a:rPr lang="en-GB" sz="3000" dirty="0">
                <a:uFill>
                  <a:solidFill>
                    <a:srgbClr val="00FF00"/>
                  </a:solidFill>
                </a:uFill>
                <a:cs typeface="Times New Roman"/>
              </a:rPr>
              <a:t>	adult - mottled black</a:t>
            </a:r>
          </a:p>
          <a:p>
            <a:r>
              <a:rPr lang="en-GB" sz="3000" b="1" dirty="0">
                <a:uFill>
                  <a:solidFill>
                    <a:srgbClr val="00FF00"/>
                  </a:solidFill>
                </a:uFill>
                <a:cs typeface="Times New Roman"/>
              </a:rPr>
              <a:t>Weight </a:t>
            </a:r>
          </a:p>
          <a:p>
            <a:pPr marL="0" indent="0">
              <a:buNone/>
            </a:pPr>
            <a:r>
              <a:rPr lang="en-US" sz="3000" dirty="0">
                <a:cs typeface="Times New Roman"/>
              </a:rPr>
              <a:t>	Right</a:t>
            </a:r>
            <a:r>
              <a:rPr lang="en-US" sz="3000" spc="-25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lung</a:t>
            </a:r>
            <a:r>
              <a:rPr lang="en-US" sz="3000" spc="482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-</a:t>
            </a:r>
            <a:r>
              <a:rPr lang="en-US" sz="3000" spc="-1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600</a:t>
            </a:r>
            <a:r>
              <a:rPr lang="en-US" sz="3000" spc="-10" dirty="0">
                <a:cs typeface="Times New Roman"/>
              </a:rPr>
              <a:t> </a:t>
            </a:r>
            <a:r>
              <a:rPr lang="en-US" sz="3000" spc="-25" dirty="0" err="1">
                <a:cs typeface="Times New Roman"/>
              </a:rPr>
              <a:t>gms</a:t>
            </a:r>
            <a:r>
              <a:rPr lang="en-US" sz="3000" spc="-25" dirty="0">
                <a:cs typeface="Times New Roman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cs typeface="Times New Roman"/>
              </a:rPr>
              <a:t>	Left</a:t>
            </a:r>
            <a:r>
              <a:rPr lang="en-US" sz="3000" spc="-2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lung</a:t>
            </a:r>
            <a:r>
              <a:rPr lang="en-US" sz="3000" spc="477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-</a:t>
            </a:r>
            <a:r>
              <a:rPr lang="en-US" sz="3000" spc="-10" dirty="0">
                <a:cs typeface="Times New Roman"/>
              </a:rPr>
              <a:t> </a:t>
            </a:r>
            <a:r>
              <a:rPr lang="en-US" sz="3000" dirty="0">
                <a:cs typeface="Times New Roman"/>
              </a:rPr>
              <a:t>550</a:t>
            </a:r>
            <a:r>
              <a:rPr lang="en-US" sz="3000" spc="-15" dirty="0">
                <a:cs typeface="Times New Roman"/>
              </a:rPr>
              <a:t> </a:t>
            </a:r>
            <a:r>
              <a:rPr lang="en-US" sz="3000" spc="-25" dirty="0" err="1">
                <a:cs typeface="Times New Roman"/>
              </a:rPr>
              <a:t>gms</a:t>
            </a:r>
            <a:endParaRPr lang="en-US" sz="3000" dirty="0">
              <a:cs typeface="Times New Roman"/>
            </a:endParaRPr>
          </a:p>
          <a:p>
            <a:endParaRPr lang="en-GB" b="1" u="sng" dirty="0">
              <a:uFill>
                <a:solidFill>
                  <a:srgbClr val="00FF00"/>
                </a:solidFill>
              </a:uFill>
              <a:latin typeface="Times New Roman"/>
              <a:cs typeface="Times New Roman"/>
            </a:endParaRPr>
          </a:p>
          <a:p>
            <a:endParaRPr lang="en-GB" spc="-10" dirty="0">
              <a:latin typeface="Times New Roman"/>
              <a:cs typeface="Times New Roman"/>
            </a:endParaRPr>
          </a:p>
          <a:p>
            <a:endParaRPr lang="en-GB" dirty="0">
              <a:latin typeface="Times New Roman"/>
              <a:cs typeface="Times New Roman"/>
            </a:endParaRPr>
          </a:p>
          <a:p>
            <a:endParaRPr lang="en-US" spc="-10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BC15429C-BA19-4D6C-6481-50D4B29D12E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027524" y="857890"/>
            <a:ext cx="4931595" cy="58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6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BD169-717A-4915-0128-BCFF79A6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51" y="241443"/>
            <a:ext cx="11630346" cy="970909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EXTERNAL MORPHOLOGY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43A7-E67D-902A-3485-66CDB46F6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3" y="1212351"/>
            <a:ext cx="10901737" cy="5404206"/>
          </a:xfrm>
        </p:spPr>
        <p:txBody>
          <a:bodyPr/>
          <a:lstStyle/>
          <a:p>
            <a:r>
              <a:rPr lang="en-US" sz="3600" dirty="0"/>
              <a:t>Each lung is conical in shape</a:t>
            </a:r>
          </a:p>
          <a:p>
            <a:endParaRPr lang="en-US" sz="3600" dirty="0"/>
          </a:p>
          <a:p>
            <a:r>
              <a:rPr lang="en-US" sz="3600" dirty="0"/>
              <a:t>Has an apex at the upper end and a base resting on the diaphragm</a:t>
            </a:r>
          </a:p>
          <a:p>
            <a:endParaRPr lang="en-US" sz="3600" dirty="0"/>
          </a:p>
          <a:p>
            <a:r>
              <a:rPr lang="en-US" sz="3600" dirty="0"/>
              <a:t>Has two surfaces: costal and  mediastinal</a:t>
            </a:r>
          </a:p>
          <a:p>
            <a:endParaRPr lang="en-US" sz="3600" dirty="0"/>
          </a:p>
          <a:p>
            <a:r>
              <a:rPr lang="en-US" sz="3600" dirty="0"/>
              <a:t>Has three borders: anterior, posterior, and inferior</a:t>
            </a:r>
          </a:p>
          <a:p>
            <a:endParaRPr lang="en-US" sz="3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30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8669-1A5C-9319-F867-6703A17DE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9" y="92468"/>
            <a:ext cx="11158591" cy="52398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Apex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F886-81F7-0EE4-4B5F-6E3B9B54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0" y="616450"/>
            <a:ext cx="11671443" cy="6149082"/>
          </a:xfrm>
        </p:spPr>
        <p:txBody>
          <a:bodyPr>
            <a:normAutofit fontScale="25000" lnSpcReduction="20000"/>
          </a:bodyPr>
          <a:lstStyle/>
          <a:p>
            <a:pPr marL="50988">
              <a:spcBef>
                <a:spcPts val="672"/>
              </a:spcBef>
            </a:pPr>
            <a:r>
              <a:rPr lang="en-US" sz="11200" spc="-10" dirty="0">
                <a:cs typeface="Arial MT"/>
              </a:rPr>
              <a:t>B</a:t>
            </a:r>
            <a:r>
              <a:rPr lang="en-US" sz="9600" spc="-10" dirty="0">
                <a:cs typeface="Arial MT"/>
              </a:rPr>
              <a:t>lunt</a:t>
            </a:r>
          </a:p>
          <a:p>
            <a:pPr marL="50988">
              <a:spcBef>
                <a:spcPts val="672"/>
              </a:spcBef>
            </a:pPr>
            <a:endParaRPr lang="en-US" sz="9600" dirty="0">
              <a:cs typeface="Arial MT"/>
            </a:endParaRPr>
          </a:p>
          <a:p>
            <a:pPr marL="50988" marR="268961">
              <a:spcBef>
                <a:spcPts val="572"/>
              </a:spcBef>
            </a:pPr>
            <a:r>
              <a:rPr lang="en-US" sz="9600" dirty="0">
                <a:cs typeface="Arial MT"/>
              </a:rPr>
              <a:t>Lies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above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the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level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spc="-25" dirty="0">
                <a:cs typeface="Arial MT"/>
              </a:rPr>
              <a:t>of the </a:t>
            </a:r>
            <a:r>
              <a:rPr lang="en-US" sz="9600" dirty="0">
                <a:cs typeface="Arial MT"/>
              </a:rPr>
              <a:t>anterior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end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of</a:t>
            </a:r>
            <a:r>
              <a:rPr lang="en-US" sz="9600" spc="-35" dirty="0">
                <a:cs typeface="Arial MT"/>
              </a:rPr>
              <a:t> the </a:t>
            </a:r>
            <a:r>
              <a:rPr lang="en-US" sz="9600" dirty="0">
                <a:cs typeface="Arial MT"/>
              </a:rPr>
              <a:t>1</a:t>
            </a:r>
            <a:r>
              <a:rPr lang="en-US" sz="9600" baseline="30000" dirty="0">
                <a:cs typeface="Arial MT"/>
              </a:rPr>
              <a:t>st</a:t>
            </a:r>
            <a:r>
              <a:rPr lang="en-US" sz="9600" spc="263" baseline="24305" dirty="0">
                <a:cs typeface="Arial MT"/>
              </a:rPr>
              <a:t> </a:t>
            </a:r>
            <a:r>
              <a:rPr lang="en-US" sz="9600" spc="-20" dirty="0">
                <a:cs typeface="Arial MT"/>
              </a:rPr>
              <a:t>Rib.</a:t>
            </a:r>
          </a:p>
          <a:p>
            <a:pPr marL="50988" marR="268961">
              <a:spcBef>
                <a:spcPts val="572"/>
              </a:spcBef>
            </a:pPr>
            <a:endParaRPr lang="en-US" sz="9600" dirty="0">
              <a:cs typeface="Arial MT"/>
            </a:endParaRPr>
          </a:p>
          <a:p>
            <a:pPr marL="50988" marR="168260">
              <a:spcBef>
                <a:spcPts val="562"/>
              </a:spcBef>
            </a:pPr>
            <a:r>
              <a:rPr lang="en-US" sz="9600" dirty="0">
                <a:cs typeface="Arial MT"/>
              </a:rPr>
              <a:t>Reaches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spc="-20" dirty="0">
                <a:cs typeface="Arial MT"/>
              </a:rPr>
              <a:t>1-</a:t>
            </a:r>
            <a:r>
              <a:rPr lang="en-US" sz="9600" dirty="0">
                <a:cs typeface="Arial MT"/>
              </a:rPr>
              <a:t>2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cm</a:t>
            </a:r>
            <a:r>
              <a:rPr lang="en-US" sz="9600" spc="-40" dirty="0">
                <a:cs typeface="Arial MT"/>
              </a:rPr>
              <a:t> </a:t>
            </a:r>
            <a:r>
              <a:rPr lang="en-US" sz="9600" spc="-20" dirty="0">
                <a:cs typeface="Arial MT"/>
              </a:rPr>
              <a:t>above the </a:t>
            </a:r>
            <a:r>
              <a:rPr lang="en-US" sz="9600" dirty="0">
                <a:cs typeface="Arial MT"/>
              </a:rPr>
              <a:t>medial</a:t>
            </a:r>
            <a:r>
              <a:rPr lang="en-US" sz="9600" spc="-4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1/3</a:t>
            </a:r>
            <a:r>
              <a:rPr lang="en-US" sz="9600" baseline="30000" dirty="0">
                <a:cs typeface="Arial MT"/>
              </a:rPr>
              <a:t>rd</a:t>
            </a:r>
            <a:r>
              <a:rPr lang="en-US" sz="9600" spc="271" baseline="2430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of</a:t>
            </a:r>
            <a:r>
              <a:rPr lang="en-US" sz="9600" spc="-45" dirty="0">
                <a:cs typeface="Arial MT"/>
              </a:rPr>
              <a:t> the </a:t>
            </a:r>
            <a:r>
              <a:rPr lang="en-US" sz="9600" spc="-10" dirty="0">
                <a:cs typeface="Arial MT"/>
              </a:rPr>
              <a:t>clavicle.</a:t>
            </a:r>
          </a:p>
          <a:p>
            <a:pPr marL="50988" marR="168260">
              <a:spcBef>
                <a:spcPts val="562"/>
              </a:spcBef>
            </a:pPr>
            <a:endParaRPr lang="en-US" sz="9600" dirty="0">
              <a:cs typeface="Arial MT"/>
            </a:endParaRPr>
          </a:p>
          <a:p>
            <a:pPr marL="50988">
              <a:spcBef>
                <a:spcPts val="567"/>
              </a:spcBef>
            </a:pPr>
            <a:r>
              <a:rPr lang="en-US" sz="9600" b="1" dirty="0">
                <a:cs typeface="Arial"/>
              </a:rPr>
              <a:t>Coverings:</a:t>
            </a:r>
            <a:r>
              <a:rPr lang="en-US" sz="9600" b="1" spc="-110" dirty="0">
                <a:cs typeface="Arial"/>
              </a:rPr>
              <a:t> </a:t>
            </a:r>
            <a:r>
              <a:rPr lang="en-US" sz="9600" spc="-10" dirty="0">
                <a:cs typeface="Arial MT"/>
              </a:rPr>
              <a:t>Cervical pleura, </a:t>
            </a:r>
            <a:r>
              <a:rPr lang="en-US" sz="9600" dirty="0" err="1">
                <a:cs typeface="Arial MT"/>
              </a:rPr>
              <a:t>suprapleural</a:t>
            </a:r>
            <a:r>
              <a:rPr lang="en-US" sz="9600" spc="-125" dirty="0">
                <a:cs typeface="Arial MT"/>
              </a:rPr>
              <a:t> </a:t>
            </a:r>
            <a:r>
              <a:rPr lang="en-US" sz="9600" spc="-10" dirty="0">
                <a:cs typeface="Arial MT"/>
              </a:rPr>
              <a:t>membrane</a:t>
            </a:r>
          </a:p>
          <a:p>
            <a:pPr marL="214149" marR="17846">
              <a:lnSpc>
                <a:spcPct val="119800"/>
              </a:lnSpc>
              <a:tabLst>
                <a:tab pos="1421289" algn="l"/>
              </a:tabLst>
            </a:pPr>
            <a:r>
              <a:rPr lang="en-US" sz="9600" b="1" dirty="0">
                <a:cs typeface="Arial"/>
              </a:rPr>
              <a:t>Grooved</a:t>
            </a:r>
            <a:r>
              <a:rPr lang="en-US" sz="9600" b="1" spc="-75" dirty="0">
                <a:cs typeface="Arial"/>
              </a:rPr>
              <a:t>: </a:t>
            </a:r>
            <a:r>
              <a:rPr lang="en-US" sz="9600" dirty="0">
                <a:cs typeface="Arial MT"/>
              </a:rPr>
              <a:t>Subclavian</a:t>
            </a:r>
            <a:r>
              <a:rPr lang="en-US" sz="9600" spc="-75" dirty="0">
                <a:cs typeface="Arial MT"/>
              </a:rPr>
              <a:t> </a:t>
            </a:r>
            <a:r>
              <a:rPr lang="en-US" sz="9600" spc="-10" dirty="0">
                <a:cs typeface="Arial MT"/>
              </a:rPr>
              <a:t>artery </a:t>
            </a:r>
            <a:r>
              <a:rPr lang="en-US" sz="9600" dirty="0">
                <a:cs typeface="Arial MT"/>
              </a:rPr>
              <a:t>Subclavian</a:t>
            </a:r>
            <a:r>
              <a:rPr lang="en-US" sz="9600" spc="-75" dirty="0">
                <a:cs typeface="Arial MT"/>
              </a:rPr>
              <a:t> </a:t>
            </a:r>
            <a:r>
              <a:rPr lang="en-US" sz="9600" spc="-20" dirty="0">
                <a:cs typeface="Arial MT"/>
              </a:rPr>
              <a:t>vein</a:t>
            </a:r>
          </a:p>
          <a:p>
            <a:pPr marL="0" indent="0">
              <a:spcBef>
                <a:spcPts val="95"/>
              </a:spcBef>
              <a:buNone/>
            </a:pPr>
            <a:endParaRPr lang="en-US" sz="9600" spc="-10" dirty="0">
              <a:cs typeface="Arial MT"/>
            </a:endParaRPr>
          </a:p>
          <a:p>
            <a:pPr marL="12747">
              <a:spcBef>
                <a:spcPts val="95"/>
              </a:spcBef>
            </a:pPr>
            <a:endParaRPr lang="en-US" sz="9600" spc="-10" dirty="0">
              <a:cs typeface="Arial MT"/>
            </a:endParaRPr>
          </a:p>
          <a:p>
            <a:pPr marL="12747">
              <a:spcBef>
                <a:spcPts val="95"/>
              </a:spcBef>
            </a:pPr>
            <a:r>
              <a:rPr lang="en-US" sz="14400" dirty="0">
                <a:cs typeface="Arial MT"/>
              </a:rPr>
              <a:t>Base </a:t>
            </a:r>
          </a:p>
          <a:p>
            <a:pPr marL="12747">
              <a:spcBef>
                <a:spcPts val="95"/>
              </a:spcBef>
            </a:pPr>
            <a:endParaRPr lang="en-US" sz="9600" dirty="0">
              <a:cs typeface="Arial MT"/>
            </a:endParaRPr>
          </a:p>
          <a:p>
            <a:pPr marL="12747">
              <a:spcBef>
                <a:spcPts val="95"/>
              </a:spcBef>
            </a:pPr>
            <a:r>
              <a:rPr lang="en-US" sz="9600" dirty="0">
                <a:cs typeface="Arial MT"/>
              </a:rPr>
              <a:t>Semilunar</a:t>
            </a:r>
            <a:r>
              <a:rPr lang="en-US" sz="9600" spc="-5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and</a:t>
            </a:r>
            <a:r>
              <a:rPr lang="en-US" sz="9600" spc="-50" dirty="0">
                <a:cs typeface="Arial MT"/>
              </a:rPr>
              <a:t> </a:t>
            </a:r>
            <a:r>
              <a:rPr lang="en-US" sz="9600" spc="-10" dirty="0">
                <a:cs typeface="Arial MT"/>
              </a:rPr>
              <a:t>concave.</a:t>
            </a:r>
          </a:p>
          <a:p>
            <a:pPr marL="12747">
              <a:spcBef>
                <a:spcPts val="95"/>
              </a:spcBef>
            </a:pPr>
            <a:endParaRPr lang="en-US" sz="9600" dirty="0">
              <a:cs typeface="Arial MT"/>
            </a:endParaRPr>
          </a:p>
          <a:p>
            <a:pPr marL="12747"/>
            <a:r>
              <a:rPr lang="en-US" sz="9600" dirty="0">
                <a:cs typeface="Arial MT"/>
              </a:rPr>
              <a:t>Rests</a:t>
            </a:r>
            <a:r>
              <a:rPr lang="en-US" sz="9600" spc="-3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on</a:t>
            </a:r>
            <a:r>
              <a:rPr lang="en-US" sz="9600" spc="-35" dirty="0">
                <a:cs typeface="Arial MT"/>
              </a:rPr>
              <a:t> the </a:t>
            </a:r>
            <a:r>
              <a:rPr lang="en-US" sz="9600" dirty="0">
                <a:cs typeface="Arial MT"/>
              </a:rPr>
              <a:t>dome</a:t>
            </a:r>
            <a:r>
              <a:rPr lang="en-US" sz="9600" spc="-30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of</a:t>
            </a:r>
            <a:r>
              <a:rPr lang="en-US" sz="9600" spc="-30" dirty="0">
                <a:cs typeface="Arial MT"/>
              </a:rPr>
              <a:t> the </a:t>
            </a:r>
            <a:r>
              <a:rPr lang="en-US" sz="9600" spc="-10" dirty="0">
                <a:cs typeface="Arial MT"/>
              </a:rPr>
              <a:t>Diaphragm.</a:t>
            </a:r>
          </a:p>
          <a:p>
            <a:pPr marL="12747"/>
            <a:endParaRPr lang="en-US" sz="9600" dirty="0">
              <a:cs typeface="Arial MT"/>
            </a:endParaRPr>
          </a:p>
          <a:p>
            <a:pPr marL="12747"/>
            <a:r>
              <a:rPr lang="en-US" sz="9600" dirty="0">
                <a:cs typeface="Arial MT"/>
              </a:rPr>
              <a:t>The right</a:t>
            </a:r>
            <a:r>
              <a:rPr lang="en-US" sz="9600" spc="-40" dirty="0">
                <a:cs typeface="Arial MT"/>
              </a:rPr>
              <a:t>-</a:t>
            </a:r>
            <a:r>
              <a:rPr lang="en-US" sz="9600" dirty="0">
                <a:cs typeface="Arial MT"/>
              </a:rPr>
              <a:t>sided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dome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is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higher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dirty="0">
                <a:cs typeface="Arial MT"/>
              </a:rPr>
              <a:t>than</a:t>
            </a:r>
            <a:r>
              <a:rPr lang="en-US" sz="9600" spc="-35" dirty="0">
                <a:cs typeface="Arial MT"/>
              </a:rPr>
              <a:t> </a:t>
            </a:r>
            <a:r>
              <a:rPr lang="en-US" sz="9600" spc="-10" dirty="0">
                <a:cs typeface="Arial MT"/>
              </a:rPr>
              <a:t>left</a:t>
            </a:r>
            <a:endParaRPr lang="en-GB" sz="9600" dirty="0"/>
          </a:p>
          <a:p>
            <a:pPr marL="214149" marR="17846">
              <a:lnSpc>
                <a:spcPct val="119800"/>
              </a:lnSpc>
              <a:tabLst>
                <a:tab pos="1421289" algn="l"/>
              </a:tabLst>
            </a:pPr>
            <a:endParaRPr lang="en-US" dirty="0">
              <a:latin typeface="Arial MT"/>
              <a:cs typeface="Arial MT"/>
            </a:endParaRPr>
          </a:p>
          <a:p>
            <a:pPr marL="214149" marR="17846">
              <a:lnSpc>
                <a:spcPct val="119800"/>
              </a:lnSpc>
              <a:tabLst>
                <a:tab pos="1421289" algn="l"/>
              </a:tabLst>
            </a:pP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923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D2E9-DAAB-40C6-EEF5-E23CBBD6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9" y="123290"/>
            <a:ext cx="11743362" cy="1099336"/>
          </a:xfrm>
        </p:spPr>
        <p:txBody>
          <a:bodyPr/>
          <a:lstStyle/>
          <a:p>
            <a:r>
              <a:rPr lang="en-GB" b="1" dirty="0"/>
              <a:t>SURFACE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3F94-F7DD-00E0-B95C-D31F148D2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09" y="1017142"/>
            <a:ext cx="11743361" cy="5717568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sz="4400" dirty="0"/>
              <a:t> Costal surfaces conform to surrounding structures</a:t>
            </a:r>
          </a:p>
          <a:p>
            <a:endParaRPr lang="en-US" sz="4400" dirty="0"/>
          </a:p>
          <a:p>
            <a:r>
              <a:rPr lang="en-US" sz="4400" dirty="0"/>
              <a:t>Costal surface</a:t>
            </a: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r>
              <a:rPr lang="en-US" sz="4400" dirty="0">
                <a:latin typeface="Times New Roman"/>
                <a:cs typeface="Times New Roman"/>
              </a:rPr>
              <a:t>		It</a:t>
            </a:r>
            <a:r>
              <a:rPr lang="en-US" sz="4400" spc="-4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is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in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contact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with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spc="-10" dirty="0">
                <a:latin typeface="Times New Roman"/>
                <a:cs typeface="Times New Roman"/>
              </a:rPr>
              <a:t>costal </a:t>
            </a:r>
            <a:r>
              <a:rPr lang="en-US" sz="4400" dirty="0">
                <a:latin typeface="Times New Roman"/>
                <a:cs typeface="Times New Roman"/>
              </a:rPr>
              <a:t>pleura</a:t>
            </a:r>
            <a:r>
              <a:rPr lang="en-US" sz="4400" spc="-7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and</a:t>
            </a:r>
            <a:r>
              <a:rPr lang="en-US" sz="4400" spc="-70" dirty="0">
                <a:latin typeface="Times New Roman"/>
                <a:cs typeface="Times New Roman"/>
              </a:rPr>
              <a:t> </a:t>
            </a:r>
            <a:r>
              <a:rPr lang="en-US" sz="4400" spc="-10" dirty="0">
                <a:latin typeface="Times New Roman"/>
                <a:cs typeface="Times New Roman"/>
              </a:rPr>
              <a:t>overlying </a:t>
            </a:r>
            <a:r>
              <a:rPr lang="en-US" sz="4400" dirty="0">
                <a:latin typeface="Times New Roman"/>
                <a:cs typeface="Times New Roman"/>
              </a:rPr>
              <a:t>thoracic</a:t>
            </a:r>
            <a:r>
              <a:rPr lang="en-US" sz="4400" spc="-100" dirty="0">
                <a:latin typeface="Times New Roman"/>
                <a:cs typeface="Times New Roman"/>
              </a:rPr>
              <a:t> </a:t>
            </a:r>
            <a:r>
              <a:rPr lang="en-US" sz="4400" spc="-10" dirty="0">
                <a:latin typeface="Times New Roman"/>
                <a:cs typeface="Times New Roman"/>
              </a:rPr>
              <a:t>wall</a:t>
            </a: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endParaRPr lang="en-US" sz="4400" spc="-10" dirty="0">
              <a:latin typeface="Times New Roman"/>
              <a:cs typeface="Times New Roman"/>
            </a:endParaRP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endParaRPr lang="en-US" sz="4400" spc="-10" dirty="0">
              <a:latin typeface="Times New Roman"/>
              <a:cs typeface="Times New Roman"/>
            </a:endParaRP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endParaRPr lang="en-US" sz="4400" spc="-10" dirty="0">
              <a:latin typeface="Times New Roman"/>
              <a:cs typeface="Times New Roman"/>
            </a:endParaRP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endParaRPr lang="en-US" sz="4400" dirty="0">
              <a:latin typeface="Times New Roman"/>
              <a:cs typeface="Times New Roman"/>
            </a:endParaRPr>
          </a:p>
          <a:p>
            <a:pPr marL="469947" marR="184831" indent="-457200">
              <a:spcBef>
                <a:spcPts val="95"/>
              </a:spcBef>
              <a:tabLst>
                <a:tab pos="249204" algn="l"/>
              </a:tabLst>
            </a:pPr>
            <a:r>
              <a:rPr lang="en-US" sz="4400" dirty="0"/>
              <a:t>Mediastinal surface: cardiac, esophageal, aortic impressions</a:t>
            </a:r>
          </a:p>
          <a:p>
            <a:pPr marL="469947" marR="184831" indent="-457200">
              <a:spcBef>
                <a:spcPts val="95"/>
              </a:spcBef>
              <a:tabLst>
                <a:tab pos="249204" algn="l"/>
              </a:tabLst>
            </a:pPr>
            <a:endParaRPr lang="en-US" sz="4400" dirty="0">
              <a:latin typeface="Times New Roman"/>
              <a:cs typeface="Times New Roman"/>
            </a:endParaRPr>
          </a:p>
          <a:p>
            <a:pPr marL="469947" marR="184831" indent="-457200">
              <a:spcBef>
                <a:spcPts val="95"/>
              </a:spcBef>
              <a:tabLst>
                <a:tab pos="249204" algn="l"/>
              </a:tabLst>
            </a:pPr>
            <a:r>
              <a:rPr lang="en-US" sz="4400" dirty="0">
                <a:latin typeface="Times New Roman"/>
                <a:cs typeface="Times New Roman"/>
              </a:rPr>
              <a:t>Mediastinal surface </a:t>
            </a:r>
          </a:p>
          <a:p>
            <a:pPr marL="469947" marR="184831" indent="-457200">
              <a:spcBef>
                <a:spcPts val="95"/>
              </a:spcBef>
              <a:tabLst>
                <a:tab pos="249204" algn="l"/>
              </a:tabLst>
            </a:pPr>
            <a:endParaRPr lang="en-US" sz="4400" dirty="0">
              <a:latin typeface="Times New Roman"/>
              <a:cs typeface="Times New Roman"/>
            </a:endParaRPr>
          </a:p>
          <a:p>
            <a:pPr marL="12747" marR="184831" indent="0">
              <a:spcBef>
                <a:spcPts val="95"/>
              </a:spcBef>
              <a:buNone/>
              <a:tabLst>
                <a:tab pos="249204" algn="l"/>
              </a:tabLst>
            </a:pPr>
            <a:endParaRPr lang="en-US" sz="4400" dirty="0">
              <a:latin typeface="Times New Roman"/>
              <a:cs typeface="Times New Roman"/>
            </a:endParaRPr>
          </a:p>
          <a:p>
            <a:pPr marL="469947" marR="184831" lvl="1" indent="0">
              <a:spcBef>
                <a:spcPts val="95"/>
              </a:spcBef>
              <a:buNone/>
              <a:tabLst>
                <a:tab pos="249204" algn="l"/>
              </a:tabLst>
            </a:pPr>
            <a:r>
              <a:rPr lang="en-US" sz="4400" dirty="0">
                <a:latin typeface="Times New Roman"/>
                <a:cs typeface="Times New Roman"/>
              </a:rPr>
              <a:t>	Anterior</a:t>
            </a:r>
            <a:r>
              <a:rPr lang="en-US" sz="4400" spc="-9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/</a:t>
            </a:r>
            <a:r>
              <a:rPr lang="en-US" sz="4400" spc="-8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Mediastinal</a:t>
            </a:r>
            <a:r>
              <a:rPr lang="en-US" sz="4400" spc="-90" dirty="0">
                <a:latin typeface="Times New Roman"/>
                <a:cs typeface="Times New Roman"/>
              </a:rPr>
              <a:t> </a:t>
            </a:r>
            <a:r>
              <a:rPr lang="en-US" sz="4400" spc="-20" dirty="0">
                <a:latin typeface="Times New Roman"/>
                <a:cs typeface="Times New Roman"/>
              </a:rPr>
              <a:t>Part</a:t>
            </a:r>
            <a:endParaRPr lang="en-US" sz="4400" dirty="0">
              <a:latin typeface="Times New Roman"/>
              <a:cs typeface="Times New Roman"/>
            </a:endParaRPr>
          </a:p>
          <a:p>
            <a:pPr marL="927147" marR="184831" lvl="1" indent="-457200">
              <a:spcBef>
                <a:spcPts val="95"/>
              </a:spcBef>
              <a:tabLst>
                <a:tab pos="249204" algn="l"/>
              </a:tabLst>
            </a:pPr>
            <a:endParaRPr lang="en-US" sz="4400" dirty="0">
              <a:latin typeface="Times New Roman"/>
              <a:cs typeface="Times New Roman"/>
            </a:endParaRPr>
          </a:p>
          <a:p>
            <a:pPr marL="12747" indent="0">
              <a:spcBef>
                <a:spcPts val="1927"/>
              </a:spcBef>
              <a:buNone/>
              <a:tabLst>
                <a:tab pos="249204" algn="l"/>
              </a:tabLst>
            </a:pPr>
            <a:r>
              <a:rPr lang="en-US" sz="4400" dirty="0">
                <a:latin typeface="Times New Roman"/>
                <a:cs typeface="Times New Roman"/>
              </a:rPr>
              <a:t>		Posterior</a:t>
            </a:r>
            <a:r>
              <a:rPr lang="en-US" sz="4400" spc="-8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/</a:t>
            </a:r>
            <a:r>
              <a:rPr lang="en-US" sz="4400" spc="-8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Vertebral</a:t>
            </a:r>
            <a:r>
              <a:rPr lang="en-US" sz="4400" spc="-80" dirty="0">
                <a:latin typeface="Times New Roman"/>
                <a:cs typeface="Times New Roman"/>
              </a:rPr>
              <a:t> </a:t>
            </a:r>
            <a:r>
              <a:rPr lang="en-US" sz="4400" spc="-20" dirty="0">
                <a:latin typeface="Times New Roman"/>
                <a:cs typeface="Times New Roman"/>
              </a:rPr>
              <a:t>Part</a:t>
            </a:r>
            <a:endParaRPr lang="en-US" sz="4400" dirty="0">
              <a:latin typeface="Times New Roman"/>
              <a:cs typeface="Times New Roman"/>
            </a:endParaRPr>
          </a:p>
          <a:p>
            <a:pPr marL="12747" indent="0">
              <a:spcBef>
                <a:spcPts val="1927"/>
              </a:spcBef>
              <a:buNone/>
              <a:tabLst>
                <a:tab pos="249204" algn="l"/>
              </a:tabLst>
            </a:pPr>
            <a:r>
              <a:rPr lang="en-US" dirty="0">
                <a:latin typeface="Times New Roman"/>
                <a:cs typeface="Times New Roman"/>
              </a:rPr>
              <a:t>		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54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3B84-0BE9-0D94-8CB8-DE67BA72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205483"/>
            <a:ext cx="11743362" cy="750015"/>
          </a:xfrm>
        </p:spPr>
        <p:txBody>
          <a:bodyPr>
            <a:normAutofit/>
          </a:bodyPr>
          <a:lstStyle/>
          <a:p>
            <a:r>
              <a:rPr lang="en-GB" b="1" spc="-10" dirty="0"/>
              <a:t>BORDERS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46FC3-0146-30CE-FE6D-119A0D3A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629" y="992796"/>
            <a:ext cx="5157787" cy="823912"/>
          </a:xfrm>
        </p:spPr>
        <p:txBody>
          <a:bodyPr>
            <a:normAutofit lnSpcReduction="10000"/>
          </a:bodyPr>
          <a:lstStyle/>
          <a:p>
            <a:endParaRPr lang="en-US" dirty="0">
              <a:latin typeface="Arial MT"/>
              <a:cs typeface="Arial MT"/>
            </a:endParaRPr>
          </a:p>
          <a:p>
            <a:r>
              <a:rPr lang="en-US" dirty="0">
                <a:latin typeface="Arial MT"/>
                <a:cs typeface="Arial MT"/>
              </a:rPr>
              <a:t>ANTERIOR</a:t>
            </a:r>
            <a:r>
              <a:rPr lang="en-US" spc="-10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BORDER</a:t>
            </a:r>
            <a:r>
              <a:rPr lang="en-US" spc="-100" dirty="0">
                <a:latin typeface="Arial MT"/>
                <a:cs typeface="Arial MT"/>
              </a:rPr>
              <a:t> </a:t>
            </a: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4B454-DB28-93EF-18D5-51BB1C92F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5484" y="1602769"/>
            <a:ext cx="5966716" cy="504974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110"/>
              </a:spcBef>
              <a:buClr>
                <a:srgbClr val="5B5B89"/>
              </a:buClr>
              <a:buFont typeface="Arial MT"/>
              <a:buAutoNum type="arabicPeriod"/>
            </a:pPr>
            <a:r>
              <a:rPr lang="en-US" dirty="0">
                <a:latin typeface="Arial MT"/>
                <a:cs typeface="Arial MT"/>
              </a:rPr>
              <a:t>Both anterior and posterior borders separate the costal surface from the mediastinal surface</a:t>
            </a:r>
          </a:p>
          <a:p>
            <a:pPr>
              <a:lnSpc>
                <a:spcPct val="100000"/>
              </a:lnSpc>
              <a:spcBef>
                <a:spcPts val="1110"/>
              </a:spcBef>
              <a:buClr>
                <a:srgbClr val="5B5B89"/>
              </a:buClr>
              <a:buFont typeface="Arial MT"/>
              <a:buAutoNum type="arabicPeriod"/>
            </a:pP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is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deeply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notched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left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lung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posterior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5</a:t>
            </a:r>
            <a:r>
              <a:rPr lang="en-US" sz="2850" baseline="23391" dirty="0">
                <a:latin typeface="Arial MT"/>
                <a:cs typeface="Arial MT"/>
              </a:rPr>
              <a:t>th</a:t>
            </a:r>
            <a:r>
              <a:rPr lang="en-US" sz="2850" spc="330" baseline="23391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costal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cartilage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by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pericardium</a:t>
            </a:r>
            <a:r>
              <a:rPr lang="en-US" spc="70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and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extends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vertically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downwards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form </a:t>
            </a:r>
            <a:r>
              <a:rPr lang="en-US" b="1" dirty="0">
                <a:latin typeface="Arial"/>
                <a:cs typeface="Arial"/>
              </a:rPr>
              <a:t>Lingula</a:t>
            </a:r>
            <a:r>
              <a:rPr lang="en-US" dirty="0">
                <a:latin typeface="Arial MT"/>
                <a:cs typeface="Arial MT"/>
              </a:rPr>
              <a:t>.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This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is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called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b="1" spc="-10" dirty="0">
                <a:latin typeface="Arial"/>
                <a:cs typeface="Arial"/>
              </a:rPr>
              <a:t>cardiac </a:t>
            </a:r>
            <a:r>
              <a:rPr lang="en-US" b="1" dirty="0">
                <a:latin typeface="Arial"/>
                <a:cs typeface="Arial"/>
              </a:rPr>
              <a:t>notch </a:t>
            </a:r>
            <a:r>
              <a:rPr lang="en-US" dirty="0">
                <a:latin typeface="Arial MT"/>
                <a:cs typeface="Arial MT"/>
              </a:rPr>
              <a:t>(percussion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this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area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gives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dull </a:t>
            </a:r>
            <a:r>
              <a:rPr lang="en-US" dirty="0">
                <a:latin typeface="Arial MT"/>
                <a:cs typeface="Arial MT"/>
              </a:rPr>
              <a:t>note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as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compared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dull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note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obtained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over </a:t>
            </a:r>
            <a:r>
              <a:rPr lang="en-US" spc="-10" dirty="0">
                <a:latin typeface="Arial MT"/>
                <a:cs typeface="Arial MT"/>
              </a:rPr>
              <a:t>lung).</a:t>
            </a: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DB89B-A6A9-AAA5-7FB9-5E1DF6C6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62191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GB" sz="2800" spc="-114" dirty="0"/>
              <a:t>POSTERIOR </a:t>
            </a:r>
            <a:r>
              <a:rPr lang="en-GB" sz="2800" spc="-10" dirty="0"/>
              <a:t>BORDER</a:t>
            </a:r>
            <a:endParaRPr lang="en-GB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7B355-642E-368A-7C19-FC1DCE5D4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9286" y="1854006"/>
            <a:ext cx="5682710" cy="4700427"/>
          </a:xfrm>
        </p:spPr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7075" algn="l"/>
              </a:tabLst>
            </a:pPr>
            <a:r>
              <a:rPr lang="en-US" dirty="0">
                <a:latin typeface="Arial MT"/>
                <a:cs typeface="Arial MT"/>
              </a:rPr>
              <a:t>Smooth and rounded</a:t>
            </a:r>
          </a:p>
          <a:p>
            <a:pPr marL="12700" marR="5080">
              <a:lnSpc>
                <a:spcPts val="9200"/>
              </a:lnSpc>
            </a:pPr>
            <a:r>
              <a:rPr lang="en-US" dirty="0">
                <a:latin typeface="Arial MT"/>
                <a:cs typeface="Arial MT"/>
              </a:rPr>
              <a:t>Fits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into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deep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paravertebral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gutter</a:t>
            </a:r>
          </a:p>
          <a:p>
            <a:pPr marL="12700" marR="5080">
              <a:lnSpc>
                <a:spcPts val="9200"/>
              </a:lnSpc>
            </a:pPr>
            <a:r>
              <a:rPr lang="en-US" dirty="0">
                <a:latin typeface="Arial MT"/>
                <a:cs typeface="Arial MT"/>
              </a:rPr>
              <a:t>Extends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from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C7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T10.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20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7F34-45B4-15A1-93F2-9E0C4C90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INFERIOR</a:t>
            </a:r>
            <a:r>
              <a:rPr lang="en-GB" b="1" spc="-200" dirty="0"/>
              <a:t> </a:t>
            </a:r>
            <a:r>
              <a:rPr lang="en-GB" b="1" spc="-10" dirty="0"/>
              <a:t>BORDER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8CB9-A9F4-5B2C-B3A9-A7A13AFC2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 MT"/>
                <a:cs typeface="Arial MT"/>
              </a:rPr>
              <a:t>Thin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and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sharp</a:t>
            </a:r>
            <a:endParaRPr lang="en-US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lang="en-US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separates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base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of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lung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from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the </a:t>
            </a:r>
            <a:r>
              <a:rPr lang="en-US" dirty="0">
                <a:latin typeface="Arial MT"/>
                <a:cs typeface="Arial MT"/>
              </a:rPr>
              <a:t>costal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surface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and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extends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into </a:t>
            </a:r>
            <a:r>
              <a:rPr lang="en-US" dirty="0" err="1">
                <a:latin typeface="Arial MT"/>
                <a:cs typeface="Arial MT"/>
              </a:rPr>
              <a:t>phrenicocostal</a:t>
            </a:r>
            <a:r>
              <a:rPr lang="en-US" spc="-12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sinus.</a:t>
            </a:r>
            <a:endParaRPr lang="en-US" dirty="0">
              <a:latin typeface="Arial MT"/>
              <a:cs typeface="Arial MT"/>
            </a:endParaRPr>
          </a:p>
          <a:p>
            <a:pPr marL="12700" marR="5080">
              <a:lnSpc>
                <a:spcPts val="9200"/>
              </a:lnSpc>
            </a:pP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94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7728-456C-489C-445D-32E3318D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3" y="0"/>
            <a:ext cx="11887200" cy="113015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ROOT AND HILUM OF THE LUNG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64DF-7211-6791-BB68-4FD8D07F3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3" y="821932"/>
            <a:ext cx="11887200" cy="5948737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r>
              <a:rPr lang="en-GB" dirty="0"/>
              <a:t>The root of each lung is a short, broad pedicle which connects the medial surface of the lung to the mediastinum</a:t>
            </a:r>
          </a:p>
          <a:p>
            <a:r>
              <a:rPr lang="en-GB" dirty="0"/>
              <a:t>It is covered by a sleeve of mediastinal pleural that reflects onto the surface of the lung as visceral pleura</a:t>
            </a:r>
          </a:p>
          <a:p>
            <a:endParaRPr lang="en-GB" dirty="0"/>
          </a:p>
          <a:p>
            <a:r>
              <a:rPr lang="en-GB" dirty="0"/>
              <a:t>The region outlined by this pleural reflection on the medial surface of the lung is called the hilum where structures enter and leave the lung</a:t>
            </a:r>
          </a:p>
          <a:p>
            <a:endParaRPr lang="en-GB" dirty="0"/>
          </a:p>
          <a:p>
            <a:r>
              <a:rPr lang="en-GB" dirty="0"/>
              <a:t>A thin blade like fold of pleural project inferiorly from the root of the lung and extend from the hilum to the mediastinum, this structure is called pulmonary ligament.</a:t>
            </a:r>
          </a:p>
          <a:p>
            <a:endParaRPr lang="en-GB" dirty="0"/>
          </a:p>
          <a:p>
            <a:r>
              <a:rPr lang="en-GB" dirty="0"/>
              <a:t>The root of the lungs lie opposite the bodies of fifth, sixth and seventh thoracic vertebrae</a:t>
            </a:r>
          </a:p>
        </p:txBody>
      </p:sp>
    </p:spTree>
    <p:extLst>
      <p:ext uri="{BB962C8B-B14F-4D97-AF65-F5344CB8AC3E}">
        <p14:creationId xmlns:p14="http://schemas.microsoft.com/office/powerpoint/2010/main" val="369805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DE85-69F4-560B-F34D-72F6FAB8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Structures located within each root at the hilum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6E7B-1D20-4EA0-EE3F-27B60073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pulmonary artery</a:t>
            </a:r>
          </a:p>
          <a:p>
            <a:r>
              <a:rPr lang="en-GB" dirty="0"/>
              <a:t>Two pulmonary vein</a:t>
            </a:r>
          </a:p>
          <a:p>
            <a:r>
              <a:rPr lang="en-GB" dirty="0"/>
              <a:t>A main bronchus</a:t>
            </a:r>
          </a:p>
          <a:p>
            <a:r>
              <a:rPr lang="en-GB" dirty="0"/>
              <a:t>Bronchial vessels</a:t>
            </a:r>
          </a:p>
          <a:p>
            <a:r>
              <a:rPr lang="en-GB" dirty="0"/>
              <a:t>Nerves</a:t>
            </a:r>
          </a:p>
          <a:p>
            <a:r>
              <a:rPr lang="en-GB" dirty="0"/>
              <a:t>Lymphatics</a:t>
            </a:r>
          </a:p>
          <a:p>
            <a:endParaRPr lang="en-GB" dirty="0"/>
          </a:p>
          <a:p>
            <a:r>
              <a:rPr lang="en-GB" dirty="0"/>
              <a:t>Note: the vagus nerve pass immediately posterior to the root of the lung while the phrenic nerves pass immediately anterior to them</a:t>
            </a:r>
          </a:p>
        </p:txBody>
      </p:sp>
    </p:spTree>
    <p:extLst>
      <p:ext uri="{BB962C8B-B14F-4D97-AF65-F5344CB8AC3E}">
        <p14:creationId xmlns:p14="http://schemas.microsoft.com/office/powerpoint/2010/main" val="2169595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751" y="0"/>
            <a:ext cx="915249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1881" y="1829208"/>
            <a:ext cx="1318424" cy="1040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36476" y="2062954"/>
            <a:ext cx="1482501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dirty="0">
                <a:latin typeface="Times New Roman"/>
                <a:cs typeface="Times New Roman"/>
              </a:rPr>
              <a:t>Groove</a:t>
            </a:r>
            <a:r>
              <a:rPr sz="853" spc="114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for</a:t>
            </a:r>
            <a:r>
              <a:rPr sz="853" spc="75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brachiocephsJic</a:t>
            </a:r>
            <a:r>
              <a:rPr sz="853" spc="85" dirty="0">
                <a:latin typeface="Times New Roman"/>
                <a:cs typeface="Times New Roman"/>
              </a:rPr>
              <a:t> </a:t>
            </a:r>
            <a:r>
              <a:rPr sz="853" spc="-20" dirty="0">
                <a:latin typeface="Times New Roman"/>
                <a:cs typeface="Times New Roman"/>
              </a:rPr>
              <a:t>vein</a:t>
            </a:r>
            <a:endParaRPr sz="85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0123" y="2263312"/>
            <a:ext cx="1713225" cy="123690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81007" marR="5099" indent="724666">
              <a:lnSpc>
                <a:spcPct val="141200"/>
              </a:lnSpc>
              <a:spcBef>
                <a:spcPts val="100"/>
              </a:spcBef>
            </a:pPr>
            <a:r>
              <a:rPr sz="853" dirty="0">
                <a:latin typeface="Times New Roman"/>
                <a:cs typeface="Times New Roman"/>
              </a:rPr>
              <a:t>Groove</a:t>
            </a:r>
            <a:r>
              <a:rPr sz="853" spc="3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for</a:t>
            </a:r>
            <a:r>
              <a:rPr sz="853" spc="-45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1st</a:t>
            </a:r>
            <a:r>
              <a:rPr sz="853" spc="196" dirty="0">
                <a:latin typeface="Times New Roman"/>
                <a:cs typeface="Times New Roman"/>
              </a:rPr>
              <a:t> </a:t>
            </a:r>
            <a:r>
              <a:rPr sz="853" spc="-25" dirty="0">
                <a:latin typeface="Times New Roman"/>
                <a:cs typeface="Times New Roman"/>
              </a:rPr>
              <a:t>nb</a:t>
            </a:r>
            <a:r>
              <a:rPr sz="853" spc="90" dirty="0">
                <a:latin typeface="Times New Roman"/>
                <a:cs typeface="Times New Roman"/>
              </a:rPr>
              <a:t> Grove</a:t>
            </a:r>
            <a:r>
              <a:rPr sz="853" spc="11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for</a:t>
            </a:r>
            <a:r>
              <a:rPr sz="853" spc="-2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supenor</a:t>
            </a:r>
            <a:r>
              <a:rPr sz="853" spc="45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dna</a:t>
            </a:r>
            <a:r>
              <a:rPr sz="853" spc="221" dirty="0">
                <a:latin typeface="Times New Roman"/>
                <a:cs typeface="Times New Roman"/>
              </a:rPr>
              <a:t>  </a:t>
            </a:r>
            <a:r>
              <a:rPr sz="853" spc="40" dirty="0">
                <a:latin typeface="Times New Roman"/>
                <a:cs typeface="Times New Roman"/>
              </a:rPr>
              <a:t>cave</a:t>
            </a:r>
            <a:endParaRPr sz="853">
              <a:latin typeface="Times New Roman"/>
              <a:cs typeface="Times New Roman"/>
            </a:endParaRPr>
          </a:p>
          <a:p>
            <a:pPr marL="253664" marR="234544" indent="-241555">
              <a:lnSpc>
                <a:spcPts val="984"/>
              </a:lnSpc>
              <a:spcBef>
                <a:spcPts val="486"/>
              </a:spcBef>
            </a:pPr>
            <a:r>
              <a:rPr sz="853" dirty="0">
                <a:latin typeface="Times New Roman"/>
                <a:cs typeface="Times New Roman"/>
              </a:rPr>
              <a:t>Area</a:t>
            </a:r>
            <a:r>
              <a:rPr sz="853" spc="-1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for</a:t>
            </a:r>
            <a:r>
              <a:rPr sz="853" spc="1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thymus</a:t>
            </a:r>
            <a:r>
              <a:rPr sz="853" spc="90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and</a:t>
            </a:r>
            <a:r>
              <a:rPr sz="853" spc="95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rnedisstinaJ tissue</a:t>
            </a:r>
            <a:endParaRPr sz="853">
              <a:latin typeface="Times New Roman"/>
              <a:cs typeface="Times New Roman"/>
            </a:endParaRPr>
          </a:p>
          <a:p>
            <a:pPr marL="879542">
              <a:lnSpc>
                <a:spcPts val="1270"/>
              </a:lnSpc>
              <a:spcBef>
                <a:spcPts val="291"/>
              </a:spcBef>
            </a:pPr>
            <a:r>
              <a:rPr sz="1154" b="1" spc="-20" dirty="0">
                <a:solidFill>
                  <a:srgbClr val="265689"/>
                </a:solidFill>
                <a:latin typeface="Cambria"/>
                <a:cs typeface="Cambria"/>
              </a:rPr>
              <a:t>Uppe</a:t>
            </a:r>
            <a:endParaRPr sz="1154">
              <a:latin typeface="Cambria"/>
              <a:cs typeface="Cambria"/>
            </a:endParaRPr>
          </a:p>
          <a:p>
            <a:pPr marL="945827">
              <a:lnSpc>
                <a:spcPts val="1270"/>
              </a:lnSpc>
            </a:pPr>
            <a:r>
              <a:rPr sz="1154" spc="-20" dirty="0">
                <a:solidFill>
                  <a:srgbClr val="265689"/>
                </a:solidFill>
                <a:latin typeface="Arial MT"/>
                <a:cs typeface="Arial MT"/>
              </a:rPr>
              <a:t>lobe</a:t>
            </a:r>
            <a:endParaRPr sz="1154">
              <a:latin typeface="Arial MT"/>
              <a:cs typeface="Arial MT"/>
            </a:endParaRPr>
          </a:p>
          <a:p>
            <a:pPr marL="622053">
              <a:spcBef>
                <a:spcPts val="191"/>
              </a:spcBef>
            </a:pPr>
            <a:r>
              <a:rPr sz="853" spc="-10" dirty="0">
                <a:latin typeface="Arial MT"/>
                <a:cs typeface="Arial MT"/>
              </a:rPr>
              <a:t>Anteñorboider</a:t>
            </a:r>
            <a:endParaRPr sz="85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9955" y="4158540"/>
            <a:ext cx="831118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dirty="0">
                <a:latin typeface="Times New Roman"/>
                <a:cs typeface="Times New Roman"/>
              </a:rPr>
              <a:t>Horizontal</a:t>
            </a:r>
            <a:r>
              <a:rPr sz="803" spc="205" dirty="0">
                <a:latin typeface="Times New Roman"/>
                <a:cs typeface="Times New Roman"/>
              </a:rPr>
              <a:t> </a:t>
            </a:r>
            <a:r>
              <a:rPr sz="803" spc="-10" dirty="0">
                <a:latin typeface="Times New Roman"/>
                <a:cs typeface="Times New Roman"/>
              </a:rPr>
              <a:t>fissure</a:t>
            </a:r>
            <a:endParaRPr sz="80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0485" y="4635470"/>
            <a:ext cx="930546" cy="731053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R="44614" algn="r">
              <a:spcBef>
                <a:spcPts val="100"/>
              </a:spcBef>
            </a:pPr>
            <a:r>
              <a:rPr sz="853" dirty="0">
                <a:latin typeface="Times New Roman"/>
                <a:cs typeface="Times New Roman"/>
              </a:rPr>
              <a:t>Cardiac</a:t>
            </a:r>
            <a:r>
              <a:rPr sz="853" spc="95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impression</a:t>
            </a:r>
            <a:endParaRPr sz="853">
              <a:latin typeface="Times New Roman"/>
              <a:cs typeface="Times New Roman"/>
            </a:endParaRPr>
          </a:p>
          <a:p>
            <a:pPr marL="425749" algn="ctr">
              <a:lnSpc>
                <a:spcPts val="1330"/>
              </a:lnSpc>
              <a:spcBef>
                <a:spcPts val="20"/>
              </a:spcBef>
            </a:pPr>
            <a:r>
              <a:rPr sz="1154" b="1" spc="-10" dirty="0">
                <a:solidFill>
                  <a:srgbClr val="562356"/>
                </a:solidFill>
                <a:latin typeface="Times New Roman"/>
                <a:cs typeface="Times New Roman"/>
              </a:rPr>
              <a:t>Middle</a:t>
            </a:r>
            <a:endParaRPr sz="1154">
              <a:latin typeface="Times New Roman"/>
              <a:cs typeface="Times New Roman"/>
            </a:endParaRPr>
          </a:p>
          <a:p>
            <a:pPr marL="414277" algn="ctr">
              <a:lnSpc>
                <a:spcPts val="1330"/>
              </a:lnSpc>
            </a:pPr>
            <a:r>
              <a:rPr sz="1154" spc="-20" dirty="0">
                <a:solidFill>
                  <a:srgbClr val="562323"/>
                </a:solidFill>
                <a:latin typeface="Arial MT"/>
                <a:cs typeface="Arial MT"/>
              </a:rPr>
              <a:t>lobe</a:t>
            </a:r>
            <a:endParaRPr sz="1154">
              <a:latin typeface="Arial MT"/>
              <a:cs typeface="Arial MT"/>
            </a:endParaRPr>
          </a:p>
          <a:p>
            <a:pPr marR="14022" algn="r">
              <a:spcBef>
                <a:spcPts val="823"/>
              </a:spcBef>
            </a:pPr>
            <a:r>
              <a:rPr sz="853" dirty="0">
                <a:latin typeface="Times New Roman"/>
                <a:cs typeface="Times New Roman"/>
              </a:rPr>
              <a:t>Oblique</a:t>
            </a:r>
            <a:r>
              <a:rPr sz="853" spc="-10" dirty="0">
                <a:latin typeface="Times New Roman"/>
                <a:cs typeface="Times New Roman"/>
              </a:rPr>
              <a:t> fissure</a:t>
            </a:r>
            <a:endParaRPr sz="85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89057" y="691451"/>
            <a:ext cx="1207798" cy="563137"/>
          </a:xfrm>
          <a:prstGeom prst="rect">
            <a:avLst/>
          </a:prstGeom>
        </p:spPr>
        <p:txBody>
          <a:bodyPr vert="horz" wrap="square" lIns="0" tIns="637" rIns="0" bIns="0" rtlCol="0" anchor="ctr">
            <a:spAutoFit/>
          </a:bodyPr>
          <a:lstStyle/>
          <a:p>
            <a:pPr marL="12747" marR="5099" indent="24219">
              <a:lnSpc>
                <a:spcPct val="104400"/>
              </a:lnSpc>
              <a:spcBef>
                <a:spcPts val="5"/>
              </a:spcBef>
            </a:pPr>
            <a:r>
              <a:rPr sz="1807" spc="50" dirty="0">
                <a:solidFill>
                  <a:srgbClr val="000000"/>
                </a:solidFill>
                <a:latin typeface="Times New Roman"/>
                <a:cs typeface="Times New Roman"/>
              </a:rPr>
              <a:t>Right</a:t>
            </a:r>
            <a:r>
              <a:rPr sz="1807" spc="2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7" spc="55" dirty="0">
                <a:solidFill>
                  <a:srgbClr val="000000"/>
                </a:solidFill>
                <a:latin typeface="Times New Roman"/>
                <a:cs typeface="Times New Roman"/>
              </a:rPr>
              <a:t>Lung </a:t>
            </a:r>
            <a:r>
              <a:rPr sz="1807" dirty="0">
                <a:solidFill>
                  <a:srgbClr val="000000"/>
                </a:solidFill>
                <a:latin typeface="Times New Roman"/>
                <a:cs typeface="Times New Roman"/>
              </a:rPr>
              <a:t>Medial</a:t>
            </a:r>
            <a:r>
              <a:rPr sz="1807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7" spc="-8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endParaRPr sz="180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2634" y="5932433"/>
            <a:ext cx="1059931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dirty="0">
                <a:latin typeface="Times New Roman"/>
                <a:cs typeface="Times New Roman"/>
              </a:rPr>
              <a:t>Diaghragrnstic</a:t>
            </a:r>
            <a:r>
              <a:rPr sz="853" spc="50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surfaaé</a:t>
            </a:r>
            <a:endParaRPr sz="85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42689" y="1322961"/>
            <a:ext cx="265779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b="1" spc="-20" dirty="0">
                <a:latin typeface="Times New Roman"/>
                <a:cs typeface="Times New Roman"/>
              </a:rPr>
              <a:t>Apex</a:t>
            </a:r>
            <a:endParaRPr sz="80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4501" y="1518730"/>
            <a:ext cx="1135139" cy="43722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dirty="0">
                <a:latin typeface="Times New Roman"/>
                <a:cs typeface="Times New Roman"/>
              </a:rPr>
              <a:t>Area</a:t>
            </a:r>
            <a:r>
              <a:rPr sz="803" spc="70" dirty="0">
                <a:latin typeface="Times New Roman"/>
                <a:cs typeface="Times New Roman"/>
              </a:rPr>
              <a:t> </a:t>
            </a:r>
            <a:r>
              <a:rPr sz="803" dirty="0">
                <a:latin typeface="Times New Roman"/>
                <a:cs typeface="Times New Roman"/>
              </a:rPr>
              <a:t>for</a:t>
            </a:r>
            <a:r>
              <a:rPr sz="803" spc="105" dirty="0">
                <a:latin typeface="Times New Roman"/>
                <a:cs typeface="Times New Roman"/>
              </a:rPr>
              <a:t> </a:t>
            </a:r>
            <a:r>
              <a:rPr sz="803" spc="50" dirty="0">
                <a:latin typeface="Times New Roman"/>
                <a:cs typeface="Times New Roman"/>
              </a:rPr>
              <a:t>trachea</a:t>
            </a:r>
            <a:endParaRPr sz="803">
              <a:latin typeface="Times New Roman"/>
              <a:cs typeface="Times New Roman"/>
            </a:endParaRPr>
          </a:p>
          <a:p>
            <a:pPr>
              <a:spcBef>
                <a:spcPts val="326"/>
              </a:spcBef>
            </a:pPr>
            <a:endParaRPr sz="803">
              <a:latin typeface="Times New Roman"/>
              <a:cs typeface="Times New Roman"/>
            </a:endParaRPr>
          </a:p>
          <a:p>
            <a:pPr marL="233907"/>
            <a:r>
              <a:rPr sz="853" spc="-35" dirty="0">
                <a:latin typeface="Arial MT"/>
                <a:cs typeface="Arial MT"/>
              </a:rPr>
              <a:t>Area</a:t>
            </a:r>
            <a:r>
              <a:rPr sz="853" spc="-40" dirty="0">
                <a:latin typeface="Arial MT"/>
                <a:cs typeface="Arial MT"/>
              </a:rPr>
              <a:t> </a:t>
            </a:r>
            <a:r>
              <a:rPr sz="853" spc="-20" dirty="0">
                <a:latin typeface="Arial MT"/>
                <a:cs typeface="Arial MT"/>
              </a:rPr>
              <a:t>for</a:t>
            </a:r>
            <a:r>
              <a:rPr sz="853" spc="-50" dirty="0">
                <a:latin typeface="Arial MT"/>
                <a:cs typeface="Arial MT"/>
              </a:rPr>
              <a:t> </a:t>
            </a:r>
            <a:r>
              <a:rPr sz="853" spc="-25" dirty="0">
                <a:latin typeface="Arial MT"/>
                <a:cs typeface="Arial MT"/>
              </a:rPr>
              <a:t>esophagus</a:t>
            </a:r>
            <a:endParaRPr sz="85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5461" y="5926569"/>
            <a:ext cx="664130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dirty="0">
                <a:latin typeface="Times New Roman"/>
                <a:cs typeface="Times New Roman"/>
              </a:rPr>
              <a:t>Inferior</a:t>
            </a:r>
            <a:r>
              <a:rPr sz="803" spc="85" dirty="0">
                <a:latin typeface="Times New Roman"/>
                <a:cs typeface="Times New Roman"/>
              </a:rPr>
              <a:t> </a:t>
            </a:r>
            <a:r>
              <a:rPr sz="803" spc="-10" dirty="0">
                <a:latin typeface="Times New Roman"/>
                <a:cs typeface="Times New Roman"/>
              </a:rPr>
              <a:t>border</a:t>
            </a:r>
            <a:endParaRPr sz="80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1051" y="2338253"/>
            <a:ext cx="715756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dirty="0">
                <a:latin typeface="Times New Roman"/>
                <a:cs typeface="Times New Roman"/>
              </a:rPr>
              <a:t>Oblique</a:t>
            </a:r>
            <a:r>
              <a:rPr sz="853" spc="-30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fissure</a:t>
            </a:r>
            <a:endParaRPr sz="85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4363" y="2651604"/>
            <a:ext cx="1251776" cy="1072041"/>
          </a:xfrm>
          <a:prstGeom prst="rect">
            <a:avLst/>
          </a:prstGeom>
        </p:spPr>
        <p:txBody>
          <a:bodyPr vert="horz" wrap="square" lIns="0" tIns="57362" rIns="0" bIns="0" rtlCol="0">
            <a:spAutoFit/>
          </a:bodyPr>
          <a:lstStyle/>
          <a:p>
            <a:pPr marL="12747">
              <a:spcBef>
                <a:spcPts val="452"/>
              </a:spcBef>
            </a:pPr>
            <a:r>
              <a:rPr sz="853" dirty="0">
                <a:latin typeface="Times New Roman"/>
                <a:cs typeface="Times New Roman"/>
              </a:rPr>
              <a:t>Pleura(cut</a:t>
            </a:r>
            <a:r>
              <a:rPr sz="853" spc="266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edge)</a:t>
            </a:r>
            <a:endParaRPr sz="853">
              <a:latin typeface="Times New Roman"/>
              <a:cs typeface="Times New Roman"/>
            </a:endParaRPr>
          </a:p>
          <a:p>
            <a:pPr marL="70108">
              <a:lnSpc>
                <a:spcPts val="1059"/>
              </a:lnSpc>
              <a:spcBef>
                <a:spcPts val="371"/>
              </a:spcBef>
            </a:pPr>
            <a:r>
              <a:rPr sz="903" spc="-40" dirty="0">
                <a:latin typeface="Times New Roman"/>
                <a:cs typeface="Times New Roman"/>
              </a:rPr>
              <a:t>Right</a:t>
            </a:r>
            <a:r>
              <a:rPr sz="903" spc="-10" dirty="0">
                <a:latin typeface="Times New Roman"/>
                <a:cs typeface="Times New Roman"/>
              </a:rPr>
              <a:t> </a:t>
            </a:r>
            <a:r>
              <a:rPr sz="903" dirty="0">
                <a:latin typeface="Times New Roman"/>
                <a:cs typeface="Times New Roman"/>
              </a:rPr>
              <a:t>superior</a:t>
            </a:r>
            <a:r>
              <a:rPr sz="903" spc="-45" dirty="0">
                <a:latin typeface="Times New Roman"/>
                <a:cs typeface="Times New Roman"/>
              </a:rPr>
              <a:t> </a:t>
            </a:r>
            <a:r>
              <a:rPr sz="903" spc="-10" dirty="0">
                <a:latin typeface="Times New Roman"/>
                <a:cs typeface="Times New Roman"/>
              </a:rPr>
              <a:t>lobar</a:t>
            </a:r>
            <a:endParaRPr sz="903">
              <a:latin typeface="Times New Roman"/>
              <a:cs typeface="Times New Roman"/>
            </a:endParaRPr>
          </a:p>
          <a:p>
            <a:pPr marL="63735">
              <a:lnSpc>
                <a:spcPts val="998"/>
              </a:lnSpc>
            </a:pPr>
            <a:r>
              <a:rPr sz="853" dirty="0">
                <a:latin typeface="Times New Roman"/>
                <a:cs typeface="Times New Roman"/>
              </a:rPr>
              <a:t>[epstteriaJ]</a:t>
            </a:r>
            <a:r>
              <a:rPr sz="853" spc="211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bronchus</a:t>
            </a:r>
            <a:endParaRPr sz="853">
              <a:latin typeface="Times New Roman"/>
              <a:cs typeface="Times New Roman"/>
            </a:endParaRPr>
          </a:p>
          <a:p>
            <a:pPr marL="162524" marR="5099" indent="-36966">
              <a:lnSpc>
                <a:spcPct val="141200"/>
              </a:lnSpc>
            </a:pPr>
            <a:r>
              <a:rPr sz="853" spc="-10" dirty="0">
                <a:latin typeface="Times New Roman"/>
                <a:cs typeface="Times New Roman"/>
              </a:rPr>
              <a:t>Right</a:t>
            </a:r>
            <a:r>
              <a:rPr sz="853" spc="45" dirty="0">
                <a:latin typeface="Times New Roman"/>
                <a:cs typeface="Times New Roman"/>
              </a:rPr>
              <a:t> </a:t>
            </a:r>
            <a:r>
              <a:rPr sz="853" dirty="0">
                <a:latin typeface="Times New Roman"/>
                <a:cs typeface="Times New Roman"/>
              </a:rPr>
              <a:t>pulmonary</a:t>
            </a:r>
            <a:r>
              <a:rPr sz="853" spc="-25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arteries Right</a:t>
            </a:r>
            <a:r>
              <a:rPr sz="853" spc="40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bronchial</a:t>
            </a:r>
            <a:r>
              <a:rPr sz="853" spc="25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sttery</a:t>
            </a:r>
            <a:endParaRPr sz="853">
              <a:latin typeface="Times New Roman"/>
              <a:cs typeface="Times New Roman"/>
            </a:endParaRPr>
          </a:p>
          <a:p>
            <a:pPr marL="170810">
              <a:spcBef>
                <a:spcPts val="517"/>
              </a:spcBef>
            </a:pPr>
            <a:r>
              <a:rPr sz="853" dirty="0">
                <a:latin typeface="Times New Roman"/>
                <a:cs typeface="Times New Roman"/>
              </a:rPr>
              <a:t>Intemediate</a:t>
            </a:r>
            <a:r>
              <a:rPr sz="853" spc="391" dirty="0">
                <a:latin typeface="Times New Roman"/>
                <a:cs typeface="Times New Roman"/>
              </a:rPr>
              <a:t> </a:t>
            </a:r>
            <a:r>
              <a:rPr sz="853" spc="-10" dirty="0">
                <a:latin typeface="Times New Roman"/>
                <a:cs typeface="Times New Roman"/>
              </a:rPr>
              <a:t>bronchus</a:t>
            </a:r>
            <a:endParaRPr sz="85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9840" y="3816546"/>
            <a:ext cx="1462743" cy="673690"/>
          </a:xfrm>
          <a:prstGeom prst="rect">
            <a:avLst/>
          </a:prstGeom>
        </p:spPr>
        <p:txBody>
          <a:bodyPr vert="horz" wrap="square" lIns="0" tIns="66923" rIns="0" bIns="0" rtlCol="0">
            <a:spAutoFit/>
          </a:bodyPr>
          <a:lstStyle/>
          <a:p>
            <a:pPr marL="36966">
              <a:spcBef>
                <a:spcPts val="527"/>
              </a:spcBef>
            </a:pPr>
            <a:r>
              <a:rPr sz="803" spc="10" dirty="0">
                <a:latin typeface="Times New Roman"/>
                <a:cs typeface="Times New Roman"/>
              </a:rPr>
              <a:t>Right</a:t>
            </a:r>
            <a:r>
              <a:rPr sz="803" spc="130" dirty="0">
                <a:latin typeface="Times New Roman"/>
                <a:cs typeface="Times New Roman"/>
              </a:rPr>
              <a:t> </a:t>
            </a:r>
            <a:r>
              <a:rPr sz="803" spc="20" dirty="0">
                <a:latin typeface="Times New Roman"/>
                <a:cs typeface="Times New Roman"/>
              </a:rPr>
              <a:t>superior</a:t>
            </a:r>
            <a:r>
              <a:rPr sz="803" spc="80" dirty="0">
                <a:latin typeface="Times New Roman"/>
                <a:cs typeface="Times New Roman"/>
              </a:rPr>
              <a:t> </a:t>
            </a:r>
            <a:r>
              <a:rPr sz="803" spc="20" dirty="0">
                <a:latin typeface="Times New Roman"/>
                <a:cs typeface="Times New Roman"/>
              </a:rPr>
              <a:t>pulmonary</a:t>
            </a:r>
            <a:r>
              <a:rPr sz="803" spc="60" dirty="0">
                <a:latin typeface="Times New Roman"/>
                <a:cs typeface="Times New Roman"/>
              </a:rPr>
              <a:t> </a:t>
            </a:r>
            <a:r>
              <a:rPr sz="803" spc="-10" dirty="0">
                <a:latin typeface="Times New Roman"/>
                <a:cs typeface="Times New Roman"/>
              </a:rPr>
              <a:t>veins</a:t>
            </a:r>
            <a:endParaRPr sz="803">
              <a:latin typeface="Times New Roman"/>
              <a:cs typeface="Times New Roman"/>
            </a:endParaRPr>
          </a:p>
          <a:p>
            <a:pPr marL="24857">
              <a:lnSpc>
                <a:spcPts val="979"/>
              </a:lnSpc>
              <a:spcBef>
                <a:spcPts val="457"/>
              </a:spcBef>
            </a:pPr>
            <a:r>
              <a:rPr sz="853" spc="-10" dirty="0">
                <a:latin typeface="Times New Roman"/>
                <a:cs typeface="Times New Roman"/>
              </a:rPr>
              <a:t>Bronchopulrnonaty(hilsr)</a:t>
            </a:r>
            <a:endParaRPr sz="853">
              <a:latin typeface="Times New Roman"/>
              <a:cs typeface="Times New Roman"/>
            </a:endParaRPr>
          </a:p>
          <a:p>
            <a:pPr marL="22945">
              <a:lnSpc>
                <a:spcPts val="1039"/>
              </a:lnSpc>
            </a:pPr>
            <a:r>
              <a:rPr sz="903" spc="-35" dirty="0">
                <a:latin typeface="Times New Roman"/>
                <a:cs typeface="Times New Roman"/>
              </a:rPr>
              <a:t>lymph</a:t>
            </a:r>
            <a:r>
              <a:rPr sz="903" spc="-5" dirty="0">
                <a:latin typeface="Times New Roman"/>
                <a:cs typeface="Times New Roman"/>
              </a:rPr>
              <a:t> </a:t>
            </a:r>
            <a:r>
              <a:rPr sz="903" spc="-10" dirty="0">
                <a:latin typeface="Times New Roman"/>
                <a:cs typeface="Times New Roman"/>
              </a:rPr>
              <a:t>nodes</a:t>
            </a:r>
            <a:endParaRPr sz="903">
              <a:latin typeface="Times New Roman"/>
              <a:cs typeface="Times New Roman"/>
            </a:endParaRPr>
          </a:p>
          <a:p>
            <a:pPr marL="12747">
              <a:spcBef>
                <a:spcPts val="266"/>
              </a:spcBef>
            </a:pPr>
            <a:r>
              <a:rPr sz="803" dirty="0">
                <a:latin typeface="Times New Roman"/>
                <a:cs typeface="Times New Roman"/>
              </a:rPr>
              <a:t>Right</a:t>
            </a:r>
            <a:r>
              <a:rPr sz="803" spc="135" dirty="0">
                <a:latin typeface="Times New Roman"/>
                <a:cs typeface="Times New Roman"/>
              </a:rPr>
              <a:t> </a:t>
            </a:r>
            <a:r>
              <a:rPr sz="803" dirty="0">
                <a:latin typeface="Times New Roman"/>
                <a:cs typeface="Times New Roman"/>
              </a:rPr>
              <a:t>inferior</a:t>
            </a:r>
            <a:r>
              <a:rPr sz="803" spc="90" dirty="0">
                <a:latin typeface="Times New Roman"/>
                <a:cs typeface="Times New Roman"/>
              </a:rPr>
              <a:t> </a:t>
            </a:r>
            <a:r>
              <a:rPr sz="803" dirty="0">
                <a:latin typeface="Times New Roman"/>
                <a:cs typeface="Times New Roman"/>
              </a:rPr>
              <a:t>pulrrionary</a:t>
            </a:r>
            <a:r>
              <a:rPr sz="803" spc="95" dirty="0">
                <a:latin typeface="Times New Roman"/>
                <a:cs typeface="Times New Roman"/>
              </a:rPr>
              <a:t> </a:t>
            </a:r>
            <a:r>
              <a:rPr sz="803" spc="-10" dirty="0">
                <a:latin typeface="Times New Roman"/>
                <a:cs typeface="Times New Roman"/>
              </a:rPr>
              <a:t>veins</a:t>
            </a:r>
            <a:endParaRPr sz="80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07996" y="4542334"/>
            <a:ext cx="1047821" cy="578086"/>
          </a:xfrm>
          <a:prstGeom prst="rect">
            <a:avLst/>
          </a:prstGeom>
        </p:spPr>
        <p:txBody>
          <a:bodyPr vert="horz" wrap="square" lIns="0" tIns="41428" rIns="0" bIns="0" rtlCol="0">
            <a:spAutoFit/>
          </a:bodyPr>
          <a:lstStyle/>
          <a:p>
            <a:pPr marL="12747">
              <a:spcBef>
                <a:spcPts val="326"/>
              </a:spcBef>
            </a:pPr>
            <a:r>
              <a:rPr sz="803" dirty="0">
                <a:latin typeface="Times New Roman"/>
                <a:cs typeface="Times New Roman"/>
              </a:rPr>
              <a:t>Groove</a:t>
            </a:r>
            <a:r>
              <a:rPr sz="803" spc="205" dirty="0">
                <a:latin typeface="Times New Roman"/>
                <a:cs typeface="Times New Roman"/>
              </a:rPr>
              <a:t> </a:t>
            </a:r>
            <a:r>
              <a:rPr sz="803" dirty="0">
                <a:latin typeface="Times New Roman"/>
                <a:cs typeface="Times New Roman"/>
              </a:rPr>
              <a:t>for</a:t>
            </a:r>
            <a:r>
              <a:rPr sz="803" spc="90" dirty="0">
                <a:latin typeface="Times New Roman"/>
                <a:cs typeface="Times New Roman"/>
              </a:rPr>
              <a:t> </a:t>
            </a:r>
            <a:r>
              <a:rPr sz="803" spc="55" dirty="0">
                <a:latin typeface="Times New Roman"/>
                <a:cs typeface="Times New Roman"/>
              </a:rPr>
              <a:t>esophagus</a:t>
            </a:r>
            <a:endParaRPr sz="803">
              <a:latin typeface="Times New Roman"/>
              <a:cs typeface="Times New Roman"/>
            </a:endParaRPr>
          </a:p>
          <a:p>
            <a:pPr marL="142766">
              <a:lnSpc>
                <a:spcPts val="1506"/>
              </a:lnSpc>
              <a:spcBef>
                <a:spcPts val="391"/>
              </a:spcBef>
            </a:pPr>
            <a:r>
              <a:rPr sz="1355" spc="-20" dirty="0">
                <a:solidFill>
                  <a:srgbClr val="EF5623"/>
                </a:solidFill>
                <a:latin typeface="Courier New"/>
                <a:cs typeface="Courier New"/>
              </a:rPr>
              <a:t>Lowe</a:t>
            </a:r>
            <a:endParaRPr sz="1355">
              <a:latin typeface="Courier New"/>
              <a:cs typeface="Courier New"/>
            </a:endParaRPr>
          </a:p>
          <a:p>
            <a:pPr marL="228808">
              <a:lnSpc>
                <a:spcPts val="1265"/>
              </a:lnSpc>
            </a:pPr>
            <a:r>
              <a:rPr sz="1154" b="1" spc="-20" dirty="0">
                <a:solidFill>
                  <a:srgbClr val="EF5623"/>
                </a:solidFill>
                <a:latin typeface="Cambria"/>
                <a:cs typeface="Cambria"/>
              </a:rPr>
              <a:t>lobe</a:t>
            </a:r>
            <a:endParaRPr sz="1154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2124" y="5271970"/>
            <a:ext cx="903139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dirty="0">
                <a:latin typeface="Times New Roman"/>
                <a:cs typeface="Times New Roman"/>
              </a:rPr>
              <a:t>Pulrrionary</a:t>
            </a:r>
            <a:r>
              <a:rPr sz="803" spc="100" dirty="0">
                <a:latin typeface="Times New Roman"/>
                <a:cs typeface="Times New Roman"/>
              </a:rPr>
              <a:t> </a:t>
            </a:r>
            <a:r>
              <a:rPr sz="803" spc="-10" dirty="0">
                <a:latin typeface="Times New Roman"/>
                <a:cs typeface="Times New Roman"/>
              </a:rPr>
              <a:t>ligament</a:t>
            </a:r>
            <a:endParaRPr sz="80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981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751" y="0"/>
            <a:ext cx="9152498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27731" y="1949775"/>
            <a:ext cx="1488237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10" dirty="0">
                <a:latin typeface="Cambria"/>
                <a:cs typeface="Cambria"/>
              </a:rPr>
              <a:t>Area</a:t>
            </a:r>
            <a:r>
              <a:rPr sz="853" spc="-25" dirty="0">
                <a:latin typeface="Cambria"/>
                <a:cs typeface="Cambria"/>
              </a:rPr>
              <a:t> </a:t>
            </a:r>
            <a:r>
              <a:rPr sz="853" spc="-20" dirty="0">
                <a:latin typeface="Cambria"/>
                <a:cs typeface="Cambria"/>
              </a:rPr>
              <a:t>for</a:t>
            </a:r>
            <a:r>
              <a:rPr sz="853" spc="-5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trachea</a:t>
            </a:r>
            <a:r>
              <a:rPr sz="853" spc="-4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and</a:t>
            </a:r>
            <a:r>
              <a:rPr sz="853" spc="2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esophagus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8366" y="2246487"/>
            <a:ext cx="717031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10" dirty="0">
                <a:latin typeface="Cambria"/>
                <a:cs typeface="Cambria"/>
              </a:rPr>
              <a:t>Oblique</a:t>
            </a:r>
            <a:r>
              <a:rPr sz="853" spc="1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fissure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8570" y="2546257"/>
            <a:ext cx="1131952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dirty="0">
                <a:latin typeface="Cambria"/>
                <a:cs typeface="Cambria"/>
              </a:rPr>
              <a:t>Groove</a:t>
            </a:r>
            <a:r>
              <a:rPr sz="853" spc="35" dirty="0">
                <a:latin typeface="Cambria"/>
                <a:cs typeface="Cambria"/>
              </a:rPr>
              <a:t> </a:t>
            </a:r>
            <a:r>
              <a:rPr sz="853" spc="-30" dirty="0">
                <a:latin typeface="Cambria"/>
                <a:cs typeface="Cambria"/>
              </a:rPr>
              <a:t>for</a:t>
            </a:r>
            <a:r>
              <a:rPr sz="853" spc="-50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srch</a:t>
            </a:r>
            <a:r>
              <a:rPr sz="853" spc="5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of</a:t>
            </a:r>
            <a:r>
              <a:rPr sz="853" spc="6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aorta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58575" y="2700731"/>
            <a:ext cx="1144700" cy="55195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75335" marR="5099" indent="-205227">
              <a:lnSpc>
                <a:spcPct val="131700"/>
              </a:lnSpc>
              <a:spcBef>
                <a:spcPts val="100"/>
              </a:spcBef>
            </a:pPr>
            <a:r>
              <a:rPr sz="853" dirty="0">
                <a:latin typeface="Cambria"/>
                <a:cs typeface="Cambria"/>
              </a:rPr>
              <a:t>Left</a:t>
            </a:r>
            <a:r>
              <a:rPr sz="853" spc="55" dirty="0">
                <a:latin typeface="Cambria"/>
                <a:cs typeface="Cambria"/>
              </a:rPr>
              <a:t> </a:t>
            </a:r>
            <a:r>
              <a:rPr sz="853" spc="-35" dirty="0">
                <a:latin typeface="Cambria"/>
                <a:cs typeface="Cambria"/>
              </a:rPr>
              <a:t>pulmonary</a:t>
            </a:r>
            <a:r>
              <a:rPr sz="853" spc="-10" dirty="0">
                <a:latin typeface="Cambria"/>
                <a:cs typeface="Cambria"/>
              </a:rPr>
              <a:t> stteries</a:t>
            </a:r>
            <a:r>
              <a:rPr sz="853" spc="502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PIeura(cut</a:t>
            </a:r>
            <a:r>
              <a:rPr sz="853" spc="2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edge]</a:t>
            </a:r>
            <a:endParaRPr sz="853">
              <a:latin typeface="Cambria"/>
              <a:cs typeface="Cambria"/>
            </a:endParaRPr>
          </a:p>
          <a:p>
            <a:pPr marL="12747">
              <a:spcBef>
                <a:spcPts val="422"/>
              </a:spcBef>
            </a:pPr>
            <a:r>
              <a:rPr sz="853" dirty="0">
                <a:latin typeface="Cambria"/>
                <a:cs typeface="Cambria"/>
              </a:rPr>
              <a:t>Left</a:t>
            </a:r>
            <a:r>
              <a:rPr sz="853" spc="45" dirty="0">
                <a:latin typeface="Cambria"/>
                <a:cs typeface="Cambria"/>
              </a:rPr>
              <a:t> </a:t>
            </a:r>
            <a:r>
              <a:rPr sz="853" spc="-30" dirty="0">
                <a:latin typeface="Cambria"/>
                <a:cs typeface="Cambria"/>
              </a:rPr>
              <a:t>bronchial</a:t>
            </a:r>
            <a:r>
              <a:rPr sz="853" spc="6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arteries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9303" y="3476154"/>
            <a:ext cx="567888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dirty="0">
                <a:latin typeface="Cambria"/>
                <a:cs typeface="Cambria"/>
              </a:rPr>
              <a:t>Left</a:t>
            </a:r>
            <a:r>
              <a:rPr sz="853" spc="35" dirty="0">
                <a:latin typeface="Cambria"/>
                <a:cs typeface="Cambria"/>
              </a:rPr>
              <a:t> </a:t>
            </a:r>
            <a:r>
              <a:rPr sz="853" spc="-30" dirty="0">
                <a:latin typeface="Cambria"/>
                <a:cs typeface="Cambria"/>
              </a:rPr>
              <a:t>bronchi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1406" y="3947223"/>
            <a:ext cx="1329534" cy="49714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403442">
              <a:lnSpc>
                <a:spcPts val="979"/>
              </a:lnSpc>
              <a:spcBef>
                <a:spcPts val="100"/>
              </a:spcBef>
            </a:pPr>
            <a:r>
              <a:rPr sz="853" spc="-30" dirty="0">
                <a:latin typeface="Cambria"/>
                <a:cs typeface="Cambria"/>
              </a:rPr>
              <a:t>Bronchopulrnon</a:t>
            </a:r>
            <a:r>
              <a:rPr sz="853" spc="226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ry</a:t>
            </a:r>
            <a:endParaRPr sz="853">
              <a:latin typeface="Cambria"/>
              <a:cs typeface="Cambria"/>
            </a:endParaRPr>
          </a:p>
          <a:p>
            <a:pPr marL="399618">
              <a:lnSpc>
                <a:spcPts val="1039"/>
              </a:lnSpc>
            </a:pPr>
            <a:r>
              <a:rPr sz="903" spc="-65" dirty="0">
                <a:latin typeface="Cambria"/>
                <a:cs typeface="Cambria"/>
              </a:rPr>
              <a:t>(hilsr)</a:t>
            </a:r>
            <a:r>
              <a:rPr sz="903" spc="55" dirty="0">
                <a:latin typeface="Cambria"/>
                <a:cs typeface="Cambria"/>
              </a:rPr>
              <a:t> </a:t>
            </a:r>
            <a:r>
              <a:rPr sz="903" spc="-80" dirty="0">
                <a:latin typeface="Cambria"/>
                <a:cs typeface="Cambria"/>
              </a:rPr>
              <a:t>lymph</a:t>
            </a:r>
            <a:r>
              <a:rPr sz="903" spc="65" dirty="0">
                <a:latin typeface="Cambria"/>
                <a:cs typeface="Cambria"/>
              </a:rPr>
              <a:t> </a:t>
            </a:r>
            <a:r>
              <a:rPr sz="903" spc="-10" dirty="0">
                <a:latin typeface="Cambria"/>
                <a:cs typeface="Cambria"/>
              </a:rPr>
              <a:t>nodes</a:t>
            </a:r>
            <a:endParaRPr sz="903">
              <a:latin typeface="Cambria"/>
              <a:cs typeface="Cambria"/>
            </a:endParaRPr>
          </a:p>
          <a:p>
            <a:pPr marL="12747">
              <a:spcBef>
                <a:spcPts val="723"/>
              </a:spcBef>
            </a:pPr>
            <a:r>
              <a:rPr sz="803" dirty="0">
                <a:latin typeface="Cambria"/>
                <a:cs typeface="Cambria"/>
              </a:rPr>
              <a:t>Left</a:t>
            </a:r>
            <a:r>
              <a:rPr sz="803" spc="105" dirty="0">
                <a:latin typeface="Cambria"/>
                <a:cs typeface="Cambria"/>
              </a:rPr>
              <a:t> </a:t>
            </a:r>
            <a:r>
              <a:rPr sz="803" spc="-20" dirty="0">
                <a:latin typeface="Cambria"/>
                <a:cs typeface="Cambria"/>
              </a:rPr>
              <a:t>inferior</a:t>
            </a:r>
            <a:r>
              <a:rPr sz="803" spc="5" dirty="0">
                <a:latin typeface="Cambria"/>
                <a:cs typeface="Cambria"/>
              </a:rPr>
              <a:t> </a:t>
            </a:r>
            <a:r>
              <a:rPr sz="803" dirty="0">
                <a:latin typeface="Cambria"/>
                <a:cs typeface="Cambria"/>
              </a:rPr>
              <a:t>pulmonary</a:t>
            </a:r>
            <a:r>
              <a:rPr sz="803" spc="45" dirty="0">
                <a:latin typeface="Cambria"/>
                <a:cs typeface="Cambria"/>
              </a:rPr>
              <a:t> </a:t>
            </a:r>
            <a:r>
              <a:rPr sz="803" spc="-10" dirty="0">
                <a:latin typeface="Cambria"/>
                <a:cs typeface="Cambria"/>
              </a:rPr>
              <a:t>veins</a:t>
            </a:r>
            <a:endParaRPr sz="803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5154" y="5088438"/>
            <a:ext cx="1351842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dirty="0">
                <a:latin typeface="Cambria"/>
                <a:cs typeface="Cambria"/>
              </a:rPr>
              <a:t>Groove</a:t>
            </a:r>
            <a:r>
              <a:rPr sz="803" spc="205" dirty="0">
                <a:latin typeface="Cambria"/>
                <a:cs typeface="Cambria"/>
              </a:rPr>
              <a:t> </a:t>
            </a:r>
            <a:r>
              <a:rPr sz="803" dirty="0">
                <a:latin typeface="Cambria"/>
                <a:cs typeface="Cambria"/>
              </a:rPr>
              <a:t>for</a:t>
            </a:r>
            <a:r>
              <a:rPr sz="803" spc="30" dirty="0">
                <a:latin typeface="Cambria"/>
                <a:cs typeface="Cambria"/>
              </a:rPr>
              <a:t> </a:t>
            </a:r>
            <a:r>
              <a:rPr sz="803" dirty="0">
                <a:latin typeface="Cambria"/>
                <a:cs typeface="Cambria"/>
              </a:rPr>
              <a:t>descending</a:t>
            </a:r>
            <a:r>
              <a:rPr sz="803" spc="271" dirty="0">
                <a:latin typeface="Cambria"/>
                <a:cs typeface="Cambria"/>
              </a:rPr>
              <a:t> </a:t>
            </a:r>
            <a:r>
              <a:rPr sz="803" spc="-10" dirty="0">
                <a:latin typeface="Cambria"/>
                <a:cs typeface="Cambria"/>
              </a:rPr>
              <a:t>aorta</a:t>
            </a:r>
            <a:endParaRPr sz="803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9679" y="5583975"/>
            <a:ext cx="669229" cy="1368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03" spc="-20" dirty="0">
                <a:latin typeface="Cambria"/>
                <a:cs typeface="Cambria"/>
              </a:rPr>
              <a:t>Inferior</a:t>
            </a:r>
            <a:r>
              <a:rPr sz="803" spc="40" dirty="0">
                <a:latin typeface="Cambria"/>
                <a:cs typeface="Cambria"/>
              </a:rPr>
              <a:t> </a:t>
            </a:r>
            <a:r>
              <a:rPr sz="803" spc="-10" dirty="0">
                <a:latin typeface="Cambria"/>
                <a:cs typeface="Cambria"/>
              </a:rPr>
              <a:t>border</a:t>
            </a:r>
            <a:endParaRPr sz="803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479761" y="692255"/>
            <a:ext cx="1213535" cy="561529"/>
          </a:xfrm>
          <a:prstGeom prst="rect">
            <a:avLst/>
          </a:prstGeom>
        </p:spPr>
        <p:txBody>
          <a:bodyPr vert="horz" wrap="square" lIns="0" tIns="637" rIns="0" bIns="0" rtlCol="0" anchor="ctr">
            <a:spAutoFit/>
          </a:bodyPr>
          <a:lstStyle/>
          <a:p>
            <a:pPr marL="12747" marR="5099" indent="91141">
              <a:lnSpc>
                <a:spcPct val="104400"/>
              </a:lnSpc>
              <a:spcBef>
                <a:spcPts val="5"/>
              </a:spcBef>
            </a:pPr>
            <a:r>
              <a:rPr sz="1807" dirty="0">
                <a:solidFill>
                  <a:srgbClr val="000000"/>
                </a:solidFill>
                <a:latin typeface="Cambria"/>
                <a:cs typeface="Cambria"/>
              </a:rPr>
              <a:t>Left</a:t>
            </a:r>
            <a:r>
              <a:rPr sz="1807" spc="34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807" spc="60" dirty="0">
                <a:solidFill>
                  <a:srgbClr val="000000"/>
                </a:solidFill>
                <a:latin typeface="Cambria"/>
                <a:cs typeface="Cambria"/>
              </a:rPr>
              <a:t>Lung </a:t>
            </a:r>
            <a:r>
              <a:rPr sz="1807" dirty="0">
                <a:solidFill>
                  <a:srgbClr val="000000"/>
                </a:solidFill>
                <a:latin typeface="Cambria"/>
                <a:cs typeface="Cambria"/>
              </a:rPr>
              <a:t>Medial</a:t>
            </a:r>
            <a:r>
              <a:rPr sz="1807" spc="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807" spc="-90" dirty="0">
                <a:solidFill>
                  <a:srgbClr val="000000"/>
                </a:solidFill>
                <a:latin typeface="Cambria"/>
                <a:cs typeface="Cambria"/>
              </a:rPr>
              <a:t>View</a:t>
            </a:r>
            <a:endParaRPr sz="1807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56876" y="5715253"/>
            <a:ext cx="1527753" cy="37285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492671">
              <a:spcBef>
                <a:spcPts val="100"/>
              </a:spcBef>
            </a:pPr>
            <a:r>
              <a:rPr sz="853" dirty="0">
                <a:latin typeface="Cambria"/>
                <a:cs typeface="Cambria"/>
              </a:rPr>
              <a:t>Groove</a:t>
            </a:r>
            <a:r>
              <a:rPr sz="853" spc="80" dirty="0">
                <a:latin typeface="Cambria"/>
                <a:cs typeface="Cambria"/>
              </a:rPr>
              <a:t> </a:t>
            </a:r>
            <a:r>
              <a:rPr sz="853" spc="-20" dirty="0">
                <a:latin typeface="Cambria"/>
                <a:cs typeface="Cambria"/>
              </a:rPr>
              <a:t>for</a:t>
            </a:r>
            <a:r>
              <a:rPr sz="853" spc="-5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esophagus</a:t>
            </a:r>
            <a:endParaRPr sz="853">
              <a:latin typeface="Cambria"/>
              <a:cs typeface="Cambria"/>
            </a:endParaRPr>
          </a:p>
          <a:p>
            <a:pPr marL="12747">
              <a:spcBef>
                <a:spcPts val="683"/>
              </a:spcBef>
            </a:pPr>
            <a:r>
              <a:rPr sz="853" spc="-25" dirty="0">
                <a:latin typeface="Cambria"/>
                <a:cs typeface="Cambria"/>
              </a:rPr>
              <a:t>Diaghragrnatic</a:t>
            </a:r>
            <a:r>
              <a:rPr sz="853" spc="3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surface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9071" y="1213982"/>
            <a:ext cx="2461487" cy="1200787"/>
          </a:xfrm>
          <a:prstGeom prst="rect">
            <a:avLst/>
          </a:prstGeom>
        </p:spPr>
        <p:txBody>
          <a:bodyPr vert="horz" wrap="square" lIns="0" tIns="75846" rIns="0" bIns="0" rtlCol="0">
            <a:spAutoFit/>
          </a:bodyPr>
          <a:lstStyle/>
          <a:p>
            <a:pPr marL="12747">
              <a:spcBef>
                <a:spcPts val="597"/>
              </a:spcBef>
            </a:pPr>
            <a:r>
              <a:rPr sz="803" spc="-20" dirty="0">
                <a:latin typeface="Cambria"/>
                <a:cs typeface="Cambria"/>
              </a:rPr>
              <a:t>Apex</a:t>
            </a:r>
            <a:endParaRPr sz="803">
              <a:latin typeface="Cambria"/>
              <a:cs typeface="Cambria"/>
            </a:endParaRPr>
          </a:p>
          <a:p>
            <a:pPr marL="557043">
              <a:spcBef>
                <a:spcPts val="527"/>
              </a:spcBef>
            </a:pPr>
            <a:r>
              <a:rPr sz="853" dirty="0">
                <a:latin typeface="Cambria"/>
                <a:cs typeface="Cambria"/>
              </a:rPr>
              <a:t>Groove</a:t>
            </a:r>
            <a:r>
              <a:rPr sz="853" spc="85" dirty="0">
                <a:latin typeface="Cambria"/>
                <a:cs typeface="Cambria"/>
              </a:rPr>
              <a:t> </a:t>
            </a:r>
            <a:r>
              <a:rPr sz="853" spc="-20" dirty="0">
                <a:latin typeface="Cambria"/>
                <a:cs typeface="Cambria"/>
              </a:rPr>
              <a:t>for</a:t>
            </a:r>
            <a:r>
              <a:rPr sz="853" spc="-50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subclavisn</a:t>
            </a:r>
            <a:r>
              <a:rPr sz="853" spc="114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wtery</a:t>
            </a:r>
            <a:endParaRPr sz="853">
              <a:latin typeface="Cambria"/>
              <a:cs typeface="Cambria"/>
            </a:endParaRPr>
          </a:p>
          <a:p>
            <a:pPr marL="1073934" marR="29955" indent="-288082">
              <a:lnSpc>
                <a:spcPct val="185900"/>
              </a:lnSpc>
            </a:pPr>
            <a:r>
              <a:rPr sz="853" dirty="0">
                <a:latin typeface="Cambria"/>
                <a:cs typeface="Cambria"/>
              </a:rPr>
              <a:t>Groove</a:t>
            </a:r>
            <a:r>
              <a:rPr sz="853" spc="65" dirty="0">
                <a:latin typeface="Cambria"/>
                <a:cs typeface="Cambria"/>
              </a:rPr>
              <a:t> </a:t>
            </a:r>
            <a:r>
              <a:rPr sz="853" spc="-30" dirty="0">
                <a:latin typeface="Cambria"/>
                <a:cs typeface="Cambria"/>
              </a:rPr>
              <a:t>for</a:t>
            </a:r>
            <a:r>
              <a:rPr sz="853" spc="-3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left</a:t>
            </a:r>
            <a:r>
              <a:rPr sz="853" spc="9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brachiocephsJic</a:t>
            </a:r>
            <a:r>
              <a:rPr sz="853" spc="20" dirty="0">
                <a:latin typeface="Cambria"/>
                <a:cs typeface="Cambria"/>
              </a:rPr>
              <a:t> </a:t>
            </a:r>
            <a:r>
              <a:rPr sz="853" spc="-20" dirty="0">
                <a:latin typeface="Cambria"/>
                <a:cs typeface="Cambria"/>
              </a:rPr>
              <a:t>vein</a:t>
            </a:r>
            <a:r>
              <a:rPr sz="853" spc="502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Groove</a:t>
            </a:r>
            <a:r>
              <a:rPr sz="853" spc="30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for</a:t>
            </a:r>
            <a:r>
              <a:rPr sz="853" spc="-25" dirty="0">
                <a:latin typeface="Cambria"/>
                <a:cs typeface="Cambria"/>
              </a:rPr>
              <a:t> </a:t>
            </a:r>
            <a:r>
              <a:rPr sz="853" spc="-20" dirty="0">
                <a:latin typeface="Cambria"/>
                <a:cs typeface="Cambria"/>
              </a:rPr>
              <a:t>1st</a:t>
            </a:r>
            <a:r>
              <a:rPr sz="853" spc="40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rib</a:t>
            </a:r>
            <a:endParaRPr sz="853">
              <a:latin typeface="Cambria"/>
              <a:cs typeface="Cambria"/>
            </a:endParaRPr>
          </a:p>
          <a:p>
            <a:pPr marL="1375400" marR="5099" indent="3824">
              <a:lnSpc>
                <a:spcPts val="984"/>
              </a:lnSpc>
              <a:spcBef>
                <a:spcPts val="486"/>
              </a:spcBef>
            </a:pPr>
            <a:r>
              <a:rPr sz="853" spc="-10" dirty="0">
                <a:latin typeface="Cambria"/>
                <a:cs typeface="Cambria"/>
              </a:rPr>
              <a:t>Area</a:t>
            </a:r>
            <a:r>
              <a:rPr sz="853" spc="-35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for </a:t>
            </a:r>
            <a:r>
              <a:rPr sz="853" spc="-20" dirty="0">
                <a:latin typeface="Cambria"/>
                <a:cs typeface="Cambria"/>
              </a:rPr>
              <a:t>thymus</a:t>
            </a:r>
            <a:r>
              <a:rPr sz="853" spc="45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and</a:t>
            </a:r>
            <a:r>
              <a:rPr sz="853" spc="502" dirty="0">
                <a:latin typeface="Cambria"/>
                <a:cs typeface="Cambria"/>
              </a:rPr>
              <a:t> </a:t>
            </a:r>
            <a:r>
              <a:rPr sz="853" spc="-30" dirty="0">
                <a:latin typeface="Cambria"/>
                <a:cs typeface="Cambria"/>
              </a:rPr>
              <a:t>rnedisstinaJ</a:t>
            </a:r>
            <a:r>
              <a:rPr sz="853" spc="95" dirty="0">
                <a:latin typeface="Cambria"/>
                <a:cs typeface="Cambria"/>
              </a:rPr>
              <a:t> </a:t>
            </a:r>
            <a:r>
              <a:rPr sz="853" dirty="0">
                <a:latin typeface="Cambria"/>
                <a:cs typeface="Cambria"/>
              </a:rPr>
              <a:t>fatty</a:t>
            </a:r>
            <a:r>
              <a:rPr sz="853" spc="2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tissue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3143" y="2714512"/>
            <a:ext cx="1416215" cy="420658"/>
          </a:xfrm>
          <a:prstGeom prst="rect">
            <a:avLst/>
          </a:prstGeom>
        </p:spPr>
        <p:txBody>
          <a:bodyPr vert="horz" wrap="square" lIns="0" tIns="86044" rIns="0" bIns="0" rtlCol="0">
            <a:spAutoFit/>
          </a:bodyPr>
          <a:lstStyle/>
          <a:p>
            <a:pPr marL="12747">
              <a:spcBef>
                <a:spcPts val="677"/>
              </a:spcBef>
            </a:pPr>
            <a:r>
              <a:rPr sz="853" spc="-35" dirty="0">
                <a:latin typeface="Cambria"/>
                <a:cs typeface="Cambria"/>
              </a:rPr>
              <a:t>Anterior</a:t>
            </a:r>
            <a:r>
              <a:rPr sz="853" spc="1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border</a:t>
            </a:r>
            <a:endParaRPr sz="853">
              <a:latin typeface="Cambria"/>
              <a:cs typeface="Cambria"/>
            </a:endParaRPr>
          </a:p>
          <a:p>
            <a:pPr marL="43340">
              <a:spcBef>
                <a:spcPts val="542"/>
              </a:spcBef>
            </a:pPr>
            <a:r>
              <a:rPr sz="803" dirty="0">
                <a:latin typeface="Cambria"/>
                <a:cs typeface="Cambria"/>
              </a:rPr>
              <a:t>Left</a:t>
            </a:r>
            <a:r>
              <a:rPr sz="803" spc="65" dirty="0">
                <a:latin typeface="Cambria"/>
                <a:cs typeface="Cambria"/>
              </a:rPr>
              <a:t> </a:t>
            </a:r>
            <a:r>
              <a:rPr sz="803" dirty="0">
                <a:latin typeface="Cambria"/>
                <a:cs typeface="Cambria"/>
              </a:rPr>
              <a:t>superior</a:t>
            </a:r>
            <a:r>
              <a:rPr sz="803" spc="10" dirty="0">
                <a:latin typeface="Cambria"/>
                <a:cs typeface="Cambria"/>
              </a:rPr>
              <a:t> </a:t>
            </a:r>
            <a:r>
              <a:rPr sz="803" dirty="0">
                <a:latin typeface="Cambria"/>
                <a:cs typeface="Cambria"/>
              </a:rPr>
              <a:t>pulmonary</a:t>
            </a:r>
            <a:r>
              <a:rPr sz="803" spc="35" dirty="0">
                <a:latin typeface="Cambria"/>
                <a:cs typeface="Cambria"/>
              </a:rPr>
              <a:t> </a:t>
            </a:r>
            <a:r>
              <a:rPr sz="803" spc="-10" dirty="0">
                <a:latin typeface="Cambria"/>
                <a:cs typeface="Cambria"/>
              </a:rPr>
              <a:t>veins</a:t>
            </a:r>
            <a:endParaRPr sz="803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30614" y="3471567"/>
            <a:ext cx="915886" cy="539844"/>
          </a:xfrm>
          <a:prstGeom prst="rect">
            <a:avLst/>
          </a:prstGeom>
        </p:spPr>
        <p:txBody>
          <a:bodyPr vert="horz" wrap="square" lIns="0" tIns="38879" rIns="0" bIns="0" rtlCol="0">
            <a:spAutoFit/>
          </a:bodyPr>
          <a:lstStyle/>
          <a:p>
            <a:pPr marL="80943" marR="449968" indent="-68834">
              <a:lnSpc>
                <a:spcPts val="1184"/>
              </a:lnSpc>
              <a:spcBef>
                <a:spcPts val="306"/>
              </a:spcBef>
            </a:pPr>
            <a:r>
              <a:rPr sz="1154" b="1" spc="-10" dirty="0">
                <a:solidFill>
                  <a:srgbClr val="4F5283"/>
                </a:solidFill>
                <a:latin typeface="Cambria"/>
                <a:cs typeface="Cambria"/>
              </a:rPr>
              <a:t>Upper </a:t>
            </a:r>
            <a:r>
              <a:rPr sz="1154" b="1" spc="-20" dirty="0">
                <a:solidFill>
                  <a:srgbClr val="265689"/>
                </a:solidFill>
                <a:latin typeface="Cambria"/>
                <a:cs typeface="Cambria"/>
              </a:rPr>
              <a:t>lobe</a:t>
            </a:r>
            <a:endParaRPr sz="1154">
              <a:latin typeface="Cambria"/>
              <a:cs typeface="Cambria"/>
            </a:endParaRPr>
          </a:p>
          <a:p>
            <a:pPr marL="33142">
              <a:spcBef>
                <a:spcPts val="447"/>
              </a:spcBef>
            </a:pPr>
            <a:r>
              <a:rPr sz="853" dirty="0">
                <a:latin typeface="Cambria"/>
                <a:cs typeface="Cambria"/>
              </a:rPr>
              <a:t>Cardiac</a:t>
            </a:r>
            <a:r>
              <a:rPr sz="853" spc="35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impression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92946" y="4142990"/>
            <a:ext cx="906964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35" dirty="0">
                <a:latin typeface="Cambria"/>
                <a:cs typeface="Cambria"/>
              </a:rPr>
              <a:t>Pulmonary</a:t>
            </a:r>
            <a:r>
              <a:rPr sz="853" spc="20" dirty="0">
                <a:latin typeface="Cambria"/>
                <a:cs typeface="Cambria"/>
              </a:rPr>
              <a:t> </a:t>
            </a:r>
            <a:r>
              <a:rPr sz="853" spc="-25" dirty="0">
                <a:latin typeface="Cambria"/>
                <a:cs typeface="Cambria"/>
              </a:rPr>
              <a:t>ligament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4449" y="4464172"/>
            <a:ext cx="786503" cy="46463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37667">
              <a:spcBef>
                <a:spcPts val="100"/>
              </a:spcBef>
            </a:pPr>
            <a:r>
              <a:rPr sz="853" dirty="0">
                <a:latin typeface="Cambria"/>
                <a:cs typeface="Cambria"/>
              </a:rPr>
              <a:t>Cardiac</a:t>
            </a:r>
            <a:r>
              <a:rPr sz="853" spc="30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notch</a:t>
            </a:r>
            <a:endParaRPr sz="853">
              <a:latin typeface="Cambria"/>
              <a:cs typeface="Cambria"/>
            </a:endParaRPr>
          </a:p>
          <a:p>
            <a:pPr>
              <a:spcBef>
                <a:spcPts val="406"/>
              </a:spcBef>
            </a:pPr>
            <a:endParaRPr sz="853">
              <a:latin typeface="Cambria"/>
              <a:cs typeface="Cambria"/>
            </a:endParaRPr>
          </a:p>
          <a:p>
            <a:pPr marL="12747"/>
            <a:r>
              <a:rPr sz="853" spc="-10" dirty="0">
                <a:latin typeface="Cambria"/>
                <a:cs typeface="Cambria"/>
              </a:rPr>
              <a:t>Oblique</a:t>
            </a:r>
            <a:r>
              <a:rPr sz="853" spc="-15" dirty="0">
                <a:latin typeface="Cambria"/>
                <a:cs typeface="Cambria"/>
              </a:rPr>
              <a:t> </a:t>
            </a:r>
            <a:r>
              <a:rPr sz="853" spc="-10" dirty="0">
                <a:latin typeface="Cambria"/>
                <a:cs typeface="Cambria"/>
              </a:rPr>
              <a:t>fissure</a:t>
            </a:r>
            <a:endParaRPr sz="853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3878" y="5290069"/>
            <a:ext cx="363296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10" dirty="0">
                <a:latin typeface="Cambria"/>
                <a:cs typeface="Cambria"/>
              </a:rPr>
              <a:t>Lingula</a:t>
            </a:r>
            <a:endParaRPr sz="853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0308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58B1-6B20-5B0C-D743-6299E3C5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1" y="82193"/>
            <a:ext cx="11671443" cy="893853"/>
          </a:xfrm>
        </p:spPr>
        <p:txBody>
          <a:bodyPr>
            <a:normAutofit fontScale="90000"/>
          </a:bodyPr>
          <a:lstStyle/>
          <a:p>
            <a:br>
              <a:rPr lang="en-GB" spc="-10" dirty="0"/>
            </a:br>
            <a:br>
              <a:rPr lang="en-GB" spc="-10" dirty="0"/>
            </a:br>
            <a:r>
              <a:rPr lang="en-GB" sz="4000" spc="-10" dirty="0"/>
              <a:t>Arrangement</a:t>
            </a:r>
            <a:r>
              <a:rPr lang="en-GB" sz="4000" spc="-135" dirty="0"/>
              <a:t> o</a:t>
            </a:r>
            <a:r>
              <a:rPr lang="en-GB" sz="4000" dirty="0"/>
              <a:t>f</a:t>
            </a:r>
            <a:r>
              <a:rPr lang="en-GB" sz="4000" spc="-130" dirty="0"/>
              <a:t> </a:t>
            </a:r>
            <a:r>
              <a:rPr lang="en-GB" sz="4000" dirty="0"/>
              <a:t>Structures</a:t>
            </a:r>
            <a:r>
              <a:rPr lang="en-GB" sz="4000" spc="-130" dirty="0"/>
              <a:t> </a:t>
            </a:r>
            <a:r>
              <a:rPr lang="en-GB" sz="4000" spc="-25" dirty="0"/>
              <a:t>in the Root</a:t>
            </a:r>
            <a:r>
              <a:rPr lang="en-GB" sz="4000" spc="-20" dirty="0">
                <a:latin typeface="Arial"/>
                <a:cs typeface="Arial"/>
              </a:rPr>
              <a:t> </a:t>
            </a:r>
            <a:br>
              <a:rPr lang="en-GB" sz="4000" spc="-20" dirty="0">
                <a:latin typeface="Arial"/>
                <a:cs typeface="Arial"/>
              </a:rPr>
            </a:br>
            <a:r>
              <a:rPr lang="en-GB" sz="4000" spc="-20" dirty="0">
                <a:latin typeface="Arial"/>
                <a:cs typeface="Arial"/>
              </a:rPr>
              <a:t>				</a:t>
            </a:r>
            <a:r>
              <a:rPr lang="en-GB" sz="4000" spc="-10" dirty="0"/>
              <a:t>					Right Side</a:t>
            </a:r>
            <a:br>
              <a:rPr lang="en-GB" spc="-10" dirty="0"/>
            </a:br>
            <a:br>
              <a:rPr lang="en-GB" dirty="0">
                <a:latin typeface="Arial"/>
                <a:cs typeface="Arial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71CCB-5BF8-94D7-E30F-FE9DABF0E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031" y="1335640"/>
            <a:ext cx="6051479" cy="5301466"/>
          </a:xfrm>
        </p:spPr>
        <p:txBody>
          <a:bodyPr/>
          <a:lstStyle/>
          <a:p>
            <a:pPr marL="520077" lvl="1" indent="0">
              <a:lnSpc>
                <a:spcPct val="100000"/>
              </a:lnSpc>
              <a:spcBef>
                <a:spcPts val="2303"/>
              </a:spcBef>
              <a:buNone/>
              <a:tabLst>
                <a:tab pos="857872" algn="l"/>
              </a:tabLst>
            </a:pPr>
            <a:endParaRPr lang="en-US" sz="2409" dirty="0">
              <a:latin typeface="Arial MT"/>
              <a:cs typeface="Arial MT"/>
            </a:endParaRPr>
          </a:p>
          <a:p>
            <a:pPr marL="857872" lvl="1" indent="-337795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857872" algn="l"/>
              </a:tabLst>
            </a:pPr>
            <a:r>
              <a:rPr lang="en-US" sz="2409" dirty="0">
                <a:latin typeface="Arial MT"/>
                <a:cs typeface="Arial MT"/>
              </a:rPr>
              <a:t>Pulmonary</a:t>
            </a:r>
            <a:r>
              <a:rPr lang="en-US" sz="2409" spc="-135" dirty="0">
                <a:latin typeface="Arial MT"/>
                <a:cs typeface="Arial MT"/>
              </a:rPr>
              <a:t> </a:t>
            </a:r>
            <a:r>
              <a:rPr lang="en-US" sz="2409" spc="-10" dirty="0">
                <a:latin typeface="Arial MT"/>
                <a:cs typeface="Arial MT"/>
              </a:rPr>
              <a:t>Artery.</a:t>
            </a:r>
          </a:p>
          <a:p>
            <a:pPr marL="857872" lvl="1" indent="-337795">
              <a:lnSpc>
                <a:spcPct val="100000"/>
              </a:lnSpc>
              <a:spcBef>
                <a:spcPts val="1731"/>
              </a:spcBef>
              <a:buAutoNum type="arabicPeriod"/>
              <a:tabLst>
                <a:tab pos="857872" algn="l"/>
                <a:tab pos="2510520" algn="l"/>
              </a:tabLst>
            </a:pPr>
            <a:endParaRPr lang="en-US" sz="2409" dirty="0">
              <a:latin typeface="Arial MT"/>
              <a:cs typeface="Arial MT"/>
            </a:endParaRPr>
          </a:p>
          <a:p>
            <a:pPr marL="548121" marR="533462" lvl="1" indent="-28043">
              <a:lnSpc>
                <a:spcPct val="100000"/>
              </a:lnSpc>
              <a:spcBef>
                <a:spcPts val="1726"/>
              </a:spcBef>
              <a:buAutoNum type="arabicPeriod"/>
              <a:tabLst>
                <a:tab pos="548121" algn="l"/>
                <a:tab pos="857872" algn="l"/>
              </a:tabLst>
            </a:pPr>
            <a:r>
              <a:rPr lang="en-US" sz="2409" dirty="0">
                <a:latin typeface="Arial MT"/>
                <a:cs typeface="Arial MT"/>
              </a:rPr>
              <a:t>	</a:t>
            </a:r>
            <a:r>
              <a:rPr lang="en-US" sz="2409" spc="-10" dirty="0">
                <a:latin typeface="Arial MT"/>
                <a:cs typeface="Arial MT"/>
              </a:rPr>
              <a:t>Pulmonary Vein</a:t>
            </a:r>
          </a:p>
          <a:p>
            <a:pPr marL="548121" marR="533462" lvl="1" indent="-28043">
              <a:lnSpc>
                <a:spcPct val="100000"/>
              </a:lnSpc>
              <a:spcBef>
                <a:spcPts val="1726"/>
              </a:spcBef>
              <a:buAutoNum type="arabicPeriod"/>
              <a:tabLst>
                <a:tab pos="548121" algn="l"/>
                <a:tab pos="857872" algn="l"/>
              </a:tabLst>
            </a:pPr>
            <a:endParaRPr lang="en-US" sz="2409" spc="-10" dirty="0">
              <a:latin typeface="Arial MT"/>
              <a:cs typeface="Arial MT"/>
            </a:endParaRPr>
          </a:p>
          <a:p>
            <a:pPr marL="548121" marR="533462" lvl="1" indent="-28043">
              <a:lnSpc>
                <a:spcPct val="100000"/>
              </a:lnSpc>
              <a:spcBef>
                <a:spcPts val="1726"/>
              </a:spcBef>
              <a:buFont typeface="Arial" panose="020B0604020202020204" pitchFamily="34" charset="0"/>
              <a:buAutoNum type="arabicPeriod"/>
              <a:tabLst>
                <a:tab pos="548121" algn="l"/>
                <a:tab pos="857872" algn="l"/>
              </a:tabLst>
            </a:pPr>
            <a:r>
              <a:rPr lang="en-US" sz="2409" spc="-10" dirty="0">
                <a:latin typeface="Arial MT"/>
                <a:cs typeface="Arial MT"/>
              </a:rPr>
              <a:t> Bronchus (posterior)</a:t>
            </a:r>
          </a:p>
          <a:p>
            <a:pPr marL="548121" marR="533462" lvl="1" indent="-28043">
              <a:lnSpc>
                <a:spcPct val="100000"/>
              </a:lnSpc>
              <a:spcBef>
                <a:spcPts val="1726"/>
              </a:spcBef>
              <a:buAutoNum type="arabicPeriod"/>
              <a:tabLst>
                <a:tab pos="548121" algn="l"/>
                <a:tab pos="857872" algn="l"/>
              </a:tabLst>
            </a:pPr>
            <a:endParaRPr lang="en-US" sz="2409" dirty="0">
              <a:latin typeface="Arial MT"/>
              <a:cs typeface="Arial MT"/>
            </a:endParaRPr>
          </a:p>
          <a:p>
            <a:endParaRPr lang="en-GB" dirty="0"/>
          </a:p>
        </p:txBody>
      </p:sp>
      <p:pic>
        <p:nvPicPr>
          <p:cNvPr id="5" name="object 20">
            <a:extLst>
              <a:ext uri="{FF2B5EF4-FFF2-40B4-BE49-F238E27FC236}">
                <a16:creationId xmlns:a16="http://schemas.microsoft.com/office/drawing/2014/main" id="{32C14308-CE49-83BE-E192-6AD7DD46D0CC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986427" y="1058238"/>
            <a:ext cx="4767209" cy="557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5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94FE-A978-93C5-0CDD-E0DF78DC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1" y="365126"/>
            <a:ext cx="11127769" cy="898596"/>
          </a:xfrm>
        </p:spPr>
        <p:txBody>
          <a:bodyPr>
            <a:normAutofit fontScale="90000"/>
          </a:bodyPr>
          <a:lstStyle/>
          <a:p>
            <a:r>
              <a:rPr lang="en-GB" spc="-10" dirty="0"/>
              <a:t>Arrangement</a:t>
            </a:r>
            <a:r>
              <a:rPr lang="en-GB" spc="-135" dirty="0"/>
              <a:t> o</a:t>
            </a:r>
            <a:r>
              <a:rPr lang="en-GB" dirty="0"/>
              <a:t>f</a:t>
            </a:r>
            <a:r>
              <a:rPr lang="en-GB" spc="-130" dirty="0"/>
              <a:t> </a:t>
            </a:r>
            <a:r>
              <a:rPr lang="en-GB" dirty="0"/>
              <a:t>Structures</a:t>
            </a:r>
            <a:r>
              <a:rPr lang="en-GB" spc="-130" dirty="0"/>
              <a:t> </a:t>
            </a:r>
            <a:r>
              <a:rPr lang="en-GB" spc="-25" dirty="0"/>
              <a:t>in the Root</a:t>
            </a:r>
            <a:r>
              <a:rPr lang="en-GB" spc="-20" dirty="0">
                <a:latin typeface="Arial"/>
                <a:cs typeface="Arial"/>
              </a:rPr>
              <a:t> </a:t>
            </a:r>
            <a:br>
              <a:rPr lang="en-GB" spc="-20" dirty="0">
                <a:latin typeface="Arial"/>
                <a:cs typeface="Arial"/>
              </a:rPr>
            </a:br>
            <a:r>
              <a:rPr lang="en-GB" spc="-20" dirty="0">
                <a:latin typeface="Arial"/>
                <a:cs typeface="Arial"/>
              </a:rPr>
              <a:t>					</a:t>
            </a:r>
            <a:r>
              <a:rPr lang="en-GB" spc="-10" dirty="0"/>
              <a:t>					Left Side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71302-5FC3-379E-BF9F-2C22D27F65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1723392" indent="-337795">
              <a:spcBef>
                <a:spcPts val="2298"/>
              </a:spcBef>
              <a:buAutoNum type="arabicPeriod"/>
              <a:tabLst>
                <a:tab pos="1723392" algn="l"/>
              </a:tabLst>
            </a:pPr>
            <a:endParaRPr lang="en-US" dirty="0">
              <a:latin typeface="Arial MT"/>
              <a:cs typeface="Arial MT"/>
            </a:endParaRPr>
          </a:p>
          <a:p>
            <a:pPr marL="1723392" indent="-337795">
              <a:spcBef>
                <a:spcPts val="2298"/>
              </a:spcBef>
              <a:buAutoNum type="arabicPeriod"/>
              <a:tabLst>
                <a:tab pos="1723392" algn="l"/>
              </a:tabLst>
            </a:pPr>
            <a:r>
              <a:rPr lang="en-US" dirty="0">
                <a:latin typeface="Arial MT"/>
                <a:cs typeface="Arial MT"/>
              </a:rPr>
              <a:t>Pulmonary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artery</a:t>
            </a:r>
          </a:p>
          <a:p>
            <a:pPr marL="1723392" indent="-337795">
              <a:spcBef>
                <a:spcPts val="2298"/>
              </a:spcBef>
              <a:buAutoNum type="arabicPeriod"/>
              <a:tabLst>
                <a:tab pos="1723392" algn="l"/>
              </a:tabLst>
            </a:pPr>
            <a:endParaRPr lang="en-US" spc="-10" dirty="0">
              <a:latin typeface="Arial MT"/>
              <a:cs typeface="Arial MT"/>
            </a:endParaRPr>
          </a:p>
          <a:p>
            <a:pPr marL="1723392" indent="-337795">
              <a:spcBef>
                <a:spcPts val="2298"/>
              </a:spcBef>
              <a:buFont typeface="Arial" panose="020B0604020202020204" pitchFamily="34" charset="0"/>
              <a:buAutoNum type="arabicPeriod"/>
              <a:tabLst>
                <a:tab pos="1723392" algn="l"/>
              </a:tabLst>
            </a:pPr>
            <a:r>
              <a:rPr lang="en-US" dirty="0">
                <a:latin typeface="Arial MT"/>
                <a:cs typeface="Arial MT"/>
              </a:rPr>
              <a:t>pulmonary</a:t>
            </a:r>
            <a:r>
              <a:rPr lang="en-US" spc="-8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vein</a:t>
            </a:r>
          </a:p>
          <a:p>
            <a:pPr marL="1723392" indent="-337795">
              <a:spcBef>
                <a:spcPts val="2298"/>
              </a:spcBef>
              <a:buFont typeface="Arial" panose="020B0604020202020204" pitchFamily="34" charset="0"/>
              <a:buAutoNum type="arabicPeriod"/>
              <a:tabLst>
                <a:tab pos="1723392" algn="l"/>
              </a:tabLst>
            </a:pPr>
            <a:endParaRPr lang="en-US" spc="-20" dirty="0">
              <a:latin typeface="Arial MT"/>
              <a:cs typeface="Arial MT"/>
            </a:endParaRPr>
          </a:p>
          <a:p>
            <a:pPr marL="1723392" indent="-337795">
              <a:spcBef>
                <a:spcPts val="2298"/>
              </a:spcBef>
              <a:buFont typeface="Arial" panose="020B0604020202020204" pitchFamily="34" charset="0"/>
              <a:buAutoNum type="arabicPeriod"/>
              <a:tabLst>
                <a:tab pos="1723392" algn="l"/>
              </a:tabLst>
            </a:pPr>
            <a:r>
              <a:rPr lang="en-US" spc="-20" dirty="0">
                <a:latin typeface="Arial MT"/>
                <a:cs typeface="Arial MT"/>
              </a:rPr>
              <a:t>Bronchus </a:t>
            </a:r>
          </a:p>
          <a:p>
            <a:pPr marL="1385597" indent="0">
              <a:spcBef>
                <a:spcPts val="2298"/>
              </a:spcBef>
              <a:buNone/>
              <a:tabLst>
                <a:tab pos="1723392" algn="l"/>
              </a:tabLst>
            </a:pPr>
            <a:endParaRPr lang="en-US" dirty="0">
              <a:latin typeface="Arial MT"/>
              <a:cs typeface="Arial MT"/>
            </a:endParaRPr>
          </a:p>
          <a:p>
            <a:pPr marL="1385597" indent="0">
              <a:spcBef>
                <a:spcPts val="2017"/>
              </a:spcBef>
              <a:buNone/>
              <a:tabLst>
                <a:tab pos="1724030" algn="l"/>
              </a:tabLst>
            </a:pPr>
            <a:endParaRPr lang="en-US" spc="-10" dirty="0">
              <a:latin typeface="Arial MT"/>
              <a:cs typeface="Arial MT"/>
            </a:endParaRPr>
          </a:p>
          <a:p>
            <a:pPr marL="1724030" indent="-338433">
              <a:spcBef>
                <a:spcPts val="2017"/>
              </a:spcBef>
              <a:buAutoNum type="arabicPeriod"/>
              <a:tabLst>
                <a:tab pos="1724030" algn="l"/>
              </a:tabLst>
            </a:pP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2893D65C-65EF-E429-8463-F35517F92702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343216" y="1448656"/>
            <a:ext cx="4626177" cy="52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6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95CD-3958-2E2A-F259-D569CEF0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7" y="113016"/>
            <a:ext cx="11138043" cy="996594"/>
          </a:xfrm>
        </p:spPr>
        <p:txBody>
          <a:bodyPr/>
          <a:lstStyle/>
          <a:p>
            <a:r>
              <a:rPr lang="en-GB" b="1" dirty="0"/>
              <a:t>LOBES &amp; FISSURES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616A-1A7E-8B05-7704-10D015923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757" y="1109610"/>
            <a:ext cx="5804043" cy="5635374"/>
          </a:xfrm>
        </p:spPr>
        <p:txBody>
          <a:bodyPr/>
          <a:lstStyle/>
          <a:p>
            <a:r>
              <a:rPr lang="en-GB" dirty="0"/>
              <a:t>The right lung is divided into three lobes by two fissures, oblique and horizontal</a:t>
            </a:r>
          </a:p>
          <a:p>
            <a:endParaRPr lang="en-GB" dirty="0"/>
          </a:p>
          <a:p>
            <a:r>
              <a:rPr lang="en-GB" dirty="0"/>
              <a:t>The left lung is divided into two lobes by oblique fissure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D493C3B5-3A01-95E6-FD9C-9F913023A352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172200" y="369870"/>
            <a:ext cx="5804042" cy="625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67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9D1D-C7BD-FB6C-03BA-E536F15F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47" y="127946"/>
            <a:ext cx="10936841" cy="63454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FISSURE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67661-2D52-EBED-DED4-25E1A0088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306" y="762494"/>
            <a:ext cx="5157787" cy="522679"/>
          </a:xfrm>
        </p:spPr>
        <p:txBody>
          <a:bodyPr/>
          <a:lstStyle/>
          <a:p>
            <a:r>
              <a:rPr lang="en-GB" dirty="0"/>
              <a:t>OBLIQUE</a:t>
            </a:r>
            <a:r>
              <a:rPr lang="en-GB" spc="-141" dirty="0"/>
              <a:t> </a:t>
            </a:r>
            <a:r>
              <a:rPr lang="en-GB" spc="-10" dirty="0"/>
              <a:t>FISSURE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D6AD2-3502-A1A8-6BBA-C40A2C759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8547" y="1285173"/>
            <a:ext cx="5486523" cy="2762845"/>
          </a:xfrm>
        </p:spPr>
        <p:txBody>
          <a:bodyPr>
            <a:normAutofit fontScale="92500"/>
          </a:bodyPr>
          <a:lstStyle/>
          <a:p>
            <a:pPr marL="12747" marR="412365">
              <a:spcBef>
                <a:spcPts val="95"/>
              </a:spcBef>
            </a:pP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begins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posteriorly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at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level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of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5th </a:t>
            </a:r>
            <a:r>
              <a:rPr lang="en-US" dirty="0">
                <a:latin typeface="Arial MT"/>
                <a:cs typeface="Arial MT"/>
              </a:rPr>
              <a:t>thoracic</a:t>
            </a:r>
            <a:r>
              <a:rPr lang="en-US" spc="-8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vertebra.</a:t>
            </a:r>
            <a:endParaRPr lang="en-US" dirty="0">
              <a:latin typeface="Arial MT"/>
              <a:cs typeface="Arial MT"/>
            </a:endParaRPr>
          </a:p>
          <a:p>
            <a:pPr>
              <a:spcBef>
                <a:spcPts val="1686"/>
              </a:spcBef>
            </a:pPr>
            <a:endParaRPr lang="en-US" dirty="0">
              <a:latin typeface="Arial MT"/>
              <a:cs typeface="Arial MT"/>
            </a:endParaRPr>
          </a:p>
          <a:p>
            <a:pPr marL="12747" marR="5099"/>
            <a:r>
              <a:rPr lang="en-US" dirty="0">
                <a:latin typeface="Arial MT"/>
                <a:cs typeface="Arial MT"/>
              </a:rPr>
              <a:t>Passes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antero-</a:t>
            </a:r>
            <a:r>
              <a:rPr lang="en-US" dirty="0">
                <a:latin typeface="Arial MT"/>
                <a:cs typeface="Arial MT"/>
              </a:rPr>
              <a:t>inferiorly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spiral </a:t>
            </a:r>
            <a:r>
              <a:rPr lang="en-US" dirty="0">
                <a:latin typeface="Arial MT"/>
                <a:cs typeface="Arial MT"/>
              </a:rPr>
              <a:t>course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meet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inferior</a:t>
            </a:r>
            <a:r>
              <a:rPr lang="en-US" spc="-3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margin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close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6th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costochondral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junction.</a:t>
            </a: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3C240-4727-5EC1-FDB8-7ADC3377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05071" y="762493"/>
            <a:ext cx="5183188" cy="522680"/>
          </a:xfrm>
        </p:spPr>
        <p:txBody>
          <a:bodyPr/>
          <a:lstStyle/>
          <a:p>
            <a:r>
              <a:rPr lang="en-GB" dirty="0"/>
              <a:t>HORIZONTAL</a:t>
            </a:r>
            <a:r>
              <a:rPr lang="en-GB" spc="-166" dirty="0"/>
              <a:t> </a:t>
            </a:r>
            <a:r>
              <a:rPr lang="en-GB" spc="-10" dirty="0"/>
              <a:t>FISSURE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62400-A5EC-2E81-8CBD-58A64EFAF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85172"/>
            <a:ext cx="5715000" cy="5444881"/>
          </a:xfrm>
        </p:spPr>
        <p:txBody>
          <a:bodyPr>
            <a:normAutofit fontScale="92500"/>
          </a:bodyPr>
          <a:lstStyle/>
          <a:p>
            <a:pPr marL="12747" marR="105163">
              <a:spcBef>
                <a:spcPts val="100"/>
              </a:spcBef>
            </a:pP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extends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from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anterior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margin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at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level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of </a:t>
            </a:r>
            <a:r>
              <a:rPr lang="en-US" dirty="0">
                <a:latin typeface="Arial MT"/>
                <a:cs typeface="Arial MT"/>
              </a:rPr>
              <a:t>4th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costal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cartilage.</a:t>
            </a:r>
            <a:endParaRPr lang="en-US" dirty="0">
              <a:latin typeface="Arial MT"/>
              <a:cs typeface="Arial MT"/>
            </a:endParaRPr>
          </a:p>
          <a:p>
            <a:pPr>
              <a:spcBef>
                <a:spcPts val="1501"/>
              </a:spcBef>
            </a:pPr>
            <a:endParaRPr lang="en-US" dirty="0">
              <a:latin typeface="Arial MT"/>
              <a:cs typeface="Arial MT"/>
            </a:endParaRPr>
          </a:p>
          <a:p>
            <a:pPr marL="12747" marR="760358"/>
            <a:r>
              <a:rPr lang="en-US" dirty="0">
                <a:latin typeface="Arial MT"/>
                <a:cs typeface="Arial MT"/>
              </a:rPr>
              <a:t>Runs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horizontally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backwards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meet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the </a:t>
            </a:r>
            <a:r>
              <a:rPr lang="en-US" dirty="0">
                <a:latin typeface="Arial MT"/>
                <a:cs typeface="Arial MT"/>
              </a:rPr>
              <a:t>oblique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fissure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mid-</a:t>
            </a:r>
            <a:r>
              <a:rPr lang="en-US" dirty="0">
                <a:latin typeface="Arial MT"/>
                <a:cs typeface="Arial MT"/>
              </a:rPr>
              <a:t>axillary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line.</a:t>
            </a:r>
            <a:endParaRPr lang="en-US" dirty="0">
              <a:latin typeface="Arial MT"/>
              <a:cs typeface="Arial MT"/>
            </a:endParaRPr>
          </a:p>
          <a:p>
            <a:pPr>
              <a:spcBef>
                <a:spcPts val="1501"/>
              </a:spcBef>
            </a:pPr>
            <a:endParaRPr lang="en-US" dirty="0">
              <a:latin typeface="Arial MT"/>
              <a:cs typeface="Arial MT"/>
            </a:endParaRPr>
          </a:p>
          <a:p>
            <a:pPr marL="12747" marR="5099" algn="just">
              <a:spcBef>
                <a:spcPts val="5"/>
              </a:spcBef>
            </a:pPr>
            <a:r>
              <a:rPr lang="en-US" dirty="0">
                <a:latin typeface="Arial MT"/>
                <a:cs typeface="Arial MT"/>
              </a:rPr>
              <a:t>Pulmonary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pleura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extends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into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fissures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of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lungs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so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that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lobes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can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move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on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each </a:t>
            </a:r>
            <a:r>
              <a:rPr lang="en-US" dirty="0">
                <a:latin typeface="Arial MT"/>
                <a:cs typeface="Arial MT"/>
              </a:rPr>
              <a:t>other</a:t>
            </a:r>
            <a:r>
              <a:rPr lang="en-US" spc="-7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during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respiration.</a:t>
            </a:r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62C02AA1-58BC-4E59-6968-E9DE7D6852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548" y="3976099"/>
            <a:ext cx="5233674" cy="28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7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5F44-4A09-97CA-B402-7BE7FC2DA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195943"/>
            <a:ext cx="11582400" cy="810532"/>
          </a:xfrm>
        </p:spPr>
        <p:txBody>
          <a:bodyPr/>
          <a:lstStyle/>
          <a:p>
            <a:r>
              <a:rPr lang="en-GB" b="1" dirty="0"/>
              <a:t>BRONCHIAL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B6FE-76E3-F1BE-646E-60DC22876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175658"/>
            <a:ext cx="11821885" cy="5486399"/>
          </a:xfrm>
        </p:spPr>
        <p:txBody>
          <a:bodyPr/>
          <a:lstStyle/>
          <a:p>
            <a:r>
              <a:rPr lang="en-GB" dirty="0"/>
              <a:t>The tracheal is a flexible tube that extend from vertebral level C6 to T4 in the mediastinum where it bifurcates into a right and a left main bronchus</a:t>
            </a:r>
          </a:p>
          <a:p>
            <a:endParaRPr lang="en-GB" dirty="0"/>
          </a:p>
          <a:p>
            <a:r>
              <a:rPr lang="en-GB" dirty="0"/>
              <a:t>The tracheal is held open by a C-shaped transverse cartilage rings embedded in its wall and the open part of the C facing posteriorly</a:t>
            </a:r>
          </a:p>
          <a:p>
            <a:endParaRPr lang="en-GB" dirty="0"/>
          </a:p>
          <a:p>
            <a:r>
              <a:rPr lang="en-GB" dirty="0"/>
              <a:t>The lowest tracheal ring has a hook-shaped structure, the carina that project backwards in the midline between the origins of the two main bronchus</a:t>
            </a:r>
          </a:p>
          <a:p>
            <a:endParaRPr lang="en-GB" dirty="0"/>
          </a:p>
          <a:p>
            <a:r>
              <a:rPr lang="en-GB" dirty="0"/>
              <a:t>The posterior wall of the tracheal is composed mainly of smooth muscle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601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F0D1-1BBB-3AC1-F332-F2B9A783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642"/>
            <a:ext cx="10515600" cy="45719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20E1EB-D9CB-6897-2C78-FA0AE443C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65" y="415589"/>
            <a:ext cx="11883601" cy="6305251"/>
          </a:xfrm>
        </p:spPr>
      </p:pic>
    </p:spTree>
    <p:extLst>
      <p:ext uri="{BB962C8B-B14F-4D97-AF65-F5344CB8AC3E}">
        <p14:creationId xmlns:p14="http://schemas.microsoft.com/office/powerpoint/2010/main" val="4238442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751" y="113016"/>
            <a:ext cx="9152498" cy="66268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1751" y="243735"/>
            <a:ext cx="960501" cy="331428"/>
          </a:xfrm>
          <a:prstGeom prst="rect">
            <a:avLst/>
          </a:prstGeom>
        </p:spPr>
        <p:txBody>
          <a:bodyPr vert="horz" wrap="square" lIns="0" tIns="12110" rIns="0" bIns="0" rtlCol="0" anchor="ctr">
            <a:spAutoFit/>
          </a:bodyPr>
          <a:lstStyle/>
          <a:p>
            <a:pPr marL="12747">
              <a:lnSpc>
                <a:spcPct val="100000"/>
              </a:lnSpc>
              <a:spcBef>
                <a:spcPts val="95"/>
              </a:spcBef>
            </a:pPr>
            <a:r>
              <a:rPr sz="2007" spc="-10" dirty="0">
                <a:solidFill>
                  <a:srgbClr val="FFFF00"/>
                </a:solidFill>
                <a:latin typeface="Arial MT"/>
                <a:cs typeface="Arial MT"/>
              </a:rPr>
              <a:t>Trachea</a:t>
            </a:r>
            <a:endParaRPr sz="200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04732" y="1097789"/>
            <a:ext cx="144043" cy="145318"/>
            <a:chOff x="1180592" y="1093723"/>
            <a:chExt cx="143510" cy="1447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5070" y="1093723"/>
              <a:ext cx="115823" cy="434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0592" y="1137157"/>
              <a:ext cx="143255" cy="10134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4732" y="1838912"/>
            <a:ext cx="143788" cy="1384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4732" y="2565503"/>
            <a:ext cx="143788" cy="1445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4732" y="3306626"/>
            <a:ext cx="143788" cy="1307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04732" y="4033217"/>
            <a:ext cx="143788" cy="1430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04732" y="4774341"/>
            <a:ext cx="143788" cy="13078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259311" y="5367851"/>
            <a:ext cx="1186765" cy="43978"/>
            <a:chOff x="5718302" y="5347970"/>
            <a:chExt cx="1182370" cy="43815"/>
          </a:xfrm>
        </p:grpSpPr>
        <p:sp>
          <p:nvSpPr>
            <p:cNvPr id="13" name="object 13"/>
            <p:cNvSpPr/>
            <p:nvPr/>
          </p:nvSpPr>
          <p:spPr>
            <a:xfrm>
              <a:off x="5730494" y="5360162"/>
              <a:ext cx="1169670" cy="31750"/>
            </a:xfrm>
            <a:custGeom>
              <a:avLst/>
              <a:gdLst/>
              <a:ahLst/>
              <a:cxnLst/>
              <a:rect l="l" t="t" r="r" b="b"/>
              <a:pathLst>
                <a:path w="1169670" h="31750">
                  <a:moveTo>
                    <a:pt x="1169670" y="31241"/>
                  </a:moveTo>
                  <a:lnTo>
                    <a:pt x="1169670" y="0"/>
                  </a:lnTo>
                  <a:lnTo>
                    <a:pt x="0" y="0"/>
                  </a:lnTo>
                  <a:lnTo>
                    <a:pt x="0" y="31241"/>
                  </a:lnTo>
                  <a:lnTo>
                    <a:pt x="1169670" y="3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18302" y="5347970"/>
              <a:ext cx="1169670" cy="31750"/>
            </a:xfrm>
            <a:custGeom>
              <a:avLst/>
              <a:gdLst/>
              <a:ahLst/>
              <a:cxnLst/>
              <a:rect l="l" t="t" r="r" b="b"/>
              <a:pathLst>
                <a:path w="1169670" h="31750">
                  <a:moveTo>
                    <a:pt x="1169670" y="31241"/>
                  </a:moveTo>
                  <a:lnTo>
                    <a:pt x="1169670" y="0"/>
                  </a:lnTo>
                  <a:lnTo>
                    <a:pt x="0" y="0"/>
                  </a:lnTo>
                  <a:lnTo>
                    <a:pt x="0" y="31241"/>
                  </a:lnTo>
                  <a:lnTo>
                    <a:pt x="1169670" y="3124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04732" y="5573591"/>
            <a:ext cx="143788" cy="142258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704732" y="6300181"/>
            <a:ext cx="144043" cy="145318"/>
            <a:chOff x="1180592" y="6276847"/>
            <a:chExt cx="143510" cy="14478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5070" y="6276847"/>
              <a:ext cx="115823" cy="434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0592" y="6320281"/>
              <a:ext cx="143255" cy="10134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01751" y="977210"/>
            <a:ext cx="5444334" cy="5632525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Right</a:t>
            </a:r>
            <a:r>
              <a:rPr sz="2007" spc="-5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and</a:t>
            </a:r>
            <a:r>
              <a:rPr sz="2007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Left</a:t>
            </a:r>
            <a:r>
              <a:rPr sz="2007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Principal</a:t>
            </a:r>
            <a:r>
              <a:rPr sz="2007" spc="-5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spc="-10" dirty="0">
                <a:solidFill>
                  <a:srgbClr val="FFFF00"/>
                </a:solidFill>
                <a:latin typeface="Arial MT"/>
                <a:cs typeface="Arial MT"/>
              </a:rPr>
              <a:t>Bronchus</a:t>
            </a:r>
            <a:endParaRPr sz="2007" dirty="0">
              <a:latin typeface="Arial MT"/>
              <a:cs typeface="Arial MT"/>
            </a:endParaRPr>
          </a:p>
          <a:p>
            <a:pPr marL="12747" marR="1274062">
              <a:lnSpc>
                <a:spcPct val="239500"/>
              </a:lnSpc>
            </a:pP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Lobar</a:t>
            </a:r>
            <a:r>
              <a:rPr sz="2007" spc="-7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spc="-10" dirty="0">
                <a:solidFill>
                  <a:srgbClr val="FFFF00"/>
                </a:solidFill>
                <a:latin typeface="Arial MT"/>
                <a:cs typeface="Arial MT"/>
              </a:rPr>
              <a:t>Bronchi(Secondary)[2L,3R] </a:t>
            </a: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Segmental</a:t>
            </a:r>
            <a:r>
              <a:rPr sz="2007" spc="-12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spc="-10" dirty="0">
                <a:solidFill>
                  <a:srgbClr val="FFFF00"/>
                </a:solidFill>
                <a:latin typeface="Arial MT"/>
                <a:cs typeface="Arial MT"/>
              </a:rPr>
              <a:t>Bronchi(Tertiary)[8L,10R</a:t>
            </a:r>
            <a:r>
              <a:rPr lang="en-GB" sz="2007" spc="-10" dirty="0">
                <a:solidFill>
                  <a:srgbClr val="FFFF00"/>
                </a:solidFill>
                <a:latin typeface="Arial MT"/>
                <a:cs typeface="Arial MT"/>
              </a:rPr>
              <a:t>] </a:t>
            </a:r>
            <a:endParaRPr lang="en-GB" sz="2007" dirty="0">
              <a:latin typeface="Arial MT"/>
              <a:cs typeface="Arial MT"/>
            </a:endParaRPr>
          </a:p>
          <a:p>
            <a:pPr marL="12747" marR="1458256">
              <a:lnSpc>
                <a:spcPct val="239500"/>
              </a:lnSpc>
              <a:spcBef>
                <a:spcPts val="10"/>
              </a:spcBef>
            </a:pPr>
            <a:r>
              <a:rPr lang="en-GB" sz="2007" dirty="0">
                <a:solidFill>
                  <a:srgbClr val="FFFF00"/>
                </a:solidFill>
                <a:latin typeface="Arial MT"/>
                <a:cs typeface="Arial MT"/>
              </a:rPr>
              <a:t>Terminal</a:t>
            </a:r>
            <a:r>
              <a:rPr lang="en-GB" sz="2007" spc="-3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lang="en-GB" sz="2007" spc="-10" dirty="0">
                <a:solidFill>
                  <a:srgbClr val="FFFF00"/>
                </a:solidFill>
                <a:latin typeface="Arial MT"/>
                <a:cs typeface="Arial MT"/>
              </a:rPr>
              <a:t>Bronchioles(25000</a:t>
            </a:r>
            <a:r>
              <a:rPr lang="en-GB" sz="2007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lang="en-GB" sz="2007" dirty="0">
                <a:solidFill>
                  <a:srgbClr val="FFFF00"/>
                </a:solidFill>
                <a:latin typeface="Arial MT"/>
                <a:cs typeface="Arial MT"/>
              </a:rPr>
              <a:t>in</a:t>
            </a:r>
            <a:r>
              <a:rPr lang="en-GB" sz="2007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lang="en-GB" sz="2007" spc="-20" dirty="0">
                <a:solidFill>
                  <a:srgbClr val="FFFF00"/>
                </a:solidFill>
                <a:latin typeface="Arial MT"/>
                <a:cs typeface="Arial MT"/>
              </a:rPr>
              <a:t>no.) </a:t>
            </a:r>
            <a:r>
              <a:rPr lang="en-GB" sz="2007" dirty="0">
                <a:solidFill>
                  <a:srgbClr val="FFFF00"/>
                </a:solidFill>
                <a:latin typeface="Arial MT"/>
                <a:cs typeface="Arial MT"/>
              </a:rPr>
              <a:t>Respiratory</a:t>
            </a:r>
            <a:r>
              <a:rPr lang="en-GB" sz="2007" spc="-10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lang="en-GB" sz="2007" spc="-10" dirty="0">
                <a:solidFill>
                  <a:srgbClr val="FFFF00"/>
                </a:solidFill>
                <a:latin typeface="Arial MT"/>
                <a:cs typeface="Arial MT"/>
              </a:rPr>
              <a:t>Bronchioles</a:t>
            </a:r>
            <a:endParaRPr lang="en-GB" sz="2007" dirty="0">
              <a:latin typeface="Arial MT"/>
              <a:cs typeface="Arial MT"/>
            </a:endParaRPr>
          </a:p>
          <a:p>
            <a:pPr>
              <a:spcBef>
                <a:spcPts val="1049"/>
              </a:spcBef>
            </a:pPr>
            <a:endParaRPr sz="2007" dirty="0">
              <a:latin typeface="Arial MT"/>
              <a:cs typeface="Arial MT"/>
            </a:endParaRPr>
          </a:p>
          <a:p>
            <a:pPr marL="12747"/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Alveolar</a:t>
            </a:r>
            <a:r>
              <a:rPr sz="2007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spc="-20" dirty="0">
                <a:solidFill>
                  <a:srgbClr val="FFFF00"/>
                </a:solidFill>
                <a:latin typeface="Arial MT"/>
                <a:cs typeface="Arial MT"/>
              </a:rPr>
              <a:t>ducts</a:t>
            </a:r>
            <a:endParaRPr sz="2007" dirty="0">
              <a:latin typeface="Arial MT"/>
              <a:cs typeface="Arial MT"/>
            </a:endParaRPr>
          </a:p>
          <a:p>
            <a:pPr marR="5099" algn="r">
              <a:spcBef>
                <a:spcPts val="552"/>
              </a:spcBef>
            </a:pPr>
            <a:r>
              <a:rPr sz="2409" b="1" spc="-10" dirty="0">
                <a:solidFill>
                  <a:srgbClr val="FFFF00"/>
                </a:solidFill>
                <a:latin typeface="Arial"/>
                <a:cs typeface="Arial"/>
              </a:rPr>
              <a:t>ACINUS</a:t>
            </a:r>
            <a:endParaRPr sz="2409" dirty="0">
              <a:latin typeface="Arial"/>
              <a:cs typeface="Arial"/>
            </a:endParaRPr>
          </a:p>
          <a:p>
            <a:pPr marL="12747">
              <a:spcBef>
                <a:spcPts val="502"/>
              </a:spcBef>
            </a:pPr>
            <a:r>
              <a:rPr sz="2007" dirty="0">
                <a:solidFill>
                  <a:srgbClr val="FFFF00"/>
                </a:solidFill>
                <a:latin typeface="Arial MT"/>
                <a:cs typeface="Arial MT"/>
              </a:rPr>
              <a:t>Alveolar</a:t>
            </a:r>
            <a:r>
              <a:rPr sz="2007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007" spc="-20" dirty="0">
                <a:solidFill>
                  <a:srgbClr val="FFFF00"/>
                </a:solidFill>
                <a:latin typeface="Arial MT"/>
                <a:cs typeface="Arial MT"/>
              </a:rPr>
              <a:t>sacs</a:t>
            </a:r>
            <a:endParaRPr sz="2007" dirty="0">
              <a:latin typeface="Arial MT"/>
              <a:cs typeface="Arial MT"/>
            </a:endParaRPr>
          </a:p>
          <a:p>
            <a:pPr>
              <a:spcBef>
                <a:spcPts val="1054"/>
              </a:spcBef>
            </a:pPr>
            <a:endParaRPr sz="2007" dirty="0">
              <a:latin typeface="Arial MT"/>
              <a:cs typeface="Arial MT"/>
            </a:endParaRPr>
          </a:p>
          <a:p>
            <a:pPr marL="12747"/>
            <a:r>
              <a:rPr sz="2007" spc="-10" dirty="0">
                <a:solidFill>
                  <a:srgbClr val="FFFF00"/>
                </a:solidFill>
                <a:latin typeface="Arial MT"/>
                <a:cs typeface="Arial MT"/>
              </a:rPr>
              <a:t>Alveoli</a:t>
            </a:r>
            <a:endParaRPr sz="2007" dirty="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34953" y="675602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499"/>
                </a:moveTo>
                <a:lnTo>
                  <a:pt x="0" y="190499"/>
                </a:lnTo>
                <a:lnTo>
                  <a:pt x="38100" y="266699"/>
                </a:lnTo>
                <a:lnTo>
                  <a:pt x="38100" y="209549"/>
                </a:lnTo>
                <a:lnTo>
                  <a:pt x="76200" y="209549"/>
                </a:lnTo>
                <a:lnTo>
                  <a:pt x="76200" y="266699"/>
                </a:lnTo>
                <a:lnTo>
                  <a:pt x="114300" y="190499"/>
                </a:lnTo>
                <a:close/>
              </a:path>
              <a:path w="114300" h="304800">
                <a:moveTo>
                  <a:pt x="76200" y="190499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499"/>
                </a:lnTo>
                <a:lnTo>
                  <a:pt x="76200" y="190499"/>
                </a:lnTo>
                <a:close/>
              </a:path>
              <a:path w="114300" h="304800">
                <a:moveTo>
                  <a:pt x="76200" y="266699"/>
                </a:moveTo>
                <a:lnTo>
                  <a:pt x="76200" y="209549"/>
                </a:lnTo>
                <a:lnTo>
                  <a:pt x="38100" y="209549"/>
                </a:lnTo>
                <a:lnTo>
                  <a:pt x="38100" y="266699"/>
                </a:lnTo>
                <a:lnTo>
                  <a:pt x="57150" y="304799"/>
                </a:lnTo>
                <a:lnTo>
                  <a:pt x="76200" y="266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1" name="object 21"/>
          <p:cNvSpPr/>
          <p:nvPr/>
        </p:nvSpPr>
        <p:spPr>
          <a:xfrm>
            <a:off x="3334953" y="1363952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2" name="object 22"/>
          <p:cNvSpPr/>
          <p:nvPr/>
        </p:nvSpPr>
        <p:spPr>
          <a:xfrm>
            <a:off x="3334953" y="2128784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3" name="object 23"/>
          <p:cNvSpPr/>
          <p:nvPr/>
        </p:nvSpPr>
        <p:spPr>
          <a:xfrm>
            <a:off x="3334953" y="2893617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4" name="object 24"/>
          <p:cNvSpPr/>
          <p:nvPr/>
        </p:nvSpPr>
        <p:spPr>
          <a:xfrm>
            <a:off x="3334953" y="3581967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5" name="object 25"/>
          <p:cNvSpPr/>
          <p:nvPr/>
        </p:nvSpPr>
        <p:spPr>
          <a:xfrm>
            <a:off x="3334953" y="4346799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6" name="object 26"/>
          <p:cNvSpPr/>
          <p:nvPr/>
        </p:nvSpPr>
        <p:spPr>
          <a:xfrm>
            <a:off x="3334953" y="5035149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7" name="object 27"/>
          <p:cNvSpPr/>
          <p:nvPr/>
        </p:nvSpPr>
        <p:spPr>
          <a:xfrm>
            <a:off x="3334953" y="5799981"/>
            <a:ext cx="114725" cy="305933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114300" y="190500"/>
                </a:moveTo>
                <a:lnTo>
                  <a:pt x="0" y="190500"/>
                </a:lnTo>
                <a:lnTo>
                  <a:pt x="38100" y="26670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266700"/>
                </a:lnTo>
                <a:lnTo>
                  <a:pt x="114300" y="190500"/>
                </a:lnTo>
                <a:close/>
              </a:path>
              <a:path w="114300" h="304800">
                <a:moveTo>
                  <a:pt x="76200" y="1905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190500"/>
                </a:lnTo>
                <a:lnTo>
                  <a:pt x="76200" y="190500"/>
                </a:lnTo>
                <a:close/>
              </a:path>
              <a:path w="114300" h="304800">
                <a:moveTo>
                  <a:pt x="76200" y="266700"/>
                </a:moveTo>
                <a:lnTo>
                  <a:pt x="76200" y="209550"/>
                </a:lnTo>
                <a:lnTo>
                  <a:pt x="38100" y="209550"/>
                </a:lnTo>
                <a:lnTo>
                  <a:pt x="38100" y="266700"/>
                </a:lnTo>
                <a:lnTo>
                  <a:pt x="57150" y="304800"/>
                </a:lnTo>
                <a:lnTo>
                  <a:pt x="762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grpSp>
        <p:nvGrpSpPr>
          <p:cNvPr id="28" name="object 28"/>
          <p:cNvGrpSpPr/>
          <p:nvPr/>
        </p:nvGrpSpPr>
        <p:grpSpPr>
          <a:xfrm>
            <a:off x="4080665" y="4098229"/>
            <a:ext cx="3078452" cy="2294498"/>
            <a:chOff x="2551429" y="4083050"/>
            <a:chExt cx="3067050" cy="2286000"/>
          </a:xfrm>
        </p:grpSpPr>
        <p:sp>
          <p:nvSpPr>
            <p:cNvPr id="29" name="object 29"/>
            <p:cNvSpPr/>
            <p:nvPr/>
          </p:nvSpPr>
          <p:spPr>
            <a:xfrm>
              <a:off x="4075429" y="4102100"/>
              <a:ext cx="1524000" cy="2209800"/>
            </a:xfrm>
            <a:custGeom>
              <a:avLst/>
              <a:gdLst/>
              <a:ahLst/>
              <a:cxnLst/>
              <a:rect l="l" t="t" r="r" b="b"/>
              <a:pathLst>
                <a:path w="1524000" h="2209800">
                  <a:moveTo>
                    <a:pt x="0" y="0"/>
                  </a:moveTo>
                  <a:lnTo>
                    <a:pt x="1524000" y="0"/>
                  </a:lnTo>
                </a:path>
                <a:path w="1524000" h="2209800">
                  <a:moveTo>
                    <a:pt x="1524000" y="0"/>
                  </a:moveTo>
                  <a:lnTo>
                    <a:pt x="1524000" y="220980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30" name="object 30"/>
            <p:cNvSpPr/>
            <p:nvPr/>
          </p:nvSpPr>
          <p:spPr>
            <a:xfrm>
              <a:off x="2551429" y="6254750"/>
              <a:ext cx="3048000" cy="114300"/>
            </a:xfrm>
            <a:custGeom>
              <a:avLst/>
              <a:gdLst/>
              <a:ahLst/>
              <a:cxnLst/>
              <a:rect l="l" t="t" r="r" b="b"/>
              <a:pathLst>
                <a:path w="3048000" h="114300">
                  <a:moveTo>
                    <a:pt x="114300" y="38100"/>
                  </a:moveTo>
                  <a:lnTo>
                    <a:pt x="114300" y="0"/>
                  </a:lnTo>
                  <a:lnTo>
                    <a:pt x="0" y="57150"/>
                  </a:lnTo>
                  <a:lnTo>
                    <a:pt x="95249" y="104775"/>
                  </a:lnTo>
                  <a:lnTo>
                    <a:pt x="95249" y="38100"/>
                  </a:lnTo>
                  <a:lnTo>
                    <a:pt x="114300" y="38100"/>
                  </a:lnTo>
                  <a:close/>
                </a:path>
                <a:path w="3048000" h="114300">
                  <a:moveTo>
                    <a:pt x="3048000" y="76200"/>
                  </a:moveTo>
                  <a:lnTo>
                    <a:pt x="3048000" y="38100"/>
                  </a:lnTo>
                  <a:lnTo>
                    <a:pt x="95249" y="38100"/>
                  </a:lnTo>
                  <a:lnTo>
                    <a:pt x="95249" y="76200"/>
                  </a:lnTo>
                  <a:lnTo>
                    <a:pt x="3048000" y="76200"/>
                  </a:lnTo>
                  <a:close/>
                </a:path>
                <a:path w="3048000" h="114300">
                  <a:moveTo>
                    <a:pt x="114300" y="114300"/>
                  </a:moveTo>
                  <a:lnTo>
                    <a:pt x="114300" y="76200"/>
                  </a:lnTo>
                  <a:lnTo>
                    <a:pt x="95249" y="76200"/>
                  </a:lnTo>
                  <a:lnTo>
                    <a:pt x="95249" y="104775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751" y="0"/>
            <a:ext cx="685213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95858" y="0"/>
            <a:ext cx="7170307" cy="6858000"/>
            <a:chOff x="1968788" y="0"/>
            <a:chExt cx="7143750" cy="6832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8788" y="0"/>
              <a:ext cx="7143715" cy="6832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00660" y="5636438"/>
              <a:ext cx="688975" cy="0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771" y="0"/>
                  </a:lnTo>
                </a:path>
              </a:pathLst>
            </a:custGeom>
            <a:ln w="9142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6" name="object 6"/>
            <p:cNvSpPr/>
            <p:nvPr/>
          </p:nvSpPr>
          <p:spPr>
            <a:xfrm>
              <a:off x="3529190" y="2613271"/>
              <a:ext cx="643255" cy="0"/>
            </a:xfrm>
            <a:custGeom>
              <a:avLst/>
              <a:gdLst/>
              <a:ahLst/>
              <a:cxnLst/>
              <a:rect l="l" t="t" r="r" b="b"/>
              <a:pathLst>
                <a:path w="643254">
                  <a:moveTo>
                    <a:pt x="0" y="0"/>
                  </a:moveTo>
                  <a:lnTo>
                    <a:pt x="643056" y="0"/>
                  </a:lnTo>
                </a:path>
              </a:pathLst>
            </a:custGeom>
            <a:ln w="15237">
              <a:solidFill>
                <a:srgbClr val="443F3B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7" name="object 7"/>
            <p:cNvSpPr/>
            <p:nvPr/>
          </p:nvSpPr>
          <p:spPr>
            <a:xfrm>
              <a:off x="3443856" y="1150448"/>
              <a:ext cx="658495" cy="0"/>
            </a:xfrm>
            <a:custGeom>
              <a:avLst/>
              <a:gdLst/>
              <a:ahLst/>
              <a:cxnLst/>
              <a:rect l="l" t="t" r="r" b="b"/>
              <a:pathLst>
                <a:path w="658495">
                  <a:moveTo>
                    <a:pt x="0" y="0"/>
                  </a:moveTo>
                  <a:lnTo>
                    <a:pt x="658294" y="0"/>
                  </a:lnTo>
                </a:path>
              </a:pathLst>
            </a:custGeom>
            <a:ln w="15237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9851" y="5321016"/>
              <a:ext cx="441910" cy="6521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1407" y="4863885"/>
              <a:ext cx="207240" cy="2956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3122" y="5537393"/>
              <a:ext cx="45714" cy="639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0336" y="6088998"/>
              <a:ext cx="15238" cy="9752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6514" y="5945764"/>
              <a:ext cx="94477" cy="1005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40992" y="5287493"/>
              <a:ext cx="572960" cy="4967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46514" y="6259660"/>
              <a:ext cx="469339" cy="2011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42710" y="6146902"/>
              <a:ext cx="149335" cy="1005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0637" y="5589200"/>
              <a:ext cx="15238" cy="1127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44429" y="5589200"/>
              <a:ext cx="204193" cy="2834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61958" y="2459370"/>
              <a:ext cx="167621" cy="1798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65006" y="2337467"/>
              <a:ext cx="106668" cy="2498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02723" y="5488632"/>
              <a:ext cx="499816" cy="1279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47703" y="5244828"/>
              <a:ext cx="67048" cy="700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36064" y="5257017"/>
              <a:ext cx="210288" cy="1279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34918" y="4994929"/>
              <a:ext cx="219431" cy="319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47681" y="4857789"/>
              <a:ext cx="277337" cy="20418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05403" y="4857789"/>
              <a:ext cx="783248" cy="5150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1407" y="4863885"/>
              <a:ext cx="207240" cy="2956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91311" y="4516464"/>
              <a:ext cx="554674" cy="4571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15120" y="5406347"/>
              <a:ext cx="856392" cy="4114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87279" y="2041856"/>
              <a:ext cx="1139825" cy="31389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03847" y="6076807"/>
              <a:ext cx="350481" cy="14018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76808" y="6076807"/>
              <a:ext cx="368766" cy="3199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02334" y="5284446"/>
              <a:ext cx="146287" cy="944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20620" y="5403300"/>
              <a:ext cx="128001" cy="2102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03297" y="2035761"/>
              <a:ext cx="115811" cy="31084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72819" y="2361849"/>
              <a:ext cx="134097" cy="11580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75295" y="2483750"/>
              <a:ext cx="243812" cy="19199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900637" y="5388062"/>
              <a:ext cx="316956" cy="15237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59872" y="5589200"/>
              <a:ext cx="685723" cy="44189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47703" y="5186925"/>
              <a:ext cx="225526" cy="47236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63699" y="5488632"/>
              <a:ext cx="396195" cy="152377"/>
            </a:xfrm>
            <a:prstGeom prst="rect">
              <a:avLst/>
            </a:prstGeom>
          </p:spPr>
        </p:pic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394829" y="-29158"/>
            <a:ext cx="3653987" cy="753360"/>
          </a:xfrm>
          <a:prstGeom prst="rect">
            <a:avLst/>
          </a:prstGeom>
        </p:spPr>
        <p:txBody>
          <a:bodyPr vert="horz" wrap="square" lIns="0" tIns="48439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381"/>
              </a:spcBef>
            </a:pPr>
            <a:r>
              <a:rPr sz="2208" spc="80" dirty="0">
                <a:solidFill>
                  <a:srgbClr val="000000"/>
                </a:solidFill>
                <a:latin typeface="Cambria"/>
                <a:cs typeface="Cambria"/>
              </a:rPr>
              <a:t>Trachea</a:t>
            </a:r>
            <a:r>
              <a:rPr sz="2208" spc="20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8" spc="9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208" spc="28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8" spc="125" dirty="0">
                <a:solidFill>
                  <a:srgbClr val="000000"/>
                </a:solidFill>
                <a:latin typeface="Cambria"/>
                <a:cs typeface="Cambria"/>
              </a:rPr>
              <a:t>Major</a:t>
            </a:r>
            <a:r>
              <a:rPr sz="2208" spc="14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8" spc="55" dirty="0">
                <a:solidFill>
                  <a:srgbClr val="000000"/>
                </a:solidFill>
                <a:latin typeface="Cambria"/>
                <a:cs typeface="Cambria"/>
              </a:rPr>
              <a:t>Bronchi</a:t>
            </a:r>
            <a:endParaRPr sz="2208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66"/>
              </a:spcBef>
            </a:pPr>
            <a:r>
              <a:rPr sz="2108" dirty="0">
                <a:solidFill>
                  <a:srgbClr val="000000"/>
                </a:solidFill>
                <a:latin typeface="Cambria"/>
                <a:cs typeface="Cambria"/>
              </a:rPr>
              <a:t>Anterior</a:t>
            </a:r>
            <a:r>
              <a:rPr sz="2108" spc="16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8" spc="-20" dirty="0">
                <a:solidFill>
                  <a:srgbClr val="000000"/>
                </a:solidFill>
                <a:latin typeface="Cambria"/>
                <a:cs typeface="Cambria"/>
              </a:rPr>
              <a:t>View</a:t>
            </a:r>
            <a:endParaRPr sz="2108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71294" y="1058623"/>
            <a:ext cx="971338" cy="17569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54" spc="-50" dirty="0">
                <a:latin typeface="Cambria"/>
                <a:cs typeface="Cambria"/>
              </a:rPr>
              <a:t>Thyroid</a:t>
            </a:r>
            <a:r>
              <a:rPr sz="1054" spc="35" dirty="0">
                <a:latin typeface="Cambria"/>
                <a:cs typeface="Cambria"/>
              </a:rPr>
              <a:t> </a:t>
            </a:r>
            <a:r>
              <a:rPr sz="1054" spc="-10" dirty="0">
                <a:latin typeface="Cambria"/>
                <a:cs typeface="Cambria"/>
              </a:rPr>
              <a:t>cartilage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11233" y="1667086"/>
            <a:ext cx="947118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35" dirty="0">
                <a:latin typeface="Cambria"/>
                <a:cs typeface="Cambria"/>
              </a:rPr>
              <a:t>Cricoid</a:t>
            </a:r>
            <a:r>
              <a:rPr sz="1104" spc="-25" dirty="0">
                <a:latin typeface="Cambria"/>
                <a:cs typeface="Cambria"/>
              </a:rPr>
              <a:t> </a:t>
            </a:r>
            <a:r>
              <a:rPr sz="1104" spc="-20" dirty="0">
                <a:latin typeface="Cambria"/>
                <a:cs typeface="Cambria"/>
              </a:rPr>
              <a:t>cartilage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60327" y="2168741"/>
            <a:ext cx="2451926" cy="524548"/>
          </a:xfrm>
          <a:prstGeom prst="rect">
            <a:avLst/>
          </a:prstGeom>
        </p:spPr>
        <p:txBody>
          <a:bodyPr vert="horz" wrap="square" lIns="0" tIns="28044" rIns="0" bIns="0" rtlCol="0">
            <a:spAutoFit/>
          </a:bodyPr>
          <a:lstStyle/>
          <a:p>
            <a:pPr marL="15296" marR="435310" indent="-3187">
              <a:lnSpc>
                <a:spcPts val="1225"/>
              </a:lnSpc>
              <a:spcBef>
                <a:spcPts val="221"/>
              </a:spcBef>
            </a:pPr>
            <a:r>
              <a:rPr sz="1104" spc="-10" dirty="0">
                <a:latin typeface="Cambria"/>
                <a:cs typeface="Cambria"/>
              </a:rPr>
              <a:t>Connective</a:t>
            </a:r>
            <a:r>
              <a:rPr sz="1104" spc="1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tissue</a:t>
            </a:r>
            <a:r>
              <a:rPr sz="1104" spc="-5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sheath</a:t>
            </a:r>
            <a:r>
              <a:rPr sz="1104" spc="-35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(visceral </a:t>
            </a:r>
            <a:r>
              <a:rPr sz="1104" spc="-40" dirty="0">
                <a:latin typeface="Cambria"/>
                <a:cs typeface="Cambria"/>
              </a:rPr>
              <a:t>pretracheaJ</a:t>
            </a:r>
            <a:r>
              <a:rPr sz="1104" spc="20" dirty="0">
                <a:latin typeface="Cambria"/>
                <a:cs typeface="Cambria"/>
              </a:rPr>
              <a:t> </a:t>
            </a:r>
            <a:r>
              <a:rPr sz="1104" dirty="0">
                <a:latin typeface="Cambria"/>
                <a:cs typeface="Cambria"/>
              </a:rPr>
              <a:t>fsscia)</a:t>
            </a:r>
            <a:r>
              <a:rPr sz="1104" spc="-60" dirty="0">
                <a:latin typeface="Cambria"/>
                <a:cs typeface="Cambria"/>
              </a:rPr>
              <a:t> </a:t>
            </a:r>
            <a:r>
              <a:rPr sz="1104" spc="-25" dirty="0">
                <a:latin typeface="Cambria"/>
                <a:cs typeface="Cambria"/>
              </a:rPr>
              <a:t>(cut</a:t>
            </a:r>
            <a:r>
              <a:rPr sz="1104" spc="8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away)</a:t>
            </a:r>
            <a:endParaRPr sz="1104">
              <a:latin typeface="Cambria"/>
              <a:cs typeface="Cambria"/>
            </a:endParaRPr>
          </a:p>
          <a:p>
            <a:pPr marL="377948">
              <a:spcBef>
                <a:spcPts val="30"/>
              </a:spcBef>
            </a:pPr>
            <a:r>
              <a:rPr sz="1104" spc="-55" dirty="0">
                <a:latin typeface="Cambria"/>
                <a:cs typeface="Cambria"/>
              </a:rPr>
              <a:t>Anulsr</a:t>
            </a:r>
            <a:r>
              <a:rPr sz="1104" spc="25" dirty="0">
                <a:latin typeface="Cambria"/>
                <a:cs typeface="Cambria"/>
              </a:rPr>
              <a:t> </a:t>
            </a:r>
            <a:r>
              <a:rPr sz="1104" spc="-40" dirty="0">
                <a:latin typeface="Cambria"/>
                <a:cs typeface="Cambria"/>
              </a:rPr>
              <a:t>(intercsrtilsqinous)</a:t>
            </a:r>
            <a:r>
              <a:rPr sz="1104" spc="55" dirty="0">
                <a:latin typeface="Cambria"/>
                <a:cs typeface="Cambria"/>
              </a:rPr>
              <a:t> </a:t>
            </a:r>
            <a:r>
              <a:rPr sz="1104" spc="-20" dirty="0">
                <a:latin typeface="Cambria"/>
                <a:cs typeface="Cambria"/>
              </a:rPr>
              <a:t>ligaments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93401" y="3230171"/>
            <a:ext cx="2010234" cy="509251"/>
          </a:xfrm>
          <a:prstGeom prst="rect">
            <a:avLst/>
          </a:prstGeom>
        </p:spPr>
        <p:txBody>
          <a:bodyPr vert="horz" wrap="square" lIns="0" tIns="23582" rIns="0" bIns="0" rtlCol="0">
            <a:spAutoFit/>
          </a:bodyPr>
          <a:lstStyle/>
          <a:p>
            <a:pPr marL="13384" marR="5099" indent="-1275">
              <a:lnSpc>
                <a:spcPct val="93600"/>
              </a:lnSpc>
              <a:spcBef>
                <a:spcPts val="186"/>
              </a:spcBef>
            </a:pPr>
            <a:r>
              <a:rPr sz="1104" spc="-10" dirty="0">
                <a:latin typeface="Cambria"/>
                <a:cs typeface="Cambria"/>
              </a:rPr>
              <a:t>Ivhcosa</a:t>
            </a:r>
            <a:r>
              <a:rPr sz="1104" spc="-50" dirty="0">
                <a:latin typeface="Cambria"/>
                <a:cs typeface="Cambria"/>
              </a:rPr>
              <a:t> </a:t>
            </a:r>
            <a:r>
              <a:rPr sz="1104" spc="-25" dirty="0">
                <a:latin typeface="Cambria"/>
                <a:cs typeface="Cambria"/>
              </a:rPr>
              <a:t>of</a:t>
            </a:r>
            <a:r>
              <a:rPr sz="1104" spc="55" dirty="0">
                <a:latin typeface="Cambria"/>
                <a:cs typeface="Cambria"/>
              </a:rPr>
              <a:t> </a:t>
            </a:r>
            <a:r>
              <a:rPr sz="1104" spc="-40" dirty="0">
                <a:latin typeface="Cambria"/>
                <a:cs typeface="Cambria"/>
              </a:rPr>
              <a:t>posterior</a:t>
            </a:r>
            <a:r>
              <a:rPr sz="1104" spc="-15" dirty="0">
                <a:latin typeface="Cambria"/>
                <a:cs typeface="Cambria"/>
              </a:rPr>
              <a:t> </a:t>
            </a:r>
            <a:r>
              <a:rPr sz="1104" spc="-30" dirty="0">
                <a:latin typeface="Cambria"/>
                <a:cs typeface="Cambria"/>
              </a:rPr>
              <a:t>tracheal</a:t>
            </a:r>
            <a:r>
              <a:rPr sz="1104" spc="40" dirty="0">
                <a:latin typeface="Cambria"/>
                <a:cs typeface="Cambria"/>
              </a:rPr>
              <a:t> </a:t>
            </a:r>
            <a:r>
              <a:rPr sz="1104" spc="-20" dirty="0">
                <a:latin typeface="Cambria"/>
                <a:cs typeface="Cambria"/>
              </a:rPr>
              <a:t>wall shows</a:t>
            </a:r>
            <a:r>
              <a:rPr sz="1104" spc="-5" dirty="0">
                <a:latin typeface="Cambria"/>
                <a:cs typeface="Cambria"/>
              </a:rPr>
              <a:t> </a:t>
            </a:r>
            <a:r>
              <a:rPr sz="1104" spc="-60" dirty="0">
                <a:latin typeface="Cambria"/>
                <a:cs typeface="Cambria"/>
              </a:rPr>
              <a:t>longitudinal</a:t>
            </a:r>
            <a:r>
              <a:rPr sz="1104" spc="75" dirty="0">
                <a:latin typeface="Cambria"/>
                <a:cs typeface="Cambria"/>
              </a:rPr>
              <a:t> </a:t>
            </a:r>
            <a:r>
              <a:rPr sz="1104" spc="-20" dirty="0">
                <a:latin typeface="Cambria"/>
                <a:cs typeface="Cambria"/>
              </a:rPr>
              <a:t>folds</a:t>
            </a:r>
            <a:r>
              <a:rPr sz="1104" spc="-5" dirty="0">
                <a:latin typeface="Cambria"/>
                <a:cs typeface="Cambria"/>
              </a:rPr>
              <a:t> </a:t>
            </a:r>
            <a:r>
              <a:rPr sz="1104" spc="-60" dirty="0">
                <a:latin typeface="Cambria"/>
                <a:cs typeface="Cambria"/>
              </a:rPr>
              <a:t>formed</a:t>
            </a:r>
            <a:r>
              <a:rPr sz="1104" spc="45" dirty="0">
                <a:latin typeface="Cambria"/>
                <a:cs typeface="Cambria"/>
              </a:rPr>
              <a:t> </a:t>
            </a:r>
            <a:r>
              <a:rPr sz="1104" spc="-25" dirty="0">
                <a:solidFill>
                  <a:srgbClr val="0F0F0F"/>
                </a:solidFill>
                <a:latin typeface="Cambria"/>
                <a:cs typeface="Cambria"/>
              </a:rPr>
              <a:t>by </a:t>
            </a:r>
            <a:r>
              <a:rPr sz="1104" dirty="0">
                <a:latin typeface="Cambria"/>
                <a:cs typeface="Cambria"/>
              </a:rPr>
              <a:t>dense</a:t>
            </a:r>
            <a:r>
              <a:rPr sz="1104" spc="-20" dirty="0">
                <a:latin typeface="Cambria"/>
                <a:cs typeface="Cambria"/>
              </a:rPr>
              <a:t> collections</a:t>
            </a:r>
            <a:r>
              <a:rPr sz="1104" spc="-5" dirty="0">
                <a:latin typeface="Cambria"/>
                <a:cs typeface="Cambria"/>
              </a:rPr>
              <a:t> </a:t>
            </a:r>
            <a:r>
              <a:rPr sz="1104" spc="-25" dirty="0">
                <a:latin typeface="Cambria"/>
                <a:cs typeface="Cambria"/>
              </a:rPr>
              <a:t>of</a:t>
            </a:r>
            <a:r>
              <a:rPr sz="1104" spc="4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elastic</a:t>
            </a:r>
            <a:r>
              <a:rPr sz="1104" spc="15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fibers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20205" y="4004066"/>
            <a:ext cx="2365245" cy="1827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45" dirty="0">
                <a:latin typeface="Cambria"/>
                <a:cs typeface="Cambria"/>
              </a:rPr>
              <a:t>Right</a:t>
            </a:r>
            <a:r>
              <a:rPr sz="1104" spc="65" dirty="0">
                <a:latin typeface="Cambria"/>
                <a:cs typeface="Cambria"/>
              </a:rPr>
              <a:t> </a:t>
            </a:r>
            <a:r>
              <a:rPr sz="1104" spc="-45" dirty="0">
                <a:latin typeface="Cambria"/>
                <a:cs typeface="Cambria"/>
              </a:rPr>
              <a:t>superior</a:t>
            </a:r>
            <a:r>
              <a:rPr sz="1104" spc="15" dirty="0">
                <a:latin typeface="Cambria"/>
                <a:cs typeface="Cambria"/>
              </a:rPr>
              <a:t> </a:t>
            </a:r>
            <a:r>
              <a:rPr sz="1104" spc="-50" dirty="0">
                <a:latin typeface="Cambria"/>
                <a:cs typeface="Cambria"/>
              </a:rPr>
              <a:t>lobsr</a:t>
            </a:r>
            <a:r>
              <a:rPr sz="1104" spc="-75" dirty="0">
                <a:latin typeface="Cambria"/>
                <a:cs typeface="Cambria"/>
              </a:rPr>
              <a:t> </a:t>
            </a:r>
            <a:r>
              <a:rPr sz="1104" spc="-50" dirty="0">
                <a:latin typeface="Cambria"/>
                <a:cs typeface="Cambria"/>
              </a:rPr>
              <a:t>(epsrteriaJ)</a:t>
            </a:r>
            <a:r>
              <a:rPr sz="1104" spc="5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bronchus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3172" y="4557469"/>
            <a:ext cx="1163183" cy="19114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54" dirty="0">
                <a:latin typeface="Arial MT"/>
                <a:cs typeface="Arial MT"/>
              </a:rPr>
              <a:t>To</a:t>
            </a:r>
            <a:r>
              <a:rPr sz="1154" spc="241" dirty="0">
                <a:latin typeface="Arial MT"/>
                <a:cs typeface="Arial MT"/>
              </a:rPr>
              <a:t> </a:t>
            </a:r>
            <a:r>
              <a:rPr sz="1154" dirty="0">
                <a:latin typeface="Arial MT"/>
                <a:cs typeface="Arial MT"/>
              </a:rPr>
              <a:t>superior</a:t>
            </a:r>
            <a:r>
              <a:rPr sz="1154" spc="191" dirty="0">
                <a:latin typeface="Arial MT"/>
                <a:cs typeface="Arial MT"/>
              </a:rPr>
              <a:t> </a:t>
            </a:r>
            <a:r>
              <a:rPr sz="1154" spc="-20" dirty="0">
                <a:latin typeface="Arial MT"/>
                <a:cs typeface="Arial MT"/>
              </a:rPr>
              <a:t>lobe</a:t>
            </a:r>
            <a:endParaRPr sz="1154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93675" y="5166439"/>
            <a:ext cx="1275996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10" dirty="0">
                <a:latin typeface="Cambria"/>
                <a:cs typeface="Cambria"/>
              </a:rPr>
              <a:t>Mddle</a:t>
            </a:r>
            <a:r>
              <a:rPr sz="1104" spc="-20" dirty="0">
                <a:latin typeface="Cambria"/>
                <a:cs typeface="Cambria"/>
              </a:rPr>
              <a:t> </a:t>
            </a:r>
            <a:r>
              <a:rPr sz="1104" spc="-40" dirty="0">
                <a:latin typeface="Cambria"/>
                <a:cs typeface="Cambria"/>
              </a:rPr>
              <a:t>lobsr</a:t>
            </a:r>
            <a:r>
              <a:rPr sz="1104" spc="-20" dirty="0">
                <a:latin typeface="Cambria"/>
                <a:cs typeface="Cambria"/>
              </a:rPr>
              <a:t> </a:t>
            </a:r>
            <a:r>
              <a:rPr sz="1104" spc="-25" dirty="0">
                <a:latin typeface="Cambria"/>
                <a:cs typeface="Cambria"/>
              </a:rPr>
              <a:t>bronchus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39032" y="5542171"/>
            <a:ext cx="1036348" cy="19886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204" spc="-30" dirty="0">
                <a:latin typeface="Arial MT"/>
                <a:cs typeface="Arial MT"/>
              </a:rPr>
              <a:t>To</a:t>
            </a:r>
            <a:r>
              <a:rPr sz="1204" spc="-15" dirty="0">
                <a:latin typeface="Arial MT"/>
                <a:cs typeface="Arial MT"/>
              </a:rPr>
              <a:t> </a:t>
            </a:r>
            <a:r>
              <a:rPr sz="1204" spc="55" dirty="0">
                <a:latin typeface="Arial MT"/>
                <a:cs typeface="Arial MT"/>
              </a:rPr>
              <a:t>niddle</a:t>
            </a:r>
            <a:r>
              <a:rPr sz="1204" dirty="0">
                <a:latin typeface="Arial MT"/>
                <a:cs typeface="Arial MT"/>
              </a:rPr>
              <a:t> </a:t>
            </a:r>
            <a:r>
              <a:rPr sz="1204" spc="-20" dirty="0">
                <a:latin typeface="Arial MT"/>
                <a:cs typeface="Arial MT"/>
              </a:rPr>
              <a:t>lobe</a:t>
            </a:r>
            <a:endParaRPr sz="1204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11650" y="6135849"/>
            <a:ext cx="1093073" cy="19114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54" dirty="0">
                <a:latin typeface="Arial MT"/>
                <a:cs typeface="Arial MT"/>
              </a:rPr>
              <a:t>To</a:t>
            </a:r>
            <a:r>
              <a:rPr sz="1154" spc="-10" dirty="0">
                <a:latin typeface="Arial MT"/>
                <a:cs typeface="Arial MT"/>
              </a:rPr>
              <a:t> </a:t>
            </a:r>
            <a:r>
              <a:rPr sz="1154" spc="65" dirty="0">
                <a:latin typeface="Arial MT"/>
                <a:cs typeface="Arial MT"/>
              </a:rPr>
              <a:t>inferior</a:t>
            </a:r>
            <a:r>
              <a:rPr sz="1154" spc="5" dirty="0">
                <a:latin typeface="Arial MT"/>
                <a:cs typeface="Arial MT"/>
              </a:rPr>
              <a:t> </a:t>
            </a:r>
            <a:r>
              <a:rPr sz="1154" spc="-20" dirty="0">
                <a:latin typeface="Arial MT"/>
                <a:cs typeface="Arial MT"/>
              </a:rPr>
              <a:t>lobe</a:t>
            </a:r>
            <a:endParaRPr sz="1154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84813" y="4732589"/>
            <a:ext cx="630987" cy="72914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4617" spc="196" dirty="0">
                <a:solidFill>
                  <a:srgbClr val="874926"/>
                </a:solidFill>
                <a:latin typeface="Cambria"/>
                <a:cs typeface="Cambria"/>
              </a:rPr>
              <a:t>F</a:t>
            </a:r>
            <a:r>
              <a:rPr sz="4617" spc="100" dirty="0">
                <a:solidFill>
                  <a:srgbClr val="874926"/>
                </a:solidFill>
                <a:latin typeface="Cambria"/>
                <a:cs typeface="Cambria"/>
              </a:rPr>
              <a:t> </a:t>
            </a:r>
            <a:r>
              <a:rPr sz="4617" spc="-813" dirty="0">
                <a:solidFill>
                  <a:srgbClr val="895B3B"/>
                </a:solidFill>
                <a:latin typeface="Cambria"/>
                <a:cs typeface="Cambria"/>
              </a:rPr>
              <a:t>“</a:t>
            </a:r>
            <a:endParaRPr sz="4617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44817" y="5294913"/>
            <a:ext cx="772481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45" dirty="0">
                <a:latin typeface="Cambria"/>
                <a:cs typeface="Cambria"/>
              </a:rPr>
              <a:t>Right</a:t>
            </a:r>
            <a:r>
              <a:rPr sz="1104" spc="30" dirty="0">
                <a:latin typeface="Cambria"/>
                <a:cs typeface="Cambria"/>
              </a:rPr>
              <a:t> </a:t>
            </a:r>
            <a:r>
              <a:rPr sz="1104" spc="-35" dirty="0">
                <a:latin typeface="Cambria"/>
                <a:cs typeface="Cambria"/>
              </a:rPr>
              <a:t>and</a:t>
            </a:r>
            <a:r>
              <a:rPr sz="1104" spc="-20" dirty="0">
                <a:latin typeface="Cambria"/>
                <a:cs typeface="Cambria"/>
              </a:rPr>
              <a:t> </a:t>
            </a:r>
            <a:r>
              <a:rPr sz="1104" spc="-25" dirty="0">
                <a:latin typeface="Cambria"/>
                <a:cs typeface="Cambria"/>
              </a:rPr>
              <a:t>left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417085" y="5457287"/>
            <a:ext cx="289362" cy="17569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54" spc="-30" dirty="0">
                <a:latin typeface="Cambria"/>
                <a:cs typeface="Cambria"/>
              </a:rPr>
              <a:t>msin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36414" y="5609977"/>
            <a:ext cx="439141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60" dirty="0">
                <a:latin typeface="Cambria"/>
                <a:cs typeface="Cambria"/>
              </a:rPr>
              <a:t>bronchi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38661" y="5931413"/>
            <a:ext cx="67560" cy="17569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54" spc="-50" dirty="0">
                <a:latin typeface="Cambria"/>
                <a:cs typeface="Cambria"/>
              </a:rPr>
              <a:t>!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59324" y="5931413"/>
            <a:ext cx="444240" cy="502878"/>
          </a:xfrm>
          <a:prstGeom prst="rect">
            <a:avLst/>
          </a:prstGeom>
        </p:spPr>
        <p:txBody>
          <a:bodyPr vert="horz" wrap="square" lIns="0" tIns="22308" rIns="0" bIns="0" rtlCol="0">
            <a:spAutoFit/>
          </a:bodyPr>
          <a:lstStyle/>
          <a:p>
            <a:pPr marL="12747" marR="5099" indent="-15934" algn="ctr">
              <a:lnSpc>
                <a:spcPct val="94000"/>
              </a:lnSpc>
              <a:spcBef>
                <a:spcPts val="176"/>
              </a:spcBef>
            </a:pPr>
            <a:r>
              <a:rPr sz="1054" spc="-20" dirty="0">
                <a:latin typeface="Cambria"/>
                <a:cs typeface="Cambria"/>
              </a:rPr>
              <a:t>Inferior </a:t>
            </a:r>
            <a:r>
              <a:rPr sz="1104" spc="-10" dirty="0">
                <a:latin typeface="Cambria"/>
                <a:cs typeface="Cambria"/>
              </a:rPr>
              <a:t>lobsr </a:t>
            </a:r>
            <a:r>
              <a:rPr sz="1104" spc="-65" dirty="0">
                <a:latin typeface="Cambria"/>
                <a:cs typeface="Cambria"/>
              </a:rPr>
              <a:t>bronchi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34194" y="1229920"/>
            <a:ext cx="1658412" cy="17569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54" spc="-45" dirty="0">
                <a:latin typeface="Cambria"/>
                <a:cs typeface="Cambria"/>
              </a:rPr>
              <a:t>IVkdian</a:t>
            </a:r>
            <a:r>
              <a:rPr sz="1054" spc="25" dirty="0">
                <a:latin typeface="Cambria"/>
                <a:cs typeface="Cambria"/>
              </a:rPr>
              <a:t> </a:t>
            </a:r>
            <a:r>
              <a:rPr sz="1054" spc="-25" dirty="0">
                <a:latin typeface="Cambria"/>
                <a:cs typeface="Cambria"/>
              </a:rPr>
              <a:t>cricothyroid</a:t>
            </a:r>
            <a:r>
              <a:rPr sz="1054" spc="110" dirty="0">
                <a:latin typeface="Cambria"/>
                <a:cs typeface="Cambria"/>
              </a:rPr>
              <a:t> </a:t>
            </a:r>
            <a:r>
              <a:rPr sz="1054" spc="-20" dirty="0">
                <a:latin typeface="Cambria"/>
                <a:cs typeface="Cambria"/>
              </a:rPr>
              <a:t>ligament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467225" y="2557218"/>
            <a:ext cx="1114106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35" dirty="0">
                <a:latin typeface="Cambria"/>
                <a:cs typeface="Cambria"/>
              </a:rPr>
              <a:t>TrachesJ</a:t>
            </a:r>
            <a:r>
              <a:rPr sz="1104" spc="1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csrtilsges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20417" y="3689003"/>
            <a:ext cx="1634192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20" dirty="0">
                <a:latin typeface="Cambria"/>
                <a:cs typeface="Cambria"/>
              </a:rPr>
              <a:t>Left</a:t>
            </a:r>
            <a:r>
              <a:rPr sz="1104" spc="30" dirty="0">
                <a:latin typeface="Cambria"/>
                <a:cs typeface="Cambria"/>
              </a:rPr>
              <a:t> </a:t>
            </a:r>
            <a:r>
              <a:rPr sz="1104" spc="-45" dirty="0">
                <a:latin typeface="Cambria"/>
                <a:cs typeface="Cambria"/>
              </a:rPr>
              <a:t>superior</a:t>
            </a:r>
            <a:r>
              <a:rPr sz="1104" spc="-10" dirty="0">
                <a:latin typeface="Cambria"/>
                <a:cs typeface="Cambria"/>
              </a:rPr>
              <a:t> </a:t>
            </a:r>
            <a:r>
              <a:rPr sz="1104" spc="-40" dirty="0">
                <a:latin typeface="Cambria"/>
                <a:cs typeface="Cambria"/>
              </a:rPr>
              <a:t>lobsr</a:t>
            </a:r>
            <a:r>
              <a:rPr sz="1104" spc="-30" dirty="0">
                <a:latin typeface="Cambria"/>
                <a:cs typeface="Cambria"/>
              </a:rPr>
              <a:t> </a:t>
            </a:r>
            <a:r>
              <a:rPr sz="1104" spc="-20" dirty="0">
                <a:latin typeface="Cambria"/>
                <a:cs typeface="Cambria"/>
              </a:rPr>
              <a:t>bronchus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68187" y="4393817"/>
            <a:ext cx="272153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90" dirty="0">
                <a:latin typeface="Arial MT"/>
                <a:cs typeface="Arial MT"/>
              </a:rPr>
              <a:t>§}•</a:t>
            </a:r>
            <a:r>
              <a:rPr sz="853" spc="-95" dirty="0">
                <a:latin typeface="Arial MT"/>
                <a:cs typeface="Arial MT"/>
              </a:rPr>
              <a:t> </a:t>
            </a:r>
            <a:r>
              <a:rPr sz="853" spc="-75" dirty="0">
                <a:latin typeface="Arial MT"/>
                <a:cs typeface="Arial MT"/>
              </a:rPr>
              <a:t>1•2</a:t>
            </a:r>
            <a:endParaRPr sz="853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68033" y="6201613"/>
            <a:ext cx="173362" cy="144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853" spc="-90" dirty="0">
                <a:latin typeface="Arial MT"/>
                <a:cs typeface="Arial MT"/>
              </a:rPr>
              <a:t>g*O</a:t>
            </a:r>
            <a:endParaRPr sz="853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65883" y="4368327"/>
            <a:ext cx="1550698" cy="17569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54" spc="-20" dirty="0">
                <a:latin typeface="Cambria"/>
                <a:cs typeface="Cambria"/>
              </a:rPr>
              <a:t>Superior</a:t>
            </a:r>
            <a:r>
              <a:rPr sz="1054" spc="-5" dirty="0">
                <a:latin typeface="Cambria"/>
                <a:cs typeface="Cambria"/>
              </a:rPr>
              <a:t> </a:t>
            </a:r>
            <a:r>
              <a:rPr sz="1054" spc="-20" dirty="0">
                <a:latin typeface="Cambria"/>
                <a:cs typeface="Cambria"/>
              </a:rPr>
              <a:t>division</a:t>
            </a:r>
            <a:r>
              <a:rPr sz="1054" spc="40" dirty="0">
                <a:latin typeface="Cambria"/>
                <a:cs typeface="Cambria"/>
              </a:rPr>
              <a:t> </a:t>
            </a:r>
            <a:r>
              <a:rPr sz="1054" spc="-10" dirty="0">
                <a:latin typeface="Cambria"/>
                <a:cs typeface="Cambria"/>
              </a:rPr>
              <a:t>bronchus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94342" y="4937023"/>
            <a:ext cx="1046545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spc="-30" dirty="0">
                <a:latin typeface="Cambria"/>
                <a:cs typeface="Cambria"/>
              </a:rPr>
              <a:t>Linguist</a:t>
            </a:r>
            <a:r>
              <a:rPr sz="1104" spc="5" dirty="0">
                <a:latin typeface="Cambria"/>
                <a:cs typeface="Cambria"/>
              </a:rPr>
              <a:t> </a:t>
            </a:r>
            <a:r>
              <a:rPr sz="1104" spc="-30" dirty="0">
                <a:latin typeface="Cambria"/>
                <a:cs typeface="Cambria"/>
              </a:rPr>
              <a:t>bronchus</a:t>
            </a:r>
            <a:endParaRPr sz="1104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013835" y="5318618"/>
            <a:ext cx="711932" cy="20672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255" b="1" spc="-25" dirty="0">
                <a:latin typeface="Times New Roman"/>
                <a:cs typeface="Times New Roman"/>
              </a:rPr>
              <a:t>To</a:t>
            </a:r>
            <a:r>
              <a:rPr sz="1255" b="1" spc="-45" dirty="0">
                <a:latin typeface="Times New Roman"/>
                <a:cs typeface="Times New Roman"/>
              </a:rPr>
              <a:t> </a:t>
            </a:r>
            <a:r>
              <a:rPr sz="1255" b="1" spc="-10" dirty="0">
                <a:latin typeface="Times New Roman"/>
                <a:cs typeface="Times New Roman"/>
              </a:rPr>
              <a:t>lingula</a:t>
            </a:r>
            <a:endParaRPr sz="1255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76830" y="4765726"/>
            <a:ext cx="1166370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104" dirty="0">
                <a:latin typeface="Arial MT"/>
                <a:cs typeface="Arial MT"/>
              </a:rPr>
              <a:t>To</a:t>
            </a:r>
            <a:r>
              <a:rPr sz="1104" spc="80" dirty="0">
                <a:latin typeface="Arial MT"/>
                <a:cs typeface="Arial MT"/>
              </a:rPr>
              <a:t> </a:t>
            </a:r>
            <a:r>
              <a:rPr sz="1104" spc="65" dirty="0">
                <a:latin typeface="Arial MT"/>
                <a:cs typeface="Arial MT"/>
              </a:rPr>
              <a:t>superior</a:t>
            </a:r>
            <a:r>
              <a:rPr sz="1104" spc="45" dirty="0">
                <a:latin typeface="Arial MT"/>
                <a:cs typeface="Arial MT"/>
              </a:rPr>
              <a:t> </a:t>
            </a:r>
            <a:r>
              <a:rPr sz="1104" spc="40" dirty="0">
                <a:latin typeface="Arial MT"/>
                <a:cs typeface="Arial MT"/>
              </a:rPr>
              <a:t>lobe</a:t>
            </a:r>
            <a:endParaRPr sz="1104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00136" y="6013748"/>
            <a:ext cx="1382435" cy="18342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  <a:tabLst>
                <a:tab pos="315488" algn="l"/>
              </a:tabLst>
            </a:pPr>
            <a:r>
              <a:rPr sz="1104" spc="30" dirty="0">
                <a:latin typeface="Arial MT"/>
                <a:cs typeface="Arial MT"/>
              </a:rPr>
              <a:t>*”</a:t>
            </a:r>
            <a:r>
              <a:rPr sz="1104" dirty="0">
                <a:latin typeface="Arial MT"/>
                <a:cs typeface="Arial MT"/>
              </a:rPr>
              <a:t>	</a:t>
            </a:r>
            <a:r>
              <a:rPr sz="1104" spc="60" dirty="0">
                <a:latin typeface="Arial MT"/>
                <a:cs typeface="Arial MT"/>
              </a:rPr>
              <a:t>Io</a:t>
            </a:r>
            <a:r>
              <a:rPr sz="1104" spc="171" dirty="0">
                <a:latin typeface="Arial MT"/>
                <a:cs typeface="Arial MT"/>
              </a:rPr>
              <a:t> </a:t>
            </a:r>
            <a:r>
              <a:rPr sz="1104" spc="80" dirty="0">
                <a:latin typeface="Arial MT"/>
                <a:cs typeface="Arial MT"/>
              </a:rPr>
              <a:t>inrenor</a:t>
            </a:r>
            <a:r>
              <a:rPr sz="1104" spc="60" dirty="0">
                <a:latin typeface="Arial MT"/>
                <a:cs typeface="Arial MT"/>
              </a:rPr>
              <a:t> </a:t>
            </a:r>
            <a:r>
              <a:rPr sz="1104" spc="35" dirty="0">
                <a:latin typeface="Arial MT"/>
                <a:cs typeface="Arial MT"/>
              </a:rPr>
              <a:t>lobe</a:t>
            </a:r>
            <a:endParaRPr sz="110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751" y="0"/>
            <a:ext cx="915249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3008" y="4065246"/>
            <a:ext cx="250837" cy="1223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08970" y="4389993"/>
            <a:ext cx="582548" cy="33142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32633" marR="5099" indent="-220523">
              <a:spcBef>
                <a:spcPts val="100"/>
              </a:spcBef>
            </a:pPr>
            <a:r>
              <a:rPr sz="1004" dirty="0">
                <a:latin typeface="Cambria"/>
                <a:cs typeface="Cambria"/>
              </a:rPr>
              <a:t>No</a:t>
            </a:r>
            <a:r>
              <a:rPr sz="1004" spc="-5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further</a:t>
            </a:r>
            <a:r>
              <a:rPr sz="1004" spc="502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II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5881" y="5081301"/>
            <a:ext cx="685163" cy="1090524"/>
          </a:xfrm>
          <a:prstGeom prst="rect">
            <a:avLst/>
          </a:prstGeom>
        </p:spPr>
        <p:txBody>
          <a:bodyPr vert="horz" wrap="square" lIns="0" tIns="10835" rIns="0" bIns="0" rtlCol="0">
            <a:spAutoFit/>
          </a:bodyPr>
          <a:lstStyle/>
          <a:p>
            <a:pPr marL="23582" marR="5099" indent="2549">
              <a:lnSpc>
                <a:spcPct val="101000"/>
              </a:lnSpc>
              <a:spcBef>
                <a:spcPts val="85"/>
              </a:spcBef>
            </a:pPr>
            <a:r>
              <a:rPr sz="1004" spc="-10" dirty="0">
                <a:latin typeface="Cambria"/>
                <a:cs typeface="Cambria"/>
              </a:rPr>
              <a:t>Terminal bronchioles </a:t>
            </a:r>
            <a:r>
              <a:rPr sz="954" spc="-10" dirty="0">
                <a:latin typeface="Cambria"/>
                <a:cs typeface="Cambria"/>
              </a:rPr>
              <a:t>Respiratory </a:t>
            </a:r>
            <a:r>
              <a:rPr sz="1004" spc="-10" dirty="0">
                <a:latin typeface="Cambria"/>
                <a:cs typeface="Cambria"/>
              </a:rPr>
              <a:t>bronchioles</a:t>
            </a:r>
            <a:endParaRPr sz="1004">
              <a:latin typeface="Cambria"/>
              <a:cs typeface="Cambria"/>
            </a:endParaRPr>
          </a:p>
          <a:p>
            <a:pPr marL="12747">
              <a:tabLst>
                <a:tab pos="467815" algn="l"/>
              </a:tabLst>
            </a:pPr>
            <a:r>
              <a:rPr sz="1004" spc="-40" dirty="0">
                <a:latin typeface="Cambria"/>
                <a:cs typeface="Cambria"/>
              </a:rPr>
              <a:t>{3-</a:t>
            </a:r>
            <a:r>
              <a:rPr sz="1004" spc="-50" dirty="0">
                <a:latin typeface="Cambria"/>
                <a:cs typeface="Cambria"/>
              </a:rPr>
              <a:t>B</a:t>
            </a:r>
            <a:r>
              <a:rPr sz="1004" dirty="0">
                <a:latin typeface="Cambria"/>
                <a:cs typeface="Cambria"/>
              </a:rPr>
              <a:t>	</a:t>
            </a:r>
            <a:r>
              <a:rPr sz="1004" spc="-25" dirty="0">
                <a:latin typeface="Cambria"/>
                <a:cs typeface="Cambria"/>
              </a:rPr>
              <a:t>ers</a:t>
            </a:r>
            <a:endParaRPr sz="1004">
              <a:latin typeface="Cambria"/>
              <a:cs typeface="Cambria"/>
            </a:endParaRPr>
          </a:p>
          <a:p>
            <a:pPr marL="142766">
              <a:spcBef>
                <a:spcPts val="276"/>
              </a:spcBef>
            </a:pPr>
            <a:r>
              <a:rPr sz="703" spc="-20" dirty="0">
                <a:latin typeface="Cambria"/>
                <a:cs typeface="Cambria"/>
              </a:rPr>
              <a:t>V€!O</a:t>
            </a:r>
            <a:endParaRPr sz="703">
              <a:latin typeface="Cambria"/>
              <a:cs typeface="Cambria"/>
            </a:endParaRPr>
          </a:p>
          <a:p>
            <a:pPr marL="24857">
              <a:spcBef>
                <a:spcPts val="60"/>
              </a:spcBef>
            </a:pPr>
            <a:r>
              <a:rPr sz="1004" spc="85" dirty="0">
                <a:latin typeface="Cambria"/>
                <a:cs typeface="Cambria"/>
              </a:rPr>
              <a:t>sacs</a:t>
            </a:r>
            <a:r>
              <a:rPr sz="1004" spc="141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and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6447" y="3239603"/>
            <a:ext cx="1123667" cy="488217"/>
          </a:xfrm>
          <a:prstGeom prst="rect">
            <a:avLst/>
          </a:prstGeom>
        </p:spPr>
        <p:txBody>
          <a:bodyPr vert="horz" wrap="square" lIns="0" tIns="14658" rIns="0" bIns="0" rtlCol="0">
            <a:spAutoFit/>
          </a:bodyPr>
          <a:lstStyle/>
          <a:p>
            <a:pPr marL="14658" marR="5099" indent="-2549">
              <a:lnSpc>
                <a:spcPct val="98600"/>
              </a:lnSpc>
              <a:spcBef>
                <a:spcPts val="114"/>
              </a:spcBef>
            </a:pPr>
            <a:r>
              <a:rPr sz="1054" dirty="0">
                <a:latin typeface="Cambria"/>
                <a:cs typeface="Cambria"/>
              </a:rPr>
              <a:t>Csttilages</a:t>
            </a:r>
            <a:r>
              <a:rPr sz="1054" spc="95" dirty="0">
                <a:latin typeface="Cambria"/>
                <a:cs typeface="Cambria"/>
              </a:rPr>
              <a:t> </a:t>
            </a:r>
            <a:r>
              <a:rPr sz="1054" spc="-10" dirty="0">
                <a:latin typeface="Cambria"/>
                <a:cs typeface="Cambria"/>
              </a:rPr>
              <a:t>become </a:t>
            </a:r>
            <a:r>
              <a:rPr sz="1004" dirty="0">
                <a:latin typeface="Cambria"/>
                <a:cs typeface="Cambria"/>
              </a:rPr>
              <a:t>sparser</a:t>
            </a:r>
            <a:r>
              <a:rPr sz="1004" spc="-45" dirty="0">
                <a:latin typeface="Cambria"/>
                <a:cs typeface="Cambria"/>
              </a:rPr>
              <a:t> </a:t>
            </a:r>
            <a:r>
              <a:rPr sz="1004" dirty="0">
                <a:latin typeface="Cambria"/>
                <a:cs typeface="Cambria"/>
              </a:rPr>
              <a:t>(mostly</a:t>
            </a:r>
            <a:r>
              <a:rPr sz="1004" spc="65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at</a:t>
            </a:r>
            <a:r>
              <a:rPr sz="1004" dirty="0">
                <a:latin typeface="Cambria"/>
                <a:cs typeface="Cambria"/>
              </a:rPr>
              <a:t> points</a:t>
            </a:r>
            <a:r>
              <a:rPr sz="1004" spc="-20" dirty="0">
                <a:latin typeface="Cambria"/>
                <a:cs typeface="Cambria"/>
              </a:rPr>
              <a:t> </a:t>
            </a:r>
            <a:r>
              <a:rPr sz="1004" dirty="0">
                <a:latin typeface="Cambria"/>
                <a:cs typeface="Cambria"/>
              </a:rPr>
              <a:t>of</a:t>
            </a:r>
            <a:r>
              <a:rPr sz="1004" spc="50" dirty="0">
                <a:latin typeface="Cambria"/>
                <a:cs typeface="Cambria"/>
              </a:rPr>
              <a:t> </a:t>
            </a:r>
            <a:r>
              <a:rPr sz="1004" spc="-20" dirty="0">
                <a:latin typeface="Cambria"/>
                <a:cs typeface="Cambria"/>
              </a:rPr>
              <a:t>branching)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6553" y="4169755"/>
            <a:ext cx="678152" cy="634811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3384" marR="5099" indent="-1275">
              <a:lnSpc>
                <a:spcPct val="96100"/>
              </a:lnSpc>
              <a:spcBef>
                <a:spcPts val="146"/>
              </a:spcBef>
            </a:pPr>
            <a:r>
              <a:rPr sz="1004" dirty="0">
                <a:latin typeface="Cambria"/>
                <a:cs typeface="Cambria"/>
              </a:rPr>
              <a:t>of</a:t>
            </a:r>
            <a:r>
              <a:rPr sz="1004" spc="356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ung</a:t>
            </a:r>
            <a:r>
              <a:rPr sz="1004" dirty="0">
                <a:latin typeface="Cambria"/>
                <a:cs typeface="Cambria"/>
              </a:rPr>
              <a:t> supplied</a:t>
            </a:r>
            <a:r>
              <a:rPr sz="1004" spc="95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by</a:t>
            </a:r>
            <a:r>
              <a:rPr sz="1004" spc="-10" dirty="0">
                <a:latin typeface="Cambria"/>
                <a:cs typeface="Cambria"/>
              </a:rPr>
              <a:t> </a:t>
            </a:r>
            <a:r>
              <a:rPr sz="1104" spc="-10" dirty="0">
                <a:latin typeface="Cambria"/>
                <a:cs typeface="Cambria"/>
              </a:rPr>
              <a:t>terminal </a:t>
            </a:r>
            <a:r>
              <a:rPr sz="1004" spc="-10" dirty="0">
                <a:latin typeface="Cambria"/>
                <a:cs typeface="Cambria"/>
              </a:rPr>
              <a:t>bronchiole)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8815" y="6361185"/>
            <a:ext cx="3123704" cy="22216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355" spc="20" dirty="0">
                <a:latin typeface="Cambria"/>
                <a:cs typeface="Cambria"/>
              </a:rPr>
              <a:t>Subdivisinns</a:t>
            </a:r>
            <a:r>
              <a:rPr sz="1355" spc="255" dirty="0">
                <a:latin typeface="Cambria"/>
                <a:cs typeface="Cambria"/>
              </a:rPr>
              <a:t> </a:t>
            </a:r>
            <a:r>
              <a:rPr sz="1355" spc="20" dirty="0">
                <a:latin typeface="Cambria"/>
                <a:cs typeface="Cambria"/>
              </a:rPr>
              <a:t>of</a:t>
            </a:r>
            <a:r>
              <a:rPr sz="1355" spc="196" dirty="0">
                <a:latin typeface="Cambria"/>
                <a:cs typeface="Cambria"/>
              </a:rPr>
              <a:t> </a:t>
            </a:r>
            <a:r>
              <a:rPr sz="1355" spc="20" dirty="0">
                <a:latin typeface="Cambria"/>
                <a:cs typeface="Cambria"/>
              </a:rPr>
              <a:t>intrepulmonary</a:t>
            </a:r>
            <a:r>
              <a:rPr sz="1355" spc="85" dirty="0">
                <a:latin typeface="Cambria"/>
                <a:cs typeface="Cambria"/>
              </a:rPr>
              <a:t> </a:t>
            </a:r>
            <a:r>
              <a:rPr sz="1355" spc="-10" dirty="0">
                <a:latin typeface="Cambria"/>
                <a:cs typeface="Cambria"/>
              </a:rPr>
              <a:t>airways</a:t>
            </a:r>
            <a:endParaRPr sz="1355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40251" y="67804"/>
            <a:ext cx="3073353" cy="924810"/>
          </a:xfrm>
          <a:prstGeom prst="rect">
            <a:avLst/>
          </a:prstGeom>
        </p:spPr>
        <p:txBody>
          <a:bodyPr vert="horz" wrap="square" lIns="0" tIns="3187" rIns="0" bIns="0" rtlCol="0" anchor="ctr">
            <a:spAutoFit/>
          </a:bodyPr>
          <a:lstStyle/>
          <a:p>
            <a:pPr marL="1063099" marR="5099" indent="-1050989">
              <a:lnSpc>
                <a:spcPct val="102699"/>
              </a:lnSpc>
              <a:spcBef>
                <a:spcPts val="25"/>
              </a:spcBef>
            </a:pPr>
            <a:r>
              <a:rPr sz="2208" spc="75" dirty="0">
                <a:solidFill>
                  <a:srgbClr val="000000"/>
                </a:solidFill>
                <a:latin typeface="Cambria"/>
                <a:cs typeface="Cambria"/>
              </a:rPr>
              <a:t>Intrapulmonaiy</a:t>
            </a:r>
            <a:r>
              <a:rPr sz="2208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8" spc="-20" dirty="0">
                <a:solidFill>
                  <a:srgbClr val="000000"/>
                </a:solidFill>
                <a:latin typeface="Cambria"/>
                <a:cs typeface="Cambria"/>
              </a:rPr>
              <a:t>Airways </a:t>
            </a:r>
            <a:r>
              <a:rPr sz="2208" spc="-10" dirty="0">
                <a:solidFill>
                  <a:srgbClr val="000000"/>
                </a:solidFill>
                <a:latin typeface="Cambria"/>
                <a:cs typeface="Cambria"/>
              </a:rPr>
              <a:t>Schema</a:t>
            </a:r>
            <a:endParaRPr sz="2208">
              <a:latin typeface="Cambria"/>
              <a:cs typeface="Cambria"/>
            </a:endParaRPr>
          </a:p>
          <a:p>
            <a:pPr marR="123008" algn="r">
              <a:lnSpc>
                <a:spcPct val="100000"/>
              </a:lnSpc>
              <a:spcBef>
                <a:spcPts val="507"/>
              </a:spcBef>
            </a:pPr>
            <a:r>
              <a:rPr sz="1004" spc="-10" dirty="0">
                <a:solidFill>
                  <a:srgbClr val="000000"/>
                </a:solidFill>
                <a:latin typeface="Cambria"/>
                <a:cs typeface="Cambria"/>
              </a:rPr>
              <a:t>Srnooth muscle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4271" y="1187352"/>
            <a:ext cx="750811" cy="16797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04" dirty="0">
                <a:latin typeface="Cambria"/>
                <a:cs typeface="Cambria"/>
              </a:rPr>
              <a:t>Elastic</a:t>
            </a:r>
            <a:r>
              <a:rPr sz="1004" spc="216" dirty="0">
                <a:latin typeface="Cambria"/>
                <a:cs typeface="Cambria"/>
              </a:rPr>
              <a:t> </a:t>
            </a:r>
            <a:r>
              <a:rPr sz="1004" spc="-10" dirty="0">
                <a:latin typeface="Cambria"/>
                <a:cs typeface="Cambria"/>
              </a:rPr>
              <a:t>fibers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8734" y="2264077"/>
            <a:ext cx="1953510" cy="66221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004" dirty="0">
                <a:latin typeface="Cambria"/>
                <a:cs typeface="Cambria"/>
              </a:rPr>
              <a:t>1st</a:t>
            </a:r>
            <a:r>
              <a:rPr sz="1004" spc="-25" dirty="0">
                <a:latin typeface="Cambria"/>
                <a:cs typeface="Cambria"/>
              </a:rPr>
              <a:t> order</a:t>
            </a:r>
            <a:r>
              <a:rPr sz="1004" spc="-30" dirty="0">
                <a:latin typeface="Cambria"/>
                <a:cs typeface="Cambria"/>
              </a:rPr>
              <a:t> </a:t>
            </a:r>
            <a:r>
              <a:rPr sz="1004" dirty="0">
                <a:latin typeface="Cambria"/>
                <a:cs typeface="Cambria"/>
              </a:rPr>
              <a:t>respiralory</a:t>
            </a:r>
            <a:r>
              <a:rPr sz="1004" spc="-5" dirty="0">
                <a:latin typeface="Cambria"/>
                <a:cs typeface="Cambria"/>
              </a:rPr>
              <a:t> </a:t>
            </a:r>
            <a:r>
              <a:rPr sz="1004" spc="-10" dirty="0">
                <a:latin typeface="Cambria"/>
                <a:cs typeface="Cambria"/>
              </a:rPr>
              <a:t>bronchioles</a:t>
            </a:r>
            <a:endParaRPr sz="1004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004">
              <a:latin typeface="Cambria"/>
              <a:cs typeface="Cambria"/>
            </a:endParaRPr>
          </a:p>
          <a:p>
            <a:pPr>
              <a:spcBef>
                <a:spcPts val="246"/>
              </a:spcBef>
            </a:pPr>
            <a:endParaRPr sz="1004">
              <a:latin typeface="Cambria"/>
              <a:cs typeface="Cambria"/>
            </a:endParaRPr>
          </a:p>
          <a:p>
            <a:pPr marL="113448"/>
            <a:r>
              <a:rPr sz="1004" spc="-10" dirty="0">
                <a:latin typeface="Cambria"/>
                <a:cs typeface="Cambria"/>
              </a:rPr>
              <a:t>2nd</a:t>
            </a:r>
            <a:r>
              <a:rPr sz="1004" spc="-35" dirty="0">
                <a:latin typeface="Cambria"/>
                <a:cs typeface="Cambria"/>
              </a:rPr>
              <a:t> </a:t>
            </a:r>
            <a:r>
              <a:rPr sz="1004" spc="-25" dirty="0">
                <a:latin typeface="Cambria"/>
                <a:cs typeface="Cambria"/>
              </a:rPr>
              <a:t>order</a:t>
            </a:r>
            <a:r>
              <a:rPr sz="1004" spc="-30" dirty="0">
                <a:latin typeface="Cambria"/>
                <a:cs typeface="Cambria"/>
              </a:rPr>
              <a:t> </a:t>
            </a:r>
            <a:r>
              <a:rPr sz="1004" spc="-10" dirty="0">
                <a:latin typeface="Cambria"/>
                <a:cs typeface="Cambria"/>
              </a:rPr>
              <a:t>respiratory</a:t>
            </a:r>
            <a:r>
              <a:rPr sz="1004" spc="25" dirty="0">
                <a:latin typeface="Cambria"/>
                <a:cs typeface="Cambria"/>
              </a:rPr>
              <a:t> </a:t>
            </a:r>
            <a:r>
              <a:rPr sz="1004" spc="-10" dirty="0">
                <a:latin typeface="Cambria"/>
                <a:cs typeface="Cambria"/>
              </a:rPr>
              <a:t>bronchioles</a:t>
            </a:r>
            <a:endParaRPr sz="1004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4138" y="3539882"/>
            <a:ext cx="1821577" cy="160253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954" dirty="0">
                <a:latin typeface="Cambria"/>
                <a:cs typeface="Cambria"/>
              </a:rPr>
              <a:t>3rd</a:t>
            </a:r>
            <a:r>
              <a:rPr sz="954" spc="55" dirty="0">
                <a:latin typeface="Cambria"/>
                <a:cs typeface="Cambria"/>
              </a:rPr>
              <a:t> </a:t>
            </a:r>
            <a:r>
              <a:rPr sz="954" dirty="0">
                <a:latin typeface="Cambria"/>
                <a:cs typeface="Cambria"/>
              </a:rPr>
              <a:t>order respiratory</a:t>
            </a:r>
            <a:r>
              <a:rPr sz="954" spc="65" dirty="0">
                <a:latin typeface="Cambria"/>
                <a:cs typeface="Cambria"/>
              </a:rPr>
              <a:t> </a:t>
            </a:r>
            <a:r>
              <a:rPr sz="954" spc="-10" dirty="0">
                <a:latin typeface="Cambria"/>
                <a:cs typeface="Cambria"/>
              </a:rPr>
              <a:t>bronchioles</a:t>
            </a:r>
            <a:endParaRPr sz="95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6468" y="4258717"/>
            <a:ext cx="817095" cy="160253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954" dirty="0">
                <a:latin typeface="Cambria"/>
                <a:cs typeface="Cambria"/>
              </a:rPr>
              <a:t>Alveolar</a:t>
            </a:r>
            <a:r>
              <a:rPr sz="954" spc="114" dirty="0">
                <a:latin typeface="Cambria"/>
                <a:cs typeface="Cambria"/>
              </a:rPr>
              <a:t> </a:t>
            </a:r>
            <a:r>
              <a:rPr sz="954" spc="-10" dirty="0">
                <a:latin typeface="Cambria"/>
                <a:cs typeface="Cambria"/>
              </a:rPr>
              <a:t>ducts</a:t>
            </a:r>
            <a:endParaRPr sz="95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51873" y="5295167"/>
            <a:ext cx="730415" cy="339076"/>
          </a:xfrm>
          <a:prstGeom prst="rect">
            <a:avLst/>
          </a:prstGeom>
        </p:spPr>
        <p:txBody>
          <a:bodyPr vert="horz" wrap="square" lIns="0" tIns="24220" rIns="0" bIns="0" rtlCol="0">
            <a:spAutoFit/>
          </a:bodyPr>
          <a:lstStyle/>
          <a:p>
            <a:pPr marL="14022" marR="5099" indent="-1912">
              <a:lnSpc>
                <a:spcPts val="1204"/>
              </a:lnSpc>
              <a:spcBef>
                <a:spcPts val="191"/>
              </a:spcBef>
            </a:pPr>
            <a:r>
              <a:rPr sz="1054" spc="-25" dirty="0">
                <a:latin typeface="Cambria"/>
                <a:cs typeface="Cambria"/>
              </a:rPr>
              <a:t>Opening</a:t>
            </a:r>
            <a:r>
              <a:rPr sz="1054" spc="25" dirty="0">
                <a:latin typeface="Cambria"/>
                <a:cs typeface="Cambria"/>
              </a:rPr>
              <a:t> </a:t>
            </a:r>
            <a:r>
              <a:rPr sz="1054" spc="-25" dirty="0">
                <a:latin typeface="Cambria"/>
                <a:cs typeface="Cambria"/>
              </a:rPr>
              <a:t>of</a:t>
            </a:r>
            <a:r>
              <a:rPr sz="1054" spc="502" dirty="0">
                <a:latin typeface="Cambria"/>
                <a:cs typeface="Cambria"/>
              </a:rPr>
              <a:t> </a:t>
            </a:r>
            <a:r>
              <a:rPr sz="1054" spc="-25" dirty="0">
                <a:latin typeface="Cambria"/>
                <a:cs typeface="Cambria"/>
              </a:rPr>
              <a:t>sJveoler</a:t>
            </a:r>
            <a:r>
              <a:rPr sz="1054" spc="-15" dirty="0">
                <a:latin typeface="Cambria"/>
                <a:cs typeface="Cambria"/>
              </a:rPr>
              <a:t> </a:t>
            </a:r>
            <a:r>
              <a:rPr sz="1054" spc="-50" dirty="0">
                <a:latin typeface="Cambria"/>
                <a:cs typeface="Cambria"/>
              </a:rPr>
              <a:t>duet</a:t>
            </a:r>
            <a:endParaRPr sz="1054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31523" y="5983924"/>
            <a:ext cx="792239" cy="160253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954" dirty="0">
                <a:latin typeface="Cambria"/>
                <a:cs typeface="Cambria"/>
              </a:rPr>
              <a:t>Pores</a:t>
            </a:r>
            <a:r>
              <a:rPr sz="954" spc="80" dirty="0">
                <a:latin typeface="Cambria"/>
                <a:cs typeface="Cambria"/>
              </a:rPr>
              <a:t> </a:t>
            </a:r>
            <a:r>
              <a:rPr sz="954" dirty="0">
                <a:latin typeface="Cambria"/>
                <a:cs typeface="Cambria"/>
              </a:rPr>
              <a:t>of</a:t>
            </a:r>
            <a:r>
              <a:rPr sz="954" spc="166" dirty="0">
                <a:latin typeface="Cambria"/>
                <a:cs typeface="Cambria"/>
              </a:rPr>
              <a:t> </a:t>
            </a:r>
            <a:r>
              <a:rPr sz="954" spc="-20" dirty="0">
                <a:latin typeface="Cambria"/>
                <a:cs typeface="Cambria"/>
              </a:rPr>
              <a:t>Kohn</a:t>
            </a:r>
            <a:endParaRPr sz="954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5728" y="6367558"/>
            <a:ext cx="2834343" cy="214442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305" dirty="0">
                <a:latin typeface="Cambria"/>
                <a:cs typeface="Cambria"/>
              </a:rPr>
              <a:t>Structure</a:t>
            </a:r>
            <a:r>
              <a:rPr sz="1305" spc="271" dirty="0">
                <a:latin typeface="Cambria"/>
                <a:cs typeface="Cambria"/>
              </a:rPr>
              <a:t> </a:t>
            </a:r>
            <a:r>
              <a:rPr sz="1305" dirty="0">
                <a:latin typeface="Cambria"/>
                <a:cs typeface="Cambria"/>
              </a:rPr>
              <a:t>of</a:t>
            </a:r>
            <a:r>
              <a:rPr sz="1305" spc="201" dirty="0">
                <a:latin typeface="Cambria"/>
                <a:cs typeface="Cambria"/>
              </a:rPr>
              <a:t> </a:t>
            </a:r>
            <a:r>
              <a:rPr sz="1305" spc="70" dirty="0">
                <a:latin typeface="Cambria"/>
                <a:cs typeface="Cambria"/>
              </a:rPr>
              <a:t>intrapulmonary</a:t>
            </a:r>
            <a:r>
              <a:rPr sz="1305" spc="20" dirty="0">
                <a:latin typeface="Cambria"/>
                <a:cs typeface="Cambria"/>
              </a:rPr>
              <a:t> </a:t>
            </a:r>
            <a:r>
              <a:rPr sz="1305" spc="-10" dirty="0">
                <a:latin typeface="Cambria"/>
                <a:cs typeface="Cambria"/>
              </a:rPr>
              <a:t>airways</a:t>
            </a:r>
            <a:endParaRPr sz="1305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FFB6-46CD-4290-C58C-18A94854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141515"/>
            <a:ext cx="11919857" cy="1110343"/>
          </a:xfrm>
        </p:spPr>
        <p:txBody>
          <a:bodyPr/>
          <a:lstStyle/>
          <a:p>
            <a:r>
              <a:rPr lang="en-GB" b="1" dirty="0"/>
              <a:t>BRONCHOPULMONARY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EAB8D-3ACA-A85E-635D-15D6FF6E6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743" y="1251858"/>
            <a:ext cx="5900057" cy="546462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Arial MT"/>
                <a:cs typeface="Arial MT"/>
              </a:rPr>
              <a:t>This is the area of lung supplied by a segmental bronchus and its accompanying pulmonary artery branch</a:t>
            </a:r>
          </a:p>
          <a:p>
            <a:endParaRPr lang="en-US" dirty="0">
              <a:latin typeface="Arial MT"/>
              <a:cs typeface="Arial MT"/>
            </a:endParaRPr>
          </a:p>
          <a:p>
            <a:r>
              <a:rPr lang="en-US" dirty="0">
                <a:latin typeface="Arial MT"/>
                <a:cs typeface="Arial MT"/>
              </a:rPr>
              <a:t>Tributaries of the pulmonary vein tend to pass intersegmentally between and around the margins of segments</a:t>
            </a:r>
          </a:p>
          <a:p>
            <a:endParaRPr lang="en-US" dirty="0">
              <a:latin typeface="Arial MT"/>
              <a:cs typeface="Arial MT"/>
            </a:endParaRPr>
          </a:p>
          <a:p>
            <a:r>
              <a:rPr lang="en-US" dirty="0">
                <a:latin typeface="Arial MT"/>
                <a:cs typeface="Arial MT"/>
              </a:rPr>
              <a:t>A bronchopulmonary segment is the smallest functionally independent region of a lung</a:t>
            </a:r>
          </a:p>
          <a:p>
            <a:endParaRPr lang="en-US" dirty="0">
              <a:latin typeface="Arial MT"/>
              <a:cs typeface="Arial MT"/>
            </a:endParaRPr>
          </a:p>
          <a:p>
            <a:r>
              <a:rPr lang="en-US" b="1" dirty="0">
                <a:latin typeface="Arial"/>
                <a:cs typeface="Arial"/>
              </a:rPr>
              <a:t>Thus,</a:t>
            </a:r>
            <a:r>
              <a:rPr lang="en-US" b="1" spc="-5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a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bronchopulmonary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segment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is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not</a:t>
            </a:r>
            <a:r>
              <a:rPr lang="en-US" b="1" spc="-55" dirty="0">
                <a:latin typeface="Arial"/>
                <a:cs typeface="Arial"/>
              </a:rPr>
              <a:t> </a:t>
            </a:r>
            <a:r>
              <a:rPr lang="en-US" b="1" spc="-50" dirty="0">
                <a:latin typeface="Arial"/>
                <a:cs typeface="Arial"/>
              </a:rPr>
              <a:t>a </a:t>
            </a:r>
            <a:r>
              <a:rPr lang="en-US" b="1" spc="-10" dirty="0" err="1">
                <a:latin typeface="Arial"/>
                <a:cs typeface="Arial"/>
              </a:rPr>
              <a:t>bronchovascular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segment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as</a:t>
            </a:r>
            <a:r>
              <a:rPr lang="en-US" b="1" spc="-4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it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does</a:t>
            </a:r>
            <a:r>
              <a:rPr lang="en-US" b="1" spc="-4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not</a:t>
            </a:r>
            <a:r>
              <a:rPr lang="en-US" b="1" spc="-50" dirty="0">
                <a:latin typeface="Arial"/>
                <a:cs typeface="Arial"/>
              </a:rPr>
              <a:t> </a:t>
            </a:r>
            <a:r>
              <a:rPr lang="en-US" b="1" spc="-20" dirty="0">
                <a:latin typeface="Arial"/>
                <a:cs typeface="Arial"/>
              </a:rPr>
              <a:t>have </a:t>
            </a:r>
            <a:r>
              <a:rPr lang="en-US" b="1" dirty="0">
                <a:latin typeface="Arial"/>
                <a:cs typeface="Arial"/>
              </a:rPr>
              <a:t>its</a:t>
            </a:r>
            <a:r>
              <a:rPr lang="en-US" b="1" spc="-4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own</a:t>
            </a:r>
            <a:r>
              <a:rPr lang="en-US" b="1" spc="-3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vein.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 MT"/>
              <a:cs typeface="Arial MT"/>
            </a:endParaRPr>
          </a:p>
          <a:p>
            <a:endParaRPr lang="en-GB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FAB7609-8D90-D9B2-1C07-E2D05F072F19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172200" y="1382487"/>
            <a:ext cx="5181600" cy="478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5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1067" y="562161"/>
            <a:ext cx="10554691" cy="939135"/>
          </a:xfrm>
          <a:prstGeom prst="rect">
            <a:avLst/>
          </a:prstGeom>
        </p:spPr>
        <p:txBody>
          <a:bodyPr vert="horz" wrap="square" lIns="0" tIns="377397" rIns="0" bIns="0" rtlCol="0" anchor="ctr">
            <a:spAutoFit/>
          </a:bodyPr>
          <a:lstStyle/>
          <a:p>
            <a:pPr marL="251116">
              <a:lnSpc>
                <a:spcPct val="100000"/>
              </a:lnSpc>
              <a:spcBef>
                <a:spcPts val="100"/>
              </a:spcBef>
            </a:pPr>
            <a:r>
              <a:rPr sz="3613" b="1" spc="-10" dirty="0"/>
              <a:t>BRONCHOPULMONARY</a:t>
            </a:r>
            <a:r>
              <a:rPr sz="3613" b="1" spc="-130" dirty="0"/>
              <a:t> </a:t>
            </a:r>
            <a:r>
              <a:rPr sz="3613" b="1" spc="-10" dirty="0"/>
              <a:t>SEGMENTS</a:t>
            </a:r>
            <a:endParaRPr sz="3613" b="1" dirty="0"/>
          </a:p>
        </p:txBody>
      </p:sp>
      <p:grpSp>
        <p:nvGrpSpPr>
          <p:cNvPr id="3" name="object 3"/>
          <p:cNvGrpSpPr/>
          <p:nvPr/>
        </p:nvGrpSpPr>
        <p:grpSpPr>
          <a:xfrm>
            <a:off x="2118105" y="856103"/>
            <a:ext cx="8051776" cy="66923"/>
            <a:chOff x="596137" y="852932"/>
            <a:chExt cx="8021955" cy="66675"/>
          </a:xfrm>
        </p:grpSpPr>
        <p:sp>
          <p:nvSpPr>
            <p:cNvPr id="4" name="object 4"/>
            <p:cNvSpPr/>
            <p:nvPr/>
          </p:nvSpPr>
          <p:spPr>
            <a:xfrm>
              <a:off x="615187" y="87198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5" name="object 5"/>
            <p:cNvSpPr/>
            <p:nvPr/>
          </p:nvSpPr>
          <p:spPr>
            <a:xfrm>
              <a:off x="596137" y="85293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9AFF33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245067" y="1871800"/>
            <a:ext cx="3585791" cy="51626"/>
            <a:chOff x="722630" y="1864867"/>
            <a:chExt cx="3572510" cy="51435"/>
          </a:xfrm>
        </p:grpSpPr>
        <p:sp>
          <p:nvSpPr>
            <p:cNvPr id="7" name="object 7"/>
            <p:cNvSpPr/>
            <p:nvPr/>
          </p:nvSpPr>
          <p:spPr>
            <a:xfrm>
              <a:off x="737108" y="1879345"/>
              <a:ext cx="3557904" cy="36830"/>
            </a:xfrm>
            <a:custGeom>
              <a:avLst/>
              <a:gdLst/>
              <a:ahLst/>
              <a:cxnLst/>
              <a:rect l="l" t="t" r="r" b="b"/>
              <a:pathLst>
                <a:path w="3557904" h="36830">
                  <a:moveTo>
                    <a:pt x="3557778" y="36575"/>
                  </a:moveTo>
                  <a:lnTo>
                    <a:pt x="3557778" y="0"/>
                  </a:lnTo>
                  <a:lnTo>
                    <a:pt x="0" y="0"/>
                  </a:lnTo>
                  <a:lnTo>
                    <a:pt x="0" y="36576"/>
                  </a:lnTo>
                  <a:lnTo>
                    <a:pt x="3557778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8" name="object 8"/>
            <p:cNvSpPr/>
            <p:nvPr/>
          </p:nvSpPr>
          <p:spPr>
            <a:xfrm>
              <a:off x="722630" y="1864867"/>
              <a:ext cx="3557904" cy="36830"/>
            </a:xfrm>
            <a:custGeom>
              <a:avLst/>
              <a:gdLst/>
              <a:ahLst/>
              <a:cxnLst/>
              <a:rect l="l" t="t" r="r" b="b"/>
              <a:pathLst>
                <a:path w="3557904" h="36830">
                  <a:moveTo>
                    <a:pt x="3557777" y="36575"/>
                  </a:moveTo>
                  <a:lnTo>
                    <a:pt x="3557777" y="0"/>
                  </a:lnTo>
                  <a:lnTo>
                    <a:pt x="0" y="0"/>
                  </a:lnTo>
                  <a:lnTo>
                    <a:pt x="0" y="36576"/>
                  </a:lnTo>
                  <a:lnTo>
                    <a:pt x="3557777" y="36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16245" y="4552019"/>
            <a:ext cx="3143462" cy="883382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547483" marR="5099" indent="-535374">
              <a:spcBef>
                <a:spcPts val="100"/>
              </a:spcBef>
              <a:tabLst>
                <a:tab pos="547483" algn="l"/>
              </a:tabLst>
            </a:pPr>
            <a:r>
              <a:rPr sz="2810" spc="-25" dirty="0">
                <a:solidFill>
                  <a:srgbClr val="5B5B89"/>
                </a:solidFill>
                <a:latin typeface="Arial MT"/>
                <a:cs typeface="Arial MT"/>
              </a:rPr>
              <a:t>3.</a:t>
            </a:r>
            <a:r>
              <a:rPr sz="2810" dirty="0">
                <a:solidFill>
                  <a:srgbClr val="5B5B89"/>
                </a:solidFill>
                <a:latin typeface="Arial MT"/>
                <a:cs typeface="Arial MT"/>
              </a:rPr>
              <a:t>	</a:t>
            </a:r>
            <a:r>
              <a:rPr sz="2810" dirty="0">
                <a:latin typeface="Arial MT"/>
                <a:cs typeface="Arial MT"/>
              </a:rPr>
              <a:t>More</a:t>
            </a:r>
            <a:r>
              <a:rPr sz="2810" spc="-45" dirty="0">
                <a:latin typeface="Arial MT"/>
                <a:cs typeface="Arial MT"/>
              </a:rPr>
              <a:t> </a:t>
            </a:r>
            <a:r>
              <a:rPr sz="2810" dirty="0">
                <a:latin typeface="Arial MT"/>
                <a:cs typeface="Arial MT"/>
              </a:rPr>
              <a:t>in</a:t>
            </a:r>
            <a:r>
              <a:rPr sz="2810" spc="-45" dirty="0">
                <a:latin typeface="Arial MT"/>
                <a:cs typeface="Arial MT"/>
              </a:rPr>
              <a:t> </a:t>
            </a:r>
            <a:r>
              <a:rPr sz="2810" dirty="0">
                <a:latin typeface="Arial MT"/>
                <a:cs typeface="Arial MT"/>
              </a:rPr>
              <a:t>line</a:t>
            </a:r>
            <a:r>
              <a:rPr sz="2810" spc="-40" dirty="0">
                <a:latin typeface="Arial MT"/>
                <a:cs typeface="Arial MT"/>
              </a:rPr>
              <a:t> </a:t>
            </a:r>
            <a:r>
              <a:rPr sz="2810" spc="-20" dirty="0">
                <a:latin typeface="Arial MT"/>
                <a:cs typeface="Arial MT"/>
              </a:rPr>
              <a:t>with </a:t>
            </a:r>
            <a:r>
              <a:rPr sz="2810" spc="-10" dirty="0">
                <a:latin typeface="Arial MT"/>
                <a:cs typeface="Arial MT"/>
              </a:rPr>
              <a:t>trachea.</a:t>
            </a:r>
            <a:endParaRPr sz="2810" dirty="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85308" y="1871800"/>
            <a:ext cx="3330209" cy="51626"/>
            <a:chOff x="5345684" y="1864867"/>
            <a:chExt cx="3317875" cy="51435"/>
          </a:xfrm>
        </p:grpSpPr>
        <p:sp>
          <p:nvSpPr>
            <p:cNvPr id="11" name="object 11"/>
            <p:cNvSpPr/>
            <p:nvPr/>
          </p:nvSpPr>
          <p:spPr>
            <a:xfrm>
              <a:off x="5360162" y="1879345"/>
              <a:ext cx="3303270" cy="36830"/>
            </a:xfrm>
            <a:custGeom>
              <a:avLst/>
              <a:gdLst/>
              <a:ahLst/>
              <a:cxnLst/>
              <a:rect l="l" t="t" r="r" b="b"/>
              <a:pathLst>
                <a:path w="3303270" h="36830">
                  <a:moveTo>
                    <a:pt x="3303270" y="36576"/>
                  </a:moveTo>
                  <a:lnTo>
                    <a:pt x="3303270" y="0"/>
                  </a:lnTo>
                  <a:lnTo>
                    <a:pt x="0" y="0"/>
                  </a:lnTo>
                  <a:lnTo>
                    <a:pt x="0" y="36576"/>
                  </a:lnTo>
                  <a:lnTo>
                    <a:pt x="3303270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5684" y="1864867"/>
              <a:ext cx="3303270" cy="36830"/>
            </a:xfrm>
            <a:custGeom>
              <a:avLst/>
              <a:gdLst/>
              <a:ahLst/>
              <a:cxnLst/>
              <a:rect l="l" t="t" r="r" b="b"/>
              <a:pathLst>
                <a:path w="3303270" h="36830">
                  <a:moveTo>
                    <a:pt x="3303269" y="36576"/>
                  </a:moveTo>
                  <a:lnTo>
                    <a:pt x="3303269" y="0"/>
                  </a:lnTo>
                  <a:lnTo>
                    <a:pt x="0" y="0"/>
                  </a:lnTo>
                  <a:lnTo>
                    <a:pt x="0" y="36576"/>
                  </a:lnTo>
                  <a:lnTo>
                    <a:pt x="3303269" y="36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16245" y="1464394"/>
            <a:ext cx="8396588" cy="256919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428299">
              <a:spcBef>
                <a:spcPts val="100"/>
              </a:spcBef>
              <a:tabLst>
                <a:tab pos="5068841" algn="l"/>
              </a:tabLst>
            </a:pPr>
            <a:r>
              <a:rPr sz="2810" b="1" dirty="0">
                <a:solidFill>
                  <a:srgbClr val="FFFFFF"/>
                </a:solidFill>
                <a:latin typeface="Arial"/>
                <a:cs typeface="Arial"/>
              </a:rPr>
              <a:t>Right</a:t>
            </a:r>
            <a:r>
              <a:rPr sz="281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10" b="1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281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10" b="1" spc="-10" dirty="0">
                <a:solidFill>
                  <a:srgbClr val="FFFFFF"/>
                </a:solidFill>
                <a:latin typeface="Arial"/>
                <a:cs typeface="Arial"/>
              </a:rPr>
              <a:t>bronchus</a:t>
            </a:r>
            <a:r>
              <a:rPr sz="2810" b="1" dirty="0">
                <a:solidFill>
                  <a:srgbClr val="FFFFFF"/>
                </a:solidFill>
                <a:latin typeface="Arial"/>
                <a:cs typeface="Arial"/>
              </a:rPr>
              <a:t>	Left</a:t>
            </a:r>
            <a:r>
              <a:rPr sz="281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10" b="1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281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10" b="1" spc="-10" dirty="0">
                <a:solidFill>
                  <a:srgbClr val="FFFFFF"/>
                </a:solidFill>
                <a:latin typeface="Arial"/>
                <a:cs typeface="Arial"/>
              </a:rPr>
              <a:t>bronchus</a:t>
            </a:r>
            <a:endParaRPr sz="2810" dirty="0">
              <a:latin typeface="Arial"/>
              <a:cs typeface="Arial"/>
            </a:endParaRPr>
          </a:p>
          <a:p>
            <a:pPr>
              <a:spcBef>
                <a:spcPts val="1501"/>
              </a:spcBef>
            </a:pPr>
            <a:endParaRPr sz="2810" dirty="0">
              <a:latin typeface="Arial"/>
              <a:cs typeface="Arial"/>
            </a:endParaRPr>
          </a:p>
          <a:p>
            <a:pPr marL="547483" indent="-534736">
              <a:buClr>
                <a:srgbClr val="5B5B89"/>
              </a:buClr>
              <a:buAutoNum type="arabicPeriod"/>
              <a:tabLst>
                <a:tab pos="547483" algn="l"/>
                <a:tab pos="4677508" algn="l"/>
                <a:tab pos="5212882" algn="l"/>
              </a:tabLst>
            </a:pPr>
            <a:r>
              <a:rPr sz="2810" spc="-10" dirty="0">
                <a:latin typeface="Arial MT"/>
                <a:cs typeface="Arial MT"/>
              </a:rPr>
              <a:t>Shorter</a:t>
            </a:r>
            <a:r>
              <a:rPr sz="2810" dirty="0">
                <a:latin typeface="Arial MT"/>
                <a:cs typeface="Arial MT"/>
              </a:rPr>
              <a:t>	</a:t>
            </a:r>
            <a:r>
              <a:rPr sz="2810" spc="-25" dirty="0">
                <a:latin typeface="Arial MT"/>
                <a:cs typeface="Arial MT"/>
              </a:rPr>
              <a:t>1.</a:t>
            </a:r>
            <a:r>
              <a:rPr sz="2810" dirty="0">
                <a:latin typeface="Arial MT"/>
                <a:cs typeface="Arial MT"/>
              </a:rPr>
              <a:t>	</a:t>
            </a:r>
            <a:r>
              <a:rPr sz="2810" spc="-10" dirty="0">
                <a:latin typeface="Arial MT"/>
                <a:cs typeface="Arial MT"/>
              </a:rPr>
              <a:t>Longer</a:t>
            </a:r>
            <a:endParaRPr sz="2810" dirty="0">
              <a:latin typeface="Arial MT"/>
              <a:cs typeface="Arial MT"/>
            </a:endParaRPr>
          </a:p>
          <a:p>
            <a:pPr>
              <a:spcBef>
                <a:spcPts val="1501"/>
              </a:spcBef>
              <a:buClr>
                <a:srgbClr val="5B5B89"/>
              </a:buClr>
              <a:buFont typeface="Arial MT"/>
              <a:buAutoNum type="arabicPeriod"/>
            </a:pPr>
            <a:endParaRPr sz="2810" dirty="0">
              <a:latin typeface="Arial MT"/>
              <a:cs typeface="Arial MT"/>
            </a:endParaRPr>
          </a:p>
          <a:p>
            <a:pPr marL="547483" indent="-534736">
              <a:spcBef>
                <a:spcPts val="5"/>
              </a:spcBef>
              <a:buClr>
                <a:srgbClr val="5B5B89"/>
              </a:buClr>
              <a:buAutoNum type="arabicPeriod"/>
              <a:tabLst>
                <a:tab pos="547483" algn="l"/>
                <a:tab pos="4677508" algn="l"/>
                <a:tab pos="5212882" algn="l"/>
              </a:tabLst>
            </a:pPr>
            <a:r>
              <a:rPr sz="2810" spc="-10" dirty="0">
                <a:latin typeface="Arial MT"/>
                <a:cs typeface="Arial MT"/>
              </a:rPr>
              <a:t>Wider.</a:t>
            </a:r>
            <a:r>
              <a:rPr sz="2810" dirty="0">
                <a:solidFill>
                  <a:srgbClr val="FFFF00"/>
                </a:solidFill>
                <a:latin typeface="Arial MT"/>
                <a:cs typeface="Arial MT"/>
              </a:rPr>
              <a:t>	</a:t>
            </a:r>
            <a:r>
              <a:rPr sz="2810" spc="-25" dirty="0">
                <a:solidFill>
                  <a:srgbClr val="5B5B89"/>
                </a:solidFill>
                <a:latin typeface="Arial MT"/>
                <a:cs typeface="Arial MT"/>
              </a:rPr>
              <a:t>2.</a:t>
            </a:r>
            <a:r>
              <a:rPr sz="2810" dirty="0">
                <a:solidFill>
                  <a:srgbClr val="5B5B89"/>
                </a:solidFill>
                <a:latin typeface="Arial MT"/>
                <a:cs typeface="Arial MT"/>
              </a:rPr>
              <a:t>	</a:t>
            </a:r>
            <a:r>
              <a:rPr sz="2810" spc="-10" dirty="0">
                <a:latin typeface="Arial MT"/>
                <a:cs typeface="Arial MT"/>
              </a:rPr>
              <a:t>Narrower.</a:t>
            </a:r>
            <a:endParaRPr sz="281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1726" y="4552019"/>
            <a:ext cx="3423264" cy="883382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547483" marR="5099" indent="-535374">
              <a:spcBef>
                <a:spcPts val="100"/>
              </a:spcBef>
              <a:tabLst>
                <a:tab pos="547483" algn="l"/>
              </a:tabLst>
            </a:pPr>
            <a:r>
              <a:rPr sz="2810" spc="-25" dirty="0">
                <a:solidFill>
                  <a:srgbClr val="5B5B89"/>
                </a:solidFill>
                <a:latin typeface="Arial MT"/>
                <a:cs typeface="Arial MT"/>
              </a:rPr>
              <a:t>3.</a:t>
            </a:r>
            <a:r>
              <a:rPr sz="2810" dirty="0">
                <a:latin typeface="Arial MT"/>
                <a:cs typeface="Arial MT"/>
              </a:rPr>
              <a:t>	More</a:t>
            </a:r>
            <a:r>
              <a:rPr sz="2810" spc="-80" dirty="0">
                <a:latin typeface="Arial MT"/>
                <a:cs typeface="Arial MT"/>
              </a:rPr>
              <a:t> </a:t>
            </a:r>
            <a:r>
              <a:rPr sz="2810" dirty="0">
                <a:latin typeface="Arial MT"/>
                <a:cs typeface="Arial MT"/>
              </a:rPr>
              <a:t>oblique</a:t>
            </a:r>
            <a:r>
              <a:rPr sz="2810" spc="-75" dirty="0">
                <a:latin typeface="Arial MT"/>
                <a:cs typeface="Arial MT"/>
              </a:rPr>
              <a:t> </a:t>
            </a:r>
            <a:r>
              <a:rPr sz="2810" spc="-20" dirty="0">
                <a:latin typeface="Arial MT"/>
                <a:cs typeface="Arial MT"/>
              </a:rPr>
              <a:t>than </a:t>
            </a:r>
            <a:r>
              <a:rPr sz="2810" dirty="0">
                <a:latin typeface="Arial MT"/>
                <a:cs typeface="Arial MT"/>
              </a:rPr>
              <a:t>the</a:t>
            </a:r>
            <a:r>
              <a:rPr sz="2810" spc="-35" dirty="0">
                <a:latin typeface="Arial MT"/>
                <a:cs typeface="Arial MT"/>
              </a:rPr>
              <a:t> </a:t>
            </a:r>
            <a:r>
              <a:rPr sz="2810" spc="-10" dirty="0">
                <a:latin typeface="Arial MT"/>
                <a:cs typeface="Arial MT"/>
              </a:rPr>
              <a:t>right.</a:t>
            </a:r>
            <a:endParaRPr sz="281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1067" y="484931"/>
            <a:ext cx="10554691" cy="1093595"/>
          </a:xfrm>
          <a:prstGeom prst="rect">
            <a:avLst/>
          </a:prstGeom>
        </p:spPr>
        <p:txBody>
          <a:bodyPr vert="horz" wrap="square" lIns="0" tIns="530363" rIns="0" bIns="0" rtlCol="0" anchor="ctr">
            <a:spAutoFit/>
          </a:bodyPr>
          <a:lstStyle/>
          <a:p>
            <a:pPr marL="289357">
              <a:lnSpc>
                <a:spcPct val="100000"/>
              </a:lnSpc>
              <a:spcBef>
                <a:spcPts val="100"/>
              </a:spcBef>
            </a:pPr>
            <a:r>
              <a:rPr sz="3613" b="1" spc="-10" dirty="0"/>
              <a:t>BRONCHOPULMONARY</a:t>
            </a:r>
            <a:r>
              <a:rPr sz="3613" b="1" spc="-130" dirty="0"/>
              <a:t> </a:t>
            </a:r>
            <a:r>
              <a:rPr sz="3613" b="1" spc="-10" dirty="0"/>
              <a:t>SEGMENTS</a:t>
            </a:r>
            <a:endParaRPr sz="3613" b="1" dirty="0"/>
          </a:p>
        </p:txBody>
      </p:sp>
      <p:grpSp>
        <p:nvGrpSpPr>
          <p:cNvPr id="3" name="object 3"/>
          <p:cNvGrpSpPr/>
          <p:nvPr/>
        </p:nvGrpSpPr>
        <p:grpSpPr>
          <a:xfrm>
            <a:off x="2156346" y="1009070"/>
            <a:ext cx="8051776" cy="66923"/>
            <a:chOff x="634237" y="1005332"/>
            <a:chExt cx="8021955" cy="66675"/>
          </a:xfrm>
        </p:grpSpPr>
        <p:sp>
          <p:nvSpPr>
            <p:cNvPr id="4" name="object 4"/>
            <p:cNvSpPr/>
            <p:nvPr/>
          </p:nvSpPr>
          <p:spPr>
            <a:xfrm>
              <a:off x="653287" y="102438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5" name="object 5"/>
            <p:cNvSpPr/>
            <p:nvPr/>
          </p:nvSpPr>
          <p:spPr>
            <a:xfrm>
              <a:off x="634237" y="100533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68912" y="2109408"/>
            <a:ext cx="6513825" cy="1838785"/>
            <a:chOff x="1144905" y="2101595"/>
            <a:chExt cx="6489700" cy="1831975"/>
          </a:xfrm>
        </p:grpSpPr>
        <p:sp>
          <p:nvSpPr>
            <p:cNvPr id="7" name="object 7"/>
            <p:cNvSpPr/>
            <p:nvPr/>
          </p:nvSpPr>
          <p:spPr>
            <a:xfrm>
              <a:off x="7616444" y="3728719"/>
              <a:ext cx="2540" cy="189230"/>
            </a:xfrm>
            <a:custGeom>
              <a:avLst/>
              <a:gdLst/>
              <a:ahLst/>
              <a:cxnLst/>
              <a:rect l="l" t="t" r="r" b="b"/>
              <a:pathLst>
                <a:path w="2540" h="189229">
                  <a:moveTo>
                    <a:pt x="2285" y="188975"/>
                  </a:moveTo>
                  <a:lnTo>
                    <a:pt x="2285" y="95250"/>
                  </a:ln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8" name="object 8"/>
            <p:cNvSpPr/>
            <p:nvPr/>
          </p:nvSpPr>
          <p:spPr>
            <a:xfrm>
              <a:off x="7616444" y="3106927"/>
              <a:ext cx="2540" cy="187960"/>
            </a:xfrm>
            <a:custGeom>
              <a:avLst/>
              <a:gdLst/>
              <a:ahLst/>
              <a:cxnLst/>
              <a:rect l="l" t="t" r="r" b="b"/>
              <a:pathLst>
                <a:path w="2540" h="187960">
                  <a:moveTo>
                    <a:pt x="0" y="187451"/>
                  </a:moveTo>
                  <a:lnTo>
                    <a:pt x="2285" y="0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9" name="object 9"/>
            <p:cNvSpPr/>
            <p:nvPr/>
          </p:nvSpPr>
          <p:spPr>
            <a:xfrm>
              <a:off x="4616450" y="3728719"/>
              <a:ext cx="1905" cy="189230"/>
            </a:xfrm>
            <a:custGeom>
              <a:avLst/>
              <a:gdLst/>
              <a:ahLst/>
              <a:cxnLst/>
              <a:rect l="l" t="t" r="r" b="b"/>
              <a:pathLst>
                <a:path w="1904" h="189229">
                  <a:moveTo>
                    <a:pt x="1524" y="188975"/>
                  </a:moveTo>
                  <a:lnTo>
                    <a:pt x="1524" y="95250"/>
                  </a:ln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10" name="object 10"/>
            <p:cNvSpPr/>
            <p:nvPr/>
          </p:nvSpPr>
          <p:spPr>
            <a:xfrm>
              <a:off x="4616450" y="3106927"/>
              <a:ext cx="1905" cy="187960"/>
            </a:xfrm>
            <a:custGeom>
              <a:avLst/>
              <a:gdLst/>
              <a:ahLst/>
              <a:cxnLst/>
              <a:rect l="l" t="t" r="r" b="b"/>
              <a:pathLst>
                <a:path w="1904" h="187960">
                  <a:moveTo>
                    <a:pt x="0" y="187451"/>
                  </a:moveTo>
                  <a:lnTo>
                    <a:pt x="1524" y="0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60780" y="2482849"/>
              <a:ext cx="6456045" cy="1435100"/>
            </a:xfrm>
            <a:custGeom>
              <a:avLst/>
              <a:gdLst/>
              <a:ahLst/>
              <a:cxnLst/>
              <a:rect l="l" t="t" r="r" b="b"/>
              <a:pathLst>
                <a:path w="6456045" h="1435100">
                  <a:moveTo>
                    <a:pt x="1524" y="1434846"/>
                  </a:moveTo>
                  <a:lnTo>
                    <a:pt x="1524" y="1341120"/>
                  </a:lnTo>
                  <a:lnTo>
                    <a:pt x="0" y="1341120"/>
                  </a:lnTo>
                  <a:lnTo>
                    <a:pt x="0" y="1245870"/>
                  </a:lnTo>
                </a:path>
                <a:path w="6456045" h="1435100">
                  <a:moveTo>
                    <a:pt x="0" y="811529"/>
                  </a:moveTo>
                  <a:lnTo>
                    <a:pt x="0" y="717803"/>
                  </a:lnTo>
                  <a:lnTo>
                    <a:pt x="453389" y="717803"/>
                  </a:lnTo>
                  <a:lnTo>
                    <a:pt x="453389" y="624077"/>
                  </a:lnTo>
                </a:path>
                <a:path w="6456045" h="1435100">
                  <a:moveTo>
                    <a:pt x="6455664" y="187451"/>
                  </a:moveTo>
                  <a:lnTo>
                    <a:pt x="6455664" y="93725"/>
                  </a:lnTo>
                  <a:lnTo>
                    <a:pt x="3398519" y="93725"/>
                  </a:lnTo>
                  <a:lnTo>
                    <a:pt x="3398519" y="0"/>
                  </a:lnTo>
                </a:path>
                <a:path w="6456045" h="1435100">
                  <a:moveTo>
                    <a:pt x="3455669" y="187451"/>
                  </a:moveTo>
                  <a:lnTo>
                    <a:pt x="3455669" y="93725"/>
                  </a:lnTo>
                  <a:lnTo>
                    <a:pt x="3398519" y="93725"/>
                  </a:lnTo>
                  <a:lnTo>
                    <a:pt x="3398519" y="0"/>
                  </a:lnTo>
                </a:path>
                <a:path w="6456045" h="1435100">
                  <a:moveTo>
                    <a:pt x="453389" y="187451"/>
                  </a:moveTo>
                  <a:lnTo>
                    <a:pt x="453389" y="93725"/>
                  </a:lnTo>
                  <a:lnTo>
                    <a:pt x="3398519" y="93725"/>
                  </a:lnTo>
                  <a:lnTo>
                    <a:pt x="3398519" y="0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12" name="object 12"/>
            <p:cNvSpPr/>
            <p:nvPr/>
          </p:nvSpPr>
          <p:spPr>
            <a:xfrm>
              <a:off x="3473450" y="2107945"/>
              <a:ext cx="2171700" cy="375285"/>
            </a:xfrm>
            <a:custGeom>
              <a:avLst/>
              <a:gdLst/>
              <a:ahLst/>
              <a:cxnLst/>
              <a:rect l="l" t="t" r="r" b="b"/>
              <a:pathLst>
                <a:path w="2171700" h="375285">
                  <a:moveTo>
                    <a:pt x="0" y="0"/>
                  </a:moveTo>
                  <a:lnTo>
                    <a:pt x="0" y="374904"/>
                  </a:lnTo>
                  <a:lnTo>
                    <a:pt x="2171700" y="374904"/>
                  </a:lnTo>
                  <a:lnTo>
                    <a:pt x="21717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28548" y="2161927"/>
            <a:ext cx="2135158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Right</a:t>
            </a:r>
            <a:r>
              <a:rPr sz="1606" b="1" spc="427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Main</a:t>
            </a:r>
            <a:r>
              <a:rPr sz="1606" b="1" spc="-15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73164" y="2680228"/>
            <a:ext cx="2734277" cy="438504"/>
          </a:xfrm>
          <a:custGeom>
            <a:avLst/>
            <a:gdLst/>
            <a:ahLst/>
            <a:cxnLst/>
            <a:rect l="l" t="t" r="r" b="b"/>
            <a:pathLst>
              <a:path w="2724150" h="436880">
                <a:moveTo>
                  <a:pt x="0" y="0"/>
                </a:moveTo>
                <a:lnTo>
                  <a:pt x="0" y="436625"/>
                </a:lnTo>
                <a:lnTo>
                  <a:pt x="2724149" y="436625"/>
                </a:lnTo>
                <a:lnTo>
                  <a:pt x="27241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5" name="object 15"/>
          <p:cNvSpPr txBox="1"/>
          <p:nvPr/>
        </p:nvSpPr>
        <p:spPr>
          <a:xfrm>
            <a:off x="1813192" y="2756202"/>
            <a:ext cx="2653970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Right</a:t>
            </a:r>
            <a:r>
              <a:rPr sz="1606" b="1" spc="-3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upper</a:t>
            </a:r>
            <a:r>
              <a:rPr sz="1606" b="1" spc="-2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lobe</a:t>
            </a:r>
            <a:r>
              <a:rPr sz="1606" b="1" spc="-2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85842" y="2680228"/>
            <a:ext cx="2734277" cy="438504"/>
          </a:xfrm>
          <a:custGeom>
            <a:avLst/>
            <a:gdLst/>
            <a:ahLst/>
            <a:cxnLst/>
            <a:rect l="l" t="t" r="r" b="b"/>
            <a:pathLst>
              <a:path w="2724150" h="436880">
                <a:moveTo>
                  <a:pt x="0" y="0"/>
                </a:moveTo>
                <a:lnTo>
                  <a:pt x="0" y="436625"/>
                </a:lnTo>
                <a:lnTo>
                  <a:pt x="2724150" y="436625"/>
                </a:lnTo>
                <a:lnTo>
                  <a:pt x="27241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7" name="object 17"/>
          <p:cNvSpPr txBox="1"/>
          <p:nvPr/>
        </p:nvSpPr>
        <p:spPr>
          <a:xfrm>
            <a:off x="4786096" y="2756202"/>
            <a:ext cx="2734914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Right</a:t>
            </a:r>
            <a:r>
              <a:rPr sz="1606" b="1" spc="-40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Middle</a:t>
            </a:r>
            <a:r>
              <a:rPr sz="1606" b="1" spc="-3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lobe</a:t>
            </a:r>
            <a:r>
              <a:rPr sz="1606" b="1" spc="-4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97753" y="2680228"/>
            <a:ext cx="2734277" cy="438504"/>
          </a:xfrm>
          <a:custGeom>
            <a:avLst/>
            <a:gdLst/>
            <a:ahLst/>
            <a:cxnLst/>
            <a:rect l="l" t="t" r="r" b="b"/>
            <a:pathLst>
              <a:path w="2724150" h="436880">
                <a:moveTo>
                  <a:pt x="0" y="0"/>
                </a:moveTo>
                <a:lnTo>
                  <a:pt x="0" y="436625"/>
                </a:lnTo>
                <a:lnTo>
                  <a:pt x="2724150" y="436625"/>
                </a:lnTo>
                <a:lnTo>
                  <a:pt x="27241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9" name="object 19"/>
          <p:cNvSpPr txBox="1"/>
          <p:nvPr/>
        </p:nvSpPr>
        <p:spPr>
          <a:xfrm>
            <a:off x="7788064" y="2756202"/>
            <a:ext cx="2755947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Right</a:t>
            </a:r>
            <a:r>
              <a:rPr sz="1606" b="1" spc="-3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Lower</a:t>
            </a:r>
            <a:r>
              <a:rPr sz="1606" b="1" spc="-2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Lobe</a:t>
            </a:r>
            <a:r>
              <a:rPr sz="1606" b="1" spc="-2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59971" y="3306626"/>
            <a:ext cx="2049114" cy="435955"/>
          </a:xfrm>
          <a:custGeom>
            <a:avLst/>
            <a:gdLst/>
            <a:ahLst/>
            <a:cxnLst/>
            <a:rect l="l" t="t" r="r" b="b"/>
            <a:pathLst>
              <a:path w="2041525" h="434339">
                <a:moveTo>
                  <a:pt x="0" y="0"/>
                </a:moveTo>
                <a:lnTo>
                  <a:pt x="0" y="434339"/>
                </a:lnTo>
                <a:lnTo>
                  <a:pt x="2041398" y="434339"/>
                </a:lnTo>
                <a:lnTo>
                  <a:pt x="2041398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1" name="object 21"/>
          <p:cNvSpPr txBox="1"/>
          <p:nvPr/>
        </p:nvSpPr>
        <p:spPr>
          <a:xfrm>
            <a:off x="1742828" y="3381836"/>
            <a:ext cx="1884675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Segmental</a:t>
            </a:r>
            <a:r>
              <a:rPr sz="1606" b="1" spc="-8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Bronchi</a:t>
            </a:r>
            <a:endParaRPr sz="1606" b="1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3165" y="3932260"/>
            <a:ext cx="1824126" cy="1032524"/>
          </a:xfrm>
          <a:custGeom>
            <a:avLst/>
            <a:gdLst/>
            <a:ahLst/>
            <a:cxnLst/>
            <a:rect l="l" t="t" r="r" b="b"/>
            <a:pathLst>
              <a:path w="1817370" h="1028700">
                <a:moveTo>
                  <a:pt x="0" y="0"/>
                </a:moveTo>
                <a:lnTo>
                  <a:pt x="0" y="1028700"/>
                </a:lnTo>
                <a:lnTo>
                  <a:pt x="1817370" y="1028700"/>
                </a:lnTo>
                <a:lnTo>
                  <a:pt x="181737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3" name="object 23"/>
          <p:cNvSpPr txBox="1"/>
          <p:nvPr/>
        </p:nvSpPr>
        <p:spPr>
          <a:xfrm>
            <a:off x="2223831" y="4063301"/>
            <a:ext cx="920986" cy="759734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marR="5099" algn="ctr">
              <a:lnSpc>
                <a:spcPct val="99800"/>
              </a:lnSpc>
              <a:spcBef>
                <a:spcPts val="105"/>
              </a:spcBef>
            </a:pPr>
            <a:r>
              <a:rPr sz="1606" b="1" spc="-10" dirty="0">
                <a:latin typeface="Arial"/>
                <a:cs typeface="Arial"/>
              </a:rPr>
              <a:t>Apical Anterior Posterior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26957" y="3306626"/>
            <a:ext cx="2051663" cy="435955"/>
          </a:xfrm>
          <a:custGeom>
            <a:avLst/>
            <a:gdLst/>
            <a:ahLst/>
            <a:cxnLst/>
            <a:rect l="l" t="t" r="r" b="b"/>
            <a:pathLst>
              <a:path w="2044064" h="434339">
                <a:moveTo>
                  <a:pt x="0" y="0"/>
                </a:moveTo>
                <a:lnTo>
                  <a:pt x="0" y="434340"/>
                </a:lnTo>
                <a:lnTo>
                  <a:pt x="2043683" y="434339"/>
                </a:lnTo>
                <a:lnTo>
                  <a:pt x="2043683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5" name="object 25"/>
          <p:cNvSpPr txBox="1"/>
          <p:nvPr/>
        </p:nvSpPr>
        <p:spPr>
          <a:xfrm>
            <a:off x="5209814" y="3381836"/>
            <a:ext cx="1884675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Segmental</a:t>
            </a:r>
            <a:r>
              <a:rPr sz="1606" b="1" spc="-8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Bronchi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41682" y="3932260"/>
            <a:ext cx="1825400" cy="1032524"/>
          </a:xfrm>
          <a:custGeom>
            <a:avLst/>
            <a:gdLst/>
            <a:ahLst/>
            <a:cxnLst/>
            <a:rect l="l" t="t" r="r" b="b"/>
            <a:pathLst>
              <a:path w="1818639" h="1028700">
                <a:moveTo>
                  <a:pt x="0" y="0"/>
                </a:moveTo>
                <a:lnTo>
                  <a:pt x="0" y="1028700"/>
                </a:lnTo>
                <a:lnTo>
                  <a:pt x="1818131" y="1028700"/>
                </a:lnTo>
                <a:lnTo>
                  <a:pt x="1818131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7" name="object 27"/>
          <p:cNvSpPr txBox="1"/>
          <p:nvPr/>
        </p:nvSpPr>
        <p:spPr>
          <a:xfrm>
            <a:off x="5806464" y="4185675"/>
            <a:ext cx="694723" cy="514350"/>
          </a:xfrm>
          <a:prstGeom prst="rect">
            <a:avLst/>
          </a:prstGeom>
        </p:spPr>
        <p:txBody>
          <a:bodyPr vert="horz" wrap="square" lIns="0" tIns="22308" rIns="0" bIns="0" rtlCol="0">
            <a:spAutoFit/>
          </a:bodyPr>
          <a:lstStyle/>
          <a:p>
            <a:pPr marL="12747" marR="5099" indent="16571">
              <a:lnSpc>
                <a:spcPts val="1917"/>
              </a:lnSpc>
              <a:spcBef>
                <a:spcPts val="176"/>
              </a:spcBef>
            </a:pPr>
            <a:r>
              <a:rPr sz="1606" b="1" spc="-10" dirty="0">
                <a:latin typeface="Arial"/>
                <a:cs typeface="Arial"/>
              </a:rPr>
              <a:t>Medial Lateral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140399" y="3306626"/>
            <a:ext cx="2049114" cy="435955"/>
          </a:xfrm>
          <a:custGeom>
            <a:avLst/>
            <a:gdLst/>
            <a:ahLst/>
            <a:cxnLst/>
            <a:rect l="l" t="t" r="r" b="b"/>
            <a:pathLst>
              <a:path w="2041525" h="434339">
                <a:moveTo>
                  <a:pt x="0" y="0"/>
                </a:moveTo>
                <a:lnTo>
                  <a:pt x="0" y="434339"/>
                </a:lnTo>
                <a:lnTo>
                  <a:pt x="2041398" y="434339"/>
                </a:lnTo>
                <a:lnTo>
                  <a:pt x="2041398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9" name="object 29"/>
          <p:cNvSpPr txBox="1"/>
          <p:nvPr/>
        </p:nvSpPr>
        <p:spPr>
          <a:xfrm>
            <a:off x="8223255" y="3381836"/>
            <a:ext cx="1884675" cy="25999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606" b="1" dirty="0">
                <a:latin typeface="Arial"/>
                <a:cs typeface="Arial"/>
              </a:rPr>
              <a:t>Segmental</a:t>
            </a:r>
            <a:r>
              <a:rPr sz="1606" b="1" spc="-8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Bronchi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53593" y="3932260"/>
            <a:ext cx="1824126" cy="1032524"/>
          </a:xfrm>
          <a:custGeom>
            <a:avLst/>
            <a:gdLst/>
            <a:ahLst/>
            <a:cxnLst/>
            <a:rect l="l" t="t" r="r" b="b"/>
            <a:pathLst>
              <a:path w="1817370" h="1028700">
                <a:moveTo>
                  <a:pt x="0" y="0"/>
                </a:moveTo>
                <a:lnTo>
                  <a:pt x="0" y="1028700"/>
                </a:lnTo>
                <a:lnTo>
                  <a:pt x="1817370" y="1028700"/>
                </a:lnTo>
                <a:lnTo>
                  <a:pt x="181737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31" name="object 31"/>
          <p:cNvSpPr txBox="1"/>
          <p:nvPr/>
        </p:nvSpPr>
        <p:spPr>
          <a:xfrm>
            <a:off x="8262960" y="3940928"/>
            <a:ext cx="1807555" cy="1004480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453793" marR="449968" algn="ctr">
              <a:spcBef>
                <a:spcPts val="100"/>
              </a:spcBef>
            </a:pPr>
            <a:r>
              <a:rPr sz="1606" b="1" spc="-10" dirty="0">
                <a:latin typeface="Arial"/>
                <a:cs typeface="Arial"/>
              </a:rPr>
              <a:t>Apical Anterior Posterior</a:t>
            </a:r>
            <a:endParaRPr sz="1606" dirty="0">
              <a:latin typeface="Arial"/>
              <a:cs typeface="Arial"/>
            </a:endParaRPr>
          </a:p>
          <a:p>
            <a:pPr algn="ctr">
              <a:lnSpc>
                <a:spcPts val="1921"/>
              </a:lnSpc>
            </a:pPr>
            <a:r>
              <a:rPr sz="1606" b="1" dirty="0">
                <a:latin typeface="Arial"/>
                <a:cs typeface="Arial"/>
              </a:rPr>
              <a:t>Medial</a:t>
            </a:r>
            <a:r>
              <a:rPr sz="1606" b="1" spc="-4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and</a:t>
            </a:r>
            <a:r>
              <a:rPr sz="1606" b="1" spc="-4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Lateral</a:t>
            </a:r>
            <a:endParaRPr sz="160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1067" y="484931"/>
            <a:ext cx="10554691" cy="1093595"/>
          </a:xfrm>
          <a:prstGeom prst="rect">
            <a:avLst/>
          </a:prstGeom>
        </p:spPr>
        <p:txBody>
          <a:bodyPr vert="horz" wrap="square" lIns="0" tIns="530363" rIns="0" bIns="0" rtlCol="0" anchor="ctr">
            <a:spAutoFit/>
          </a:bodyPr>
          <a:lstStyle/>
          <a:p>
            <a:pPr marL="212875">
              <a:lnSpc>
                <a:spcPct val="100000"/>
              </a:lnSpc>
              <a:spcBef>
                <a:spcPts val="100"/>
              </a:spcBef>
            </a:pPr>
            <a:r>
              <a:rPr sz="3613" b="1" spc="-10" dirty="0"/>
              <a:t>BRONCHOPULMONARY</a:t>
            </a:r>
            <a:r>
              <a:rPr sz="3613" b="1" spc="-130" dirty="0"/>
              <a:t> </a:t>
            </a:r>
            <a:r>
              <a:rPr sz="3613" b="1" spc="-10" dirty="0"/>
              <a:t>SEGMENTS</a:t>
            </a:r>
            <a:endParaRPr sz="3613" b="1" dirty="0"/>
          </a:p>
        </p:txBody>
      </p:sp>
      <p:grpSp>
        <p:nvGrpSpPr>
          <p:cNvPr id="3" name="object 3"/>
          <p:cNvGrpSpPr/>
          <p:nvPr/>
        </p:nvGrpSpPr>
        <p:grpSpPr>
          <a:xfrm>
            <a:off x="2079863" y="1009070"/>
            <a:ext cx="8051776" cy="66923"/>
            <a:chOff x="558037" y="1005332"/>
            <a:chExt cx="8021955" cy="66675"/>
          </a:xfrm>
        </p:grpSpPr>
        <p:sp>
          <p:nvSpPr>
            <p:cNvPr id="4" name="object 4"/>
            <p:cNvSpPr/>
            <p:nvPr/>
          </p:nvSpPr>
          <p:spPr>
            <a:xfrm>
              <a:off x="577087" y="102438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5" name="object 5"/>
            <p:cNvSpPr/>
            <p:nvPr/>
          </p:nvSpPr>
          <p:spPr>
            <a:xfrm>
              <a:off x="558037" y="1005332"/>
              <a:ext cx="8002905" cy="47625"/>
            </a:xfrm>
            <a:custGeom>
              <a:avLst/>
              <a:gdLst/>
              <a:ahLst/>
              <a:cxnLst/>
              <a:rect l="l" t="t" r="r" b="b"/>
              <a:pathLst>
                <a:path w="8002905" h="47625">
                  <a:moveTo>
                    <a:pt x="8002523" y="47243"/>
                  </a:moveTo>
                  <a:lnTo>
                    <a:pt x="8002523" y="0"/>
                  </a:lnTo>
                  <a:lnTo>
                    <a:pt x="0" y="0"/>
                  </a:lnTo>
                  <a:lnTo>
                    <a:pt x="0" y="47244"/>
                  </a:lnTo>
                  <a:lnTo>
                    <a:pt x="8002523" y="4724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sp>
        <p:nvSpPr>
          <p:cNvPr id="6" name="object 6"/>
          <p:cNvSpPr/>
          <p:nvPr/>
        </p:nvSpPr>
        <p:spPr>
          <a:xfrm>
            <a:off x="4414897" y="2558621"/>
            <a:ext cx="4481920" cy="228174"/>
          </a:xfrm>
          <a:custGeom>
            <a:avLst/>
            <a:gdLst/>
            <a:ahLst/>
            <a:cxnLst/>
            <a:rect l="l" t="t" r="r" b="b"/>
            <a:pathLst>
              <a:path w="4465320" h="227330">
                <a:moveTo>
                  <a:pt x="4465320" y="227075"/>
                </a:moveTo>
                <a:lnTo>
                  <a:pt x="4465320" y="114300"/>
                </a:lnTo>
                <a:lnTo>
                  <a:pt x="1674876" y="114300"/>
                </a:lnTo>
                <a:lnTo>
                  <a:pt x="1674876" y="0"/>
                </a:lnTo>
              </a:path>
              <a:path w="4465320" h="227330">
                <a:moveTo>
                  <a:pt x="0" y="227075"/>
                </a:moveTo>
                <a:lnTo>
                  <a:pt x="0" y="114300"/>
                </a:lnTo>
                <a:lnTo>
                  <a:pt x="1674876" y="114300"/>
                </a:lnTo>
                <a:lnTo>
                  <a:pt x="1674876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7" name="object 7"/>
          <p:cNvSpPr/>
          <p:nvPr/>
        </p:nvSpPr>
        <p:spPr>
          <a:xfrm>
            <a:off x="8619948" y="3929199"/>
            <a:ext cx="3187" cy="229450"/>
          </a:xfrm>
          <a:custGeom>
            <a:avLst/>
            <a:gdLst/>
            <a:ahLst/>
            <a:cxnLst/>
            <a:rect l="l" t="t" r="r" b="b"/>
            <a:pathLst>
              <a:path w="3175" h="228600">
                <a:moveTo>
                  <a:pt x="0" y="228600"/>
                </a:moveTo>
                <a:lnTo>
                  <a:pt x="3048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8" name="object 8"/>
          <p:cNvSpPr/>
          <p:nvPr/>
        </p:nvSpPr>
        <p:spPr>
          <a:xfrm>
            <a:off x="8619948" y="3243909"/>
            <a:ext cx="277252" cy="229450"/>
          </a:xfrm>
          <a:custGeom>
            <a:avLst/>
            <a:gdLst/>
            <a:ahLst/>
            <a:cxnLst/>
            <a:rect l="l" t="t" r="r" b="b"/>
            <a:pathLst>
              <a:path w="276225" h="228600">
                <a:moveTo>
                  <a:pt x="0" y="228600"/>
                </a:moveTo>
                <a:lnTo>
                  <a:pt x="0" y="114300"/>
                </a:lnTo>
                <a:lnTo>
                  <a:pt x="275844" y="114300"/>
                </a:lnTo>
                <a:lnTo>
                  <a:pt x="275844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9" name="object 9"/>
          <p:cNvSpPr/>
          <p:nvPr/>
        </p:nvSpPr>
        <p:spPr>
          <a:xfrm>
            <a:off x="5815307" y="3929199"/>
            <a:ext cx="3187" cy="229450"/>
          </a:xfrm>
          <a:custGeom>
            <a:avLst/>
            <a:gdLst/>
            <a:ahLst/>
            <a:cxnLst/>
            <a:rect l="l" t="t" r="r" b="b"/>
            <a:pathLst>
              <a:path w="3175" h="228600">
                <a:moveTo>
                  <a:pt x="0" y="228600"/>
                </a:moveTo>
                <a:lnTo>
                  <a:pt x="3048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0" name="object 10"/>
          <p:cNvSpPr/>
          <p:nvPr/>
        </p:nvSpPr>
        <p:spPr>
          <a:xfrm>
            <a:off x="3014490" y="3929199"/>
            <a:ext cx="1912" cy="22945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1" name="object 11"/>
          <p:cNvSpPr/>
          <p:nvPr/>
        </p:nvSpPr>
        <p:spPr>
          <a:xfrm>
            <a:off x="3014489" y="3243909"/>
            <a:ext cx="2801200" cy="229450"/>
          </a:xfrm>
          <a:custGeom>
            <a:avLst/>
            <a:gdLst/>
            <a:ahLst/>
            <a:cxnLst/>
            <a:rect l="l" t="t" r="r" b="b"/>
            <a:pathLst>
              <a:path w="2790825" h="228600">
                <a:moveTo>
                  <a:pt x="2790444" y="228600"/>
                </a:moveTo>
                <a:lnTo>
                  <a:pt x="2790444" y="114300"/>
                </a:lnTo>
                <a:lnTo>
                  <a:pt x="1395221" y="114300"/>
                </a:lnTo>
                <a:lnTo>
                  <a:pt x="1395221" y="0"/>
                </a:lnTo>
              </a:path>
              <a:path w="2790825" h="228600">
                <a:moveTo>
                  <a:pt x="0" y="228600"/>
                </a:moveTo>
                <a:lnTo>
                  <a:pt x="0" y="114300"/>
                </a:lnTo>
                <a:lnTo>
                  <a:pt x="1395221" y="114300"/>
                </a:lnTo>
                <a:lnTo>
                  <a:pt x="1395221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12" name="object 12"/>
          <p:cNvSpPr txBox="1"/>
          <p:nvPr/>
        </p:nvSpPr>
        <p:spPr>
          <a:xfrm>
            <a:off x="4628796" y="2103545"/>
            <a:ext cx="2904452" cy="36214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82220" rIns="0" bIns="0" rtlCol="0">
            <a:spAutoFit/>
          </a:bodyPr>
          <a:lstStyle/>
          <a:p>
            <a:pPr marL="395794">
              <a:spcBef>
                <a:spcPts val="647"/>
              </a:spcBef>
            </a:pPr>
            <a:r>
              <a:rPr sz="1807" b="1" dirty="0">
                <a:latin typeface="Arial"/>
                <a:cs typeface="Arial"/>
              </a:rPr>
              <a:t>Left</a:t>
            </a:r>
            <a:r>
              <a:rPr sz="1807" b="1" spc="-30" dirty="0">
                <a:latin typeface="Arial"/>
                <a:cs typeface="Arial"/>
              </a:rPr>
              <a:t> </a:t>
            </a:r>
            <a:r>
              <a:rPr sz="1807" b="1" dirty="0">
                <a:latin typeface="Arial"/>
                <a:cs typeface="Arial"/>
              </a:rPr>
              <a:t>Main</a:t>
            </a:r>
            <a:r>
              <a:rPr sz="1807" b="1" spc="-20" dirty="0">
                <a:latin typeface="Arial"/>
                <a:cs typeface="Arial"/>
              </a:rPr>
              <a:t> </a:t>
            </a:r>
            <a:r>
              <a:rPr sz="1807" b="1" spc="-10" dirty="0">
                <a:latin typeface="Arial"/>
                <a:cs typeface="Arial"/>
              </a:rPr>
              <a:t>Bronchus</a:t>
            </a:r>
            <a:endParaRPr sz="1807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33417" y="2786541"/>
            <a:ext cx="2961815" cy="347793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98791" rIns="0" bIns="0" rtlCol="0">
            <a:spAutoFit/>
          </a:bodyPr>
          <a:lstStyle/>
          <a:p>
            <a:pPr marL="239643">
              <a:spcBef>
                <a:spcPts val="778"/>
              </a:spcBef>
            </a:pPr>
            <a:r>
              <a:rPr sz="1606" b="1" dirty="0">
                <a:latin typeface="Arial"/>
                <a:cs typeface="Arial"/>
              </a:rPr>
              <a:t>Left</a:t>
            </a:r>
            <a:r>
              <a:rPr sz="1606" b="1" spc="-30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upper</a:t>
            </a:r>
            <a:r>
              <a:rPr sz="1606" b="1" spc="-2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lobe</a:t>
            </a:r>
            <a:r>
              <a:rPr sz="1606" b="1" spc="-25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2937" y="3473361"/>
            <a:ext cx="2401575" cy="347793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98791" rIns="0" bIns="0" rtlCol="0">
            <a:spAutoFit/>
          </a:bodyPr>
          <a:lstStyle/>
          <a:p>
            <a:pPr marL="527725">
              <a:spcBef>
                <a:spcPts val="778"/>
              </a:spcBef>
            </a:pPr>
            <a:r>
              <a:rPr sz="1606" b="1" dirty="0">
                <a:latin typeface="Arial"/>
                <a:cs typeface="Arial"/>
              </a:rPr>
              <a:t>Upper</a:t>
            </a:r>
            <a:r>
              <a:rPr sz="1606" b="1" spc="-3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Branch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8796" y="3473361"/>
            <a:ext cx="2386915" cy="347793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98791" rIns="0" bIns="0" rtlCol="0">
            <a:spAutoFit/>
          </a:bodyPr>
          <a:lstStyle/>
          <a:p>
            <a:pPr marL="506056">
              <a:spcBef>
                <a:spcPts val="778"/>
              </a:spcBef>
            </a:pPr>
            <a:r>
              <a:rPr sz="1606" b="1" dirty="0">
                <a:latin typeface="Arial"/>
                <a:cs typeface="Arial"/>
              </a:rPr>
              <a:t>Lower</a:t>
            </a:r>
            <a:r>
              <a:rPr sz="1606" b="1" spc="-25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Branch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2937" y="4158650"/>
            <a:ext cx="2401575" cy="796371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58636" rIns="0" bIns="0" rtlCol="0">
            <a:spAutoFit/>
          </a:bodyPr>
          <a:lstStyle/>
          <a:p>
            <a:pPr>
              <a:spcBef>
                <a:spcPts val="461"/>
              </a:spcBef>
            </a:pPr>
            <a:endParaRPr sz="1606" dirty="0">
              <a:latin typeface="Times New Roman"/>
              <a:cs typeface="Times New Roman"/>
            </a:endParaRPr>
          </a:p>
          <a:p>
            <a:pPr marL="441046" marR="435310" indent="361377">
              <a:lnSpc>
                <a:spcPts val="1917"/>
              </a:lnSpc>
            </a:pPr>
            <a:r>
              <a:rPr sz="1606" b="1" spc="-10" dirty="0">
                <a:latin typeface="Arial"/>
                <a:cs typeface="Arial"/>
              </a:rPr>
              <a:t>Anterior Apico-posterior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28796" y="4158650"/>
            <a:ext cx="2386915" cy="796371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58636" rIns="0" bIns="0" rtlCol="0">
            <a:spAutoFit/>
          </a:bodyPr>
          <a:lstStyle/>
          <a:p>
            <a:pPr>
              <a:spcBef>
                <a:spcPts val="461"/>
              </a:spcBef>
            </a:pPr>
            <a:endParaRPr sz="1606" dirty="0">
              <a:latin typeface="Times New Roman"/>
              <a:cs typeface="Times New Roman"/>
            </a:endParaRPr>
          </a:p>
          <a:p>
            <a:pPr marL="402168" marR="343531" indent="-66922">
              <a:lnSpc>
                <a:spcPts val="1917"/>
              </a:lnSpc>
            </a:pPr>
            <a:r>
              <a:rPr sz="1606" b="1" dirty="0">
                <a:latin typeface="Arial"/>
                <a:cs typeface="Arial"/>
              </a:rPr>
              <a:t>Superior</a:t>
            </a:r>
            <a:r>
              <a:rPr sz="1606" b="1" spc="-4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Lingular </a:t>
            </a:r>
            <a:r>
              <a:rPr sz="1606" b="1" dirty="0">
                <a:latin typeface="Arial"/>
                <a:cs typeface="Arial"/>
              </a:rPr>
              <a:t>Inferior</a:t>
            </a:r>
            <a:r>
              <a:rPr sz="1606" b="1" spc="-9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Lingular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6865" y="2786541"/>
            <a:ext cx="2962452" cy="347793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98791" rIns="0" bIns="0" rtlCol="0">
            <a:spAutoFit/>
          </a:bodyPr>
          <a:lstStyle/>
          <a:p>
            <a:pPr marL="267049">
              <a:spcBef>
                <a:spcPts val="778"/>
              </a:spcBef>
            </a:pPr>
            <a:r>
              <a:rPr sz="1606" b="1" dirty="0">
                <a:latin typeface="Arial"/>
                <a:cs typeface="Arial"/>
              </a:rPr>
              <a:t>Left</a:t>
            </a:r>
            <a:r>
              <a:rPr sz="1606" b="1" spc="-40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lower</a:t>
            </a:r>
            <a:r>
              <a:rPr sz="1606" b="1" spc="-35" dirty="0">
                <a:latin typeface="Arial"/>
                <a:cs typeface="Arial"/>
              </a:rPr>
              <a:t> </a:t>
            </a:r>
            <a:r>
              <a:rPr sz="1606" b="1" dirty="0">
                <a:latin typeface="Arial"/>
                <a:cs typeface="Arial"/>
              </a:rPr>
              <a:t>lobe</a:t>
            </a:r>
            <a:r>
              <a:rPr sz="1606" b="1" spc="-35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bronchus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16865" y="3473361"/>
            <a:ext cx="2401575" cy="347793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98791" rIns="0" bIns="0" rtlCol="0">
            <a:spAutoFit/>
          </a:bodyPr>
          <a:lstStyle/>
          <a:p>
            <a:pPr marL="270236">
              <a:spcBef>
                <a:spcPts val="778"/>
              </a:spcBef>
            </a:pPr>
            <a:r>
              <a:rPr sz="1606" b="1" dirty="0">
                <a:latin typeface="Arial"/>
                <a:cs typeface="Arial"/>
              </a:rPr>
              <a:t>Segmental</a:t>
            </a:r>
            <a:r>
              <a:rPr sz="1606" b="1" spc="-80" dirty="0">
                <a:latin typeface="Arial"/>
                <a:cs typeface="Arial"/>
              </a:rPr>
              <a:t> </a:t>
            </a:r>
            <a:r>
              <a:rPr sz="1606" b="1" spc="-10" dirty="0">
                <a:latin typeface="Arial"/>
                <a:cs typeface="Arial"/>
              </a:rPr>
              <a:t>Bronchi</a:t>
            </a:r>
            <a:endParaRPr sz="1606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16865" y="4158650"/>
            <a:ext cx="2401575" cy="1027091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38242" rIns="0" bIns="0" rtlCol="0">
            <a:spAutoFit/>
          </a:bodyPr>
          <a:lstStyle/>
          <a:p>
            <a:pPr marL="751435" marR="746974" algn="ctr">
              <a:spcBef>
                <a:spcPts val="301"/>
              </a:spcBef>
            </a:pPr>
            <a:r>
              <a:rPr sz="1606" b="1" spc="-10" dirty="0">
                <a:latin typeface="Arial"/>
                <a:cs typeface="Arial"/>
              </a:rPr>
              <a:t>Apical Anterior Posterior Lateral</a:t>
            </a:r>
            <a:endParaRPr sz="160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0186" y="599119"/>
            <a:ext cx="6195144" cy="56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5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F3CD-3A60-ADD0-9406-E36C62FD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diagram of the human lungs&#10;&#10;AI-generated content may be incorrect.">
            <a:extLst>
              <a:ext uri="{FF2B5EF4-FFF2-40B4-BE49-F238E27FC236}">
                <a16:creationId xmlns:a16="http://schemas.microsoft.com/office/drawing/2014/main" id="{FCD828A0-948A-B1E4-3FB9-238E11762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29" y="176547"/>
            <a:ext cx="9209314" cy="6681453"/>
          </a:xfrm>
        </p:spPr>
      </p:pic>
    </p:spTree>
    <p:extLst>
      <p:ext uri="{BB962C8B-B14F-4D97-AF65-F5344CB8AC3E}">
        <p14:creationId xmlns:p14="http://schemas.microsoft.com/office/powerpoint/2010/main" val="4112580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A299-2FFC-1687-AC05-AEF471DF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9249"/>
            <a:ext cx="11582400" cy="1001731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PLEURA &amp; PLEURAL CAVITIES</a:t>
            </a:r>
            <a:br>
              <a:rPr lang="en-GB" dirty="0"/>
            </a:br>
            <a:endParaRPr lang="en-GB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044778D-7F3A-B818-86CC-C1FE2585694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8774" y="1243173"/>
            <a:ext cx="11558426" cy="545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0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B94E-1C38-0383-5124-4A2183F5D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5" y="365125"/>
            <a:ext cx="11640620" cy="1042435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b="1" dirty="0"/>
            </a:br>
            <a:r>
              <a:rPr lang="en-GB" b="1" dirty="0"/>
              <a:t>BLOOD SUPPLY AND INNERVATION</a:t>
            </a:r>
            <a:br>
              <a:rPr lang="en-GB" dirty="0"/>
            </a:br>
            <a:r>
              <a:rPr lang="en-GB" b="1" dirty="0"/>
              <a:t>Artery supply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FEB5-0188-7AE3-7D5B-79C4598F2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4" y="1592494"/>
            <a:ext cx="11743362" cy="5085707"/>
          </a:xfrm>
        </p:spPr>
        <p:txBody>
          <a:bodyPr>
            <a:normAutofit/>
          </a:bodyPr>
          <a:lstStyle/>
          <a:p>
            <a:r>
              <a:rPr lang="en-GB" sz="3200" dirty="0"/>
              <a:t>On the right side is one bronchial artery which may arise either from third posterior intercostal artery or from the upper left bronchial artery</a:t>
            </a:r>
          </a:p>
          <a:p>
            <a:endParaRPr lang="en-GB" sz="3200" dirty="0"/>
          </a:p>
          <a:p>
            <a:r>
              <a:rPr lang="en-GB" sz="3200" dirty="0"/>
              <a:t>On the left side are two bronchial arteries both of which arise from the descending thoracic aorta</a:t>
            </a:r>
          </a:p>
          <a:p>
            <a:endParaRPr lang="en-GB" sz="3200" dirty="0"/>
          </a:p>
          <a:p>
            <a:r>
              <a:rPr lang="en-GB" sz="3200" dirty="0"/>
              <a:t>There are precapillary anastomoses between bronchial and pulmonary arteries. These connections enlarge when any one of them is obstructed in disease</a:t>
            </a:r>
          </a:p>
        </p:txBody>
      </p:sp>
    </p:spTree>
    <p:extLst>
      <p:ext uri="{BB962C8B-B14F-4D97-AF65-F5344CB8AC3E}">
        <p14:creationId xmlns:p14="http://schemas.microsoft.com/office/powerpoint/2010/main" val="1669204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462D-8FD4-9089-27BE-DFE9C111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365125"/>
            <a:ext cx="11620072" cy="949967"/>
          </a:xfrm>
        </p:spPr>
        <p:txBody>
          <a:bodyPr/>
          <a:lstStyle/>
          <a:p>
            <a:r>
              <a:rPr lang="en-GB" b="1" dirty="0"/>
              <a:t>Venous drainage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3BFBA-EF4D-B05D-EA1B-0DE24281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12" y="1109608"/>
            <a:ext cx="11781034" cy="5548045"/>
          </a:xfrm>
        </p:spPr>
        <p:txBody>
          <a:bodyPr>
            <a:normAutofit/>
          </a:bodyPr>
          <a:lstStyle/>
          <a:p>
            <a:r>
              <a:rPr lang="en-GB" sz="3200" dirty="0"/>
              <a:t>Usually, there are two bronchial veins on each side, the right bronchial vein drains into the azygous vein</a:t>
            </a:r>
          </a:p>
          <a:p>
            <a:endParaRPr lang="en-GB" sz="3200" dirty="0"/>
          </a:p>
          <a:p>
            <a:r>
              <a:rPr lang="en-GB" sz="3200" dirty="0"/>
              <a:t>The left bronchial vein drains into the left superior intercostal vein or into the hemi-azygous vein</a:t>
            </a:r>
          </a:p>
          <a:p>
            <a:endParaRPr lang="en-GB" sz="3200" dirty="0"/>
          </a:p>
          <a:p>
            <a:r>
              <a:rPr lang="en-GB" sz="3200" dirty="0"/>
              <a:t>The greater part of the venous blood from the lung is drained by the pulmonary veins and sometimes the left atrium</a:t>
            </a:r>
          </a:p>
        </p:txBody>
      </p:sp>
    </p:spTree>
    <p:extLst>
      <p:ext uri="{BB962C8B-B14F-4D97-AF65-F5344CB8AC3E}">
        <p14:creationId xmlns:p14="http://schemas.microsoft.com/office/powerpoint/2010/main" val="2172528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810B-13DA-51DF-C382-84C36A14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82193"/>
            <a:ext cx="11148317" cy="976045"/>
          </a:xfrm>
        </p:spPr>
        <p:txBody>
          <a:bodyPr>
            <a:normAutofit/>
          </a:bodyPr>
          <a:lstStyle/>
          <a:p>
            <a:r>
              <a:rPr lang="en-GB" b="1" dirty="0"/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7DAFF-9F73-504D-F55C-8ECA50835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976044"/>
            <a:ext cx="11781034" cy="5691883"/>
          </a:xfrm>
        </p:spPr>
        <p:txBody>
          <a:bodyPr>
            <a:normAutofit fontScale="92500" lnSpcReduction="20000"/>
          </a:bodyPr>
          <a:lstStyle/>
          <a:p>
            <a:r>
              <a:rPr lang="en-GB" sz="3500" dirty="0"/>
              <a:t>Visceral afferent and efferent are distributed through the anterior pulmonary plexus and posterior pulmonary plexus </a:t>
            </a:r>
          </a:p>
          <a:p>
            <a:endParaRPr lang="en-GB" sz="3500" dirty="0"/>
          </a:p>
          <a:p>
            <a:r>
              <a:rPr lang="en-GB" sz="3500" dirty="0"/>
              <a:t>The parasympathetic nerves are derived from the vagus nerve</a:t>
            </a:r>
          </a:p>
          <a:p>
            <a:endParaRPr lang="en-GB" sz="3500" dirty="0"/>
          </a:p>
          <a:p>
            <a:r>
              <a:rPr lang="en-GB" sz="3500" dirty="0"/>
              <a:t>These fibres are </a:t>
            </a:r>
          </a:p>
          <a:p>
            <a:r>
              <a:rPr lang="en-GB" sz="3500" dirty="0"/>
              <a:t>Motor to the bronchial muscle and, on stimulation, causes bronchospasm</a:t>
            </a:r>
          </a:p>
          <a:p>
            <a:endParaRPr lang="en-GB" sz="3500" dirty="0"/>
          </a:p>
          <a:p>
            <a:r>
              <a:rPr lang="en-GB" sz="3500" dirty="0"/>
              <a:t>Secretomotor to the mucous gland of the bronchial tree</a:t>
            </a:r>
          </a:p>
          <a:p>
            <a:endParaRPr lang="en-GB" sz="3500" dirty="0"/>
          </a:p>
          <a:p>
            <a:r>
              <a:rPr lang="en-GB" sz="3500" dirty="0"/>
              <a:t>The sensory fibres are responsible for the stretch reflex of the lungs and for the cough reflex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286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A2E0-F9B6-1A3E-89C0-27365D19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12" y="184935"/>
            <a:ext cx="11199688" cy="1078787"/>
          </a:xfrm>
        </p:spPr>
        <p:txBody>
          <a:bodyPr/>
          <a:lstStyle/>
          <a:p>
            <a:r>
              <a:rPr lang="en-GB" b="1" dirty="0"/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B5D8-072B-962C-0146-0DB1AB15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031" y="1119883"/>
            <a:ext cx="11811857" cy="5553182"/>
          </a:xfrm>
        </p:spPr>
        <p:txBody>
          <a:bodyPr>
            <a:normAutofit/>
          </a:bodyPr>
          <a:lstStyle/>
          <a:p>
            <a:r>
              <a:rPr lang="en-GB" sz="3600" dirty="0"/>
              <a:t>The sympathetic nerves are derived from the second to fifth spinal segments of the sympathetic trunk</a:t>
            </a:r>
          </a:p>
          <a:p>
            <a:endParaRPr lang="en-GB" sz="3600" dirty="0"/>
          </a:p>
          <a:p>
            <a:r>
              <a:rPr lang="en-GB" sz="3600" dirty="0"/>
              <a:t>These are inhibitory to the smooth muscles and glands of the bronchial tree</a:t>
            </a:r>
          </a:p>
          <a:p>
            <a:endParaRPr lang="en-GB" sz="3600" dirty="0"/>
          </a:p>
          <a:p>
            <a:r>
              <a:rPr lang="en-GB" sz="3600" dirty="0"/>
              <a:t>This is how sympathomimetic drugs like adrenaline cause </a:t>
            </a:r>
            <a:r>
              <a:rPr lang="en-GB" sz="3600" dirty="0" err="1"/>
              <a:t>bronchiodilatation</a:t>
            </a:r>
            <a:r>
              <a:rPr lang="en-GB" sz="3600" dirty="0"/>
              <a:t> and relieve symptoms of bronchial asthma</a:t>
            </a:r>
          </a:p>
        </p:txBody>
      </p:sp>
    </p:spTree>
    <p:extLst>
      <p:ext uri="{BB962C8B-B14F-4D97-AF65-F5344CB8AC3E}">
        <p14:creationId xmlns:p14="http://schemas.microsoft.com/office/powerpoint/2010/main" val="1113100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0238-5965-2F9F-63CD-26218C9A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Lymphatic drainage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A490B-6A6D-504C-4A47-5830E9DFE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Superficial and deep lymphatics of the lung drain into lymph nodes called tracheobronchial nodes around the root of the lobar and main bronchi, and along the sides of the trachea</a:t>
            </a:r>
          </a:p>
          <a:p>
            <a:endParaRPr lang="en-GB" dirty="0"/>
          </a:p>
          <a:p>
            <a:r>
              <a:rPr lang="en-GB" dirty="0"/>
              <a:t>The subsequently drain into the right and left </a:t>
            </a:r>
            <a:r>
              <a:rPr lang="en-GB" dirty="0" err="1"/>
              <a:t>bronchomediastinal</a:t>
            </a:r>
            <a:r>
              <a:rPr lang="en-GB" dirty="0"/>
              <a:t> trunk and ultimately into the right lymphatic trunk or thoracic duct</a:t>
            </a:r>
          </a:p>
        </p:txBody>
      </p:sp>
    </p:spTree>
    <p:extLst>
      <p:ext uri="{BB962C8B-B14F-4D97-AF65-F5344CB8AC3E}">
        <p14:creationId xmlns:p14="http://schemas.microsoft.com/office/powerpoint/2010/main" val="3044104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757" y="365125"/>
            <a:ext cx="11620072" cy="1325563"/>
          </a:xfrm>
        </p:spPr>
        <p:txBody>
          <a:bodyPr/>
          <a:lstStyle/>
          <a:p>
            <a:r>
              <a:rPr lang="en-GB" b="1" dirty="0"/>
              <a:t>VARIATIONS &amp; ANATOMICAL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757" y="1469204"/>
            <a:ext cx="11760486" cy="5023671"/>
          </a:xfrm>
        </p:spPr>
        <p:txBody>
          <a:bodyPr/>
          <a:lstStyle/>
          <a:p>
            <a:r>
              <a:rPr dirty="0"/>
              <a:t> </a:t>
            </a:r>
            <a:r>
              <a:rPr sz="3600" dirty="0"/>
              <a:t>Fissure completeness variations</a:t>
            </a:r>
            <a:endParaRPr lang="en-US" sz="3600" dirty="0"/>
          </a:p>
          <a:p>
            <a:endParaRPr lang="en-US" sz="3600" dirty="0"/>
          </a:p>
          <a:p>
            <a:endParaRPr sz="3600" dirty="0"/>
          </a:p>
          <a:p>
            <a:r>
              <a:rPr sz="3600" dirty="0"/>
              <a:t> Differences in children vs adults</a:t>
            </a:r>
            <a:endParaRPr lang="en-US" sz="3600" dirty="0"/>
          </a:p>
          <a:p>
            <a:endParaRPr lang="en-US" sz="3600" dirty="0"/>
          </a:p>
          <a:p>
            <a:endParaRPr sz="3600" dirty="0"/>
          </a:p>
          <a:p>
            <a:r>
              <a:rPr sz="3600" dirty="0"/>
              <a:t> Size and weight differences, pathology effects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EA11-C676-A23E-A528-0B9844D4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CLINICAL IMPLICATIONS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2539-EC98-B977-AE75-77CBDA8437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Relevance in surgical resections (segmentectomy, lobectomy and pneumonectomy)</a:t>
            </a:r>
          </a:p>
          <a:p>
            <a:endParaRPr lang="en-GB" dirty="0"/>
          </a:p>
          <a:p>
            <a:r>
              <a:rPr lang="en-GB" dirty="0"/>
              <a:t> Interpretation of radiological images</a:t>
            </a:r>
          </a:p>
          <a:p>
            <a:endParaRPr lang="en-GB" dirty="0"/>
          </a:p>
          <a:p>
            <a:r>
              <a:rPr lang="en-GB" dirty="0"/>
              <a:t> Disease spread and airway obstruction implications</a:t>
            </a:r>
          </a:p>
          <a:p>
            <a:pPr lvl="1"/>
            <a:r>
              <a:rPr lang="en-GB" dirty="0"/>
              <a:t>Pleural effusion</a:t>
            </a:r>
          </a:p>
          <a:p>
            <a:pPr lvl="1"/>
            <a:r>
              <a:rPr lang="en-GB" dirty="0"/>
              <a:t>Pneumonia</a:t>
            </a:r>
          </a:p>
          <a:p>
            <a:pPr lvl="1"/>
            <a:r>
              <a:rPr lang="en-GB" dirty="0"/>
              <a:t>Bronchial asthma, COPD</a:t>
            </a:r>
          </a:p>
          <a:p>
            <a:pPr lvl="1"/>
            <a:r>
              <a:rPr lang="en-GB" dirty="0"/>
              <a:t>Pulmonary tuberculosis</a:t>
            </a:r>
          </a:p>
          <a:p>
            <a:pPr lvl="1"/>
            <a:r>
              <a:rPr lang="en-GB" dirty="0"/>
              <a:t>Lung cancer</a:t>
            </a:r>
          </a:p>
          <a:p>
            <a:endParaRPr lang="en-GB" dirty="0"/>
          </a:p>
        </p:txBody>
      </p:sp>
      <p:pic>
        <p:nvPicPr>
          <p:cNvPr id="6" name="Content Placeholder 5" descr="A x-ray of a chest&#10;&#10;AI-generated content may be incorrect.">
            <a:extLst>
              <a:ext uri="{FF2B5EF4-FFF2-40B4-BE49-F238E27FC236}">
                <a16:creationId xmlns:a16="http://schemas.microsoft.com/office/drawing/2014/main" id="{419F8452-B83E-A66B-5AA8-1418D6A4B7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177" y="1335640"/>
            <a:ext cx="4671596" cy="4530904"/>
          </a:xfrm>
        </p:spPr>
      </p:pic>
    </p:spTree>
    <p:extLst>
      <p:ext uri="{BB962C8B-B14F-4D97-AF65-F5344CB8AC3E}">
        <p14:creationId xmlns:p14="http://schemas.microsoft.com/office/powerpoint/2010/main" val="630784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677" y="221287"/>
            <a:ext cx="11392756" cy="1083531"/>
          </a:xfrm>
        </p:spPr>
        <p:txBody>
          <a:bodyPr/>
          <a:lstStyle/>
          <a:p>
            <a:r>
              <a:rPr lang="en-GB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76" y="1546850"/>
            <a:ext cx="11743362" cy="4997788"/>
          </a:xfrm>
        </p:spPr>
        <p:txBody>
          <a:bodyPr>
            <a:normAutofit/>
          </a:bodyPr>
          <a:lstStyle/>
          <a:p>
            <a:r>
              <a:rPr sz="3600" dirty="0"/>
              <a:t> Key features: lobes, fissures, segments, pleura, blood supply</a:t>
            </a:r>
            <a:endParaRPr lang="en-US" sz="3600" dirty="0"/>
          </a:p>
          <a:p>
            <a:endParaRPr lang="en-US" sz="3600" dirty="0"/>
          </a:p>
          <a:p>
            <a:endParaRPr sz="3600" dirty="0"/>
          </a:p>
          <a:p>
            <a:r>
              <a:rPr sz="3600" dirty="0"/>
              <a:t> Clinical and surgical importance</a:t>
            </a:r>
            <a:endParaRPr lang="en-US" sz="3600" dirty="0"/>
          </a:p>
          <a:p>
            <a:endParaRPr lang="en-US" sz="3600" dirty="0"/>
          </a:p>
          <a:p>
            <a:endParaRPr sz="3600" dirty="0"/>
          </a:p>
          <a:p>
            <a:r>
              <a:rPr sz="3600" dirty="0"/>
              <a:t> Understanding anatomy improves patient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1707</Words>
  <Application>Microsoft Office PowerPoint</Application>
  <PresentationFormat>Widescreen</PresentationFormat>
  <Paragraphs>367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MT</vt:lpstr>
      <vt:lpstr>Calibri</vt:lpstr>
      <vt:lpstr>Calibri Light</vt:lpstr>
      <vt:lpstr>Cambria</vt:lpstr>
      <vt:lpstr>Courier New</vt:lpstr>
      <vt:lpstr>Times New Roman</vt:lpstr>
      <vt:lpstr>Office Theme</vt:lpstr>
      <vt:lpstr> GROSS ANATOMY OF THE LUNG</vt:lpstr>
      <vt:lpstr>OUTLINE</vt:lpstr>
      <vt:lpstr>INTRODUCTION</vt:lpstr>
      <vt:lpstr> EXTERNAL MORPHOLOGY </vt:lpstr>
      <vt:lpstr>Apex </vt:lpstr>
      <vt:lpstr>SURFACE </vt:lpstr>
      <vt:lpstr>BORDERS</vt:lpstr>
      <vt:lpstr> INFERIOR BORDER </vt:lpstr>
      <vt:lpstr>ROOT AND HILUM OF THE LUNG </vt:lpstr>
      <vt:lpstr>Structures located within each root at the hilum</vt:lpstr>
      <vt:lpstr>Right Lung Medial View</vt:lpstr>
      <vt:lpstr>Left Lung Medial View</vt:lpstr>
      <vt:lpstr>  Arrangement of Structures in the Root           Right Side  </vt:lpstr>
      <vt:lpstr>Arrangement of Structures in the Root            Left Side</vt:lpstr>
      <vt:lpstr>LOBES &amp; FISSURES</vt:lpstr>
      <vt:lpstr>FISSURE </vt:lpstr>
      <vt:lpstr>BRONCHIAL TREE</vt:lpstr>
      <vt:lpstr>PowerPoint Presentation</vt:lpstr>
      <vt:lpstr>Trachea</vt:lpstr>
      <vt:lpstr>Trachea and Major Bronchi Anterior View</vt:lpstr>
      <vt:lpstr>Intrapulmonaiy Airways Schema Srnooth muscle</vt:lpstr>
      <vt:lpstr>BRONCHOPULMONARY SEGMENTS</vt:lpstr>
      <vt:lpstr>BRONCHOPULMONARY SEGMENTS</vt:lpstr>
      <vt:lpstr>BRONCHOPULMONARY SEGMENTS</vt:lpstr>
      <vt:lpstr>BRONCHOPULMONARY SEGMENTS</vt:lpstr>
      <vt:lpstr>PowerPoint Presentation</vt:lpstr>
      <vt:lpstr>PowerPoint Presentation</vt:lpstr>
      <vt:lpstr>PLEURA &amp; PLEURAL CAVITIES </vt:lpstr>
      <vt:lpstr>  BLOOD SUPPLY AND INNERVATION Artery supply  </vt:lpstr>
      <vt:lpstr>Venous drainage</vt:lpstr>
      <vt:lpstr>Nerve supply</vt:lpstr>
      <vt:lpstr>Nerve supply</vt:lpstr>
      <vt:lpstr>Lymphatic drainage</vt:lpstr>
      <vt:lpstr>VARIATIONS &amp; ANATOMICAL CONSIDERATIONS</vt:lpstr>
      <vt:lpstr>CLINICAL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Rotimi Oso</dc:creator>
  <cp:lastModifiedBy>Rotimi Oso</cp:lastModifiedBy>
  <cp:revision>36</cp:revision>
  <dcterms:created xsi:type="dcterms:W3CDTF">2025-09-21T12:35:26Z</dcterms:created>
  <dcterms:modified xsi:type="dcterms:W3CDTF">2025-09-21T22:23:04Z</dcterms:modified>
</cp:coreProperties>
</file>