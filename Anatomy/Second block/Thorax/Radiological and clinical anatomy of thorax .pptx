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4" d="100"/>
          <a:sy n="64" d="100"/>
        </p:scale>
        <p:origin x="6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08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5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9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3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5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7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07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87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6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36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1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95516-C307-4792-87E0-DE6E75EA9D3F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D76D7-4A85-4F38-A045-1D402766B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6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Radiological and Clinical Anatomy of Thorax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DR OMOTAYO H 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6208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baseline="0" dirty="0" smtClean="0">
                <a:latin typeface="font00000000202bb2ed"/>
              </a:rPr>
              <a:t>1. Identify </a:t>
            </a:r>
            <a:r>
              <a:rPr lang="en-GB" b="0" i="0" u="none" strike="noStrike" baseline="0" dirty="0" smtClean="0">
                <a:latin typeface="font00000000202bb2ed"/>
              </a:rPr>
              <a:t>the bones of the thoracic cage.</a:t>
            </a:r>
          </a:p>
          <a:p>
            <a:r>
              <a:rPr lang="en-GB" b="0" i="0" u="none" strike="noStrike" baseline="0" dirty="0" smtClean="0">
                <a:latin typeface="font00000000202bb2ed"/>
              </a:rPr>
              <a:t>2- Identify superficial soft tissues.</a:t>
            </a:r>
          </a:p>
          <a:p>
            <a:r>
              <a:rPr lang="en-GB" b="0" i="0" u="none" strike="noStrike" baseline="0" dirty="0" smtClean="0">
                <a:latin typeface="font00000000202bb2ed"/>
              </a:rPr>
              <a:t>3- Identify the trachea and lung fields.</a:t>
            </a:r>
          </a:p>
          <a:p>
            <a:r>
              <a:rPr lang="en-GB" b="0" i="0" u="none" strike="noStrike" baseline="0" dirty="0" smtClean="0">
                <a:latin typeface="font00000000202bb2ed"/>
              </a:rPr>
              <a:t>4- Describe the mediastinum and the cardiac shadows.</a:t>
            </a:r>
          </a:p>
          <a:p>
            <a:r>
              <a:rPr lang="en-GB" b="0" i="0" u="none" strike="noStrike" baseline="0" dirty="0" smtClean="0">
                <a:latin typeface="font00000000202bb2ed"/>
              </a:rPr>
              <a:t>5- Describe brief knowledge about </a:t>
            </a:r>
            <a:r>
              <a:rPr lang="en-GB" b="0" i="0" u="none" strike="noStrike" baseline="0" dirty="0" err="1" smtClean="0">
                <a:latin typeface="font00000000202bb2ed"/>
              </a:rPr>
              <a:t>Bronchography</a:t>
            </a:r>
            <a:r>
              <a:rPr lang="en-GB" b="0" i="0" u="none" strike="noStrike" baseline="0" dirty="0" smtClean="0">
                <a:latin typeface="font00000000202bb2ed"/>
              </a:rPr>
              <a:t>.</a:t>
            </a:r>
          </a:p>
          <a:p>
            <a:r>
              <a:rPr lang="en-GB" b="0" i="0" u="none" strike="noStrike" baseline="0" dirty="0" smtClean="0">
                <a:latin typeface="font00000000202bb2ed"/>
              </a:rPr>
              <a:t>6- Describe brief knowledge about Coronary Angiography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27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5800"/>
          </a:xfrm>
        </p:spPr>
        <p:txBody>
          <a:bodyPr>
            <a:normAutofit fontScale="90000"/>
          </a:bodyPr>
          <a:lstStyle/>
          <a:p>
            <a:pPr marL="228600" lvl="0" indent="-228600">
              <a:spcBef>
                <a:spcPts val="1000"/>
              </a:spcBef>
            </a:pPr>
            <a:r>
              <a:rPr lang="en-US" sz="5100" dirty="0">
                <a:solidFill>
                  <a:srgbClr val="000000"/>
                </a:solidFill>
                <a:latin typeface="font00000000202bb2ed"/>
              </a:rPr>
              <a:t>Radiography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" y="685801"/>
            <a:ext cx="12011025" cy="6029323"/>
          </a:xfrm>
        </p:spPr>
        <p:txBody>
          <a:bodyPr>
            <a:normAutofit fontScale="55000" lnSpcReduction="20000"/>
          </a:bodyPr>
          <a:lstStyle/>
          <a:p>
            <a:r>
              <a:rPr lang="en-US" sz="51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Indications for chest X-ray</a:t>
            </a:r>
            <a:r>
              <a:rPr lang="en-US" sz="4400" b="0" i="0" u="none" strike="noStrike" dirty="0" smtClean="0">
                <a:solidFill>
                  <a:srgbClr val="000000"/>
                </a:solidFill>
                <a:latin typeface="font00000000202bb2ed"/>
              </a:rPr>
              <a:t>                                                </a:t>
            </a:r>
          </a:p>
          <a:p>
            <a:pPr marL="0" indent="0">
              <a:buNone/>
            </a:pPr>
            <a:r>
              <a:rPr lang="en-GB" sz="36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•A </a:t>
            </a:r>
            <a:r>
              <a:rPr lang="en-GB" sz="4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chest x-ray may be used to </a:t>
            </a:r>
            <a:r>
              <a:rPr lang="en-GB" sz="40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diagnose </a:t>
            </a:r>
            <a:r>
              <a:rPr lang="en-GB" sz="4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and </a:t>
            </a:r>
            <a:r>
              <a:rPr lang="en-GB" sz="40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plan</a:t>
            </a:r>
            <a:r>
              <a:rPr lang="en-GB" sz="4000" b="0" i="0" u="none" strike="noStrike" dirty="0" smtClean="0">
                <a:solidFill>
                  <a:srgbClr val="FF0000"/>
                </a:solidFill>
                <a:latin typeface="font00000000202bb2ed"/>
              </a:rPr>
              <a:t> </a:t>
            </a:r>
            <a:r>
              <a:rPr lang="en-GB" sz="40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treatment </a:t>
            </a:r>
            <a:r>
              <a:rPr lang="en-GB" sz="4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for various conditions, including:</a:t>
            </a:r>
          </a:p>
          <a:p>
            <a:pPr marL="0" indent="0">
              <a:buNone/>
            </a:pPr>
            <a:r>
              <a:rPr lang="en-US" sz="4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</a:t>
            </a:r>
            <a:r>
              <a:rPr lang="en-US" sz="4500" b="0" i="0" u="none" strike="noStrike" baseline="0" dirty="0" smtClean="0">
                <a:solidFill>
                  <a:srgbClr val="31869D"/>
                </a:solidFill>
                <a:latin typeface="font00000000202bb2ed"/>
              </a:rPr>
              <a:t>1-Disease/Fractures of the   </a:t>
            </a:r>
            <a:r>
              <a:rPr lang="en-US" sz="4500" b="0" i="0" u="none" strike="noStrike" dirty="0" smtClean="0">
                <a:solidFill>
                  <a:srgbClr val="31869D"/>
                </a:solidFill>
                <a:latin typeface="font00000000202bb2ed"/>
              </a:rPr>
              <a:t> </a:t>
            </a:r>
            <a:r>
              <a:rPr lang="en-US" sz="4500" b="0" i="0" u="none" strike="noStrike" baseline="0" dirty="0" smtClean="0">
                <a:solidFill>
                  <a:srgbClr val="31869D"/>
                </a:solidFill>
                <a:latin typeface="font00000000202bb2ed"/>
              </a:rPr>
              <a:t>2- lung disorders        3- Heart disorders                                                        </a:t>
            </a:r>
          </a:p>
          <a:p>
            <a:r>
              <a:rPr lang="en-US" sz="4000" b="0" i="0" u="none" strike="noStrike" baseline="0" dirty="0" smtClean="0">
                <a:latin typeface="font00000000202bb2ed"/>
              </a:rPr>
              <a:t>bones of the chest                   pneumonia            </a:t>
            </a:r>
            <a:r>
              <a:rPr lang="en-US" sz="4000" dirty="0" smtClean="0">
                <a:solidFill>
                  <a:srgbClr val="000000"/>
                </a:solidFill>
                <a:latin typeface="font00000000202bb2ed"/>
              </a:rPr>
              <a:t>cardiomegaly</a:t>
            </a:r>
            <a:r>
              <a:rPr lang="en-US" sz="4000" dirty="0">
                <a:solidFill>
                  <a:srgbClr val="000000"/>
                </a:solidFill>
                <a:latin typeface="font00000000202bb2ed"/>
              </a:rPr>
              <a:t>/ heart </a:t>
            </a:r>
            <a:r>
              <a:rPr lang="en-US" sz="4000" dirty="0" smtClean="0">
                <a:solidFill>
                  <a:srgbClr val="000000"/>
                </a:solidFill>
                <a:latin typeface="font00000000202bb2ed"/>
              </a:rPr>
              <a:t>enlargement</a:t>
            </a:r>
            <a:endParaRPr lang="en-US" sz="4000" b="0" i="0" u="none" strike="noStrike" baseline="0" dirty="0" smtClean="0">
              <a:latin typeface="font00000000202bb2ed"/>
            </a:endParaRPr>
          </a:p>
          <a:p>
            <a:pPr marL="0" indent="0">
              <a:buNone/>
            </a:pPr>
            <a:r>
              <a:rPr lang="en-US" sz="4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Ribs                                           emphysema              </a:t>
            </a:r>
            <a:r>
              <a:rPr lang="en-US" sz="4000" dirty="0" smtClean="0">
                <a:solidFill>
                  <a:prstClr val="black"/>
                </a:solidFill>
                <a:latin typeface="font00000000202bb2ed"/>
              </a:rPr>
              <a:t>congestive </a:t>
            </a:r>
            <a:r>
              <a:rPr lang="en-US" sz="4000" dirty="0">
                <a:solidFill>
                  <a:prstClr val="black"/>
                </a:solidFill>
                <a:latin typeface="font00000000202bb2ed"/>
              </a:rPr>
              <a:t>heart failure</a:t>
            </a:r>
            <a:endParaRPr lang="en-US" sz="4000" b="0" i="0" u="none" strike="noStrike" baseline="0" dirty="0" smtClean="0">
              <a:solidFill>
                <a:srgbClr val="000000"/>
              </a:solidFill>
              <a:latin typeface="font00000000202bb2ed"/>
            </a:endParaRPr>
          </a:p>
          <a:p>
            <a:r>
              <a:rPr lang="en-US" sz="4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 Sternum                                  atelectasis</a:t>
            </a:r>
          </a:p>
          <a:p>
            <a:r>
              <a:rPr lang="en-US" sz="4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Vertebrae                                 pleural effusion</a:t>
            </a:r>
          </a:p>
          <a:p>
            <a:r>
              <a:rPr lang="en-US" sz="4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 Clavicle                                   tuberculosis</a:t>
            </a:r>
          </a:p>
          <a:p>
            <a:r>
              <a:rPr lang="en-US" sz="4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Scapula                                    lung</a:t>
            </a:r>
            <a:r>
              <a:rPr lang="en-US" sz="4000" b="0" i="0" u="none" strike="noStrike" dirty="0" smtClean="0">
                <a:solidFill>
                  <a:srgbClr val="000000"/>
                </a:solidFill>
                <a:latin typeface="font00000000202bb2ed"/>
              </a:rPr>
              <a:t> cancer</a:t>
            </a:r>
          </a:p>
          <a:p>
            <a:pPr lvl="0"/>
            <a:endParaRPr lang="en-GB" sz="4500" dirty="0" smtClean="0">
              <a:solidFill>
                <a:srgbClr val="000000"/>
              </a:solidFill>
              <a:latin typeface="font00000000202bb2ed"/>
            </a:endParaRPr>
          </a:p>
          <a:p>
            <a:pPr lvl="0"/>
            <a:r>
              <a:rPr lang="en-GB" sz="4500" dirty="0" smtClean="0">
                <a:solidFill>
                  <a:srgbClr val="000000"/>
                </a:solidFill>
                <a:latin typeface="font00000000202bb2ed"/>
              </a:rPr>
              <a:t>4- Chest </a:t>
            </a:r>
            <a:r>
              <a:rPr lang="en-GB" sz="4500" dirty="0">
                <a:solidFill>
                  <a:srgbClr val="000000"/>
                </a:solidFill>
                <a:latin typeface="font00000000202bb2ed"/>
              </a:rPr>
              <a:t>radiographs are also used to screen for </a:t>
            </a:r>
            <a:r>
              <a:rPr lang="en-GB" sz="4500" dirty="0" smtClean="0">
                <a:solidFill>
                  <a:srgbClr val="FF0000"/>
                </a:solidFill>
                <a:latin typeface="font00000000202bb2ed"/>
              </a:rPr>
              <a:t>job-related lung </a:t>
            </a:r>
            <a:r>
              <a:rPr lang="en-GB" sz="4500" dirty="0">
                <a:solidFill>
                  <a:srgbClr val="FF0000"/>
                </a:solidFill>
                <a:latin typeface="font00000000202bb2ed"/>
              </a:rPr>
              <a:t>diseases </a:t>
            </a:r>
            <a:r>
              <a:rPr lang="en-GB" sz="4500" dirty="0">
                <a:solidFill>
                  <a:srgbClr val="000000"/>
                </a:solidFill>
                <a:latin typeface="font00000000202bb2ed"/>
              </a:rPr>
              <a:t>in industries such as mining where workers are </a:t>
            </a:r>
            <a:r>
              <a:rPr lang="en-US" sz="4500" dirty="0">
                <a:solidFill>
                  <a:srgbClr val="000000"/>
                </a:solidFill>
                <a:latin typeface="font00000000202bb2ed"/>
              </a:rPr>
              <a:t>exposed to dust,</a:t>
            </a:r>
            <a:r>
              <a:rPr lang="en-GB" sz="4500" dirty="0">
                <a:solidFill>
                  <a:srgbClr val="000000"/>
                </a:solidFill>
                <a:latin typeface="font00000000202bb2ed"/>
              </a:rPr>
              <a:t>example of diseases: Asbestosis, silicosis</a:t>
            </a:r>
          </a:p>
          <a:p>
            <a:pPr lvl="0"/>
            <a:endParaRPr lang="en-GB" sz="4500" dirty="0" smtClean="0">
              <a:solidFill>
                <a:srgbClr val="000000"/>
              </a:solidFill>
              <a:latin typeface="font00000000202bb2ed"/>
            </a:endParaRPr>
          </a:p>
          <a:p>
            <a:pPr lvl="0"/>
            <a:r>
              <a:rPr lang="en-GB" sz="4500" dirty="0" smtClean="0">
                <a:solidFill>
                  <a:srgbClr val="000000"/>
                </a:solidFill>
                <a:latin typeface="font00000000202bb2ed"/>
              </a:rPr>
              <a:t>5- Chest </a:t>
            </a:r>
            <a:r>
              <a:rPr lang="en-GB" sz="4500" dirty="0">
                <a:solidFill>
                  <a:srgbClr val="000000"/>
                </a:solidFill>
                <a:latin typeface="font00000000202bb2ed"/>
              </a:rPr>
              <a:t>x-ray is also requested as </a:t>
            </a:r>
            <a:r>
              <a:rPr lang="en-GB" sz="4500" dirty="0">
                <a:solidFill>
                  <a:srgbClr val="FF0000"/>
                </a:solidFill>
                <a:latin typeface="font00000000202bb2ed"/>
              </a:rPr>
              <a:t>pre-employment demand</a:t>
            </a:r>
            <a:r>
              <a:rPr lang="en-GB" sz="4500" dirty="0">
                <a:solidFill>
                  <a:srgbClr val="000000"/>
                </a:solidFill>
                <a:latin typeface="font00000000202bb2ed"/>
              </a:rPr>
              <a:t>.</a:t>
            </a:r>
          </a:p>
          <a:p>
            <a:endParaRPr lang="en-US" sz="3500" b="0" i="0" u="none" strike="noStrike" baseline="0" dirty="0" smtClean="0">
              <a:solidFill>
                <a:srgbClr val="000000"/>
              </a:solidFill>
              <a:latin typeface="font00000000202bb2ed"/>
            </a:endParaRPr>
          </a:p>
        </p:txBody>
      </p:sp>
    </p:spTree>
    <p:extLst>
      <p:ext uri="{BB962C8B-B14F-4D97-AF65-F5344CB8AC3E}">
        <p14:creationId xmlns:p14="http://schemas.microsoft.com/office/powerpoint/2010/main" val="416824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 dirty="0" smtClean="0">
                <a:latin typeface="font00000000202bb2ed"/>
              </a:rPr>
              <a:t>Radiography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8660" y="1927225"/>
            <a:ext cx="5298461" cy="4351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88291" y="1771357"/>
            <a:ext cx="510770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Different views of the chest can be obtained by: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Changing the orientation of the body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The direction of the x-ray beams.</a:t>
            </a:r>
          </a:p>
          <a:p>
            <a:r>
              <a:rPr lang="en-GB" sz="28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The most common views are: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1- </a:t>
            </a:r>
            <a:r>
              <a:rPr lang="en-US" sz="2800" b="0" i="0" u="none" strike="noStrike" baseline="0" dirty="0" err="1" smtClean="0">
                <a:solidFill>
                  <a:srgbClr val="000000"/>
                </a:solidFill>
                <a:latin typeface="font00000000202bb2ed"/>
              </a:rPr>
              <a:t>Posteroanterior</a:t>
            </a:r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 (PA).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2- </a:t>
            </a:r>
            <a:r>
              <a:rPr lang="en-US" sz="2800" b="0" i="0" u="none" strike="noStrike" baseline="0" dirty="0" err="1" smtClean="0">
                <a:solidFill>
                  <a:srgbClr val="000000"/>
                </a:solidFill>
                <a:latin typeface="font00000000202bb2ed"/>
              </a:rPr>
              <a:t>Anteroposterior</a:t>
            </a:r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 (AP).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3- Lateral (L).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4- Decubitus.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968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1964"/>
          </a:xfrm>
        </p:spPr>
        <p:txBody>
          <a:bodyPr>
            <a:normAutofit/>
          </a:bodyPr>
          <a:lstStyle/>
          <a:p>
            <a:r>
              <a:rPr lang="en-GB" dirty="0" smtClean="0"/>
              <a:t>Radiography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85925" y="946683"/>
            <a:ext cx="2235020" cy="2475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925" y="3900226"/>
            <a:ext cx="2161130" cy="27591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790193"/>
            <a:ext cx="70958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 smtClean="0">
                <a:solidFill>
                  <a:srgbClr val="CDA777"/>
                </a:solidFill>
                <a:latin typeface="font00000000202bb2ed"/>
              </a:rPr>
              <a:t>Anteroposterior</a:t>
            </a:r>
            <a:r>
              <a:rPr lang="en-US" sz="2800" b="0" i="0" u="none" strike="noStrike" baseline="0" dirty="0" smtClean="0">
                <a:solidFill>
                  <a:srgbClr val="CDA777"/>
                </a:solidFill>
                <a:latin typeface="font00000000202bb2ed"/>
              </a:rPr>
              <a:t> (AP) view: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The x-rays enter through the anterior aspect and exit through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the posterior aspect of the chest.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AP chest x-rays are done where it is difficult for the patient to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obtain a normal chest x-ray, such as when the patient cannot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get out of bed.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● </a:t>
            </a:r>
            <a:r>
              <a:rPr lang="en-GB" sz="2800" b="0" i="0" u="none" strike="noStrike" baseline="0" dirty="0" smtClean="0">
                <a:solidFill>
                  <a:srgbClr val="CDA777"/>
                </a:solidFill>
                <a:latin typeface="font00000000202bb2ed"/>
              </a:rPr>
              <a:t>Lateral view </a:t>
            </a:r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Indicated only for further interpretation*.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● </a:t>
            </a:r>
            <a:r>
              <a:rPr lang="en-GB" sz="2800" b="0" i="0" u="none" strike="noStrike" baseline="0" dirty="0" smtClean="0">
                <a:solidFill>
                  <a:srgbClr val="CDA777"/>
                </a:solidFill>
                <a:latin typeface="font00000000202bb2ed"/>
              </a:rPr>
              <a:t>Decubitus</a:t>
            </a:r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: lying at the side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137727"/>
            <a:ext cx="2826327" cy="16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1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365"/>
            <a:ext cx="3687618" cy="67425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Radiography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2911" y="92365"/>
            <a:ext cx="4286250" cy="34245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2910" y="3645838"/>
            <a:ext cx="4212071" cy="3115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7382" y="1341843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0" i="0" u="none" strike="noStrike" baseline="0" dirty="0" err="1" smtClean="0">
                <a:solidFill>
                  <a:srgbClr val="CDA777"/>
                </a:solidFill>
                <a:latin typeface="font00000000202bb2ed"/>
              </a:rPr>
              <a:t>Posteroanterior</a:t>
            </a:r>
            <a:r>
              <a:rPr lang="en-US" sz="2400" b="0" i="0" u="none" strike="noStrike" baseline="0" dirty="0" smtClean="0">
                <a:solidFill>
                  <a:srgbClr val="CDA777"/>
                </a:solidFill>
                <a:latin typeface="font00000000202bb2ed"/>
              </a:rPr>
              <a:t> (PA) view: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The x-rays enter through the posterior aspect of the chest, and exit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out of the anterior aspect where they are detected by an x-ray film.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PA view gives a good assessment of the </a:t>
            </a:r>
            <a:r>
              <a:rPr lang="en-GB" sz="24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Cardiac Size*</a:t>
            </a:r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.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It avoids magnification of the heart as the film is close to the anterior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chest wall.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It is identified by the presence of the </a:t>
            </a:r>
            <a:r>
              <a:rPr lang="en-GB" sz="24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fundal** gas bubble </a:t>
            </a:r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and the</a:t>
            </a:r>
          </a:p>
          <a:p>
            <a:r>
              <a:rPr lang="en-GB" sz="24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absence of the scapulae </a:t>
            </a:r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in the lung fields.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065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5239327" cy="1025236"/>
          </a:xfrm>
        </p:spPr>
        <p:txBody>
          <a:bodyPr>
            <a:normAutofit/>
          </a:bodyPr>
          <a:lstStyle/>
          <a:p>
            <a:r>
              <a:rPr lang="en-GB" dirty="0" smtClean="0"/>
              <a:t>Radiography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8437" y="1136073"/>
            <a:ext cx="5486400" cy="485832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295691"/>
            <a:ext cx="532938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 smtClean="0">
                <a:solidFill>
                  <a:srgbClr val="CDA777"/>
                </a:solidFill>
                <a:latin typeface="font00000000202bb2ed"/>
              </a:rPr>
              <a:t>Posteroanterior</a:t>
            </a:r>
            <a:r>
              <a:rPr lang="en-US" sz="2800" b="0" i="0" u="none" strike="noStrike" baseline="0" dirty="0" smtClean="0">
                <a:solidFill>
                  <a:srgbClr val="CDA777"/>
                </a:solidFill>
                <a:latin typeface="font00000000202bb2ed"/>
              </a:rPr>
              <a:t> radiograph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the following structures must be examined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➔ Superficial soft tissues: Nipples in both sexes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and the Breast in (females) are seen</a:t>
            </a:r>
          </a:p>
          <a:p>
            <a:r>
              <a:rPr lang="en-GB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superimposed on the lung fields.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➔ Bones of thoracic cage.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➔ Diaphragm .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➔ Lungs and Bronchi.</a:t>
            </a:r>
          </a:p>
          <a:p>
            <a:r>
              <a:rPr lang="en-US" sz="28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➔ Heart &amp; Great Vessels.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181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81" y="101601"/>
            <a:ext cx="11656291" cy="1496290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GB" sz="4000" dirty="0">
                <a:solidFill>
                  <a:srgbClr val="000000"/>
                </a:solidFill>
                <a:latin typeface="font00000000202bb2ed"/>
              </a:rPr>
              <a:t>Posteroanterior radiograph (Bones of thoracic cage)</a:t>
            </a:r>
            <a:br>
              <a:rPr lang="en-GB" sz="4000" dirty="0">
                <a:solidFill>
                  <a:srgbClr val="000000"/>
                </a:solidFill>
                <a:latin typeface="font00000000202bb2ed"/>
              </a:rPr>
            </a:br>
            <a:endParaRPr lang="en-US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7461" y="1966414"/>
            <a:ext cx="3434830" cy="36018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5061" y="1471539"/>
            <a:ext cx="37407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Thoracic vertebrae:</a:t>
            </a:r>
          </a:p>
          <a:p>
            <a:r>
              <a:rPr lang="en-GB" sz="2000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The Thoracic Vertebrae are imperfectly</a:t>
            </a:r>
            <a:r>
              <a:rPr lang="en-GB" sz="2000" b="0" i="0" u="none" strike="noStrike" dirty="0" smtClean="0">
                <a:solidFill>
                  <a:srgbClr val="D6A7BE"/>
                </a:solidFill>
                <a:latin typeface="font00000000202bb2ed"/>
              </a:rPr>
              <a:t> </a:t>
            </a:r>
            <a:r>
              <a:rPr lang="en-US" sz="2000" b="0" i="0" u="none" strike="noStrike" baseline="0" dirty="0" smtClean="0">
                <a:solidFill>
                  <a:srgbClr val="B8B8B8"/>
                </a:solidFill>
                <a:latin typeface="font00000000202bb2ed"/>
              </a:rPr>
              <a:t>(not clearly) </a:t>
            </a:r>
            <a:r>
              <a:rPr lang="en-US" sz="2000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seen.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Anterior ribs</a:t>
            </a:r>
          </a:p>
          <a:p>
            <a:endParaRPr lang="en-US" sz="2000" b="0" i="0" u="none" strike="noStrike" baseline="0" dirty="0" smtClean="0">
              <a:solidFill>
                <a:srgbClr val="000000"/>
              </a:solidFill>
              <a:latin typeface="font00000000202bb2e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 err="1" smtClean="0">
                <a:solidFill>
                  <a:srgbClr val="000000"/>
                </a:solidFill>
                <a:latin typeface="font00000000202bb2ed"/>
              </a:rPr>
              <a:t>Costo</a:t>
            </a:r>
            <a:r>
              <a:rPr lang="en-US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-transverse joints</a:t>
            </a:r>
          </a:p>
          <a:p>
            <a:r>
              <a:rPr lang="en-GB" sz="2000" b="0" i="0" u="none" strike="noStrike" baseline="0" dirty="0" err="1" smtClean="0">
                <a:solidFill>
                  <a:srgbClr val="D6A7BE"/>
                </a:solidFill>
                <a:latin typeface="font00000000202bb2ed"/>
              </a:rPr>
              <a:t>Costo</a:t>
            </a:r>
            <a:r>
              <a:rPr lang="en-GB" sz="2000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-transverse joints and each </a:t>
            </a:r>
            <a:r>
              <a:rPr lang="en-GB" sz="2000" b="0" i="1" u="none" strike="noStrike" baseline="0" dirty="0" smtClean="0">
                <a:solidFill>
                  <a:srgbClr val="D6A7BE"/>
                </a:solidFill>
                <a:latin typeface="font00000000202bb2ed"/>
              </a:rPr>
              <a:t>Rib</a:t>
            </a:r>
          </a:p>
          <a:p>
            <a:r>
              <a:rPr lang="en-GB" sz="2000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should be examined in order. From</a:t>
            </a:r>
            <a:r>
              <a:rPr lang="en-GB" sz="2000" b="0" i="0" u="none" strike="noStrike" dirty="0" smtClean="0">
                <a:solidFill>
                  <a:srgbClr val="D6A7BE"/>
                </a:solidFill>
                <a:latin typeface="font00000000202bb2ed"/>
              </a:rPr>
              <a:t> </a:t>
            </a:r>
            <a:r>
              <a:rPr lang="en-GB" sz="2000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above downward and compared to</a:t>
            </a:r>
            <a:r>
              <a:rPr lang="en-GB" sz="2000" b="0" i="0" u="none" strike="noStrike" dirty="0" smtClean="0">
                <a:solidFill>
                  <a:srgbClr val="D6A7BE"/>
                </a:solidFill>
                <a:latin typeface="font00000000202bb2ed"/>
              </a:rPr>
              <a:t> </a:t>
            </a:r>
            <a:r>
              <a:rPr lang="en-GB" sz="2000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their fellows of the opposite side </a:t>
            </a:r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.</a:t>
            </a:r>
          </a:p>
          <a:p>
            <a:r>
              <a:rPr lang="en-US" sz="2000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Costal Cartilages:</a:t>
            </a:r>
          </a:p>
          <a:p>
            <a:r>
              <a:rPr lang="en-GB" sz="2000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are not usually seen, but if</a:t>
            </a:r>
          </a:p>
          <a:p>
            <a:r>
              <a:rPr lang="en-GB" sz="2000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calcified, they will be visible.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i="0" u="none" strike="noStrike" baseline="0" dirty="0" smtClean="0">
                <a:latin typeface="font00000000202bb2ed"/>
              </a:rPr>
              <a:t>Posterior ribs</a:t>
            </a:r>
          </a:p>
          <a:p>
            <a:endParaRPr lang="ar-AE" sz="1600" b="0" i="0" u="none" strike="noStrike" baseline="0" dirty="0" smtClean="0">
              <a:solidFill>
                <a:srgbClr val="434343"/>
              </a:solidFill>
              <a:latin typeface="font00000000202bb2e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35636" y="2275103"/>
            <a:ext cx="415636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solidFill>
                  <a:srgbClr val="000000"/>
                </a:solidFill>
                <a:latin typeface="font00000000202bb2ed"/>
              </a:rPr>
              <a:t>Clavicles:</a:t>
            </a:r>
          </a:p>
          <a:p>
            <a:pPr lvl="0"/>
            <a:r>
              <a:rPr lang="en-GB" sz="2000" dirty="0">
                <a:solidFill>
                  <a:srgbClr val="D6A7BE"/>
                </a:solidFill>
                <a:latin typeface="font00000000202bb2ed"/>
              </a:rPr>
              <a:t>Are seen clearly crossing the</a:t>
            </a:r>
          </a:p>
          <a:p>
            <a:pPr lvl="0"/>
            <a:r>
              <a:rPr lang="en-GB" sz="2000" dirty="0">
                <a:solidFill>
                  <a:srgbClr val="D6A7BE"/>
                </a:solidFill>
                <a:latin typeface="font00000000202bb2ed"/>
              </a:rPr>
              <a:t>upper part of each lung field.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font00000000202bb2ed"/>
              </a:rPr>
              <a:t>Medial border of the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  <a:latin typeface="font00000000202bb2ed"/>
              </a:rPr>
              <a:t>scapula:</a:t>
            </a:r>
          </a:p>
          <a:p>
            <a:pPr lvl="0"/>
            <a:r>
              <a:rPr lang="en-GB" sz="2000" dirty="0">
                <a:solidFill>
                  <a:srgbClr val="D6A7BE"/>
                </a:solidFill>
                <a:latin typeface="font00000000202bb2ed"/>
              </a:rPr>
              <a:t>may overlap the periphery of</a:t>
            </a:r>
          </a:p>
          <a:p>
            <a:pPr lvl="0"/>
            <a:r>
              <a:rPr lang="en-US" sz="2000" dirty="0">
                <a:solidFill>
                  <a:srgbClr val="D6A7BE"/>
                </a:solidFill>
                <a:latin typeface="font00000000202bb2ed"/>
              </a:rPr>
              <a:t>each lung field.</a:t>
            </a:r>
          </a:p>
          <a:p>
            <a:pPr lvl="0"/>
            <a:r>
              <a:rPr lang="en-US" sz="2000" dirty="0">
                <a:solidFill>
                  <a:srgbClr val="666666"/>
                </a:solidFill>
                <a:latin typeface="font00000000202bb2ed"/>
              </a:rPr>
              <a:t>Extra for better</a:t>
            </a:r>
          </a:p>
          <a:p>
            <a:pPr lvl="0"/>
            <a:r>
              <a:rPr lang="en-US" sz="2000" dirty="0">
                <a:solidFill>
                  <a:srgbClr val="666666"/>
                </a:solidFill>
                <a:latin typeface="font00000000202bb2ed"/>
              </a:rPr>
              <a:t>understanding :</a:t>
            </a:r>
          </a:p>
          <a:p>
            <a:pPr lvl="0"/>
            <a:r>
              <a:rPr lang="en-US" sz="2000" dirty="0" err="1">
                <a:solidFill>
                  <a:srgbClr val="666666"/>
                </a:solidFill>
                <a:latin typeface="font00000000202bb2ed"/>
              </a:rPr>
              <a:t>costotransverse</a:t>
            </a:r>
            <a:r>
              <a:rPr lang="en-US" sz="2000" dirty="0">
                <a:solidFill>
                  <a:srgbClr val="666666"/>
                </a:solidFill>
                <a:latin typeface="font00000000202bb2ed"/>
              </a:rPr>
              <a:t> joint :The</a:t>
            </a:r>
          </a:p>
          <a:p>
            <a:pPr lvl="0"/>
            <a:r>
              <a:rPr lang="en-US" sz="2000" dirty="0">
                <a:solidFill>
                  <a:srgbClr val="666666"/>
                </a:solidFill>
                <a:latin typeface="font00000000202bb2ed"/>
              </a:rPr>
              <a:t>joint between the</a:t>
            </a:r>
          </a:p>
          <a:p>
            <a:pPr lvl="0"/>
            <a:r>
              <a:rPr lang="en-US" sz="2000" dirty="0">
                <a:solidFill>
                  <a:srgbClr val="666666"/>
                </a:solidFill>
                <a:latin typeface="font00000000202bb2ed"/>
              </a:rPr>
              <a:t>transverse process and the</a:t>
            </a:r>
          </a:p>
          <a:p>
            <a:pPr lvl="0"/>
            <a:r>
              <a:rPr lang="en-GB" sz="2000" dirty="0">
                <a:solidFill>
                  <a:srgbClr val="666666"/>
                </a:solidFill>
                <a:latin typeface="font00000000202bb2ed"/>
              </a:rPr>
              <a:t>head of the ribs (tubercle)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2364512" y="1727202"/>
            <a:ext cx="3380506" cy="942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176655" y="2992582"/>
            <a:ext cx="1062181" cy="535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6585527" y="2456873"/>
            <a:ext cx="1524000" cy="216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065425" y="2656528"/>
            <a:ext cx="2848869" cy="503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3223491" y="3260436"/>
            <a:ext cx="2216727" cy="64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2142836" y="4719782"/>
            <a:ext cx="2613891" cy="1648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89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3825"/>
            <a:ext cx="10515600" cy="862553"/>
          </a:xfrm>
        </p:spPr>
        <p:txBody>
          <a:bodyPr>
            <a:normAutofit/>
          </a:bodyPr>
          <a:lstStyle/>
          <a:p>
            <a:r>
              <a:rPr lang="en-US" b="0" i="0" u="none" strike="noStrike" baseline="0" dirty="0" err="1" smtClean="0">
                <a:latin typeface="font00000000202bb2ed"/>
              </a:rPr>
              <a:t>Posteroanterior</a:t>
            </a:r>
            <a:r>
              <a:rPr lang="en-US" b="0" i="0" u="none" strike="noStrike" baseline="0" dirty="0" smtClean="0">
                <a:latin typeface="font00000000202bb2ed"/>
              </a:rPr>
              <a:t> radiograph (Diaphragm)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150" y="1922796"/>
            <a:ext cx="3932960" cy="4067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8285" y="2790222"/>
            <a:ext cx="374419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0" i="1" u="none" strike="noStrike" baseline="0" dirty="0" smtClean="0">
                <a:solidFill>
                  <a:srgbClr val="000000"/>
                </a:solidFill>
                <a:latin typeface="font00000000202bb2ed"/>
              </a:rPr>
              <a:t>The right dome </a:t>
            </a:r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is slightly higher than the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left dome</a:t>
            </a:r>
            <a:r>
              <a:rPr lang="en-GB" sz="2000" b="0" i="0" u="none" strike="noStrike" baseline="0" dirty="0" smtClean="0">
                <a:solidFill>
                  <a:srgbClr val="666666"/>
                </a:solidFill>
                <a:latin typeface="font00000000202bb2ed"/>
              </a:rPr>
              <a:t>. (if they were equal this suggest a pathology)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Beneath the right dome is the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homogeneous, dense shadow of the </a:t>
            </a:r>
            <a:r>
              <a:rPr lang="en-GB" sz="2000" b="0" i="1" u="none" strike="noStrike" baseline="0" dirty="0" smtClean="0">
                <a:solidFill>
                  <a:srgbClr val="C10000"/>
                </a:solidFill>
                <a:latin typeface="font00000000202bb2ed"/>
              </a:rPr>
              <a:t>liver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8562110" y="3133528"/>
            <a:ext cx="34203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0" i="0" u="none" strike="noStrike" baseline="0" dirty="0" smtClean="0">
                <a:latin typeface="font00000000202bb2ed"/>
              </a:rPr>
              <a:t>Beneath the </a:t>
            </a:r>
            <a:r>
              <a:rPr lang="en-GB" sz="2000" b="0" i="1" u="none" strike="noStrike" baseline="0" dirty="0" smtClean="0">
                <a:latin typeface="font00000000202bb2ed"/>
              </a:rPr>
              <a:t>left dome </a:t>
            </a:r>
            <a:r>
              <a:rPr lang="en-GB" sz="2000" b="0" i="0" u="none" strike="noStrike" baseline="0" dirty="0" smtClean="0">
                <a:latin typeface="font00000000202bb2ed"/>
              </a:rPr>
              <a:t>a gas bubble</a:t>
            </a:r>
            <a:r>
              <a:rPr lang="en-GB" sz="2000" b="0" i="0" u="none" strike="noStrike" dirty="0" smtClean="0">
                <a:latin typeface="font00000000202bb2ed"/>
              </a:rPr>
              <a:t> </a:t>
            </a:r>
            <a:r>
              <a:rPr lang="en-GB" sz="2000" b="0" i="0" u="none" strike="noStrike" baseline="0" dirty="0" smtClean="0">
                <a:latin typeface="font00000000202bb2ed"/>
              </a:rPr>
              <a:t>maybe seen in the </a:t>
            </a:r>
            <a:r>
              <a:rPr lang="en-GB" sz="2000" b="0" i="1" u="none" strike="noStrike" baseline="0" dirty="0" smtClean="0">
                <a:latin typeface="font00000000202bb2ed"/>
              </a:rPr>
              <a:t>fundus of the</a:t>
            </a:r>
          </a:p>
          <a:p>
            <a:r>
              <a:rPr lang="en-US" sz="2000" b="0" i="1" u="none" strike="noStrike" baseline="0" dirty="0" smtClean="0">
                <a:latin typeface="font00000000202bb2ed"/>
              </a:rPr>
              <a:t>stomach.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5886450" y="549117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0" i="0" u="none" strike="noStrike" baseline="0" dirty="0" smtClean="0">
                <a:latin typeface="font00000000202bb2ed"/>
              </a:rPr>
              <a:t>Gas bubble in the</a:t>
            </a:r>
          </a:p>
          <a:p>
            <a:r>
              <a:rPr lang="en-US" sz="1400" b="0" i="0" u="none" strike="noStrike" baseline="0" dirty="0" smtClean="0">
                <a:latin typeface="font00000000202bb2ed"/>
              </a:rPr>
              <a:t>fundus of stomach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1429186" y="1232792"/>
            <a:ext cx="93137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The diaphragm appears as a </a:t>
            </a:r>
            <a:r>
              <a:rPr lang="en-GB" sz="24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Dome-shaped </a:t>
            </a:r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shadows on each side</a:t>
            </a:r>
            <a:r>
              <a:rPr lang="en-GB" sz="1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.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400925" y="569595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7362826" y="5457825"/>
            <a:ext cx="828674" cy="190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flipH="1">
            <a:off x="5360669" y="4886325"/>
            <a:ext cx="716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RD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 flipH="1">
            <a:off x="7967663" y="4964697"/>
            <a:ext cx="5944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LD</a:t>
            </a:r>
            <a:endParaRPr lang="en-US" sz="2000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4267200" y="4295775"/>
            <a:ext cx="1093469" cy="990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8011391" y="3913606"/>
            <a:ext cx="672553" cy="1372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36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 dirty="0" err="1" smtClean="0">
                <a:latin typeface="font00000000202bb2ed"/>
              </a:rPr>
              <a:t>Posteroanterior</a:t>
            </a:r>
            <a:r>
              <a:rPr lang="en-US" b="0" i="0" u="none" strike="noStrike" baseline="0" dirty="0" smtClean="0">
                <a:latin typeface="font00000000202bb2ed"/>
              </a:rPr>
              <a:t> radiograph (Diaphragm)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9709" y="1921164"/>
            <a:ext cx="4553527" cy="42856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51345" y="1840668"/>
            <a:ext cx="52831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 err="1" smtClean="0">
                <a:solidFill>
                  <a:srgbClr val="CDA777"/>
                </a:solidFill>
                <a:latin typeface="font00000000202bb2ed"/>
              </a:rPr>
              <a:t>Costo</a:t>
            </a:r>
            <a:r>
              <a:rPr lang="en-US" sz="2400" b="0" i="0" u="none" strike="noStrike" baseline="0" dirty="0" smtClean="0">
                <a:solidFill>
                  <a:srgbClr val="CDA777"/>
                </a:solidFill>
                <a:latin typeface="font00000000202bb2ed"/>
              </a:rPr>
              <a:t>-diaphragmatic (</a:t>
            </a:r>
            <a:r>
              <a:rPr lang="en-US" sz="2400" b="0" i="0" u="none" strike="noStrike" baseline="0" dirty="0" err="1" smtClean="0">
                <a:solidFill>
                  <a:srgbClr val="CDA777"/>
                </a:solidFill>
                <a:latin typeface="font00000000202bb2ed"/>
              </a:rPr>
              <a:t>costo</a:t>
            </a:r>
            <a:r>
              <a:rPr lang="en-US" sz="2400" b="0" i="0" u="none" strike="noStrike" baseline="0" dirty="0" smtClean="0">
                <a:solidFill>
                  <a:srgbClr val="CDA777"/>
                </a:solidFill>
                <a:latin typeface="font00000000202bb2ed"/>
              </a:rPr>
              <a:t>-phrenic)</a:t>
            </a:r>
          </a:p>
          <a:p>
            <a:r>
              <a:rPr lang="en-US" sz="2400" b="0" i="0" u="none" strike="noStrike" baseline="0" dirty="0" smtClean="0">
                <a:solidFill>
                  <a:srgbClr val="CDA777"/>
                </a:solidFill>
                <a:latin typeface="font00000000202bb2ed"/>
              </a:rPr>
              <a:t>Angles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They are at the sites where the diaphragm</a:t>
            </a:r>
            <a:r>
              <a:rPr lang="en-GB" sz="2400" b="0" i="0" u="none" strike="noStrike" dirty="0" smtClean="0">
                <a:solidFill>
                  <a:srgbClr val="000000"/>
                </a:solidFill>
                <a:latin typeface="font00000000202bb2ed"/>
              </a:rPr>
              <a:t> </a:t>
            </a:r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meets the thoracic wall. </a:t>
            </a:r>
            <a:r>
              <a:rPr lang="en-GB" sz="2400" b="0" i="0" u="none" strike="noStrike" baseline="0" dirty="0" smtClean="0">
                <a:solidFill>
                  <a:srgbClr val="B8B8B8"/>
                </a:solidFill>
                <a:latin typeface="font00000000202bb2ed"/>
              </a:rPr>
              <a:t>Forming an acute</a:t>
            </a:r>
            <a:r>
              <a:rPr lang="en-GB" sz="2400" b="0" i="0" u="none" strike="noStrike" dirty="0" smtClean="0">
                <a:solidFill>
                  <a:srgbClr val="B8B8B8"/>
                </a:solidFill>
                <a:latin typeface="font00000000202bb2ed"/>
              </a:rPr>
              <a:t> </a:t>
            </a:r>
            <a:r>
              <a:rPr lang="en-US" sz="2400" b="0" i="0" u="none" strike="noStrike" baseline="0" dirty="0" smtClean="0">
                <a:solidFill>
                  <a:srgbClr val="B8B8B8"/>
                </a:solidFill>
                <a:latin typeface="font00000000202bb2ed"/>
              </a:rPr>
              <a:t>angle.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•The angles become blunt </a:t>
            </a:r>
            <a:r>
              <a:rPr lang="en-US" sz="2400" b="0" i="0" u="none" strike="noStrike" baseline="0" dirty="0" smtClean="0">
                <a:solidFill>
                  <a:srgbClr val="666666"/>
                </a:solidFill>
                <a:latin typeface="font00000000202bb2ed"/>
              </a:rPr>
              <a:t>(obtuse,</a:t>
            </a:r>
            <a:r>
              <a:rPr lang="en-US" sz="2400" b="0" i="0" u="none" strike="noStrike" dirty="0" smtClean="0">
                <a:solidFill>
                  <a:srgbClr val="666666"/>
                </a:solidFill>
                <a:latin typeface="font00000000202bb2ed"/>
              </a:rPr>
              <a:t> </a:t>
            </a:r>
            <a:r>
              <a:rPr lang="en-GB" sz="2400" b="0" i="0" u="none" strike="noStrike" baseline="0" dirty="0" smtClean="0">
                <a:solidFill>
                  <a:srgbClr val="666666"/>
                </a:solidFill>
                <a:latin typeface="font00000000202bb2ed"/>
              </a:rPr>
              <a:t>not sharp) </a:t>
            </a:r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or obscured</a:t>
            </a:r>
            <a:r>
              <a:rPr lang="en-GB" sz="2400" b="0" i="0" u="none" strike="noStrike" dirty="0" smtClean="0">
                <a:solidFill>
                  <a:srgbClr val="000000"/>
                </a:solidFill>
                <a:latin typeface="font00000000202bb2ed"/>
              </a:rPr>
              <a:t> </a:t>
            </a:r>
            <a:r>
              <a:rPr lang="en-GB" sz="2400" b="0" i="0" u="none" strike="noStrike" baseline="0" dirty="0" smtClean="0">
                <a:solidFill>
                  <a:srgbClr val="666666"/>
                </a:solidFill>
                <a:latin typeface="font00000000202bb2ed"/>
              </a:rPr>
              <a:t>(unnoticeable) </a:t>
            </a:r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in case</a:t>
            </a:r>
            <a:r>
              <a:rPr lang="en-GB" sz="2400" b="0" i="0" u="none" strike="noStrike" dirty="0" smtClean="0">
                <a:solidFill>
                  <a:srgbClr val="000000"/>
                </a:solidFill>
                <a:latin typeface="font00000000202bb2ed"/>
              </a:rPr>
              <a:t> </a:t>
            </a:r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of presence of </a:t>
            </a:r>
            <a:r>
              <a:rPr lang="en-GB" sz="2400" b="0" i="1" u="none" strike="noStrike" baseline="0" dirty="0" smtClean="0">
                <a:solidFill>
                  <a:srgbClr val="C10000"/>
                </a:solidFill>
                <a:latin typeface="font00000000202bb2ed"/>
              </a:rPr>
              <a:t>pleural fluid or fibrosis</a:t>
            </a:r>
          </a:p>
          <a:p>
            <a:r>
              <a:rPr lang="en-US" sz="2400" b="0" i="0" u="none" strike="noStrike" baseline="0" dirty="0" err="1" smtClean="0">
                <a:solidFill>
                  <a:srgbClr val="CDA777"/>
                </a:solidFill>
                <a:latin typeface="font00000000202bb2ed"/>
              </a:rPr>
              <a:t>Cardiophrenic</a:t>
            </a:r>
            <a:r>
              <a:rPr lang="en-US" sz="2400" b="0" i="0" u="none" strike="noStrike" baseline="0" dirty="0" smtClean="0">
                <a:solidFill>
                  <a:srgbClr val="CDA777"/>
                </a:solidFill>
                <a:latin typeface="font00000000202bb2ed"/>
              </a:rPr>
              <a:t> Angle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where the diaphragm meet the heart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467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601"/>
            <a:ext cx="4094018" cy="905164"/>
          </a:xfrm>
        </p:spPr>
        <p:txBody>
          <a:bodyPr>
            <a:normAutofit/>
          </a:bodyPr>
          <a:lstStyle/>
          <a:p>
            <a:r>
              <a:rPr lang="en-US" b="0" i="0" u="none" strike="noStrike" baseline="0" dirty="0" smtClean="0">
                <a:latin typeface="font00000000202bb2ed"/>
              </a:rPr>
              <a:t>Trachea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6446" y="55418"/>
            <a:ext cx="3252300" cy="34082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446" y="3463636"/>
            <a:ext cx="3360828" cy="33943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1092369"/>
            <a:ext cx="69549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The radio-translucent, air-filled shadow of the trachea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is seen in the </a:t>
            </a:r>
            <a:r>
              <a:rPr lang="en-GB" sz="24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midline of the neck as a dark area.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It is superimposed on the lower cervical and upper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thoracic vertebrae.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554182" y="4233998"/>
            <a:ext cx="786938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</a:t>
            </a:r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Tracheal air column is seen shifted to right on X-ray chest PA view.</a:t>
            </a:r>
          </a:p>
          <a:p>
            <a:r>
              <a:rPr lang="en-US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It indicates: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- A loss of volume of the right upper lobe of the lung, either due to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collapse or fibrosis. </a:t>
            </a:r>
            <a:r>
              <a:rPr lang="en-GB" sz="2000" b="0" i="0" u="none" strike="noStrike" baseline="0" dirty="0" smtClean="0">
                <a:solidFill>
                  <a:srgbClr val="9A9A9A"/>
                </a:solidFill>
                <a:latin typeface="font00000000202bb2ed"/>
              </a:rPr>
              <a:t>(will shift to the right)</a:t>
            </a:r>
          </a:p>
          <a:p>
            <a:r>
              <a:rPr lang="en-US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OR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A massive pleural effusion </a:t>
            </a:r>
            <a:r>
              <a:rPr lang="en-GB" sz="2000" b="0" i="0" u="none" strike="noStrike" baseline="0" dirty="0" smtClean="0">
                <a:solidFill>
                  <a:srgbClr val="9A9A9A"/>
                </a:solidFill>
                <a:latin typeface="font00000000202bb2ed"/>
              </a:rPr>
              <a:t>(will shift to the left) </a:t>
            </a:r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on the left side.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(But in this x ray, no pleural effusion is seen on the left)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1218714" y="3603056"/>
            <a:ext cx="2864246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500" b="0" i="0" u="none" strike="noStrike" baseline="0" dirty="0" smtClean="0">
                <a:latin typeface="font00000000202bb2ed"/>
              </a:rPr>
              <a:t>Tracheal shift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436" y="-175490"/>
            <a:ext cx="3066473" cy="1200726"/>
          </a:xfrm>
        </p:spPr>
        <p:txBody>
          <a:bodyPr>
            <a:normAutofit/>
          </a:bodyPr>
          <a:lstStyle/>
          <a:p>
            <a:r>
              <a:rPr lang="en-US" b="0" i="0" u="none" strike="noStrike" baseline="0" dirty="0" smtClean="0">
                <a:latin typeface="font00000000202bb2ed"/>
              </a:rPr>
              <a:t>Lung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9817" y="120074"/>
            <a:ext cx="3223491" cy="31773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16" y="3559927"/>
            <a:ext cx="3223491" cy="31063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2436" y="1105196"/>
            <a:ext cx="6077529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 smtClean="0">
                <a:solidFill>
                  <a:srgbClr val="A71C00"/>
                </a:solidFill>
                <a:latin typeface="font00000000202bb2ed"/>
              </a:rPr>
              <a:t>Lung roots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*Relatively dense shadows caused by the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presence of the blood- filled pulmonary and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bronchial vessels, the large bronchi, and the</a:t>
            </a:r>
          </a:p>
          <a:p>
            <a:r>
              <a:rPr lang="en-US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lymph nodes.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*Notice that the lower margin of left hilum lies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at the level of the upper margin of right hilum.</a:t>
            </a:r>
          </a:p>
          <a:p>
            <a:r>
              <a:rPr lang="en-US" sz="2000" b="0" i="0" u="none" strike="noStrike" baseline="0" dirty="0" smtClean="0">
                <a:solidFill>
                  <a:srgbClr val="A71C00"/>
                </a:solidFill>
                <a:latin typeface="font00000000202bb2ed"/>
              </a:rPr>
              <a:t>Lung fields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by virtue of the air they contain, readily permit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the passage of x-rays. For this reason, the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lungs are </a:t>
            </a:r>
            <a:r>
              <a:rPr lang="en-GB" sz="20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more translucent </a:t>
            </a:r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on full</a:t>
            </a:r>
          </a:p>
          <a:p>
            <a:r>
              <a:rPr lang="en-US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inspiration than on expiration.</a:t>
            </a:r>
          </a:p>
          <a:p>
            <a:r>
              <a:rPr lang="en-US" sz="2000" b="0" i="0" u="none" strike="noStrike" baseline="0" dirty="0" smtClean="0">
                <a:solidFill>
                  <a:srgbClr val="A71C00"/>
                </a:solidFill>
                <a:latin typeface="font00000000202bb2ed"/>
              </a:rPr>
              <a:t>Pulmonary blood</a:t>
            </a:r>
            <a:r>
              <a:rPr lang="en-US" sz="2000" b="0" i="0" u="none" strike="noStrike" dirty="0" smtClean="0">
                <a:solidFill>
                  <a:srgbClr val="A71C00"/>
                </a:solidFill>
                <a:latin typeface="font00000000202bb2ed"/>
              </a:rPr>
              <a:t> </a:t>
            </a:r>
            <a:r>
              <a:rPr lang="en-US" sz="2000" b="0" i="0" u="none" strike="noStrike" baseline="0" dirty="0" smtClean="0">
                <a:solidFill>
                  <a:srgbClr val="A71C00"/>
                </a:solidFill>
                <a:latin typeface="font00000000202bb2ed"/>
              </a:rPr>
              <a:t>vessels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are seen as series of small, round, white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shadows radiating from the lung root.</a:t>
            </a:r>
          </a:p>
          <a:p>
            <a:r>
              <a:rPr lang="en-US" sz="2000" b="0" i="0" u="none" strike="noStrike" baseline="0" dirty="0" smtClean="0">
                <a:solidFill>
                  <a:srgbClr val="A71C00"/>
                </a:solidFill>
                <a:latin typeface="font00000000202bb2ed"/>
              </a:rPr>
              <a:t>Bronchi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*The large bronchi also cast similar round</a:t>
            </a:r>
          </a:p>
          <a:p>
            <a:r>
              <a:rPr lang="en-US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shadows.</a:t>
            </a:r>
          </a:p>
          <a:p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*The smaller bronchi are </a:t>
            </a:r>
            <a:r>
              <a:rPr lang="en-GB" sz="20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not seen</a:t>
            </a:r>
            <a:r>
              <a:rPr lang="en-GB" sz="20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.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10676540" y="4928413"/>
            <a:ext cx="35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H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 flipH="1">
            <a:off x="9630638" y="5113079"/>
            <a:ext cx="33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H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11004431" y="5264727"/>
            <a:ext cx="48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PV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 flipH="1">
            <a:off x="9214539" y="5449393"/>
            <a:ext cx="38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9421091" y="5634182"/>
            <a:ext cx="189514" cy="258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30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582" y="157019"/>
            <a:ext cx="10901218" cy="748146"/>
          </a:xfrm>
        </p:spPr>
        <p:txBody>
          <a:bodyPr>
            <a:normAutofit fontScale="90000"/>
          </a:bodyPr>
          <a:lstStyle/>
          <a:p>
            <a:r>
              <a:rPr lang="en-US" b="0" i="0" u="none" strike="noStrike" baseline="0" dirty="0" err="1" smtClean="0">
                <a:latin typeface="font00000000202bb2ed"/>
              </a:rPr>
              <a:t>Posteroanterior</a:t>
            </a:r>
            <a:r>
              <a:rPr lang="en-US" b="0" i="0" u="none" strike="noStrike" baseline="0" dirty="0" smtClean="0">
                <a:latin typeface="font00000000202bb2ed"/>
              </a:rPr>
              <a:t> radiograph</a:t>
            </a:r>
            <a:br>
              <a:rPr lang="en-US" b="0" i="0" u="none" strike="noStrike" baseline="0" dirty="0" smtClean="0">
                <a:latin typeface="font00000000202bb2ed"/>
              </a:rPr>
            </a:br>
            <a:r>
              <a:rPr lang="en-US" sz="4000" b="0" i="0" u="none" strike="noStrike" baseline="0" dirty="0" smtClean="0">
                <a:latin typeface="font00000000202bb2ed"/>
              </a:rPr>
              <a:t>Mediastinum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368" y="3168072"/>
            <a:ext cx="4000500" cy="35397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705" y="2707337"/>
            <a:ext cx="4095750" cy="4000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83128" y="106712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b="0" i="0" u="none" strike="noStrike" baseline="0" dirty="0" smtClean="0">
                <a:latin typeface="font00000000202bb2ed"/>
              </a:rPr>
              <a:t>The shadow is produced by the various</a:t>
            </a:r>
          </a:p>
          <a:p>
            <a:r>
              <a:rPr lang="en-US" sz="2400" b="0" i="0" u="none" strike="noStrike" baseline="0" dirty="0" smtClean="0">
                <a:latin typeface="font00000000202bb2ed"/>
              </a:rPr>
              <a:t>structures within the mediastinum,</a:t>
            </a:r>
          </a:p>
          <a:p>
            <a:r>
              <a:rPr lang="en-GB" sz="2400" b="0" i="0" u="none" strike="noStrike" baseline="0" dirty="0" smtClean="0">
                <a:latin typeface="font00000000202bb2ed"/>
              </a:rPr>
              <a:t>superimposed one on the other.</a:t>
            </a:r>
          </a:p>
          <a:p>
            <a:r>
              <a:rPr lang="en-GB" sz="2400" b="0" i="0" u="none" strike="noStrike" baseline="0" dirty="0" smtClean="0">
                <a:latin typeface="font00000000202bb2ed"/>
              </a:rPr>
              <a:t>❖ Note the outline of the heart and great vessels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6012872" y="975719"/>
            <a:ext cx="66871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The inferior border (lower border of the</a:t>
            </a:r>
            <a:r>
              <a:rPr lang="en-GB" sz="2400" b="0" i="0" u="none" strike="noStrike" dirty="0" smtClean="0">
                <a:solidFill>
                  <a:srgbClr val="000000"/>
                </a:solidFill>
                <a:latin typeface="font00000000202bb2ed"/>
              </a:rPr>
              <a:t> </a:t>
            </a:r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heart) blends with the diaphragm and liver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shadow.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❖ Note the </a:t>
            </a:r>
            <a:r>
              <a:rPr lang="en-US" sz="2400" b="0" i="0" u="none" strike="noStrike" baseline="0" dirty="0" err="1" smtClean="0">
                <a:solidFill>
                  <a:srgbClr val="FF0000"/>
                </a:solidFill>
                <a:latin typeface="font00000000202bb2ed"/>
              </a:rPr>
              <a:t>cardiophrenic</a:t>
            </a:r>
            <a:r>
              <a:rPr lang="en-US" sz="2400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 angles.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621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baseline="0" dirty="0" err="1" smtClean="0">
                <a:latin typeface="font00000000202bb2ed"/>
              </a:rPr>
              <a:t>Posteroanterior</a:t>
            </a:r>
            <a:r>
              <a:rPr lang="en-US" b="0" i="0" u="none" strike="noStrike" baseline="0" dirty="0" smtClean="0">
                <a:latin typeface="font00000000202bb2ed"/>
              </a:rPr>
              <a:t> radiograph</a:t>
            </a:r>
            <a:br>
              <a:rPr lang="en-US" b="0" i="0" u="none" strike="noStrike" baseline="0" dirty="0" smtClean="0">
                <a:latin typeface="font00000000202bb2ed"/>
              </a:rPr>
            </a:br>
            <a:r>
              <a:rPr lang="en-US" sz="4000" b="0" i="0" u="none" strike="noStrike" baseline="0" dirty="0" smtClean="0">
                <a:latin typeface="font00000000202bb2ed"/>
              </a:rPr>
              <a:t>Mediastinum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1709" y="2521527"/>
            <a:ext cx="4119418" cy="37499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0291" y="1690688"/>
            <a:ext cx="303876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The Right Border from above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downward consists of:</a:t>
            </a:r>
          </a:p>
          <a:p>
            <a:r>
              <a:rPr lang="en-US" sz="2400" b="0" i="0" u="none" strike="noStrike" baseline="0" dirty="0" smtClean="0">
                <a:solidFill>
                  <a:srgbClr val="B8B8B8"/>
                </a:solidFill>
                <a:latin typeface="font00000000202bb2ed"/>
              </a:rPr>
              <a:t>(Memorize them in order)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1) </a:t>
            </a:r>
            <a:r>
              <a:rPr lang="en-US" sz="2400" b="0" i="0" u="none" strike="noStrike" baseline="0" dirty="0" smtClean="0">
                <a:solidFill>
                  <a:srgbClr val="C10000"/>
                </a:solidFill>
                <a:latin typeface="font00000000202bb2ed"/>
              </a:rPr>
              <a:t>Right brachiocephalic vein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2) </a:t>
            </a:r>
            <a:r>
              <a:rPr lang="en-US" sz="2400" b="0" i="0" u="none" strike="noStrike" baseline="0" dirty="0" smtClean="0">
                <a:solidFill>
                  <a:srgbClr val="C10000"/>
                </a:solidFill>
                <a:latin typeface="font00000000202bb2ed"/>
              </a:rPr>
              <a:t>Superior vena cava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3) </a:t>
            </a:r>
            <a:r>
              <a:rPr lang="en-US" sz="2400" b="0" i="0" u="none" strike="noStrike" baseline="0" dirty="0" smtClean="0">
                <a:solidFill>
                  <a:srgbClr val="C10000"/>
                </a:solidFill>
                <a:latin typeface="font00000000202bb2ed"/>
              </a:rPr>
              <a:t>Right atrium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4) Sometimes the Inferior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vena cava.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8312728" y="1875354"/>
            <a:ext cx="378690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The Left Border consists of: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1) A prominence, the</a:t>
            </a:r>
          </a:p>
          <a:p>
            <a:r>
              <a:rPr lang="en-US" sz="2400" b="0" i="0" u="none" strike="noStrike" baseline="0" dirty="0" smtClean="0">
                <a:solidFill>
                  <a:srgbClr val="C10000"/>
                </a:solidFill>
                <a:latin typeface="font00000000202bb2ed"/>
              </a:rPr>
              <a:t>Aortic knuckle (Knob)</a:t>
            </a:r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,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caused by the aortic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arch.</a:t>
            </a:r>
          </a:p>
          <a:p>
            <a:r>
              <a:rPr lang="en-GB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2) Left margin of the</a:t>
            </a:r>
          </a:p>
          <a:p>
            <a:r>
              <a:rPr lang="en-US" sz="2400" b="0" i="0" u="none" strike="noStrike" baseline="0" dirty="0" smtClean="0">
                <a:solidFill>
                  <a:srgbClr val="C10000"/>
                </a:solidFill>
                <a:latin typeface="font00000000202bb2ed"/>
              </a:rPr>
              <a:t>Pulmonary Trunk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3) </a:t>
            </a:r>
            <a:r>
              <a:rPr lang="en-US" sz="2400" b="0" i="0" u="none" strike="noStrike" baseline="0" dirty="0" smtClean="0">
                <a:solidFill>
                  <a:srgbClr val="C10000"/>
                </a:solidFill>
                <a:latin typeface="font00000000202bb2ed"/>
              </a:rPr>
              <a:t>The left Auricle</a:t>
            </a:r>
          </a:p>
          <a:p>
            <a:r>
              <a:rPr lang="en-US" sz="2400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4) </a:t>
            </a:r>
            <a:r>
              <a:rPr lang="en-US" sz="2400" b="0" i="0" u="none" strike="noStrike" baseline="0" dirty="0" smtClean="0">
                <a:solidFill>
                  <a:srgbClr val="C10000"/>
                </a:solidFill>
                <a:latin typeface="font00000000202bb2ed"/>
              </a:rPr>
              <a:t>The left Ventricle &amp;</a:t>
            </a:r>
          </a:p>
          <a:p>
            <a:r>
              <a:rPr lang="en-US" sz="2400" b="0" i="0" u="none" strike="noStrike" baseline="0" dirty="0" smtClean="0">
                <a:solidFill>
                  <a:srgbClr val="C10000"/>
                </a:solidFill>
                <a:latin typeface="font00000000202bb2ed"/>
              </a:rPr>
              <a:t>apex of heart.</a:t>
            </a:r>
          </a:p>
          <a:p>
            <a:r>
              <a:rPr lang="en-GB" sz="2400" b="0" i="0" u="none" strike="noStrike" baseline="0" dirty="0" smtClean="0">
                <a:solidFill>
                  <a:srgbClr val="9A9A9A"/>
                </a:solidFill>
                <a:latin typeface="font00000000202bb2ed"/>
              </a:rPr>
              <a:t>● Each atrium has an auricle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007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5800"/>
          </a:xfrm>
        </p:spPr>
        <p:txBody>
          <a:bodyPr>
            <a:normAutofit fontScale="90000"/>
          </a:bodyPr>
          <a:lstStyle/>
          <a:p>
            <a:r>
              <a:rPr lang="en-US" b="0" i="0" u="none" strike="noStrike" baseline="0" dirty="0" smtClean="0">
                <a:latin typeface="font00000000202bb2ed"/>
              </a:rPr>
              <a:t>Radiology of the Heart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1777" y="1895314"/>
            <a:ext cx="4267200" cy="43783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930061"/>
            <a:ext cx="736489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The </a:t>
            </a:r>
            <a:r>
              <a:rPr lang="en-GB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Transverse Diameter </a:t>
            </a:r>
            <a:r>
              <a:rPr lang="en-GB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of the heart </a:t>
            </a:r>
            <a:r>
              <a:rPr lang="en-GB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should not exceed half</a:t>
            </a:r>
          </a:p>
          <a:p>
            <a:r>
              <a:rPr lang="en-GB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the width </a:t>
            </a:r>
            <a:r>
              <a:rPr lang="en-GB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of the thoracic cage.</a:t>
            </a:r>
          </a:p>
          <a:p>
            <a:r>
              <a:rPr lang="en-GB" b="0" i="0" u="none" strike="noStrike" baseline="0" dirty="0" smtClean="0">
                <a:solidFill>
                  <a:srgbClr val="00B150"/>
                </a:solidFill>
                <a:latin typeface="font00000000202bb2ed"/>
              </a:rPr>
              <a:t> for example if transverse diameter of the thoracic cage is</a:t>
            </a:r>
          </a:p>
          <a:p>
            <a:r>
              <a:rPr lang="en-GB" b="0" i="0" u="none" strike="noStrike" baseline="0" dirty="0" smtClean="0">
                <a:solidFill>
                  <a:srgbClr val="00B150"/>
                </a:solidFill>
                <a:latin typeface="font00000000202bb2ed"/>
              </a:rPr>
              <a:t>10 then the transverse diameter of the heart must be less than or equal to 5</a:t>
            </a:r>
          </a:p>
          <a:p>
            <a:r>
              <a:rPr lang="en-GB" b="0" i="0" u="none" strike="noStrike" baseline="0" dirty="0" smtClean="0">
                <a:solidFill>
                  <a:srgbClr val="00B150"/>
                </a:solidFill>
                <a:latin typeface="font00000000202bb2ed"/>
              </a:rPr>
              <a:t>BUT if it’s more than 5 that means there is enlargement in the heart .</a:t>
            </a:r>
          </a:p>
          <a:p>
            <a:r>
              <a:rPr lang="en-GB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On </a:t>
            </a:r>
            <a:r>
              <a:rPr lang="en-GB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deep inspiration</a:t>
            </a:r>
            <a:r>
              <a:rPr lang="en-GB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, when the diaphragm descends, the</a:t>
            </a:r>
          </a:p>
          <a:p>
            <a:r>
              <a:rPr lang="en-GB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vertical length </a:t>
            </a:r>
            <a:r>
              <a:rPr lang="en-GB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of the heart </a:t>
            </a:r>
            <a:r>
              <a:rPr lang="en-GB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increases </a:t>
            </a:r>
            <a:r>
              <a:rPr lang="en-GB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and the </a:t>
            </a:r>
            <a:r>
              <a:rPr lang="en-GB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transverse</a:t>
            </a:r>
          </a:p>
          <a:p>
            <a:r>
              <a:rPr lang="en-GB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diameter is narrowed. </a:t>
            </a:r>
            <a:r>
              <a:rPr lang="en-GB" b="0" i="0" u="none" strike="noStrike" baseline="0" dirty="0" smtClean="0">
                <a:solidFill>
                  <a:srgbClr val="00B150"/>
                </a:solidFill>
                <a:latin typeface="font00000000202bb2ed"/>
              </a:rPr>
              <a:t>normally the heart with</a:t>
            </a:r>
          </a:p>
          <a:p>
            <a:r>
              <a:rPr lang="en-GB" b="0" i="0" u="none" strike="noStrike" baseline="0" dirty="0" smtClean="0">
                <a:solidFill>
                  <a:srgbClr val="00B150"/>
                </a:solidFill>
                <a:latin typeface="font00000000202bb2ed"/>
              </a:rPr>
              <a:t>inspiration descend, so the vertical diameter in inspiration longer than</a:t>
            </a:r>
          </a:p>
          <a:p>
            <a:r>
              <a:rPr lang="en-GB" b="0" i="0" u="none" strike="noStrike" baseline="0" dirty="0" smtClean="0">
                <a:solidFill>
                  <a:srgbClr val="00B150"/>
                </a:solidFill>
                <a:latin typeface="font00000000202bb2ed"/>
              </a:rPr>
              <a:t>expiration and the transverse diameter in inspiration narrower than</a:t>
            </a:r>
          </a:p>
          <a:p>
            <a:r>
              <a:rPr lang="en-GB" b="0" i="0" u="none" strike="noStrike" baseline="0" dirty="0" smtClean="0">
                <a:solidFill>
                  <a:srgbClr val="00B150"/>
                </a:solidFill>
                <a:latin typeface="font00000000202bb2ed"/>
              </a:rPr>
              <a:t>expiration.</a:t>
            </a:r>
            <a:r>
              <a:rPr lang="en-GB" b="0" i="0" u="none" strike="noStrike" baseline="0" dirty="0" smtClean="0">
                <a:solidFill>
                  <a:srgbClr val="7F7F7F"/>
                </a:solidFill>
                <a:latin typeface="font00000000202bb2ed"/>
              </a:rPr>
              <a:t> as if you are pulling down the heart.</a:t>
            </a:r>
          </a:p>
          <a:p>
            <a:r>
              <a:rPr lang="en-US" b="0" i="0" u="none" strike="noStrike" baseline="0" dirty="0" smtClean="0">
                <a:solidFill>
                  <a:srgbClr val="000000"/>
                </a:solidFill>
                <a:latin typeface="font00000000202bb2ed"/>
              </a:rPr>
              <a:t>• </a:t>
            </a:r>
            <a:r>
              <a:rPr lang="en-US" b="0" i="0" u="none" strike="noStrike" baseline="0" dirty="0" smtClean="0">
                <a:solidFill>
                  <a:srgbClr val="FF0000"/>
                </a:solidFill>
                <a:latin typeface="font00000000202bb2ed"/>
              </a:rPr>
              <a:t>In infants</a:t>
            </a:r>
            <a:r>
              <a:rPr lang="en-US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, the heart is always wider and more globular" </a:t>
            </a:r>
            <a:r>
              <a:rPr lang="en-GB" b="0" i="0" u="none" strike="noStrike" baseline="0" dirty="0" smtClean="0">
                <a:solidFill>
                  <a:srgbClr val="D6A7BE"/>
                </a:solidFill>
                <a:latin typeface="font00000000202bb2ed"/>
              </a:rPr>
              <a:t>in shape than in adults.</a:t>
            </a:r>
          </a:p>
          <a:p>
            <a:r>
              <a:rPr lang="en-GB" b="0" i="0" u="none" strike="noStrike" baseline="0" dirty="0" smtClean="0">
                <a:solidFill>
                  <a:srgbClr val="00B150"/>
                </a:solidFill>
                <a:latin typeface="font00000000202bb2ed"/>
              </a:rPr>
              <a:t>the vertical and horizontal diameters are almost equal so</a:t>
            </a:r>
          </a:p>
          <a:p>
            <a:r>
              <a:rPr lang="en-GB" b="0" i="0" u="none" strike="noStrike" baseline="0" dirty="0" smtClean="0">
                <a:solidFill>
                  <a:srgbClr val="00B150"/>
                </a:solidFill>
                <a:latin typeface="font00000000202bb2ed"/>
              </a:rPr>
              <a:t>that’s why the heart appearance would be globular and wider than adult.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633593" y="708316"/>
            <a:ext cx="174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Heart</a:t>
            </a:r>
            <a:endParaRPr lang="en-US" sz="3200" dirty="0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7435273" y="1745673"/>
            <a:ext cx="840509" cy="155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10483273" y="1293091"/>
            <a:ext cx="9236" cy="5634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flipH="1">
            <a:off x="7481458" y="1293091"/>
            <a:ext cx="125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transverse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 flipH="1">
            <a:off x="10695246" y="1176448"/>
            <a:ext cx="107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vertical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1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Radiology of heart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0513" y="2554358"/>
            <a:ext cx="3727173" cy="33991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48" y="2554358"/>
            <a:ext cx="3677478" cy="35283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84698" y="3318393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000" dirty="0">
                <a:solidFill>
                  <a:srgbClr val="00B150"/>
                </a:solidFill>
                <a:latin typeface="font00000000202bb2ed"/>
              </a:rPr>
              <a:t>in the PA view you can see</a:t>
            </a:r>
          </a:p>
          <a:p>
            <a:r>
              <a:rPr lang="en-GB" sz="2000" dirty="0">
                <a:solidFill>
                  <a:srgbClr val="00B150"/>
                </a:solidFill>
                <a:latin typeface="font00000000202bb2ed"/>
              </a:rPr>
              <a:t>the aortic knuckle, apex of</a:t>
            </a:r>
          </a:p>
          <a:p>
            <a:r>
              <a:rPr lang="en-GB" sz="2000" dirty="0">
                <a:solidFill>
                  <a:srgbClr val="00B150"/>
                </a:solidFill>
                <a:latin typeface="font00000000202bb2ed"/>
              </a:rPr>
              <a:t>the heart, right atrium and</a:t>
            </a:r>
          </a:p>
          <a:p>
            <a:r>
              <a:rPr lang="en-GB" sz="2000" dirty="0">
                <a:solidFill>
                  <a:srgbClr val="00B150"/>
                </a:solidFill>
                <a:latin typeface="font00000000202bb2ed"/>
              </a:rPr>
              <a:t>left ventricle, BUT in order to</a:t>
            </a:r>
          </a:p>
          <a:p>
            <a:r>
              <a:rPr lang="en-GB" sz="2000" dirty="0">
                <a:solidFill>
                  <a:srgbClr val="00B150"/>
                </a:solidFill>
                <a:latin typeface="font00000000202bb2ed"/>
              </a:rPr>
              <a:t>see the right ventricle and</a:t>
            </a:r>
          </a:p>
          <a:p>
            <a:r>
              <a:rPr lang="en-GB" sz="2000" dirty="0">
                <a:solidFill>
                  <a:srgbClr val="00B150"/>
                </a:solidFill>
                <a:latin typeface="font00000000202bb2ed"/>
              </a:rPr>
              <a:t>left atrium you have to look</a:t>
            </a:r>
          </a:p>
          <a:p>
            <a:r>
              <a:rPr lang="en-US" sz="2000" dirty="0">
                <a:solidFill>
                  <a:srgbClr val="00B150"/>
                </a:solidFill>
                <a:latin typeface="font00000000202bb2ed"/>
              </a:rPr>
              <a:t>at the Lateral View.</a:t>
            </a:r>
            <a:endParaRPr lang="en-US" sz="20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613991" y="2633870"/>
            <a:ext cx="1928192" cy="1073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04417" y="2449204"/>
            <a:ext cx="1587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Aortic knuckle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8716617" y="2763078"/>
            <a:ext cx="1620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LV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82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font00000000202bb2ed"/>
              </a:rPr>
              <a:t>Lateral Radiograph of The Chest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8638" y="1825625"/>
            <a:ext cx="3714723" cy="435133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5804452" y="3766930"/>
            <a:ext cx="7653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69156" y="3588026"/>
            <a:ext cx="1719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PULMUNARY </a:t>
            </a:r>
            <a:r>
              <a:rPr lang="en-GB" dirty="0" smtClean="0"/>
              <a:t>ARCH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770783" y="3289852"/>
            <a:ext cx="655982" cy="188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10055" y="3120599"/>
            <a:ext cx="1357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AO</a:t>
            </a:r>
            <a:r>
              <a:rPr lang="en-GB" dirty="0" smtClean="0">
                <a:solidFill>
                  <a:schemeClr val="bg1"/>
                </a:solidFill>
              </a:rPr>
              <a:t>R</a:t>
            </a:r>
            <a:r>
              <a:rPr lang="en-GB" dirty="0" smtClean="0"/>
              <a:t>TIC ARCH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3339549" y="4412974"/>
            <a:ext cx="1620077" cy="89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76236" y="4189055"/>
            <a:ext cx="1576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VERTEBRAL BODY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3236180" y="4810539"/>
            <a:ext cx="2031559" cy="815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16095" y="5302382"/>
            <a:ext cx="2192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INTERVERTEBRAL DISC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0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9453"/>
            <a:ext cx="10515600" cy="1063486"/>
          </a:xfrm>
        </p:spPr>
        <p:txBody>
          <a:bodyPr/>
          <a:lstStyle/>
          <a:p>
            <a:r>
              <a:rPr lang="en-US" dirty="0" err="1">
                <a:latin typeface="font00000000202bb2ed"/>
              </a:rPr>
              <a:t>Bronchography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14" y="1152940"/>
            <a:ext cx="7295322" cy="5705060"/>
          </a:xfrm>
        </p:spPr>
        <p:txBody>
          <a:bodyPr>
            <a:normAutofit fontScale="92500"/>
          </a:bodyPr>
          <a:lstStyle/>
          <a:p>
            <a:r>
              <a:rPr lang="en-GB" dirty="0" err="1">
                <a:solidFill>
                  <a:srgbClr val="000000"/>
                </a:solidFill>
                <a:latin typeface="font00000000202bb2ed"/>
              </a:rPr>
              <a:t>Bronchography</a:t>
            </a:r>
            <a:r>
              <a:rPr lang="en-GB" dirty="0">
                <a:solidFill>
                  <a:srgbClr val="000000"/>
                </a:solidFill>
                <a:latin typeface="font00000000202bb2ed"/>
              </a:rPr>
              <a:t> is a </a:t>
            </a:r>
            <a:r>
              <a:rPr lang="en-GB" sz="1400" dirty="0">
                <a:solidFill>
                  <a:srgbClr val="9A9A9A"/>
                </a:solidFill>
                <a:latin typeface="font00000000202bb2ed"/>
              </a:rPr>
              <a:t>radiological technique </a:t>
            </a:r>
            <a:r>
              <a:rPr lang="en-GB" dirty="0">
                <a:solidFill>
                  <a:srgbClr val="000000"/>
                </a:solidFill>
                <a:latin typeface="font00000000202bb2ed"/>
              </a:rPr>
              <a:t>special study of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font00000000202bb2ed"/>
              </a:rPr>
              <a:t>the bronchial tree by means of the introduction </a:t>
            </a:r>
            <a:r>
              <a:rPr lang="en-GB" dirty="0" smtClean="0">
                <a:solidFill>
                  <a:srgbClr val="000000"/>
                </a:solidFill>
                <a:latin typeface="font00000000202bb2ed"/>
              </a:rPr>
              <a:t>of contrast </a:t>
            </a:r>
            <a:r>
              <a:rPr lang="en-GB" dirty="0">
                <a:solidFill>
                  <a:srgbClr val="000000"/>
                </a:solidFill>
                <a:latin typeface="font00000000202bb2ed"/>
              </a:rPr>
              <a:t>medium into a particular bronchus </a:t>
            </a:r>
            <a:r>
              <a:rPr lang="en-GB" dirty="0" smtClean="0">
                <a:solidFill>
                  <a:srgbClr val="000000"/>
                </a:solidFill>
                <a:latin typeface="font00000000202bb2ed"/>
              </a:rPr>
              <a:t>or bronchi</a:t>
            </a:r>
            <a:r>
              <a:rPr lang="en-GB" dirty="0">
                <a:solidFill>
                  <a:srgbClr val="000000"/>
                </a:solidFill>
                <a:latin typeface="font00000000202bb2ed"/>
              </a:rPr>
              <a:t>, usually under fluoroscopic control. </a:t>
            </a:r>
            <a:r>
              <a:rPr lang="en-GB" sz="1400" dirty="0">
                <a:solidFill>
                  <a:srgbClr val="9A9A9A"/>
                </a:solidFill>
                <a:latin typeface="font00000000202bb2ed"/>
              </a:rPr>
              <a:t>Fluoroscopy is an</a:t>
            </a:r>
          </a:p>
          <a:p>
            <a:r>
              <a:rPr lang="en-GB" sz="1400" dirty="0">
                <a:solidFill>
                  <a:srgbClr val="9A9A9A"/>
                </a:solidFill>
                <a:latin typeface="font00000000202bb2ed"/>
              </a:rPr>
              <a:t>imaging technique that uses X-rays to obtain real- time moving images of the</a:t>
            </a:r>
          </a:p>
          <a:p>
            <a:r>
              <a:rPr lang="en-US" sz="1400" dirty="0">
                <a:solidFill>
                  <a:srgbClr val="9A9A9A"/>
                </a:solidFill>
                <a:latin typeface="font00000000202bb2ed"/>
              </a:rPr>
              <a:t>interior of an object.</a:t>
            </a:r>
          </a:p>
          <a:p>
            <a:r>
              <a:rPr lang="en-GB" dirty="0">
                <a:solidFill>
                  <a:srgbClr val="000000"/>
                </a:solidFill>
                <a:latin typeface="font00000000202bb2ed"/>
              </a:rPr>
              <a:t>The contrast media are no irritating and </a:t>
            </a:r>
            <a:r>
              <a:rPr lang="en-GB" dirty="0" smtClean="0">
                <a:solidFill>
                  <a:srgbClr val="000000"/>
                </a:solidFill>
                <a:latin typeface="font00000000202bb2ed"/>
              </a:rPr>
              <a:t>sufficiently radiopaque </a:t>
            </a:r>
            <a:r>
              <a:rPr lang="en-GB" dirty="0">
                <a:solidFill>
                  <a:srgbClr val="000000"/>
                </a:solidFill>
                <a:latin typeface="font00000000202bb2ed"/>
              </a:rPr>
              <a:t>to allow good visualization of the bronchi.</a:t>
            </a:r>
          </a:p>
          <a:p>
            <a:r>
              <a:rPr lang="en-GB" sz="1400" dirty="0">
                <a:solidFill>
                  <a:srgbClr val="9A9A9A"/>
                </a:solidFill>
                <a:latin typeface="font00000000202bb2ed"/>
              </a:rPr>
              <a:t>Contrast media is a substance used to enhance the contrast of structures or</a:t>
            </a:r>
          </a:p>
          <a:p>
            <a:r>
              <a:rPr lang="en-GB" sz="1400" dirty="0">
                <a:solidFill>
                  <a:srgbClr val="9A9A9A"/>
                </a:solidFill>
                <a:latin typeface="font00000000202bb2ed"/>
              </a:rPr>
              <a:t>fluids within the body in medical imaging</a:t>
            </a:r>
          </a:p>
          <a:p>
            <a:r>
              <a:rPr lang="en-GB" dirty="0">
                <a:solidFill>
                  <a:srgbClr val="000000"/>
                </a:solidFill>
                <a:latin typeface="font00000000202bb2ed"/>
              </a:rPr>
              <a:t>After the radiographic examination is completed, </a:t>
            </a:r>
            <a:r>
              <a:rPr lang="en-GB" dirty="0" smtClean="0">
                <a:solidFill>
                  <a:srgbClr val="000000"/>
                </a:solidFill>
                <a:latin typeface="font00000000202bb2ed"/>
              </a:rPr>
              <a:t>the patient </a:t>
            </a:r>
            <a:r>
              <a:rPr lang="en-GB" dirty="0">
                <a:solidFill>
                  <a:srgbClr val="000000"/>
                </a:solidFill>
                <a:latin typeface="font00000000202bb2ed"/>
              </a:rPr>
              <a:t>is asked to cough and expectorate -</a:t>
            </a:r>
            <a:r>
              <a:rPr lang="en-GB" sz="1400" dirty="0">
                <a:solidFill>
                  <a:srgbClr val="9A9A9A"/>
                </a:solidFill>
                <a:latin typeface="font00000000202bb2ed"/>
              </a:rPr>
              <a:t>to spit out </a:t>
            </a:r>
            <a:r>
              <a:rPr lang="en-GB" dirty="0" smtClean="0">
                <a:solidFill>
                  <a:srgbClr val="000000"/>
                </a:solidFill>
                <a:latin typeface="font00000000202bb2ed"/>
              </a:rPr>
              <a:t>–the </a:t>
            </a:r>
            <a:r>
              <a:rPr lang="en-US" dirty="0" smtClean="0">
                <a:solidFill>
                  <a:srgbClr val="000000"/>
                </a:solidFill>
                <a:latin typeface="font00000000202bb2ed"/>
              </a:rPr>
              <a:t>contrast </a:t>
            </a:r>
            <a:r>
              <a:rPr lang="en-US" dirty="0">
                <a:solidFill>
                  <a:srgbClr val="000000"/>
                </a:solidFill>
                <a:latin typeface="font00000000202bb2ed"/>
              </a:rPr>
              <a:t>medium</a:t>
            </a:r>
            <a:r>
              <a:rPr lang="en-US" dirty="0" smtClean="0">
                <a:solidFill>
                  <a:srgbClr val="000000"/>
                </a:solidFill>
                <a:latin typeface="font00000000202bb2ed"/>
              </a:rPr>
              <a:t>.</a:t>
            </a:r>
            <a:endParaRPr lang="en-US" dirty="0">
              <a:solidFill>
                <a:srgbClr val="000000"/>
              </a:solidFill>
              <a:latin typeface="font00000000202bb2ed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453" y="1690688"/>
            <a:ext cx="4373026" cy="4438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78599" y="6186806"/>
            <a:ext cx="4115229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font00000000202bb2ed"/>
              </a:rPr>
              <a:t>Posterior </a:t>
            </a:r>
            <a:r>
              <a:rPr lang="en-US" sz="2800" dirty="0" err="1">
                <a:solidFill>
                  <a:prstClr val="black"/>
                </a:solidFill>
                <a:latin typeface="font00000000202bb2ed"/>
              </a:rPr>
              <a:t>Bronchogram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265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font00000000202bb2ed"/>
              </a:rPr>
              <a:t>Contrast Visualization of The </a:t>
            </a:r>
            <a:r>
              <a:rPr lang="en-GB" dirty="0" err="1">
                <a:latin typeface="font00000000202bb2ed"/>
              </a:rPr>
              <a:t>Esophagus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8260" y="1964773"/>
            <a:ext cx="3871897" cy="43513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3383" y="1690688"/>
            <a:ext cx="418813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font00000000202bb2ed"/>
              </a:rPr>
              <a:t>Contrast visualization of the</a:t>
            </a:r>
          </a:p>
          <a:p>
            <a:r>
              <a:rPr lang="en-GB" sz="2400" dirty="0" err="1">
                <a:solidFill>
                  <a:srgbClr val="000000"/>
                </a:solidFill>
                <a:latin typeface="font00000000202bb2ed"/>
              </a:rPr>
              <a:t>esophagus</a:t>
            </a:r>
            <a:r>
              <a:rPr lang="en-GB" sz="2400" dirty="0">
                <a:solidFill>
                  <a:srgbClr val="000000"/>
                </a:solidFill>
                <a:latin typeface="font00000000202bb2ed"/>
              </a:rPr>
              <a:t> by swallow a contrast</a:t>
            </a:r>
          </a:p>
          <a:p>
            <a:r>
              <a:rPr lang="en-US" sz="2400" dirty="0">
                <a:solidFill>
                  <a:srgbClr val="000000"/>
                </a:solidFill>
                <a:latin typeface="font00000000202bb2ed"/>
              </a:rPr>
              <a:t>media, </a:t>
            </a:r>
            <a:r>
              <a:rPr lang="en-US" sz="2400" dirty="0">
                <a:solidFill>
                  <a:srgbClr val="FF0000"/>
                </a:solidFill>
                <a:latin typeface="font00000000202bb2ed"/>
              </a:rPr>
              <a:t>(barium swallow).</a:t>
            </a:r>
          </a:p>
          <a:p>
            <a:r>
              <a:rPr lang="en-US" sz="2400" dirty="0">
                <a:solidFill>
                  <a:srgbClr val="CDA777"/>
                </a:solidFill>
                <a:latin typeface="font00000000202bb2ed"/>
              </a:rPr>
              <a:t>● </a:t>
            </a:r>
            <a:r>
              <a:rPr lang="en-US" sz="2400" dirty="0">
                <a:solidFill>
                  <a:srgbClr val="D6A7BE"/>
                </a:solidFill>
                <a:latin typeface="font00000000202bb2ed"/>
              </a:rPr>
              <a:t>Other barium contrast studies:</a:t>
            </a:r>
          </a:p>
          <a:p>
            <a:r>
              <a:rPr lang="en-US" sz="2400" dirty="0">
                <a:solidFill>
                  <a:srgbClr val="D6A7BE"/>
                </a:solidFill>
                <a:latin typeface="font00000000202bb2ed"/>
              </a:rPr>
              <a:t>Barium meal: stomach</a:t>
            </a:r>
          </a:p>
          <a:p>
            <a:r>
              <a:rPr lang="en-US" sz="2400" dirty="0">
                <a:solidFill>
                  <a:srgbClr val="D6A7BE"/>
                </a:solidFill>
                <a:latin typeface="font00000000202bb2ed"/>
              </a:rPr>
              <a:t>Barium follow through: small</a:t>
            </a:r>
          </a:p>
          <a:p>
            <a:r>
              <a:rPr lang="en-US" sz="2400" dirty="0">
                <a:solidFill>
                  <a:srgbClr val="D6A7BE"/>
                </a:solidFill>
                <a:latin typeface="font00000000202bb2ed"/>
              </a:rPr>
              <a:t>intestine</a:t>
            </a:r>
          </a:p>
          <a:p>
            <a:r>
              <a:rPr lang="en-US" sz="2400" dirty="0">
                <a:solidFill>
                  <a:srgbClr val="D6A7BE"/>
                </a:solidFill>
                <a:latin typeface="font00000000202bb2ed"/>
              </a:rPr>
              <a:t>Barium enema: large intestine</a:t>
            </a:r>
          </a:p>
          <a:p>
            <a:r>
              <a:rPr lang="en-US" sz="2400" dirty="0">
                <a:solidFill>
                  <a:srgbClr val="D6A7BE"/>
                </a:solidFill>
                <a:latin typeface="font00000000202bb2ed"/>
              </a:rPr>
              <a:t>Left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316880" y="3149087"/>
            <a:ext cx="36377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6FA9DD"/>
                </a:solidFill>
                <a:latin typeface="font00000000202bb2ed"/>
              </a:rPr>
              <a:t>Identification of</a:t>
            </a:r>
          </a:p>
          <a:p>
            <a:r>
              <a:rPr lang="en-US" dirty="0">
                <a:solidFill>
                  <a:srgbClr val="6FA9DD"/>
                </a:solidFill>
                <a:latin typeface="font00000000202bb2ed"/>
              </a:rPr>
              <a:t>the aortic arch and</a:t>
            </a:r>
          </a:p>
          <a:p>
            <a:r>
              <a:rPr lang="en-US" dirty="0">
                <a:solidFill>
                  <a:srgbClr val="6FA9DD"/>
                </a:solidFill>
                <a:latin typeface="font00000000202bb2ed"/>
              </a:rPr>
              <a:t>left bronchus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44067" y="430616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D6A7BE"/>
                </a:solidFill>
                <a:latin typeface="font00000000202bb2ed"/>
              </a:rPr>
              <a:t>Esophagus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316880" y="5167312"/>
            <a:ext cx="21971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6FA9DD"/>
                </a:solidFill>
                <a:latin typeface="font00000000202bb2ed"/>
              </a:rPr>
              <a:t>Identification of</a:t>
            </a:r>
          </a:p>
          <a:p>
            <a:r>
              <a:rPr lang="en-US" dirty="0">
                <a:solidFill>
                  <a:srgbClr val="6FA9DD"/>
                </a:solidFill>
                <a:latin typeface="font00000000202bb2ed"/>
              </a:rPr>
              <a:t>enlargement of left</a:t>
            </a:r>
          </a:p>
          <a:p>
            <a:r>
              <a:rPr lang="en-US" dirty="0">
                <a:solidFill>
                  <a:srgbClr val="6FA9DD"/>
                </a:solidFill>
                <a:latin typeface="font00000000202bb2ed"/>
              </a:rPr>
              <a:t>atrium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315200" y="4830418"/>
            <a:ext cx="2514600" cy="546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7" idx="3"/>
          </p:cNvCxnSpPr>
          <p:nvPr/>
        </p:nvCxnSpPr>
        <p:spPr>
          <a:xfrm flipH="1">
            <a:off x="6982895" y="4257083"/>
            <a:ext cx="2419522" cy="233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7315200" y="3567499"/>
            <a:ext cx="2339008" cy="229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74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9210"/>
            <a:ext cx="10515600" cy="824948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font00000000202bb2ed"/>
              </a:rPr>
              <a:t>Coronary </a:t>
            </a:r>
            <a:r>
              <a:rPr lang="en-US" dirty="0">
                <a:solidFill>
                  <a:srgbClr val="D6A7BE"/>
                </a:solidFill>
                <a:latin typeface="font00000000202bb2ed"/>
              </a:rPr>
              <a:t>Angiogram </a:t>
            </a:r>
            <a:r>
              <a:rPr lang="en-US" dirty="0">
                <a:solidFill>
                  <a:srgbClr val="6FA9DD"/>
                </a:solidFill>
                <a:latin typeface="font00000000202bb2ed"/>
              </a:rPr>
              <a:t>(Angiography)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7028"/>
            <a:ext cx="4065376" cy="3712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950" y="2507028"/>
            <a:ext cx="3647850" cy="3712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flipH="1">
            <a:off x="1427258" y="6219528"/>
            <a:ext cx="289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font00000000202bb2ed"/>
              </a:rPr>
              <a:t>Right Coronary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8312331" y="6219528"/>
            <a:ext cx="2435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font00000000202bb2ed"/>
              </a:rPr>
              <a:t>Left Coronary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838200" y="965320"/>
            <a:ext cx="101842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D6A7BE"/>
                </a:solidFill>
                <a:latin typeface="font00000000202bb2ed"/>
              </a:rPr>
              <a:t>An X-ray with radio-opaque contrast in the coronary arteries.</a:t>
            </a:r>
          </a:p>
          <a:p>
            <a:r>
              <a:rPr lang="en-GB" sz="2400" dirty="0">
                <a:solidFill>
                  <a:srgbClr val="CDA777"/>
                </a:solidFill>
                <a:latin typeface="font00000000202bb2ed"/>
              </a:rPr>
              <a:t>● </a:t>
            </a:r>
            <a:r>
              <a:rPr lang="en-GB" sz="2400" dirty="0">
                <a:solidFill>
                  <a:srgbClr val="6FA9DD"/>
                </a:solidFill>
                <a:latin typeface="font00000000202bb2ed"/>
              </a:rPr>
              <a:t>The coronary arteries are visualized by introduction of radio-opaque material into their lumen.</a:t>
            </a:r>
          </a:p>
          <a:p>
            <a:r>
              <a:rPr lang="en-GB" sz="2400" dirty="0">
                <a:solidFill>
                  <a:srgbClr val="CDA777"/>
                </a:solidFill>
                <a:latin typeface="font00000000202bb2ed"/>
              </a:rPr>
              <a:t>● </a:t>
            </a:r>
            <a:r>
              <a:rPr lang="en-GB" sz="2400" dirty="0">
                <a:solidFill>
                  <a:srgbClr val="6FA9DD"/>
                </a:solidFill>
                <a:latin typeface="font00000000202bb2ed"/>
              </a:rPr>
              <a:t>Pathological narrowing or blockage of coronary artery can be identified.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378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4882</TotalTime>
  <Words>1516</Words>
  <Application>Microsoft Office PowerPoint</Application>
  <PresentationFormat>Widescreen</PresentationFormat>
  <Paragraphs>235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font00000000202bb2ed</vt:lpstr>
      <vt:lpstr>Office Theme</vt:lpstr>
      <vt:lpstr>Radiological and Clinical Anatomy of Thorax</vt:lpstr>
      <vt:lpstr>Objectives</vt:lpstr>
      <vt:lpstr>Radiography</vt:lpstr>
      <vt:lpstr>Radiography</vt:lpstr>
      <vt:lpstr>Radiography</vt:lpstr>
      <vt:lpstr>Radiography</vt:lpstr>
      <vt:lpstr>Radiography</vt:lpstr>
      <vt:lpstr>Posteroanterior radiograph (Bones of thoracic cage) </vt:lpstr>
      <vt:lpstr>Posteroanterior radiograph (Diaphragm)</vt:lpstr>
      <vt:lpstr>Posteroanterior radiograph (Diaphragm)</vt:lpstr>
      <vt:lpstr>Trachea</vt:lpstr>
      <vt:lpstr>Lung</vt:lpstr>
      <vt:lpstr>Posteroanterior radiograph Mediastinum</vt:lpstr>
      <vt:lpstr>Posteroanterior radiograph Mediastinum</vt:lpstr>
      <vt:lpstr>Radiology of the Heart</vt:lpstr>
      <vt:lpstr>Radiology of heart</vt:lpstr>
      <vt:lpstr>Lateral Radiograph of The Chest</vt:lpstr>
      <vt:lpstr>Bronchography</vt:lpstr>
      <vt:lpstr>Contrast Visualization of The Esophagus</vt:lpstr>
      <vt:lpstr>Coronary Angiogram (Angiography)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29</cp:revision>
  <dcterms:created xsi:type="dcterms:W3CDTF">2024-11-26T09:16:16Z</dcterms:created>
  <dcterms:modified xsi:type="dcterms:W3CDTF">2024-12-02T10:32:46Z</dcterms:modified>
</cp:coreProperties>
</file>