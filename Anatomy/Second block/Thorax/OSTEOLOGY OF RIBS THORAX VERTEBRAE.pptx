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73" r:id="rId5"/>
    <p:sldId id="258" r:id="rId6"/>
    <p:sldId id="260" r:id="rId7"/>
    <p:sldId id="262" r:id="rId8"/>
    <p:sldId id="279" r:id="rId9"/>
    <p:sldId id="263" r:id="rId10"/>
    <p:sldId id="264" r:id="rId11"/>
    <p:sldId id="275" r:id="rId12"/>
    <p:sldId id="280" r:id="rId13"/>
    <p:sldId id="265" r:id="rId14"/>
    <p:sldId id="266" r:id="rId15"/>
    <p:sldId id="278" r:id="rId16"/>
    <p:sldId id="282" r:id="rId17"/>
    <p:sldId id="267" r:id="rId18"/>
    <p:sldId id="268" r:id="rId19"/>
    <p:sldId id="276" r:id="rId20"/>
    <p:sldId id="277" r:id="rId21"/>
    <p:sldId id="281" r:id="rId22"/>
    <p:sldId id="269" r:id="rId23"/>
    <p:sldId id="270" r:id="rId24"/>
    <p:sldId id="271" r:id="rId25"/>
    <p:sldId id="272"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79" d="100"/>
          <a:sy n="79" d="100"/>
        </p:scale>
        <p:origin x="77"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87EAAF-8646-46E1-9057-0995A2F6E6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887EAAF-8646-46E1-9057-0995A2F6E6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2887EAAF-8646-46E1-9057-0995A2F6E6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2887EAAF-8646-46E1-9057-0995A2F6E63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2887EAAF-8646-46E1-9057-0995A2F6E63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887EAAF-8646-46E1-9057-0995A2F6E63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87EAAF-8646-46E1-9057-0995A2F6E63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887EAAF-8646-46E1-9057-0995A2F6E63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887EAAF-8646-46E1-9057-0995A2F6E63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887EAAF-8646-46E1-9057-0995A2F6E6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887EAAF-8646-46E1-9057-0995A2F6E6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27A06-A317-4B55-A25A-71B1DEBC43A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7EAAF-8646-46E1-9057-0995A2F6E63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F27A06-A317-4B55-A25A-71B1DEBC43A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387600"/>
          </a:xfrm>
        </p:spPr>
        <p:txBody>
          <a:bodyPr>
            <a:normAutofit/>
          </a:bodyPr>
          <a:lstStyle/>
          <a:p>
            <a:r>
              <a:rPr lang="en-GB" b="1" dirty="0" smtClean="0">
                <a:solidFill>
                  <a:srgbClr val="C00000"/>
                </a:solidFill>
                <a:latin typeface="Times New Roman" panose="02020603050405020304" pitchFamily="18" charset="0"/>
                <a:cs typeface="Times New Roman" panose="02020603050405020304" pitchFamily="18" charset="0"/>
              </a:rPr>
              <a:t>OSTEOLOGY OF THE RIBS AND THORAX VERTEBRAE</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t>BY</a:t>
            </a:r>
            <a:endParaRPr lang="en-GB" dirty="0" smtClean="0"/>
          </a:p>
          <a:p>
            <a:r>
              <a:rPr lang="en-GB" dirty="0" err="1" smtClean="0"/>
              <a:t>Dr.</a:t>
            </a:r>
            <a:r>
              <a:rPr lang="en-GB" dirty="0" smtClean="0"/>
              <a:t> F.O. IGELIGE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INTRODUCTION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1337912"/>
            <a:ext cx="12079705" cy="5520088"/>
          </a:xfrm>
        </p:spPr>
        <p:txBody>
          <a:bodyPr/>
          <a:lstStyle/>
          <a:p>
            <a:r>
              <a:rPr lang="en-US" dirty="0">
                <a:latin typeface="Times New Roman" panose="02020603050405020304" pitchFamily="18" charset="0"/>
                <a:cs typeface="Times New Roman" panose="02020603050405020304" pitchFamily="18" charset="0"/>
              </a:rPr>
              <a:t>The thoracic cage, also known as the rib cage, is the </a:t>
            </a:r>
            <a:r>
              <a:rPr lang="en-US" dirty="0" err="1">
                <a:latin typeface="Times New Roman" panose="02020603050405020304" pitchFamily="18" charset="0"/>
                <a:cs typeface="Times New Roman" panose="02020603050405020304" pitchFamily="18" charset="0"/>
              </a:rPr>
              <a:t>osteocartilaginous</a:t>
            </a:r>
            <a:r>
              <a:rPr lang="en-US" dirty="0">
                <a:latin typeface="Times New Roman" panose="02020603050405020304" pitchFamily="18" charset="0"/>
                <a:cs typeface="Times New Roman" panose="02020603050405020304" pitchFamily="18" charset="0"/>
              </a:rPr>
              <a:t> structure that encloses the thorax.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formed by the 12 </a:t>
            </a:r>
            <a:r>
              <a:rPr lang="en-US" u="sng" dirty="0">
                <a:latin typeface="Times New Roman" panose="02020603050405020304" pitchFamily="18" charset="0"/>
                <a:cs typeface="Times New Roman" panose="02020603050405020304" pitchFamily="18" charset="0"/>
              </a:rPr>
              <a:t>thoracic </a:t>
            </a:r>
            <a:r>
              <a:rPr lang="en-US" u="sng" dirty="0" smtClean="0">
                <a:latin typeface="Times New Roman" panose="02020603050405020304" pitchFamily="18" charset="0"/>
                <a:cs typeface="Times New Roman" panose="02020603050405020304" pitchFamily="18" charset="0"/>
              </a:rPr>
              <a:t>vertebrae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12 pairs of ribs and associated costal cartilages and the </a:t>
            </a:r>
            <a:r>
              <a:rPr lang="en-US" u="sng" dirty="0">
                <a:latin typeface="Times New Roman" panose="02020603050405020304" pitchFamily="18" charset="0"/>
                <a:cs typeface="Times New Roman" panose="02020603050405020304" pitchFamily="18" charset="0"/>
              </a:rPr>
              <a:t>sternum</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thoracic cage takes the form of a domed bird cage with the horizontal bars formed by </a:t>
            </a:r>
            <a:r>
              <a:rPr lang="en-US" u="sng" dirty="0">
                <a:latin typeface="Times New Roman" panose="02020603050405020304" pitchFamily="18" charset="0"/>
                <a:cs typeface="Times New Roman" panose="02020603050405020304" pitchFamily="18" charset="0"/>
              </a:rPr>
              <a:t>ribs</a:t>
            </a:r>
            <a:r>
              <a:rPr lang="en-US" dirty="0">
                <a:latin typeface="Times New Roman" panose="02020603050405020304" pitchFamily="18" charset="0"/>
                <a:cs typeface="Times New Roman" panose="02020603050405020304" pitchFamily="18" charset="0"/>
              </a:rPr>
              <a:t> and costal cartilages.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supported by the vertical sternum (anteriorly) and the 12 thoracic vertebrae (posteriorly).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6690"/>
            <a:ext cx="6428105" cy="6671310"/>
          </a:xfrm>
          <a:prstGeom prst="rect">
            <a:avLst/>
          </a:prstGeom>
        </p:spPr>
        <p:txBody>
          <a:bodyPr wrap="square">
            <a:noAutofit/>
          </a:bodyPr>
          <a:lstStyle/>
          <a:p>
            <a:r>
              <a:rPr lang="en-US" sz="2400" b="1" dirty="0" smtClean="0">
                <a:solidFill>
                  <a:srgbClr val="C00000"/>
                </a:solidFill>
                <a:latin typeface="Times New Roman" panose="02020603050405020304" pitchFamily="18" charset="0"/>
                <a:cs typeface="Times New Roman" panose="02020603050405020304" pitchFamily="18" charset="0"/>
              </a:rPr>
              <a:t>Characteristic Features</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The thoracic vertebrae have four features which distinguish them from other vertebrae:</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Vertebral body is heart shaped.</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Presence of demi-facets on the sides of each vertebral body – these articulate with the heads of the ribs.</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Presence of costal facets on the transverse processes – these articulate with the tubercles of the ribs.</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They are present on T1-T10 only.</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lang="en-US" sz="2400" dirty="0" smtClean="0">
                <a:latin typeface="Times New Roman" panose="02020603050405020304" pitchFamily="18" charset="0"/>
                <a:cs typeface="Times New Roman" panose="02020603050405020304" pitchFamily="18" charset="0"/>
              </a:rPr>
              <a:t>The </a:t>
            </a:r>
            <a:r>
              <a:rPr lang="en-US" sz="2400" dirty="0" err="1" smtClean="0">
                <a:latin typeface="Times New Roman" panose="02020603050405020304" pitchFamily="18" charset="0"/>
                <a:cs typeface="Times New Roman" panose="02020603050405020304" pitchFamily="18" charset="0"/>
              </a:rPr>
              <a:t>spinous</a:t>
            </a:r>
            <a:r>
              <a:rPr lang="en-US" sz="2400" dirty="0" smtClean="0">
                <a:latin typeface="Times New Roman" panose="02020603050405020304" pitchFamily="18" charset="0"/>
                <a:cs typeface="Times New Roman" panose="02020603050405020304" pitchFamily="18" charset="0"/>
              </a:rPr>
              <a:t> processes are long and slant inferiorly. This offers increased protection to the spinal cord, preventing an object such as a knife entering the spinal canal.</a:t>
            </a:r>
            <a:endParaRPr lang="en-US"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6289709" y="917722"/>
            <a:ext cx="5715000" cy="2962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 y="1"/>
            <a:ext cx="11276798" cy="1690688"/>
          </a:xfrm>
        </p:spPr>
        <p:txBody>
          <a:bodyPr>
            <a:normAutofit/>
          </a:bodyPr>
          <a:lstStyle/>
          <a:p>
            <a:r>
              <a:rPr lang="en-GB" sz="4800" b="1" dirty="0" smtClean="0">
                <a:solidFill>
                  <a:srgbClr val="C00000"/>
                </a:solidFill>
                <a:latin typeface="Times New Roman" panose="02020603050405020304" pitchFamily="18" charset="0"/>
                <a:cs typeface="Times New Roman" panose="02020603050405020304" pitchFamily="18" charset="0"/>
              </a:rPr>
              <a:t>FUNCTION OF THE THORACIC CAGE</a:t>
            </a:r>
            <a:endParaRPr lang="en-US"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001" y="1690689"/>
            <a:ext cx="11925701" cy="4486274"/>
          </a:xfrm>
        </p:spPr>
        <p:txBody>
          <a:bodyPr/>
          <a:lstStyle/>
          <a:p>
            <a:r>
              <a:rPr lang="en-US" dirty="0">
                <a:latin typeface="Times New Roman" panose="02020603050405020304" pitchFamily="18" charset="0"/>
                <a:cs typeface="Times New Roman" panose="02020603050405020304" pitchFamily="18" charset="0"/>
              </a:rPr>
              <a:t>The main function of the thoracic cage is to support </a:t>
            </a:r>
            <a:r>
              <a:rPr lang="en-US" u="sng" dirty="0">
                <a:latin typeface="Times New Roman" panose="02020603050405020304" pitchFamily="18" charset="0"/>
                <a:cs typeface="Times New Roman" panose="02020603050405020304" pitchFamily="18" charset="0"/>
              </a:rPr>
              <a:t>thorax</a:t>
            </a:r>
            <a:r>
              <a:rPr lang="en-US" dirty="0">
                <a:latin typeface="Times New Roman" panose="02020603050405020304" pitchFamily="18" charset="0"/>
                <a:cs typeface="Times New Roman" panose="02020603050405020304" pitchFamily="18" charset="0"/>
              </a:rPr>
              <a:t> and protect the vital structures within it (e.g. </a:t>
            </a:r>
            <a:r>
              <a:rPr lang="en-US" u="sng" dirty="0">
                <a:latin typeface="Times New Roman" panose="02020603050405020304" pitchFamily="18" charset="0"/>
                <a:cs typeface="Times New Roman" panose="02020603050405020304" pitchFamily="18" charset="0"/>
              </a:rPr>
              <a:t>heart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rPr>
              <a:t>lungs</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rPr>
              <a:t>aorta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addition, the rigid structure of the cage allows it to be an attachment point for many muscles of the upper body and to support the weight of the </a:t>
            </a:r>
            <a:r>
              <a:rPr lang="en-US" u="sng" dirty="0">
                <a:latin typeface="Times New Roman" panose="02020603050405020304" pitchFamily="18" charset="0"/>
                <a:cs typeface="Times New Roman" panose="02020603050405020304" pitchFamily="18" charset="0"/>
              </a:rPr>
              <a:t>upper limbs</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thoracic cage also facilitates the act of </a:t>
            </a:r>
            <a:r>
              <a:rPr lang="en-US" u="sng" dirty="0">
                <a:latin typeface="Times New Roman" panose="02020603050405020304" pitchFamily="18" charset="0"/>
                <a:cs typeface="Times New Roman" panose="02020603050405020304" pitchFamily="18" charset="0"/>
              </a:rPr>
              <a:t>breathing</a:t>
            </a:r>
            <a:r>
              <a:rPr lang="en-US" dirty="0">
                <a:latin typeface="Times New Roman" panose="02020603050405020304" pitchFamily="18" charset="0"/>
                <a:cs typeface="Times New Roman" panose="02020603050405020304" pitchFamily="18" charset="0"/>
              </a:rPr>
              <a:t> by resisting the negative pressure generated by the elastic recoil of the lungs and respiration-induced movements.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8884118" y="1086702"/>
            <a:ext cx="3265019" cy="3933825"/>
          </a:xfrm>
          <a:prstGeom prst="rect">
            <a:avLst/>
          </a:prstGeom>
        </p:spPr>
      </p:pic>
      <p:pic>
        <p:nvPicPr>
          <p:cNvPr id="3" name="Picture 2"/>
          <p:cNvPicPr>
            <a:picLocks noChangeAspect="1"/>
          </p:cNvPicPr>
          <p:nvPr/>
        </p:nvPicPr>
        <p:blipFill>
          <a:blip r:embed="rId2"/>
          <a:stretch>
            <a:fillRect/>
          </a:stretch>
        </p:blipFill>
        <p:spPr>
          <a:xfrm>
            <a:off x="4615890" y="1086702"/>
            <a:ext cx="3933825" cy="3933825"/>
          </a:xfrm>
          <a:prstGeom prst="rect">
            <a:avLst/>
          </a:prstGeom>
        </p:spPr>
      </p:pic>
      <p:pic>
        <p:nvPicPr>
          <p:cNvPr id="4" name="Picture 3"/>
          <p:cNvPicPr>
            <a:picLocks noChangeAspect="1"/>
          </p:cNvPicPr>
          <p:nvPr/>
        </p:nvPicPr>
        <p:blipFill>
          <a:blip r:embed="rId3"/>
          <a:stretch>
            <a:fillRect/>
          </a:stretch>
        </p:blipFill>
        <p:spPr>
          <a:xfrm>
            <a:off x="0" y="548640"/>
            <a:ext cx="4281487" cy="46875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817"/>
            <a:ext cx="12192000" cy="6801862"/>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 			</a:t>
            </a:r>
            <a:r>
              <a:rPr lang="en-US" sz="4400" b="1" dirty="0" smtClean="0">
                <a:solidFill>
                  <a:srgbClr val="C00000"/>
                </a:solidFill>
                <a:latin typeface="Times New Roman" panose="02020603050405020304" pitchFamily="18" charset="0"/>
                <a:cs typeface="Times New Roman" panose="02020603050405020304" pitchFamily="18" charset="0"/>
              </a:rPr>
              <a:t>STERNUM</a:t>
            </a:r>
            <a:endParaRPr lang="en-US" sz="4400" b="1" dirty="0">
              <a:solidFill>
                <a:srgbClr val="C0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sternum (derived from the Greek word </a:t>
            </a:r>
            <a:r>
              <a:rPr lang="en-US" sz="2800" dirty="0" err="1" smtClean="0">
                <a:latin typeface="Times New Roman" panose="02020603050405020304" pitchFamily="18" charset="0"/>
                <a:cs typeface="Times New Roman" panose="02020603050405020304" pitchFamily="18" charset="0"/>
              </a:rPr>
              <a:t>sternon</a:t>
            </a:r>
            <a:r>
              <a:rPr lang="en-US" sz="2800" dirty="0" smtClean="0">
                <a:latin typeface="Times New Roman" panose="02020603050405020304" pitchFamily="18" charset="0"/>
                <a:cs typeface="Times New Roman" panose="02020603050405020304" pitchFamily="18" charset="0"/>
              </a:rPr>
              <a:t> meaning chest) is a vertical bone located in the midline. It forms the anterior portion of the chest wall.</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sternum consists of three distinct bony parts:</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sz="2800" dirty="0" smtClean="0">
                <a:latin typeface="Times New Roman" panose="02020603050405020304" pitchFamily="18" charset="0"/>
                <a:cs typeface="Times New Roman" panose="02020603050405020304" pitchFamily="18" charset="0"/>
              </a:rPr>
              <a:t>The manubrium</a:t>
            </a:r>
            <a:endParaRPr lang="en-US" sz="2800" dirty="0" smtClean="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sz="2800" dirty="0" smtClean="0">
                <a:latin typeface="Times New Roman" panose="02020603050405020304" pitchFamily="18" charset="0"/>
                <a:cs typeface="Times New Roman" panose="02020603050405020304" pitchFamily="18" charset="0"/>
              </a:rPr>
              <a:t>The body of sternum</a:t>
            </a:r>
            <a:endParaRPr lang="en-US" sz="2800" dirty="0" smtClean="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sz="2800" dirty="0" smtClean="0">
                <a:latin typeface="Times New Roman" panose="02020603050405020304" pitchFamily="18" charset="0"/>
                <a:cs typeface="Times New Roman" panose="02020603050405020304" pitchFamily="18" charset="0"/>
              </a:rPr>
              <a:t>The xiphoid process</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b="1" dirty="0" smtClean="0">
                <a:solidFill>
                  <a:srgbClr val="C00000"/>
                </a:solidFill>
                <a:latin typeface="Times New Roman" panose="02020603050405020304" pitchFamily="18" charset="0"/>
                <a:cs typeface="Times New Roman" panose="02020603050405020304" pitchFamily="18" charset="0"/>
              </a:rPr>
              <a:t>The manubrium </a:t>
            </a:r>
            <a:r>
              <a:rPr lang="en-US" sz="2800" dirty="0" smtClean="0">
                <a:latin typeface="Times New Roman" panose="02020603050405020304" pitchFamily="18" charset="0"/>
                <a:cs typeface="Times New Roman" panose="02020603050405020304" pitchFamily="18" charset="0"/>
              </a:rPr>
              <a:t>is the </a:t>
            </a:r>
            <a:r>
              <a:rPr lang="en-US" sz="2800" dirty="0" err="1" smtClean="0">
                <a:latin typeface="Times New Roman" panose="02020603050405020304" pitchFamily="18" charset="0"/>
                <a:cs typeface="Times New Roman" panose="02020603050405020304" pitchFamily="18" charset="0"/>
              </a:rPr>
              <a:t>superiormost</a:t>
            </a:r>
            <a:r>
              <a:rPr lang="en-US" sz="2800" dirty="0" smtClean="0">
                <a:latin typeface="Times New Roman" panose="02020603050405020304" pitchFamily="18" charset="0"/>
                <a:cs typeface="Times New Roman" panose="02020603050405020304" pitchFamily="18" charset="0"/>
              </a:rPr>
              <a:t> part of the sternum. It is also thicker and wider than other parts of the sternum. </a:t>
            </a:r>
            <a:endParaRPr lang="en-US"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manubrium forms articulations with the clavicle (</a:t>
            </a:r>
            <a:r>
              <a:rPr lang="en-US" sz="2800" dirty="0" err="1" smtClean="0">
                <a:latin typeface="Times New Roman" panose="02020603050405020304" pitchFamily="18" charset="0"/>
                <a:cs typeface="Times New Roman" panose="02020603050405020304" pitchFamily="18" charset="0"/>
              </a:rPr>
              <a:t>sternoclavicular</a:t>
            </a:r>
            <a:r>
              <a:rPr lang="en-US" sz="2800" dirty="0" smtClean="0">
                <a:latin typeface="Times New Roman" panose="02020603050405020304" pitchFamily="18" charset="0"/>
                <a:cs typeface="Times New Roman" panose="02020603050405020304" pitchFamily="18" charset="0"/>
              </a:rPr>
              <a:t> joint), body of the sternum (</a:t>
            </a:r>
            <a:r>
              <a:rPr lang="en-US" sz="2800" dirty="0" err="1" smtClean="0">
                <a:latin typeface="Times New Roman" panose="02020603050405020304" pitchFamily="18" charset="0"/>
                <a:cs typeface="Times New Roman" panose="02020603050405020304" pitchFamily="18" charset="0"/>
              </a:rPr>
              <a:t>manubriosternal</a:t>
            </a:r>
            <a:r>
              <a:rPr lang="en-US" sz="2800" dirty="0" smtClean="0">
                <a:latin typeface="Times New Roman" panose="02020603050405020304" pitchFamily="18" charset="0"/>
                <a:cs typeface="Times New Roman" panose="02020603050405020304" pitchFamily="18" charset="0"/>
              </a:rPr>
              <a:t> joint), first rib and superior half of the second rib (</a:t>
            </a:r>
            <a:r>
              <a:rPr lang="en-US" sz="2800" dirty="0" err="1" smtClean="0">
                <a:latin typeface="Times New Roman" panose="02020603050405020304" pitchFamily="18" charset="0"/>
                <a:cs typeface="Times New Roman" panose="02020603050405020304" pitchFamily="18" charset="0"/>
              </a:rPr>
              <a:t>sternocostal</a:t>
            </a:r>
            <a:r>
              <a:rPr lang="en-US" sz="2800" dirty="0" smtClean="0">
                <a:latin typeface="Times New Roman" panose="02020603050405020304" pitchFamily="18" charset="0"/>
                <a:cs typeface="Times New Roman" panose="02020603050405020304" pitchFamily="18" charset="0"/>
              </a:rPr>
              <a:t> joints).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104924"/>
            <a:ext cx="3933825" cy="3933825"/>
          </a:xfrm>
          <a:prstGeom prst="rect">
            <a:avLst/>
          </a:prstGeom>
        </p:spPr>
      </p:pic>
      <p:pic>
        <p:nvPicPr>
          <p:cNvPr id="3" name="Picture 2"/>
          <p:cNvPicPr>
            <a:picLocks noChangeAspect="1"/>
          </p:cNvPicPr>
          <p:nvPr/>
        </p:nvPicPr>
        <p:blipFill>
          <a:blip r:embed="rId2"/>
          <a:stretch>
            <a:fillRect/>
          </a:stretch>
        </p:blipFill>
        <p:spPr>
          <a:xfrm>
            <a:off x="4058954" y="106488"/>
            <a:ext cx="3938357" cy="3932261"/>
          </a:xfrm>
          <a:prstGeom prst="rect">
            <a:avLst/>
          </a:prstGeom>
        </p:spPr>
      </p:pic>
      <p:pic>
        <p:nvPicPr>
          <p:cNvPr id="4" name="Content Placeholder 3"/>
          <p:cNvPicPr>
            <a:picLocks noChangeAspect="1"/>
          </p:cNvPicPr>
          <p:nvPr/>
        </p:nvPicPr>
        <p:blipFill>
          <a:blip r:embed="rId3"/>
          <a:stretch>
            <a:fillRect/>
          </a:stretch>
        </p:blipFill>
        <p:spPr>
          <a:xfrm>
            <a:off x="7910684" y="340335"/>
            <a:ext cx="3933825" cy="3933825"/>
          </a:xfrm>
          <a:prstGeom prst="rect">
            <a:avLst/>
          </a:prstGeom>
        </p:spPr>
      </p:pic>
      <p:sp>
        <p:nvSpPr>
          <p:cNvPr id="5" name="Rectangle 4"/>
          <p:cNvSpPr/>
          <p:nvPr/>
        </p:nvSpPr>
        <p:spPr>
          <a:xfrm>
            <a:off x="0" y="4508007"/>
            <a:ext cx="12191999" cy="1815882"/>
          </a:xfrm>
          <a:prstGeom prst="rect">
            <a:avLst/>
          </a:prstGeom>
        </p:spPr>
        <p:txBody>
          <a:bodyPr wrap="square">
            <a:spAutoFit/>
          </a:bodyPr>
          <a:lstStyle/>
          <a:p>
            <a:r>
              <a:rPr lang="en-US" sz="2800" b="1" i="0" dirty="0" smtClean="0">
                <a:solidFill>
                  <a:srgbClr val="C00000"/>
                </a:solidFill>
                <a:effectLst/>
                <a:latin typeface="Times New Roman" panose="02020603050405020304" pitchFamily="18" charset="0"/>
                <a:cs typeface="Times New Roman" panose="02020603050405020304" pitchFamily="18" charset="0"/>
              </a:rPr>
              <a:t>The xiphoid process</a:t>
            </a:r>
            <a:r>
              <a:rPr lang="en-US" sz="2800" b="0" i="0" dirty="0" smtClean="0">
                <a:solidFill>
                  <a:srgbClr val="495354"/>
                </a:solidFill>
                <a:effectLst/>
                <a:latin typeface="Times New Roman" panose="02020603050405020304" pitchFamily="18" charset="0"/>
                <a:cs typeface="Times New Roman" panose="02020603050405020304" pitchFamily="18" charset="0"/>
              </a:rPr>
              <a:t> is the smallest and most inferior portion of the sternum, positioned t the level of the T10 vertebra. The xiphoid process is part of the inferior margin of the thoracic cavity and marks the </a:t>
            </a:r>
            <a:r>
              <a:rPr lang="en-US" sz="2800" b="0" i="0" dirty="0" err="1" smtClean="0">
                <a:solidFill>
                  <a:srgbClr val="495354"/>
                </a:solidFill>
                <a:effectLst/>
                <a:latin typeface="Times New Roman" panose="02020603050405020304" pitchFamily="18" charset="0"/>
                <a:cs typeface="Times New Roman" panose="02020603050405020304" pitchFamily="18" charset="0"/>
              </a:rPr>
              <a:t>infrasternal</a:t>
            </a:r>
            <a:r>
              <a:rPr lang="en-US" sz="2800" b="0" i="0" dirty="0" smtClean="0">
                <a:solidFill>
                  <a:srgbClr val="495354"/>
                </a:solidFill>
                <a:effectLst/>
                <a:latin typeface="Times New Roman" panose="02020603050405020304" pitchFamily="18" charset="0"/>
                <a:cs typeface="Times New Roman" panose="02020603050405020304" pitchFamily="18" charset="0"/>
              </a:rPr>
              <a:t> angle (subcostal angle) of the inferior thoracic aperture.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678751"/>
          </a:xfrm>
          <a:prstGeom prst="rect">
            <a:avLst/>
          </a:prstGeom>
        </p:spPr>
        <p:txBody>
          <a:bodyPr wrap="square">
            <a:spAutoFit/>
          </a:bodyPr>
          <a:lstStyle/>
          <a:p>
            <a:r>
              <a:rPr lang="en-GB" sz="3600" b="1" i="0" dirty="0" smtClean="0">
                <a:solidFill>
                  <a:srgbClr val="C00000"/>
                </a:solidFill>
                <a:effectLst/>
                <a:latin typeface="Times New Roman" panose="02020603050405020304" pitchFamily="18" charset="0"/>
                <a:cs typeface="Times New Roman" panose="02020603050405020304" pitchFamily="18" charset="0"/>
              </a:rPr>
              <a:t>BODY OF THE STERNUM</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2800" dirty="0">
              <a:solidFill>
                <a:srgbClr val="495354"/>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495354"/>
                </a:solidFill>
                <a:effectLst/>
                <a:latin typeface="Times New Roman" panose="02020603050405020304" pitchFamily="18" charset="0"/>
                <a:cs typeface="Times New Roman" panose="02020603050405020304" pitchFamily="18" charset="0"/>
              </a:rPr>
              <a:t>The body of the sternum extends from the manubrium to the xiphoid process (at the level of vertebrae T5–T9).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495354"/>
                </a:solidFill>
                <a:effectLst/>
                <a:latin typeface="Times New Roman" panose="02020603050405020304" pitchFamily="18" charset="0"/>
                <a:cs typeface="Times New Roman" panose="02020603050405020304" pitchFamily="18" charset="0"/>
              </a:rPr>
              <a:t>Superiorly, the body articulates with the manubrium and forms the </a:t>
            </a:r>
            <a:r>
              <a:rPr lang="en-US" sz="2800" b="1" i="0" u="sng" dirty="0" err="1" smtClean="0">
                <a:solidFill>
                  <a:srgbClr val="495354"/>
                </a:solidFill>
                <a:effectLst/>
                <a:latin typeface="Times New Roman" panose="02020603050405020304" pitchFamily="18" charset="0"/>
                <a:cs typeface="Times New Roman" panose="02020603050405020304" pitchFamily="18" charset="0"/>
              </a:rPr>
              <a:t>manubriosternal</a:t>
            </a:r>
            <a:r>
              <a:rPr lang="en-US" sz="2800" b="1" i="0" u="sng" dirty="0" smtClean="0">
                <a:solidFill>
                  <a:srgbClr val="495354"/>
                </a:solidFill>
                <a:effectLst/>
                <a:latin typeface="Times New Roman" panose="02020603050405020304" pitchFamily="18" charset="0"/>
                <a:cs typeface="Times New Roman" panose="02020603050405020304" pitchFamily="18" charset="0"/>
              </a:rPr>
              <a:t> joint</a:t>
            </a:r>
            <a:r>
              <a:rPr lang="en-US" sz="2800" b="0" i="0" dirty="0" smtClean="0">
                <a:solidFill>
                  <a:srgbClr val="495354"/>
                </a:solidFill>
                <a:effectLst/>
                <a:latin typeface="Times New Roman" panose="02020603050405020304" pitchFamily="18" charset="0"/>
                <a:cs typeface="Times New Roman" panose="02020603050405020304" pitchFamily="18" charset="0"/>
              </a:rPr>
              <a:t> and an anterior projection called the </a:t>
            </a:r>
            <a:r>
              <a:rPr lang="en-US" sz="2800" b="1" i="0" u="sng" dirty="0" smtClean="0">
                <a:solidFill>
                  <a:srgbClr val="495354"/>
                </a:solidFill>
                <a:effectLst/>
                <a:latin typeface="Times New Roman" panose="02020603050405020304" pitchFamily="18" charset="0"/>
                <a:cs typeface="Times New Roman" panose="02020603050405020304" pitchFamily="18" charset="0"/>
              </a:rPr>
              <a:t>sternal angle</a:t>
            </a:r>
            <a:r>
              <a:rPr lang="en-US" sz="2800" b="1" i="0" dirty="0" smtClean="0">
                <a:solidFill>
                  <a:srgbClr val="495354"/>
                </a:solidFill>
                <a:effectLst/>
                <a:latin typeface="Times New Roman" panose="02020603050405020304" pitchFamily="18" charset="0"/>
                <a:cs typeface="Times New Roman" panose="02020603050405020304" pitchFamily="18" charset="0"/>
              </a:rPr>
              <a:t> (of Louis)</a:t>
            </a:r>
            <a:r>
              <a:rPr lang="en-US" sz="2800" b="0" i="0" dirty="0" smtClean="0">
                <a:solidFill>
                  <a:srgbClr val="495354"/>
                </a:solidFill>
                <a:effectLst/>
                <a:latin typeface="Times New Roman" panose="02020603050405020304" pitchFamily="18" charset="0"/>
                <a:cs typeface="Times New Roman" panose="02020603050405020304" pitchFamily="18" charset="0"/>
              </a:rPr>
              <a:t>.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495354"/>
                </a:solidFill>
                <a:effectLst/>
                <a:latin typeface="Times New Roman" panose="02020603050405020304" pitchFamily="18" charset="0"/>
                <a:cs typeface="Times New Roman" panose="02020603050405020304" pitchFamily="18" charset="0"/>
              </a:rPr>
              <a:t>The sternal body bilaterally articulates with six ribs (2nd to 7th rib) on its lateral borders.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495354"/>
                </a:solidFill>
                <a:effectLst/>
                <a:latin typeface="Times New Roman" panose="02020603050405020304" pitchFamily="18" charset="0"/>
                <a:cs typeface="Times New Roman" panose="02020603050405020304" pitchFamily="18" charset="0"/>
              </a:rPr>
              <a:t>In addition, inferiorly the body articulates with the xiphoid process and forms the </a:t>
            </a:r>
            <a:r>
              <a:rPr lang="en-US" sz="2800" b="1" i="0" dirty="0" err="1" smtClean="0">
                <a:solidFill>
                  <a:srgbClr val="495354"/>
                </a:solidFill>
                <a:effectLst/>
                <a:latin typeface="Times New Roman" panose="02020603050405020304" pitchFamily="18" charset="0"/>
                <a:cs typeface="Times New Roman" panose="02020603050405020304" pitchFamily="18" charset="0"/>
              </a:rPr>
              <a:t>xiphisternal</a:t>
            </a:r>
            <a:r>
              <a:rPr lang="en-US" sz="2800" b="1" i="0" dirty="0" smtClean="0">
                <a:solidFill>
                  <a:srgbClr val="495354"/>
                </a:solidFill>
                <a:effectLst/>
                <a:latin typeface="Times New Roman" panose="02020603050405020304" pitchFamily="18" charset="0"/>
                <a:cs typeface="Times New Roman" panose="02020603050405020304" pitchFamily="18" charset="0"/>
              </a:rPr>
              <a:t> joint</a:t>
            </a:r>
            <a:r>
              <a:rPr lang="en-US" sz="2800" b="0" i="0" dirty="0" smtClean="0">
                <a:solidFill>
                  <a:srgbClr val="495354"/>
                </a:solidFill>
                <a:effectLst/>
                <a:latin typeface="Times New Roman" panose="02020603050405020304" pitchFamily="18" charset="0"/>
                <a:cs typeface="Times New Roman" panose="02020603050405020304" pitchFamily="18" charset="0"/>
              </a:rPr>
              <a:t>.</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0" i="0" dirty="0">
              <a:solidFill>
                <a:srgbClr val="49535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000" y="0"/>
            <a:ext cx="8681989" cy="6863417"/>
          </a:xfrm>
          <a:prstGeom prst="rect">
            <a:avLst/>
          </a:prstGeom>
        </p:spPr>
        <p:txBody>
          <a:bodyPr wrap="square">
            <a:spAutoFit/>
          </a:bodyPr>
          <a:lstStyle/>
          <a:p>
            <a:r>
              <a:rPr lang="en-GB" sz="4400" b="1" dirty="0" smtClean="0">
                <a:solidFill>
                  <a:srgbClr val="C00000"/>
                </a:solidFill>
                <a:latin typeface="Times New Roman" panose="02020603050405020304" pitchFamily="18" charset="0"/>
                <a:cs typeface="Times New Roman" panose="02020603050405020304" pitchFamily="18" charset="0"/>
              </a:rPr>
              <a:t>THORACIC VERTEBRAE</a:t>
            </a:r>
            <a:endParaRPr lang="en-US" sz="4400" b="1" i="0" dirty="0" smtClean="0">
              <a:solidFill>
                <a:srgbClr val="C00000"/>
              </a:solidFill>
              <a:effectLst/>
              <a:latin typeface="Times New Roman" panose="02020603050405020304" pitchFamily="18" charset="0"/>
              <a:cs typeface="Times New Roman" panose="02020603050405020304" pitchFamily="18" charset="0"/>
            </a:endParaRPr>
          </a:p>
          <a:p>
            <a:endParaRPr lang="en-US" dirty="0">
              <a:solidFill>
                <a:srgbClr val="495354"/>
              </a:solidFill>
              <a:latin typeface="PlutoSansLight"/>
            </a:endParaRPr>
          </a:p>
          <a:p>
            <a:endParaRPr lang="en-US" b="0" i="0" dirty="0" smtClean="0">
              <a:solidFill>
                <a:srgbClr val="495354"/>
              </a:solidFill>
              <a:effectLst/>
              <a:latin typeface="PlutoSansLight"/>
            </a:endParaRPr>
          </a:p>
          <a:p>
            <a:pPr marL="342900" indent="-34290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The </a:t>
            </a:r>
            <a:r>
              <a:rPr lang="en-US" sz="2400" b="0" i="0" u="sng" dirty="0" smtClean="0">
                <a:solidFill>
                  <a:srgbClr val="495354"/>
                </a:solidFill>
                <a:effectLst/>
                <a:latin typeface="Times New Roman" panose="02020603050405020304" pitchFamily="18" charset="0"/>
                <a:cs typeface="Times New Roman" panose="02020603050405020304" pitchFamily="18" charset="0"/>
              </a:rPr>
              <a:t>thoracic vertebrae</a:t>
            </a:r>
            <a:r>
              <a:rPr lang="en-US" sz="2400" b="0" i="0" dirty="0" smtClean="0">
                <a:solidFill>
                  <a:srgbClr val="495354"/>
                </a:solidFill>
                <a:effectLst/>
                <a:latin typeface="Times New Roman" panose="02020603050405020304" pitchFamily="18" charset="0"/>
                <a:cs typeface="Times New Roman" panose="02020603050405020304" pitchFamily="18" charset="0"/>
              </a:rPr>
              <a:t> are a group of 12 irregular bones that form the thoracic portion of the vertebral spine.</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r>
              <a:rPr lang="en-US" sz="2400" b="0" i="0" dirty="0" smtClean="0">
                <a:solidFill>
                  <a:srgbClr val="495354"/>
                </a:solidFill>
                <a:effectLst/>
                <a:latin typeface="Times New Roman" panose="02020603050405020304" pitchFamily="18" charset="0"/>
                <a:cs typeface="Times New Roman" panose="02020603050405020304" pitchFamily="18" charset="0"/>
              </a:rPr>
              <a:t> </a:t>
            </a:r>
            <a:endParaRPr lang="en-US" sz="2400" dirty="0">
              <a:solidFill>
                <a:srgbClr val="495354"/>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According to their structure, the thoracic vertebrae can be </a:t>
            </a:r>
            <a:r>
              <a:rPr lang="en-US" sz="2400" b="1" i="0" dirty="0" smtClean="0">
                <a:solidFill>
                  <a:srgbClr val="495354"/>
                </a:solidFill>
                <a:effectLst/>
                <a:latin typeface="Times New Roman" panose="02020603050405020304" pitchFamily="18" charset="0"/>
                <a:cs typeface="Times New Roman" panose="02020603050405020304" pitchFamily="18" charset="0"/>
              </a:rPr>
              <a:t>typical </a:t>
            </a:r>
            <a:r>
              <a:rPr lang="en-US" sz="2400" b="0" i="0" dirty="0" smtClean="0">
                <a:solidFill>
                  <a:srgbClr val="495354"/>
                </a:solidFill>
                <a:effectLst/>
                <a:latin typeface="Times New Roman" panose="02020603050405020304" pitchFamily="18" charset="0"/>
                <a:cs typeface="Times New Roman" panose="02020603050405020304" pitchFamily="18" charset="0"/>
              </a:rPr>
              <a:t>and </a:t>
            </a:r>
            <a:r>
              <a:rPr lang="en-US" sz="2400" b="1" i="0" dirty="0" smtClean="0">
                <a:solidFill>
                  <a:srgbClr val="495354"/>
                </a:solidFill>
                <a:effectLst/>
                <a:latin typeface="Times New Roman" panose="02020603050405020304" pitchFamily="18" charset="0"/>
                <a:cs typeface="Times New Roman" panose="02020603050405020304" pitchFamily="18" charset="0"/>
              </a:rPr>
              <a:t>atypical.</a:t>
            </a:r>
            <a:endParaRPr lang="en-US" sz="2400" b="1" i="0" dirty="0" smtClean="0">
              <a:solidFill>
                <a:srgbClr val="495354"/>
              </a:solidFill>
              <a:effectLst/>
              <a:latin typeface="Times New Roman" panose="02020603050405020304" pitchFamily="18" charset="0"/>
              <a:cs typeface="Times New Roman" panose="02020603050405020304" pitchFamily="18" charset="0"/>
            </a:endParaRPr>
          </a:p>
          <a:p>
            <a:endParaRPr lang="en-US" sz="2400" b="1" i="0" dirty="0" smtClean="0">
              <a:solidFill>
                <a:srgbClr val="495354"/>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The </a:t>
            </a:r>
            <a:r>
              <a:rPr lang="en-US" sz="2400" b="1" i="0" dirty="0" smtClean="0">
                <a:solidFill>
                  <a:srgbClr val="C00000"/>
                </a:solidFill>
                <a:effectLst/>
                <a:latin typeface="Times New Roman" panose="02020603050405020304" pitchFamily="18" charset="0"/>
                <a:cs typeface="Times New Roman" panose="02020603050405020304" pitchFamily="18" charset="0"/>
              </a:rPr>
              <a:t>typical vertebrae</a:t>
            </a:r>
            <a:r>
              <a:rPr lang="en-US" sz="2400" b="0" i="0" dirty="0" smtClean="0">
                <a:solidFill>
                  <a:srgbClr val="495354"/>
                </a:solidFill>
                <a:effectLst/>
                <a:latin typeface="Times New Roman" panose="02020603050405020304" pitchFamily="18" charset="0"/>
                <a:cs typeface="Times New Roman" panose="02020603050405020304" pitchFamily="18" charset="0"/>
              </a:rPr>
              <a:t> have vertebral bodies, arches, and processes for muscular and articular connections. </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They also have characteristic </a:t>
            </a:r>
            <a:r>
              <a:rPr lang="en-US" sz="2400" b="1" i="0" dirty="0" smtClean="0">
                <a:solidFill>
                  <a:srgbClr val="C00000"/>
                </a:solidFill>
                <a:effectLst/>
                <a:latin typeface="Times New Roman" panose="02020603050405020304" pitchFamily="18" charset="0"/>
                <a:cs typeface="Times New Roman" panose="02020603050405020304" pitchFamily="18" charset="0"/>
              </a:rPr>
              <a:t>long </a:t>
            </a:r>
            <a:r>
              <a:rPr lang="en-US" sz="2400" b="1" i="0" dirty="0" err="1" smtClean="0">
                <a:solidFill>
                  <a:srgbClr val="C00000"/>
                </a:solidFill>
                <a:effectLst/>
                <a:latin typeface="Times New Roman" panose="02020603050405020304" pitchFamily="18" charset="0"/>
                <a:cs typeface="Times New Roman" panose="02020603050405020304" pitchFamily="18" charset="0"/>
              </a:rPr>
              <a:t>spinous</a:t>
            </a:r>
            <a:r>
              <a:rPr lang="en-US" sz="2400" b="1" i="0" dirty="0" smtClean="0">
                <a:solidFill>
                  <a:srgbClr val="C00000"/>
                </a:solidFill>
                <a:effectLst/>
                <a:latin typeface="Times New Roman" panose="02020603050405020304" pitchFamily="18" charset="0"/>
                <a:cs typeface="Times New Roman" panose="02020603050405020304" pitchFamily="18" charset="0"/>
              </a:rPr>
              <a:t> processes </a:t>
            </a:r>
            <a:r>
              <a:rPr lang="en-US" sz="2400" b="0" i="0" dirty="0" smtClean="0">
                <a:solidFill>
                  <a:srgbClr val="495354"/>
                </a:solidFill>
                <a:effectLst/>
                <a:latin typeface="Times New Roman" panose="02020603050405020304" pitchFamily="18" charset="0"/>
                <a:cs typeface="Times New Roman" panose="02020603050405020304" pitchFamily="18" charset="0"/>
              </a:rPr>
              <a:t>and </a:t>
            </a:r>
            <a:r>
              <a:rPr lang="en-US" sz="2400" b="1" i="0" dirty="0" smtClean="0">
                <a:solidFill>
                  <a:srgbClr val="C00000"/>
                </a:solidFill>
                <a:effectLst/>
                <a:latin typeface="Times New Roman" panose="02020603050405020304" pitchFamily="18" charset="0"/>
                <a:cs typeface="Times New Roman" panose="02020603050405020304" pitchFamily="18" charset="0"/>
              </a:rPr>
              <a:t>two types of articular facets </a:t>
            </a:r>
            <a:r>
              <a:rPr lang="en-US" sz="2400" b="0" i="0" dirty="0" smtClean="0">
                <a:solidFill>
                  <a:srgbClr val="495354"/>
                </a:solidFill>
                <a:effectLst/>
                <a:latin typeface="Times New Roman" panose="02020603050405020304" pitchFamily="18" charset="0"/>
                <a:cs typeface="Times New Roman" panose="02020603050405020304" pitchFamily="18" charset="0"/>
              </a:rPr>
              <a:t>for articulation with the ribs: </a:t>
            </a:r>
            <a:r>
              <a:rPr lang="en-US" sz="2400" b="1" i="0" dirty="0" smtClean="0">
                <a:solidFill>
                  <a:srgbClr val="C00000"/>
                </a:solidFill>
                <a:effectLst/>
                <a:latin typeface="Times New Roman" panose="02020603050405020304" pitchFamily="18" charset="0"/>
                <a:cs typeface="Times New Roman" panose="02020603050405020304" pitchFamily="18" charset="0"/>
              </a:rPr>
              <a:t>bilateral costal facets</a:t>
            </a:r>
            <a:r>
              <a:rPr lang="en-US" sz="2400" b="0" i="0" dirty="0" smtClean="0">
                <a:solidFill>
                  <a:srgbClr val="495354"/>
                </a:solidFill>
                <a:effectLst/>
                <a:latin typeface="Times New Roman" panose="02020603050405020304" pitchFamily="18" charset="0"/>
                <a:cs typeface="Times New Roman" panose="02020603050405020304" pitchFamily="18" charset="0"/>
              </a:rPr>
              <a:t> (</a:t>
            </a:r>
            <a:r>
              <a:rPr lang="en-US" sz="2400" b="0" i="0" dirty="0" err="1" smtClean="0">
                <a:solidFill>
                  <a:srgbClr val="495354"/>
                </a:solidFill>
                <a:effectLst/>
                <a:latin typeface="Times New Roman" panose="02020603050405020304" pitchFamily="18" charset="0"/>
                <a:cs typeface="Times New Roman" panose="02020603050405020304" pitchFamily="18" charset="0"/>
              </a:rPr>
              <a:t>demifacets</a:t>
            </a:r>
            <a:r>
              <a:rPr lang="en-US" sz="2400" b="0" i="0" dirty="0" smtClean="0">
                <a:solidFill>
                  <a:srgbClr val="495354"/>
                </a:solidFill>
                <a:effectLst/>
                <a:latin typeface="Times New Roman" panose="02020603050405020304" pitchFamily="18" charset="0"/>
                <a:cs typeface="Times New Roman" panose="02020603050405020304" pitchFamily="18" charset="0"/>
              </a:rPr>
              <a:t>) on their bodies and costal facets on the transverse processes for articulation with the </a:t>
            </a:r>
            <a:r>
              <a:rPr lang="en-US" sz="2400" b="0" i="0" u="sng" dirty="0" smtClean="0">
                <a:solidFill>
                  <a:srgbClr val="495354"/>
                </a:solidFill>
                <a:effectLst/>
                <a:latin typeface="Times New Roman" panose="02020603050405020304" pitchFamily="18" charset="0"/>
                <a:cs typeface="Times New Roman" panose="02020603050405020304" pitchFamily="18" charset="0"/>
              </a:rPr>
              <a:t>tubercles of ribs</a:t>
            </a:r>
            <a:r>
              <a:rPr lang="en-US" sz="2400" b="0" i="0" dirty="0" smtClean="0">
                <a:solidFill>
                  <a:srgbClr val="495354"/>
                </a:solidFill>
                <a:effectLst/>
                <a:latin typeface="Times New Roman" panose="02020603050405020304" pitchFamily="18" charset="0"/>
                <a:cs typeface="Times New Roman" panose="02020603050405020304" pitchFamily="18" charset="0"/>
              </a:rPr>
              <a:t>.</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r>
              <a:rPr lang="en-US" sz="2400" b="0" i="0" dirty="0" smtClean="0">
                <a:solidFill>
                  <a:srgbClr val="495354"/>
                </a:solidFill>
                <a:effectLst/>
                <a:latin typeface="Times New Roman" panose="02020603050405020304" pitchFamily="18" charset="0"/>
                <a:cs typeface="Times New Roman" panose="02020603050405020304" pitchFamily="18" charset="0"/>
              </a:rPr>
              <a:t>In contrast, </a:t>
            </a:r>
            <a:r>
              <a:rPr lang="en-US" sz="2400" b="1" i="0" dirty="0" smtClean="0">
                <a:solidFill>
                  <a:srgbClr val="C00000"/>
                </a:solidFill>
                <a:effectLst/>
                <a:latin typeface="Times New Roman" panose="02020603050405020304" pitchFamily="18" charset="0"/>
                <a:cs typeface="Times New Roman" panose="02020603050405020304" pitchFamily="18" charset="0"/>
              </a:rPr>
              <a:t>atypical thoracic vertebrae </a:t>
            </a:r>
            <a:r>
              <a:rPr lang="en-US" sz="2400" b="0" i="0" dirty="0" smtClean="0">
                <a:solidFill>
                  <a:srgbClr val="495354"/>
                </a:solidFill>
                <a:effectLst/>
                <a:latin typeface="Times New Roman" panose="02020603050405020304" pitchFamily="18" charset="0"/>
                <a:cs typeface="Times New Roman" panose="02020603050405020304" pitchFamily="18" charset="0"/>
              </a:rPr>
              <a:t>(T1, T10, T11, T12).</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r>
              <a:rPr lang="en-US" sz="2400" b="0" i="0" dirty="0" smtClean="0">
                <a:solidFill>
                  <a:srgbClr val="495354"/>
                </a:solidFill>
                <a:effectLst/>
                <a:latin typeface="Times New Roman" panose="02020603050405020304" pitchFamily="18" charset="0"/>
                <a:cs typeface="Times New Roman" panose="02020603050405020304" pitchFamily="18" charset="0"/>
              </a:rPr>
              <a:t> These vertebrae have “whole costal facets” in place of </a:t>
            </a:r>
            <a:r>
              <a:rPr lang="en-US" sz="2400" b="0" i="0" dirty="0" err="1" smtClean="0">
                <a:solidFill>
                  <a:srgbClr val="495354"/>
                </a:solidFill>
                <a:effectLst/>
                <a:latin typeface="Times New Roman" panose="02020603050405020304" pitchFamily="18" charset="0"/>
                <a:cs typeface="Times New Roman" panose="02020603050405020304" pitchFamily="18" charset="0"/>
              </a:rPr>
              <a:t>demifacets</a:t>
            </a:r>
            <a:endParaRPr lang="en-US" sz="2400" b="0" i="0" dirty="0">
              <a:solidFill>
                <a:srgbClr val="495354"/>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855242" y="124175"/>
            <a:ext cx="3262813" cy="3933825"/>
          </a:xfrm>
          <a:prstGeom prst="rect">
            <a:avLst/>
          </a:prstGeom>
        </p:spPr>
      </p:pic>
      <p:pic>
        <p:nvPicPr>
          <p:cNvPr id="4" name="Picture 3"/>
          <p:cNvPicPr>
            <a:picLocks noChangeAspect="1"/>
          </p:cNvPicPr>
          <p:nvPr/>
        </p:nvPicPr>
        <p:blipFill>
          <a:blip r:embed="rId2"/>
          <a:stretch>
            <a:fillRect/>
          </a:stretch>
        </p:blipFill>
        <p:spPr>
          <a:xfrm>
            <a:off x="8932244" y="4350619"/>
            <a:ext cx="3185811" cy="24977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3420"/>
            <a:ext cx="12192000" cy="6186309"/>
          </a:xfrm>
          <a:prstGeom prst="rect">
            <a:avLst/>
          </a:prstGeom>
        </p:spPr>
        <p:txBody>
          <a:bodyPr wrap="square">
            <a:spAutoFit/>
          </a:bodyPr>
          <a:lstStyle/>
          <a:p>
            <a:r>
              <a:rPr lang="en-US" sz="4400" b="1" i="0" u="sng" dirty="0" smtClean="0">
                <a:solidFill>
                  <a:srgbClr val="C00000"/>
                </a:solidFill>
                <a:effectLst/>
                <a:latin typeface="Times New Roman" panose="02020603050405020304" pitchFamily="18" charset="0"/>
                <a:cs typeface="Times New Roman" panose="02020603050405020304" pitchFamily="18" charset="0"/>
              </a:rPr>
              <a:t>Atypical Vertebrae</a:t>
            </a:r>
            <a:endParaRPr lang="en-US" sz="4400" b="1" i="0" u="sng" dirty="0" smtClean="0">
              <a:solidFill>
                <a:srgbClr val="C00000"/>
              </a:solidFill>
              <a:effectLst/>
              <a:latin typeface="Times New Roman" panose="02020603050405020304" pitchFamily="18" charset="0"/>
              <a:cs typeface="Times New Roman" panose="02020603050405020304" pitchFamily="18" charset="0"/>
            </a:endParaRPr>
          </a:p>
          <a:p>
            <a:endParaRPr lang="en-US" sz="4400" b="0" i="0" dirty="0" smtClean="0">
              <a:solidFill>
                <a:srgbClr val="C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b="0" i="0" dirty="0" smtClean="0">
                <a:solidFill>
                  <a:srgbClr val="000000"/>
                </a:solidFill>
                <a:effectLst/>
                <a:latin typeface="Times New Roman" panose="02020603050405020304" pitchFamily="18" charset="0"/>
                <a:cs typeface="Times New Roman" panose="02020603050405020304" pitchFamily="18" charset="0"/>
              </a:rPr>
              <a:t>The atypical thoracic vertebrae display variation in the size, location and number of their superior and inferior costal facets.</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T1</a:t>
            </a:r>
            <a:r>
              <a:rPr lang="en-US" sz="2800" b="0" i="0" dirty="0" smtClean="0">
                <a:solidFill>
                  <a:srgbClr val="000000"/>
                </a:solidFill>
                <a:effectLst/>
                <a:latin typeface="Times New Roman" panose="02020603050405020304" pitchFamily="18" charset="0"/>
                <a:cs typeface="Times New Roman" panose="02020603050405020304" pitchFamily="18" charset="0"/>
              </a:rPr>
              <a:t> – Superior facet is not a </a:t>
            </a:r>
            <a:r>
              <a:rPr lang="en-US" sz="2800" b="0" i="0" dirty="0" err="1" smtClean="0">
                <a:solidFill>
                  <a:srgbClr val="000000"/>
                </a:solidFill>
                <a:effectLst/>
                <a:latin typeface="Times New Roman" panose="02020603050405020304" pitchFamily="18" charset="0"/>
                <a:cs typeface="Times New Roman" panose="02020603050405020304" pitchFamily="18" charset="0"/>
              </a:rPr>
              <a:t>demifacet</a:t>
            </a:r>
            <a:r>
              <a:rPr lang="en-US" sz="2800" b="0" i="0" dirty="0" smtClean="0">
                <a:solidFill>
                  <a:srgbClr val="000000"/>
                </a:solidFill>
                <a:effectLst/>
                <a:latin typeface="Times New Roman" panose="02020603050405020304" pitchFamily="18" charset="0"/>
                <a:cs typeface="Times New Roman" panose="02020603050405020304" pitchFamily="18" charset="0"/>
              </a:rPr>
              <a:t>, as this is the only vertebrae to articulate with the 1</a:t>
            </a:r>
            <a:r>
              <a:rPr lang="en-US" sz="2800" b="0" i="0" baseline="30000" dirty="0" smtClean="0">
                <a:solidFill>
                  <a:srgbClr val="000000"/>
                </a:solidFill>
                <a:effectLst/>
                <a:latin typeface="Times New Roman" panose="02020603050405020304" pitchFamily="18" charset="0"/>
                <a:cs typeface="Times New Roman" panose="02020603050405020304" pitchFamily="18" charset="0"/>
              </a:rPr>
              <a:t>st</a:t>
            </a:r>
            <a:r>
              <a:rPr lang="en-US" sz="2800" b="0" i="0" dirty="0" smtClean="0">
                <a:solidFill>
                  <a:srgbClr val="000000"/>
                </a:solidFill>
                <a:effectLst/>
                <a:latin typeface="Times New Roman" panose="02020603050405020304" pitchFamily="18" charset="0"/>
                <a:cs typeface="Times New Roman" panose="02020603050405020304" pitchFamily="18" charset="0"/>
              </a:rPr>
              <a:t> rib.</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T10</a:t>
            </a:r>
            <a:r>
              <a:rPr lang="en-US" sz="2800" b="0" i="0" dirty="0" smtClean="0">
                <a:solidFill>
                  <a:srgbClr val="000000"/>
                </a:solidFill>
                <a:effectLst/>
                <a:latin typeface="Times New Roman" panose="02020603050405020304" pitchFamily="18" charset="0"/>
                <a:cs typeface="Times New Roman" panose="02020603050405020304" pitchFamily="18" charset="0"/>
              </a:rPr>
              <a:t> – A single pair of whole facets is present which articulate with the 10</a:t>
            </a:r>
            <a:r>
              <a:rPr lang="en-US" sz="2800" b="0" i="0" baseline="30000" dirty="0" smtClean="0">
                <a:solidFill>
                  <a:srgbClr val="000000"/>
                </a:solidFill>
                <a:effectLst/>
                <a:latin typeface="Times New Roman" panose="02020603050405020304" pitchFamily="18" charset="0"/>
                <a:cs typeface="Times New Roman" panose="02020603050405020304" pitchFamily="18" charset="0"/>
              </a:rPr>
              <a:t>th</a:t>
            </a:r>
            <a:r>
              <a:rPr lang="en-US" sz="2800" b="0" i="0" dirty="0" smtClean="0">
                <a:solidFill>
                  <a:srgbClr val="000000"/>
                </a:solidFill>
                <a:effectLst/>
                <a:latin typeface="Times New Roman" panose="02020603050405020304" pitchFamily="18" charset="0"/>
                <a:cs typeface="Times New Roman" panose="02020603050405020304" pitchFamily="18" charset="0"/>
              </a:rPr>
              <a:t> rib. These facets are located across both the vertebral body and the pedicle.</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T11 </a:t>
            </a:r>
            <a:r>
              <a:rPr lang="en-US" sz="2800" b="0" i="0" dirty="0" smtClean="0">
                <a:solidFill>
                  <a:srgbClr val="000000"/>
                </a:solidFill>
                <a:effectLst/>
                <a:latin typeface="Times New Roman" panose="02020603050405020304" pitchFamily="18" charset="0"/>
                <a:cs typeface="Times New Roman" panose="02020603050405020304" pitchFamily="18" charset="0"/>
              </a:rPr>
              <a:t>and </a:t>
            </a:r>
            <a:r>
              <a:rPr lang="en-US" sz="2800" b="1" i="0" dirty="0" smtClean="0">
                <a:solidFill>
                  <a:srgbClr val="000000"/>
                </a:solidFill>
                <a:effectLst/>
                <a:latin typeface="Times New Roman" panose="02020603050405020304" pitchFamily="18" charset="0"/>
                <a:cs typeface="Times New Roman" panose="02020603050405020304" pitchFamily="18" charset="0"/>
              </a:rPr>
              <a:t>T12</a:t>
            </a:r>
            <a:r>
              <a:rPr lang="en-US" sz="2800" b="0" i="0" dirty="0" smtClean="0">
                <a:solidFill>
                  <a:srgbClr val="000000"/>
                </a:solidFill>
                <a:effectLst/>
                <a:latin typeface="Times New Roman" panose="02020603050405020304" pitchFamily="18" charset="0"/>
                <a:cs typeface="Times New Roman" panose="02020603050405020304" pitchFamily="18" charset="0"/>
              </a:rPr>
              <a:t> – Each have a single pair of entire costal facets, which are located on the pedicles.</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002" y="0"/>
            <a:ext cx="12114997" cy="6494085"/>
          </a:xfrm>
          <a:prstGeom prst="rect">
            <a:avLst/>
          </a:prstGeom>
        </p:spPr>
        <p:txBody>
          <a:bodyPr wrap="square">
            <a:spAutoFit/>
          </a:bodyPr>
          <a:lstStyle/>
          <a:p>
            <a:r>
              <a:rPr lang="en-US" sz="3200" b="1" u="sng" dirty="0" smtClean="0">
                <a:solidFill>
                  <a:srgbClr val="C00000"/>
                </a:solidFill>
                <a:latin typeface="Times New Roman" panose="02020603050405020304" pitchFamily="18" charset="0"/>
                <a:cs typeface="Times New Roman" panose="02020603050405020304" pitchFamily="18" charset="0"/>
              </a:rPr>
              <a:t>Superior and Inferior Costal Facets</a:t>
            </a:r>
            <a:endParaRPr lang="en-US" sz="3200" b="1" u="sng" dirty="0" smtClean="0">
              <a:solidFill>
                <a:srgbClr val="C00000"/>
              </a:solidFill>
              <a:latin typeface="Times New Roman" panose="02020603050405020304" pitchFamily="18" charset="0"/>
              <a:cs typeface="Times New Roman" panose="02020603050405020304" pitchFamily="18" charset="0"/>
            </a:endParaRPr>
          </a:p>
          <a:p>
            <a:endParaRPr lang="en-US" sz="3200" dirty="0" smtClean="0">
              <a:solidFill>
                <a:srgbClr val="C0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The superior and inferior costal facets are located on the sides of each vertebral body. </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They consist of </a:t>
            </a:r>
            <a:r>
              <a:rPr lang="en-US" sz="3200" b="1" dirty="0" smtClean="0">
                <a:latin typeface="Times New Roman" panose="02020603050405020304" pitchFamily="18" charset="0"/>
                <a:cs typeface="Times New Roman" panose="02020603050405020304" pitchFamily="18" charset="0"/>
              </a:rPr>
              <a:t>cartilage</a:t>
            </a:r>
            <a:r>
              <a:rPr lang="en-US" sz="3200" dirty="0" smtClean="0">
                <a:latin typeface="Times New Roman" panose="02020603050405020304" pitchFamily="18" charset="0"/>
                <a:cs typeface="Times New Roman" panose="02020603050405020304" pitchFamily="18" charset="0"/>
              </a:rPr>
              <a:t> lined depressions, which articulate with the heads of the ribs.  </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The superior facet articulates with the head of the adjacent rib, and the inferior facet articulates with the head of the rib below</a:t>
            </a:r>
            <a:endParaRPr lang="en-US" sz="32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In the majority of the vertebrae (T2-T9) these facets are </a:t>
            </a:r>
            <a:r>
              <a:rPr lang="en-US" sz="3200" b="1" dirty="0" smtClean="0">
                <a:latin typeface="Times New Roman" panose="02020603050405020304" pitchFamily="18" charset="0"/>
                <a:cs typeface="Times New Roman" panose="02020603050405020304" pitchFamily="18" charset="0"/>
              </a:rPr>
              <a:t>demi-facets</a:t>
            </a:r>
            <a:r>
              <a:rPr lang="en-US" sz="3200" dirty="0" smtClean="0">
                <a:latin typeface="Times New Roman" panose="02020603050405020304" pitchFamily="18" charset="0"/>
                <a:cs typeface="Times New Roman" panose="02020603050405020304" pitchFamily="18" charset="0"/>
              </a:rPr>
              <a:t>. There are some atypical vertebrae that possess whole facets.</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1174"/>
            <a:ext cx="8133347" cy="7509748"/>
          </a:xfrm>
          <a:prstGeom prst="rect">
            <a:avLst/>
          </a:prstGeom>
        </p:spPr>
        <p:txBody>
          <a:bodyPr wrap="square">
            <a:spAutoFit/>
          </a:bodyPr>
          <a:lstStyle/>
          <a:p>
            <a:r>
              <a:rPr lang="en-GB" sz="4400" b="1" i="0" dirty="0" smtClean="0">
                <a:solidFill>
                  <a:srgbClr val="C00000"/>
                </a:solidFill>
                <a:effectLst/>
                <a:latin typeface="Times New Roman" panose="02020603050405020304" pitchFamily="18" charset="0"/>
                <a:cs typeface="Times New Roman" panose="02020603050405020304" pitchFamily="18" charset="0"/>
              </a:rPr>
              <a:t>THE RIBS</a:t>
            </a:r>
            <a:endParaRPr lang="en-US" sz="4400" b="1" i="0" dirty="0" smtClean="0">
              <a:solidFill>
                <a:srgbClr val="C00000"/>
              </a:solidFill>
              <a:effectLst/>
              <a:latin typeface="Times New Roman" panose="02020603050405020304" pitchFamily="18" charset="0"/>
              <a:cs typeface="Times New Roman" panose="02020603050405020304" pitchFamily="18" charset="0"/>
            </a:endParaRPr>
          </a:p>
          <a:p>
            <a:r>
              <a:rPr lang="en-US" sz="2800" b="0" i="0" dirty="0" smtClean="0">
                <a:solidFill>
                  <a:srgbClr val="495354"/>
                </a:solidFill>
                <a:effectLst/>
                <a:latin typeface="Times New Roman" panose="02020603050405020304" pitchFamily="18" charset="0"/>
                <a:cs typeface="Times New Roman" panose="02020603050405020304" pitchFamily="18" charset="0"/>
              </a:rPr>
              <a:t>The ribs are long, flat bones that enclose most of the thoracic cage. Anteriorly, the ribs are elongated with their costal cartilages which then connect with the sternum.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r>
              <a:rPr lang="en-US" sz="2800" b="0" i="0" dirty="0" smtClean="0">
                <a:solidFill>
                  <a:srgbClr val="495354"/>
                </a:solidFill>
                <a:effectLst/>
                <a:latin typeface="Times New Roman" panose="02020603050405020304" pitchFamily="18" charset="0"/>
                <a:cs typeface="Times New Roman" panose="02020603050405020304" pitchFamily="18" charset="0"/>
              </a:rPr>
              <a:t>The first seven (and sometimes the 8th) cartilages attach directly and independently to the sternum.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b="0" i="0" dirty="0" smtClean="0">
                <a:solidFill>
                  <a:srgbClr val="495354"/>
                </a:solidFill>
                <a:effectLst/>
                <a:latin typeface="Times New Roman" panose="02020603050405020304" pitchFamily="18" charset="0"/>
                <a:cs typeface="Times New Roman" panose="02020603050405020304" pitchFamily="18" charset="0"/>
              </a:rPr>
              <a:t>The 8th, 9th and 10th cartilages articulate with the costal cartilages just superior to them, forming a continuous, articulated, cartilaginous </a:t>
            </a:r>
            <a:r>
              <a:rPr lang="en-US" sz="2800" b="0" i="0" u="sng" dirty="0" smtClean="0">
                <a:solidFill>
                  <a:srgbClr val="495354"/>
                </a:solidFill>
                <a:effectLst/>
                <a:latin typeface="Times New Roman" panose="02020603050405020304" pitchFamily="18" charset="0"/>
                <a:cs typeface="Times New Roman" panose="02020603050405020304" pitchFamily="18" charset="0"/>
              </a:rPr>
              <a:t>costal margin</a:t>
            </a:r>
            <a:r>
              <a:rPr lang="en-US" sz="2800" b="0" i="0" dirty="0" smtClean="0">
                <a:solidFill>
                  <a:srgbClr val="495354"/>
                </a:solidFill>
                <a:effectLst/>
                <a:latin typeface="Times New Roman" panose="02020603050405020304" pitchFamily="18" charset="0"/>
                <a:cs typeface="Times New Roman" panose="02020603050405020304" pitchFamily="18" charset="0"/>
              </a:rPr>
              <a:t> of the rib cage. </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b="0" i="0" dirty="0" smtClean="0">
                <a:solidFill>
                  <a:srgbClr val="495354"/>
                </a:solidFill>
                <a:effectLst/>
                <a:latin typeface="Times New Roman" panose="02020603050405020304" pitchFamily="18" charset="0"/>
                <a:cs typeface="Times New Roman" panose="02020603050405020304" pitchFamily="18" charset="0"/>
              </a:rPr>
              <a:t>The costal cartilages contribute to the elasticity of the thoracic wall, providing a flexible attachment for their anterior or distal ends.</a:t>
            </a:r>
            <a:endParaRPr lang="en-US" sz="2800" b="0" i="0" dirty="0" smtClean="0">
              <a:solidFill>
                <a:srgbClr val="495354"/>
              </a:solidFill>
              <a:effectLst/>
              <a:latin typeface="Times New Roman" panose="02020603050405020304" pitchFamily="18" charset="0"/>
              <a:cs typeface="Times New Roman" panose="02020603050405020304" pitchFamily="18" charset="0"/>
            </a:endParaRPr>
          </a:p>
          <a:p>
            <a:r>
              <a:rPr lang="en-US" sz="2800" b="0" i="0" dirty="0" smtClean="0">
                <a:solidFill>
                  <a:srgbClr val="495354"/>
                </a:solidFill>
                <a:effectLst/>
                <a:latin typeface="Times New Roman" panose="02020603050405020304" pitchFamily="18" charset="0"/>
                <a:cs typeface="Times New Roman" panose="02020603050405020304" pitchFamily="18" charset="0"/>
              </a:rPr>
              <a:t>According to their structure, the ribs can be divided into two groups: typical and atypical.</a:t>
            </a:r>
            <a:endParaRPr lang="en-US" sz="2800" b="0" i="0" dirty="0">
              <a:solidFill>
                <a:srgbClr val="495354"/>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056345" y="0"/>
            <a:ext cx="4135654" cy="685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9287" y="-644892"/>
            <a:ext cx="5852160" cy="4567187"/>
          </a:xfrm>
          <a:prstGeom prst="rect">
            <a:avLst/>
          </a:prstGeom>
        </p:spPr>
      </p:pic>
      <p:pic>
        <p:nvPicPr>
          <p:cNvPr id="3" name="Picture 2"/>
          <p:cNvPicPr>
            <a:picLocks noChangeAspect="1"/>
          </p:cNvPicPr>
          <p:nvPr/>
        </p:nvPicPr>
        <p:blipFill>
          <a:blip r:embed="rId2"/>
          <a:stretch>
            <a:fillRect/>
          </a:stretch>
        </p:blipFill>
        <p:spPr>
          <a:xfrm>
            <a:off x="5771749" y="209349"/>
            <a:ext cx="6327207" cy="4148488"/>
          </a:xfrm>
          <a:prstGeom prst="rect">
            <a:avLst/>
          </a:prstGeom>
        </p:spPr>
      </p:pic>
      <p:sp>
        <p:nvSpPr>
          <p:cNvPr id="4" name="Rectangle 3"/>
          <p:cNvSpPr/>
          <p:nvPr/>
        </p:nvSpPr>
        <p:spPr>
          <a:xfrm>
            <a:off x="0" y="4357837"/>
            <a:ext cx="12098956" cy="1938992"/>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The atypical ribs (1st, 2nd, 10th-12th) also have a head, neck and body, however they differ by their morphology and/or unique landmarks (e.g. attachment points for </a:t>
            </a:r>
            <a:r>
              <a:rPr lang="en-US" sz="2400" dirty="0" err="1" smtClean="0">
                <a:latin typeface="Times New Roman" panose="02020603050405020304" pitchFamily="18" charset="0"/>
                <a:cs typeface="Times New Roman" panose="02020603050405020304" pitchFamily="18" charset="0"/>
              </a:rPr>
              <a:t>subclavius</a:t>
            </a:r>
            <a:r>
              <a:rPr lang="en-US" sz="2400" dirty="0" smtClean="0">
                <a:latin typeface="Times New Roman" panose="02020603050405020304" pitchFamily="18" charset="0"/>
                <a:cs typeface="Times New Roman" panose="02020603050405020304" pitchFamily="18" charset="0"/>
              </a:rPr>
              <a:t>/scalene muscles and </a:t>
            </a:r>
            <a:r>
              <a:rPr lang="en-US" sz="2400" dirty="0" err="1" smtClean="0">
                <a:latin typeface="Times New Roman" panose="02020603050405020304" pitchFamily="18" charset="0"/>
                <a:cs typeface="Times New Roman" panose="02020603050405020304" pitchFamily="18" charset="0"/>
              </a:rPr>
              <a:t>and</a:t>
            </a:r>
            <a:r>
              <a:rPr lang="en-US" sz="2400" dirty="0" smtClean="0">
                <a:latin typeface="Times New Roman" panose="02020603050405020304" pitchFamily="18" charset="0"/>
                <a:cs typeface="Times New Roman" panose="02020603050405020304" pitchFamily="18" charset="0"/>
              </a:rPr>
              <a:t> grooves for </a:t>
            </a:r>
            <a:r>
              <a:rPr lang="en-US" sz="2400" dirty="0" err="1" smtClean="0">
                <a:latin typeface="Times New Roman" panose="02020603050405020304" pitchFamily="18" charset="0"/>
                <a:cs typeface="Times New Roman" panose="02020603050405020304" pitchFamily="18" charset="0"/>
              </a:rPr>
              <a:t>subclavian</a:t>
            </a:r>
            <a:r>
              <a:rPr lang="en-US" sz="2400" dirty="0" smtClean="0">
                <a:latin typeface="Times New Roman" panose="02020603050405020304" pitchFamily="18" charset="0"/>
                <a:cs typeface="Times New Roman" panose="02020603050405020304" pitchFamily="18" charset="0"/>
              </a:rPr>
              <a:t> vessels (1st rib), tuberosity for </a:t>
            </a:r>
            <a:r>
              <a:rPr lang="en-US" sz="2400" dirty="0" err="1" smtClean="0">
                <a:latin typeface="Times New Roman" panose="02020603050405020304" pitchFamily="18" charset="0"/>
                <a:cs typeface="Times New Roman" panose="02020603050405020304" pitchFamily="18" charset="0"/>
              </a:rPr>
              <a:t>serratus</a:t>
            </a:r>
            <a:r>
              <a:rPr lang="en-US" sz="2400" dirty="0" smtClean="0">
                <a:latin typeface="Times New Roman" panose="02020603050405020304" pitchFamily="18" charset="0"/>
                <a:cs typeface="Times New Roman" panose="02020603050405020304" pitchFamily="18" charset="0"/>
              </a:rPr>
              <a:t> anterior muscle (2nd rib). The 11th and 12th ribs are more slender than the other ribs and lack several of the typical landmarks seen on typical ribs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999495" cy="6370975"/>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Typically, the ribs have the following anatomical components:</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Head with two articular facets</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Tubercle</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Neck</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Shaft</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Costal groove</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Most of the ribs are typical ribs; which means that they have all these features. The atypical ribs which do not have all these features are:</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First rib</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Second rib</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Tenth rib</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Eleventh rib</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Twelfth rib</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first rib is atypical because it is wide and short, has two costal grooves, and one articular facet.</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924" y="189902"/>
            <a:ext cx="11842282" cy="2677656"/>
          </a:xfrm>
          <a:prstGeom prst="rect">
            <a:avLst/>
          </a:prstGeom>
        </p:spPr>
        <p:txBody>
          <a:bodyPr wrap="square">
            <a:spAutoFit/>
          </a:bodyPr>
          <a:lstStyle/>
          <a:p>
            <a:r>
              <a:rPr lang="en-US" sz="2800" dirty="0" smtClean="0">
                <a:latin typeface="Times New Roman" panose="02020603050405020304" pitchFamily="18" charset="0"/>
                <a:cs typeface="Times New Roman" panose="02020603050405020304" pitchFamily="18" charset="0"/>
              </a:rPr>
              <a:t>The second rib is thin, long, and has a tuberosity on its superior surface for the attachment of the </a:t>
            </a:r>
            <a:r>
              <a:rPr lang="en-US" sz="2800" dirty="0" err="1" smtClean="0">
                <a:latin typeface="Times New Roman" panose="02020603050405020304" pitchFamily="18" charset="0"/>
                <a:cs typeface="Times New Roman" panose="02020603050405020304" pitchFamily="18" charset="0"/>
              </a:rPr>
              <a:t>serratus</a:t>
            </a:r>
            <a:r>
              <a:rPr lang="en-US" sz="2800" dirty="0" smtClean="0">
                <a:latin typeface="Times New Roman" panose="02020603050405020304" pitchFamily="18" charset="0"/>
                <a:cs typeface="Times New Roman" panose="02020603050405020304" pitchFamily="18" charset="0"/>
              </a:rPr>
              <a:t> anterior muscle.</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tenth rib has only one articular facet.</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eleventh and twelfth ribs have only one articular facet with no neck.</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5596" cy="6309420"/>
          </a:xfrm>
          <a:prstGeom prst="rect">
            <a:avLst/>
          </a:prstGeom>
        </p:spPr>
        <p:txBody>
          <a:bodyPr wrap="square">
            <a:spAutoFit/>
          </a:bodyPr>
          <a:lstStyle/>
          <a:p>
            <a:r>
              <a:rPr lang="en-US" sz="4400" b="1" i="0" dirty="0" smtClean="0">
                <a:solidFill>
                  <a:srgbClr val="C00000"/>
                </a:solidFill>
                <a:effectLst/>
                <a:latin typeface="Times New Roman" panose="02020603050405020304" pitchFamily="18" charset="0"/>
                <a:cs typeface="Times New Roman" panose="02020603050405020304" pitchFamily="18" charset="0"/>
              </a:rPr>
              <a:t>The </a:t>
            </a:r>
            <a:r>
              <a:rPr lang="en-US" sz="4400" b="1" i="0" u="sng" dirty="0" smtClean="0">
                <a:solidFill>
                  <a:srgbClr val="C00000"/>
                </a:solidFill>
                <a:effectLst/>
                <a:latin typeface="Times New Roman" panose="02020603050405020304" pitchFamily="18" charset="0"/>
                <a:cs typeface="Times New Roman" panose="02020603050405020304" pitchFamily="18" charset="0"/>
              </a:rPr>
              <a:t>intercostal spaces</a:t>
            </a:r>
            <a:endParaRPr lang="en-US" sz="4400" b="1" i="0" u="sng" dirty="0" smtClean="0">
              <a:solidFill>
                <a:srgbClr val="C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0" i="0" dirty="0" smtClean="0">
                <a:solidFill>
                  <a:srgbClr val="495354"/>
                </a:solidFill>
                <a:effectLst/>
                <a:latin typeface="var(--medium)"/>
              </a:rPr>
              <a:t> </a:t>
            </a:r>
            <a:r>
              <a:rPr lang="en-US" sz="2400" b="0" i="0" dirty="0" smtClean="0">
                <a:solidFill>
                  <a:srgbClr val="495354"/>
                </a:solidFill>
                <a:effectLst/>
                <a:latin typeface="Times New Roman" panose="02020603050405020304" pitchFamily="18" charset="0"/>
                <a:cs typeface="Times New Roman" panose="02020603050405020304" pitchFamily="18" charset="0"/>
              </a:rPr>
              <a:t>are simply the spaces between the ribs. </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They separate the ribs and their costal cartilages from one another and allow smooth expansion of the cage during inspiration. </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There are 11 intercostal spaces, and each space is named according to the rib which is the superior border of the space.</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0" i="0" dirty="0" smtClean="0">
                <a:solidFill>
                  <a:srgbClr val="495354"/>
                </a:solidFill>
                <a:effectLst/>
                <a:latin typeface="Times New Roman" panose="02020603050405020304" pitchFamily="18" charset="0"/>
                <a:cs typeface="Times New Roman" panose="02020603050405020304" pitchFamily="18" charset="0"/>
              </a:rPr>
              <a:t> For example, the 6th intercostal space is located between the 6th and 7th rib. </a:t>
            </a: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b="0" i="0" dirty="0" smtClean="0">
              <a:solidFill>
                <a:srgbClr val="495354"/>
              </a:solidFill>
              <a:effectLst/>
              <a:latin typeface="Times New Roman" panose="02020603050405020304" pitchFamily="18" charset="0"/>
              <a:cs typeface="Times New Roman" panose="02020603050405020304" pitchFamily="18" charset="0"/>
            </a:endParaRPr>
          </a:p>
          <a:p>
            <a:r>
              <a:rPr lang="en-US" sz="2400" b="0" i="0" dirty="0" smtClean="0">
                <a:solidFill>
                  <a:srgbClr val="495354"/>
                </a:solidFill>
                <a:effectLst/>
                <a:latin typeface="Times New Roman" panose="02020603050405020304" pitchFamily="18" charset="0"/>
                <a:cs typeface="Times New Roman" panose="02020603050405020304" pitchFamily="18" charset="0"/>
              </a:rPr>
              <a:t>Intercostal spaces are mainly occupied by </a:t>
            </a:r>
            <a:r>
              <a:rPr lang="en-US" sz="2400" b="0" i="0" u="sng" dirty="0" smtClean="0">
                <a:solidFill>
                  <a:srgbClr val="495354"/>
                </a:solidFill>
                <a:effectLst/>
                <a:latin typeface="Times New Roman" panose="02020603050405020304" pitchFamily="18" charset="0"/>
                <a:cs typeface="Times New Roman" panose="02020603050405020304" pitchFamily="18" charset="0"/>
              </a:rPr>
              <a:t>intercostal  muscles</a:t>
            </a:r>
            <a:r>
              <a:rPr lang="en-US" sz="2400" b="0" i="0" dirty="0" smtClean="0">
                <a:solidFill>
                  <a:srgbClr val="495354"/>
                </a:solidFill>
                <a:effectLst/>
                <a:latin typeface="Times New Roman" panose="02020603050405020304" pitchFamily="18" charset="0"/>
                <a:cs typeface="Times New Roman" panose="02020603050405020304" pitchFamily="18" charset="0"/>
              </a:rPr>
              <a:t> and membranes. The spaces also contain 11 </a:t>
            </a:r>
            <a:r>
              <a:rPr lang="en-US" sz="2400" b="0" i="0" u="sng" dirty="0" smtClean="0">
                <a:solidFill>
                  <a:srgbClr val="495354"/>
                </a:solidFill>
                <a:effectLst/>
                <a:latin typeface="Times New Roman" panose="02020603050405020304" pitchFamily="18" charset="0"/>
                <a:cs typeface="Times New Roman" panose="02020603050405020304" pitchFamily="18" charset="0"/>
              </a:rPr>
              <a:t>intercostal nerves</a:t>
            </a:r>
            <a:r>
              <a:rPr lang="en-US" sz="2400" b="0" i="0" dirty="0" smtClean="0">
                <a:solidFill>
                  <a:srgbClr val="495354"/>
                </a:solidFill>
                <a:effectLst/>
                <a:latin typeface="Times New Roman" panose="02020603050405020304" pitchFamily="18" charset="0"/>
                <a:cs typeface="Times New Roman" panose="02020603050405020304" pitchFamily="18" charset="0"/>
              </a:rPr>
              <a:t> and </a:t>
            </a:r>
            <a:r>
              <a:rPr lang="en-US" sz="2400" b="0" i="0" u="sng" dirty="0" smtClean="0">
                <a:solidFill>
                  <a:srgbClr val="495354"/>
                </a:solidFill>
                <a:effectLst/>
                <a:latin typeface="Times New Roman" panose="02020603050405020304" pitchFamily="18" charset="0"/>
                <a:cs typeface="Times New Roman" panose="02020603050405020304" pitchFamily="18" charset="0"/>
              </a:rPr>
              <a:t>intercostal blood vessels</a:t>
            </a:r>
            <a:r>
              <a:rPr lang="en-US" sz="2400" b="0" i="0" dirty="0" smtClean="0">
                <a:solidFill>
                  <a:srgbClr val="495354"/>
                </a:solidFill>
                <a:effectLst/>
                <a:latin typeface="Times New Roman" panose="02020603050405020304" pitchFamily="18" charset="0"/>
                <a:cs typeface="Times New Roman" panose="02020603050405020304" pitchFamily="18" charset="0"/>
              </a:rPr>
              <a:t> named by the same number assigned to the intercostal space. The space inferior to the 12th rib is referred to as the subcostal space. </a:t>
            </a:r>
            <a:endParaRPr lang="en-US" sz="2400" b="0" i="0" dirty="0">
              <a:solidFill>
                <a:srgbClr val="495354"/>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075596" y="0"/>
            <a:ext cx="3933825" cy="39338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569660"/>
          </a:xfrm>
          <a:prstGeom prst="rect">
            <a:avLst/>
          </a:prstGeom>
        </p:spPr>
        <p:txBody>
          <a:bodyPr wrap="square">
            <a:spAutoFit/>
          </a:bodyPr>
          <a:lstStyle/>
          <a:p>
            <a:r>
              <a:rPr lang="en-US" sz="2400" b="0" i="0" dirty="0" smtClean="0">
                <a:solidFill>
                  <a:srgbClr val="495354"/>
                </a:solidFill>
                <a:effectLst/>
                <a:latin typeface="Times New Roman" panose="02020603050405020304" pitchFamily="18" charset="0"/>
                <a:cs typeface="Times New Roman" panose="02020603050405020304" pitchFamily="18" charset="0"/>
              </a:rPr>
              <a:t>The spaces also contain 11 </a:t>
            </a:r>
            <a:r>
              <a:rPr lang="en-US" sz="2400" b="0" i="0" u="sng" dirty="0" smtClean="0">
                <a:solidFill>
                  <a:srgbClr val="495354"/>
                </a:solidFill>
                <a:effectLst/>
                <a:latin typeface="Times New Roman" panose="02020603050405020304" pitchFamily="18" charset="0"/>
                <a:cs typeface="Times New Roman" panose="02020603050405020304" pitchFamily="18" charset="0"/>
              </a:rPr>
              <a:t>intercostal nerves</a:t>
            </a:r>
            <a:r>
              <a:rPr lang="en-US" sz="2400" b="0" i="0" dirty="0" smtClean="0">
                <a:solidFill>
                  <a:srgbClr val="495354"/>
                </a:solidFill>
                <a:effectLst/>
                <a:latin typeface="Times New Roman" panose="02020603050405020304" pitchFamily="18" charset="0"/>
                <a:cs typeface="Times New Roman" panose="02020603050405020304" pitchFamily="18" charset="0"/>
              </a:rPr>
              <a:t> and </a:t>
            </a:r>
            <a:r>
              <a:rPr lang="en-US" sz="2400" b="0" i="0" u="sng" dirty="0" smtClean="0">
                <a:solidFill>
                  <a:srgbClr val="495354"/>
                </a:solidFill>
                <a:effectLst/>
                <a:latin typeface="Times New Roman" panose="02020603050405020304" pitchFamily="18" charset="0"/>
                <a:cs typeface="Times New Roman" panose="02020603050405020304" pitchFamily="18" charset="0"/>
              </a:rPr>
              <a:t>intercostal blood vessels</a:t>
            </a:r>
            <a:r>
              <a:rPr lang="en-US" sz="2400" b="0" i="0" dirty="0" smtClean="0">
                <a:solidFill>
                  <a:srgbClr val="495354"/>
                </a:solidFill>
                <a:effectLst/>
                <a:latin typeface="Times New Roman" panose="02020603050405020304" pitchFamily="18" charset="0"/>
                <a:cs typeface="Times New Roman" panose="02020603050405020304" pitchFamily="18" charset="0"/>
              </a:rPr>
              <a:t> named by the same number assigned to the intercostal space. The space inferior to the 12th rib is referred to as the subcostal space. The subcostal space hosts the anterior ramus of the </a:t>
            </a:r>
            <a:r>
              <a:rPr lang="en-US" sz="2400" b="0" i="0" u="sng" dirty="0" smtClean="0">
                <a:solidFill>
                  <a:srgbClr val="495354"/>
                </a:solidFill>
                <a:effectLst/>
                <a:latin typeface="Times New Roman" panose="02020603050405020304" pitchFamily="18" charset="0"/>
                <a:cs typeface="Times New Roman" panose="02020603050405020304" pitchFamily="18" charset="0"/>
              </a:rPr>
              <a:t>spinal nerve</a:t>
            </a:r>
            <a:r>
              <a:rPr lang="en-US" sz="2400" b="0" i="0" dirty="0" smtClean="0">
                <a:solidFill>
                  <a:srgbClr val="495354"/>
                </a:solidFill>
                <a:effectLst/>
                <a:latin typeface="Times New Roman" panose="02020603050405020304" pitchFamily="18" charset="0"/>
                <a:cs typeface="Times New Roman" panose="02020603050405020304" pitchFamily="18" charset="0"/>
              </a:rPr>
              <a:t> T12 runs through this space, and it is thus referred to as the </a:t>
            </a:r>
            <a:r>
              <a:rPr lang="en-US" sz="2400" b="0" i="0" u="sng" dirty="0" smtClean="0">
                <a:solidFill>
                  <a:srgbClr val="495354"/>
                </a:solidFill>
                <a:effectLst/>
                <a:latin typeface="Times New Roman" panose="02020603050405020304" pitchFamily="18" charset="0"/>
                <a:cs typeface="Times New Roman" panose="02020603050405020304" pitchFamily="18" charset="0"/>
              </a:rPr>
              <a:t>subcostal nerve</a:t>
            </a:r>
            <a:r>
              <a:rPr lang="en-US" sz="2400" b="0" i="0" dirty="0" smtClean="0">
                <a:solidFill>
                  <a:srgbClr val="495354"/>
                </a:solidFill>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208546" y="1569660"/>
            <a:ext cx="11983453" cy="5078313"/>
          </a:xfrm>
          <a:prstGeom prst="rect">
            <a:avLst/>
          </a:prstGeom>
        </p:spPr>
        <p:txBody>
          <a:bodyPr wrap="square">
            <a:spAutoFit/>
          </a:bodyPr>
          <a:lstStyle/>
          <a:p>
            <a:r>
              <a:rPr lang="en-US" sz="4400" b="1" dirty="0" smtClean="0">
                <a:solidFill>
                  <a:srgbClr val="C00000"/>
                </a:solidFill>
                <a:latin typeface="Times New Roman" panose="02020603050405020304" pitchFamily="18" charset="0"/>
                <a:cs typeface="Times New Roman" panose="02020603050405020304" pitchFamily="18" charset="0"/>
              </a:rPr>
              <a:t>		Joints</a:t>
            </a:r>
            <a:endParaRPr lang="en-US" sz="4400" b="1" dirty="0" smtClean="0">
              <a:solidFill>
                <a:srgbClr val="C00000"/>
              </a:solidFill>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joints forming the domed-shaped thoracic cage include the:</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Xiphisternal</a:t>
            </a:r>
            <a:r>
              <a:rPr lang="en-US" sz="2800" dirty="0" smtClean="0">
                <a:latin typeface="Times New Roman" panose="02020603050405020304" pitchFamily="18" charset="0"/>
                <a:cs typeface="Times New Roman" panose="02020603050405020304" pitchFamily="18" charset="0"/>
              </a:rPr>
              <a:t> joint – xiphoid process and body of sternum</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Intervertebral joints – between vertebrae</a:t>
            </a:r>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Sternochondral</a:t>
            </a:r>
            <a:r>
              <a:rPr lang="en-US" sz="2800" dirty="0" smtClean="0">
                <a:latin typeface="Times New Roman" panose="02020603050405020304" pitchFamily="18" charset="0"/>
                <a:cs typeface="Times New Roman" panose="02020603050405020304" pitchFamily="18" charset="0"/>
              </a:rPr>
              <a:t> joints – sternum and costal cartilages</a:t>
            </a:r>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Sternoclavicular</a:t>
            </a:r>
            <a:r>
              <a:rPr lang="en-US" sz="2800" dirty="0" smtClean="0">
                <a:latin typeface="Times New Roman" panose="02020603050405020304" pitchFamily="18" charset="0"/>
                <a:cs typeface="Times New Roman" panose="02020603050405020304" pitchFamily="18" charset="0"/>
              </a:rPr>
              <a:t> joints – manubrium and clavicles</a:t>
            </a:r>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Manubriosternal</a:t>
            </a:r>
            <a:r>
              <a:rPr lang="en-US" sz="2800" dirty="0" smtClean="0">
                <a:latin typeface="Times New Roman" panose="02020603050405020304" pitchFamily="18" charset="0"/>
                <a:cs typeface="Times New Roman" panose="02020603050405020304" pitchFamily="18" charset="0"/>
              </a:rPr>
              <a:t> joints – manubrium and body of sternum</a:t>
            </a:r>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Costochondral</a:t>
            </a:r>
            <a:r>
              <a:rPr lang="en-US" sz="2800" dirty="0" smtClean="0">
                <a:latin typeface="Times New Roman" panose="02020603050405020304" pitchFamily="18" charset="0"/>
                <a:cs typeface="Times New Roman" panose="02020603050405020304" pitchFamily="18" charset="0"/>
              </a:rPr>
              <a:t> joints – costal cartilage and rib</a:t>
            </a:r>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Costovertebral</a:t>
            </a:r>
            <a:r>
              <a:rPr lang="en-US" sz="2800" dirty="0" smtClean="0">
                <a:latin typeface="Times New Roman" panose="02020603050405020304" pitchFamily="18" charset="0"/>
                <a:cs typeface="Times New Roman" panose="02020603050405020304" pitchFamily="18" charset="0"/>
              </a:rPr>
              <a:t> joints – formed by the ribs and bodies of the vertebrae.</a:t>
            </a:r>
            <a:endParaRPr lang="en-US" sz="2800" dirty="0" smtClean="0">
              <a:latin typeface="Times New Roman" panose="02020603050405020304" pitchFamily="18" charset="0"/>
              <a:cs typeface="Times New Roman" panose="02020603050405020304" pitchFamily="18" charset="0"/>
            </a:endParaRPr>
          </a:p>
          <a:p>
            <a:r>
              <a:rPr lang="en-US" sz="2800" dirty="0" err="1" smtClean="0">
                <a:latin typeface="Times New Roman" panose="02020603050405020304" pitchFamily="18" charset="0"/>
                <a:cs typeface="Times New Roman" panose="02020603050405020304" pitchFamily="18" charset="0"/>
              </a:rPr>
              <a:t>Interchondral</a:t>
            </a:r>
            <a:r>
              <a:rPr lang="en-US" sz="2800" dirty="0" smtClean="0">
                <a:latin typeface="Times New Roman" panose="02020603050405020304" pitchFamily="18" charset="0"/>
                <a:cs typeface="Times New Roman" panose="02020603050405020304" pitchFamily="18" charset="0"/>
              </a:rPr>
              <a:t> joints – joining the costal cartilages to one another.</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9563"/>
            <a:ext cx="12192000" cy="5940088"/>
          </a:xfrm>
          <a:prstGeom prst="rect">
            <a:avLst/>
          </a:prstGeom>
        </p:spPr>
        <p:txBody>
          <a:bodyPr wrap="square">
            <a:spAutoFit/>
          </a:bodyPr>
          <a:lstStyle/>
          <a:p>
            <a:r>
              <a:rPr lang="en-US" sz="4400" b="1" dirty="0" smtClean="0">
                <a:solidFill>
                  <a:srgbClr val="C00000"/>
                </a:solidFill>
                <a:latin typeface="Times New Roman" panose="02020603050405020304" pitchFamily="18" charset="0"/>
                <a:cs typeface="Times New Roman" panose="02020603050405020304" pitchFamily="18" charset="0"/>
              </a:rPr>
              <a:t>			Joints</a:t>
            </a:r>
            <a:endParaRPr lang="en-US" sz="4400" b="1" dirty="0" smtClean="0">
              <a:solidFill>
                <a:srgbClr val="C00000"/>
              </a:solidFill>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joints of the thoracic spine can be divided into two groups – those that are </a:t>
            </a:r>
            <a:r>
              <a:rPr lang="en-US" sz="2800" dirty="0" smtClean="0">
                <a:solidFill>
                  <a:srgbClr val="C00000"/>
                </a:solidFill>
                <a:latin typeface="Times New Roman" panose="02020603050405020304" pitchFamily="18" charset="0"/>
                <a:cs typeface="Times New Roman" panose="02020603050405020304" pitchFamily="18" charset="0"/>
              </a:rPr>
              <a:t>present throughout the vertebral column</a:t>
            </a:r>
            <a:r>
              <a:rPr lang="en-US" sz="2800" dirty="0" smtClean="0">
                <a:latin typeface="Times New Roman" panose="02020603050405020304" pitchFamily="18" charset="0"/>
                <a:cs typeface="Times New Roman" panose="02020603050405020304" pitchFamily="18" charset="0"/>
              </a:rPr>
              <a:t>, and those </a:t>
            </a:r>
            <a:r>
              <a:rPr lang="en-US" sz="2800" dirty="0" smtClean="0">
                <a:solidFill>
                  <a:srgbClr val="C00000"/>
                </a:solidFill>
                <a:latin typeface="Times New Roman" panose="02020603050405020304" pitchFamily="18" charset="0"/>
                <a:cs typeface="Times New Roman" panose="02020603050405020304" pitchFamily="18" charset="0"/>
              </a:rPr>
              <a:t>unique to the thoracic spine</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solidFill>
                  <a:srgbClr val="C00000"/>
                </a:solidFill>
                <a:latin typeface="Times New Roman" panose="02020603050405020304" pitchFamily="18" charset="0"/>
                <a:cs typeface="Times New Roman" panose="02020603050405020304" pitchFamily="18" charset="0"/>
              </a:rPr>
              <a:t>Present throughout Vertebral Column</a:t>
            </a:r>
            <a:endParaRPr lang="en-US" sz="2800" dirty="0" smtClean="0">
              <a:solidFill>
                <a:srgbClr val="C00000"/>
              </a:solidFill>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There are two types of joints present throughout the vertebral column:</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b="1" dirty="0" smtClean="0">
                <a:solidFill>
                  <a:srgbClr val="C00000"/>
                </a:solidFill>
                <a:latin typeface="Times New Roman" panose="02020603050405020304" pitchFamily="18" charset="0"/>
                <a:cs typeface="Times New Roman" panose="02020603050405020304" pitchFamily="18" charset="0"/>
              </a:rPr>
              <a:t>Between vertebral bodies </a:t>
            </a:r>
            <a:r>
              <a:rPr lang="en-US" sz="2800" dirty="0" smtClean="0">
                <a:latin typeface="Times New Roman" panose="02020603050405020304" pitchFamily="18" charset="0"/>
                <a:cs typeface="Times New Roman" panose="02020603050405020304" pitchFamily="18" charset="0"/>
              </a:rPr>
              <a:t>– adjacent vertebral bodies are joined by intervertebral discs, made of fibrocartilage. This is a type of cartilaginous joint, known as a </a:t>
            </a:r>
            <a:r>
              <a:rPr lang="en-US" sz="2800" dirty="0" err="1" smtClean="0">
                <a:latin typeface="Times New Roman" panose="02020603050405020304" pitchFamily="18" charset="0"/>
                <a:cs typeface="Times New Roman" panose="02020603050405020304" pitchFamily="18" charset="0"/>
              </a:rPr>
              <a:t>symphysis</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r>
              <a:rPr lang="en-US" sz="2800" b="1" dirty="0" smtClean="0">
                <a:solidFill>
                  <a:srgbClr val="C00000"/>
                </a:solidFill>
                <a:latin typeface="Times New Roman" panose="02020603050405020304" pitchFamily="18" charset="0"/>
                <a:cs typeface="Times New Roman" panose="02020603050405020304" pitchFamily="18" charset="0"/>
              </a:rPr>
              <a:t>Between vertebral arches </a:t>
            </a:r>
            <a:r>
              <a:rPr lang="en-US" sz="2800" dirty="0" smtClean="0">
                <a:latin typeface="Times New Roman" panose="02020603050405020304" pitchFamily="18" charset="0"/>
                <a:cs typeface="Times New Roman" panose="02020603050405020304" pitchFamily="18" charset="0"/>
              </a:rPr>
              <a:t>– formed by the articulation of superior and inferior articular processes from adjacent vertebrae. It is a synovial type joint.</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9334"/>
            <a:ext cx="12191999" cy="6555641"/>
          </a:xfrm>
          <a:prstGeom prst="rect">
            <a:avLst/>
          </a:prstGeom>
        </p:spPr>
        <p:txBody>
          <a:bodyPr wrap="square">
            <a:spAutoFit/>
          </a:bodyPr>
          <a:lstStyle/>
          <a:p>
            <a:r>
              <a:rPr lang="en-US" sz="2800" b="1" dirty="0" smtClean="0">
                <a:solidFill>
                  <a:srgbClr val="C00000"/>
                </a:solidFill>
                <a:latin typeface="Times New Roman" panose="02020603050405020304" pitchFamily="18" charset="0"/>
                <a:cs typeface="Times New Roman" panose="02020603050405020304" pitchFamily="18" charset="0"/>
              </a:rPr>
              <a:t>Unique to Thoracic Spine</a:t>
            </a:r>
            <a:endParaRPr lang="en-US" sz="2800" b="1" dirty="0" smtClean="0">
              <a:solidFill>
                <a:srgbClr val="C00000"/>
              </a:solidFill>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articulations between the vertebrae and the ribs are unique to the thoracic spine. For each rib, there are two separate articulations – </a:t>
            </a:r>
            <a:r>
              <a:rPr lang="en-US" sz="2800" dirty="0" err="1" smtClean="0">
                <a:latin typeface="Times New Roman" panose="02020603050405020304" pitchFamily="18" charset="0"/>
                <a:cs typeface="Times New Roman" panose="02020603050405020304" pitchFamily="18" charset="0"/>
              </a:rPr>
              <a:t>costovertebral</a:t>
            </a:r>
            <a:r>
              <a:rPr lang="en-US" sz="2800" dirty="0" smtClean="0">
                <a:latin typeface="Times New Roman" panose="02020603050405020304" pitchFamily="18" charset="0"/>
                <a:cs typeface="Times New Roman" panose="02020603050405020304" pitchFamily="18" charset="0"/>
              </a:rPr>
              <a:t> and </a:t>
            </a:r>
            <a:r>
              <a:rPr lang="en-US" sz="2800" dirty="0" err="1" smtClean="0">
                <a:latin typeface="Times New Roman" panose="02020603050405020304" pitchFamily="18" charset="0"/>
                <a:cs typeface="Times New Roman" panose="02020603050405020304" pitchFamily="18" charset="0"/>
              </a:rPr>
              <a:t>costotransverse</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Each </a:t>
            </a:r>
            <a:r>
              <a:rPr lang="en-US" sz="2800" dirty="0" err="1" smtClean="0">
                <a:latin typeface="Times New Roman" panose="02020603050405020304" pitchFamily="18" charset="0"/>
                <a:cs typeface="Times New Roman" panose="02020603050405020304" pitchFamily="18" charset="0"/>
              </a:rPr>
              <a:t>costovertebral</a:t>
            </a:r>
            <a:r>
              <a:rPr lang="en-US" sz="2800" dirty="0" smtClean="0">
                <a:latin typeface="Times New Roman" panose="02020603050405020304" pitchFamily="18" charset="0"/>
                <a:cs typeface="Times New Roman" panose="02020603050405020304" pitchFamily="18" charset="0"/>
              </a:rPr>
              <a:t> joint consists of the head of the rib articulating with:</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Superior costal facet of the corresponding vertebra</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Inferior costal facet of the superior vertebra</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Intervertebral disc separating the two vertebrae</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Within this joint, the intra-articular ligament of head of rib attaches the rib head to the intervertebral disc. Only slight gliding movements can occur at these joints, due to the close articulation of their components.</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5893"/>
            <a:ext cx="12191999" cy="4893647"/>
          </a:xfrm>
          <a:prstGeom prst="rect">
            <a:avLst/>
          </a:prstGeom>
        </p:spPr>
        <p:txBody>
          <a:bodyPr wrap="square">
            <a:spAutoFit/>
          </a:bodyPr>
          <a:lstStyle/>
          <a:p>
            <a:pPr marL="342900" indent="-342900">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The </a:t>
            </a:r>
            <a:r>
              <a:rPr lang="en-US" sz="2400" b="1" dirty="0" err="1" smtClean="0">
                <a:latin typeface="Times New Roman" panose="02020603050405020304" pitchFamily="18" charset="0"/>
                <a:cs typeface="Times New Roman" panose="02020603050405020304" pitchFamily="18" charset="0"/>
              </a:rPr>
              <a:t>costotransverse</a:t>
            </a:r>
            <a:r>
              <a:rPr lang="en-US" sz="2400" b="1" dirty="0" smtClean="0">
                <a:latin typeface="Times New Roman" panose="02020603050405020304" pitchFamily="18" charset="0"/>
                <a:cs typeface="Times New Roman" panose="02020603050405020304" pitchFamily="18" charset="0"/>
              </a:rPr>
              <a:t> joints </a:t>
            </a:r>
            <a:r>
              <a:rPr lang="en-US" sz="2400" dirty="0" smtClean="0">
                <a:latin typeface="Times New Roman" panose="02020603050405020304" pitchFamily="18" charset="0"/>
                <a:cs typeface="Times New Roman" panose="02020603050405020304" pitchFamily="18" charset="0"/>
              </a:rPr>
              <a:t>are formed by the articulation of transverse processes of a thoracic vertebra and the tubercle of the adjacent rib. </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They are present in all vertebrae except T11 and T12.</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The </a:t>
            </a:r>
            <a:r>
              <a:rPr lang="en-US" sz="2400" b="1" dirty="0" err="1" smtClean="0">
                <a:latin typeface="Times New Roman" panose="02020603050405020304" pitchFamily="18" charset="0"/>
                <a:cs typeface="Times New Roman" panose="02020603050405020304" pitchFamily="18" charset="0"/>
              </a:rPr>
              <a:t>costochondral</a:t>
            </a:r>
            <a:r>
              <a:rPr lang="en-US" sz="2400" b="1" dirty="0" smtClean="0">
                <a:latin typeface="Times New Roman" panose="02020603050405020304" pitchFamily="18" charset="0"/>
                <a:cs typeface="Times New Roman" panose="02020603050405020304" pitchFamily="18" charset="0"/>
              </a:rPr>
              <a:t> joints </a:t>
            </a:r>
            <a:r>
              <a:rPr lang="en-US" sz="2400" dirty="0" smtClean="0">
                <a:latin typeface="Times New Roman" panose="02020603050405020304" pitchFamily="18" charset="0"/>
                <a:cs typeface="Times New Roman" panose="02020603050405020304" pitchFamily="18" charset="0"/>
              </a:rPr>
              <a:t>are the articulations between each rib and its costal cartilage.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It is a hyaline cartilaginous type of joint.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articulation is between the cup-shaped depression in the sternal end of a rib and the lateral end of a costal cartilage.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rib and its cartilage are firmly bound together by the continuity of the </a:t>
            </a:r>
            <a:r>
              <a:rPr lang="en-US" sz="2400" dirty="0" err="1" smtClean="0">
                <a:latin typeface="Times New Roman" panose="02020603050405020304" pitchFamily="18" charset="0"/>
                <a:cs typeface="Times New Roman" panose="02020603050405020304" pitchFamily="18" charset="0"/>
              </a:rPr>
              <a:t>periosteum</a:t>
            </a:r>
            <a:r>
              <a:rPr lang="en-US" sz="2400" dirty="0" smtClean="0">
                <a:latin typeface="Times New Roman" panose="02020603050405020304" pitchFamily="18" charset="0"/>
                <a:cs typeface="Times New Roman" panose="02020603050405020304" pitchFamily="18" charset="0"/>
              </a:rPr>
              <a:t> of the rib with the perichondrium of the cartilage.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No movement normally occurs at these joints.</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1280"/>
            <a:ext cx="8142822" cy="3416320"/>
          </a:xfrm>
          <a:prstGeom prst="rect">
            <a:avLst/>
          </a:prstGeom>
        </p:spPr>
        <p:txBody>
          <a:bodyPr wrap="square">
            <a:spAutoFit/>
          </a:bodyPr>
          <a:lstStyle/>
          <a:p>
            <a:endParaRPr lang="en-US" sz="2400" dirty="0" smtClean="0">
              <a:latin typeface="Times New Roman" panose="02020603050405020304" pitchFamily="18" charset="0"/>
              <a:cs typeface="Times New Roman" panose="02020603050405020304" pitchFamily="18" charset="0"/>
            </a:endParaRPr>
          </a:p>
          <a:p>
            <a:r>
              <a:rPr lang="en-US" sz="2400" b="1" dirty="0" err="1" smtClean="0">
                <a:latin typeface="Times New Roman" panose="02020603050405020304" pitchFamily="18" charset="0"/>
                <a:cs typeface="Times New Roman" panose="02020603050405020304" pitchFamily="18" charset="0"/>
              </a:rPr>
              <a:t>Interchondral</a:t>
            </a:r>
            <a:r>
              <a:rPr lang="en-US" sz="2400" b="1" dirty="0" smtClean="0">
                <a:latin typeface="Times New Roman" panose="02020603050405020304" pitchFamily="18" charset="0"/>
                <a:cs typeface="Times New Roman" panose="02020603050405020304" pitchFamily="18" charset="0"/>
              </a:rPr>
              <a:t> joints</a:t>
            </a:r>
            <a:endParaRPr lang="en-US" sz="2400" b="1" dirty="0" smtClean="0">
              <a:latin typeface="Times New Roman" panose="02020603050405020304" pitchFamily="18" charset="0"/>
              <a:cs typeface="Times New Roman" panose="02020603050405020304" pitchFamily="18" charset="0"/>
            </a:endParaRPr>
          </a:p>
          <a:p>
            <a:endParaRPr lang="en-US" sz="2400" b="1"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a:t>
            </a:r>
            <a:r>
              <a:rPr lang="en-US" sz="2400" dirty="0" err="1" smtClean="0">
                <a:latin typeface="Times New Roman" panose="02020603050405020304" pitchFamily="18" charset="0"/>
                <a:cs typeface="Times New Roman" panose="02020603050405020304" pitchFamily="18" charset="0"/>
              </a:rPr>
              <a:t>interchondral</a:t>
            </a:r>
            <a:r>
              <a:rPr lang="en-US" sz="2400" dirty="0" smtClean="0">
                <a:latin typeface="Times New Roman" panose="02020603050405020304" pitchFamily="18" charset="0"/>
                <a:cs typeface="Times New Roman" panose="02020603050405020304" pitchFamily="18" charset="0"/>
              </a:rPr>
              <a:t> joints are plane synovial joints between the adjacent borders of the 6th and 7th, 7th and 8th, and 8th and 9th costal cartilages.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joints are usually strengthened by </a:t>
            </a:r>
            <a:r>
              <a:rPr lang="en-US" sz="2400" dirty="0" err="1" smtClean="0">
                <a:latin typeface="Times New Roman" panose="02020603050405020304" pitchFamily="18" charset="0"/>
                <a:cs typeface="Times New Roman" panose="02020603050405020304" pitchFamily="18" charset="0"/>
              </a:rPr>
              <a:t>interchondral</a:t>
            </a:r>
            <a:r>
              <a:rPr lang="en-US" sz="2400" dirty="0" smtClean="0">
                <a:latin typeface="Times New Roman" panose="02020603050405020304" pitchFamily="18" charset="0"/>
                <a:cs typeface="Times New Roman" panose="02020603050405020304" pitchFamily="18" charset="0"/>
              </a:rPr>
              <a:t> ligaments, and they also have synovial cavities that are enclosed by joint capsules.</a:t>
            </a:r>
            <a:endParaRPr lang="en-US"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344952" y="107832"/>
            <a:ext cx="3933825" cy="3558440"/>
          </a:xfrm>
          <a:prstGeom prst="rect">
            <a:avLst/>
          </a:prstGeom>
        </p:spPr>
      </p:pic>
      <p:pic>
        <p:nvPicPr>
          <p:cNvPr id="4" name="Picture 3"/>
          <p:cNvPicPr>
            <a:picLocks noChangeAspect="1"/>
          </p:cNvPicPr>
          <p:nvPr/>
        </p:nvPicPr>
        <p:blipFill>
          <a:blip r:embed="rId2"/>
          <a:stretch>
            <a:fillRect/>
          </a:stretch>
        </p:blipFill>
        <p:spPr>
          <a:xfrm>
            <a:off x="8142822" y="3699960"/>
            <a:ext cx="3933825" cy="3158040"/>
          </a:xfrm>
          <a:prstGeom prst="rect">
            <a:avLst/>
          </a:prstGeom>
        </p:spPr>
      </p:pic>
      <p:pic>
        <p:nvPicPr>
          <p:cNvPr id="5" name="Picture 4"/>
          <p:cNvPicPr>
            <a:picLocks noChangeAspect="1"/>
          </p:cNvPicPr>
          <p:nvPr/>
        </p:nvPicPr>
        <p:blipFill>
          <a:blip r:embed="rId3"/>
          <a:stretch>
            <a:fillRect/>
          </a:stretch>
        </p:blipFill>
        <p:spPr>
          <a:xfrm>
            <a:off x="5681199" y="3368842"/>
            <a:ext cx="3181225" cy="335535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045" y="115901"/>
            <a:ext cx="7838172" cy="4893647"/>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The </a:t>
            </a:r>
            <a:r>
              <a:rPr lang="en-US" sz="2400" b="1" dirty="0" err="1" smtClean="0">
                <a:latin typeface="Times New Roman" panose="02020603050405020304" pitchFamily="18" charset="0"/>
                <a:cs typeface="Times New Roman" panose="02020603050405020304" pitchFamily="18" charset="0"/>
              </a:rPr>
              <a:t>sternocostal</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sternochondral</a:t>
            </a:r>
            <a:r>
              <a:rPr lang="en-US" sz="2400" b="1" dirty="0" smtClean="0">
                <a:latin typeface="Times New Roman" panose="02020603050405020304" pitchFamily="18" charset="0"/>
                <a:cs typeface="Times New Roman" panose="02020603050405020304" pitchFamily="18" charset="0"/>
              </a:rPr>
              <a:t>) joints </a:t>
            </a:r>
            <a:r>
              <a:rPr lang="en-US" sz="2400" dirty="0" smtClean="0">
                <a:latin typeface="Times New Roman" panose="02020603050405020304" pitchFamily="18" charset="0"/>
                <a:cs typeface="Times New Roman" panose="02020603050405020304" pitchFamily="18" charset="0"/>
              </a:rPr>
              <a:t>are formed by the lateral borders of the sternum and the costal cartilages of the 1st to 7th ribs, and sometimes the 8th rib.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first pair of costal cartilages articulate with the manubrium by means of a thin dense layer of tightly adherent fibrocartilage interposed between cartilage and the manubrium, the </a:t>
            </a:r>
            <a:r>
              <a:rPr lang="en-US" sz="2400" dirty="0" err="1" smtClean="0">
                <a:latin typeface="Times New Roman" panose="02020603050405020304" pitchFamily="18" charset="0"/>
                <a:cs typeface="Times New Roman" panose="02020603050405020304" pitchFamily="18" charset="0"/>
              </a:rPr>
              <a:t>synchondrosis</a:t>
            </a:r>
            <a:r>
              <a:rPr lang="en-US" sz="2400" dirty="0" smtClean="0">
                <a:latin typeface="Times New Roman" panose="02020603050405020304" pitchFamily="18" charset="0"/>
                <a:cs typeface="Times New Roman" panose="02020603050405020304" pitchFamily="18" charset="0"/>
              </a:rPr>
              <a:t> of the first rib. </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second to seventh pairs of costal cartilages articulate with the sternum at synovial joints with </a:t>
            </a:r>
            <a:r>
              <a:rPr lang="en-US" sz="2400" dirty="0" err="1" smtClean="0">
                <a:latin typeface="Times New Roman" panose="02020603050405020304" pitchFamily="18" charset="0"/>
                <a:cs typeface="Times New Roman" panose="02020603050405020304" pitchFamily="18" charset="0"/>
              </a:rPr>
              <a:t>fibrocartilaginous</a:t>
            </a:r>
            <a:r>
              <a:rPr lang="en-US" sz="2400" dirty="0" smtClean="0">
                <a:latin typeface="Times New Roman" panose="02020603050405020304" pitchFamily="18" charset="0"/>
                <a:cs typeface="Times New Roman" panose="02020603050405020304" pitchFamily="18" charset="0"/>
              </a:rPr>
              <a:t> articular surfaces on both the </a:t>
            </a:r>
            <a:r>
              <a:rPr lang="en-US" sz="2400" dirty="0" err="1" smtClean="0">
                <a:latin typeface="Times New Roman" panose="02020603050405020304" pitchFamily="18" charset="0"/>
                <a:cs typeface="Times New Roman" panose="02020603050405020304" pitchFamily="18" charset="0"/>
              </a:rPr>
              <a:t>chondral</a:t>
            </a:r>
            <a:r>
              <a:rPr lang="en-US" sz="2400" dirty="0" smtClean="0">
                <a:latin typeface="Times New Roman" panose="02020603050405020304" pitchFamily="18" charset="0"/>
                <a:cs typeface="Times New Roman" panose="02020603050405020304" pitchFamily="18" charset="0"/>
              </a:rPr>
              <a:t> and sternal aspects, allowing movement during respiration.</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8008068" y="595813"/>
            <a:ext cx="3933825" cy="39338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043" y="0"/>
            <a:ext cx="8752574" cy="6740307"/>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Articulation of the left and right ribs with the vertebral column (thoracic vertebrae) complete the thoracic cage posteriorly. The </a:t>
            </a:r>
            <a:r>
              <a:rPr lang="en-US" sz="2400" dirty="0" err="1" smtClean="0">
                <a:latin typeface="Times New Roman" panose="02020603050405020304" pitchFamily="18" charset="0"/>
                <a:cs typeface="Times New Roman" panose="02020603050405020304" pitchFamily="18" charset="0"/>
              </a:rPr>
              <a:t>costovertebral</a:t>
            </a:r>
            <a:r>
              <a:rPr lang="en-US" sz="2400" dirty="0" smtClean="0">
                <a:latin typeface="Times New Roman" panose="02020603050405020304" pitchFamily="18" charset="0"/>
                <a:cs typeface="Times New Roman" panose="02020603050405020304" pitchFamily="18" charset="0"/>
              </a:rPr>
              <a:t> joints are synovial joints, and they are surrounded by joint capsule.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Most of the ribs are attached firmly to the intervertebral (IV) discs by intra-articular ligament within the joints. Fanning around from the anterior margin of the heads of the ribs to the sides of the bodies of vertebrae and the IV discs between them is a radiate </a:t>
            </a:r>
            <a:r>
              <a:rPr lang="en-US" sz="2400" dirty="0" err="1" smtClean="0">
                <a:latin typeface="Times New Roman" panose="02020603050405020304" pitchFamily="18" charset="0"/>
                <a:cs typeface="Times New Roman" panose="02020603050405020304" pitchFamily="18" charset="0"/>
              </a:rPr>
              <a:t>sternocostal</a:t>
            </a:r>
            <a:r>
              <a:rPr lang="en-US" sz="2400" dirty="0" smtClean="0">
                <a:latin typeface="Times New Roman" panose="02020603050405020304" pitchFamily="18" charset="0"/>
                <a:cs typeface="Times New Roman" panose="02020603050405020304" pitchFamily="18" charset="0"/>
              </a:rPr>
              <a:t> ligament. Also crossing these joints is the </a:t>
            </a:r>
            <a:r>
              <a:rPr lang="en-US" sz="2400" dirty="0" err="1" smtClean="0">
                <a:latin typeface="Times New Roman" panose="02020603050405020304" pitchFamily="18" charset="0"/>
                <a:cs typeface="Times New Roman" panose="02020603050405020304" pitchFamily="18" charset="0"/>
              </a:rPr>
              <a:t>costotransverse</a:t>
            </a:r>
            <a:r>
              <a:rPr lang="en-US" sz="2400" dirty="0" smtClean="0">
                <a:latin typeface="Times New Roman" panose="02020603050405020304" pitchFamily="18" charset="0"/>
                <a:cs typeface="Times New Roman" panose="02020603050405020304" pitchFamily="18" charset="0"/>
              </a:rPr>
              <a:t> ligament passing from the neck of the rib to the transverse process, and a lateral </a:t>
            </a:r>
            <a:r>
              <a:rPr lang="en-US" sz="2400" dirty="0" err="1" smtClean="0">
                <a:latin typeface="Times New Roman" panose="02020603050405020304" pitchFamily="18" charset="0"/>
                <a:cs typeface="Times New Roman" panose="02020603050405020304" pitchFamily="18" charset="0"/>
              </a:rPr>
              <a:t>costotransverse</a:t>
            </a:r>
            <a:r>
              <a:rPr lang="en-US" sz="2400" dirty="0" smtClean="0">
                <a:latin typeface="Times New Roman" panose="02020603050405020304" pitchFamily="18" charset="0"/>
                <a:cs typeface="Times New Roman" panose="02020603050405020304" pitchFamily="18" charset="0"/>
              </a:rPr>
              <a:t> ligament passing from the tubercle of the rib to the tip of the transverse process. These ligaments strengthen the anterior and posterior aspects of the joints respectively. There is a superior </a:t>
            </a:r>
            <a:r>
              <a:rPr lang="en-US" sz="2400" dirty="0" err="1" smtClean="0">
                <a:latin typeface="Times New Roman" panose="02020603050405020304" pitchFamily="18" charset="0"/>
                <a:cs typeface="Times New Roman" panose="02020603050405020304" pitchFamily="18" charset="0"/>
              </a:rPr>
              <a:t>costotransverse</a:t>
            </a:r>
            <a:r>
              <a:rPr lang="en-US" sz="2400" dirty="0" smtClean="0">
                <a:latin typeface="Times New Roman" panose="02020603050405020304" pitchFamily="18" charset="0"/>
                <a:cs typeface="Times New Roman" panose="02020603050405020304" pitchFamily="18" charset="0"/>
              </a:rPr>
              <a:t> ligament which may </a:t>
            </a:r>
            <a:r>
              <a:rPr lang="en-US" sz="2400" dirty="0">
                <a:latin typeface="Times New Roman" panose="02020603050405020304" pitchFamily="18" charset="0"/>
                <a:cs typeface="Times New Roman" panose="02020603050405020304" pitchFamily="18" charset="0"/>
              </a:rPr>
              <a:t>be divided into a strong anterior </a:t>
            </a:r>
            <a:r>
              <a:rPr lang="en-US" sz="2400" dirty="0" err="1">
                <a:latin typeface="Times New Roman" panose="02020603050405020304" pitchFamily="18" charset="0"/>
                <a:cs typeface="Times New Roman" panose="02020603050405020304" pitchFamily="18" charset="0"/>
              </a:rPr>
              <a:t>costotransverse</a:t>
            </a:r>
            <a:r>
              <a:rPr lang="en-US" sz="2400" dirty="0">
                <a:latin typeface="Times New Roman" panose="02020603050405020304" pitchFamily="18" charset="0"/>
                <a:cs typeface="Times New Roman" panose="02020603050405020304" pitchFamily="18" charset="0"/>
              </a:rPr>
              <a:t> ligament and a weak posterior </a:t>
            </a:r>
            <a:r>
              <a:rPr lang="en-US" sz="2400" dirty="0" err="1">
                <a:latin typeface="Times New Roman" panose="02020603050405020304" pitchFamily="18" charset="0"/>
                <a:cs typeface="Times New Roman" panose="02020603050405020304" pitchFamily="18" charset="0"/>
              </a:rPr>
              <a:t>costotransverse</a:t>
            </a:r>
            <a:r>
              <a:rPr lang="en-US" sz="2400" dirty="0">
                <a:latin typeface="Times New Roman" panose="02020603050405020304" pitchFamily="18" charset="0"/>
                <a:cs typeface="Times New Roman" panose="02020603050405020304" pitchFamily="18" charset="0"/>
              </a:rPr>
              <a:t> ligament, both joining the crests of the neck of the ribs to the transverse processes superior to each of the ribs.</a:t>
            </a:r>
            <a:endParaRPr lang="en-US"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845617" y="76049"/>
            <a:ext cx="3144402" cy="39338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951"/>
            <a:ext cx="12192000" cy="6678751"/>
          </a:xfrm>
          <a:prstGeom prst="rect">
            <a:avLst/>
          </a:prstGeom>
        </p:spPr>
        <p:txBody>
          <a:bodyPr wrap="square">
            <a:spAutoFit/>
          </a:bodyPr>
          <a:lstStyle/>
          <a:p>
            <a:r>
              <a:rPr lang="en-GB" sz="4400" b="1" dirty="0" smtClean="0">
                <a:solidFill>
                  <a:srgbClr val="C00000"/>
                </a:solidFill>
                <a:effectLst/>
                <a:latin typeface="Times New Roman" panose="02020603050405020304" pitchFamily="18" charset="0"/>
                <a:cs typeface="Times New Roman" panose="02020603050405020304" pitchFamily="18" charset="0"/>
              </a:rPr>
              <a:t>CLINICAL ANATOMY</a:t>
            </a:r>
            <a:endParaRPr lang="en-US" sz="4400" b="1" dirty="0" smtClean="0">
              <a:solidFill>
                <a:srgbClr val="C00000"/>
              </a:solidFill>
              <a:effectLst/>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smtClean="0">
                <a:effectLst/>
                <a:latin typeface="Times New Roman" panose="02020603050405020304" pitchFamily="18" charset="0"/>
                <a:cs typeface="Times New Roman" panose="02020603050405020304" pitchFamily="18" charset="0"/>
              </a:rPr>
              <a:t>Dislocation of </a:t>
            </a:r>
            <a:r>
              <a:rPr lang="en-US" sz="2400" b="1" dirty="0" err="1" smtClean="0">
                <a:effectLst/>
                <a:latin typeface="Times New Roman" panose="02020603050405020304" pitchFamily="18" charset="0"/>
                <a:cs typeface="Times New Roman" panose="02020603050405020304" pitchFamily="18" charset="0"/>
              </a:rPr>
              <a:t>costochondral</a:t>
            </a:r>
            <a:r>
              <a:rPr lang="en-US" sz="2400" b="1" dirty="0" smtClean="0">
                <a:effectLst/>
                <a:latin typeface="Times New Roman" panose="02020603050405020304" pitchFamily="18" charset="0"/>
                <a:cs typeface="Times New Roman" panose="02020603050405020304" pitchFamily="18" charset="0"/>
              </a:rPr>
              <a:t> joint</a:t>
            </a:r>
            <a:endParaRPr lang="en-US" sz="2400" b="1" dirty="0" smtClean="0">
              <a:effectLst/>
              <a:latin typeface="Times New Roman" panose="02020603050405020304" pitchFamily="18" charset="0"/>
              <a:cs typeface="Times New Roman" panose="02020603050405020304" pitchFamily="18" charset="0"/>
            </a:endParaRPr>
          </a:p>
          <a:p>
            <a:endParaRPr lang="en-US" sz="2400" b="1" dirty="0" smtClean="0">
              <a:effectLst/>
              <a:latin typeface="Times New Roman" panose="02020603050405020304" pitchFamily="18" charset="0"/>
              <a:cs typeface="Times New Roman" panose="02020603050405020304" pitchFamily="18" charset="0"/>
            </a:endParaRPr>
          </a:p>
          <a:p>
            <a:r>
              <a:rPr lang="en-US" sz="2400" dirty="0" smtClean="0">
                <a:effectLst/>
                <a:latin typeface="Times New Roman" panose="02020603050405020304" pitchFamily="18" charset="0"/>
                <a:cs typeface="Times New Roman" panose="02020603050405020304" pitchFamily="18" charset="0"/>
              </a:rPr>
              <a:t>Dislocation at this joint leads to separation of a </a:t>
            </a:r>
            <a:r>
              <a:rPr lang="en-US" sz="2400" b="0" dirty="0" smtClean="0">
                <a:effectLst/>
                <a:latin typeface="Times New Roman" panose="02020603050405020304" pitchFamily="18" charset="0"/>
                <a:cs typeface="Times New Roman" panose="02020603050405020304" pitchFamily="18" charset="0"/>
              </a:rPr>
              <a:t>rib</a:t>
            </a:r>
            <a:r>
              <a:rPr lang="en-US" sz="2400" dirty="0" smtClean="0">
                <a:effectLst/>
                <a:latin typeface="Times New Roman" panose="02020603050405020304" pitchFamily="18" charset="0"/>
                <a:cs typeface="Times New Roman" panose="02020603050405020304" pitchFamily="18" charset="0"/>
              </a:rPr>
              <a:t> from its costal cartilage. This usually occurs as a result of tearing of the perichondrium and </a:t>
            </a:r>
            <a:r>
              <a:rPr lang="en-US" sz="2400" dirty="0" err="1" smtClean="0">
                <a:effectLst/>
                <a:latin typeface="Times New Roman" panose="02020603050405020304" pitchFamily="18" charset="0"/>
                <a:cs typeface="Times New Roman" panose="02020603050405020304" pitchFamily="18" charset="0"/>
              </a:rPr>
              <a:t>periosteum</a:t>
            </a:r>
            <a:r>
              <a:rPr lang="en-US" sz="2400" dirty="0" smtClean="0">
                <a:effectLst/>
                <a:latin typeface="Times New Roman" panose="02020603050405020304" pitchFamily="18" charset="0"/>
                <a:cs typeface="Times New Roman" panose="02020603050405020304" pitchFamily="18" charset="0"/>
              </a:rPr>
              <a:t> leading to an upward movement of the affected rib, overriding the rib above and causing severe pains.</a:t>
            </a:r>
            <a:endParaRPr lang="en-US" sz="2400" dirty="0" smtClean="0">
              <a:effectLst/>
              <a:latin typeface="Times New Roman" panose="02020603050405020304" pitchFamily="18" charset="0"/>
              <a:cs typeface="Times New Roman" panose="02020603050405020304" pitchFamily="18" charset="0"/>
            </a:endParaRPr>
          </a:p>
          <a:p>
            <a:endParaRPr lang="en-US" sz="2400" dirty="0" smtClean="0">
              <a:effectLst/>
              <a:latin typeface="Times New Roman" panose="02020603050405020304" pitchFamily="18" charset="0"/>
              <a:cs typeface="Times New Roman" panose="02020603050405020304" pitchFamily="18" charset="0"/>
            </a:endParaRPr>
          </a:p>
          <a:p>
            <a:r>
              <a:rPr lang="en-US" sz="2400" b="1" dirty="0" smtClean="0">
                <a:effectLst/>
                <a:latin typeface="Times New Roman" panose="02020603050405020304" pitchFamily="18" charset="0"/>
                <a:cs typeface="Times New Roman" panose="02020603050405020304" pitchFamily="18" charset="0"/>
              </a:rPr>
              <a:t>Dislocation of </a:t>
            </a:r>
            <a:r>
              <a:rPr lang="en-US" sz="2400" b="1" dirty="0" err="1" smtClean="0">
                <a:effectLst/>
                <a:latin typeface="Times New Roman" panose="02020603050405020304" pitchFamily="18" charset="0"/>
                <a:cs typeface="Times New Roman" panose="02020603050405020304" pitchFamily="18" charset="0"/>
              </a:rPr>
              <a:t>sternocostal</a:t>
            </a:r>
            <a:r>
              <a:rPr lang="en-US" sz="2400" b="1" dirty="0" smtClean="0">
                <a:effectLst/>
                <a:latin typeface="Times New Roman" panose="02020603050405020304" pitchFamily="18" charset="0"/>
                <a:cs typeface="Times New Roman" panose="02020603050405020304" pitchFamily="18" charset="0"/>
              </a:rPr>
              <a:t> and </a:t>
            </a:r>
            <a:r>
              <a:rPr lang="en-US" sz="2400" b="1" dirty="0" err="1" smtClean="0">
                <a:effectLst/>
                <a:latin typeface="Times New Roman" panose="02020603050405020304" pitchFamily="18" charset="0"/>
                <a:cs typeface="Times New Roman" panose="02020603050405020304" pitchFamily="18" charset="0"/>
              </a:rPr>
              <a:t>interchondral</a:t>
            </a:r>
            <a:r>
              <a:rPr lang="en-US" sz="2400" b="1" dirty="0" smtClean="0">
                <a:effectLst/>
                <a:latin typeface="Times New Roman" panose="02020603050405020304" pitchFamily="18" charset="0"/>
                <a:cs typeface="Times New Roman" panose="02020603050405020304" pitchFamily="18" charset="0"/>
              </a:rPr>
              <a:t> joints</a:t>
            </a:r>
            <a:endParaRPr lang="en-US" sz="2400" b="1" dirty="0" smtClean="0">
              <a:effectLst/>
              <a:latin typeface="Times New Roman" panose="02020603050405020304" pitchFamily="18" charset="0"/>
              <a:cs typeface="Times New Roman" panose="02020603050405020304" pitchFamily="18" charset="0"/>
            </a:endParaRPr>
          </a:p>
          <a:p>
            <a:r>
              <a:rPr lang="en-US" sz="2400" dirty="0" err="1" smtClean="0">
                <a:effectLst/>
                <a:latin typeface="Times New Roman" panose="02020603050405020304" pitchFamily="18" charset="0"/>
                <a:cs typeface="Times New Roman" panose="02020603050405020304" pitchFamily="18" charset="0"/>
              </a:rPr>
              <a:t>Sternocostal</a:t>
            </a:r>
            <a:r>
              <a:rPr lang="en-US" sz="2400" dirty="0" smtClean="0">
                <a:effectLst/>
                <a:latin typeface="Times New Roman" panose="02020603050405020304" pitchFamily="18" charset="0"/>
                <a:cs typeface="Times New Roman" panose="02020603050405020304" pitchFamily="18" charset="0"/>
              </a:rPr>
              <a:t> and/or </a:t>
            </a:r>
            <a:r>
              <a:rPr lang="en-US" sz="2400" dirty="0" err="1" smtClean="0">
                <a:effectLst/>
                <a:latin typeface="Times New Roman" panose="02020603050405020304" pitchFamily="18" charset="0"/>
                <a:cs typeface="Times New Roman" panose="02020603050405020304" pitchFamily="18" charset="0"/>
              </a:rPr>
              <a:t>interchondral</a:t>
            </a:r>
            <a:r>
              <a:rPr lang="en-US" sz="2400" dirty="0" smtClean="0">
                <a:effectLst/>
                <a:latin typeface="Times New Roman" panose="02020603050405020304" pitchFamily="18" charset="0"/>
                <a:cs typeface="Times New Roman" panose="02020603050405020304" pitchFamily="18" charset="0"/>
              </a:rPr>
              <a:t> joint dislocation is the displacement of a costal cartilage from the sternum. This leads to dislocation of the corresponding rib, a condition referred to as </a:t>
            </a:r>
            <a:r>
              <a:rPr lang="en-US" sz="2400" b="0" dirty="0" smtClean="0">
                <a:effectLst/>
                <a:latin typeface="Times New Roman" panose="02020603050405020304" pitchFamily="18" charset="0"/>
                <a:cs typeface="Times New Roman" panose="02020603050405020304" pitchFamily="18" charset="0"/>
              </a:rPr>
              <a:t>slipping rib syndrome</a:t>
            </a:r>
            <a:r>
              <a:rPr lang="en-US" sz="2400" dirty="0" smtClean="0">
                <a:effectLst/>
                <a:latin typeface="Times New Roman" panose="02020603050405020304" pitchFamily="18" charset="0"/>
                <a:cs typeface="Times New Roman" panose="02020603050405020304" pitchFamily="18" charset="0"/>
              </a:rPr>
              <a:t>. </a:t>
            </a:r>
            <a:endParaRPr lang="en-US" sz="2400" dirty="0" smtClean="0">
              <a:effectLst/>
              <a:latin typeface="Times New Roman" panose="02020603050405020304" pitchFamily="18" charset="0"/>
              <a:cs typeface="Times New Roman" panose="02020603050405020304" pitchFamily="18" charset="0"/>
            </a:endParaRPr>
          </a:p>
          <a:p>
            <a:r>
              <a:rPr lang="en-US" sz="2400" dirty="0" smtClean="0">
                <a:effectLst/>
                <a:latin typeface="Times New Roman" panose="02020603050405020304" pitchFamily="18" charset="0"/>
                <a:cs typeface="Times New Roman" panose="02020603050405020304" pitchFamily="18" charset="0"/>
              </a:rPr>
              <a:t>Displacement of </a:t>
            </a:r>
            <a:r>
              <a:rPr lang="en-US" sz="2400" dirty="0" err="1" smtClean="0">
                <a:effectLst/>
                <a:latin typeface="Times New Roman" panose="02020603050405020304" pitchFamily="18" charset="0"/>
                <a:cs typeface="Times New Roman" panose="02020603050405020304" pitchFamily="18" charset="0"/>
              </a:rPr>
              <a:t>interchondral</a:t>
            </a:r>
            <a:r>
              <a:rPr lang="en-US" sz="2400" dirty="0" smtClean="0">
                <a:effectLst/>
                <a:latin typeface="Times New Roman" panose="02020603050405020304" pitchFamily="18" charset="0"/>
                <a:cs typeface="Times New Roman" panose="02020603050405020304" pitchFamily="18" charset="0"/>
              </a:rPr>
              <a:t> joints usually occurs unilaterally and involves ribs 8,9, and 10. Trauma sufficient to displace these joints often injures underlying structures such as the diaphragm and/or liver, causing severe pain, particularly during deep inspiratory movements. </a:t>
            </a:r>
            <a:endParaRPr lang="en-US" sz="2400" dirty="0" smtClean="0">
              <a:effectLst/>
              <a:latin typeface="Times New Roman" panose="02020603050405020304" pitchFamily="18" charset="0"/>
              <a:cs typeface="Times New Roman" panose="02020603050405020304" pitchFamily="18" charset="0"/>
            </a:endParaRPr>
          </a:p>
          <a:p>
            <a:r>
              <a:rPr lang="en-US" sz="2400" dirty="0" smtClean="0">
                <a:effectLst/>
                <a:latin typeface="Times New Roman" panose="02020603050405020304" pitchFamily="18" charset="0"/>
                <a:cs typeface="Times New Roman" panose="02020603050405020304" pitchFamily="18" charset="0"/>
              </a:rPr>
              <a:t>Rib dislocations are common in body contact sports, and complications may result from pressure on or damage to nearby nerves, blood vessels, and muscles.</a:t>
            </a:r>
            <a:endParaRPr lang="en-US" sz="2400" dirty="0" smtClean="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253" y="1166843"/>
            <a:ext cx="11973827" cy="5632311"/>
          </a:xfrm>
          <a:prstGeom prst="rect">
            <a:avLst/>
          </a:prstGeom>
        </p:spPr>
        <p:txBody>
          <a:bodyPr wrap="square">
            <a:spAutoFit/>
          </a:bodyPr>
          <a:lstStyle/>
          <a:p>
            <a:r>
              <a:rPr lang="en-US" sz="2400" b="1" dirty="0" smtClean="0">
                <a:solidFill>
                  <a:srgbClr val="C00000"/>
                </a:solidFill>
                <a:latin typeface="Times New Roman" panose="02020603050405020304" pitchFamily="18" charset="0"/>
                <a:cs typeface="Times New Roman" panose="02020603050405020304" pitchFamily="18" charset="0"/>
              </a:rPr>
              <a:t>Flail chest</a:t>
            </a:r>
            <a:endParaRPr lang="en-US" sz="2400" b="1" dirty="0" smtClean="0">
              <a:solidFill>
                <a:srgbClr val="C00000"/>
              </a:solidFill>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Multiple rib fractures may allow a segment of the anterior and/or lateral thoracic wall to move freely but paradoxically inward on inspiration and outward on expiration. Flail chest is an extremely painful injury and impairs ventilation thereby affecting oxygenation of the </a:t>
            </a:r>
            <a:r>
              <a:rPr lang="en-US" sz="2400" smtClean="0">
                <a:latin typeface="Times New Roman" panose="02020603050405020304" pitchFamily="18" charset="0"/>
                <a:cs typeface="Times New Roman" panose="02020603050405020304" pitchFamily="18" charset="0"/>
              </a:rPr>
              <a:t>blood.</a:t>
            </a:r>
            <a:endParaRPr lang="en-US" sz="240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b="1" dirty="0" smtClean="0">
                <a:solidFill>
                  <a:srgbClr val="C00000"/>
                </a:solidFill>
                <a:latin typeface="Times New Roman" panose="02020603050405020304" pitchFamily="18" charset="0"/>
                <a:cs typeface="Times New Roman" panose="02020603050405020304" pitchFamily="18" charset="0"/>
              </a:rPr>
              <a:t>Supernumerary ribs</a:t>
            </a:r>
            <a:endParaRPr lang="en-US" sz="2400" b="1" dirty="0" smtClean="0">
              <a:solidFill>
                <a:srgbClr val="C00000"/>
              </a:solidFill>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As the name suggests, this is a clinically significant condition in which there is distortion of the normal number of ribs forming the thoracic cage.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Supernumerary or extra ribs have clinical significance in that they may confuse the identification of vertebral levels in radiographs and other diagnostic images.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Usually, there are 12 ribs on each side of the vertebral column, but the number is increased by the presence of cervical and/or lumbar ribs, or decreased by failure of the 12th pair to form.</a:t>
            </a:r>
            <a:endParaRPr lang="en-US" sz="2400" dirty="0" smtClean="0">
              <a:latin typeface="Times New Roman" panose="02020603050405020304" pitchFamily="18" charset="0"/>
              <a:cs typeface="Times New Roman" panose="02020603050405020304" pitchFamily="18" charset="0"/>
            </a:endParaRPr>
          </a:p>
          <a:p>
            <a:endParaRPr lang="en-US" sz="24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13576</Words>
  <Application>WPS Presentation</Application>
  <PresentationFormat>Widescreen</PresentationFormat>
  <Paragraphs>216</Paragraphs>
  <Slides>25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Arial</vt:lpstr>
      <vt:lpstr>SimSun</vt:lpstr>
      <vt:lpstr>Wingdings</vt:lpstr>
      <vt:lpstr>Times New Roman</vt:lpstr>
      <vt:lpstr>PlutoSansLight</vt:lpstr>
      <vt:lpstr>Calibri</vt:lpstr>
      <vt:lpstr>Microsoft YaHei</vt:lpstr>
      <vt:lpstr>Arial Unicode MS</vt:lpstr>
      <vt:lpstr>Calibri Light</vt:lpstr>
      <vt:lpstr>var(--medium)</vt:lpstr>
      <vt:lpstr>Liberation Mono</vt:lpstr>
      <vt:lpstr>Wingdings</vt:lpstr>
      <vt:lpstr>Office Theme</vt:lpstr>
      <vt:lpstr>OSTEOLOGY OF THE RIBS AND THORAX VERTEBRAE</vt:lpstr>
      <vt:lpstr>INTRODUCTION</vt:lpstr>
      <vt:lpstr>PowerPoint 演示文稿</vt:lpstr>
      <vt:lpstr>FUNCTION OF THE THORACIC CAGE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OSTEOLOGY OF RIBS THORAX VERTEBRAE</dc:title>
  <dc:creator>HP</dc:creator>
  <cp:lastModifiedBy>HP</cp:lastModifiedBy>
  <cp:revision>84</cp:revision>
  <dcterms:created xsi:type="dcterms:W3CDTF">2024-11-04T11:03:00Z</dcterms:created>
  <dcterms:modified xsi:type="dcterms:W3CDTF">2025-09-08T22:18:35Z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02E6A9536A824BC482A0D1227BBCDD51_12</vt:lpwstr>
  </property>
  <property fmtid="{D5CDD505-2E9C-101B-9397-08002B2CF9AE}" pid="3" name="KSOProductBuildVer">
    <vt:lpwstr>1033-12.2.0.21931</vt:lpwstr>
  </property>
</Properties>
</file>