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5" r:id="rId5"/>
    <p:sldId id="276" r:id="rId6"/>
    <p:sldId id="278" r:id="rId7"/>
    <p:sldId id="279" r:id="rId8"/>
    <p:sldId id="277" r:id="rId9"/>
    <p:sldId id="280" r:id="rId10"/>
    <p:sldId id="261" r:id="rId11"/>
    <p:sldId id="281" r:id="rId12"/>
    <p:sldId id="283" r:id="rId13"/>
    <p:sldId id="282" r:id="rId14"/>
    <p:sldId id="259" r:id="rId15"/>
    <p:sldId id="260" r:id="rId16"/>
    <p:sldId id="285" r:id="rId17"/>
    <p:sldId id="284" r:id="rId18"/>
    <p:sldId id="312" r:id="rId19"/>
    <p:sldId id="262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8" r:id="rId29"/>
    <p:sldId id="294" r:id="rId30"/>
    <p:sldId id="295" r:id="rId31"/>
    <p:sldId id="296" r:id="rId32"/>
    <p:sldId id="264" r:id="rId33"/>
    <p:sldId id="299" r:id="rId34"/>
    <p:sldId id="300" r:id="rId35"/>
    <p:sldId id="301" r:id="rId36"/>
    <p:sldId id="314" r:id="rId37"/>
    <p:sldId id="302" r:id="rId38"/>
    <p:sldId id="315" r:id="rId39"/>
    <p:sldId id="303" r:id="rId40"/>
    <p:sldId id="316" r:id="rId41"/>
    <p:sldId id="304" r:id="rId42"/>
    <p:sldId id="305" r:id="rId43"/>
    <p:sldId id="317" r:id="rId44"/>
    <p:sldId id="306" r:id="rId45"/>
    <p:sldId id="307" r:id="rId46"/>
    <p:sldId id="308" r:id="rId47"/>
    <p:sldId id="313" r:id="rId48"/>
    <p:sldId id="309" r:id="rId49"/>
    <p:sldId id="310" r:id="rId50"/>
    <p:sldId id="324" r:id="rId51"/>
    <p:sldId id="263" r:id="rId52"/>
    <p:sldId id="318" r:id="rId53"/>
    <p:sldId id="319" r:id="rId54"/>
    <p:sldId id="320" r:id="rId55"/>
    <p:sldId id="325" r:id="rId56"/>
    <p:sldId id="273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1B92E-6316-B8E4-62E6-91E58CC848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E40D67-C1E3-0EAA-71B6-40F76AF2A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AB93C-2315-8A1F-CC6D-C5BD4DED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FBC26-5FB3-471E-94AB-6E6D11361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3F85E-82CD-556E-6F99-926D50EAC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269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E6D1A-4613-4353-AFF5-2FFDFDD2B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FE0D5-A670-8083-70FA-5BC0A9A09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9A1268-7153-DF31-F0C7-5043D86B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95933-5E10-FCD7-7E92-395B666D8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E24A2-F753-87D3-8C2A-85B3044B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849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2209E-00F9-959C-07A9-C96AB509B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90F3F-9226-C7E8-6284-423B470E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E8742-BE87-20A9-B223-4B4B15881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7E335-D95A-DC01-227F-2827837E2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26547-5F32-A9FF-79C0-3A4222D7C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90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8729C-B3EC-8863-204C-96B4F3C8D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E7C27-BACC-E9FA-B8C1-83E0908F6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36B56-8C2F-8810-9DC7-BB649093D7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417423-6899-39D0-FCE1-3F0A4EAAD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F121F-1800-BBBA-27E7-3EF5442B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356E4-822A-2E59-D4F2-B62191DB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0506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D99D-B03C-FB2A-59D1-FA6DFCA77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C7C9A4-0B8B-6BDD-483A-44605C8E8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97831-C28F-26DA-C4EE-439F46A06C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A1116D-7A4F-08E4-4E02-EBAF44DDC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A5B19-22DE-BA19-C1C9-D9C583DC1E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3843BD-2171-7014-24DD-CBF4E91F0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D2964C-C498-AB16-FCB0-79E5D1A9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4D5240-FAF0-83FD-960F-D8D687E8C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941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9B867-863D-27E7-99BE-683681CF7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8891A7-8310-8C65-6C1F-AAC848C97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CB00A0-19B5-0C0B-AA86-9CD2FB8AC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94999-65F6-9FBA-ED83-2788CC4BC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271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53529B-7DAC-9043-D048-9A94C8B7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A20E8-D426-1DA2-1B98-E2E459AD7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AB96C9-7470-E198-5660-E869824C2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570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6EEF-A834-AFFE-B047-85EDD3B3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78914-55A3-E47E-8022-E24A6A669D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1D37E-2D73-9D42-B368-D9D58B01C0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93515-B6C4-8769-E517-A62DFED80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25135A-898D-630F-F91C-C520C15B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B1B4B6-31B6-44AA-FE36-DD302E5B3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550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E3F72-2DE0-6C42-D29C-AD3E69B84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46736D-863C-17F3-6980-913026529F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3F8F6-E48B-7E6B-9A93-A43B477D6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4E48EF-AF81-E342-9945-F17415DE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ECBCA-4A41-E42E-4520-A962574D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168C2-0B94-8A1A-5A55-E1FFA158E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960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2F536-36B6-CA16-6BC4-87C13DC81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028E8-D0B0-7CE9-5E5C-FAE88FCBC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BBA96-6152-8D60-3EC8-FC722288D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55CCA5-FDE8-8DCC-4723-C3DAB1680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9B676-9256-9670-A94A-4C92B614C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3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16AF24-D001-6B1E-7A59-169DE5C32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A33337-BBE7-4969-6900-3CC882E71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B063F-F6E8-B0D7-A351-A9E5F848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D1629-04B6-1C34-9E00-9496273BC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D9124-4736-10D5-5B91-76DCD2A5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533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79AC3B-8BF0-01DC-A853-A64B39AC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3F0E5-A501-40AB-15FD-CC2AE3EC4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9A099-AF42-834F-2EBA-00D26E6546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95DE67-B924-4D51-8EEE-956436AB3A9D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9B34E-C745-BC7C-E189-E3C152B22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09307D-BBEE-790F-AD77-16DAB2E44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30A68D-9D68-42F7-B150-66383FA86A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5217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72430-5618-1AAA-CF12-CAB0D3E2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857" y="1122363"/>
            <a:ext cx="11212286" cy="2387600"/>
          </a:xfrm>
        </p:spPr>
        <p:txBody>
          <a:bodyPr/>
          <a:lstStyle/>
          <a:p>
            <a:r>
              <a:rPr lang="en-GB" dirty="0"/>
              <a:t>AUTONOMIC NERVOUS SYSTEM (ANS)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234C3D-9C92-2821-5CF4-7C359EC0D1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0086" y="4723266"/>
            <a:ext cx="9144000" cy="1655762"/>
          </a:xfrm>
        </p:spPr>
        <p:txBody>
          <a:bodyPr/>
          <a:lstStyle/>
          <a:p>
            <a:endParaRPr lang="en-GB" dirty="0"/>
          </a:p>
          <a:p>
            <a:r>
              <a:rPr lang="en-GB" sz="2800" dirty="0"/>
              <a:t>DR OSO O.A</a:t>
            </a:r>
          </a:p>
        </p:txBody>
      </p:sp>
    </p:spTree>
    <p:extLst>
      <p:ext uri="{BB962C8B-B14F-4D97-AF65-F5344CB8AC3E}">
        <p14:creationId xmlns:p14="http://schemas.microsoft.com/office/powerpoint/2010/main" val="996593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A22D-76D3-9FC3-CFC2-8416DEE94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29" y="195943"/>
            <a:ext cx="11854542" cy="729343"/>
          </a:xfrm>
        </p:spPr>
        <p:txBody>
          <a:bodyPr/>
          <a:lstStyle/>
          <a:p>
            <a:r>
              <a:rPr lang="en-GB" b="1" dirty="0"/>
              <a:t>OUTLINE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F5E6CD-6EEE-E515-A340-7AE1F87F1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629" y="1023257"/>
            <a:ext cx="11854542" cy="5736772"/>
          </a:xfrm>
        </p:spPr>
        <p:txBody>
          <a:bodyPr>
            <a:normAutofit/>
          </a:bodyPr>
          <a:lstStyle/>
          <a:p>
            <a:r>
              <a:rPr lang="en-GB" dirty="0"/>
              <a:t>Introduction </a:t>
            </a:r>
          </a:p>
          <a:p>
            <a:endParaRPr lang="en-GB" dirty="0"/>
          </a:p>
          <a:p>
            <a:r>
              <a:rPr lang="en-GB" dirty="0"/>
              <a:t>Anatomical components</a:t>
            </a:r>
          </a:p>
          <a:p>
            <a:endParaRPr lang="en-GB" dirty="0"/>
          </a:p>
          <a:p>
            <a:r>
              <a:rPr lang="en-GB" dirty="0"/>
              <a:t>Sympathetic Nervous System</a:t>
            </a:r>
          </a:p>
          <a:p>
            <a:endParaRPr lang="en-GB" dirty="0"/>
          </a:p>
          <a:p>
            <a:r>
              <a:rPr lang="en-GB" dirty="0"/>
              <a:t>Parasympathetic Nervous System</a:t>
            </a:r>
          </a:p>
          <a:p>
            <a:endParaRPr lang="en-GB" dirty="0"/>
          </a:p>
          <a:p>
            <a:r>
              <a:rPr lang="en-GB" dirty="0"/>
              <a:t>Enteric Nervous System</a:t>
            </a:r>
          </a:p>
          <a:p>
            <a:endParaRPr lang="en-GB" dirty="0"/>
          </a:p>
          <a:p>
            <a:r>
              <a:rPr lang="en-GB"/>
              <a:t>Conclusion/Summary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042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D6BE7-DCB7-10B9-D696-C068B7143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30629"/>
            <a:ext cx="11212286" cy="838201"/>
          </a:xfrm>
        </p:spPr>
        <p:txBody>
          <a:bodyPr>
            <a:normAutofit/>
          </a:bodyPr>
          <a:lstStyle/>
          <a:p>
            <a:r>
              <a:rPr lang="en-GB" b="1" dirty="0"/>
              <a:t>INTRODUCTION</a:t>
            </a:r>
          </a:p>
        </p:txBody>
      </p:sp>
      <p:pic>
        <p:nvPicPr>
          <p:cNvPr id="5" name="Content Placeholder 4" descr="A diagram of several nervous systems&#10;&#10;AI-generated content may be incorrect.">
            <a:extLst>
              <a:ext uri="{FF2B5EF4-FFF2-40B4-BE49-F238E27FC236}">
                <a16:creationId xmlns:a16="http://schemas.microsoft.com/office/drawing/2014/main" id="{732919EE-153D-80E2-0DFA-5C47B31F27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471" y="1186542"/>
            <a:ext cx="9470571" cy="5284561"/>
          </a:xfrm>
        </p:spPr>
      </p:pic>
      <p:sp>
        <p:nvSpPr>
          <p:cNvPr id="6" name="Arrow: Down 5">
            <a:extLst>
              <a:ext uri="{FF2B5EF4-FFF2-40B4-BE49-F238E27FC236}">
                <a16:creationId xmlns:a16="http://schemas.microsoft.com/office/drawing/2014/main" id="{5A9776D4-427E-D99C-DC92-E02461C2BA4C}"/>
              </a:ext>
            </a:extLst>
          </p:cNvPr>
          <p:cNvSpPr/>
          <p:nvPr/>
        </p:nvSpPr>
        <p:spPr>
          <a:xfrm>
            <a:off x="8523514" y="5083629"/>
            <a:ext cx="130629" cy="391885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C0BB31A-2A80-B058-7934-C31B5EA46225}"/>
              </a:ext>
            </a:extLst>
          </p:cNvPr>
          <p:cNvSpPr/>
          <p:nvPr/>
        </p:nvSpPr>
        <p:spPr>
          <a:xfrm>
            <a:off x="7086600" y="5094515"/>
            <a:ext cx="130629" cy="576943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Left-Up 7">
            <a:extLst>
              <a:ext uri="{FF2B5EF4-FFF2-40B4-BE49-F238E27FC236}">
                <a16:creationId xmlns:a16="http://schemas.microsoft.com/office/drawing/2014/main" id="{3570D642-3CDB-4D0D-CAA4-2314A1E8C505}"/>
              </a:ext>
            </a:extLst>
          </p:cNvPr>
          <p:cNvSpPr/>
          <p:nvPr/>
        </p:nvSpPr>
        <p:spPr>
          <a:xfrm>
            <a:off x="3940629" y="4767941"/>
            <a:ext cx="3145971" cy="838201"/>
          </a:xfrm>
          <a:prstGeom prst="leftUp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86F752DD-3D76-1753-FCD6-7ECF00B6FD15}"/>
              </a:ext>
            </a:extLst>
          </p:cNvPr>
          <p:cNvSpPr/>
          <p:nvPr/>
        </p:nvSpPr>
        <p:spPr>
          <a:xfrm>
            <a:off x="5475514" y="3712029"/>
            <a:ext cx="620486" cy="46808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566724A2-E382-5CB5-BE37-52DB7DDECA6D}"/>
              </a:ext>
            </a:extLst>
          </p:cNvPr>
          <p:cNvSpPr/>
          <p:nvPr/>
        </p:nvSpPr>
        <p:spPr>
          <a:xfrm>
            <a:off x="7326086" y="3603171"/>
            <a:ext cx="163285" cy="468086"/>
          </a:xfrm>
          <a:prstGeom prst="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224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3BAB3-2437-4E98-DC79-3D796B05B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328" y="185058"/>
            <a:ext cx="11114314" cy="897617"/>
          </a:xfrm>
        </p:spPr>
        <p:txBody>
          <a:bodyPr/>
          <a:lstStyle/>
          <a:p>
            <a:r>
              <a:rPr lang="en-GB" b="1" dirty="0"/>
              <a:t>INTRODUCTION</a:t>
            </a:r>
          </a:p>
        </p:txBody>
      </p:sp>
      <p:pic>
        <p:nvPicPr>
          <p:cNvPr id="4" name="Picture 2" descr="A diagram of a brain and spinal cord">
            <a:extLst>
              <a:ext uri="{FF2B5EF4-FFF2-40B4-BE49-F238E27FC236}">
                <a16:creationId xmlns:a16="http://schemas.microsoft.com/office/drawing/2014/main" id="{26B1E9D4-318C-2B58-9ED3-20AF09655FF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28057" y="1265874"/>
            <a:ext cx="9470572" cy="5407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831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Anatomy-of-autonomic-nervous-system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0"/>
            <a:ext cx="1180011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Autonomic-Nervous-System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4" y="133350"/>
            <a:ext cx="11843656" cy="64661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Autonomic-Nervous-System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1088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Autonomic-Nervous-System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38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Anatomy-of-autonomic-nervous-system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86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CE912-BBB5-D839-C323-1CAAC041A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141514"/>
            <a:ext cx="11538857" cy="1132116"/>
          </a:xfrm>
        </p:spPr>
        <p:txBody>
          <a:bodyPr>
            <a:normAutofit fontScale="90000"/>
          </a:bodyPr>
          <a:lstStyle/>
          <a:p>
            <a:br>
              <a:rPr lang="en-GB" b="1" dirty="0"/>
            </a:br>
            <a:r>
              <a:rPr lang="en-GB" b="1" dirty="0"/>
              <a:t>ANATOMICAL COMPONENTS OF ANS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00150-CBD7-D905-FE50-08B4E3DEB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393372"/>
            <a:ext cx="11647714" cy="5246914"/>
          </a:xfrm>
        </p:spPr>
        <p:txBody>
          <a:bodyPr/>
          <a:lstStyle/>
          <a:p>
            <a:r>
              <a:rPr lang="en-GB" dirty="0"/>
              <a:t>Central Components (CNS)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Peripheral Components </a:t>
            </a:r>
          </a:p>
          <a:p>
            <a:pPr marL="0" indent="0">
              <a:buNone/>
            </a:pPr>
            <a:r>
              <a:rPr lang="en-GB" dirty="0"/>
              <a:t>	- Preganglionic Fibers</a:t>
            </a:r>
          </a:p>
          <a:p>
            <a:pPr marL="0" indent="0">
              <a:buNone/>
            </a:pPr>
            <a:r>
              <a:rPr lang="en-GB" dirty="0"/>
              <a:t>	- Autonomic Ganglia</a:t>
            </a:r>
          </a:p>
          <a:p>
            <a:pPr marL="0" indent="0">
              <a:buNone/>
            </a:pPr>
            <a:r>
              <a:rPr lang="en-GB" dirty="0"/>
              <a:t>	- Postganglionic Fibers</a:t>
            </a:r>
          </a:p>
        </p:txBody>
      </p:sp>
    </p:spTree>
    <p:extLst>
      <p:ext uri="{BB962C8B-B14F-4D97-AF65-F5344CB8AC3E}">
        <p14:creationId xmlns:p14="http://schemas.microsoft.com/office/powerpoint/2010/main" val="2535751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486" y="97971"/>
            <a:ext cx="11734800" cy="1153887"/>
          </a:xfrm>
        </p:spPr>
        <p:txBody>
          <a:bodyPr/>
          <a:lstStyle/>
          <a:p>
            <a:r>
              <a:rPr b="1" dirty="0"/>
              <a:t>Central Components (CNS)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3" y="1175657"/>
            <a:ext cx="11734799" cy="55843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Hypothalamus – main control center</a:t>
            </a:r>
          </a:p>
          <a:p>
            <a:pPr marL="0" indent="0">
              <a:buNone/>
            </a:pPr>
            <a:r>
              <a:rPr dirty="0"/>
              <a:t>• Brainstem nuclei:</a:t>
            </a:r>
          </a:p>
          <a:p>
            <a:pPr marL="0" indent="0">
              <a:buNone/>
            </a:pPr>
            <a:r>
              <a:rPr dirty="0"/>
              <a:t>  - Edinger–Westphal (CN III)</a:t>
            </a:r>
          </a:p>
          <a:p>
            <a:pPr marL="0" indent="0">
              <a:buNone/>
            </a:pPr>
            <a:r>
              <a:rPr dirty="0"/>
              <a:t>  - Superior salivatory (CN VII)</a:t>
            </a:r>
          </a:p>
          <a:p>
            <a:pPr marL="0" indent="0">
              <a:buNone/>
            </a:pPr>
            <a:r>
              <a:rPr dirty="0"/>
              <a:t>  - Inferior salivatory (CN IX)</a:t>
            </a:r>
          </a:p>
          <a:p>
            <a:pPr marL="0" indent="0">
              <a:buNone/>
            </a:pPr>
            <a:r>
              <a:rPr dirty="0"/>
              <a:t>  - Dorsal motor nucleus of vagus (CN X)</a:t>
            </a:r>
          </a:p>
          <a:p>
            <a:pPr marL="0" indent="0">
              <a:buNone/>
            </a:pPr>
            <a:r>
              <a:rPr dirty="0"/>
              <a:t>• Spinal cord:</a:t>
            </a:r>
          </a:p>
          <a:p>
            <a:pPr marL="0" indent="0">
              <a:buNone/>
            </a:pPr>
            <a:r>
              <a:rPr dirty="0"/>
              <a:t>  - Sympathetic (Intermediolateral cell column T1–L2)</a:t>
            </a:r>
          </a:p>
          <a:p>
            <a:pPr marL="0" indent="0">
              <a:buNone/>
            </a:pPr>
            <a:r>
              <a:rPr dirty="0"/>
              <a:t>  - Parasympathetic (S2–S4)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Anatomy-of-autonomic-nervous-system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7" y="0"/>
            <a:ext cx="11734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9486" y="365126"/>
            <a:ext cx="11713028" cy="1213304"/>
          </a:xfrm>
        </p:spPr>
        <p:txBody>
          <a:bodyPr/>
          <a:lstStyle/>
          <a:p>
            <a:r>
              <a:rPr b="1" dirty="0"/>
              <a:t>Peripheral Components – Preganglionic Fib</a:t>
            </a:r>
            <a:r>
              <a:rPr lang="en-US" b="1" dirty="0"/>
              <a:t>r</a:t>
            </a:r>
            <a:r>
              <a:rPr b="1" dirty="0"/>
              <a:t>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0629" y="1690688"/>
            <a:ext cx="11821885" cy="5014911"/>
          </a:xfrm>
        </p:spPr>
        <p:txBody>
          <a:bodyPr>
            <a:normAutofit/>
          </a:bodyPr>
          <a:lstStyle/>
          <a:p>
            <a:r>
              <a:rPr sz="3600" dirty="0"/>
              <a:t>Myelinated axons leaving the CNS</a:t>
            </a:r>
            <a:endParaRPr lang="en-US" sz="3600" dirty="0"/>
          </a:p>
          <a:p>
            <a:endParaRPr sz="3600" dirty="0"/>
          </a:p>
          <a:p>
            <a:r>
              <a:rPr sz="3600" dirty="0"/>
              <a:t>Originate from nuclei and synapse in autonomic ganglia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829" y="119743"/>
            <a:ext cx="11778342" cy="1121229"/>
          </a:xfrm>
        </p:spPr>
        <p:txBody>
          <a:bodyPr/>
          <a:lstStyle/>
          <a:p>
            <a:r>
              <a:rPr b="1" dirty="0"/>
              <a:t>Autonomic Ganglia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829" y="1153886"/>
            <a:ext cx="11778342" cy="5475514"/>
          </a:xfrm>
        </p:spPr>
        <p:txBody>
          <a:bodyPr/>
          <a:lstStyle/>
          <a:p>
            <a:r>
              <a:rPr dirty="0"/>
              <a:t>Sympathetic (Thoracolumbar):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Paravertebral ganglia (sympathetic trunk)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Prevertebral ganglia (celiac, superior &amp; inferior mesenteric)</a:t>
            </a:r>
          </a:p>
          <a:p>
            <a:endParaRPr dirty="0"/>
          </a:p>
          <a:p>
            <a:r>
              <a:rPr dirty="0"/>
              <a:t>Parasympathetic (Craniosacral):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Cranial ganglia (ciliary, pterygopalatine, submandibular, </a:t>
            </a:r>
            <a:r>
              <a:rPr dirty="0" err="1"/>
              <a:t>otic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dirty="0"/>
              <a:t>- Terminal ganglia within or near target organs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Postganglionic Fibers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Unmyelinated axons leaving the ganglia to supply target organs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Autonomic-Nervous-System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Autonomic-Nervous-System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Anatomy-of-autonomic-nervous-system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409EC-697C-0087-5510-43D2BA73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Sympathetic Nervous System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1B5D9-3A38-07DF-E854-A968C89E2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2209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Anatomy-of-autonomic-nervous-system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" y="32658"/>
            <a:ext cx="11811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Autonomic-Nervous-System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0"/>
            <a:ext cx="1183277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Autonomic-Nervous-System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0"/>
            <a:ext cx="119416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Autonomic-Nervous-System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57"/>
            <a:ext cx="11854543" cy="664028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Autonomic-Nervous-System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99" y="10886"/>
            <a:ext cx="117783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Autonomic-Nervous-System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Autonomic-Nervous-System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Autonomic-Nervous-System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hart of different types of muscles&#10;&#10;AI-generated content may be incorrect.">
            <a:extLst>
              <a:ext uri="{FF2B5EF4-FFF2-40B4-BE49-F238E27FC236}">
                <a16:creationId xmlns:a16="http://schemas.microsoft.com/office/drawing/2014/main" id="{11F40DB3-88BB-0D77-22D0-C69AB74F7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76" y="718457"/>
            <a:ext cx="11365877" cy="588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930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Autonomic-Nervous-System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3" y="0"/>
            <a:ext cx="117674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Autonomic-Nervous-System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Autonomic-Nervous-System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C6F83-4353-DD6B-628F-42003AF7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Parasympathetic Nervous System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9F56B5-9795-69E2-36D1-59CDBC705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187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Anatomy-of-autonomic-nervous-system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0"/>
            <a:ext cx="119198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Autonomic-Nervous-System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0"/>
            <a:ext cx="119307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Autonomic-Nervous-System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5" y="0"/>
            <a:ext cx="119089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Anatomy-of-autonomic-nervous-system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0"/>
            <a:ext cx="1186542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Autonomic-Nervous-System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0"/>
            <a:ext cx="119198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Anatomy-of-autonomic-nervous-system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0"/>
            <a:ext cx="120831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Autonomic-Nervous-System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8980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Anatomy-of-autonomic-nervous-system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0"/>
            <a:ext cx="11887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Autonomic-Nervous-System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0"/>
            <a:ext cx="1195251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Autonomic-Nervous-System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0"/>
            <a:ext cx="120613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Anatomy-of-autonomic-nervous-system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Autonomic-Nervous-System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743" y="0"/>
            <a:ext cx="118545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Autonomic-Nervous-System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9" y="0"/>
            <a:ext cx="11963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Autonomic-Nervous-System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57" y="0"/>
            <a:ext cx="119307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Anatomy-of-autonomic-nervous-system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" y="0"/>
            <a:ext cx="1193074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Autonomic-Nervous-System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0"/>
            <a:ext cx="11887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Autonomic-Nervous-System-3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0"/>
            <a:ext cx="118436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4-Autonomic-Nervous-System-4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0"/>
            <a:ext cx="11767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1" y="87086"/>
            <a:ext cx="11941629" cy="892628"/>
          </a:xfrm>
        </p:spPr>
        <p:txBody>
          <a:bodyPr/>
          <a:lstStyle/>
          <a:p>
            <a:r>
              <a:rPr lang="en-GB" b="1" dirty="0"/>
              <a:t>ENTERIC NERVOUS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486" y="979714"/>
            <a:ext cx="11800114" cy="5791200"/>
          </a:xfrm>
        </p:spPr>
        <p:txBody>
          <a:bodyPr>
            <a:normAutofit/>
          </a:bodyPr>
          <a:lstStyle/>
          <a:p>
            <a:r>
              <a:rPr sz="3600" dirty="0"/>
              <a:t>Subdivision of ANS in the GI tract</a:t>
            </a:r>
            <a:endParaRPr lang="en-US" sz="3600" dirty="0"/>
          </a:p>
          <a:p>
            <a:endParaRPr sz="3600" dirty="0"/>
          </a:p>
          <a:p>
            <a:r>
              <a:rPr sz="3600" dirty="0"/>
              <a:t>Myenteric (Auerbach’s) and Submucosal (Meissner’s) plexuses</a:t>
            </a:r>
            <a:endParaRPr lang="en-US" sz="3600" dirty="0"/>
          </a:p>
          <a:p>
            <a:endParaRPr sz="3600" dirty="0"/>
          </a:p>
          <a:p>
            <a:r>
              <a:rPr sz="3600" dirty="0"/>
              <a:t>Functions semi-independently but modulated by ANS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Autonomic-Nervous-System-3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06137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Autonomic-Nervous-System-3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13" y="0"/>
            <a:ext cx="1184365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Autonomic-Nervous-System-3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Autonomic-Nervous-System-5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05048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20AF-F7B5-C020-472B-B8702767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6F67F3-7CF3-3871-3931-920E435C69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143" y="365126"/>
            <a:ext cx="11702143" cy="629693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GB" sz="7200" dirty="0"/>
          </a:p>
          <a:p>
            <a:pPr marL="0" indent="0" algn="ctr">
              <a:buNone/>
            </a:pPr>
            <a:endParaRPr lang="en-GB" sz="8000" dirty="0"/>
          </a:p>
          <a:p>
            <a:pPr marL="0" indent="0" algn="ctr">
              <a:buNone/>
            </a:pPr>
            <a:r>
              <a:rPr lang="en-GB" sz="8000" dirty="0"/>
              <a:t>THANKS </a:t>
            </a:r>
          </a:p>
        </p:txBody>
      </p:sp>
    </p:spTree>
    <p:extLst>
      <p:ext uri="{BB962C8B-B14F-4D97-AF65-F5344CB8AC3E}">
        <p14:creationId xmlns:p14="http://schemas.microsoft.com/office/powerpoint/2010/main" val="62655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668</TotalTime>
  <Words>246</Words>
  <Application>Microsoft Office PowerPoint</Application>
  <PresentationFormat>Widescreen</PresentationFormat>
  <Paragraphs>59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Aptos</vt:lpstr>
      <vt:lpstr>Aptos Display</vt:lpstr>
      <vt:lpstr>Arial</vt:lpstr>
      <vt:lpstr>Office Theme</vt:lpstr>
      <vt:lpstr>AUTONOMIC NERVOUS SYSTEM (ANS)</vt:lpstr>
      <vt:lpstr>OUTLINE </vt:lpstr>
      <vt:lpstr>INTRODUCTION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ANATOMICAL COMPONENTS OF ANS </vt:lpstr>
      <vt:lpstr>Central Components (CNS)</vt:lpstr>
      <vt:lpstr>PowerPoint Presentation</vt:lpstr>
      <vt:lpstr>Peripheral Components – Preganglionic Fibres</vt:lpstr>
      <vt:lpstr>Autonomic Ganglia</vt:lpstr>
      <vt:lpstr>Postganglionic Fibers</vt:lpstr>
      <vt:lpstr>PowerPoint Presentation</vt:lpstr>
      <vt:lpstr>PowerPoint Presentation</vt:lpstr>
      <vt:lpstr>PowerPoint Presentation</vt:lpstr>
      <vt:lpstr>Sympathetic Nervous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Parasympathetic Nervous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ENTERIC NERVOUS SYSTEM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Rotimi Oso</dc:creator>
  <cp:lastModifiedBy>Rotimi Oso</cp:lastModifiedBy>
  <cp:revision>17</cp:revision>
  <dcterms:created xsi:type="dcterms:W3CDTF">2025-09-27T13:13:19Z</dcterms:created>
  <dcterms:modified xsi:type="dcterms:W3CDTF">2025-09-28T17:59:07Z</dcterms:modified>
</cp:coreProperties>
</file>