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94.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s/slide79.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95.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9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s/slide80.xml" ContentType="application/vnd.openxmlformats-officedocument.presentationml.slide+xml"/>
  <Override PartName="/ppt/slides/slide82.xml" ContentType="application/vnd.openxmlformats-officedocument.presentationml.slide+xml"/>
  <Override PartName="/ppt/slides/slide91.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Override PartName="/ppt/slides/slide89.xml" ContentType="application/vnd.openxmlformats-officedocument.presentationml.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slides/slide96.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8"/>
  </p:notesMasterIdLst>
  <p:sldIdLst>
    <p:sldId id="358" r:id="rId2"/>
    <p:sldId id="359" r:id="rId3"/>
    <p:sldId id="360" r:id="rId4"/>
    <p:sldId id="361" r:id="rId5"/>
    <p:sldId id="362" r:id="rId6"/>
    <p:sldId id="363" r:id="rId7"/>
    <p:sldId id="364" r:id="rId8"/>
    <p:sldId id="365" r:id="rId9"/>
    <p:sldId id="366" r:id="rId10"/>
    <p:sldId id="367" r:id="rId11"/>
    <p:sldId id="368" r:id="rId12"/>
    <p:sldId id="369" r:id="rId13"/>
    <p:sldId id="370" r:id="rId14"/>
    <p:sldId id="371" r:id="rId15"/>
    <p:sldId id="372" r:id="rId16"/>
    <p:sldId id="373" r:id="rId17"/>
    <p:sldId id="374" r:id="rId18"/>
    <p:sldId id="375" r:id="rId19"/>
    <p:sldId id="376" r:id="rId20"/>
    <p:sldId id="377" r:id="rId21"/>
    <p:sldId id="378" r:id="rId22"/>
    <p:sldId id="379" r:id="rId23"/>
    <p:sldId id="380" r:id="rId24"/>
    <p:sldId id="381" r:id="rId25"/>
    <p:sldId id="382" r:id="rId26"/>
    <p:sldId id="383" r:id="rId27"/>
    <p:sldId id="384" r:id="rId28"/>
    <p:sldId id="385" r:id="rId29"/>
    <p:sldId id="386" r:id="rId30"/>
    <p:sldId id="387" r:id="rId31"/>
    <p:sldId id="388" r:id="rId32"/>
    <p:sldId id="389" r:id="rId33"/>
    <p:sldId id="390" r:id="rId34"/>
    <p:sldId id="391" r:id="rId35"/>
    <p:sldId id="392" r:id="rId36"/>
    <p:sldId id="393" r:id="rId37"/>
    <p:sldId id="293" r:id="rId38"/>
    <p:sldId id="356"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54" r:id="rId68"/>
    <p:sldId id="355" r:id="rId69"/>
    <p:sldId id="326" r:id="rId70"/>
    <p:sldId id="327" r:id="rId71"/>
    <p:sldId id="328" r:id="rId72"/>
    <p:sldId id="329" r:id="rId73"/>
    <p:sldId id="330" r:id="rId74"/>
    <p:sldId id="331" r:id="rId75"/>
    <p:sldId id="332" r:id="rId76"/>
    <p:sldId id="333" r:id="rId77"/>
    <p:sldId id="334" r:id="rId78"/>
    <p:sldId id="335" r:id="rId79"/>
    <p:sldId id="336" r:id="rId80"/>
    <p:sldId id="350" r:id="rId81"/>
    <p:sldId id="351" r:id="rId82"/>
    <p:sldId id="352" r:id="rId83"/>
    <p:sldId id="353" r:id="rId84"/>
    <p:sldId id="337" r:id="rId85"/>
    <p:sldId id="338" r:id="rId86"/>
    <p:sldId id="339" r:id="rId87"/>
    <p:sldId id="340" r:id="rId88"/>
    <p:sldId id="341" r:id="rId89"/>
    <p:sldId id="342" r:id="rId90"/>
    <p:sldId id="343" r:id="rId91"/>
    <p:sldId id="344" r:id="rId92"/>
    <p:sldId id="345" r:id="rId93"/>
    <p:sldId id="346" r:id="rId94"/>
    <p:sldId id="347" r:id="rId95"/>
    <p:sldId id="348" r:id="rId96"/>
    <p:sldId id="349" r:id="rId9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66" d="100"/>
          <a:sy n="66" d="100"/>
        </p:scale>
        <p:origin x="-1494" y="-102"/>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97" Type="http://schemas.openxmlformats.org/officeDocument/2006/relationships/slide" Target="slides/slide9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presProps" Target="presProps.xml"/><Relationship Id="rId10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D1A42D5-040F-48B6-8ACC-3978BC3C228C}" type="datetimeFigureOut">
              <a:rPr lang="en-US" smtClean="0"/>
              <a:pPr/>
              <a:t>11/10/2024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38B233B-027D-45E7-B905-A97376DC28E9}"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5AC3328-BDFE-4EA2-BD99-D39DC0A515A3}" type="slidenum">
              <a:rPr lang="en-US" smtClean="0"/>
              <a:pPr/>
              <a:t>9</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38B233B-027D-45E7-B905-A97376DC28E9}" type="slidenum">
              <a:rPr lang="en-US" smtClean="0"/>
              <a:pPr/>
              <a:t>96</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E4AC5272-DC9E-40E5-8201-BCDF13BDF968}" type="datetime1">
              <a:rPr lang="en-US" smtClean="0"/>
              <a:pPr/>
              <a:t>11/10/2024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608016-3028-48AC-89F9-913D89F81AFA}"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5DB8632-ECDF-4921-AED5-0BBFB45C4037}" type="datetime1">
              <a:rPr lang="en-US" smtClean="0"/>
              <a:pPr/>
              <a:t>11/10/2024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608016-3028-48AC-89F9-913D89F81AFA}"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A63D91D-A548-4A7D-8994-1D2BB79D64AD}" type="datetime1">
              <a:rPr lang="en-US" smtClean="0"/>
              <a:pPr/>
              <a:t>11/10/2024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608016-3028-48AC-89F9-913D89F81AFA}"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7A3D0171-AAEE-42A1-85B5-AE033A7B0138}" type="datetime1">
              <a:rPr lang="en-US" smtClean="0"/>
              <a:pPr/>
              <a:t>11/10/2024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D608016-3028-48AC-89F9-913D89F81AFA}"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2DE87678-E6C0-4D99-9C99-30A2AE2D1187}" type="datetime1">
              <a:rPr lang="en-US" smtClean="0"/>
              <a:pPr/>
              <a:t>11/10/2024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D608016-3028-48AC-89F9-913D89F81AFA}"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C752FA8-99A2-4C0E-9842-66B4D9E2660D}" type="datetime1">
              <a:rPr lang="en-US" smtClean="0"/>
              <a:pPr/>
              <a:t>11/10/2024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D608016-3028-48AC-89F9-913D89F81AFA}"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401957F-51F3-4704-AC02-6129DBA93B96}" type="datetime1">
              <a:rPr lang="en-US" smtClean="0"/>
              <a:pPr/>
              <a:t>11/10/2024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D608016-3028-48AC-89F9-913D89F81AFA}"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BFF1542-76E2-4705-AE7E-D8921E77F019}" type="datetime1">
              <a:rPr lang="en-US" smtClean="0"/>
              <a:pPr/>
              <a:t>11/10/2024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D608016-3028-48AC-89F9-913D89F81AFA}"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162B3CF-C538-494B-8763-5CAB9B2C48D9}" type="datetime1">
              <a:rPr lang="en-US" smtClean="0"/>
              <a:pPr/>
              <a:t>11/10/2024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D608016-3028-48AC-89F9-913D89F81AFA}"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6AB10FB-5245-43A6-B69F-D0C6EE5A962B}" type="datetime1">
              <a:rPr lang="en-US" smtClean="0"/>
              <a:pPr/>
              <a:t>11/10/2024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608016-3028-48AC-89F9-913D89F81AFA}"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4B94461-F113-425B-8A5E-4EA8BAA7C90D}" type="datetime1">
              <a:rPr lang="en-US" smtClean="0"/>
              <a:pPr/>
              <a:t>11/10/2024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608016-3028-48AC-89F9-913D89F81AFA}"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CD3F27-8E6E-405A-841C-FBB50FCE8260}" type="datetime1">
              <a:rPr lang="en-US" smtClean="0"/>
              <a:pPr/>
              <a:t>11/10/2024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608016-3028-48AC-89F9-913D89F81AFA}"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214423"/>
            <a:ext cx="7772400" cy="1571635"/>
          </a:xfrm>
        </p:spPr>
        <p:txBody>
          <a:bodyPr/>
          <a:lstStyle/>
          <a:p>
            <a:r>
              <a:rPr lang="en-US" dirty="0" smtClean="0">
                <a:latin typeface="Arial Black" pitchFamily="34" charset="0"/>
              </a:rPr>
              <a:t>MEDIASTINUM</a:t>
            </a:r>
            <a:endParaRPr lang="en-US" dirty="0">
              <a:latin typeface="Arial Black" pitchFamily="34" charset="0"/>
            </a:endParaRPr>
          </a:p>
        </p:txBody>
      </p:sp>
      <p:sp>
        <p:nvSpPr>
          <p:cNvPr id="3" name="Subtitle 2"/>
          <p:cNvSpPr>
            <a:spLocks noGrp="1"/>
          </p:cNvSpPr>
          <p:nvPr>
            <p:ph type="subTitle" idx="1"/>
          </p:nvPr>
        </p:nvSpPr>
        <p:spPr/>
        <p:txBody>
          <a:bodyPr>
            <a:noAutofit/>
          </a:bodyPr>
          <a:lstStyle/>
          <a:p>
            <a:r>
              <a:rPr lang="en-AU" sz="3600" dirty="0" smtClean="0">
                <a:latin typeface="Arial Black" pitchFamily="34" charset="0"/>
              </a:rPr>
              <a:t>BY</a:t>
            </a:r>
          </a:p>
          <a:p>
            <a:endParaRPr lang="en-AU" sz="3600" dirty="0">
              <a:latin typeface="Arial Black" pitchFamily="34" charset="0"/>
            </a:endParaRPr>
          </a:p>
          <a:p>
            <a:r>
              <a:rPr lang="en-AU" sz="3600" dirty="0" smtClean="0">
                <a:latin typeface="Arial Black" pitchFamily="34" charset="0"/>
              </a:rPr>
              <a:t>DR OJEWALE A.O</a:t>
            </a:r>
            <a:endParaRPr lang="en-US" sz="3600" dirty="0">
              <a:latin typeface="Arial Black" pitchFamily="34" charset="0"/>
            </a:endParaRPr>
          </a:p>
        </p:txBody>
      </p:sp>
      <p:sp>
        <p:nvSpPr>
          <p:cNvPr id="4" name="Slide Number Placeholder 3"/>
          <p:cNvSpPr>
            <a:spLocks noGrp="1"/>
          </p:cNvSpPr>
          <p:nvPr>
            <p:ph type="sldNum" sz="quarter" idx="12"/>
          </p:nvPr>
        </p:nvSpPr>
        <p:spPr/>
        <p:txBody>
          <a:bodyPr/>
          <a:lstStyle/>
          <a:p>
            <a:fld id="{7D608016-3028-48AC-89F9-913D89F81AFA}" type="slidenum">
              <a:rPr lang="en-US" smtClean="0"/>
              <a:pPr/>
              <a:t>1</a:t>
            </a:fld>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latin typeface="Arial Black" pitchFamily="34" charset="0"/>
              </a:rPr>
              <a:t>Outline</a:t>
            </a:r>
            <a:endParaRPr lang="en-US" dirty="0">
              <a:latin typeface="Arial Black" pitchFamily="34" charset="0"/>
            </a:endParaRPr>
          </a:p>
        </p:txBody>
      </p:sp>
      <p:sp>
        <p:nvSpPr>
          <p:cNvPr id="3" name="Content Placeholder 2"/>
          <p:cNvSpPr>
            <a:spLocks noGrp="1"/>
          </p:cNvSpPr>
          <p:nvPr>
            <p:ph idx="1"/>
          </p:nvPr>
        </p:nvSpPr>
        <p:spPr>
          <a:xfrm>
            <a:off x="457200" y="1285860"/>
            <a:ext cx="8229600" cy="5572140"/>
          </a:xfrm>
        </p:spPr>
        <p:txBody>
          <a:bodyPr>
            <a:normAutofit/>
          </a:bodyPr>
          <a:lstStyle/>
          <a:p>
            <a:pPr>
              <a:buFont typeface="Wingdings" pitchFamily="2" charset="2"/>
              <a:buChar char="§"/>
            </a:pPr>
            <a:r>
              <a:rPr lang="en-AU" dirty="0" smtClean="0">
                <a:latin typeface="Arial" pitchFamily="34" charset="0"/>
                <a:cs typeface="Arial" pitchFamily="34" charset="0"/>
              </a:rPr>
              <a:t>Intro’</a:t>
            </a:r>
          </a:p>
          <a:p>
            <a:pPr>
              <a:buFont typeface="Wingdings" pitchFamily="2" charset="2"/>
              <a:buChar char="§"/>
            </a:pPr>
            <a:r>
              <a:rPr lang="en-AU" dirty="0" smtClean="0">
                <a:latin typeface="Arial" pitchFamily="34" charset="0"/>
                <a:cs typeface="Arial" pitchFamily="34" charset="0"/>
              </a:rPr>
              <a:t>Boundaries</a:t>
            </a:r>
          </a:p>
          <a:p>
            <a:r>
              <a:rPr lang="en-AU" dirty="0" smtClean="0">
                <a:latin typeface="Arial" pitchFamily="34" charset="0"/>
                <a:cs typeface="Arial" pitchFamily="34" charset="0"/>
              </a:rPr>
              <a:t>Divisions</a:t>
            </a:r>
          </a:p>
          <a:p>
            <a:pPr>
              <a:buFont typeface="Wingdings" pitchFamily="2" charset="2"/>
              <a:buChar char="§"/>
            </a:pPr>
            <a:r>
              <a:rPr lang="en-AU" dirty="0" smtClean="0">
                <a:latin typeface="Arial" pitchFamily="34" charset="0"/>
                <a:cs typeface="Arial" pitchFamily="34" charset="0"/>
              </a:rPr>
              <a:t>Superior mediastinum</a:t>
            </a:r>
          </a:p>
          <a:p>
            <a:pPr>
              <a:buFont typeface="Wingdings" pitchFamily="2" charset="2"/>
              <a:buChar char="§"/>
            </a:pPr>
            <a:r>
              <a:rPr lang="en-AU" dirty="0" smtClean="0">
                <a:latin typeface="Arial" pitchFamily="34" charset="0"/>
                <a:cs typeface="Arial" pitchFamily="34" charset="0"/>
              </a:rPr>
              <a:t>Inferior mediastinum</a:t>
            </a:r>
          </a:p>
          <a:p>
            <a:r>
              <a:rPr lang="en-AU" dirty="0" smtClean="0">
                <a:latin typeface="Arial" pitchFamily="34" charset="0"/>
                <a:cs typeface="Arial" pitchFamily="34" charset="0"/>
              </a:rPr>
              <a:t>Anterior mediastinum</a:t>
            </a:r>
          </a:p>
          <a:p>
            <a:r>
              <a:rPr lang="en-AU" dirty="0" smtClean="0">
                <a:latin typeface="Arial" pitchFamily="34" charset="0"/>
                <a:cs typeface="Arial" pitchFamily="34" charset="0"/>
              </a:rPr>
              <a:t>Middle mediastinum</a:t>
            </a:r>
          </a:p>
          <a:p>
            <a:r>
              <a:rPr lang="en-AU" dirty="0" smtClean="0">
                <a:latin typeface="Arial" pitchFamily="34" charset="0"/>
                <a:cs typeface="Arial" pitchFamily="34" charset="0"/>
              </a:rPr>
              <a:t>Posterior mediastinum</a:t>
            </a:r>
          </a:p>
          <a:p>
            <a:pPr>
              <a:buFont typeface="Wingdings" pitchFamily="2" charset="2"/>
              <a:buChar char="§"/>
            </a:pPr>
            <a:r>
              <a:rPr lang="en-AU" dirty="0" smtClean="0">
                <a:latin typeface="Arial" pitchFamily="34" charset="0"/>
                <a:cs typeface="Arial" pitchFamily="34" charset="0"/>
              </a:rPr>
              <a:t>Applied Anatomy</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11222"/>
          </a:xfrm>
        </p:spPr>
        <p:txBody>
          <a:bodyPr/>
          <a:lstStyle/>
          <a:p>
            <a:r>
              <a:rPr lang="en-AU" dirty="0" smtClean="0">
                <a:latin typeface="Arial Black" pitchFamily="34" charset="0"/>
                <a:cs typeface="Arial" pitchFamily="34" charset="0"/>
              </a:rPr>
              <a:t>Intro’</a:t>
            </a:r>
            <a:endParaRPr lang="en-US" dirty="0">
              <a:latin typeface="Arial Black" pitchFamily="34" charset="0"/>
              <a:cs typeface="Arial" pitchFamily="34" charset="0"/>
            </a:endParaRPr>
          </a:p>
        </p:txBody>
      </p:sp>
      <p:sp>
        <p:nvSpPr>
          <p:cNvPr id="3" name="Content Placeholder 2"/>
          <p:cNvSpPr>
            <a:spLocks noGrp="1"/>
          </p:cNvSpPr>
          <p:nvPr>
            <p:ph idx="1"/>
          </p:nvPr>
        </p:nvSpPr>
        <p:spPr>
          <a:xfrm>
            <a:off x="285720" y="1357298"/>
            <a:ext cx="8572560" cy="5500702"/>
          </a:xfrm>
        </p:spPr>
        <p:txBody>
          <a:bodyPr>
            <a:normAutofit lnSpcReduction="10000"/>
          </a:bodyPr>
          <a:lstStyle/>
          <a:p>
            <a:pPr algn="just"/>
            <a:r>
              <a:rPr lang="en-AU" b="1" dirty="0" smtClean="0">
                <a:latin typeface="Arial" pitchFamily="34" charset="0"/>
                <a:cs typeface="Arial" pitchFamily="34" charset="0"/>
              </a:rPr>
              <a:t>Mediastinum </a:t>
            </a:r>
            <a:r>
              <a:rPr lang="en-AU" dirty="0" smtClean="0">
                <a:latin typeface="Arial" pitchFamily="34" charset="0"/>
                <a:cs typeface="Arial" pitchFamily="34" charset="0"/>
              </a:rPr>
              <a:t>is the </a:t>
            </a:r>
            <a:r>
              <a:rPr lang="en-AU" b="1" dirty="0" smtClean="0">
                <a:latin typeface="Arial" pitchFamily="34" charset="0"/>
                <a:cs typeface="Arial" pitchFamily="34" charset="0"/>
              </a:rPr>
              <a:t>space</a:t>
            </a:r>
            <a:r>
              <a:rPr lang="en-AU" dirty="0" smtClean="0">
                <a:latin typeface="Arial" pitchFamily="34" charset="0"/>
                <a:cs typeface="Arial" pitchFamily="34" charset="0"/>
              </a:rPr>
              <a:t> between the </a:t>
            </a:r>
            <a:r>
              <a:rPr lang="en-AU" b="1" dirty="0" smtClean="0">
                <a:latin typeface="Arial" pitchFamily="34" charset="0"/>
                <a:cs typeface="Arial" pitchFamily="34" charset="0"/>
              </a:rPr>
              <a:t>pleural cavities </a:t>
            </a:r>
            <a:r>
              <a:rPr lang="en-AU" dirty="0" smtClean="0">
                <a:latin typeface="Arial" pitchFamily="34" charset="0"/>
                <a:cs typeface="Arial" pitchFamily="34" charset="0"/>
              </a:rPr>
              <a:t>occupying the </a:t>
            </a:r>
            <a:r>
              <a:rPr lang="en-AU" b="1" dirty="0" smtClean="0">
                <a:latin typeface="Arial" pitchFamily="34" charset="0"/>
                <a:cs typeface="Arial" pitchFamily="34" charset="0"/>
              </a:rPr>
              <a:t>centre</a:t>
            </a:r>
            <a:r>
              <a:rPr lang="en-AU" dirty="0" smtClean="0">
                <a:latin typeface="Arial" pitchFamily="34" charset="0"/>
                <a:cs typeface="Arial" pitchFamily="34" charset="0"/>
              </a:rPr>
              <a:t> of the </a:t>
            </a:r>
            <a:r>
              <a:rPr lang="en-AU" b="1" dirty="0" smtClean="0">
                <a:latin typeface="Arial" pitchFamily="34" charset="0"/>
                <a:cs typeface="Arial" pitchFamily="34" charset="0"/>
              </a:rPr>
              <a:t>thoracic cavity </a:t>
            </a:r>
            <a:r>
              <a:rPr lang="en-AU" dirty="0" smtClean="0">
                <a:latin typeface="Arial" pitchFamily="34" charset="0"/>
                <a:cs typeface="Arial" pitchFamily="34" charset="0"/>
              </a:rPr>
              <a:t>which separates the </a:t>
            </a:r>
            <a:r>
              <a:rPr lang="en-AU" b="1" dirty="0" smtClean="0">
                <a:latin typeface="Arial" pitchFamily="34" charset="0"/>
                <a:cs typeface="Arial" pitchFamily="34" charset="0"/>
              </a:rPr>
              <a:t>two laterally</a:t>
            </a:r>
            <a:r>
              <a:rPr lang="en-AU" dirty="0" smtClean="0">
                <a:latin typeface="Arial" pitchFamily="34" charset="0"/>
                <a:cs typeface="Arial" pitchFamily="34" charset="0"/>
              </a:rPr>
              <a:t> placed </a:t>
            </a:r>
            <a:r>
              <a:rPr lang="en-AU" b="1" dirty="0" smtClean="0">
                <a:latin typeface="Arial" pitchFamily="34" charset="0"/>
                <a:cs typeface="Arial" pitchFamily="34" charset="0"/>
              </a:rPr>
              <a:t>pleural cavities</a:t>
            </a:r>
            <a:r>
              <a:rPr lang="en-AU" dirty="0" smtClean="0">
                <a:latin typeface="Arial" pitchFamily="34" charset="0"/>
                <a:cs typeface="Arial" pitchFamily="34" charset="0"/>
              </a:rPr>
              <a:t>.</a:t>
            </a:r>
          </a:p>
          <a:p>
            <a:pPr algn="just"/>
            <a:endParaRPr lang="en-AU" dirty="0" smtClean="0">
              <a:latin typeface="Arial" pitchFamily="34" charset="0"/>
              <a:cs typeface="Arial" pitchFamily="34" charset="0"/>
            </a:endParaRPr>
          </a:p>
          <a:p>
            <a:pPr algn="just"/>
            <a:r>
              <a:rPr lang="en-AU" dirty="0" smtClean="0">
                <a:latin typeface="Arial" pitchFamily="34" charset="0"/>
                <a:cs typeface="Arial" pitchFamily="34" charset="0"/>
              </a:rPr>
              <a:t>It is a </a:t>
            </a:r>
            <a:r>
              <a:rPr lang="en-AU" b="1" dirty="0" smtClean="0">
                <a:latin typeface="Arial" pitchFamily="34" charset="0"/>
                <a:cs typeface="Arial" pitchFamily="34" charset="0"/>
              </a:rPr>
              <a:t>highly mobile septum </a:t>
            </a:r>
            <a:r>
              <a:rPr lang="en-AU" dirty="0" smtClean="0">
                <a:latin typeface="Arial" pitchFamily="34" charset="0"/>
                <a:cs typeface="Arial" pitchFamily="34" charset="0"/>
              </a:rPr>
              <a:t>in a </a:t>
            </a:r>
            <a:r>
              <a:rPr lang="en-AU" b="1" dirty="0" smtClean="0">
                <a:latin typeface="Arial" pitchFamily="34" charset="0"/>
                <a:cs typeface="Arial" pitchFamily="34" charset="0"/>
              </a:rPr>
              <a:t>living individual</a:t>
            </a:r>
            <a:r>
              <a:rPr lang="en-AU" dirty="0" smtClean="0">
                <a:latin typeface="Arial" pitchFamily="34" charset="0"/>
                <a:cs typeface="Arial" pitchFamily="34" charset="0"/>
              </a:rPr>
              <a:t>, because it consists primarily of hollow </a:t>
            </a:r>
            <a:r>
              <a:rPr lang="en-AU" b="1" dirty="0" smtClean="0">
                <a:latin typeface="Arial" pitchFamily="34" charset="0"/>
                <a:cs typeface="Arial" pitchFamily="34" charset="0"/>
              </a:rPr>
              <a:t>visceral structures </a:t>
            </a:r>
            <a:r>
              <a:rPr lang="en-AU" dirty="0" smtClean="0">
                <a:latin typeface="Arial" pitchFamily="34" charset="0"/>
                <a:cs typeface="Arial" pitchFamily="34" charset="0"/>
              </a:rPr>
              <a:t>bound together by </a:t>
            </a:r>
            <a:r>
              <a:rPr lang="en-AU" b="1" dirty="0" smtClean="0">
                <a:latin typeface="Arial" pitchFamily="34" charset="0"/>
                <a:cs typeface="Arial" pitchFamily="34" charset="0"/>
              </a:rPr>
              <a:t>loose connective tissue</a:t>
            </a:r>
            <a:r>
              <a:rPr lang="en-AU" dirty="0" smtClean="0">
                <a:latin typeface="Arial" pitchFamily="34" charset="0"/>
                <a:cs typeface="Arial" pitchFamily="34" charset="0"/>
              </a:rPr>
              <a:t>, often </a:t>
            </a:r>
            <a:r>
              <a:rPr lang="en-AU" b="1" dirty="0" smtClean="0">
                <a:latin typeface="Arial" pitchFamily="34" charset="0"/>
                <a:cs typeface="Arial" pitchFamily="34" charset="0"/>
              </a:rPr>
              <a:t>infiltrated </a:t>
            </a:r>
            <a:r>
              <a:rPr lang="en-AU" dirty="0" smtClean="0">
                <a:latin typeface="Arial" pitchFamily="34" charset="0"/>
                <a:cs typeface="Arial" pitchFamily="34" charset="0"/>
              </a:rPr>
              <a:t>with</a:t>
            </a:r>
            <a:r>
              <a:rPr lang="en-AU" b="1" dirty="0" smtClean="0">
                <a:latin typeface="Arial" pitchFamily="34" charset="0"/>
                <a:cs typeface="Arial" pitchFamily="34" charset="0"/>
              </a:rPr>
              <a:t> fat</a:t>
            </a:r>
            <a:r>
              <a:rPr lang="en-AU" dirty="0" smtClean="0">
                <a:latin typeface="Arial" pitchFamily="34" charset="0"/>
                <a:cs typeface="Arial" pitchFamily="34" charset="0"/>
              </a:rPr>
              <a:t> while it is a </a:t>
            </a:r>
            <a:r>
              <a:rPr lang="en-AU" b="1" dirty="0" smtClean="0">
                <a:latin typeface="Arial" pitchFamily="34" charset="0"/>
                <a:cs typeface="Arial" pitchFamily="34" charset="0"/>
              </a:rPr>
              <a:t>rigid structure </a:t>
            </a:r>
            <a:r>
              <a:rPr lang="en-AU" dirty="0" smtClean="0">
                <a:latin typeface="Arial" pitchFamily="34" charset="0"/>
                <a:cs typeface="Arial" pitchFamily="34" charset="0"/>
              </a:rPr>
              <a:t>in the </a:t>
            </a:r>
            <a:r>
              <a:rPr lang="en-AU" b="1" dirty="0" smtClean="0">
                <a:latin typeface="Arial" pitchFamily="34" charset="0"/>
                <a:cs typeface="Arial" pitchFamily="34" charset="0"/>
              </a:rPr>
              <a:t>non-living individual.</a:t>
            </a:r>
            <a:endParaRPr lang="en-US" dirty="0" smtClean="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7D608016-3028-48AC-89F9-913D89F81AFA}" type="slidenum">
              <a:rPr lang="en-US" smtClean="0"/>
              <a:pPr/>
              <a:t>3</a:t>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225536"/>
          </a:xfrm>
        </p:spPr>
        <p:txBody>
          <a:bodyPr>
            <a:noAutofit/>
          </a:bodyPr>
          <a:lstStyle/>
          <a:p>
            <a:r>
              <a:rPr lang="en-AU" dirty="0" smtClean="0">
                <a:latin typeface="Arial Black" pitchFamily="34" charset="0"/>
              </a:rPr>
              <a:t>Cont’d</a:t>
            </a:r>
            <a:endParaRPr lang="en-US" dirty="0">
              <a:latin typeface="Arial Black" pitchFamily="34" charset="0"/>
            </a:endParaRPr>
          </a:p>
        </p:txBody>
      </p:sp>
      <p:sp>
        <p:nvSpPr>
          <p:cNvPr id="3" name="Content Placeholder 2"/>
          <p:cNvSpPr>
            <a:spLocks noGrp="1"/>
          </p:cNvSpPr>
          <p:nvPr>
            <p:ph idx="1"/>
          </p:nvPr>
        </p:nvSpPr>
        <p:spPr>
          <a:xfrm>
            <a:off x="457200" y="928670"/>
            <a:ext cx="8229600" cy="5197493"/>
          </a:xfrm>
        </p:spPr>
        <p:txBody>
          <a:bodyPr/>
          <a:lstStyle/>
          <a:p>
            <a:pPr algn="just">
              <a:buNone/>
            </a:pPr>
            <a:endParaRPr lang="en-AU" dirty="0">
              <a:latin typeface="Arial" pitchFamily="34" charset="0"/>
              <a:cs typeface="Arial" pitchFamily="34" charset="0"/>
            </a:endParaRPr>
          </a:p>
          <a:p>
            <a:pPr algn="just"/>
            <a:r>
              <a:rPr lang="en-AU" dirty="0" smtClean="0">
                <a:latin typeface="Arial" pitchFamily="34" charset="0"/>
                <a:cs typeface="Arial" pitchFamily="34" charset="0"/>
              </a:rPr>
              <a:t>It is covered on </a:t>
            </a:r>
            <a:r>
              <a:rPr lang="en-AU" b="1" dirty="0" smtClean="0">
                <a:latin typeface="Arial" pitchFamily="34" charset="0"/>
                <a:cs typeface="Arial" pitchFamily="34" charset="0"/>
              </a:rPr>
              <a:t>either side </a:t>
            </a:r>
            <a:r>
              <a:rPr lang="en-AU" dirty="0" smtClean="0">
                <a:latin typeface="Arial" pitchFamily="34" charset="0"/>
                <a:cs typeface="Arial" pitchFamily="34" charset="0"/>
              </a:rPr>
              <a:t>by the </a:t>
            </a:r>
            <a:r>
              <a:rPr lang="en-AU" b="1" dirty="0" smtClean="0">
                <a:latin typeface="Arial" pitchFamily="34" charset="0"/>
                <a:cs typeface="Arial" pitchFamily="34" charset="0"/>
              </a:rPr>
              <a:t>mediastinal pleura</a:t>
            </a:r>
            <a:r>
              <a:rPr lang="en-AU" dirty="0" smtClean="0">
                <a:latin typeface="Arial" pitchFamily="34" charset="0"/>
                <a:cs typeface="Arial" pitchFamily="34" charset="0"/>
              </a:rPr>
              <a:t>.</a:t>
            </a:r>
          </a:p>
          <a:p>
            <a:pPr algn="just"/>
            <a:endParaRPr lang="en-US" dirty="0">
              <a:latin typeface="Arial" pitchFamily="34" charset="0"/>
              <a:cs typeface="Arial" pitchFamily="34" charset="0"/>
            </a:endParaRPr>
          </a:p>
        </p:txBody>
      </p:sp>
      <p:pic>
        <p:nvPicPr>
          <p:cNvPr id="6" name="Picture 2"/>
          <p:cNvPicPr>
            <a:picLocks noChangeAspect="1" noChangeArrowheads="1"/>
          </p:cNvPicPr>
          <p:nvPr/>
        </p:nvPicPr>
        <p:blipFill>
          <a:blip r:embed="rId2"/>
          <a:srcRect/>
          <a:stretch>
            <a:fillRect/>
          </a:stretch>
        </p:blipFill>
        <p:spPr bwMode="auto">
          <a:xfrm>
            <a:off x="1214414" y="2714620"/>
            <a:ext cx="6643734" cy="3286148"/>
          </a:xfrm>
          <a:prstGeom prst="rect">
            <a:avLst/>
          </a:prstGeom>
          <a:noFill/>
          <a:ln w="9525">
            <a:noFill/>
            <a:miter lim="800000"/>
            <a:headEnd/>
            <a:tailEnd/>
          </a:ln>
          <a:effectLst/>
        </p:spPr>
      </p:pic>
      <p:sp>
        <p:nvSpPr>
          <p:cNvPr id="7" name="TextBox 6"/>
          <p:cNvSpPr txBox="1"/>
          <p:nvPr/>
        </p:nvSpPr>
        <p:spPr>
          <a:xfrm>
            <a:off x="1428729" y="6000768"/>
            <a:ext cx="6715172" cy="369332"/>
          </a:xfrm>
          <a:prstGeom prst="rect">
            <a:avLst/>
          </a:prstGeom>
          <a:noFill/>
        </p:spPr>
        <p:txBody>
          <a:bodyPr wrap="square" rtlCol="0">
            <a:spAutoFit/>
          </a:bodyPr>
          <a:lstStyle/>
          <a:p>
            <a:r>
              <a:rPr lang="en-AU" dirty="0" smtClean="0"/>
              <a:t>Cross section of the thorax showing the position of the mediastinum</a:t>
            </a:r>
            <a:endParaRPr lang="en-US" dirty="0"/>
          </a:p>
        </p:txBody>
      </p:sp>
      <p:sp>
        <p:nvSpPr>
          <p:cNvPr id="8" name="Slide Number Placeholder 7"/>
          <p:cNvSpPr>
            <a:spLocks noGrp="1"/>
          </p:cNvSpPr>
          <p:nvPr>
            <p:ph type="sldNum" sz="quarter" idx="12"/>
          </p:nvPr>
        </p:nvSpPr>
        <p:spPr/>
        <p:txBody>
          <a:bodyPr/>
          <a:lstStyle/>
          <a:p>
            <a:fld id="{7D608016-3028-48AC-89F9-913D89F81AFA}" type="slidenum">
              <a:rPr lang="en-US" smtClean="0"/>
              <a:pPr/>
              <a:t>4</a:t>
            </a:fld>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43050"/>
            <a:ext cx="8229600" cy="4857784"/>
          </a:xfrm>
        </p:spPr>
        <p:txBody>
          <a:bodyPr/>
          <a:lstStyle/>
          <a:p>
            <a:pPr algn="just"/>
            <a:r>
              <a:rPr lang="en-AU" dirty="0" smtClean="0">
                <a:latin typeface="Arial" pitchFamily="34" charset="0"/>
                <a:cs typeface="Arial" pitchFamily="34" charset="0"/>
              </a:rPr>
              <a:t>It contains the </a:t>
            </a:r>
            <a:r>
              <a:rPr lang="en-AU" b="1" dirty="0" smtClean="0">
                <a:latin typeface="Arial" pitchFamily="34" charset="0"/>
                <a:cs typeface="Arial" pitchFamily="34" charset="0"/>
              </a:rPr>
              <a:t>heart</a:t>
            </a:r>
            <a:r>
              <a:rPr lang="en-AU" dirty="0" smtClean="0">
                <a:latin typeface="Arial" pitchFamily="34" charset="0"/>
                <a:cs typeface="Arial" pitchFamily="34" charset="0"/>
              </a:rPr>
              <a:t> and its </a:t>
            </a:r>
            <a:r>
              <a:rPr lang="en-AU" b="1" dirty="0" smtClean="0">
                <a:latin typeface="Arial" pitchFamily="34" charset="0"/>
                <a:cs typeface="Arial" pitchFamily="34" charset="0"/>
              </a:rPr>
              <a:t>great blood vessels</a:t>
            </a:r>
            <a:r>
              <a:rPr lang="en-AU" dirty="0" smtClean="0">
                <a:latin typeface="Arial" pitchFamily="34" charset="0"/>
                <a:cs typeface="Arial" pitchFamily="34" charset="0"/>
              </a:rPr>
              <a:t>, </a:t>
            </a:r>
            <a:r>
              <a:rPr lang="en-AU" b="1" dirty="0" smtClean="0">
                <a:latin typeface="Arial" pitchFamily="34" charset="0"/>
                <a:cs typeface="Arial" pitchFamily="34" charset="0"/>
              </a:rPr>
              <a:t>esophagus</a:t>
            </a:r>
            <a:r>
              <a:rPr lang="en-AU" dirty="0" smtClean="0">
                <a:latin typeface="Arial" pitchFamily="34" charset="0"/>
                <a:cs typeface="Arial" pitchFamily="34" charset="0"/>
              </a:rPr>
              <a:t>, </a:t>
            </a:r>
            <a:r>
              <a:rPr lang="en-AU" b="1" dirty="0" smtClean="0">
                <a:latin typeface="Arial" pitchFamily="34" charset="0"/>
                <a:cs typeface="Arial" pitchFamily="34" charset="0"/>
              </a:rPr>
              <a:t>trachea</a:t>
            </a:r>
            <a:r>
              <a:rPr lang="en-AU" dirty="0" smtClean="0">
                <a:latin typeface="Arial" pitchFamily="34" charset="0"/>
                <a:cs typeface="Arial" pitchFamily="34" charset="0"/>
              </a:rPr>
              <a:t> and </a:t>
            </a:r>
            <a:r>
              <a:rPr lang="en-AU" b="1" dirty="0" smtClean="0">
                <a:latin typeface="Arial" pitchFamily="34" charset="0"/>
                <a:cs typeface="Arial" pitchFamily="34" charset="0"/>
              </a:rPr>
              <a:t>its bifurcation</a:t>
            </a:r>
            <a:r>
              <a:rPr lang="en-AU" dirty="0" smtClean="0">
                <a:latin typeface="Arial" pitchFamily="34" charset="0"/>
                <a:cs typeface="Arial" pitchFamily="34" charset="0"/>
              </a:rPr>
              <a:t>, </a:t>
            </a:r>
            <a:r>
              <a:rPr lang="en-AU" b="1" dirty="0" smtClean="0">
                <a:latin typeface="Arial" pitchFamily="34" charset="0"/>
                <a:cs typeface="Arial" pitchFamily="34" charset="0"/>
              </a:rPr>
              <a:t>thymus</a:t>
            </a:r>
            <a:r>
              <a:rPr lang="en-AU" dirty="0" smtClean="0">
                <a:latin typeface="Arial" pitchFamily="34" charset="0"/>
                <a:cs typeface="Arial" pitchFamily="34" charset="0"/>
              </a:rPr>
              <a:t>, </a:t>
            </a:r>
            <a:r>
              <a:rPr lang="en-AU" b="1" dirty="0" smtClean="0">
                <a:latin typeface="Arial" pitchFamily="34" charset="0"/>
                <a:cs typeface="Arial" pitchFamily="34" charset="0"/>
              </a:rPr>
              <a:t>thoracic ducts</a:t>
            </a:r>
            <a:r>
              <a:rPr lang="en-AU" dirty="0" smtClean="0">
                <a:latin typeface="Arial" pitchFamily="34" charset="0"/>
                <a:cs typeface="Arial" pitchFamily="34" charset="0"/>
              </a:rPr>
              <a:t>, </a:t>
            </a:r>
            <a:r>
              <a:rPr lang="en-AU" b="1" dirty="0" smtClean="0">
                <a:latin typeface="Arial" pitchFamily="34" charset="0"/>
                <a:cs typeface="Arial" pitchFamily="34" charset="0"/>
              </a:rPr>
              <a:t>lymph nodes</a:t>
            </a:r>
            <a:r>
              <a:rPr lang="en-AU" dirty="0" smtClean="0">
                <a:latin typeface="Arial" pitchFamily="34" charset="0"/>
                <a:cs typeface="Arial" pitchFamily="34" charset="0"/>
              </a:rPr>
              <a:t>, </a:t>
            </a:r>
            <a:r>
              <a:rPr lang="en-AU" b="1" dirty="0" smtClean="0">
                <a:latin typeface="Arial" pitchFamily="34" charset="0"/>
                <a:cs typeface="Arial" pitchFamily="34" charset="0"/>
              </a:rPr>
              <a:t>phrenic</a:t>
            </a:r>
            <a:r>
              <a:rPr lang="en-AU" dirty="0" smtClean="0">
                <a:latin typeface="Arial" pitchFamily="34" charset="0"/>
                <a:cs typeface="Arial" pitchFamily="34" charset="0"/>
              </a:rPr>
              <a:t> and </a:t>
            </a:r>
            <a:r>
              <a:rPr lang="en-AU" b="1" dirty="0" smtClean="0">
                <a:latin typeface="Arial" pitchFamily="34" charset="0"/>
                <a:cs typeface="Arial" pitchFamily="34" charset="0"/>
              </a:rPr>
              <a:t>vagus nerves</a:t>
            </a:r>
            <a:r>
              <a:rPr lang="en-AU" dirty="0" smtClean="0">
                <a:latin typeface="Arial" pitchFamily="34" charset="0"/>
                <a:cs typeface="Arial" pitchFamily="34" charset="0"/>
              </a:rPr>
              <a:t>.  </a:t>
            </a:r>
            <a:endParaRPr lang="en-US" dirty="0" smtClean="0">
              <a:latin typeface="Arial" pitchFamily="34" charset="0"/>
              <a:cs typeface="Arial" pitchFamily="34" charset="0"/>
            </a:endParaRPr>
          </a:p>
          <a:p>
            <a:pPr algn="just"/>
            <a:endParaRPr lang="en-US"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7D608016-3028-48AC-89F9-913D89F81AFA}" type="slidenum">
              <a:rPr lang="en-US" smtClean="0"/>
              <a:pPr/>
              <a:t>5</a:t>
            </a:fld>
            <a:endParaRPr lang="en-US" dirty="0"/>
          </a:p>
        </p:txBody>
      </p:sp>
      <p:sp>
        <p:nvSpPr>
          <p:cNvPr id="5" name="TextBox 4"/>
          <p:cNvSpPr txBox="1"/>
          <p:nvPr/>
        </p:nvSpPr>
        <p:spPr>
          <a:xfrm>
            <a:off x="3286116" y="571480"/>
            <a:ext cx="2500330" cy="769441"/>
          </a:xfrm>
          <a:prstGeom prst="rect">
            <a:avLst/>
          </a:prstGeom>
          <a:noFill/>
        </p:spPr>
        <p:txBody>
          <a:bodyPr wrap="square" rtlCol="0">
            <a:spAutoFit/>
          </a:bodyPr>
          <a:lstStyle/>
          <a:p>
            <a:r>
              <a:rPr lang="en-AU" sz="4400" dirty="0" smtClean="0">
                <a:latin typeface="Arial Black" pitchFamily="34" charset="0"/>
              </a:rPr>
              <a:t>Cont’d</a:t>
            </a:r>
            <a:endParaRPr lang="en-US" sz="4400" dirty="0">
              <a:latin typeface="Arial Black"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Arial Black" pitchFamily="34" charset="0"/>
              </a:rPr>
              <a:t>Boundaries</a:t>
            </a:r>
            <a:endParaRPr lang="en-US" dirty="0">
              <a:latin typeface="Arial Black" pitchFamily="34" charset="0"/>
            </a:endParaRPr>
          </a:p>
        </p:txBody>
      </p:sp>
      <p:sp>
        <p:nvSpPr>
          <p:cNvPr id="3" name="Content Placeholder 2"/>
          <p:cNvSpPr>
            <a:spLocks noGrp="1"/>
          </p:cNvSpPr>
          <p:nvPr>
            <p:ph idx="1"/>
          </p:nvPr>
        </p:nvSpPr>
        <p:spPr>
          <a:xfrm>
            <a:off x="285720" y="1142984"/>
            <a:ext cx="8643998" cy="5429288"/>
          </a:xfrm>
        </p:spPr>
        <p:txBody>
          <a:bodyPr>
            <a:normAutofit/>
          </a:bodyPr>
          <a:lstStyle/>
          <a:p>
            <a:pPr algn="just"/>
            <a:r>
              <a:rPr lang="en-US" b="1" dirty="0" smtClean="0">
                <a:latin typeface="Arial" pitchFamily="34" charset="0"/>
                <a:cs typeface="Arial" pitchFamily="34" charset="0"/>
              </a:rPr>
              <a:t>Anterior</a:t>
            </a:r>
            <a:r>
              <a:rPr lang="en-US" dirty="0" smtClean="0">
                <a:latin typeface="Arial" pitchFamily="34" charset="0"/>
                <a:cs typeface="Arial" pitchFamily="34" charset="0"/>
              </a:rPr>
              <a:t>:  </a:t>
            </a:r>
            <a:r>
              <a:rPr lang="en-US" b="1" dirty="0" smtClean="0">
                <a:latin typeface="Arial" pitchFamily="34" charset="0"/>
                <a:cs typeface="Arial" pitchFamily="34" charset="0"/>
              </a:rPr>
              <a:t>Sternum</a:t>
            </a:r>
          </a:p>
          <a:p>
            <a:pPr algn="just"/>
            <a:r>
              <a:rPr lang="en-US" b="1" dirty="0" smtClean="0">
                <a:latin typeface="Arial" pitchFamily="34" charset="0"/>
                <a:cs typeface="Arial" pitchFamily="34" charset="0"/>
              </a:rPr>
              <a:t>Posterior</a:t>
            </a:r>
            <a:r>
              <a:rPr lang="en-US" dirty="0" smtClean="0">
                <a:latin typeface="Arial" pitchFamily="34" charset="0"/>
                <a:cs typeface="Arial" pitchFamily="34" charset="0"/>
              </a:rPr>
              <a:t>: </a:t>
            </a:r>
            <a:r>
              <a:rPr lang="en-US" b="1" dirty="0" smtClean="0">
                <a:latin typeface="Arial" pitchFamily="34" charset="0"/>
                <a:cs typeface="Arial" pitchFamily="34" charset="0"/>
              </a:rPr>
              <a:t>Vertebral column </a:t>
            </a:r>
          </a:p>
          <a:p>
            <a:pPr algn="just">
              <a:buNone/>
            </a:pPr>
            <a:r>
              <a:rPr lang="en-US" dirty="0">
                <a:latin typeface="Arial" pitchFamily="34" charset="0"/>
                <a:cs typeface="Arial" pitchFamily="34" charset="0"/>
              </a:rPr>
              <a:t> </a:t>
            </a:r>
            <a:r>
              <a:rPr lang="en-US" dirty="0" smtClean="0">
                <a:latin typeface="Arial" pitchFamily="34" charset="0"/>
                <a:cs typeface="Arial" pitchFamily="34" charset="0"/>
              </a:rPr>
              <a:t> (bodies of thoracic vertebrae </a:t>
            </a:r>
          </a:p>
          <a:p>
            <a:pPr algn="just">
              <a:buNone/>
            </a:pPr>
            <a:r>
              <a:rPr lang="en-US" dirty="0">
                <a:latin typeface="Arial" pitchFamily="34" charset="0"/>
                <a:cs typeface="Arial" pitchFamily="34" charset="0"/>
              </a:rPr>
              <a:t> </a:t>
            </a:r>
            <a:r>
              <a:rPr lang="en-US" dirty="0" smtClean="0">
                <a:latin typeface="Arial" pitchFamily="34" charset="0"/>
                <a:cs typeface="Arial" pitchFamily="34" charset="0"/>
              </a:rPr>
              <a:t>  and intervening </a:t>
            </a:r>
          </a:p>
          <a:p>
            <a:pPr algn="just">
              <a:buNone/>
            </a:pPr>
            <a:r>
              <a:rPr lang="en-US" dirty="0">
                <a:latin typeface="Arial" pitchFamily="34" charset="0"/>
                <a:cs typeface="Arial" pitchFamily="34" charset="0"/>
              </a:rPr>
              <a:t> </a:t>
            </a:r>
            <a:r>
              <a:rPr lang="en-US" dirty="0" smtClean="0">
                <a:latin typeface="Arial" pitchFamily="34" charset="0"/>
                <a:cs typeface="Arial" pitchFamily="34" charset="0"/>
              </a:rPr>
              <a:t>  intervertebral discs)</a:t>
            </a:r>
          </a:p>
          <a:p>
            <a:pPr algn="just"/>
            <a:r>
              <a:rPr lang="en-US" b="1" dirty="0" smtClean="0">
                <a:latin typeface="Arial" pitchFamily="34" charset="0"/>
                <a:cs typeface="Arial" pitchFamily="34" charset="0"/>
              </a:rPr>
              <a:t>Superior</a:t>
            </a:r>
            <a:r>
              <a:rPr lang="en-US" dirty="0" smtClean="0">
                <a:latin typeface="Arial" pitchFamily="34" charset="0"/>
                <a:cs typeface="Arial" pitchFamily="34" charset="0"/>
              </a:rPr>
              <a:t>: </a:t>
            </a:r>
            <a:r>
              <a:rPr lang="en-US" b="1" dirty="0" smtClean="0">
                <a:latin typeface="Arial" pitchFamily="34" charset="0"/>
                <a:cs typeface="Arial" pitchFamily="34" charset="0"/>
              </a:rPr>
              <a:t>Superior thoracic </a:t>
            </a:r>
          </a:p>
          <a:p>
            <a:pPr algn="just">
              <a:buNone/>
            </a:pPr>
            <a:r>
              <a:rPr lang="en-US" b="1" dirty="0">
                <a:latin typeface="Arial" pitchFamily="34" charset="0"/>
                <a:cs typeface="Arial" pitchFamily="34" charset="0"/>
              </a:rPr>
              <a:t> </a:t>
            </a:r>
            <a:r>
              <a:rPr lang="en-US" b="1" dirty="0" smtClean="0">
                <a:latin typeface="Arial" pitchFamily="34" charset="0"/>
                <a:cs typeface="Arial" pitchFamily="34" charset="0"/>
              </a:rPr>
              <a:t>  aperture</a:t>
            </a:r>
          </a:p>
          <a:p>
            <a:pPr algn="just"/>
            <a:r>
              <a:rPr lang="en-US" b="1" dirty="0" smtClean="0">
                <a:latin typeface="Arial" pitchFamily="34" charset="0"/>
                <a:cs typeface="Arial" pitchFamily="34" charset="0"/>
              </a:rPr>
              <a:t>Inferior</a:t>
            </a:r>
            <a:r>
              <a:rPr lang="en-US" dirty="0" smtClean="0">
                <a:latin typeface="Arial" pitchFamily="34" charset="0"/>
                <a:cs typeface="Arial" pitchFamily="34" charset="0"/>
              </a:rPr>
              <a:t>: </a:t>
            </a:r>
            <a:r>
              <a:rPr lang="en-US" b="1" dirty="0" smtClean="0">
                <a:latin typeface="Arial" pitchFamily="34" charset="0"/>
                <a:cs typeface="Arial" pitchFamily="34" charset="0"/>
              </a:rPr>
              <a:t>Diaphragm</a:t>
            </a:r>
          </a:p>
          <a:p>
            <a:pPr algn="just"/>
            <a:r>
              <a:rPr lang="en-US" b="1" dirty="0" smtClean="0">
                <a:latin typeface="Arial" pitchFamily="34" charset="0"/>
                <a:cs typeface="Arial" pitchFamily="34" charset="0"/>
              </a:rPr>
              <a:t>On each side</a:t>
            </a:r>
            <a:r>
              <a:rPr lang="en-US" dirty="0" smtClean="0">
                <a:latin typeface="Arial" pitchFamily="34" charset="0"/>
                <a:cs typeface="Arial" pitchFamily="34" charset="0"/>
              </a:rPr>
              <a:t>: </a:t>
            </a:r>
            <a:r>
              <a:rPr lang="en-US" b="1" dirty="0" smtClean="0">
                <a:latin typeface="Arial" pitchFamily="34" charset="0"/>
                <a:cs typeface="Arial" pitchFamily="34" charset="0"/>
              </a:rPr>
              <a:t>Mediastinal pleura</a:t>
            </a:r>
            <a:endParaRPr lang="en-US" b="1" dirty="0">
              <a:latin typeface="Arial" pitchFamily="34" charset="0"/>
              <a:cs typeface="Arial" pitchFamily="34" charset="0"/>
            </a:endParaRPr>
          </a:p>
        </p:txBody>
      </p:sp>
      <p:pic>
        <p:nvPicPr>
          <p:cNvPr id="6" name="Picture 2"/>
          <p:cNvPicPr>
            <a:picLocks noChangeAspect="1" noChangeArrowheads="1"/>
          </p:cNvPicPr>
          <p:nvPr/>
        </p:nvPicPr>
        <p:blipFill>
          <a:blip r:embed="rId2"/>
          <a:srcRect/>
          <a:stretch>
            <a:fillRect/>
          </a:stretch>
        </p:blipFill>
        <p:spPr bwMode="auto">
          <a:xfrm>
            <a:off x="6072198" y="1214422"/>
            <a:ext cx="3071802" cy="4786346"/>
          </a:xfrm>
          <a:prstGeom prst="rect">
            <a:avLst/>
          </a:prstGeom>
          <a:noFill/>
          <a:ln w="9525">
            <a:noFill/>
            <a:miter lim="800000"/>
            <a:headEnd/>
            <a:tailEnd/>
          </a:ln>
          <a:effectLst/>
        </p:spPr>
      </p:pic>
      <p:sp>
        <p:nvSpPr>
          <p:cNvPr id="7" name="Slide Number Placeholder 6"/>
          <p:cNvSpPr>
            <a:spLocks noGrp="1"/>
          </p:cNvSpPr>
          <p:nvPr>
            <p:ph type="sldNum" sz="quarter" idx="12"/>
          </p:nvPr>
        </p:nvSpPr>
        <p:spPr/>
        <p:txBody>
          <a:bodyPr/>
          <a:lstStyle/>
          <a:p>
            <a:fld id="{7D608016-3028-48AC-89F9-913D89F81AFA}" type="slidenum">
              <a:rPr lang="en-US" smtClean="0"/>
              <a:pPr/>
              <a:t>6</a:t>
            </a:fld>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Grp="1" noChangeAspect="1" noChangeArrowheads="1"/>
          </p:cNvPicPr>
          <p:nvPr>
            <p:ph idx="1"/>
          </p:nvPr>
        </p:nvPicPr>
        <p:blipFill>
          <a:blip r:embed="rId2"/>
          <a:srcRect/>
          <a:stretch>
            <a:fillRect/>
          </a:stretch>
        </p:blipFill>
        <p:spPr bwMode="auto">
          <a:xfrm>
            <a:off x="428597" y="785794"/>
            <a:ext cx="4071966" cy="5429288"/>
          </a:xfrm>
          <a:prstGeom prst="rect">
            <a:avLst/>
          </a:prstGeom>
          <a:noFill/>
          <a:ln w="9525">
            <a:noFill/>
            <a:miter lim="800000"/>
            <a:headEnd/>
            <a:tailEnd/>
          </a:ln>
          <a:effectLst/>
        </p:spPr>
      </p:pic>
      <p:pic>
        <p:nvPicPr>
          <p:cNvPr id="3075" name="Picture 3"/>
          <p:cNvPicPr>
            <a:picLocks noChangeAspect="1" noChangeArrowheads="1"/>
          </p:cNvPicPr>
          <p:nvPr/>
        </p:nvPicPr>
        <p:blipFill>
          <a:blip r:embed="rId3"/>
          <a:srcRect/>
          <a:stretch>
            <a:fillRect/>
          </a:stretch>
        </p:blipFill>
        <p:spPr bwMode="auto">
          <a:xfrm>
            <a:off x="4643438" y="1000108"/>
            <a:ext cx="3786214" cy="5048256"/>
          </a:xfrm>
          <a:prstGeom prst="rect">
            <a:avLst/>
          </a:prstGeom>
          <a:noFill/>
          <a:ln w="9525">
            <a:noFill/>
            <a:miter lim="800000"/>
            <a:headEnd/>
            <a:tailEnd/>
          </a:ln>
          <a:effectLst/>
        </p:spPr>
      </p:pic>
      <p:sp>
        <p:nvSpPr>
          <p:cNvPr id="6" name="TextBox 5"/>
          <p:cNvSpPr txBox="1"/>
          <p:nvPr/>
        </p:nvSpPr>
        <p:spPr>
          <a:xfrm>
            <a:off x="428596" y="6215082"/>
            <a:ext cx="8715404" cy="646331"/>
          </a:xfrm>
          <a:prstGeom prst="rect">
            <a:avLst/>
          </a:prstGeom>
          <a:noFill/>
        </p:spPr>
        <p:txBody>
          <a:bodyPr wrap="square" rtlCol="0">
            <a:spAutoFit/>
          </a:bodyPr>
          <a:lstStyle/>
          <a:p>
            <a:r>
              <a:rPr lang="en-AU" dirty="0" smtClean="0">
                <a:latin typeface="Arial" pitchFamily="34" charset="0"/>
                <a:cs typeface="Arial" pitchFamily="34" charset="0"/>
              </a:rPr>
              <a:t>Mediastinal structures as seen from its lateral aspect in sagittal section of the thorax: A, right side; B, left side</a:t>
            </a:r>
            <a:endParaRPr lang="en-US" dirty="0">
              <a:latin typeface="Arial" pitchFamily="34" charset="0"/>
              <a:cs typeface="Arial" pitchFamily="34" charset="0"/>
            </a:endParaRPr>
          </a:p>
        </p:txBody>
      </p:sp>
      <p:sp>
        <p:nvSpPr>
          <p:cNvPr id="7" name="Slide Number Placeholder 6"/>
          <p:cNvSpPr>
            <a:spLocks noGrp="1"/>
          </p:cNvSpPr>
          <p:nvPr>
            <p:ph type="sldNum" sz="quarter" idx="12"/>
          </p:nvPr>
        </p:nvSpPr>
        <p:spPr/>
        <p:txBody>
          <a:bodyPr/>
          <a:lstStyle/>
          <a:p>
            <a:fld id="{7D608016-3028-48AC-89F9-913D89F81AFA}" type="slidenum">
              <a:rPr lang="en-US" smtClean="0"/>
              <a:pPr/>
              <a:t>7</a:t>
            </a:fld>
            <a:endParaRPr lang="en-US" dirty="0"/>
          </a:p>
        </p:txBody>
      </p:sp>
      <p:sp>
        <p:nvSpPr>
          <p:cNvPr id="8" name="TextBox 7"/>
          <p:cNvSpPr txBox="1"/>
          <p:nvPr/>
        </p:nvSpPr>
        <p:spPr>
          <a:xfrm>
            <a:off x="3214678" y="214290"/>
            <a:ext cx="3223121" cy="769441"/>
          </a:xfrm>
          <a:prstGeom prst="rect">
            <a:avLst/>
          </a:prstGeom>
          <a:noFill/>
        </p:spPr>
        <p:txBody>
          <a:bodyPr wrap="square" rtlCol="0">
            <a:spAutoFit/>
          </a:bodyPr>
          <a:lstStyle/>
          <a:p>
            <a:r>
              <a:rPr lang="en-AU" sz="4400" dirty="0" smtClean="0">
                <a:latin typeface="Arial Black" pitchFamily="34" charset="0"/>
              </a:rPr>
              <a:t>Cont’d</a:t>
            </a:r>
            <a:endParaRPr lang="en-US" sz="4400" dirty="0">
              <a:latin typeface="Arial Black"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Arial Black" pitchFamily="34" charset="0"/>
              </a:rPr>
              <a:t>Divisions</a:t>
            </a:r>
            <a:endParaRPr lang="en-US" dirty="0">
              <a:latin typeface="Arial Black" pitchFamily="34" charset="0"/>
            </a:endParaRPr>
          </a:p>
        </p:txBody>
      </p:sp>
      <p:sp>
        <p:nvSpPr>
          <p:cNvPr id="3" name="Content Placeholder 2"/>
          <p:cNvSpPr>
            <a:spLocks noGrp="1"/>
          </p:cNvSpPr>
          <p:nvPr>
            <p:ph idx="1"/>
          </p:nvPr>
        </p:nvSpPr>
        <p:spPr>
          <a:xfrm>
            <a:off x="457200" y="1357298"/>
            <a:ext cx="8229600" cy="5286412"/>
          </a:xfrm>
        </p:spPr>
        <p:txBody>
          <a:bodyPr>
            <a:normAutofit/>
          </a:bodyPr>
          <a:lstStyle/>
          <a:p>
            <a:pPr algn="just"/>
            <a:r>
              <a:rPr lang="en-AU" dirty="0" smtClean="0">
                <a:latin typeface="Arial" pitchFamily="34" charset="0"/>
                <a:cs typeface="Arial" pitchFamily="34" charset="0"/>
              </a:rPr>
              <a:t>It is </a:t>
            </a:r>
            <a:r>
              <a:rPr lang="en-AU" b="1" dirty="0" smtClean="0">
                <a:latin typeface="Arial" pitchFamily="34" charset="0"/>
                <a:cs typeface="Arial" pitchFamily="34" charset="0"/>
              </a:rPr>
              <a:t>morphologically</a:t>
            </a:r>
            <a:r>
              <a:rPr lang="en-AU" dirty="0" smtClean="0">
                <a:latin typeface="Arial" pitchFamily="34" charset="0"/>
                <a:cs typeface="Arial" pitchFamily="34" charset="0"/>
              </a:rPr>
              <a:t> </a:t>
            </a:r>
            <a:r>
              <a:rPr lang="en-AU" b="1" dirty="0" smtClean="0">
                <a:latin typeface="Arial" pitchFamily="34" charset="0"/>
                <a:cs typeface="Arial" pitchFamily="34" charset="0"/>
              </a:rPr>
              <a:t>divided </a:t>
            </a:r>
            <a:r>
              <a:rPr lang="en-AU" dirty="0" smtClean="0">
                <a:latin typeface="Arial" pitchFamily="34" charset="0"/>
                <a:cs typeface="Arial" pitchFamily="34" charset="0"/>
              </a:rPr>
              <a:t>into </a:t>
            </a:r>
            <a:r>
              <a:rPr lang="en-AU" b="1" dirty="0" smtClean="0">
                <a:latin typeface="Arial" pitchFamily="34" charset="0"/>
                <a:cs typeface="Arial" pitchFamily="34" charset="0"/>
              </a:rPr>
              <a:t>two parts</a:t>
            </a:r>
            <a:r>
              <a:rPr lang="en-AU" dirty="0" smtClean="0">
                <a:latin typeface="Arial" pitchFamily="34" charset="0"/>
                <a:cs typeface="Arial" pitchFamily="34" charset="0"/>
              </a:rPr>
              <a:t>, for the </a:t>
            </a:r>
            <a:r>
              <a:rPr lang="en-AU" b="1" dirty="0" smtClean="0">
                <a:latin typeface="Arial" pitchFamily="34" charset="0"/>
                <a:cs typeface="Arial" pitchFamily="34" charset="0"/>
              </a:rPr>
              <a:t>purpose of description </a:t>
            </a:r>
            <a:r>
              <a:rPr lang="en-AU" dirty="0" smtClean="0">
                <a:latin typeface="Arial" pitchFamily="34" charset="0"/>
                <a:cs typeface="Arial" pitchFamily="34" charset="0"/>
              </a:rPr>
              <a:t>and </a:t>
            </a:r>
            <a:r>
              <a:rPr lang="en-AU" b="1" dirty="0" smtClean="0">
                <a:latin typeface="Arial" pitchFamily="34" charset="0"/>
                <a:cs typeface="Arial" pitchFamily="34" charset="0"/>
              </a:rPr>
              <a:t>organization of structures</a:t>
            </a:r>
            <a:r>
              <a:rPr lang="en-AU" dirty="0" smtClean="0">
                <a:latin typeface="Arial" pitchFamily="34" charset="0"/>
                <a:cs typeface="Arial" pitchFamily="34" charset="0"/>
              </a:rPr>
              <a:t>. (a) </a:t>
            </a:r>
            <a:r>
              <a:rPr lang="en-AU" b="1" dirty="0" smtClean="0">
                <a:latin typeface="Arial" pitchFamily="34" charset="0"/>
                <a:cs typeface="Arial" pitchFamily="34" charset="0"/>
              </a:rPr>
              <a:t>superior mediastinum </a:t>
            </a:r>
            <a:r>
              <a:rPr lang="en-AU" dirty="0" smtClean="0">
                <a:latin typeface="Arial" pitchFamily="34" charset="0"/>
                <a:cs typeface="Arial" pitchFamily="34" charset="0"/>
              </a:rPr>
              <a:t>and (b) </a:t>
            </a:r>
            <a:r>
              <a:rPr lang="en-AU" b="1" dirty="0" smtClean="0">
                <a:latin typeface="Arial" pitchFamily="34" charset="0"/>
                <a:cs typeface="Arial" pitchFamily="34" charset="0"/>
              </a:rPr>
              <a:t>inferior mediastinum </a:t>
            </a:r>
            <a:r>
              <a:rPr lang="en-AU" dirty="0" smtClean="0">
                <a:latin typeface="Arial" pitchFamily="34" charset="0"/>
                <a:cs typeface="Arial" pitchFamily="34" charset="0"/>
              </a:rPr>
              <a:t>by </a:t>
            </a:r>
            <a:r>
              <a:rPr lang="en-AU" b="1" dirty="0" smtClean="0">
                <a:latin typeface="Arial" pitchFamily="34" charset="0"/>
                <a:cs typeface="Arial" pitchFamily="34" charset="0"/>
              </a:rPr>
              <a:t>an imaginary plane </a:t>
            </a:r>
            <a:r>
              <a:rPr lang="en-AU" dirty="0" smtClean="0">
                <a:latin typeface="Arial" pitchFamily="34" charset="0"/>
                <a:cs typeface="Arial" pitchFamily="34" charset="0"/>
              </a:rPr>
              <a:t>(transverse thoracic plane) passing through the </a:t>
            </a:r>
            <a:r>
              <a:rPr lang="en-AU" b="1" dirty="0" smtClean="0">
                <a:latin typeface="Arial" pitchFamily="34" charset="0"/>
                <a:cs typeface="Arial" pitchFamily="34" charset="0"/>
              </a:rPr>
              <a:t>sternal angle </a:t>
            </a:r>
            <a:r>
              <a:rPr lang="en-AU" dirty="0" smtClean="0">
                <a:latin typeface="Arial" pitchFamily="34" charset="0"/>
                <a:cs typeface="Arial" pitchFamily="34" charset="0"/>
              </a:rPr>
              <a:t>anteriorly, and </a:t>
            </a:r>
            <a:r>
              <a:rPr lang="en-AU" b="1" dirty="0" smtClean="0">
                <a:latin typeface="Arial" pitchFamily="34" charset="0"/>
                <a:cs typeface="Arial" pitchFamily="34" charset="0"/>
              </a:rPr>
              <a:t>lower border of the body of the fourth thoracic </a:t>
            </a:r>
            <a:r>
              <a:rPr lang="en-AU" dirty="0" smtClean="0">
                <a:latin typeface="Arial" pitchFamily="34" charset="0"/>
                <a:cs typeface="Arial" pitchFamily="34" charset="0"/>
              </a:rPr>
              <a:t>(T4) </a:t>
            </a:r>
            <a:r>
              <a:rPr lang="en-AU" b="1" dirty="0" smtClean="0">
                <a:latin typeface="Arial" pitchFamily="34" charset="0"/>
                <a:cs typeface="Arial" pitchFamily="34" charset="0"/>
              </a:rPr>
              <a:t>vertebra/intervertebral disc T4 and T5 vertebrae</a:t>
            </a:r>
            <a:r>
              <a:rPr lang="en-AU" dirty="0" smtClean="0">
                <a:latin typeface="Arial" pitchFamily="34" charset="0"/>
                <a:cs typeface="Arial" pitchFamily="34" charset="0"/>
              </a:rPr>
              <a:t> posteriorly.</a:t>
            </a:r>
            <a:endParaRPr lang="en-US"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7D608016-3028-48AC-89F9-913D89F81AFA}" type="slidenum">
              <a:rPr lang="en-US" smtClean="0"/>
              <a:pPr/>
              <a:t>8</a:t>
            </a:fld>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2984"/>
            <a:ext cx="8229600" cy="5286412"/>
          </a:xfrm>
        </p:spPr>
        <p:txBody>
          <a:bodyPr>
            <a:normAutofit/>
          </a:bodyPr>
          <a:lstStyle/>
          <a:p>
            <a:pPr algn="just"/>
            <a:r>
              <a:rPr lang="en-AU" dirty="0" smtClean="0">
                <a:latin typeface="Arial" pitchFamily="34" charset="0"/>
                <a:cs typeface="Arial" pitchFamily="34" charset="0"/>
              </a:rPr>
              <a:t>The </a:t>
            </a:r>
            <a:r>
              <a:rPr lang="en-AU" b="1" dirty="0" smtClean="0">
                <a:latin typeface="Arial" pitchFamily="34" charset="0"/>
                <a:cs typeface="Arial" pitchFamily="34" charset="0"/>
              </a:rPr>
              <a:t>inferior mediastinum </a:t>
            </a:r>
            <a:r>
              <a:rPr lang="en-AU" dirty="0" smtClean="0">
                <a:latin typeface="Arial" pitchFamily="34" charset="0"/>
                <a:cs typeface="Arial" pitchFamily="34" charset="0"/>
              </a:rPr>
              <a:t>is further subdivided into </a:t>
            </a:r>
            <a:r>
              <a:rPr lang="en-AU" b="1" dirty="0" smtClean="0">
                <a:latin typeface="Arial" pitchFamily="34" charset="0"/>
                <a:cs typeface="Arial" pitchFamily="34" charset="0"/>
              </a:rPr>
              <a:t>three parts </a:t>
            </a:r>
            <a:r>
              <a:rPr lang="en-AU" dirty="0" smtClean="0">
                <a:latin typeface="Arial" pitchFamily="34" charset="0"/>
                <a:cs typeface="Arial" pitchFamily="34" charset="0"/>
              </a:rPr>
              <a:t>by the </a:t>
            </a:r>
            <a:r>
              <a:rPr lang="en-AU" b="1" dirty="0" smtClean="0">
                <a:latin typeface="Arial" pitchFamily="34" charset="0"/>
                <a:cs typeface="Arial" pitchFamily="34" charset="0"/>
              </a:rPr>
              <a:t>pericardium</a:t>
            </a:r>
            <a:r>
              <a:rPr lang="en-AU" dirty="0" smtClean="0">
                <a:latin typeface="Arial" pitchFamily="34" charset="0"/>
                <a:cs typeface="Arial" pitchFamily="34" charset="0"/>
              </a:rPr>
              <a:t> (enclosing heart). The part in </a:t>
            </a:r>
            <a:r>
              <a:rPr lang="en-AU" b="1" dirty="0" smtClean="0">
                <a:latin typeface="Arial" pitchFamily="34" charset="0"/>
                <a:cs typeface="Arial" pitchFamily="34" charset="0"/>
              </a:rPr>
              <a:t>front </a:t>
            </a:r>
            <a:r>
              <a:rPr lang="en-AU" dirty="0" smtClean="0">
                <a:latin typeface="Arial" pitchFamily="34" charset="0"/>
                <a:cs typeface="Arial" pitchFamily="34" charset="0"/>
              </a:rPr>
              <a:t>of the </a:t>
            </a:r>
            <a:r>
              <a:rPr lang="en-AU" b="1" dirty="0" smtClean="0">
                <a:latin typeface="Arial" pitchFamily="34" charset="0"/>
                <a:cs typeface="Arial" pitchFamily="34" charset="0"/>
              </a:rPr>
              <a:t>pericardium</a:t>
            </a:r>
            <a:r>
              <a:rPr lang="en-AU" dirty="0" smtClean="0">
                <a:latin typeface="Arial" pitchFamily="34" charset="0"/>
                <a:cs typeface="Arial" pitchFamily="34" charset="0"/>
              </a:rPr>
              <a:t> is called </a:t>
            </a:r>
            <a:r>
              <a:rPr lang="en-AU" b="1" dirty="0" smtClean="0">
                <a:latin typeface="Arial" pitchFamily="34" charset="0"/>
                <a:cs typeface="Arial" pitchFamily="34" charset="0"/>
              </a:rPr>
              <a:t>anterior mediastinum</a:t>
            </a:r>
            <a:r>
              <a:rPr lang="en-AU" dirty="0" smtClean="0">
                <a:latin typeface="Arial" pitchFamily="34" charset="0"/>
                <a:cs typeface="Arial" pitchFamily="34" charset="0"/>
              </a:rPr>
              <a:t>, and the </a:t>
            </a:r>
            <a:r>
              <a:rPr lang="en-AU" b="1" dirty="0" smtClean="0">
                <a:latin typeface="Arial" pitchFamily="34" charset="0"/>
                <a:cs typeface="Arial" pitchFamily="34" charset="0"/>
              </a:rPr>
              <a:t>part behind </a:t>
            </a:r>
            <a:r>
              <a:rPr lang="en-AU" dirty="0" smtClean="0">
                <a:latin typeface="Arial" pitchFamily="34" charset="0"/>
                <a:cs typeface="Arial" pitchFamily="34" charset="0"/>
              </a:rPr>
              <a:t>the </a:t>
            </a:r>
            <a:r>
              <a:rPr lang="en-AU" b="1" dirty="0" smtClean="0">
                <a:latin typeface="Arial" pitchFamily="34" charset="0"/>
                <a:cs typeface="Arial" pitchFamily="34" charset="0"/>
              </a:rPr>
              <a:t>pericardium</a:t>
            </a:r>
            <a:r>
              <a:rPr lang="en-AU" dirty="0" smtClean="0">
                <a:latin typeface="Arial" pitchFamily="34" charset="0"/>
                <a:cs typeface="Arial" pitchFamily="34" charset="0"/>
              </a:rPr>
              <a:t> is called </a:t>
            </a:r>
            <a:r>
              <a:rPr lang="en-AU" b="1" dirty="0" smtClean="0">
                <a:latin typeface="Arial" pitchFamily="34" charset="0"/>
                <a:cs typeface="Arial" pitchFamily="34" charset="0"/>
              </a:rPr>
              <a:t>posterior mediastinum</a:t>
            </a:r>
            <a:r>
              <a:rPr lang="en-AU" dirty="0" smtClean="0">
                <a:latin typeface="Arial" pitchFamily="34" charset="0"/>
                <a:cs typeface="Arial" pitchFamily="34" charset="0"/>
              </a:rPr>
              <a:t>. The </a:t>
            </a:r>
            <a:r>
              <a:rPr lang="en-AU" b="1" dirty="0" smtClean="0">
                <a:latin typeface="Arial" pitchFamily="34" charset="0"/>
                <a:cs typeface="Arial" pitchFamily="34" charset="0"/>
              </a:rPr>
              <a:t>pericardium</a:t>
            </a:r>
            <a:r>
              <a:rPr lang="en-AU" dirty="0" smtClean="0">
                <a:latin typeface="Arial" pitchFamily="34" charset="0"/>
                <a:cs typeface="Arial" pitchFamily="34" charset="0"/>
              </a:rPr>
              <a:t> and </a:t>
            </a:r>
            <a:r>
              <a:rPr lang="en-AU" b="1" dirty="0" smtClean="0">
                <a:latin typeface="Arial" pitchFamily="34" charset="0"/>
                <a:cs typeface="Arial" pitchFamily="34" charset="0"/>
              </a:rPr>
              <a:t>its</a:t>
            </a:r>
            <a:r>
              <a:rPr lang="en-AU" dirty="0" smtClean="0">
                <a:latin typeface="Arial" pitchFamily="34" charset="0"/>
                <a:cs typeface="Arial" pitchFamily="34" charset="0"/>
              </a:rPr>
              <a:t> </a:t>
            </a:r>
            <a:r>
              <a:rPr lang="en-AU" b="1" dirty="0" smtClean="0">
                <a:latin typeface="Arial" pitchFamily="34" charset="0"/>
                <a:cs typeface="Arial" pitchFamily="34" charset="0"/>
              </a:rPr>
              <a:t>contents</a:t>
            </a:r>
            <a:r>
              <a:rPr lang="en-AU" dirty="0" smtClean="0">
                <a:latin typeface="Arial" pitchFamily="34" charset="0"/>
                <a:cs typeface="Arial" pitchFamily="34" charset="0"/>
              </a:rPr>
              <a:t> (heart and roots of its great vessels) </a:t>
            </a:r>
            <a:r>
              <a:rPr lang="en-AU" b="1" dirty="0" smtClean="0">
                <a:latin typeface="Arial" pitchFamily="34" charset="0"/>
                <a:cs typeface="Arial" pitchFamily="34" charset="0"/>
              </a:rPr>
              <a:t>constitute</a:t>
            </a:r>
            <a:r>
              <a:rPr lang="en-AU" dirty="0" smtClean="0">
                <a:latin typeface="Arial" pitchFamily="34" charset="0"/>
                <a:cs typeface="Arial" pitchFamily="34" charset="0"/>
              </a:rPr>
              <a:t> the </a:t>
            </a:r>
            <a:r>
              <a:rPr lang="en-AU" b="1" dirty="0" smtClean="0">
                <a:latin typeface="Arial" pitchFamily="34" charset="0"/>
                <a:cs typeface="Arial" pitchFamily="34" charset="0"/>
              </a:rPr>
              <a:t>middle mediastinum</a:t>
            </a:r>
            <a:r>
              <a:rPr lang="en-AU" dirty="0" smtClean="0">
                <a:latin typeface="Arial" pitchFamily="34" charset="0"/>
                <a:cs typeface="Arial" pitchFamily="34" charset="0"/>
              </a:rPr>
              <a:t>.</a:t>
            </a:r>
            <a:endParaRPr lang="en-US"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7D608016-3028-48AC-89F9-913D89F81AFA}" type="slidenum">
              <a:rPr lang="en-US" smtClean="0"/>
              <a:pPr/>
              <a:t>9</a:t>
            </a:fld>
            <a:endParaRPr lang="en-US" dirty="0"/>
          </a:p>
        </p:txBody>
      </p:sp>
      <p:sp>
        <p:nvSpPr>
          <p:cNvPr id="5" name="TextBox 4"/>
          <p:cNvSpPr txBox="1"/>
          <p:nvPr/>
        </p:nvSpPr>
        <p:spPr>
          <a:xfrm>
            <a:off x="3500430" y="428604"/>
            <a:ext cx="2151551" cy="769441"/>
          </a:xfrm>
          <a:prstGeom prst="rect">
            <a:avLst/>
          </a:prstGeom>
          <a:noFill/>
        </p:spPr>
        <p:txBody>
          <a:bodyPr wrap="square" rtlCol="0">
            <a:spAutoFit/>
          </a:bodyPr>
          <a:lstStyle/>
          <a:p>
            <a:r>
              <a:rPr lang="en-AU" sz="4400" dirty="0" smtClean="0">
                <a:latin typeface="Arial Black" pitchFamily="34" charset="0"/>
              </a:rPr>
              <a:t>Cont’d</a:t>
            </a:r>
            <a:endParaRPr lang="en-US" sz="4400" dirty="0">
              <a:latin typeface="Arial Black"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Grp="1" noChangeAspect="1" noChangeArrowheads="1"/>
          </p:cNvPicPr>
          <p:nvPr>
            <p:ph idx="1"/>
          </p:nvPr>
        </p:nvPicPr>
        <p:blipFill>
          <a:blip r:embed="rId2"/>
          <a:srcRect/>
          <a:stretch>
            <a:fillRect/>
          </a:stretch>
        </p:blipFill>
        <p:spPr bwMode="auto">
          <a:xfrm>
            <a:off x="500034" y="928670"/>
            <a:ext cx="8215370" cy="5197493"/>
          </a:xfrm>
          <a:prstGeom prst="rect">
            <a:avLst/>
          </a:prstGeom>
          <a:noFill/>
          <a:ln w="9525">
            <a:noFill/>
            <a:miter lim="800000"/>
            <a:headEnd/>
            <a:tailEnd/>
          </a:ln>
          <a:effectLst/>
        </p:spPr>
      </p:pic>
      <p:sp>
        <p:nvSpPr>
          <p:cNvPr id="5" name="TextBox 4"/>
          <p:cNvSpPr txBox="1"/>
          <p:nvPr/>
        </p:nvSpPr>
        <p:spPr>
          <a:xfrm>
            <a:off x="2714612" y="6215082"/>
            <a:ext cx="3286148" cy="369332"/>
          </a:xfrm>
          <a:prstGeom prst="rect">
            <a:avLst/>
          </a:prstGeom>
          <a:noFill/>
        </p:spPr>
        <p:txBody>
          <a:bodyPr wrap="square" rtlCol="0">
            <a:spAutoFit/>
          </a:bodyPr>
          <a:lstStyle/>
          <a:p>
            <a:r>
              <a:rPr lang="en-US" dirty="0" smtClean="0">
                <a:latin typeface="Arial" pitchFamily="34" charset="0"/>
                <a:cs typeface="Arial" pitchFamily="34" charset="0"/>
              </a:rPr>
              <a:t>Divisions of the mediastinum</a:t>
            </a:r>
            <a:endParaRPr lang="en-US" dirty="0">
              <a:latin typeface="Arial" pitchFamily="34" charset="0"/>
              <a:cs typeface="Arial" pitchFamily="34" charset="0"/>
            </a:endParaRPr>
          </a:p>
        </p:txBody>
      </p:sp>
      <p:sp>
        <p:nvSpPr>
          <p:cNvPr id="6" name="Slide Number Placeholder 5"/>
          <p:cNvSpPr>
            <a:spLocks noGrp="1"/>
          </p:cNvSpPr>
          <p:nvPr>
            <p:ph type="sldNum" sz="quarter" idx="12"/>
          </p:nvPr>
        </p:nvSpPr>
        <p:spPr/>
        <p:txBody>
          <a:bodyPr/>
          <a:lstStyle/>
          <a:p>
            <a:fld id="{7D608016-3028-48AC-89F9-913D89F81AFA}" type="slidenum">
              <a:rPr lang="en-US" smtClean="0"/>
              <a:pPr/>
              <a:t>10</a:t>
            </a:fld>
            <a:endParaRPr lang="en-US" dirty="0"/>
          </a:p>
        </p:txBody>
      </p:sp>
      <p:sp>
        <p:nvSpPr>
          <p:cNvPr id="7" name="TextBox 6"/>
          <p:cNvSpPr txBox="1"/>
          <p:nvPr/>
        </p:nvSpPr>
        <p:spPr>
          <a:xfrm>
            <a:off x="3071802" y="214290"/>
            <a:ext cx="2643206" cy="1046440"/>
          </a:xfrm>
          <a:prstGeom prst="rect">
            <a:avLst/>
          </a:prstGeom>
          <a:noFill/>
        </p:spPr>
        <p:txBody>
          <a:bodyPr wrap="square" rtlCol="0">
            <a:spAutoFit/>
          </a:bodyPr>
          <a:lstStyle/>
          <a:p>
            <a:r>
              <a:rPr lang="en-AU" sz="4400" dirty="0" smtClean="0">
                <a:latin typeface="Arial Black" pitchFamily="34" charset="0"/>
              </a:rPr>
              <a:t>Cont’d</a:t>
            </a:r>
            <a:endParaRPr lang="en-US" sz="4400" dirty="0" smtClean="0">
              <a:latin typeface="Arial Black" pitchFamily="34" charset="0"/>
            </a:endParaRP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14356"/>
            <a:ext cx="8229600" cy="1071570"/>
          </a:xfrm>
        </p:spPr>
        <p:txBody>
          <a:bodyPr/>
          <a:lstStyle/>
          <a:p>
            <a:r>
              <a:rPr lang="en-US" dirty="0" smtClean="0">
                <a:latin typeface="Arial Black" pitchFamily="34" charset="0"/>
              </a:rPr>
              <a:t>Superior Mediastinum</a:t>
            </a:r>
            <a:endParaRPr lang="en-US" dirty="0">
              <a:latin typeface="Arial Black" pitchFamily="34" charset="0"/>
            </a:endParaRPr>
          </a:p>
        </p:txBody>
      </p:sp>
      <p:sp>
        <p:nvSpPr>
          <p:cNvPr id="3" name="Content Placeholder 2"/>
          <p:cNvSpPr>
            <a:spLocks noGrp="1"/>
          </p:cNvSpPr>
          <p:nvPr>
            <p:ph idx="1"/>
          </p:nvPr>
        </p:nvSpPr>
        <p:spPr>
          <a:xfrm>
            <a:off x="457200" y="1857364"/>
            <a:ext cx="8229600" cy="4268799"/>
          </a:xfrm>
        </p:spPr>
        <p:txBody>
          <a:bodyPr/>
          <a:lstStyle/>
          <a:p>
            <a:pPr algn="just"/>
            <a:r>
              <a:rPr lang="en-AU" dirty="0" smtClean="0">
                <a:latin typeface="Arial" pitchFamily="34" charset="0"/>
                <a:cs typeface="Arial" pitchFamily="34" charset="0"/>
              </a:rPr>
              <a:t>It is </a:t>
            </a:r>
            <a:r>
              <a:rPr lang="en-AU" b="1" dirty="0" smtClean="0">
                <a:latin typeface="Arial" pitchFamily="34" charset="0"/>
                <a:cs typeface="Arial" pitchFamily="34" charset="0"/>
              </a:rPr>
              <a:t>wedge-shaped</a:t>
            </a:r>
            <a:r>
              <a:rPr lang="en-AU" dirty="0" smtClean="0">
                <a:latin typeface="Arial" pitchFamily="34" charset="0"/>
                <a:cs typeface="Arial" pitchFamily="34" charset="0"/>
              </a:rPr>
              <a:t>. The </a:t>
            </a:r>
            <a:r>
              <a:rPr lang="en-AU" b="1" dirty="0" smtClean="0">
                <a:latin typeface="Arial" pitchFamily="34" charset="0"/>
                <a:cs typeface="Arial" pitchFamily="34" charset="0"/>
              </a:rPr>
              <a:t>anterior boundary </a:t>
            </a:r>
            <a:r>
              <a:rPr lang="en-AU" dirty="0" smtClean="0">
                <a:latin typeface="Arial" pitchFamily="34" charset="0"/>
                <a:cs typeface="Arial" pitchFamily="34" charset="0"/>
              </a:rPr>
              <a:t>is the </a:t>
            </a:r>
            <a:r>
              <a:rPr lang="en-AU" b="1" dirty="0" smtClean="0">
                <a:latin typeface="Arial" pitchFamily="34" charset="0"/>
                <a:cs typeface="Arial" pitchFamily="34" charset="0"/>
              </a:rPr>
              <a:t>manubrium</a:t>
            </a:r>
            <a:r>
              <a:rPr lang="en-AU" dirty="0" smtClean="0">
                <a:latin typeface="Arial" pitchFamily="34" charset="0"/>
                <a:cs typeface="Arial" pitchFamily="34" charset="0"/>
              </a:rPr>
              <a:t>,. The </a:t>
            </a:r>
            <a:r>
              <a:rPr lang="en-AU" b="1" dirty="0" smtClean="0">
                <a:latin typeface="Arial" pitchFamily="34" charset="0"/>
                <a:cs typeface="Arial" pitchFamily="34" charset="0"/>
              </a:rPr>
              <a:t>posterior boundary </a:t>
            </a:r>
            <a:r>
              <a:rPr lang="en-AU" dirty="0" smtClean="0">
                <a:latin typeface="Arial" pitchFamily="34" charset="0"/>
                <a:cs typeface="Arial" pitchFamily="34" charset="0"/>
              </a:rPr>
              <a:t>is the </a:t>
            </a:r>
            <a:r>
              <a:rPr lang="en-AU" b="1" dirty="0" smtClean="0">
                <a:latin typeface="Arial" pitchFamily="34" charset="0"/>
                <a:cs typeface="Arial" pitchFamily="34" charset="0"/>
              </a:rPr>
              <a:t>bodies</a:t>
            </a:r>
            <a:r>
              <a:rPr lang="en-AU" dirty="0" smtClean="0">
                <a:latin typeface="Arial" pitchFamily="34" charset="0"/>
                <a:cs typeface="Arial" pitchFamily="34" charset="0"/>
              </a:rPr>
              <a:t> of the </a:t>
            </a:r>
            <a:r>
              <a:rPr lang="en-AU" b="1" dirty="0" smtClean="0">
                <a:latin typeface="Arial" pitchFamily="34" charset="0"/>
                <a:cs typeface="Arial" pitchFamily="34" charset="0"/>
              </a:rPr>
              <a:t>first four thoracic vertebrae</a:t>
            </a:r>
            <a:r>
              <a:rPr lang="en-AU" dirty="0" smtClean="0">
                <a:latin typeface="Arial" pitchFamily="34" charset="0"/>
                <a:cs typeface="Arial" pitchFamily="34" charset="0"/>
              </a:rPr>
              <a:t>; this wall is </a:t>
            </a:r>
            <a:r>
              <a:rPr lang="en-AU" b="1" dirty="0" smtClean="0">
                <a:latin typeface="Arial" pitchFamily="34" charset="0"/>
                <a:cs typeface="Arial" pitchFamily="34" charset="0"/>
              </a:rPr>
              <a:t>concave</a:t>
            </a:r>
            <a:r>
              <a:rPr lang="en-AU" dirty="0" smtClean="0">
                <a:latin typeface="Arial" pitchFamily="34" charset="0"/>
                <a:cs typeface="Arial" pitchFamily="34" charset="0"/>
              </a:rPr>
              <a:t> towards the </a:t>
            </a:r>
            <a:r>
              <a:rPr lang="en-AU" b="1" dirty="0" smtClean="0">
                <a:latin typeface="Arial" pitchFamily="34" charset="0"/>
                <a:cs typeface="Arial" pitchFamily="34" charset="0"/>
              </a:rPr>
              <a:t>mediastinum</a:t>
            </a:r>
            <a:r>
              <a:rPr lang="en-AU" dirty="0" smtClean="0">
                <a:latin typeface="Arial" pitchFamily="34" charset="0"/>
                <a:cs typeface="Arial" pitchFamily="34" charset="0"/>
              </a:rPr>
              <a:t>. the </a:t>
            </a:r>
            <a:r>
              <a:rPr lang="en-AU" b="1" dirty="0" smtClean="0">
                <a:latin typeface="Arial" pitchFamily="34" charset="0"/>
                <a:cs typeface="Arial" pitchFamily="34" charset="0"/>
              </a:rPr>
              <a:t>posterior boundary </a:t>
            </a:r>
            <a:r>
              <a:rPr lang="en-AU" dirty="0" smtClean="0">
                <a:latin typeface="Arial" pitchFamily="34" charset="0"/>
                <a:cs typeface="Arial" pitchFamily="34" charset="0"/>
              </a:rPr>
              <a:t>is </a:t>
            </a:r>
            <a:r>
              <a:rPr lang="en-AU" b="1" dirty="0" smtClean="0">
                <a:latin typeface="Arial" pitchFamily="34" charset="0"/>
                <a:cs typeface="Arial" pitchFamily="34" charset="0"/>
              </a:rPr>
              <a:t>much longer </a:t>
            </a:r>
            <a:r>
              <a:rPr lang="en-AU" dirty="0" smtClean="0">
                <a:latin typeface="Arial" pitchFamily="34" charset="0"/>
                <a:cs typeface="Arial" pitchFamily="34" charset="0"/>
              </a:rPr>
              <a:t>due to the </a:t>
            </a:r>
            <a:r>
              <a:rPr lang="en-AU" b="1" dirty="0" smtClean="0">
                <a:latin typeface="Arial" pitchFamily="34" charset="0"/>
                <a:cs typeface="Arial" pitchFamily="34" charset="0"/>
              </a:rPr>
              <a:t>obliquity of the thoracic inlet</a:t>
            </a:r>
            <a:endParaRPr lang="en-US"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7D608016-3028-48AC-89F9-913D89F81AFA}" type="slidenum">
              <a:rPr lang="en-US" smtClean="0"/>
              <a:pPr/>
              <a:t>11</a:t>
            </a:fld>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2984"/>
          </a:xfrm>
        </p:spPr>
        <p:txBody>
          <a:bodyPr/>
          <a:lstStyle/>
          <a:p>
            <a:r>
              <a:rPr lang="en-US" dirty="0" smtClean="0">
                <a:latin typeface="Arial Black" pitchFamily="34" charset="0"/>
              </a:rPr>
              <a:t>Boundaries</a:t>
            </a:r>
            <a:endParaRPr lang="en-US" dirty="0">
              <a:latin typeface="Arial Black" pitchFamily="34" charset="0"/>
            </a:endParaRPr>
          </a:p>
        </p:txBody>
      </p:sp>
      <p:sp>
        <p:nvSpPr>
          <p:cNvPr id="3" name="Content Placeholder 2"/>
          <p:cNvSpPr>
            <a:spLocks noGrp="1"/>
          </p:cNvSpPr>
          <p:nvPr>
            <p:ph idx="1"/>
          </p:nvPr>
        </p:nvSpPr>
        <p:spPr>
          <a:xfrm>
            <a:off x="214282" y="857232"/>
            <a:ext cx="8715436" cy="5429288"/>
          </a:xfrm>
        </p:spPr>
        <p:txBody>
          <a:bodyPr>
            <a:noAutofit/>
          </a:bodyPr>
          <a:lstStyle/>
          <a:p>
            <a:pPr algn="just">
              <a:buFont typeface="Wingdings" pitchFamily="2" charset="2"/>
              <a:buChar char="Ø"/>
            </a:pPr>
            <a:r>
              <a:rPr lang="en-AU" b="1" dirty="0" smtClean="0">
                <a:latin typeface="Arial" pitchFamily="34" charset="0"/>
                <a:cs typeface="Arial" pitchFamily="34" charset="0"/>
              </a:rPr>
              <a:t>Anterior</a:t>
            </a:r>
            <a:r>
              <a:rPr lang="en-AU" dirty="0" smtClean="0">
                <a:latin typeface="Arial" pitchFamily="34" charset="0"/>
                <a:cs typeface="Arial" pitchFamily="34" charset="0"/>
              </a:rPr>
              <a:t>: </a:t>
            </a:r>
            <a:r>
              <a:rPr lang="en-AU" b="1" dirty="0" smtClean="0">
                <a:latin typeface="Arial" pitchFamily="34" charset="0"/>
                <a:cs typeface="Arial" pitchFamily="34" charset="0"/>
              </a:rPr>
              <a:t>Manubrium sterni</a:t>
            </a:r>
            <a:r>
              <a:rPr lang="en-AU" dirty="0" smtClean="0">
                <a:latin typeface="Arial" pitchFamily="34" charset="0"/>
                <a:cs typeface="Arial" pitchFamily="34" charset="0"/>
              </a:rPr>
              <a:t>.</a:t>
            </a:r>
          </a:p>
          <a:p>
            <a:pPr algn="just">
              <a:buFont typeface="Wingdings" pitchFamily="2" charset="2"/>
              <a:buChar char="Ø"/>
            </a:pPr>
            <a:r>
              <a:rPr lang="en-AU" b="1" dirty="0" smtClean="0">
                <a:latin typeface="Arial" pitchFamily="34" charset="0"/>
                <a:cs typeface="Arial" pitchFamily="34" charset="0"/>
              </a:rPr>
              <a:t>Posterior</a:t>
            </a:r>
            <a:r>
              <a:rPr lang="en-AU" dirty="0" smtClean="0">
                <a:latin typeface="Arial" pitchFamily="34" charset="0"/>
                <a:cs typeface="Arial" pitchFamily="34" charset="0"/>
              </a:rPr>
              <a:t>: Bodies of </a:t>
            </a:r>
            <a:r>
              <a:rPr lang="en-AU" b="1" dirty="0" smtClean="0">
                <a:latin typeface="Arial" pitchFamily="34" charset="0"/>
                <a:cs typeface="Arial" pitchFamily="34" charset="0"/>
              </a:rPr>
              <a:t>upper four thoracic vertebrae</a:t>
            </a:r>
            <a:r>
              <a:rPr lang="en-AU" dirty="0" smtClean="0">
                <a:latin typeface="Arial" pitchFamily="34" charset="0"/>
                <a:cs typeface="Arial" pitchFamily="34" charset="0"/>
              </a:rPr>
              <a:t>.</a:t>
            </a:r>
          </a:p>
          <a:p>
            <a:pPr algn="just">
              <a:buFont typeface="Wingdings" pitchFamily="2" charset="2"/>
              <a:buChar char="Ø"/>
            </a:pPr>
            <a:r>
              <a:rPr lang="en-AU" b="1" dirty="0" smtClean="0">
                <a:latin typeface="Arial" pitchFamily="34" charset="0"/>
                <a:cs typeface="Arial" pitchFamily="34" charset="0"/>
              </a:rPr>
              <a:t>Superior</a:t>
            </a:r>
            <a:r>
              <a:rPr lang="en-AU" dirty="0" smtClean="0">
                <a:latin typeface="Arial" pitchFamily="34" charset="0"/>
                <a:cs typeface="Arial" pitchFamily="34" charset="0"/>
              </a:rPr>
              <a:t>: Plane of </a:t>
            </a:r>
            <a:r>
              <a:rPr lang="en-AU" b="1" dirty="0" smtClean="0">
                <a:latin typeface="Arial" pitchFamily="34" charset="0"/>
                <a:cs typeface="Arial" pitchFamily="34" charset="0"/>
              </a:rPr>
              <a:t>superior thoracic aperture</a:t>
            </a:r>
            <a:r>
              <a:rPr lang="en-AU" dirty="0" smtClean="0">
                <a:latin typeface="Arial" pitchFamily="34" charset="0"/>
                <a:cs typeface="Arial" pitchFamily="34" charset="0"/>
              </a:rPr>
              <a:t>.</a:t>
            </a:r>
          </a:p>
          <a:p>
            <a:pPr algn="just">
              <a:buFont typeface="Wingdings" pitchFamily="2" charset="2"/>
              <a:buChar char="Ø"/>
            </a:pPr>
            <a:r>
              <a:rPr lang="en-AU" b="1" dirty="0" smtClean="0">
                <a:latin typeface="Arial" pitchFamily="34" charset="0"/>
                <a:cs typeface="Arial" pitchFamily="34" charset="0"/>
              </a:rPr>
              <a:t>Inferior</a:t>
            </a:r>
            <a:r>
              <a:rPr lang="en-AU" dirty="0" smtClean="0">
                <a:latin typeface="Arial" pitchFamily="34" charset="0"/>
                <a:cs typeface="Arial" pitchFamily="34" charset="0"/>
              </a:rPr>
              <a:t>: An </a:t>
            </a:r>
            <a:r>
              <a:rPr lang="en-AU" b="1" dirty="0" smtClean="0">
                <a:latin typeface="Arial" pitchFamily="34" charset="0"/>
                <a:cs typeface="Arial" pitchFamily="34" charset="0"/>
              </a:rPr>
              <a:t>imaginary plane </a:t>
            </a:r>
            <a:r>
              <a:rPr lang="en-AU" dirty="0" smtClean="0">
                <a:latin typeface="Arial" pitchFamily="34" charset="0"/>
                <a:cs typeface="Arial" pitchFamily="34" charset="0"/>
              </a:rPr>
              <a:t>passing through the </a:t>
            </a:r>
            <a:r>
              <a:rPr lang="en-AU" b="1" dirty="0" smtClean="0">
                <a:latin typeface="Arial" pitchFamily="34" charset="0"/>
                <a:cs typeface="Arial" pitchFamily="34" charset="0"/>
              </a:rPr>
              <a:t>sternal angle </a:t>
            </a:r>
            <a:r>
              <a:rPr lang="en-AU" dirty="0" smtClean="0">
                <a:latin typeface="Arial" pitchFamily="34" charset="0"/>
                <a:cs typeface="Arial" pitchFamily="34" charset="0"/>
              </a:rPr>
              <a:t>in </a:t>
            </a:r>
            <a:r>
              <a:rPr lang="en-AU" b="1" dirty="0" smtClean="0">
                <a:latin typeface="Arial" pitchFamily="34" charset="0"/>
                <a:cs typeface="Arial" pitchFamily="34" charset="0"/>
              </a:rPr>
              <a:t>front </a:t>
            </a:r>
            <a:r>
              <a:rPr lang="en-AU" dirty="0" smtClean="0">
                <a:latin typeface="Arial" pitchFamily="34" charset="0"/>
                <a:cs typeface="Arial" pitchFamily="34" charset="0"/>
              </a:rPr>
              <a:t>and </a:t>
            </a:r>
            <a:r>
              <a:rPr lang="en-AU" b="1" dirty="0" smtClean="0">
                <a:latin typeface="Arial" pitchFamily="34" charset="0"/>
                <a:cs typeface="Arial" pitchFamily="34" charset="0"/>
              </a:rPr>
              <a:t>lower border </a:t>
            </a:r>
            <a:r>
              <a:rPr lang="en-AU" dirty="0" smtClean="0">
                <a:latin typeface="Arial" pitchFamily="34" charset="0"/>
                <a:cs typeface="Arial" pitchFamily="34" charset="0"/>
              </a:rPr>
              <a:t>of the</a:t>
            </a:r>
            <a:r>
              <a:rPr lang="en-AU" b="1" dirty="0" smtClean="0">
                <a:latin typeface="Arial" pitchFamily="34" charset="0"/>
                <a:cs typeface="Arial" pitchFamily="34" charset="0"/>
              </a:rPr>
              <a:t> body </a:t>
            </a:r>
            <a:r>
              <a:rPr lang="en-AU" dirty="0" smtClean="0">
                <a:latin typeface="Arial" pitchFamily="34" charset="0"/>
                <a:cs typeface="Arial" pitchFamily="34" charset="0"/>
              </a:rPr>
              <a:t>of </a:t>
            </a:r>
            <a:r>
              <a:rPr lang="en-AU" b="1" dirty="0" smtClean="0">
                <a:latin typeface="Arial" pitchFamily="34" charset="0"/>
                <a:cs typeface="Arial" pitchFamily="34" charset="0"/>
              </a:rPr>
              <a:t>fourth thoracic vertebra </a:t>
            </a:r>
            <a:r>
              <a:rPr lang="en-AU" dirty="0" smtClean="0">
                <a:latin typeface="Arial" pitchFamily="34" charset="0"/>
                <a:cs typeface="Arial" pitchFamily="34" charset="0"/>
              </a:rPr>
              <a:t>behind (transverse thoracic plane).</a:t>
            </a:r>
          </a:p>
          <a:p>
            <a:pPr algn="just">
              <a:buFont typeface="Wingdings" pitchFamily="2" charset="2"/>
              <a:buChar char="Ø"/>
            </a:pPr>
            <a:r>
              <a:rPr lang="en-AU" b="1" dirty="0" smtClean="0">
                <a:latin typeface="Arial" pitchFamily="34" charset="0"/>
                <a:cs typeface="Arial" pitchFamily="34" charset="0"/>
              </a:rPr>
              <a:t>On each side </a:t>
            </a:r>
            <a:r>
              <a:rPr lang="en-US" dirty="0" smtClean="0">
                <a:latin typeface="Arial" pitchFamily="34" charset="0"/>
                <a:cs typeface="Arial" pitchFamily="34" charset="0"/>
              </a:rPr>
              <a:t>(lateral): </a:t>
            </a:r>
            <a:r>
              <a:rPr lang="en-AU" b="1" dirty="0" smtClean="0">
                <a:latin typeface="Arial" pitchFamily="34" charset="0"/>
                <a:cs typeface="Arial" pitchFamily="34" charset="0"/>
              </a:rPr>
              <a:t>Mediastinal pleura</a:t>
            </a:r>
            <a:r>
              <a:rPr lang="en-AU" dirty="0" smtClean="0">
                <a:latin typeface="Arial" pitchFamily="34" charset="0"/>
                <a:cs typeface="Arial" pitchFamily="34" charset="0"/>
              </a:rPr>
              <a:t>.</a:t>
            </a:r>
          </a:p>
          <a:p>
            <a:pPr algn="just">
              <a:buNone/>
            </a:pPr>
            <a:endParaRPr lang="en-US"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7D608016-3028-48AC-89F9-913D89F81AFA}" type="slidenum">
              <a:rPr lang="en-US" smtClean="0"/>
              <a:pPr/>
              <a:t>12</a:t>
            </a:fld>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5776"/>
            <a:ext cx="8229600" cy="1143008"/>
          </a:xfrm>
        </p:spPr>
        <p:txBody>
          <a:bodyPr/>
          <a:lstStyle/>
          <a:p>
            <a:r>
              <a:rPr lang="en-US" dirty="0" smtClean="0">
                <a:latin typeface="Arial Black" pitchFamily="34" charset="0"/>
              </a:rPr>
              <a:t>Contents</a:t>
            </a:r>
            <a:endParaRPr lang="en-US" dirty="0">
              <a:latin typeface="Arial Black" pitchFamily="34" charset="0"/>
            </a:endParaRPr>
          </a:p>
        </p:txBody>
      </p:sp>
      <p:sp>
        <p:nvSpPr>
          <p:cNvPr id="3" name="Content Placeholder 2"/>
          <p:cNvSpPr>
            <a:spLocks noGrp="1"/>
          </p:cNvSpPr>
          <p:nvPr>
            <p:ph idx="1"/>
          </p:nvPr>
        </p:nvSpPr>
        <p:spPr>
          <a:xfrm>
            <a:off x="0" y="571480"/>
            <a:ext cx="8929718" cy="6286520"/>
          </a:xfrm>
        </p:spPr>
        <p:txBody>
          <a:bodyPr>
            <a:noAutofit/>
          </a:bodyPr>
          <a:lstStyle/>
          <a:p>
            <a:pPr algn="just">
              <a:buNone/>
            </a:pPr>
            <a:r>
              <a:rPr lang="en-US" sz="2400" dirty="0" smtClean="0">
                <a:latin typeface="Arial" pitchFamily="34" charset="0"/>
                <a:cs typeface="Arial" pitchFamily="34" charset="0"/>
              </a:rPr>
              <a:t>1.   Arteries</a:t>
            </a:r>
          </a:p>
          <a:p>
            <a:pPr algn="just">
              <a:buNone/>
            </a:pPr>
            <a:r>
              <a:rPr lang="en-US" sz="2400" dirty="0" smtClean="0">
                <a:latin typeface="Arial" pitchFamily="34" charset="0"/>
                <a:cs typeface="Arial" pitchFamily="34" charset="0"/>
              </a:rPr>
              <a:t>(a)  Arch of aorta.</a:t>
            </a:r>
          </a:p>
          <a:p>
            <a:pPr algn="just">
              <a:buNone/>
            </a:pPr>
            <a:r>
              <a:rPr lang="en-US" sz="2400" dirty="0" smtClean="0">
                <a:latin typeface="Arial" pitchFamily="34" charset="0"/>
                <a:cs typeface="Arial" pitchFamily="34" charset="0"/>
              </a:rPr>
              <a:t>(b) Brachiocephalic artery.</a:t>
            </a:r>
          </a:p>
          <a:p>
            <a:pPr algn="just">
              <a:buNone/>
            </a:pPr>
            <a:r>
              <a:rPr lang="en-US" sz="2400" dirty="0" smtClean="0">
                <a:latin typeface="Arial" pitchFamily="34" charset="0"/>
                <a:cs typeface="Arial" pitchFamily="34" charset="0"/>
              </a:rPr>
              <a:t>(c)  Left common carotid artery.</a:t>
            </a:r>
          </a:p>
          <a:p>
            <a:pPr algn="just">
              <a:buNone/>
            </a:pPr>
            <a:r>
              <a:rPr lang="en-US" sz="2400" dirty="0" smtClean="0">
                <a:latin typeface="Arial" pitchFamily="34" charset="0"/>
                <a:cs typeface="Arial" pitchFamily="34" charset="0"/>
              </a:rPr>
              <a:t>(d)  Left subclavian artery.</a:t>
            </a:r>
          </a:p>
          <a:p>
            <a:pPr algn="just">
              <a:buNone/>
            </a:pPr>
            <a:r>
              <a:rPr lang="en-US" sz="2400" dirty="0" smtClean="0">
                <a:latin typeface="Arial" pitchFamily="34" charset="0"/>
                <a:cs typeface="Arial" pitchFamily="34" charset="0"/>
              </a:rPr>
              <a:t>2.    Veins</a:t>
            </a:r>
          </a:p>
          <a:p>
            <a:pPr algn="just">
              <a:buNone/>
            </a:pPr>
            <a:r>
              <a:rPr lang="en-US" sz="2400" dirty="0" smtClean="0">
                <a:latin typeface="Arial" pitchFamily="34" charset="0"/>
                <a:cs typeface="Arial" pitchFamily="34" charset="0"/>
              </a:rPr>
              <a:t>(a)  Right and left brachiocephalic veins.</a:t>
            </a:r>
          </a:p>
          <a:p>
            <a:pPr algn="just">
              <a:buNone/>
            </a:pPr>
            <a:r>
              <a:rPr lang="en-US" sz="2400" dirty="0" smtClean="0">
                <a:latin typeface="Arial" pitchFamily="34" charset="0"/>
                <a:cs typeface="Arial" pitchFamily="34" charset="0"/>
              </a:rPr>
              <a:t>(b)  Upper half of the superior vena cava (SVC).</a:t>
            </a:r>
          </a:p>
          <a:p>
            <a:pPr algn="just">
              <a:buNone/>
            </a:pPr>
            <a:r>
              <a:rPr lang="en-US" sz="2400" dirty="0" smtClean="0">
                <a:latin typeface="Arial" pitchFamily="34" charset="0"/>
                <a:cs typeface="Arial" pitchFamily="34" charset="0"/>
              </a:rPr>
              <a:t>(c)  Left superior intercostal vein.</a:t>
            </a:r>
          </a:p>
          <a:p>
            <a:pPr algn="just">
              <a:buNone/>
            </a:pPr>
            <a:r>
              <a:rPr lang="en-US" sz="2400" dirty="0" smtClean="0">
                <a:latin typeface="Arial" pitchFamily="34" charset="0"/>
                <a:cs typeface="Arial" pitchFamily="34" charset="0"/>
              </a:rPr>
              <a:t>3.   Nerves</a:t>
            </a:r>
          </a:p>
          <a:p>
            <a:pPr algn="just">
              <a:buNone/>
            </a:pPr>
            <a:r>
              <a:rPr lang="en-US" sz="2400" dirty="0" smtClean="0">
                <a:latin typeface="Arial" pitchFamily="34" charset="0"/>
                <a:cs typeface="Arial" pitchFamily="34" charset="0"/>
              </a:rPr>
              <a:t>(a)  Phrenic nerves (right and left).</a:t>
            </a:r>
          </a:p>
          <a:p>
            <a:pPr marL="514350" indent="-514350" algn="just">
              <a:buNone/>
            </a:pPr>
            <a:r>
              <a:rPr lang="en-US" sz="2400" dirty="0" smtClean="0">
                <a:latin typeface="Arial" pitchFamily="34" charset="0"/>
                <a:cs typeface="Arial" pitchFamily="34" charset="0"/>
              </a:rPr>
              <a:t>(b) Vagus nerves (right and left).</a:t>
            </a:r>
          </a:p>
          <a:p>
            <a:pPr marL="514350" indent="-514350" algn="just">
              <a:buNone/>
            </a:pPr>
            <a:r>
              <a:rPr lang="en-US" sz="2400" dirty="0" smtClean="0">
                <a:latin typeface="Arial" pitchFamily="34" charset="0"/>
                <a:cs typeface="Arial" pitchFamily="34" charset="0"/>
              </a:rPr>
              <a:t>(c) </a:t>
            </a:r>
            <a:r>
              <a:rPr lang="en-AU" sz="2400" dirty="0" smtClean="0">
                <a:latin typeface="Arial" pitchFamily="34" charset="0"/>
                <a:cs typeface="Arial" pitchFamily="34" charset="0"/>
              </a:rPr>
              <a:t>Sympathetic trunks and cardiac nerves (right and left).</a:t>
            </a:r>
          </a:p>
          <a:p>
            <a:pPr marL="514350" indent="-514350" algn="just">
              <a:buNone/>
            </a:pPr>
            <a:r>
              <a:rPr lang="en-AU" sz="2400" dirty="0" smtClean="0">
                <a:latin typeface="Arial" pitchFamily="34" charset="0"/>
                <a:cs typeface="Arial" pitchFamily="34" charset="0"/>
              </a:rPr>
              <a:t>(d) Left recurrent laryngeal nerves</a:t>
            </a:r>
            <a:endParaRPr lang="en-US" sz="2400"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7D608016-3028-48AC-89F9-913D89F81AFA}" type="slidenum">
              <a:rPr lang="en-US" smtClean="0"/>
              <a:pPr/>
              <a:t>13</a:t>
            </a:fld>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14356"/>
            <a:ext cx="8229600" cy="5411807"/>
          </a:xfrm>
        </p:spPr>
        <p:txBody>
          <a:bodyPr>
            <a:noAutofit/>
          </a:bodyPr>
          <a:lstStyle/>
          <a:p>
            <a:pPr>
              <a:buNone/>
            </a:pPr>
            <a:r>
              <a:rPr lang="en-US" sz="2800" dirty="0" smtClean="0">
                <a:latin typeface="Arial" pitchFamily="34" charset="0"/>
                <a:cs typeface="Arial" pitchFamily="34" charset="0"/>
              </a:rPr>
              <a:t>4.  Lymphoid organs and lymphatics</a:t>
            </a:r>
          </a:p>
          <a:p>
            <a:pPr>
              <a:buNone/>
            </a:pPr>
            <a:r>
              <a:rPr lang="en-US" sz="2800" dirty="0" smtClean="0">
                <a:latin typeface="Arial" pitchFamily="34" charset="0"/>
                <a:cs typeface="Arial" pitchFamily="34" charset="0"/>
              </a:rPr>
              <a:t>(a) Lymph nodes.</a:t>
            </a:r>
          </a:p>
          <a:p>
            <a:pPr>
              <a:buNone/>
            </a:pPr>
            <a:r>
              <a:rPr lang="en-US" sz="2800" dirty="0" smtClean="0">
                <a:latin typeface="Arial" pitchFamily="34" charset="0"/>
                <a:cs typeface="Arial" pitchFamily="34" charset="0"/>
              </a:rPr>
              <a:t>(b) Thoracic duct.</a:t>
            </a:r>
          </a:p>
          <a:p>
            <a:pPr>
              <a:buNone/>
            </a:pPr>
            <a:r>
              <a:rPr lang="en-US" sz="2800" dirty="0" smtClean="0">
                <a:latin typeface="Arial" pitchFamily="34" charset="0"/>
                <a:cs typeface="Arial" pitchFamily="34" charset="0"/>
              </a:rPr>
              <a:t>(c) Thymus.</a:t>
            </a:r>
          </a:p>
          <a:p>
            <a:pPr>
              <a:buNone/>
            </a:pPr>
            <a:r>
              <a:rPr lang="en-US" sz="2800" dirty="0" smtClean="0">
                <a:latin typeface="Arial" pitchFamily="34" charset="0"/>
                <a:cs typeface="Arial" pitchFamily="34" charset="0"/>
              </a:rPr>
              <a:t>5.  Tubes</a:t>
            </a:r>
          </a:p>
          <a:p>
            <a:pPr>
              <a:buNone/>
            </a:pPr>
            <a:r>
              <a:rPr lang="en-US" sz="2800" dirty="0" smtClean="0">
                <a:latin typeface="Arial" pitchFamily="34" charset="0"/>
                <a:cs typeface="Arial" pitchFamily="34" charset="0"/>
              </a:rPr>
              <a:t>(a) Trachea.</a:t>
            </a:r>
          </a:p>
          <a:p>
            <a:pPr>
              <a:buNone/>
            </a:pPr>
            <a:r>
              <a:rPr lang="en-US" sz="2800" dirty="0" smtClean="0">
                <a:latin typeface="Arial" pitchFamily="34" charset="0"/>
                <a:cs typeface="Arial" pitchFamily="34" charset="0"/>
              </a:rPr>
              <a:t>(b) Esophagus.</a:t>
            </a:r>
          </a:p>
          <a:p>
            <a:pPr>
              <a:buNone/>
            </a:pPr>
            <a:r>
              <a:rPr lang="en-US" sz="2800" dirty="0" smtClean="0">
                <a:latin typeface="Arial" pitchFamily="34" charset="0"/>
                <a:cs typeface="Arial" pitchFamily="34" charset="0"/>
              </a:rPr>
              <a:t>6.  Muscles</a:t>
            </a:r>
          </a:p>
          <a:p>
            <a:pPr>
              <a:buNone/>
            </a:pPr>
            <a:r>
              <a:rPr lang="en-US" sz="2800" dirty="0" smtClean="0">
                <a:latin typeface="Arial" pitchFamily="34" charset="0"/>
                <a:cs typeface="Arial" pitchFamily="34" charset="0"/>
              </a:rPr>
              <a:t>(a) Sternohyoid.</a:t>
            </a:r>
          </a:p>
          <a:p>
            <a:pPr>
              <a:buNone/>
            </a:pPr>
            <a:r>
              <a:rPr lang="en-US" sz="2800" dirty="0" smtClean="0">
                <a:latin typeface="Arial" pitchFamily="34" charset="0"/>
                <a:cs typeface="Arial" pitchFamily="34" charset="0"/>
              </a:rPr>
              <a:t>(b) Sternothyroid.</a:t>
            </a:r>
          </a:p>
          <a:p>
            <a:pPr>
              <a:buNone/>
            </a:pPr>
            <a:r>
              <a:rPr lang="en-US" sz="2800" dirty="0" smtClean="0">
                <a:latin typeface="Arial" pitchFamily="34" charset="0"/>
                <a:cs typeface="Arial" pitchFamily="34" charset="0"/>
              </a:rPr>
              <a:t>(c)  Longus colli.</a:t>
            </a:r>
            <a:endParaRPr lang="en-US" sz="2800" dirty="0">
              <a:latin typeface="Arial" pitchFamily="34" charset="0"/>
              <a:cs typeface="Arial" pitchFamily="34" charset="0"/>
            </a:endParaRPr>
          </a:p>
        </p:txBody>
      </p:sp>
      <p:pic>
        <p:nvPicPr>
          <p:cNvPr id="4" name="Picture 2"/>
          <p:cNvPicPr>
            <a:picLocks noChangeAspect="1" noChangeArrowheads="1"/>
          </p:cNvPicPr>
          <p:nvPr/>
        </p:nvPicPr>
        <p:blipFill>
          <a:blip r:embed="rId2"/>
          <a:srcRect/>
          <a:stretch>
            <a:fillRect/>
          </a:stretch>
        </p:blipFill>
        <p:spPr bwMode="auto">
          <a:xfrm>
            <a:off x="3571868" y="1428736"/>
            <a:ext cx="5357850" cy="5072098"/>
          </a:xfrm>
          <a:prstGeom prst="rect">
            <a:avLst/>
          </a:prstGeom>
          <a:noFill/>
          <a:ln w="9525">
            <a:noFill/>
            <a:miter lim="800000"/>
            <a:headEnd/>
            <a:tailEnd/>
          </a:ln>
          <a:effectLst/>
        </p:spPr>
      </p:pic>
      <p:sp>
        <p:nvSpPr>
          <p:cNvPr id="5" name="TextBox 4"/>
          <p:cNvSpPr txBox="1"/>
          <p:nvPr/>
        </p:nvSpPr>
        <p:spPr>
          <a:xfrm>
            <a:off x="2071670" y="6143644"/>
            <a:ext cx="6858048" cy="646331"/>
          </a:xfrm>
          <a:prstGeom prst="rect">
            <a:avLst/>
          </a:prstGeom>
          <a:noFill/>
        </p:spPr>
        <p:txBody>
          <a:bodyPr wrap="square" rtlCol="0">
            <a:spAutoFit/>
          </a:bodyPr>
          <a:lstStyle/>
          <a:p>
            <a:r>
              <a:rPr lang="en-AU" dirty="0" smtClean="0">
                <a:latin typeface="Arial" pitchFamily="34" charset="0"/>
                <a:cs typeface="Arial" pitchFamily="34" charset="0"/>
              </a:rPr>
              <a:t>Arrangement of structures in the superior mediastinum as seen in dissection</a:t>
            </a:r>
            <a:endParaRPr lang="en-US" dirty="0">
              <a:latin typeface="Arial" pitchFamily="34" charset="0"/>
              <a:cs typeface="Arial" pitchFamily="34" charset="0"/>
            </a:endParaRPr>
          </a:p>
        </p:txBody>
      </p:sp>
      <p:sp>
        <p:nvSpPr>
          <p:cNvPr id="6" name="Slide Number Placeholder 5"/>
          <p:cNvSpPr>
            <a:spLocks noGrp="1"/>
          </p:cNvSpPr>
          <p:nvPr>
            <p:ph type="sldNum" sz="quarter" idx="12"/>
          </p:nvPr>
        </p:nvSpPr>
        <p:spPr/>
        <p:txBody>
          <a:bodyPr/>
          <a:lstStyle/>
          <a:p>
            <a:fld id="{7D608016-3028-48AC-89F9-913D89F81AFA}" type="slidenum">
              <a:rPr lang="en-US" smtClean="0"/>
              <a:pPr/>
              <a:t>14</a:t>
            </a:fld>
            <a:endParaRPr lang="en-US" dirty="0"/>
          </a:p>
        </p:txBody>
      </p:sp>
      <p:sp>
        <p:nvSpPr>
          <p:cNvPr id="7" name="TextBox 6"/>
          <p:cNvSpPr txBox="1"/>
          <p:nvPr/>
        </p:nvSpPr>
        <p:spPr>
          <a:xfrm>
            <a:off x="4000496" y="0"/>
            <a:ext cx="2151551" cy="1046440"/>
          </a:xfrm>
          <a:prstGeom prst="rect">
            <a:avLst/>
          </a:prstGeom>
          <a:noFill/>
        </p:spPr>
        <p:txBody>
          <a:bodyPr wrap="square" rtlCol="0">
            <a:spAutoFit/>
          </a:bodyPr>
          <a:lstStyle/>
          <a:p>
            <a:r>
              <a:rPr lang="en-AU" sz="4400" dirty="0" smtClean="0">
                <a:latin typeface="Arial Black" pitchFamily="34" charset="0"/>
              </a:rPr>
              <a:t>Cont’d</a:t>
            </a:r>
            <a:endParaRPr lang="en-US" sz="4400" dirty="0" smtClean="0">
              <a:latin typeface="Arial Black" pitchFamily="34" charset="0"/>
            </a:endParaRP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3" name="Picture 3"/>
          <p:cNvPicPr>
            <a:picLocks noGrp="1" noChangeAspect="1" noChangeArrowheads="1"/>
          </p:cNvPicPr>
          <p:nvPr>
            <p:ph idx="1"/>
          </p:nvPr>
        </p:nvPicPr>
        <p:blipFill>
          <a:blip r:embed="rId2"/>
          <a:srcRect/>
          <a:stretch>
            <a:fillRect/>
          </a:stretch>
        </p:blipFill>
        <p:spPr bwMode="auto">
          <a:xfrm>
            <a:off x="857224" y="571480"/>
            <a:ext cx="7786742" cy="5572164"/>
          </a:xfrm>
          <a:prstGeom prst="rect">
            <a:avLst/>
          </a:prstGeom>
          <a:noFill/>
          <a:ln w="9525">
            <a:noFill/>
            <a:miter lim="800000"/>
            <a:headEnd/>
            <a:tailEnd/>
          </a:ln>
          <a:effectLst/>
        </p:spPr>
      </p:pic>
      <p:sp>
        <p:nvSpPr>
          <p:cNvPr id="7" name="TextBox 6"/>
          <p:cNvSpPr txBox="1"/>
          <p:nvPr/>
        </p:nvSpPr>
        <p:spPr>
          <a:xfrm>
            <a:off x="928662" y="6072206"/>
            <a:ext cx="8215338" cy="646331"/>
          </a:xfrm>
          <a:prstGeom prst="rect">
            <a:avLst/>
          </a:prstGeom>
          <a:noFill/>
        </p:spPr>
        <p:txBody>
          <a:bodyPr wrap="square" rtlCol="0">
            <a:spAutoFit/>
          </a:bodyPr>
          <a:lstStyle/>
          <a:p>
            <a:r>
              <a:rPr lang="en-AU" dirty="0" smtClean="0"/>
              <a:t> </a:t>
            </a:r>
            <a:r>
              <a:rPr lang="en-AU" dirty="0" smtClean="0">
                <a:latin typeface="Arial" pitchFamily="34" charset="0"/>
                <a:cs typeface="Arial" pitchFamily="34" charset="0"/>
              </a:rPr>
              <a:t>Transverse section of superior mediastinum showing the arrangement of its contents</a:t>
            </a:r>
            <a:endParaRPr lang="en-US" dirty="0">
              <a:latin typeface="Arial" pitchFamily="34" charset="0"/>
              <a:cs typeface="Arial" pitchFamily="34" charset="0"/>
            </a:endParaRPr>
          </a:p>
        </p:txBody>
      </p:sp>
      <p:sp>
        <p:nvSpPr>
          <p:cNvPr id="8" name="Slide Number Placeholder 7"/>
          <p:cNvSpPr>
            <a:spLocks noGrp="1"/>
          </p:cNvSpPr>
          <p:nvPr>
            <p:ph type="sldNum" sz="quarter" idx="12"/>
          </p:nvPr>
        </p:nvSpPr>
        <p:spPr/>
        <p:txBody>
          <a:bodyPr/>
          <a:lstStyle/>
          <a:p>
            <a:fld id="{7D608016-3028-48AC-89F9-913D89F81AFA}" type="slidenum">
              <a:rPr lang="en-US" smtClean="0"/>
              <a:pPr/>
              <a:t>15</a:t>
            </a:fld>
            <a:endParaRPr lang="en-US" dirty="0"/>
          </a:p>
        </p:txBody>
      </p:sp>
      <p:sp>
        <p:nvSpPr>
          <p:cNvPr id="5" name="TextBox 4"/>
          <p:cNvSpPr txBox="1"/>
          <p:nvPr/>
        </p:nvSpPr>
        <p:spPr>
          <a:xfrm>
            <a:off x="3786182" y="214290"/>
            <a:ext cx="2151551" cy="769441"/>
          </a:xfrm>
          <a:prstGeom prst="rect">
            <a:avLst/>
          </a:prstGeom>
          <a:noFill/>
        </p:spPr>
        <p:txBody>
          <a:bodyPr wrap="none" rtlCol="0">
            <a:spAutoFit/>
          </a:bodyPr>
          <a:lstStyle/>
          <a:p>
            <a:r>
              <a:rPr lang="en-AU" sz="4400" dirty="0" smtClean="0">
                <a:latin typeface="Arial Black" pitchFamily="34" charset="0"/>
              </a:rPr>
              <a:t>Cont’d</a:t>
            </a:r>
            <a:endParaRPr lang="en-US" sz="4400" dirty="0">
              <a:latin typeface="Arial Black"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71480"/>
            <a:ext cx="8229600" cy="1428760"/>
          </a:xfrm>
        </p:spPr>
        <p:txBody>
          <a:bodyPr/>
          <a:lstStyle/>
          <a:p>
            <a:r>
              <a:rPr lang="en-US" dirty="0" smtClean="0">
                <a:latin typeface="Arial Black" pitchFamily="34" charset="0"/>
              </a:rPr>
              <a:t>Anterior Mediastinum</a:t>
            </a:r>
            <a:endParaRPr lang="en-US" dirty="0"/>
          </a:p>
        </p:txBody>
      </p:sp>
      <p:sp>
        <p:nvSpPr>
          <p:cNvPr id="3" name="Content Placeholder 2"/>
          <p:cNvSpPr>
            <a:spLocks noGrp="1"/>
          </p:cNvSpPr>
          <p:nvPr>
            <p:ph idx="1"/>
          </p:nvPr>
        </p:nvSpPr>
        <p:spPr>
          <a:xfrm>
            <a:off x="457200" y="2214554"/>
            <a:ext cx="8229600" cy="3911609"/>
          </a:xfrm>
        </p:spPr>
        <p:txBody>
          <a:bodyPr/>
          <a:lstStyle/>
          <a:p>
            <a:pPr algn="just"/>
            <a:r>
              <a:rPr lang="en-AU" dirty="0" smtClean="0">
                <a:latin typeface="Arial" pitchFamily="34" charset="0"/>
                <a:cs typeface="Arial" pitchFamily="34" charset="0"/>
              </a:rPr>
              <a:t>It </a:t>
            </a:r>
            <a:r>
              <a:rPr lang="en-AU" b="1" dirty="0" smtClean="0">
                <a:latin typeface="Arial" pitchFamily="34" charset="0"/>
                <a:cs typeface="Arial" pitchFamily="34" charset="0"/>
              </a:rPr>
              <a:t>lies</a:t>
            </a:r>
            <a:r>
              <a:rPr lang="en-AU" dirty="0" smtClean="0">
                <a:latin typeface="Arial" pitchFamily="34" charset="0"/>
                <a:cs typeface="Arial" pitchFamily="34" charset="0"/>
              </a:rPr>
              <a:t> between the </a:t>
            </a:r>
            <a:r>
              <a:rPr lang="en-AU" b="1" dirty="0" smtClean="0">
                <a:latin typeface="Arial" pitchFamily="34" charset="0"/>
                <a:cs typeface="Arial" pitchFamily="34" charset="0"/>
              </a:rPr>
              <a:t>pericardium</a:t>
            </a:r>
            <a:r>
              <a:rPr lang="en-AU" dirty="0" smtClean="0">
                <a:latin typeface="Arial" pitchFamily="34" charset="0"/>
                <a:cs typeface="Arial" pitchFamily="34" charset="0"/>
              </a:rPr>
              <a:t> and </a:t>
            </a:r>
            <a:r>
              <a:rPr lang="en-AU" b="1" dirty="0" smtClean="0">
                <a:latin typeface="Arial" pitchFamily="34" charset="0"/>
                <a:cs typeface="Arial" pitchFamily="34" charset="0"/>
              </a:rPr>
              <a:t>sternum</a:t>
            </a:r>
            <a:r>
              <a:rPr lang="en-AU" dirty="0" smtClean="0">
                <a:latin typeface="Arial" pitchFamily="34" charset="0"/>
                <a:cs typeface="Arial" pitchFamily="34" charset="0"/>
              </a:rPr>
              <a:t>. It is </a:t>
            </a:r>
            <a:r>
              <a:rPr lang="en-AU" b="1" dirty="0" smtClean="0">
                <a:latin typeface="Arial" pitchFamily="34" charset="0"/>
                <a:cs typeface="Arial" pitchFamily="34" charset="0"/>
              </a:rPr>
              <a:t>overlapped</a:t>
            </a:r>
            <a:r>
              <a:rPr lang="en-AU" dirty="0" smtClean="0">
                <a:latin typeface="Arial" pitchFamily="34" charset="0"/>
                <a:cs typeface="Arial" pitchFamily="34" charset="0"/>
              </a:rPr>
              <a:t> by the </a:t>
            </a:r>
            <a:r>
              <a:rPr lang="en-AU" b="1" dirty="0" smtClean="0">
                <a:latin typeface="Arial" pitchFamily="34" charset="0"/>
                <a:cs typeface="Arial" pitchFamily="34" charset="0"/>
              </a:rPr>
              <a:t>anterior edges </a:t>
            </a:r>
            <a:r>
              <a:rPr lang="en-AU" dirty="0" smtClean="0">
                <a:latin typeface="Arial" pitchFamily="34" charset="0"/>
                <a:cs typeface="Arial" pitchFamily="34" charset="0"/>
              </a:rPr>
              <a:t>of </a:t>
            </a:r>
            <a:r>
              <a:rPr lang="en-AU" b="1" dirty="0" smtClean="0">
                <a:latin typeface="Arial" pitchFamily="34" charset="0"/>
                <a:cs typeface="Arial" pitchFamily="34" charset="0"/>
              </a:rPr>
              <a:t>both lungs</a:t>
            </a:r>
            <a:r>
              <a:rPr lang="en-AU" dirty="0" smtClean="0">
                <a:latin typeface="Arial" pitchFamily="34" charset="0"/>
                <a:cs typeface="Arial" pitchFamily="34" charset="0"/>
              </a:rPr>
              <a:t>. It contains the </a:t>
            </a:r>
            <a:r>
              <a:rPr lang="en-AU" b="1" dirty="0" smtClean="0">
                <a:latin typeface="Arial" pitchFamily="34" charset="0"/>
                <a:cs typeface="Arial" pitchFamily="34" charset="0"/>
              </a:rPr>
              <a:t>thymus</a:t>
            </a:r>
            <a:r>
              <a:rPr lang="en-AU" dirty="0" smtClean="0">
                <a:latin typeface="Arial" pitchFamily="34" charset="0"/>
                <a:cs typeface="Arial" pitchFamily="34" charset="0"/>
              </a:rPr>
              <a:t>, </a:t>
            </a:r>
            <a:r>
              <a:rPr lang="en-AU" b="1" dirty="0" smtClean="0">
                <a:latin typeface="Arial" pitchFamily="34" charset="0"/>
                <a:cs typeface="Arial" pitchFamily="34" charset="0"/>
              </a:rPr>
              <a:t>sternopericardial ligaments</a:t>
            </a:r>
            <a:r>
              <a:rPr lang="en-AU" dirty="0" smtClean="0">
                <a:latin typeface="Arial" pitchFamily="34" charset="0"/>
                <a:cs typeface="Arial" pitchFamily="34" charset="0"/>
              </a:rPr>
              <a:t>, a </a:t>
            </a:r>
            <a:r>
              <a:rPr lang="en-AU" b="1" dirty="0" smtClean="0">
                <a:latin typeface="Arial" pitchFamily="34" charset="0"/>
                <a:cs typeface="Arial" pitchFamily="34" charset="0"/>
              </a:rPr>
              <a:t>few lymph nodes </a:t>
            </a:r>
            <a:r>
              <a:rPr lang="en-AU" dirty="0" smtClean="0">
                <a:latin typeface="Arial" pitchFamily="34" charset="0"/>
                <a:cs typeface="Arial" pitchFamily="34" charset="0"/>
              </a:rPr>
              <a:t>and </a:t>
            </a:r>
            <a:r>
              <a:rPr lang="en-AU" b="1" dirty="0" smtClean="0">
                <a:latin typeface="Arial" pitchFamily="34" charset="0"/>
                <a:cs typeface="Arial" pitchFamily="34" charset="0"/>
              </a:rPr>
              <a:t>branches</a:t>
            </a:r>
            <a:r>
              <a:rPr lang="en-AU" dirty="0" smtClean="0">
                <a:latin typeface="Arial" pitchFamily="34" charset="0"/>
                <a:cs typeface="Arial" pitchFamily="34" charset="0"/>
              </a:rPr>
              <a:t> of the </a:t>
            </a:r>
            <a:r>
              <a:rPr lang="en-AU" b="1" dirty="0" smtClean="0">
                <a:latin typeface="Arial" pitchFamily="34" charset="0"/>
                <a:cs typeface="Arial" pitchFamily="34" charset="0"/>
              </a:rPr>
              <a:t>internal thoracic vessels</a:t>
            </a:r>
            <a:r>
              <a:rPr lang="en-AU" dirty="0" smtClean="0">
                <a:latin typeface="Arial" pitchFamily="34" charset="0"/>
                <a:cs typeface="Arial" pitchFamily="34" charset="0"/>
              </a:rPr>
              <a:t>.</a:t>
            </a:r>
            <a:endParaRPr lang="en-US"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7D608016-3028-48AC-89F9-913D89F81AFA}" type="slidenum">
              <a:rPr lang="en-US" smtClean="0"/>
              <a:pPr/>
              <a:t>16</a:t>
            </a:fld>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71480"/>
            <a:ext cx="8229600" cy="1071570"/>
          </a:xfrm>
        </p:spPr>
        <p:txBody>
          <a:bodyPr/>
          <a:lstStyle/>
          <a:p>
            <a:r>
              <a:rPr lang="en-AU" dirty="0" smtClean="0">
                <a:latin typeface="Arial Black" pitchFamily="34" charset="0"/>
              </a:rPr>
              <a:t>Boundaries </a:t>
            </a:r>
            <a:endParaRPr lang="en-US" dirty="0">
              <a:latin typeface="Arial Black" pitchFamily="34" charset="0"/>
            </a:endParaRPr>
          </a:p>
        </p:txBody>
      </p:sp>
      <p:sp>
        <p:nvSpPr>
          <p:cNvPr id="3" name="Content Placeholder 2"/>
          <p:cNvSpPr>
            <a:spLocks noGrp="1"/>
          </p:cNvSpPr>
          <p:nvPr>
            <p:ph idx="1"/>
          </p:nvPr>
        </p:nvSpPr>
        <p:spPr>
          <a:xfrm>
            <a:off x="457200" y="1643050"/>
            <a:ext cx="8229600" cy="4483113"/>
          </a:xfrm>
        </p:spPr>
        <p:txBody>
          <a:bodyPr/>
          <a:lstStyle/>
          <a:p>
            <a:pPr algn="just">
              <a:buFont typeface="Wingdings" pitchFamily="2" charset="2"/>
              <a:buChar char="Ø"/>
            </a:pPr>
            <a:r>
              <a:rPr lang="en-US" b="1" dirty="0" smtClean="0">
                <a:latin typeface="Arial" pitchFamily="34" charset="0"/>
                <a:cs typeface="Arial" pitchFamily="34" charset="0"/>
              </a:rPr>
              <a:t>Anterior</a:t>
            </a:r>
            <a:r>
              <a:rPr lang="en-US" dirty="0" smtClean="0">
                <a:latin typeface="Arial" pitchFamily="34" charset="0"/>
                <a:cs typeface="Arial" pitchFamily="34" charset="0"/>
              </a:rPr>
              <a:t>: Body of sternum.</a:t>
            </a:r>
          </a:p>
          <a:p>
            <a:pPr algn="just">
              <a:buFont typeface="Wingdings" pitchFamily="2" charset="2"/>
              <a:buChar char="Ø"/>
            </a:pPr>
            <a:r>
              <a:rPr lang="en-US" b="1" dirty="0" smtClean="0">
                <a:latin typeface="Arial" pitchFamily="34" charset="0"/>
                <a:cs typeface="Arial" pitchFamily="34" charset="0"/>
              </a:rPr>
              <a:t>Posterior</a:t>
            </a:r>
            <a:r>
              <a:rPr lang="en-US" dirty="0" smtClean="0">
                <a:latin typeface="Arial" pitchFamily="34" charset="0"/>
                <a:cs typeface="Arial" pitchFamily="34" charset="0"/>
              </a:rPr>
              <a:t>: Pericardium enclosing heart.</a:t>
            </a:r>
          </a:p>
          <a:p>
            <a:pPr algn="just">
              <a:buFont typeface="Wingdings" pitchFamily="2" charset="2"/>
              <a:buChar char="Ø"/>
            </a:pPr>
            <a:r>
              <a:rPr lang="en-US" b="1" dirty="0" smtClean="0">
                <a:latin typeface="Arial" pitchFamily="34" charset="0"/>
                <a:cs typeface="Arial" pitchFamily="34" charset="0"/>
              </a:rPr>
              <a:t>Superior</a:t>
            </a:r>
            <a:r>
              <a:rPr lang="en-US" dirty="0" smtClean="0">
                <a:latin typeface="Arial" pitchFamily="34" charset="0"/>
                <a:cs typeface="Arial" pitchFamily="34" charset="0"/>
              </a:rPr>
              <a:t>: </a:t>
            </a:r>
            <a:r>
              <a:rPr lang="en-US" b="1" dirty="0" smtClean="0">
                <a:latin typeface="Arial" pitchFamily="34" charset="0"/>
                <a:cs typeface="Arial" pitchFamily="34" charset="0"/>
              </a:rPr>
              <a:t>Transverse thoracic plane </a:t>
            </a:r>
            <a:r>
              <a:rPr lang="en-US" dirty="0" smtClean="0">
                <a:latin typeface="Arial" pitchFamily="34" charset="0"/>
                <a:cs typeface="Arial" pitchFamily="34" charset="0"/>
              </a:rPr>
              <a:t>separating </a:t>
            </a:r>
            <a:r>
              <a:rPr lang="en-US" b="1" dirty="0" smtClean="0">
                <a:latin typeface="Arial" pitchFamily="34" charset="0"/>
                <a:cs typeface="Arial" pitchFamily="34" charset="0"/>
              </a:rPr>
              <a:t>superior</a:t>
            </a:r>
            <a:r>
              <a:rPr lang="en-US" dirty="0" smtClean="0">
                <a:latin typeface="Arial" pitchFamily="34" charset="0"/>
                <a:cs typeface="Arial" pitchFamily="34" charset="0"/>
              </a:rPr>
              <a:t> and </a:t>
            </a:r>
            <a:r>
              <a:rPr lang="en-US" b="1" dirty="0" smtClean="0">
                <a:latin typeface="Arial" pitchFamily="34" charset="0"/>
                <a:cs typeface="Arial" pitchFamily="34" charset="0"/>
              </a:rPr>
              <a:t>inferior mediastinum</a:t>
            </a:r>
            <a:r>
              <a:rPr lang="en-US" dirty="0" smtClean="0">
                <a:latin typeface="Arial" pitchFamily="34" charset="0"/>
                <a:cs typeface="Arial" pitchFamily="34" charset="0"/>
              </a:rPr>
              <a:t>.</a:t>
            </a:r>
          </a:p>
          <a:p>
            <a:pPr algn="just">
              <a:buFont typeface="Wingdings" pitchFamily="2" charset="2"/>
              <a:buChar char="Ø"/>
            </a:pPr>
            <a:r>
              <a:rPr lang="en-US" b="1" dirty="0" smtClean="0">
                <a:latin typeface="Arial" pitchFamily="34" charset="0"/>
                <a:cs typeface="Arial" pitchFamily="34" charset="0"/>
              </a:rPr>
              <a:t>Inferior</a:t>
            </a:r>
            <a:r>
              <a:rPr lang="en-US" dirty="0" smtClean="0">
                <a:latin typeface="Arial" pitchFamily="34" charset="0"/>
                <a:cs typeface="Arial" pitchFamily="34" charset="0"/>
              </a:rPr>
              <a:t>: Diaphragm.</a:t>
            </a:r>
          </a:p>
          <a:p>
            <a:pPr algn="just">
              <a:buFont typeface="Wingdings" pitchFamily="2" charset="2"/>
              <a:buChar char="Ø"/>
            </a:pPr>
            <a:r>
              <a:rPr lang="en-US" b="1" dirty="0" smtClean="0">
                <a:latin typeface="Arial" pitchFamily="34" charset="0"/>
                <a:cs typeface="Arial" pitchFamily="34" charset="0"/>
              </a:rPr>
              <a:t>On each side</a:t>
            </a:r>
            <a:r>
              <a:rPr lang="en-US" dirty="0" smtClean="0">
                <a:latin typeface="Arial" pitchFamily="34" charset="0"/>
                <a:cs typeface="Arial" pitchFamily="34" charset="0"/>
              </a:rPr>
              <a:t>: Mediastinal pleura.</a:t>
            </a:r>
            <a:endParaRPr lang="en-US"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7D608016-3028-48AC-89F9-913D89F81AFA}" type="slidenum">
              <a:rPr lang="en-US" smtClean="0"/>
              <a:pPr/>
              <a:t>17</a:t>
            </a:fld>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71480"/>
            <a:ext cx="8229600" cy="1000132"/>
          </a:xfrm>
        </p:spPr>
        <p:txBody>
          <a:bodyPr/>
          <a:lstStyle/>
          <a:p>
            <a:r>
              <a:rPr lang="en-AU" dirty="0" smtClean="0">
                <a:latin typeface="Arial Black" pitchFamily="34" charset="0"/>
              </a:rPr>
              <a:t>Contents</a:t>
            </a:r>
            <a:endParaRPr lang="en-US" dirty="0">
              <a:latin typeface="Arial Black" pitchFamily="34" charset="0"/>
            </a:endParaRPr>
          </a:p>
        </p:txBody>
      </p:sp>
      <p:sp>
        <p:nvSpPr>
          <p:cNvPr id="3" name="Content Placeholder 2"/>
          <p:cNvSpPr>
            <a:spLocks noGrp="1"/>
          </p:cNvSpPr>
          <p:nvPr>
            <p:ph idx="1"/>
          </p:nvPr>
        </p:nvSpPr>
        <p:spPr>
          <a:xfrm>
            <a:off x="457200" y="1571612"/>
            <a:ext cx="8401080" cy="5500726"/>
          </a:xfrm>
        </p:spPr>
        <p:txBody>
          <a:bodyPr>
            <a:noAutofit/>
          </a:bodyPr>
          <a:lstStyle/>
          <a:p>
            <a:pPr>
              <a:buNone/>
            </a:pPr>
            <a:r>
              <a:rPr lang="en-US" dirty="0" smtClean="0">
                <a:latin typeface="Arial" pitchFamily="34" charset="0"/>
                <a:cs typeface="Arial" pitchFamily="34" charset="0"/>
              </a:rPr>
              <a:t>1. </a:t>
            </a:r>
            <a:r>
              <a:rPr lang="en-US" b="1" dirty="0" smtClean="0">
                <a:latin typeface="Arial" pitchFamily="34" charset="0"/>
                <a:cs typeface="Arial" pitchFamily="34" charset="0"/>
              </a:rPr>
              <a:t>Loose areolar tissue</a:t>
            </a:r>
            <a:r>
              <a:rPr lang="en-US" dirty="0" smtClean="0">
                <a:latin typeface="Arial" pitchFamily="34" charset="0"/>
                <a:cs typeface="Arial" pitchFamily="34" charset="0"/>
              </a:rPr>
              <a:t>.</a:t>
            </a:r>
          </a:p>
          <a:p>
            <a:pPr>
              <a:buNone/>
            </a:pPr>
            <a:r>
              <a:rPr lang="en-US" dirty="0" smtClean="0">
                <a:latin typeface="Arial" pitchFamily="34" charset="0"/>
                <a:cs typeface="Arial" pitchFamily="34" charset="0"/>
              </a:rPr>
              <a:t>2. </a:t>
            </a:r>
            <a:r>
              <a:rPr lang="en-US" b="1" dirty="0" smtClean="0">
                <a:latin typeface="Arial" pitchFamily="34" charset="0"/>
                <a:cs typeface="Arial" pitchFamily="34" charset="0"/>
              </a:rPr>
              <a:t>Superior</a:t>
            </a:r>
            <a:r>
              <a:rPr lang="en-US" dirty="0" smtClean="0">
                <a:latin typeface="Arial" pitchFamily="34" charset="0"/>
                <a:cs typeface="Arial" pitchFamily="34" charset="0"/>
              </a:rPr>
              <a:t> and </a:t>
            </a:r>
            <a:r>
              <a:rPr lang="en-US" b="1" dirty="0" smtClean="0">
                <a:latin typeface="Arial" pitchFamily="34" charset="0"/>
                <a:cs typeface="Arial" pitchFamily="34" charset="0"/>
              </a:rPr>
              <a:t>inferior </a:t>
            </a:r>
            <a:r>
              <a:rPr lang="en-US" dirty="0" smtClean="0">
                <a:latin typeface="Arial" pitchFamily="34" charset="0"/>
                <a:cs typeface="Arial" pitchFamily="34" charset="0"/>
              </a:rPr>
              <a:t> </a:t>
            </a:r>
            <a:r>
              <a:rPr lang="en-US" b="1" dirty="0" smtClean="0">
                <a:latin typeface="Arial" pitchFamily="34" charset="0"/>
                <a:cs typeface="Arial" pitchFamily="34" charset="0"/>
              </a:rPr>
              <a:t>sternopericardial ligaments</a:t>
            </a:r>
            <a:r>
              <a:rPr lang="en-US" dirty="0" smtClean="0">
                <a:latin typeface="Arial" pitchFamily="34" charset="0"/>
                <a:cs typeface="Arial" pitchFamily="34" charset="0"/>
              </a:rPr>
              <a:t> stretching between </a:t>
            </a:r>
            <a:r>
              <a:rPr lang="en-US" b="1" dirty="0" smtClean="0">
                <a:latin typeface="Arial" pitchFamily="34" charset="0"/>
                <a:cs typeface="Arial" pitchFamily="34" charset="0"/>
              </a:rPr>
              <a:t>sternum </a:t>
            </a:r>
            <a:r>
              <a:rPr lang="en-US" dirty="0" smtClean="0">
                <a:latin typeface="Arial" pitchFamily="34" charset="0"/>
                <a:cs typeface="Arial" pitchFamily="34" charset="0"/>
              </a:rPr>
              <a:t>and </a:t>
            </a:r>
            <a:r>
              <a:rPr lang="en-US" b="1" dirty="0" smtClean="0">
                <a:latin typeface="Arial" pitchFamily="34" charset="0"/>
                <a:cs typeface="Arial" pitchFamily="34" charset="0"/>
              </a:rPr>
              <a:t>pericardium</a:t>
            </a:r>
            <a:r>
              <a:rPr lang="en-US" dirty="0" smtClean="0">
                <a:latin typeface="Arial" pitchFamily="34" charset="0"/>
                <a:cs typeface="Arial" pitchFamily="34" charset="0"/>
              </a:rPr>
              <a:t>.</a:t>
            </a:r>
          </a:p>
          <a:p>
            <a:pPr>
              <a:buNone/>
            </a:pPr>
            <a:r>
              <a:rPr lang="en-US" dirty="0" smtClean="0">
                <a:latin typeface="Arial" pitchFamily="34" charset="0"/>
                <a:cs typeface="Arial" pitchFamily="34" charset="0"/>
              </a:rPr>
              <a:t>3. </a:t>
            </a:r>
            <a:r>
              <a:rPr lang="en-US" b="1" dirty="0" smtClean="0">
                <a:latin typeface="Arial" pitchFamily="34" charset="0"/>
                <a:cs typeface="Arial" pitchFamily="34" charset="0"/>
              </a:rPr>
              <a:t>Three</a:t>
            </a:r>
            <a:r>
              <a:rPr lang="en-US" dirty="0" smtClean="0">
                <a:latin typeface="Arial" pitchFamily="34" charset="0"/>
                <a:cs typeface="Arial" pitchFamily="34" charset="0"/>
              </a:rPr>
              <a:t> or </a:t>
            </a:r>
            <a:r>
              <a:rPr lang="en-US" b="1" dirty="0" smtClean="0">
                <a:latin typeface="Arial" pitchFamily="34" charset="0"/>
                <a:cs typeface="Arial" pitchFamily="34" charset="0"/>
              </a:rPr>
              <a:t>four lymph nodes</a:t>
            </a:r>
            <a:r>
              <a:rPr lang="en-US" dirty="0" smtClean="0">
                <a:latin typeface="Arial" pitchFamily="34" charset="0"/>
                <a:cs typeface="Arial" pitchFamily="34" charset="0"/>
              </a:rPr>
              <a:t>.</a:t>
            </a:r>
          </a:p>
          <a:p>
            <a:pPr>
              <a:buNone/>
            </a:pPr>
            <a:r>
              <a:rPr lang="en-US" dirty="0" smtClean="0">
                <a:latin typeface="Arial" pitchFamily="34" charset="0"/>
                <a:cs typeface="Arial" pitchFamily="34" charset="0"/>
              </a:rPr>
              <a:t>4. </a:t>
            </a:r>
            <a:r>
              <a:rPr lang="en-US" b="1" dirty="0" smtClean="0">
                <a:latin typeface="Arial" pitchFamily="34" charset="0"/>
                <a:cs typeface="Arial" pitchFamily="34" charset="0"/>
              </a:rPr>
              <a:t>Mediastinal branches </a:t>
            </a:r>
            <a:r>
              <a:rPr lang="en-US" dirty="0" smtClean="0">
                <a:latin typeface="Arial" pitchFamily="34" charset="0"/>
                <a:cs typeface="Arial" pitchFamily="34" charset="0"/>
              </a:rPr>
              <a:t>of </a:t>
            </a:r>
            <a:r>
              <a:rPr lang="en-US" b="1" dirty="0" smtClean="0">
                <a:latin typeface="Arial" pitchFamily="34" charset="0"/>
                <a:cs typeface="Arial" pitchFamily="34" charset="0"/>
              </a:rPr>
              <a:t>internal thoracic </a:t>
            </a:r>
            <a:r>
              <a:rPr lang="en-US" dirty="0" smtClean="0">
                <a:latin typeface="Arial" pitchFamily="34" charset="0"/>
                <a:cs typeface="Arial" pitchFamily="34" charset="0"/>
              </a:rPr>
              <a:t>(mammary) </a:t>
            </a:r>
            <a:r>
              <a:rPr lang="en-US" b="1" dirty="0" smtClean="0">
                <a:latin typeface="Arial" pitchFamily="34" charset="0"/>
                <a:cs typeface="Arial" pitchFamily="34" charset="0"/>
              </a:rPr>
              <a:t>arteries</a:t>
            </a:r>
            <a:r>
              <a:rPr lang="en-US" dirty="0" smtClean="0">
                <a:latin typeface="Arial" pitchFamily="34" charset="0"/>
                <a:cs typeface="Arial" pitchFamily="34" charset="0"/>
              </a:rPr>
              <a:t>.</a:t>
            </a:r>
          </a:p>
          <a:p>
            <a:pPr>
              <a:buNone/>
            </a:pPr>
            <a:r>
              <a:rPr lang="en-US" dirty="0" smtClean="0">
                <a:latin typeface="Arial" pitchFamily="34" charset="0"/>
                <a:cs typeface="Arial" pitchFamily="34" charset="0"/>
              </a:rPr>
              <a:t>5.  </a:t>
            </a:r>
            <a:r>
              <a:rPr lang="en-US" b="1" dirty="0" smtClean="0">
                <a:latin typeface="Arial" pitchFamily="34" charset="0"/>
                <a:cs typeface="Arial" pitchFamily="34" charset="0"/>
              </a:rPr>
              <a:t>Lower portion of thymus </a:t>
            </a:r>
            <a:r>
              <a:rPr lang="en-US" dirty="0" smtClean="0">
                <a:latin typeface="Arial" pitchFamily="34" charset="0"/>
                <a:cs typeface="Arial" pitchFamily="34" charset="0"/>
              </a:rPr>
              <a:t>(in children).</a:t>
            </a:r>
            <a:endParaRPr lang="en-US"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7D608016-3028-48AC-89F9-913D89F81AFA}" type="slidenum">
              <a:rPr lang="en-US" smtClean="0"/>
              <a:pPr/>
              <a:t>18</a:t>
            </a:fld>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85794"/>
            <a:ext cx="8229600" cy="1143008"/>
          </a:xfrm>
        </p:spPr>
        <p:txBody>
          <a:bodyPr/>
          <a:lstStyle/>
          <a:p>
            <a:r>
              <a:rPr lang="en-US" dirty="0" smtClean="0">
                <a:latin typeface="Arial Black" pitchFamily="34" charset="0"/>
              </a:rPr>
              <a:t>Middle Mediastinum</a:t>
            </a:r>
            <a:endParaRPr lang="en-US" dirty="0">
              <a:latin typeface="Arial Black" pitchFamily="34" charset="0"/>
            </a:endParaRPr>
          </a:p>
        </p:txBody>
      </p:sp>
      <p:sp>
        <p:nvSpPr>
          <p:cNvPr id="3" name="Content Placeholder 2"/>
          <p:cNvSpPr>
            <a:spLocks noGrp="1"/>
          </p:cNvSpPr>
          <p:nvPr>
            <p:ph idx="1"/>
          </p:nvPr>
        </p:nvSpPr>
        <p:spPr>
          <a:xfrm>
            <a:off x="457200" y="2143116"/>
            <a:ext cx="8229600" cy="3983047"/>
          </a:xfrm>
        </p:spPr>
        <p:txBody>
          <a:bodyPr/>
          <a:lstStyle/>
          <a:p>
            <a:pPr algn="just"/>
            <a:r>
              <a:rPr lang="en-AU" dirty="0" smtClean="0">
                <a:latin typeface="Arial" pitchFamily="34" charset="0"/>
                <a:cs typeface="Arial" pitchFamily="34" charset="0"/>
              </a:rPr>
              <a:t>The </a:t>
            </a:r>
            <a:r>
              <a:rPr lang="en-AU" b="1" dirty="0" smtClean="0">
                <a:latin typeface="Arial" pitchFamily="34" charset="0"/>
                <a:cs typeface="Arial" pitchFamily="34" charset="0"/>
              </a:rPr>
              <a:t>middle mediastinum </a:t>
            </a:r>
            <a:r>
              <a:rPr lang="en-AU" dirty="0" smtClean="0">
                <a:latin typeface="Arial" pitchFamily="34" charset="0"/>
                <a:cs typeface="Arial" pitchFamily="34" charset="0"/>
              </a:rPr>
              <a:t>contains the </a:t>
            </a:r>
            <a:r>
              <a:rPr lang="en-AU" b="1" dirty="0" smtClean="0">
                <a:latin typeface="Arial" pitchFamily="34" charset="0"/>
                <a:cs typeface="Arial" pitchFamily="34" charset="0"/>
              </a:rPr>
              <a:t>heart</a:t>
            </a:r>
            <a:r>
              <a:rPr lang="en-AU" dirty="0" smtClean="0">
                <a:latin typeface="Arial" pitchFamily="34" charset="0"/>
                <a:cs typeface="Arial" pitchFamily="34" charset="0"/>
              </a:rPr>
              <a:t> and </a:t>
            </a:r>
            <a:r>
              <a:rPr lang="en-AU" b="1" dirty="0" smtClean="0">
                <a:latin typeface="Arial" pitchFamily="34" charset="0"/>
                <a:cs typeface="Arial" pitchFamily="34" charset="0"/>
              </a:rPr>
              <a:t>pericardium</a:t>
            </a:r>
            <a:r>
              <a:rPr lang="en-AU" dirty="0" smtClean="0">
                <a:latin typeface="Arial" pitchFamily="34" charset="0"/>
                <a:cs typeface="Arial" pitchFamily="34" charset="0"/>
              </a:rPr>
              <a:t>, the </a:t>
            </a:r>
            <a:r>
              <a:rPr lang="en-AU" b="1" dirty="0" smtClean="0">
                <a:latin typeface="Arial" pitchFamily="34" charset="0"/>
                <a:cs typeface="Arial" pitchFamily="34" charset="0"/>
              </a:rPr>
              <a:t>adjoining parts </a:t>
            </a:r>
            <a:r>
              <a:rPr lang="en-AU" dirty="0" smtClean="0">
                <a:latin typeface="Arial" pitchFamily="34" charset="0"/>
                <a:cs typeface="Arial" pitchFamily="34" charset="0"/>
              </a:rPr>
              <a:t>of the </a:t>
            </a:r>
            <a:r>
              <a:rPr lang="en-AU" b="1" dirty="0" smtClean="0">
                <a:latin typeface="Arial" pitchFamily="34" charset="0"/>
                <a:cs typeface="Arial" pitchFamily="34" charset="0"/>
              </a:rPr>
              <a:t>great vessels</a:t>
            </a:r>
            <a:r>
              <a:rPr lang="en-AU" dirty="0" smtClean="0">
                <a:latin typeface="Arial" pitchFamily="34" charset="0"/>
                <a:cs typeface="Arial" pitchFamily="34" charset="0"/>
              </a:rPr>
              <a:t>, the </a:t>
            </a:r>
            <a:r>
              <a:rPr lang="en-AU" b="1" dirty="0" smtClean="0">
                <a:latin typeface="Arial" pitchFamily="34" charset="0"/>
                <a:cs typeface="Arial" pitchFamily="34" charset="0"/>
              </a:rPr>
              <a:t>lung roots</a:t>
            </a:r>
            <a:r>
              <a:rPr lang="en-AU" dirty="0" smtClean="0">
                <a:latin typeface="Arial" pitchFamily="34" charset="0"/>
                <a:cs typeface="Arial" pitchFamily="34" charset="0"/>
              </a:rPr>
              <a:t>, the </a:t>
            </a:r>
            <a:r>
              <a:rPr lang="en-AU" b="1" dirty="0" smtClean="0">
                <a:latin typeface="Arial" pitchFamily="34" charset="0"/>
                <a:cs typeface="Arial" pitchFamily="34" charset="0"/>
              </a:rPr>
              <a:t>phrenic nerves </a:t>
            </a:r>
            <a:r>
              <a:rPr lang="en-AU" dirty="0" smtClean="0">
                <a:latin typeface="Arial" pitchFamily="34" charset="0"/>
                <a:cs typeface="Arial" pitchFamily="34" charset="0"/>
              </a:rPr>
              <a:t>and the </a:t>
            </a:r>
            <a:r>
              <a:rPr lang="en-AU" b="1" dirty="0" smtClean="0">
                <a:latin typeface="Arial" pitchFamily="34" charset="0"/>
                <a:cs typeface="Arial" pitchFamily="34" charset="0"/>
              </a:rPr>
              <a:t>deep part </a:t>
            </a:r>
            <a:r>
              <a:rPr lang="en-AU" dirty="0" smtClean="0">
                <a:latin typeface="Arial" pitchFamily="34" charset="0"/>
                <a:cs typeface="Arial" pitchFamily="34" charset="0"/>
              </a:rPr>
              <a:t>of the </a:t>
            </a:r>
            <a:r>
              <a:rPr lang="en-AU" b="1" dirty="0" smtClean="0">
                <a:latin typeface="Arial" pitchFamily="34" charset="0"/>
                <a:cs typeface="Arial" pitchFamily="34" charset="0"/>
              </a:rPr>
              <a:t>cardiac plexus</a:t>
            </a:r>
            <a:r>
              <a:rPr lang="en-AU" dirty="0" smtClean="0">
                <a:latin typeface="Arial" pitchFamily="34" charset="0"/>
                <a:cs typeface="Arial" pitchFamily="34" charset="0"/>
              </a:rPr>
              <a:t>.</a:t>
            </a:r>
            <a:endParaRPr lang="en-US"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7D608016-3028-48AC-89F9-913D89F81AFA}" type="slidenum">
              <a:rPr lang="en-US" smtClean="0"/>
              <a:pPr/>
              <a:t>19</a:t>
            </a:fld>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Arial Black" pitchFamily="34" charset="0"/>
              </a:rPr>
              <a:t>Boundaries</a:t>
            </a:r>
            <a:endParaRPr lang="en-US" dirty="0">
              <a:latin typeface="Arial Black" pitchFamily="34" charset="0"/>
            </a:endParaRPr>
          </a:p>
        </p:txBody>
      </p:sp>
      <p:sp>
        <p:nvSpPr>
          <p:cNvPr id="3" name="Content Placeholder 2"/>
          <p:cNvSpPr>
            <a:spLocks noGrp="1"/>
          </p:cNvSpPr>
          <p:nvPr>
            <p:ph idx="1"/>
          </p:nvPr>
        </p:nvSpPr>
        <p:spPr/>
        <p:txBody>
          <a:bodyPr/>
          <a:lstStyle/>
          <a:p>
            <a:pPr algn="just"/>
            <a:r>
              <a:rPr lang="en-US" b="1" dirty="0" smtClean="0">
                <a:latin typeface="Arial" pitchFamily="34" charset="0"/>
                <a:cs typeface="Arial" pitchFamily="34" charset="0"/>
              </a:rPr>
              <a:t>Anterior</a:t>
            </a:r>
            <a:r>
              <a:rPr lang="en-US" dirty="0" smtClean="0">
                <a:latin typeface="Arial" pitchFamily="34" charset="0"/>
                <a:cs typeface="Arial" pitchFamily="34" charset="0"/>
              </a:rPr>
              <a:t>: Anterior mediastinum.</a:t>
            </a:r>
          </a:p>
          <a:p>
            <a:pPr algn="just"/>
            <a:endParaRPr lang="en-US" dirty="0" smtClean="0">
              <a:latin typeface="Arial" pitchFamily="34" charset="0"/>
              <a:cs typeface="Arial" pitchFamily="34" charset="0"/>
            </a:endParaRPr>
          </a:p>
          <a:p>
            <a:pPr algn="just"/>
            <a:r>
              <a:rPr lang="en-US" b="1" dirty="0" smtClean="0">
                <a:latin typeface="Arial" pitchFamily="34" charset="0"/>
                <a:cs typeface="Arial" pitchFamily="34" charset="0"/>
              </a:rPr>
              <a:t>Posterior</a:t>
            </a:r>
            <a:r>
              <a:rPr lang="en-US" dirty="0" smtClean="0">
                <a:latin typeface="Arial" pitchFamily="34" charset="0"/>
                <a:cs typeface="Arial" pitchFamily="34" charset="0"/>
              </a:rPr>
              <a:t>: Posterior mediastinum</a:t>
            </a:r>
          </a:p>
          <a:p>
            <a:pPr algn="just"/>
            <a:endParaRPr lang="en-US" dirty="0" smtClean="0">
              <a:latin typeface="Arial" pitchFamily="34" charset="0"/>
              <a:cs typeface="Arial" pitchFamily="34" charset="0"/>
            </a:endParaRPr>
          </a:p>
          <a:p>
            <a:pPr algn="just"/>
            <a:r>
              <a:rPr lang="en-US" b="1" dirty="0" smtClean="0">
                <a:latin typeface="Arial" pitchFamily="34" charset="0"/>
                <a:cs typeface="Arial" pitchFamily="34" charset="0"/>
              </a:rPr>
              <a:t>Superior</a:t>
            </a:r>
            <a:r>
              <a:rPr lang="en-US" dirty="0" smtClean="0">
                <a:latin typeface="Arial" pitchFamily="34" charset="0"/>
                <a:cs typeface="Arial" pitchFamily="34" charset="0"/>
              </a:rPr>
              <a:t>: Superior mediastinum.</a:t>
            </a:r>
          </a:p>
          <a:p>
            <a:pPr algn="just">
              <a:buNone/>
            </a:pPr>
            <a:endParaRPr lang="en-US" dirty="0" smtClean="0">
              <a:latin typeface="Arial" pitchFamily="34" charset="0"/>
              <a:cs typeface="Arial" pitchFamily="34" charset="0"/>
            </a:endParaRPr>
          </a:p>
          <a:p>
            <a:pPr algn="just"/>
            <a:r>
              <a:rPr lang="en-US" b="1" dirty="0" smtClean="0">
                <a:latin typeface="Arial" pitchFamily="34" charset="0"/>
                <a:cs typeface="Arial" pitchFamily="34" charset="0"/>
              </a:rPr>
              <a:t>Inferior</a:t>
            </a:r>
            <a:r>
              <a:rPr lang="en-US" dirty="0" smtClean="0">
                <a:latin typeface="Arial" pitchFamily="34" charset="0"/>
                <a:cs typeface="Arial" pitchFamily="34" charset="0"/>
              </a:rPr>
              <a:t>: Diaphragm</a:t>
            </a:r>
            <a:endParaRPr lang="en-US"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7D608016-3028-48AC-89F9-913D89F81AFA}" type="slidenum">
              <a:rPr lang="en-US" smtClean="0"/>
              <a:pPr/>
              <a:t>20</a:t>
            </a:fld>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28670"/>
          </a:xfrm>
        </p:spPr>
        <p:txBody>
          <a:bodyPr/>
          <a:lstStyle/>
          <a:p>
            <a:r>
              <a:rPr lang="en-AU" dirty="0" smtClean="0">
                <a:latin typeface="Arial Black" pitchFamily="34" charset="0"/>
              </a:rPr>
              <a:t>Contents</a:t>
            </a:r>
            <a:endParaRPr lang="en-US" dirty="0">
              <a:latin typeface="Arial Black" pitchFamily="34" charset="0"/>
            </a:endParaRPr>
          </a:p>
        </p:txBody>
      </p:sp>
      <p:sp>
        <p:nvSpPr>
          <p:cNvPr id="3" name="Content Placeholder 2"/>
          <p:cNvSpPr>
            <a:spLocks noGrp="1"/>
          </p:cNvSpPr>
          <p:nvPr>
            <p:ph idx="1"/>
          </p:nvPr>
        </p:nvSpPr>
        <p:spPr>
          <a:xfrm>
            <a:off x="214282" y="642918"/>
            <a:ext cx="8715436" cy="6786610"/>
          </a:xfrm>
        </p:spPr>
        <p:txBody>
          <a:bodyPr>
            <a:noAutofit/>
          </a:bodyPr>
          <a:lstStyle/>
          <a:p>
            <a:pPr algn="just">
              <a:buNone/>
            </a:pPr>
            <a:r>
              <a:rPr lang="en-US" dirty="0" smtClean="0">
                <a:latin typeface="Arial" pitchFamily="34" charset="0"/>
                <a:cs typeface="Arial" pitchFamily="34" charset="0"/>
              </a:rPr>
              <a:t>1. </a:t>
            </a:r>
            <a:r>
              <a:rPr lang="en-US" b="1" dirty="0" smtClean="0">
                <a:latin typeface="Arial" pitchFamily="34" charset="0"/>
                <a:cs typeface="Arial" pitchFamily="34" charset="0"/>
              </a:rPr>
              <a:t>Pericardium</a:t>
            </a:r>
          </a:p>
          <a:p>
            <a:pPr algn="just">
              <a:buNone/>
            </a:pPr>
            <a:r>
              <a:rPr lang="en-US" dirty="0" smtClean="0">
                <a:latin typeface="Arial" pitchFamily="34" charset="0"/>
                <a:cs typeface="Arial" pitchFamily="34" charset="0"/>
              </a:rPr>
              <a:t>2. </a:t>
            </a:r>
            <a:r>
              <a:rPr lang="en-US" b="1" dirty="0" smtClean="0">
                <a:latin typeface="Arial" pitchFamily="34" charset="0"/>
                <a:cs typeface="Arial" pitchFamily="34" charset="0"/>
              </a:rPr>
              <a:t>Heart</a:t>
            </a:r>
          </a:p>
          <a:p>
            <a:pPr algn="just">
              <a:buNone/>
            </a:pPr>
            <a:r>
              <a:rPr lang="en-US" dirty="0" smtClean="0">
                <a:latin typeface="Arial" pitchFamily="34" charset="0"/>
                <a:cs typeface="Arial" pitchFamily="34" charset="0"/>
              </a:rPr>
              <a:t>3.  Arteries:</a:t>
            </a:r>
          </a:p>
          <a:p>
            <a:pPr algn="just">
              <a:buNone/>
            </a:pPr>
            <a:r>
              <a:rPr lang="en-US" dirty="0" smtClean="0">
                <a:latin typeface="Arial" pitchFamily="34" charset="0"/>
                <a:cs typeface="Arial" pitchFamily="34" charset="0"/>
              </a:rPr>
              <a:t>(a) </a:t>
            </a:r>
            <a:r>
              <a:rPr lang="en-US" b="1" dirty="0" smtClean="0">
                <a:latin typeface="Arial" pitchFamily="34" charset="0"/>
                <a:cs typeface="Arial" pitchFamily="34" charset="0"/>
              </a:rPr>
              <a:t>Ascending aorta</a:t>
            </a:r>
          </a:p>
          <a:p>
            <a:pPr algn="just">
              <a:buNone/>
            </a:pPr>
            <a:r>
              <a:rPr lang="en-US" dirty="0" smtClean="0">
                <a:latin typeface="Arial" pitchFamily="34" charset="0"/>
                <a:cs typeface="Arial" pitchFamily="34" charset="0"/>
              </a:rPr>
              <a:t>(b)</a:t>
            </a:r>
            <a:r>
              <a:rPr lang="en-US" b="1" dirty="0" smtClean="0">
                <a:latin typeface="Arial" pitchFamily="34" charset="0"/>
                <a:cs typeface="Arial" pitchFamily="34" charset="0"/>
              </a:rPr>
              <a:t>Pulmonary trunk dividing into two pulmonary  arteries</a:t>
            </a:r>
          </a:p>
          <a:p>
            <a:pPr algn="just">
              <a:buNone/>
            </a:pPr>
            <a:r>
              <a:rPr lang="en-US" dirty="0" smtClean="0">
                <a:latin typeface="Arial" pitchFamily="34" charset="0"/>
                <a:cs typeface="Arial" pitchFamily="34" charset="0"/>
              </a:rPr>
              <a:t>(c) </a:t>
            </a:r>
            <a:r>
              <a:rPr lang="en-US" b="1" dirty="0" smtClean="0">
                <a:latin typeface="Arial" pitchFamily="34" charset="0"/>
                <a:cs typeface="Arial" pitchFamily="34" charset="0"/>
              </a:rPr>
              <a:t>Pericardiophrenic arteries</a:t>
            </a:r>
          </a:p>
          <a:p>
            <a:pPr algn="just">
              <a:buNone/>
            </a:pPr>
            <a:r>
              <a:rPr lang="en-US" dirty="0" smtClean="0">
                <a:latin typeface="Arial" pitchFamily="34" charset="0"/>
                <a:cs typeface="Arial" pitchFamily="34" charset="0"/>
              </a:rPr>
              <a:t>4.  Veins:</a:t>
            </a:r>
          </a:p>
          <a:p>
            <a:pPr algn="just">
              <a:buNone/>
            </a:pPr>
            <a:r>
              <a:rPr lang="en-US" dirty="0" smtClean="0">
                <a:latin typeface="Arial" pitchFamily="34" charset="0"/>
                <a:cs typeface="Arial" pitchFamily="34" charset="0"/>
              </a:rPr>
              <a:t>(a)  </a:t>
            </a:r>
            <a:r>
              <a:rPr lang="en-US" b="1" dirty="0" smtClean="0">
                <a:latin typeface="Arial" pitchFamily="34" charset="0"/>
                <a:cs typeface="Arial" pitchFamily="34" charset="0"/>
              </a:rPr>
              <a:t>Superior vena cava </a:t>
            </a:r>
            <a:r>
              <a:rPr lang="en-US" dirty="0" smtClean="0">
                <a:latin typeface="Arial" pitchFamily="34" charset="0"/>
                <a:cs typeface="Arial" pitchFamily="34" charset="0"/>
              </a:rPr>
              <a:t>(lower half)</a:t>
            </a:r>
          </a:p>
          <a:p>
            <a:pPr algn="just">
              <a:buNone/>
            </a:pPr>
            <a:r>
              <a:rPr lang="en-US" dirty="0" smtClean="0">
                <a:latin typeface="Arial" pitchFamily="34" charset="0"/>
                <a:cs typeface="Arial" pitchFamily="34" charset="0"/>
              </a:rPr>
              <a:t>(b)  </a:t>
            </a:r>
            <a:r>
              <a:rPr lang="en-US" b="1" dirty="0" smtClean="0">
                <a:latin typeface="Arial" pitchFamily="34" charset="0"/>
                <a:cs typeface="Arial" pitchFamily="34" charset="0"/>
              </a:rPr>
              <a:t>Azygos vein </a:t>
            </a:r>
            <a:r>
              <a:rPr lang="en-US" dirty="0" smtClean="0">
                <a:latin typeface="Arial" pitchFamily="34" charset="0"/>
                <a:cs typeface="Arial" pitchFamily="34" charset="0"/>
              </a:rPr>
              <a:t>(terminal part)</a:t>
            </a:r>
          </a:p>
          <a:p>
            <a:pPr algn="just">
              <a:buNone/>
            </a:pPr>
            <a:r>
              <a:rPr lang="en-US" dirty="0" smtClean="0">
                <a:latin typeface="Arial" pitchFamily="34" charset="0"/>
                <a:cs typeface="Arial" pitchFamily="34" charset="0"/>
              </a:rPr>
              <a:t>(c)  </a:t>
            </a:r>
            <a:r>
              <a:rPr lang="en-US" b="1" dirty="0" smtClean="0">
                <a:latin typeface="Arial" pitchFamily="34" charset="0"/>
                <a:cs typeface="Arial" pitchFamily="34" charset="0"/>
              </a:rPr>
              <a:t>Pulmonary veins </a:t>
            </a:r>
            <a:r>
              <a:rPr lang="en-US" dirty="0" smtClean="0">
                <a:latin typeface="Arial" pitchFamily="34" charset="0"/>
                <a:cs typeface="Arial" pitchFamily="34" charset="0"/>
              </a:rPr>
              <a:t>(right and left)</a:t>
            </a:r>
          </a:p>
          <a:p>
            <a:pPr algn="just">
              <a:buNone/>
            </a:pPr>
            <a:endParaRPr lang="en-US" sz="2400"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7D608016-3028-48AC-89F9-913D89F81AFA}" type="slidenum">
              <a:rPr lang="en-US" smtClean="0"/>
              <a:pPr/>
              <a:t>21</a:t>
            </a:fld>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4282" y="571480"/>
            <a:ext cx="8715436" cy="6072230"/>
          </a:xfrm>
        </p:spPr>
        <p:txBody>
          <a:bodyPr>
            <a:normAutofit/>
          </a:bodyPr>
          <a:lstStyle/>
          <a:p>
            <a:pPr algn="just">
              <a:buNone/>
            </a:pPr>
            <a:r>
              <a:rPr lang="en-US" dirty="0" smtClean="0">
                <a:latin typeface="Arial" pitchFamily="34" charset="0"/>
                <a:cs typeface="Arial" pitchFamily="34" charset="0"/>
              </a:rPr>
              <a:t>5.  Nerves:</a:t>
            </a:r>
          </a:p>
          <a:p>
            <a:pPr algn="just">
              <a:buNone/>
            </a:pPr>
            <a:r>
              <a:rPr lang="en-US" dirty="0" smtClean="0">
                <a:latin typeface="Arial" pitchFamily="34" charset="0"/>
                <a:cs typeface="Arial" pitchFamily="34" charset="0"/>
              </a:rPr>
              <a:t>(a) </a:t>
            </a:r>
            <a:r>
              <a:rPr lang="en-US" b="1" dirty="0" smtClean="0">
                <a:latin typeface="Arial" pitchFamily="34" charset="0"/>
                <a:cs typeface="Arial" pitchFamily="34" charset="0"/>
              </a:rPr>
              <a:t>Phrenic nerves</a:t>
            </a:r>
          </a:p>
          <a:p>
            <a:pPr algn="just">
              <a:buNone/>
            </a:pPr>
            <a:r>
              <a:rPr lang="en-US" dirty="0" smtClean="0">
                <a:latin typeface="Arial" pitchFamily="34" charset="0"/>
                <a:cs typeface="Arial" pitchFamily="34" charset="0"/>
              </a:rPr>
              <a:t>(b) </a:t>
            </a:r>
            <a:r>
              <a:rPr lang="en-US" b="1" dirty="0" smtClean="0">
                <a:latin typeface="Arial" pitchFamily="34" charset="0"/>
                <a:cs typeface="Arial" pitchFamily="34" charset="0"/>
              </a:rPr>
              <a:t>Deep cardiac plexus</a:t>
            </a:r>
          </a:p>
          <a:p>
            <a:pPr algn="just">
              <a:buNone/>
            </a:pPr>
            <a:r>
              <a:rPr lang="en-US" dirty="0" smtClean="0">
                <a:latin typeface="Arial" pitchFamily="34" charset="0"/>
                <a:cs typeface="Arial" pitchFamily="34" charset="0"/>
              </a:rPr>
              <a:t>6.  Lymph nodes:</a:t>
            </a:r>
          </a:p>
          <a:p>
            <a:pPr marL="514350" indent="-514350" algn="just">
              <a:buAutoNum type="alphaLcParenBoth"/>
            </a:pPr>
            <a:r>
              <a:rPr lang="en-US" b="1" dirty="0" smtClean="0">
                <a:latin typeface="Arial" pitchFamily="34" charset="0"/>
                <a:cs typeface="Arial" pitchFamily="34" charset="0"/>
              </a:rPr>
              <a:t>Tracheobronchial </a:t>
            </a:r>
          </a:p>
          <a:p>
            <a:pPr marL="514350" indent="-514350" algn="just">
              <a:buNone/>
            </a:pPr>
            <a:r>
              <a:rPr lang="en-US" b="1" dirty="0">
                <a:latin typeface="Arial" pitchFamily="34" charset="0"/>
                <a:cs typeface="Arial" pitchFamily="34" charset="0"/>
              </a:rPr>
              <a:t> </a:t>
            </a:r>
            <a:r>
              <a:rPr lang="en-US" b="1" dirty="0" smtClean="0">
                <a:latin typeface="Arial" pitchFamily="34" charset="0"/>
                <a:cs typeface="Arial" pitchFamily="34" charset="0"/>
              </a:rPr>
              <a:t>     lymph nodes</a:t>
            </a:r>
          </a:p>
          <a:p>
            <a:pPr algn="just">
              <a:buNone/>
            </a:pPr>
            <a:r>
              <a:rPr lang="en-US" dirty="0" smtClean="0">
                <a:latin typeface="Arial" pitchFamily="34" charset="0"/>
                <a:cs typeface="Arial" pitchFamily="34" charset="0"/>
              </a:rPr>
              <a:t>7.  Tubes:</a:t>
            </a:r>
          </a:p>
          <a:p>
            <a:pPr algn="just">
              <a:buNone/>
            </a:pPr>
            <a:r>
              <a:rPr lang="en-US" dirty="0" smtClean="0">
                <a:latin typeface="Arial" pitchFamily="34" charset="0"/>
                <a:cs typeface="Arial" pitchFamily="34" charset="0"/>
              </a:rPr>
              <a:t>(a) </a:t>
            </a:r>
            <a:r>
              <a:rPr lang="en-US" b="1" dirty="0" smtClean="0">
                <a:latin typeface="Arial" pitchFamily="34" charset="0"/>
                <a:cs typeface="Arial" pitchFamily="34" charset="0"/>
              </a:rPr>
              <a:t>Bifurcation of trachea</a:t>
            </a:r>
          </a:p>
          <a:p>
            <a:pPr marL="514350" indent="-514350" algn="just">
              <a:buAutoNum type="alphaLcParenBoth" startAt="2"/>
            </a:pPr>
            <a:r>
              <a:rPr lang="en-US" b="1" dirty="0" smtClean="0">
                <a:latin typeface="Arial" pitchFamily="34" charset="0"/>
                <a:cs typeface="Arial" pitchFamily="34" charset="0"/>
              </a:rPr>
              <a:t>Right and left </a:t>
            </a:r>
          </a:p>
          <a:p>
            <a:pPr marL="514350" indent="-514350" algn="just">
              <a:buNone/>
            </a:pPr>
            <a:r>
              <a:rPr lang="en-US" b="1" dirty="0">
                <a:latin typeface="Arial" pitchFamily="34" charset="0"/>
                <a:cs typeface="Arial" pitchFamily="34" charset="0"/>
              </a:rPr>
              <a:t> </a:t>
            </a:r>
            <a:r>
              <a:rPr lang="en-US" b="1" dirty="0" smtClean="0">
                <a:latin typeface="Arial" pitchFamily="34" charset="0"/>
                <a:cs typeface="Arial" pitchFamily="34" charset="0"/>
              </a:rPr>
              <a:t>    principal bronchi</a:t>
            </a:r>
            <a:endParaRPr lang="en-US" b="1" dirty="0"/>
          </a:p>
        </p:txBody>
      </p:sp>
      <p:pic>
        <p:nvPicPr>
          <p:cNvPr id="6146" name="Picture 2"/>
          <p:cNvPicPr>
            <a:picLocks noChangeAspect="1" noChangeArrowheads="1"/>
          </p:cNvPicPr>
          <p:nvPr/>
        </p:nvPicPr>
        <p:blipFill>
          <a:blip r:embed="rId2"/>
          <a:srcRect/>
          <a:stretch>
            <a:fillRect/>
          </a:stretch>
        </p:blipFill>
        <p:spPr bwMode="auto">
          <a:xfrm>
            <a:off x="5214942" y="928670"/>
            <a:ext cx="3571868" cy="5319727"/>
          </a:xfrm>
          <a:prstGeom prst="rect">
            <a:avLst/>
          </a:prstGeom>
          <a:noFill/>
          <a:ln w="9525">
            <a:noFill/>
            <a:miter lim="800000"/>
            <a:headEnd/>
            <a:tailEnd/>
          </a:ln>
          <a:effectLst/>
        </p:spPr>
      </p:pic>
      <p:sp>
        <p:nvSpPr>
          <p:cNvPr id="5" name="TextBox 4"/>
          <p:cNvSpPr txBox="1"/>
          <p:nvPr/>
        </p:nvSpPr>
        <p:spPr>
          <a:xfrm>
            <a:off x="4643438" y="6286520"/>
            <a:ext cx="4500562" cy="369332"/>
          </a:xfrm>
          <a:prstGeom prst="rect">
            <a:avLst/>
          </a:prstGeom>
          <a:noFill/>
        </p:spPr>
        <p:txBody>
          <a:bodyPr wrap="square" rtlCol="0">
            <a:spAutoFit/>
          </a:bodyPr>
          <a:lstStyle/>
          <a:p>
            <a:r>
              <a:rPr lang="en-AU" dirty="0" smtClean="0">
                <a:latin typeface="Arial" pitchFamily="34" charset="0"/>
                <a:cs typeface="Arial" pitchFamily="34" charset="0"/>
              </a:rPr>
              <a:t>Main contents of the middle mediastinum</a:t>
            </a:r>
            <a:endParaRPr lang="en-US" dirty="0">
              <a:latin typeface="Arial" pitchFamily="34" charset="0"/>
              <a:cs typeface="Arial" pitchFamily="34" charset="0"/>
            </a:endParaRPr>
          </a:p>
        </p:txBody>
      </p:sp>
      <p:sp>
        <p:nvSpPr>
          <p:cNvPr id="6" name="Slide Number Placeholder 5"/>
          <p:cNvSpPr>
            <a:spLocks noGrp="1"/>
          </p:cNvSpPr>
          <p:nvPr>
            <p:ph type="sldNum" sz="quarter" idx="12"/>
          </p:nvPr>
        </p:nvSpPr>
        <p:spPr/>
        <p:txBody>
          <a:bodyPr/>
          <a:lstStyle/>
          <a:p>
            <a:fld id="{7D608016-3028-48AC-89F9-913D89F81AFA}" type="slidenum">
              <a:rPr lang="en-US" smtClean="0"/>
              <a:pPr/>
              <a:t>22</a:t>
            </a:fld>
            <a:endParaRPr lang="en-US" dirty="0"/>
          </a:p>
        </p:txBody>
      </p:sp>
      <p:sp>
        <p:nvSpPr>
          <p:cNvPr id="7" name="TextBox 6"/>
          <p:cNvSpPr txBox="1"/>
          <p:nvPr/>
        </p:nvSpPr>
        <p:spPr>
          <a:xfrm>
            <a:off x="3929058" y="0"/>
            <a:ext cx="2151551" cy="769441"/>
          </a:xfrm>
          <a:prstGeom prst="rect">
            <a:avLst/>
          </a:prstGeom>
          <a:noFill/>
        </p:spPr>
        <p:txBody>
          <a:bodyPr wrap="square" rtlCol="0">
            <a:spAutoFit/>
          </a:bodyPr>
          <a:lstStyle/>
          <a:p>
            <a:r>
              <a:rPr lang="en-AU" sz="4400" dirty="0" smtClean="0">
                <a:latin typeface="Arial Black" pitchFamily="34" charset="0"/>
              </a:rPr>
              <a:t>Cont’d</a:t>
            </a:r>
            <a:endParaRPr lang="en-US" sz="4400" dirty="0">
              <a:latin typeface="Arial Black"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71480"/>
            <a:ext cx="8229600" cy="1214446"/>
          </a:xfrm>
        </p:spPr>
        <p:txBody>
          <a:bodyPr>
            <a:normAutofit/>
          </a:bodyPr>
          <a:lstStyle/>
          <a:p>
            <a:r>
              <a:rPr lang="en-US" dirty="0" smtClean="0">
                <a:latin typeface="Arial Black" pitchFamily="34" charset="0"/>
              </a:rPr>
              <a:t>Posterior Mediastinum</a:t>
            </a:r>
            <a:endParaRPr lang="en-US" dirty="0">
              <a:latin typeface="Arial Black" pitchFamily="34" charset="0"/>
            </a:endParaRPr>
          </a:p>
        </p:txBody>
      </p:sp>
      <p:sp>
        <p:nvSpPr>
          <p:cNvPr id="3" name="Content Placeholder 2"/>
          <p:cNvSpPr>
            <a:spLocks noGrp="1"/>
          </p:cNvSpPr>
          <p:nvPr>
            <p:ph idx="1"/>
          </p:nvPr>
        </p:nvSpPr>
        <p:spPr>
          <a:xfrm>
            <a:off x="457200" y="1928802"/>
            <a:ext cx="8229600" cy="4197361"/>
          </a:xfrm>
        </p:spPr>
        <p:txBody>
          <a:bodyPr/>
          <a:lstStyle/>
          <a:p>
            <a:pPr algn="just"/>
            <a:r>
              <a:rPr lang="en-AU" dirty="0" smtClean="0">
                <a:latin typeface="Arial" pitchFamily="34" charset="0"/>
                <a:cs typeface="Arial" pitchFamily="34" charset="0"/>
              </a:rPr>
              <a:t>It is the </a:t>
            </a:r>
            <a:r>
              <a:rPr lang="en-AU" b="1" dirty="0" smtClean="0">
                <a:latin typeface="Arial" pitchFamily="34" charset="0"/>
                <a:cs typeface="Arial" pitchFamily="34" charset="0"/>
              </a:rPr>
              <a:t>space</a:t>
            </a:r>
            <a:r>
              <a:rPr lang="en-AU" dirty="0" smtClean="0">
                <a:latin typeface="Arial" pitchFamily="34" charset="0"/>
                <a:cs typeface="Arial" pitchFamily="34" charset="0"/>
              </a:rPr>
              <a:t> located </a:t>
            </a:r>
            <a:r>
              <a:rPr lang="en-AU" b="1" dirty="0" smtClean="0">
                <a:latin typeface="Arial" pitchFamily="34" charset="0"/>
                <a:cs typeface="Arial" pitchFamily="34" charset="0"/>
              </a:rPr>
              <a:t>posterior to the pericardium </a:t>
            </a:r>
            <a:r>
              <a:rPr lang="en-AU" dirty="0" smtClean="0">
                <a:latin typeface="Arial" pitchFamily="34" charset="0"/>
                <a:cs typeface="Arial" pitchFamily="34" charset="0"/>
              </a:rPr>
              <a:t>and to the doomed </a:t>
            </a:r>
            <a:r>
              <a:rPr lang="en-AU" b="1" dirty="0" smtClean="0">
                <a:latin typeface="Arial" pitchFamily="34" charset="0"/>
                <a:cs typeface="Arial" pitchFamily="34" charset="0"/>
              </a:rPr>
              <a:t>upper surface </a:t>
            </a:r>
            <a:r>
              <a:rPr lang="en-AU" dirty="0" smtClean="0">
                <a:latin typeface="Arial" pitchFamily="34" charset="0"/>
                <a:cs typeface="Arial" pitchFamily="34" charset="0"/>
              </a:rPr>
              <a:t>of the </a:t>
            </a:r>
            <a:r>
              <a:rPr lang="en-AU" b="1" dirty="0" smtClean="0">
                <a:latin typeface="Arial" pitchFamily="34" charset="0"/>
                <a:cs typeface="Arial" pitchFamily="34" charset="0"/>
              </a:rPr>
              <a:t>diaphragm</a:t>
            </a:r>
            <a:r>
              <a:rPr lang="en-AU" dirty="0" smtClean="0">
                <a:latin typeface="Arial" pitchFamily="34" charset="0"/>
                <a:cs typeface="Arial" pitchFamily="34" charset="0"/>
              </a:rPr>
              <a:t>. It is continuous directly, via the </a:t>
            </a:r>
            <a:r>
              <a:rPr lang="en-AU" b="1" dirty="0" smtClean="0">
                <a:latin typeface="Arial" pitchFamily="34" charset="0"/>
                <a:cs typeface="Arial" pitchFamily="34" charset="0"/>
              </a:rPr>
              <a:t>posterior part </a:t>
            </a:r>
            <a:r>
              <a:rPr lang="en-AU" dirty="0" smtClean="0">
                <a:latin typeface="Arial" pitchFamily="34" charset="0"/>
                <a:cs typeface="Arial" pitchFamily="34" charset="0"/>
              </a:rPr>
              <a:t>of the </a:t>
            </a:r>
            <a:r>
              <a:rPr lang="en-AU" b="1" dirty="0" smtClean="0">
                <a:latin typeface="Arial" pitchFamily="34" charset="0"/>
                <a:cs typeface="Arial" pitchFamily="34" charset="0"/>
              </a:rPr>
              <a:t>superior mediastinum</a:t>
            </a:r>
            <a:r>
              <a:rPr lang="en-AU" dirty="0" smtClean="0">
                <a:latin typeface="Arial" pitchFamily="34" charset="0"/>
                <a:cs typeface="Arial" pitchFamily="34" charset="0"/>
              </a:rPr>
              <a:t>, with the</a:t>
            </a:r>
            <a:r>
              <a:rPr lang="en-AU" b="1" dirty="0" smtClean="0">
                <a:latin typeface="Arial" pitchFamily="34" charset="0"/>
                <a:cs typeface="Arial" pitchFamily="34" charset="0"/>
              </a:rPr>
              <a:t> tissue </a:t>
            </a:r>
            <a:r>
              <a:rPr lang="en-AU" dirty="0" smtClean="0">
                <a:latin typeface="Arial" pitchFamily="34" charset="0"/>
                <a:cs typeface="Arial" pitchFamily="34" charset="0"/>
              </a:rPr>
              <a:t>spaces </a:t>
            </a:r>
            <a:r>
              <a:rPr lang="en-AU" b="1" dirty="0" smtClean="0">
                <a:latin typeface="Arial" pitchFamily="34" charset="0"/>
                <a:cs typeface="Arial" pitchFamily="34" charset="0"/>
              </a:rPr>
              <a:t>behind </a:t>
            </a:r>
            <a:r>
              <a:rPr lang="en-AU" dirty="0" smtClean="0">
                <a:latin typeface="Arial" pitchFamily="34" charset="0"/>
                <a:cs typeface="Arial" pitchFamily="34" charset="0"/>
              </a:rPr>
              <a:t>the </a:t>
            </a:r>
            <a:r>
              <a:rPr lang="en-AU" b="1" dirty="0" smtClean="0">
                <a:latin typeface="Arial" pitchFamily="34" charset="0"/>
                <a:cs typeface="Arial" pitchFamily="34" charset="0"/>
              </a:rPr>
              <a:t>pretracheal fascia </a:t>
            </a:r>
            <a:r>
              <a:rPr lang="en-AU" dirty="0" smtClean="0">
                <a:latin typeface="Arial" pitchFamily="34" charset="0"/>
                <a:cs typeface="Arial" pitchFamily="34" charset="0"/>
              </a:rPr>
              <a:t>and in </a:t>
            </a:r>
            <a:r>
              <a:rPr lang="en-AU" b="1" dirty="0" smtClean="0">
                <a:latin typeface="Arial" pitchFamily="34" charset="0"/>
                <a:cs typeface="Arial" pitchFamily="34" charset="0"/>
              </a:rPr>
              <a:t>front</a:t>
            </a:r>
            <a:r>
              <a:rPr lang="en-AU" dirty="0" smtClean="0">
                <a:latin typeface="Arial" pitchFamily="34" charset="0"/>
                <a:cs typeface="Arial" pitchFamily="34" charset="0"/>
              </a:rPr>
              <a:t> of the </a:t>
            </a:r>
            <a:r>
              <a:rPr lang="en-AU" b="1" dirty="0" smtClean="0">
                <a:latin typeface="Arial" pitchFamily="34" charset="0"/>
                <a:cs typeface="Arial" pitchFamily="34" charset="0"/>
              </a:rPr>
              <a:t>prevertebral fascia </a:t>
            </a:r>
            <a:r>
              <a:rPr lang="en-AU" dirty="0" smtClean="0">
                <a:latin typeface="Arial" pitchFamily="34" charset="0"/>
                <a:cs typeface="Arial" pitchFamily="34" charset="0"/>
              </a:rPr>
              <a:t>in the </a:t>
            </a:r>
            <a:r>
              <a:rPr lang="en-AU" b="1" dirty="0" smtClean="0">
                <a:latin typeface="Arial" pitchFamily="34" charset="0"/>
                <a:cs typeface="Arial" pitchFamily="34" charset="0"/>
              </a:rPr>
              <a:t>neck</a:t>
            </a:r>
            <a:r>
              <a:rPr lang="en-AU" dirty="0" smtClean="0">
                <a:latin typeface="Arial" pitchFamily="34" charset="0"/>
                <a:cs typeface="Arial" pitchFamily="34" charset="0"/>
              </a:rPr>
              <a:t>.</a:t>
            </a:r>
            <a:endParaRPr lang="en-US"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7D608016-3028-48AC-89F9-913D89F81AFA}" type="slidenum">
              <a:rPr lang="en-US" smtClean="0"/>
              <a:pPr/>
              <a:t>23</a:t>
            </a:fld>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00042"/>
            <a:ext cx="8229600" cy="1000132"/>
          </a:xfrm>
        </p:spPr>
        <p:txBody>
          <a:bodyPr/>
          <a:lstStyle/>
          <a:p>
            <a:r>
              <a:rPr lang="en-US" dirty="0" smtClean="0">
                <a:latin typeface="Arial Black" pitchFamily="34" charset="0"/>
              </a:rPr>
              <a:t>Boundaries</a:t>
            </a:r>
            <a:endParaRPr lang="en-US" dirty="0">
              <a:latin typeface="Arial Black" pitchFamily="34" charset="0"/>
            </a:endParaRPr>
          </a:p>
        </p:txBody>
      </p:sp>
      <p:sp>
        <p:nvSpPr>
          <p:cNvPr id="3" name="Content Placeholder 2"/>
          <p:cNvSpPr>
            <a:spLocks noGrp="1"/>
          </p:cNvSpPr>
          <p:nvPr>
            <p:ph idx="1"/>
          </p:nvPr>
        </p:nvSpPr>
        <p:spPr>
          <a:xfrm>
            <a:off x="285720" y="1500174"/>
            <a:ext cx="8572560" cy="5357826"/>
          </a:xfrm>
        </p:spPr>
        <p:txBody>
          <a:bodyPr>
            <a:noAutofit/>
          </a:bodyPr>
          <a:lstStyle/>
          <a:p>
            <a:pPr algn="just">
              <a:buFont typeface="Wingdings" pitchFamily="2" charset="2"/>
              <a:buChar char="Ø"/>
            </a:pPr>
            <a:r>
              <a:rPr lang="en-AU" b="1" dirty="0" smtClean="0">
                <a:latin typeface="Arial" pitchFamily="34" charset="0"/>
                <a:cs typeface="Arial" pitchFamily="34" charset="0"/>
              </a:rPr>
              <a:t>Anterior</a:t>
            </a:r>
            <a:r>
              <a:rPr lang="en-AU" dirty="0" smtClean="0">
                <a:latin typeface="Arial" pitchFamily="34" charset="0"/>
                <a:cs typeface="Arial" pitchFamily="34" charset="0"/>
              </a:rPr>
              <a:t>: </a:t>
            </a:r>
            <a:r>
              <a:rPr lang="en-AU" b="1" dirty="0" smtClean="0">
                <a:latin typeface="Arial" pitchFamily="34" charset="0"/>
                <a:cs typeface="Arial" pitchFamily="34" charset="0"/>
              </a:rPr>
              <a:t>pericardium</a:t>
            </a:r>
            <a:r>
              <a:rPr lang="en-AU" dirty="0" smtClean="0">
                <a:latin typeface="Arial" pitchFamily="34" charset="0"/>
                <a:cs typeface="Arial" pitchFamily="34" charset="0"/>
              </a:rPr>
              <a:t> and the </a:t>
            </a:r>
            <a:r>
              <a:rPr lang="en-AU" b="1" dirty="0" smtClean="0">
                <a:latin typeface="Arial" pitchFamily="34" charset="0"/>
                <a:cs typeface="Arial" pitchFamily="34" charset="0"/>
              </a:rPr>
              <a:t>sloping fibres </a:t>
            </a:r>
            <a:r>
              <a:rPr lang="en-AU" dirty="0" smtClean="0">
                <a:latin typeface="Arial" pitchFamily="34" charset="0"/>
                <a:cs typeface="Arial" pitchFamily="34" charset="0"/>
              </a:rPr>
              <a:t>of the </a:t>
            </a:r>
            <a:r>
              <a:rPr lang="en-AU" b="1" dirty="0" smtClean="0">
                <a:latin typeface="Arial" pitchFamily="34" charset="0"/>
                <a:cs typeface="Arial" pitchFamily="34" charset="0"/>
              </a:rPr>
              <a:t>diaphragm</a:t>
            </a:r>
          </a:p>
          <a:p>
            <a:pPr algn="just">
              <a:buFont typeface="Wingdings" pitchFamily="2" charset="2"/>
              <a:buChar char="Ø"/>
            </a:pPr>
            <a:r>
              <a:rPr lang="en-AU" b="1" dirty="0" smtClean="0">
                <a:latin typeface="Arial" pitchFamily="34" charset="0"/>
                <a:cs typeface="Arial" pitchFamily="34" charset="0"/>
              </a:rPr>
              <a:t>Posterior</a:t>
            </a:r>
            <a:r>
              <a:rPr lang="en-AU" dirty="0" smtClean="0">
                <a:latin typeface="Arial" pitchFamily="34" charset="0"/>
                <a:cs typeface="Arial" pitchFamily="34" charset="0"/>
              </a:rPr>
              <a:t>: </a:t>
            </a:r>
            <a:r>
              <a:rPr lang="en-AU" b="1" dirty="0" smtClean="0">
                <a:latin typeface="Arial" pitchFamily="34" charset="0"/>
                <a:cs typeface="Arial" pitchFamily="34" charset="0"/>
              </a:rPr>
              <a:t>thoracic vertebrae </a:t>
            </a:r>
            <a:r>
              <a:rPr lang="en-AU" dirty="0" smtClean="0">
                <a:latin typeface="Arial" pitchFamily="34" charset="0"/>
                <a:cs typeface="Arial" pitchFamily="34" charset="0"/>
              </a:rPr>
              <a:t>(5-12). </a:t>
            </a:r>
          </a:p>
          <a:p>
            <a:pPr algn="just">
              <a:buFont typeface="Wingdings" pitchFamily="2" charset="2"/>
              <a:buChar char="Ø"/>
            </a:pPr>
            <a:r>
              <a:rPr lang="en-AU" b="1" dirty="0" smtClean="0">
                <a:latin typeface="Arial" pitchFamily="34" charset="0"/>
                <a:cs typeface="Arial" pitchFamily="34" charset="0"/>
              </a:rPr>
              <a:t>Superior</a:t>
            </a:r>
            <a:r>
              <a:rPr lang="en-AU" dirty="0" smtClean="0">
                <a:latin typeface="Arial" pitchFamily="34" charset="0"/>
                <a:cs typeface="Arial" pitchFamily="34" charset="0"/>
              </a:rPr>
              <a:t>: Transverse thoracic plane separating </a:t>
            </a:r>
            <a:r>
              <a:rPr lang="en-AU" b="1" dirty="0" smtClean="0">
                <a:latin typeface="Arial" pitchFamily="34" charset="0"/>
                <a:cs typeface="Arial" pitchFamily="34" charset="0"/>
              </a:rPr>
              <a:t>superior mediastinum </a:t>
            </a:r>
            <a:r>
              <a:rPr lang="en-AU" dirty="0" smtClean="0">
                <a:latin typeface="Arial" pitchFamily="34" charset="0"/>
                <a:cs typeface="Arial" pitchFamily="34" charset="0"/>
              </a:rPr>
              <a:t>from the </a:t>
            </a:r>
            <a:r>
              <a:rPr lang="en-AU" b="1" dirty="0" smtClean="0">
                <a:latin typeface="Arial" pitchFamily="34" charset="0"/>
                <a:cs typeface="Arial" pitchFamily="34" charset="0"/>
              </a:rPr>
              <a:t>inferior mediastinum</a:t>
            </a:r>
          </a:p>
          <a:p>
            <a:pPr algn="just">
              <a:buFont typeface="Wingdings" pitchFamily="2" charset="2"/>
              <a:buChar char="Ø"/>
            </a:pPr>
            <a:r>
              <a:rPr lang="en-AU" b="1" dirty="0" smtClean="0">
                <a:latin typeface="Arial" pitchFamily="34" charset="0"/>
                <a:cs typeface="Arial" pitchFamily="34" charset="0"/>
              </a:rPr>
              <a:t>Inferior</a:t>
            </a:r>
            <a:r>
              <a:rPr lang="en-AU" dirty="0" smtClean="0">
                <a:latin typeface="Arial" pitchFamily="34" charset="0"/>
                <a:cs typeface="Arial" pitchFamily="34" charset="0"/>
              </a:rPr>
              <a:t>: </a:t>
            </a:r>
            <a:r>
              <a:rPr lang="en-AU" b="1" dirty="0" smtClean="0">
                <a:latin typeface="Arial" pitchFamily="34" charset="0"/>
                <a:cs typeface="Arial" pitchFamily="34" charset="0"/>
              </a:rPr>
              <a:t>Diaphragm</a:t>
            </a:r>
          </a:p>
          <a:p>
            <a:pPr algn="just">
              <a:buFont typeface="Wingdings" pitchFamily="2" charset="2"/>
              <a:buChar char="Ø"/>
            </a:pPr>
            <a:r>
              <a:rPr lang="en-AU" b="1" dirty="0" smtClean="0">
                <a:latin typeface="Arial" pitchFamily="34" charset="0"/>
                <a:cs typeface="Arial" pitchFamily="34" charset="0"/>
              </a:rPr>
              <a:t>On each side </a:t>
            </a:r>
            <a:r>
              <a:rPr lang="en-AU" dirty="0" smtClean="0">
                <a:latin typeface="Arial" pitchFamily="34" charset="0"/>
                <a:cs typeface="Arial" pitchFamily="34" charset="0"/>
              </a:rPr>
              <a:t>(lateral): </a:t>
            </a:r>
            <a:r>
              <a:rPr lang="en-AU" b="1" dirty="0" smtClean="0">
                <a:latin typeface="Arial" pitchFamily="34" charset="0"/>
                <a:cs typeface="Arial" pitchFamily="34" charset="0"/>
              </a:rPr>
              <a:t>Mediastinal pleura</a:t>
            </a:r>
            <a:endParaRPr lang="en-US" b="1"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7D608016-3028-48AC-89F9-913D89F81AFA}" type="slidenum">
              <a:rPr lang="en-US" smtClean="0"/>
              <a:pPr/>
              <a:t>24</a:t>
            </a:fld>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39784"/>
          </a:xfrm>
        </p:spPr>
        <p:txBody>
          <a:bodyPr/>
          <a:lstStyle/>
          <a:p>
            <a:r>
              <a:rPr lang="en-AU" dirty="0" smtClean="0">
                <a:latin typeface="Arial Black" pitchFamily="34" charset="0"/>
              </a:rPr>
              <a:t>Contents</a:t>
            </a:r>
            <a:endParaRPr lang="en-US" dirty="0">
              <a:latin typeface="Arial Black" pitchFamily="34" charset="0"/>
            </a:endParaRPr>
          </a:p>
        </p:txBody>
      </p:sp>
      <p:sp>
        <p:nvSpPr>
          <p:cNvPr id="3" name="Content Placeholder 2"/>
          <p:cNvSpPr>
            <a:spLocks noGrp="1"/>
          </p:cNvSpPr>
          <p:nvPr>
            <p:ph idx="1"/>
          </p:nvPr>
        </p:nvSpPr>
        <p:spPr>
          <a:xfrm>
            <a:off x="457200" y="1142984"/>
            <a:ext cx="8229600" cy="5500726"/>
          </a:xfrm>
        </p:spPr>
        <p:txBody>
          <a:bodyPr>
            <a:normAutofit lnSpcReduction="10000"/>
          </a:bodyPr>
          <a:lstStyle/>
          <a:p>
            <a:pPr algn="just"/>
            <a:r>
              <a:rPr lang="en-AU" b="1" dirty="0" smtClean="0">
                <a:latin typeface="Arial" pitchFamily="34" charset="0"/>
                <a:cs typeface="Arial" pitchFamily="34" charset="0"/>
              </a:rPr>
              <a:t>Esophagus</a:t>
            </a:r>
          </a:p>
          <a:p>
            <a:pPr algn="just"/>
            <a:r>
              <a:rPr lang="en-AU" b="1" dirty="0" smtClean="0">
                <a:latin typeface="Arial" pitchFamily="34" charset="0"/>
                <a:cs typeface="Arial" pitchFamily="34" charset="0"/>
              </a:rPr>
              <a:t>Thoracic duct</a:t>
            </a:r>
          </a:p>
          <a:p>
            <a:pPr algn="just"/>
            <a:r>
              <a:rPr lang="en-AU" b="1" dirty="0" smtClean="0">
                <a:latin typeface="Arial" pitchFamily="34" charset="0"/>
                <a:cs typeface="Arial" pitchFamily="34" charset="0"/>
              </a:rPr>
              <a:t>Descending (thoracic) aorta </a:t>
            </a:r>
            <a:r>
              <a:rPr lang="en-AU" dirty="0" smtClean="0">
                <a:latin typeface="Arial" pitchFamily="34" charset="0"/>
                <a:cs typeface="Arial" pitchFamily="34" charset="0"/>
              </a:rPr>
              <a:t>and its branches</a:t>
            </a:r>
          </a:p>
          <a:p>
            <a:pPr algn="just"/>
            <a:r>
              <a:rPr lang="en-AU" b="1" dirty="0" smtClean="0">
                <a:latin typeface="Arial" pitchFamily="34" charset="0"/>
                <a:cs typeface="Arial" pitchFamily="34" charset="0"/>
              </a:rPr>
              <a:t>Azygos</a:t>
            </a:r>
            <a:r>
              <a:rPr lang="en-AU" dirty="0" smtClean="0">
                <a:latin typeface="Arial" pitchFamily="34" charset="0"/>
                <a:cs typeface="Arial" pitchFamily="34" charset="0"/>
              </a:rPr>
              <a:t>, </a:t>
            </a:r>
            <a:r>
              <a:rPr lang="en-AU" b="1" dirty="0" smtClean="0">
                <a:latin typeface="Arial" pitchFamily="34" charset="0"/>
                <a:cs typeface="Arial" pitchFamily="34" charset="0"/>
              </a:rPr>
              <a:t>hemiazygos</a:t>
            </a:r>
            <a:r>
              <a:rPr lang="en-AU" dirty="0" smtClean="0">
                <a:latin typeface="Arial" pitchFamily="34" charset="0"/>
                <a:cs typeface="Arial" pitchFamily="34" charset="0"/>
              </a:rPr>
              <a:t>, and </a:t>
            </a:r>
            <a:r>
              <a:rPr lang="en-AU" b="1" dirty="0" smtClean="0">
                <a:latin typeface="Arial" pitchFamily="34" charset="0"/>
                <a:cs typeface="Arial" pitchFamily="34" charset="0"/>
              </a:rPr>
              <a:t>accessory hemiazygos veins</a:t>
            </a:r>
          </a:p>
          <a:p>
            <a:pPr algn="just"/>
            <a:r>
              <a:rPr lang="en-AU" b="1" dirty="0" smtClean="0">
                <a:latin typeface="Arial" pitchFamily="34" charset="0"/>
                <a:cs typeface="Arial" pitchFamily="34" charset="0"/>
              </a:rPr>
              <a:t>Vagus nerve</a:t>
            </a:r>
          </a:p>
          <a:p>
            <a:pPr algn="just"/>
            <a:r>
              <a:rPr lang="en-AU" b="1" dirty="0" smtClean="0">
                <a:latin typeface="Arial" pitchFamily="34" charset="0"/>
                <a:cs typeface="Arial" pitchFamily="34" charset="0"/>
              </a:rPr>
              <a:t>Sympathetic trunks </a:t>
            </a:r>
            <a:r>
              <a:rPr lang="en-AU" dirty="0" smtClean="0">
                <a:latin typeface="Arial" pitchFamily="34" charset="0"/>
                <a:cs typeface="Arial" pitchFamily="34" charset="0"/>
              </a:rPr>
              <a:t>and </a:t>
            </a:r>
            <a:r>
              <a:rPr lang="en-AU" b="1" dirty="0" smtClean="0">
                <a:latin typeface="Arial" pitchFamily="34" charset="0"/>
                <a:cs typeface="Arial" pitchFamily="34" charset="0"/>
              </a:rPr>
              <a:t>splanchnic nerves</a:t>
            </a:r>
          </a:p>
          <a:p>
            <a:pPr algn="just"/>
            <a:r>
              <a:rPr lang="en-AU" b="1" dirty="0" smtClean="0">
                <a:latin typeface="Arial" pitchFamily="34" charset="0"/>
                <a:cs typeface="Arial" pitchFamily="34" charset="0"/>
              </a:rPr>
              <a:t>Posterior mediastinal lymph nodes</a:t>
            </a:r>
            <a:endParaRPr lang="en-US" b="1"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7D608016-3028-48AC-89F9-913D89F81AFA}" type="slidenum">
              <a:rPr lang="en-US" smtClean="0"/>
              <a:pPr/>
              <a:t>25</a:t>
            </a:fld>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85852" y="2357430"/>
            <a:ext cx="7400948" cy="3768733"/>
          </a:xfrm>
        </p:spPr>
        <p:txBody>
          <a:bodyPr>
            <a:normAutofit/>
          </a:bodyPr>
          <a:lstStyle/>
          <a:p>
            <a:pPr>
              <a:buNone/>
            </a:pPr>
            <a:r>
              <a:rPr lang="en-AU" sz="4400" dirty="0" smtClean="0">
                <a:latin typeface="Arial Black" pitchFamily="34" charset="0"/>
              </a:rPr>
              <a:t>APPLIED ANATOMY</a:t>
            </a:r>
            <a:endParaRPr lang="en-US" sz="4400" dirty="0"/>
          </a:p>
        </p:txBody>
      </p:sp>
      <p:sp>
        <p:nvSpPr>
          <p:cNvPr id="4" name="Slide Number Placeholder 3"/>
          <p:cNvSpPr>
            <a:spLocks noGrp="1"/>
          </p:cNvSpPr>
          <p:nvPr>
            <p:ph type="sldNum" sz="quarter" idx="12"/>
          </p:nvPr>
        </p:nvSpPr>
        <p:spPr/>
        <p:txBody>
          <a:bodyPr/>
          <a:lstStyle/>
          <a:p>
            <a:fld id="{7D608016-3028-48AC-89F9-913D89F81AFA}" type="slidenum">
              <a:rPr lang="en-US" smtClean="0"/>
              <a:pPr/>
              <a:t>26</a:t>
            </a:fld>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42918"/>
            <a:ext cx="8229600" cy="6215082"/>
          </a:xfrm>
        </p:spPr>
        <p:txBody>
          <a:bodyPr>
            <a:normAutofit fontScale="25000" lnSpcReduction="20000"/>
          </a:bodyPr>
          <a:lstStyle/>
          <a:p>
            <a:pPr algn="just"/>
            <a:r>
              <a:rPr lang="en-AU" sz="12800" b="1" dirty="0" smtClean="0">
                <a:latin typeface="Arial" pitchFamily="34" charset="0"/>
                <a:cs typeface="Arial" pitchFamily="34" charset="0"/>
              </a:rPr>
              <a:t>Mediastinitis:</a:t>
            </a:r>
            <a:r>
              <a:rPr lang="en-AU" sz="12800" dirty="0" smtClean="0">
                <a:latin typeface="Arial" pitchFamily="34" charset="0"/>
                <a:cs typeface="Arial" pitchFamily="34" charset="0"/>
              </a:rPr>
              <a:t> It is the </a:t>
            </a:r>
            <a:r>
              <a:rPr lang="en-AU" sz="12800" b="1" dirty="0" smtClean="0">
                <a:latin typeface="Arial" pitchFamily="34" charset="0"/>
                <a:cs typeface="Arial" pitchFamily="34" charset="0"/>
              </a:rPr>
              <a:t>inflammation</a:t>
            </a:r>
            <a:r>
              <a:rPr lang="en-AU" sz="12800" dirty="0" smtClean="0">
                <a:latin typeface="Arial" pitchFamily="34" charset="0"/>
                <a:cs typeface="Arial" pitchFamily="34" charset="0"/>
              </a:rPr>
              <a:t> of the </a:t>
            </a:r>
            <a:r>
              <a:rPr lang="en-AU" sz="12800" b="1" dirty="0" smtClean="0">
                <a:latin typeface="Arial" pitchFamily="34" charset="0"/>
                <a:cs typeface="Arial" pitchFamily="34" charset="0"/>
              </a:rPr>
              <a:t>loose connective tissue </a:t>
            </a:r>
            <a:r>
              <a:rPr lang="en-AU" sz="12800" dirty="0" smtClean="0">
                <a:latin typeface="Arial" pitchFamily="34" charset="0"/>
                <a:cs typeface="Arial" pitchFamily="34" charset="0"/>
              </a:rPr>
              <a:t>of the </a:t>
            </a:r>
            <a:r>
              <a:rPr lang="en-AU" sz="12800" b="1" dirty="0" smtClean="0">
                <a:latin typeface="Arial" pitchFamily="34" charset="0"/>
                <a:cs typeface="Arial" pitchFamily="34" charset="0"/>
              </a:rPr>
              <a:t>mediastinum</a:t>
            </a:r>
            <a:r>
              <a:rPr lang="en-AU" sz="12800" dirty="0" smtClean="0">
                <a:latin typeface="Arial" pitchFamily="34" charset="0"/>
                <a:cs typeface="Arial" pitchFamily="34" charset="0"/>
              </a:rPr>
              <a:t>. The </a:t>
            </a:r>
            <a:r>
              <a:rPr lang="en-AU" sz="12800" b="1" dirty="0" smtClean="0">
                <a:latin typeface="Arial" pitchFamily="34" charset="0"/>
                <a:cs typeface="Arial" pitchFamily="34" charset="0"/>
              </a:rPr>
              <a:t>fascial spaces of the neck </a:t>
            </a:r>
            <a:r>
              <a:rPr lang="en-AU" sz="12800" dirty="0" smtClean="0">
                <a:latin typeface="Arial" pitchFamily="34" charset="0"/>
                <a:cs typeface="Arial" pitchFamily="34" charset="0"/>
              </a:rPr>
              <a:t>(e.g., </a:t>
            </a:r>
            <a:r>
              <a:rPr lang="en-AU" sz="12800" b="1" dirty="0" smtClean="0">
                <a:latin typeface="Arial" pitchFamily="34" charset="0"/>
                <a:cs typeface="Arial" pitchFamily="34" charset="0"/>
              </a:rPr>
              <a:t>pretracheal</a:t>
            </a:r>
            <a:r>
              <a:rPr lang="en-AU" sz="12800" dirty="0" smtClean="0">
                <a:latin typeface="Arial" pitchFamily="34" charset="0"/>
                <a:cs typeface="Arial" pitchFamily="34" charset="0"/>
              </a:rPr>
              <a:t> and </a:t>
            </a:r>
            <a:r>
              <a:rPr lang="en-AU" sz="12800" b="1" dirty="0" smtClean="0">
                <a:latin typeface="Arial" pitchFamily="34" charset="0"/>
                <a:cs typeface="Arial" pitchFamily="34" charset="0"/>
              </a:rPr>
              <a:t>retropharyngeal spaces</a:t>
            </a:r>
            <a:r>
              <a:rPr lang="en-AU" sz="12800" dirty="0" smtClean="0">
                <a:latin typeface="Arial" pitchFamily="34" charset="0"/>
                <a:cs typeface="Arial" pitchFamily="34" charset="0"/>
              </a:rPr>
              <a:t>) extend below into the </a:t>
            </a:r>
            <a:r>
              <a:rPr lang="en-AU" sz="12800" b="1" dirty="0" smtClean="0">
                <a:latin typeface="Arial" pitchFamily="34" charset="0"/>
                <a:cs typeface="Arial" pitchFamily="34" charset="0"/>
              </a:rPr>
              <a:t>mediastinum</a:t>
            </a:r>
            <a:r>
              <a:rPr lang="en-AU" sz="12800" dirty="0" smtClean="0">
                <a:latin typeface="Arial" pitchFamily="34" charset="0"/>
                <a:cs typeface="Arial" pitchFamily="34" charset="0"/>
              </a:rPr>
              <a:t> within the </a:t>
            </a:r>
            <a:r>
              <a:rPr lang="en-AU" sz="12800" b="1" dirty="0" smtClean="0">
                <a:latin typeface="Arial" pitchFamily="34" charset="0"/>
                <a:cs typeface="Arial" pitchFamily="34" charset="0"/>
              </a:rPr>
              <a:t>thoracic cavity</a:t>
            </a:r>
            <a:r>
              <a:rPr lang="en-AU" sz="12800" dirty="0" smtClean="0">
                <a:latin typeface="Arial" pitchFamily="34" charset="0"/>
                <a:cs typeface="Arial" pitchFamily="34" charset="0"/>
              </a:rPr>
              <a:t>. Therefore, </a:t>
            </a:r>
            <a:r>
              <a:rPr lang="en-AU" sz="12800" b="1" dirty="0" smtClean="0">
                <a:latin typeface="Arial" pitchFamily="34" charset="0"/>
                <a:cs typeface="Arial" pitchFamily="34" charset="0"/>
              </a:rPr>
              <a:t>deep infections </a:t>
            </a:r>
            <a:r>
              <a:rPr lang="en-AU" sz="12800" dirty="0" smtClean="0">
                <a:latin typeface="Arial" pitchFamily="34" charset="0"/>
                <a:cs typeface="Arial" pitchFamily="34" charset="0"/>
              </a:rPr>
              <a:t>of the </a:t>
            </a:r>
            <a:r>
              <a:rPr lang="en-AU" sz="12800" b="1" dirty="0" smtClean="0">
                <a:latin typeface="Arial" pitchFamily="34" charset="0"/>
                <a:cs typeface="Arial" pitchFamily="34" charset="0"/>
              </a:rPr>
              <a:t>neck</a:t>
            </a:r>
            <a:r>
              <a:rPr lang="en-AU" sz="12800" dirty="0" smtClean="0">
                <a:latin typeface="Arial" pitchFamily="34" charset="0"/>
                <a:cs typeface="Arial" pitchFamily="34" charset="0"/>
              </a:rPr>
              <a:t> may readily spread into </a:t>
            </a:r>
            <a:r>
              <a:rPr lang="en-AU" sz="12800" b="1" dirty="0" smtClean="0">
                <a:latin typeface="Arial" pitchFamily="34" charset="0"/>
                <a:cs typeface="Arial" pitchFamily="34" charset="0"/>
              </a:rPr>
              <a:t>thoracic cavity </a:t>
            </a:r>
            <a:r>
              <a:rPr lang="en-AU" sz="12800" dirty="0" smtClean="0">
                <a:latin typeface="Arial" pitchFamily="34" charset="0"/>
                <a:cs typeface="Arial" pitchFamily="34" charset="0"/>
              </a:rPr>
              <a:t>causing </a:t>
            </a:r>
            <a:r>
              <a:rPr lang="en-AU" sz="12800" b="1" dirty="0" smtClean="0">
                <a:latin typeface="Arial" pitchFamily="34" charset="0"/>
                <a:cs typeface="Arial" pitchFamily="34" charset="0"/>
              </a:rPr>
              <a:t>mediastinitis</a:t>
            </a:r>
            <a:r>
              <a:rPr lang="en-AU" sz="12800" dirty="0" smtClean="0">
                <a:latin typeface="Arial" pitchFamily="34" charset="0"/>
                <a:cs typeface="Arial" pitchFamily="34" charset="0"/>
              </a:rPr>
              <a:t>.</a:t>
            </a:r>
          </a:p>
          <a:p>
            <a:pPr algn="just"/>
            <a:r>
              <a:rPr lang="en-AU" sz="12800" b="1" dirty="0" smtClean="0">
                <a:latin typeface="Arial" pitchFamily="34" charset="0"/>
                <a:cs typeface="Arial" pitchFamily="34" charset="0"/>
              </a:rPr>
              <a:t>Mediastinal syndrome:</a:t>
            </a:r>
            <a:r>
              <a:rPr lang="en-AU" sz="12800" dirty="0" smtClean="0">
                <a:latin typeface="Arial" pitchFamily="34" charset="0"/>
                <a:cs typeface="Arial" pitchFamily="34" charset="0"/>
              </a:rPr>
              <a:t> The </a:t>
            </a:r>
            <a:r>
              <a:rPr lang="en-AU" sz="12800" b="1" dirty="0" smtClean="0">
                <a:latin typeface="Arial" pitchFamily="34" charset="0"/>
                <a:cs typeface="Arial" pitchFamily="34" charset="0"/>
              </a:rPr>
              <a:t>compression</a:t>
            </a:r>
            <a:r>
              <a:rPr lang="en-AU" sz="12800" dirty="0" smtClean="0">
                <a:latin typeface="Arial" pitchFamily="34" charset="0"/>
                <a:cs typeface="Arial" pitchFamily="34" charset="0"/>
              </a:rPr>
              <a:t> of </a:t>
            </a:r>
            <a:r>
              <a:rPr lang="en-AU" sz="12800" b="1" dirty="0" smtClean="0">
                <a:latin typeface="Arial" pitchFamily="34" charset="0"/>
                <a:cs typeface="Arial" pitchFamily="34" charset="0"/>
              </a:rPr>
              <a:t>mediastinal structures </a:t>
            </a:r>
            <a:r>
              <a:rPr lang="en-AU" sz="12800" dirty="0" smtClean="0">
                <a:latin typeface="Arial" pitchFamily="34" charset="0"/>
                <a:cs typeface="Arial" pitchFamily="34" charset="0"/>
              </a:rPr>
              <a:t>by </a:t>
            </a:r>
            <a:r>
              <a:rPr lang="en-AU" sz="12800" b="1" dirty="0" smtClean="0">
                <a:latin typeface="Arial" pitchFamily="34" charset="0"/>
                <a:cs typeface="Arial" pitchFamily="34" charset="0"/>
              </a:rPr>
              <a:t>any growth </a:t>
            </a:r>
            <a:r>
              <a:rPr lang="en-AU" sz="12800" dirty="0" smtClean="0">
                <a:latin typeface="Arial" pitchFamily="34" charset="0"/>
                <a:cs typeface="Arial" pitchFamily="34" charset="0"/>
              </a:rPr>
              <a:t>such as </a:t>
            </a:r>
            <a:r>
              <a:rPr lang="en-AU" sz="12800" b="1" dirty="0" smtClean="0">
                <a:latin typeface="Arial" pitchFamily="34" charset="0"/>
                <a:cs typeface="Arial" pitchFamily="34" charset="0"/>
              </a:rPr>
              <a:t>tumour</a:t>
            </a:r>
            <a:r>
              <a:rPr lang="en-AU" sz="12800" dirty="0" smtClean="0">
                <a:latin typeface="Arial" pitchFamily="34" charset="0"/>
                <a:cs typeface="Arial" pitchFamily="34" charset="0"/>
              </a:rPr>
              <a:t> or </a:t>
            </a:r>
            <a:r>
              <a:rPr lang="en-AU" sz="12800" b="1" dirty="0" smtClean="0">
                <a:latin typeface="Arial" pitchFamily="34" charset="0"/>
                <a:cs typeface="Arial" pitchFamily="34" charset="0"/>
              </a:rPr>
              <a:t>cyst</a:t>
            </a:r>
            <a:r>
              <a:rPr lang="en-AU" sz="12800" dirty="0" smtClean="0">
                <a:latin typeface="Arial" pitchFamily="34" charset="0"/>
                <a:cs typeface="Arial" pitchFamily="34" charset="0"/>
              </a:rPr>
              <a:t> gives rise to a </a:t>
            </a:r>
            <a:r>
              <a:rPr lang="en-AU" sz="12800" b="1" dirty="0" smtClean="0">
                <a:latin typeface="Arial" pitchFamily="34" charset="0"/>
                <a:cs typeface="Arial" pitchFamily="34" charset="0"/>
              </a:rPr>
              <a:t>group of signs </a:t>
            </a:r>
            <a:r>
              <a:rPr lang="en-AU" sz="12800" dirty="0" smtClean="0">
                <a:latin typeface="Arial" pitchFamily="34" charset="0"/>
                <a:cs typeface="Arial" pitchFamily="34" charset="0"/>
              </a:rPr>
              <a:t>and </a:t>
            </a:r>
            <a:r>
              <a:rPr lang="en-AU" sz="12800" b="1" dirty="0" smtClean="0">
                <a:latin typeface="Arial" pitchFamily="34" charset="0"/>
                <a:cs typeface="Arial" pitchFamily="34" charset="0"/>
              </a:rPr>
              <a:t>symptoms</a:t>
            </a:r>
            <a:r>
              <a:rPr lang="en-AU" sz="12800" dirty="0" smtClean="0">
                <a:latin typeface="Arial" pitchFamily="34" charset="0"/>
                <a:cs typeface="Arial" pitchFamily="34" charset="0"/>
              </a:rPr>
              <a:t>, producing a </a:t>
            </a:r>
            <a:r>
              <a:rPr lang="en-AU" sz="12800" b="1" dirty="0" smtClean="0">
                <a:latin typeface="Arial" pitchFamily="34" charset="0"/>
                <a:cs typeface="Arial" pitchFamily="34" charset="0"/>
              </a:rPr>
              <a:t>clinical condition</a:t>
            </a:r>
            <a:r>
              <a:rPr lang="en-AU" dirty="0" smtClean="0"/>
              <a:t>.</a:t>
            </a:r>
            <a:endParaRPr lang="en-US" b="1" dirty="0"/>
          </a:p>
        </p:txBody>
      </p:sp>
      <p:sp>
        <p:nvSpPr>
          <p:cNvPr id="4" name="Slide Number Placeholder 3"/>
          <p:cNvSpPr>
            <a:spLocks noGrp="1"/>
          </p:cNvSpPr>
          <p:nvPr>
            <p:ph type="sldNum" sz="quarter" idx="12"/>
          </p:nvPr>
        </p:nvSpPr>
        <p:spPr/>
        <p:txBody>
          <a:bodyPr/>
          <a:lstStyle/>
          <a:p>
            <a:fld id="{7D608016-3028-48AC-89F9-913D89F81AFA}" type="slidenum">
              <a:rPr lang="en-US" smtClean="0"/>
              <a:pPr/>
              <a:t>27</a:t>
            </a:fld>
            <a:endParaRPr lang="en-US"/>
          </a:p>
        </p:txBody>
      </p:sp>
      <p:sp>
        <p:nvSpPr>
          <p:cNvPr id="5" name="TextBox 4"/>
          <p:cNvSpPr txBox="1"/>
          <p:nvPr/>
        </p:nvSpPr>
        <p:spPr>
          <a:xfrm>
            <a:off x="3571868" y="0"/>
            <a:ext cx="2508741" cy="769441"/>
          </a:xfrm>
          <a:prstGeom prst="rect">
            <a:avLst/>
          </a:prstGeom>
          <a:noFill/>
        </p:spPr>
        <p:txBody>
          <a:bodyPr wrap="square" rtlCol="0">
            <a:spAutoFit/>
          </a:bodyPr>
          <a:lstStyle/>
          <a:p>
            <a:r>
              <a:rPr lang="en-AU" sz="4400" dirty="0" smtClean="0">
                <a:latin typeface="Arial Black" pitchFamily="34" charset="0"/>
              </a:rPr>
              <a:t>Cont’d</a:t>
            </a:r>
            <a:endParaRPr lang="en-US" sz="4400" dirty="0">
              <a:latin typeface="Arial Black"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14356"/>
            <a:ext cx="8229600" cy="5929354"/>
          </a:xfrm>
        </p:spPr>
        <p:txBody>
          <a:bodyPr>
            <a:noAutofit/>
          </a:bodyPr>
          <a:lstStyle/>
          <a:p>
            <a:pPr algn="just">
              <a:buFont typeface="Wingdings" pitchFamily="2" charset="2"/>
              <a:buChar char="§"/>
            </a:pPr>
            <a:r>
              <a:rPr lang="en-AU" b="1" dirty="0" smtClean="0">
                <a:latin typeface="Arial" pitchFamily="34" charset="0"/>
                <a:cs typeface="Arial" pitchFamily="34" charset="0"/>
              </a:rPr>
              <a:t>Subcutaneous emphysema at the root of neck</a:t>
            </a:r>
            <a:r>
              <a:rPr lang="en-AU" dirty="0" smtClean="0">
                <a:latin typeface="Arial" pitchFamily="34" charset="0"/>
                <a:cs typeface="Arial" pitchFamily="34" charset="0"/>
              </a:rPr>
              <a:t>: The </a:t>
            </a:r>
            <a:r>
              <a:rPr lang="en-AU" b="1" dirty="0" smtClean="0">
                <a:latin typeface="Arial" pitchFamily="34" charset="0"/>
                <a:cs typeface="Arial" pitchFamily="34" charset="0"/>
              </a:rPr>
              <a:t>structures</a:t>
            </a:r>
            <a:r>
              <a:rPr lang="en-AU" dirty="0" smtClean="0">
                <a:latin typeface="Arial" pitchFamily="34" charset="0"/>
                <a:cs typeface="Arial" pitchFamily="34" charset="0"/>
              </a:rPr>
              <a:t> that make up </a:t>
            </a:r>
            <a:r>
              <a:rPr lang="en-AU" b="1" dirty="0" smtClean="0">
                <a:latin typeface="Arial" pitchFamily="34" charset="0"/>
                <a:cs typeface="Arial" pitchFamily="34" charset="0"/>
              </a:rPr>
              <a:t>mediastinum</a:t>
            </a:r>
            <a:r>
              <a:rPr lang="en-AU" dirty="0" smtClean="0">
                <a:latin typeface="Arial" pitchFamily="34" charset="0"/>
                <a:cs typeface="Arial" pitchFamily="34" charset="0"/>
              </a:rPr>
              <a:t> are </a:t>
            </a:r>
            <a:r>
              <a:rPr lang="en-AU" b="1" dirty="0" smtClean="0">
                <a:latin typeface="Arial" pitchFamily="34" charset="0"/>
                <a:cs typeface="Arial" pitchFamily="34" charset="0"/>
              </a:rPr>
              <a:t>embedded</a:t>
            </a:r>
            <a:r>
              <a:rPr lang="en-AU" dirty="0" smtClean="0">
                <a:latin typeface="Arial" pitchFamily="34" charset="0"/>
                <a:cs typeface="Arial" pitchFamily="34" charset="0"/>
              </a:rPr>
              <a:t> in the </a:t>
            </a:r>
            <a:r>
              <a:rPr lang="en-AU" b="1" dirty="0" smtClean="0">
                <a:latin typeface="Arial" pitchFamily="34" charset="0"/>
                <a:cs typeface="Arial" pitchFamily="34" charset="0"/>
              </a:rPr>
              <a:t>loose connective tissue </a:t>
            </a:r>
            <a:r>
              <a:rPr lang="en-AU" dirty="0" smtClean="0">
                <a:latin typeface="Arial" pitchFamily="34" charset="0"/>
                <a:cs typeface="Arial" pitchFamily="34" charset="0"/>
              </a:rPr>
              <a:t>which is </a:t>
            </a:r>
            <a:r>
              <a:rPr lang="en-AU" b="1" dirty="0" smtClean="0">
                <a:latin typeface="Arial" pitchFamily="34" charset="0"/>
                <a:cs typeface="Arial" pitchFamily="34" charset="0"/>
              </a:rPr>
              <a:t>continuous</a:t>
            </a:r>
            <a:r>
              <a:rPr lang="en-AU" dirty="0" smtClean="0">
                <a:latin typeface="Arial" pitchFamily="34" charset="0"/>
                <a:cs typeface="Arial" pitchFamily="34" charset="0"/>
              </a:rPr>
              <a:t> with the </a:t>
            </a:r>
            <a:r>
              <a:rPr lang="en-AU" b="1" dirty="0" smtClean="0">
                <a:latin typeface="Arial" pitchFamily="34" charset="0"/>
                <a:cs typeface="Arial" pitchFamily="34" charset="0"/>
              </a:rPr>
              <a:t>loose connective tissue </a:t>
            </a:r>
            <a:r>
              <a:rPr lang="en-AU" dirty="0" smtClean="0">
                <a:latin typeface="Arial" pitchFamily="34" charset="0"/>
                <a:cs typeface="Arial" pitchFamily="34" charset="0"/>
              </a:rPr>
              <a:t>of the </a:t>
            </a:r>
            <a:r>
              <a:rPr lang="en-AU" b="1" dirty="0" smtClean="0">
                <a:latin typeface="Arial" pitchFamily="34" charset="0"/>
                <a:cs typeface="Arial" pitchFamily="34" charset="0"/>
              </a:rPr>
              <a:t>root</a:t>
            </a:r>
            <a:r>
              <a:rPr lang="en-AU" dirty="0" smtClean="0">
                <a:latin typeface="Arial" pitchFamily="34" charset="0"/>
                <a:cs typeface="Arial" pitchFamily="34" charset="0"/>
              </a:rPr>
              <a:t> of the </a:t>
            </a:r>
            <a:r>
              <a:rPr lang="en-AU" b="1" dirty="0" smtClean="0">
                <a:latin typeface="Arial" pitchFamily="34" charset="0"/>
                <a:cs typeface="Arial" pitchFamily="34" charset="0"/>
              </a:rPr>
              <a:t>neck</a:t>
            </a:r>
            <a:r>
              <a:rPr lang="en-AU" dirty="0" smtClean="0">
                <a:latin typeface="Arial" pitchFamily="34" charset="0"/>
                <a:cs typeface="Arial" pitchFamily="34" charset="0"/>
              </a:rPr>
              <a:t>. Therefore, in </a:t>
            </a:r>
            <a:r>
              <a:rPr lang="en-AU" b="1" dirty="0" smtClean="0">
                <a:latin typeface="Arial" pitchFamily="34" charset="0"/>
                <a:cs typeface="Arial" pitchFamily="34" charset="0"/>
              </a:rPr>
              <a:t>oesophageal perforations </a:t>
            </a:r>
            <a:r>
              <a:rPr lang="en-AU" dirty="0" smtClean="0">
                <a:latin typeface="Arial" pitchFamily="34" charset="0"/>
                <a:cs typeface="Arial" pitchFamily="34" charset="0"/>
              </a:rPr>
              <a:t>caused by </a:t>
            </a:r>
            <a:r>
              <a:rPr lang="en-AU" b="1" dirty="0" smtClean="0">
                <a:latin typeface="Arial" pitchFamily="34" charset="0"/>
                <a:cs typeface="Arial" pitchFamily="34" charset="0"/>
              </a:rPr>
              <a:t>penetrating wounds</a:t>
            </a:r>
            <a:r>
              <a:rPr lang="en-AU" dirty="0" smtClean="0">
                <a:latin typeface="Arial" pitchFamily="34" charset="0"/>
                <a:cs typeface="Arial" pitchFamily="34" charset="0"/>
              </a:rPr>
              <a:t>, </a:t>
            </a:r>
            <a:r>
              <a:rPr lang="en-AU" b="1" dirty="0" smtClean="0">
                <a:latin typeface="Arial" pitchFamily="34" charset="0"/>
                <a:cs typeface="Arial" pitchFamily="34" charset="0"/>
              </a:rPr>
              <a:t>air escapes </a:t>
            </a:r>
            <a:r>
              <a:rPr lang="en-AU" dirty="0" smtClean="0">
                <a:latin typeface="Arial" pitchFamily="34" charset="0"/>
                <a:cs typeface="Arial" pitchFamily="34" charset="0"/>
              </a:rPr>
              <a:t>into the </a:t>
            </a:r>
            <a:r>
              <a:rPr lang="en-AU" b="1" dirty="0" smtClean="0">
                <a:latin typeface="Arial" pitchFamily="34" charset="0"/>
                <a:cs typeface="Arial" pitchFamily="34" charset="0"/>
              </a:rPr>
              <a:t>connective tissue </a:t>
            </a:r>
            <a:r>
              <a:rPr lang="en-AU" dirty="0" smtClean="0">
                <a:latin typeface="Arial" pitchFamily="34" charset="0"/>
                <a:cs typeface="Arial" pitchFamily="34" charset="0"/>
              </a:rPr>
              <a:t>spaces of </a:t>
            </a:r>
            <a:r>
              <a:rPr lang="en-AU" b="1" dirty="0" smtClean="0">
                <a:latin typeface="Arial" pitchFamily="34" charset="0"/>
                <a:cs typeface="Arial" pitchFamily="34" charset="0"/>
              </a:rPr>
              <a:t>mediastinum</a:t>
            </a:r>
            <a:r>
              <a:rPr lang="en-AU" dirty="0" smtClean="0">
                <a:latin typeface="Arial" pitchFamily="34" charset="0"/>
                <a:cs typeface="Arial" pitchFamily="34" charset="0"/>
              </a:rPr>
              <a:t> and may ascend beneath the </a:t>
            </a:r>
            <a:r>
              <a:rPr lang="en-AU" b="1" dirty="0" smtClean="0">
                <a:latin typeface="Arial" pitchFamily="34" charset="0"/>
                <a:cs typeface="Arial" pitchFamily="34" charset="0"/>
              </a:rPr>
              <a:t>fascia</a:t>
            </a:r>
            <a:r>
              <a:rPr lang="en-AU" dirty="0" smtClean="0">
                <a:latin typeface="Arial" pitchFamily="34" charset="0"/>
                <a:cs typeface="Arial" pitchFamily="34" charset="0"/>
              </a:rPr>
              <a:t> to the </a:t>
            </a:r>
            <a:r>
              <a:rPr lang="en-AU" b="1" dirty="0" smtClean="0">
                <a:latin typeface="Arial" pitchFamily="34" charset="0"/>
                <a:cs typeface="Arial" pitchFamily="34" charset="0"/>
              </a:rPr>
              <a:t>root of the neck </a:t>
            </a:r>
            <a:r>
              <a:rPr lang="en-AU" dirty="0" smtClean="0">
                <a:latin typeface="Arial" pitchFamily="34" charset="0"/>
                <a:cs typeface="Arial" pitchFamily="34" charset="0"/>
              </a:rPr>
              <a:t>producing </a:t>
            </a:r>
            <a:r>
              <a:rPr lang="en-AU" b="1" dirty="0" smtClean="0">
                <a:latin typeface="Arial" pitchFamily="34" charset="0"/>
                <a:cs typeface="Arial" pitchFamily="34" charset="0"/>
              </a:rPr>
              <a:t>subcutaneous emphysema.</a:t>
            </a:r>
            <a:endParaRPr lang="en-US" b="1"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7D608016-3028-48AC-89F9-913D89F81AFA}" type="slidenum">
              <a:rPr lang="en-US" smtClean="0"/>
              <a:pPr/>
              <a:t>28</a:t>
            </a:fld>
            <a:endParaRPr lang="en-US" dirty="0"/>
          </a:p>
        </p:txBody>
      </p:sp>
      <p:sp>
        <p:nvSpPr>
          <p:cNvPr id="5" name="TextBox 4"/>
          <p:cNvSpPr txBox="1"/>
          <p:nvPr/>
        </p:nvSpPr>
        <p:spPr>
          <a:xfrm>
            <a:off x="3500430" y="214290"/>
            <a:ext cx="2222989" cy="1046440"/>
          </a:xfrm>
          <a:prstGeom prst="rect">
            <a:avLst/>
          </a:prstGeom>
          <a:noFill/>
        </p:spPr>
        <p:txBody>
          <a:bodyPr wrap="square" rtlCol="0">
            <a:spAutoFit/>
          </a:bodyPr>
          <a:lstStyle/>
          <a:p>
            <a:r>
              <a:rPr lang="en-AU" sz="4400" dirty="0" smtClean="0">
                <a:latin typeface="Arial Black" pitchFamily="34" charset="0"/>
              </a:rPr>
              <a:t>Cont’d</a:t>
            </a:r>
            <a:endParaRPr lang="en-US" sz="4400" dirty="0" smtClean="0">
              <a:latin typeface="Arial Black" pitchFamily="34" charset="0"/>
            </a:endParaRPr>
          </a:p>
          <a:p>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20" y="357166"/>
            <a:ext cx="8401080" cy="6500834"/>
          </a:xfrm>
        </p:spPr>
        <p:txBody>
          <a:bodyPr>
            <a:noAutofit/>
          </a:bodyPr>
          <a:lstStyle/>
          <a:p>
            <a:pPr algn="just">
              <a:buFont typeface="Wingdings" pitchFamily="2" charset="2"/>
              <a:buChar char="§"/>
            </a:pPr>
            <a:r>
              <a:rPr lang="en-US" b="1" dirty="0" smtClean="0">
                <a:latin typeface="Arial" pitchFamily="34" charset="0"/>
                <a:cs typeface="Arial" pitchFamily="34" charset="0"/>
              </a:rPr>
              <a:t>Potential dead space in superior mediastinum</a:t>
            </a:r>
            <a:r>
              <a:rPr lang="en-US" dirty="0" smtClean="0">
                <a:latin typeface="Arial" pitchFamily="34" charset="0"/>
                <a:cs typeface="Arial" pitchFamily="34" charset="0"/>
              </a:rPr>
              <a:t>: </a:t>
            </a:r>
            <a:r>
              <a:rPr lang="en-AU" dirty="0" smtClean="0">
                <a:latin typeface="Arial" pitchFamily="34" charset="0"/>
                <a:cs typeface="Arial" pitchFamily="34" charset="0"/>
              </a:rPr>
              <a:t>In superior mediastinum, all large veins (</a:t>
            </a:r>
            <a:r>
              <a:rPr lang="en-AU" b="1" dirty="0" smtClean="0">
                <a:latin typeface="Arial" pitchFamily="34" charset="0"/>
                <a:cs typeface="Arial" pitchFamily="34" charset="0"/>
              </a:rPr>
              <a:t>superior vena cava</a:t>
            </a:r>
            <a:r>
              <a:rPr lang="en-AU" dirty="0" smtClean="0">
                <a:latin typeface="Arial" pitchFamily="34" charset="0"/>
                <a:cs typeface="Arial" pitchFamily="34" charset="0"/>
              </a:rPr>
              <a:t>, </a:t>
            </a:r>
            <a:r>
              <a:rPr lang="en-AU" b="1" dirty="0" smtClean="0">
                <a:latin typeface="Arial" pitchFamily="34" charset="0"/>
                <a:cs typeface="Arial" pitchFamily="34" charset="0"/>
              </a:rPr>
              <a:t>right</a:t>
            </a:r>
            <a:r>
              <a:rPr lang="en-AU" dirty="0" smtClean="0">
                <a:latin typeface="Arial" pitchFamily="34" charset="0"/>
                <a:cs typeface="Arial" pitchFamily="34" charset="0"/>
              </a:rPr>
              <a:t> and </a:t>
            </a:r>
            <a:r>
              <a:rPr lang="en-AU" b="1" dirty="0" smtClean="0">
                <a:latin typeface="Arial" pitchFamily="34" charset="0"/>
                <a:cs typeface="Arial" pitchFamily="34" charset="0"/>
              </a:rPr>
              <a:t>left brachiocephalic veins</a:t>
            </a:r>
            <a:r>
              <a:rPr lang="en-AU" dirty="0" smtClean="0">
                <a:latin typeface="Arial" pitchFamily="34" charset="0"/>
                <a:cs typeface="Arial" pitchFamily="34" charset="0"/>
              </a:rPr>
              <a:t>) are on the</a:t>
            </a:r>
            <a:r>
              <a:rPr lang="en-AU" b="1" dirty="0" smtClean="0">
                <a:latin typeface="Arial" pitchFamily="34" charset="0"/>
                <a:cs typeface="Arial" pitchFamily="34" charset="0"/>
              </a:rPr>
              <a:t> right side </a:t>
            </a:r>
            <a:r>
              <a:rPr lang="en-AU" dirty="0" smtClean="0">
                <a:latin typeface="Arial" pitchFamily="34" charset="0"/>
                <a:cs typeface="Arial" pitchFamily="34" charset="0"/>
              </a:rPr>
              <a:t>and all the </a:t>
            </a:r>
            <a:r>
              <a:rPr lang="en-AU" b="1" dirty="0" smtClean="0">
                <a:latin typeface="Arial" pitchFamily="34" charset="0"/>
                <a:cs typeface="Arial" pitchFamily="34" charset="0"/>
              </a:rPr>
              <a:t>large arteries </a:t>
            </a:r>
            <a:r>
              <a:rPr lang="en-AU" dirty="0" smtClean="0">
                <a:latin typeface="Arial" pitchFamily="34" charset="0"/>
                <a:cs typeface="Arial" pitchFamily="34" charset="0"/>
              </a:rPr>
              <a:t>(</a:t>
            </a:r>
            <a:r>
              <a:rPr lang="en-AU" b="1" dirty="0" smtClean="0">
                <a:latin typeface="Arial" pitchFamily="34" charset="0"/>
                <a:cs typeface="Arial" pitchFamily="34" charset="0"/>
              </a:rPr>
              <a:t>arch of aorta </a:t>
            </a:r>
            <a:r>
              <a:rPr lang="en-AU" dirty="0" smtClean="0">
                <a:latin typeface="Arial" pitchFamily="34" charset="0"/>
                <a:cs typeface="Arial" pitchFamily="34" charset="0"/>
              </a:rPr>
              <a:t>and </a:t>
            </a:r>
            <a:r>
              <a:rPr lang="en-AU" b="1" dirty="0" smtClean="0">
                <a:latin typeface="Arial" pitchFamily="34" charset="0"/>
                <a:cs typeface="Arial" pitchFamily="34" charset="0"/>
              </a:rPr>
              <a:t>its three branches</a:t>
            </a:r>
            <a:r>
              <a:rPr lang="en-AU" dirty="0" smtClean="0">
                <a:latin typeface="Arial" pitchFamily="34" charset="0"/>
                <a:cs typeface="Arial" pitchFamily="34" charset="0"/>
              </a:rPr>
              <a:t>) are on the </a:t>
            </a:r>
            <a:r>
              <a:rPr lang="en-AU" b="1" dirty="0" smtClean="0">
                <a:latin typeface="Arial" pitchFamily="34" charset="0"/>
                <a:cs typeface="Arial" pitchFamily="34" charset="0"/>
              </a:rPr>
              <a:t>left side</a:t>
            </a:r>
            <a:r>
              <a:rPr lang="en-AU" dirty="0" smtClean="0">
                <a:latin typeface="Arial" pitchFamily="34" charset="0"/>
                <a:cs typeface="Arial" pitchFamily="34" charset="0"/>
              </a:rPr>
              <a:t>. Consequently, </a:t>
            </a:r>
            <a:r>
              <a:rPr lang="en-AU" b="1" dirty="0" smtClean="0">
                <a:latin typeface="Arial" pitchFamily="34" charset="0"/>
                <a:cs typeface="Arial" pitchFamily="34" charset="0"/>
              </a:rPr>
              <a:t>during increased blood flow</a:t>
            </a:r>
            <a:r>
              <a:rPr lang="en-AU" dirty="0" smtClean="0">
                <a:latin typeface="Arial" pitchFamily="34" charset="0"/>
                <a:cs typeface="Arial" pitchFamily="34" charset="0"/>
              </a:rPr>
              <a:t>, the </a:t>
            </a:r>
            <a:r>
              <a:rPr lang="en-AU" b="1" dirty="0" smtClean="0">
                <a:latin typeface="Arial" pitchFamily="34" charset="0"/>
                <a:cs typeface="Arial" pitchFamily="34" charset="0"/>
              </a:rPr>
              <a:t>large veins expand enormously </a:t>
            </a:r>
            <a:r>
              <a:rPr lang="en-AU" dirty="0" smtClean="0">
                <a:latin typeface="Arial" pitchFamily="34" charset="0"/>
                <a:cs typeface="Arial" pitchFamily="34" charset="0"/>
              </a:rPr>
              <a:t>while the </a:t>
            </a:r>
            <a:r>
              <a:rPr lang="en-AU" b="1" dirty="0" smtClean="0">
                <a:latin typeface="Arial" pitchFamily="34" charset="0"/>
                <a:cs typeface="Arial" pitchFamily="34" charset="0"/>
              </a:rPr>
              <a:t>large arteries do not expand at all</a:t>
            </a:r>
            <a:r>
              <a:rPr lang="en-AU" dirty="0" smtClean="0">
                <a:latin typeface="Arial" pitchFamily="34" charset="0"/>
                <a:cs typeface="Arial" pitchFamily="34" charset="0"/>
              </a:rPr>
              <a:t>. This is because </a:t>
            </a:r>
            <a:r>
              <a:rPr lang="en-AU" b="1" dirty="0" smtClean="0">
                <a:latin typeface="Arial" pitchFamily="34" charset="0"/>
                <a:cs typeface="Arial" pitchFamily="34" charset="0"/>
              </a:rPr>
              <a:t>there is sufficient dead space </a:t>
            </a:r>
            <a:r>
              <a:rPr lang="en-AU" dirty="0" smtClean="0">
                <a:latin typeface="Arial" pitchFamily="34" charset="0"/>
                <a:cs typeface="Arial" pitchFamily="34" charset="0"/>
              </a:rPr>
              <a:t>on the </a:t>
            </a:r>
            <a:r>
              <a:rPr lang="en-AU" b="1" dirty="0" smtClean="0">
                <a:latin typeface="Arial" pitchFamily="34" charset="0"/>
                <a:cs typeface="Arial" pitchFamily="34" charset="0"/>
              </a:rPr>
              <a:t>right side</a:t>
            </a:r>
            <a:r>
              <a:rPr lang="en-AU" dirty="0" smtClean="0">
                <a:latin typeface="Arial" pitchFamily="34" charset="0"/>
                <a:cs typeface="Arial" pitchFamily="34" charset="0"/>
              </a:rPr>
              <a:t>. It is into this space that </a:t>
            </a:r>
            <a:r>
              <a:rPr lang="en-AU" b="1" dirty="0" err="1" smtClean="0">
                <a:latin typeface="Arial" pitchFamily="34" charset="0"/>
                <a:cs typeface="Arial" pitchFamily="34" charset="0"/>
              </a:rPr>
              <a:t>tumors</a:t>
            </a:r>
            <a:r>
              <a:rPr lang="en-AU" b="1" dirty="0" smtClean="0">
                <a:latin typeface="Arial" pitchFamily="34" charset="0"/>
                <a:cs typeface="Arial" pitchFamily="34" charset="0"/>
              </a:rPr>
              <a:t> of mediastinum </a:t>
            </a:r>
            <a:r>
              <a:rPr lang="en-AU" dirty="0" smtClean="0">
                <a:latin typeface="Arial" pitchFamily="34" charset="0"/>
                <a:cs typeface="Arial" pitchFamily="34" charset="0"/>
              </a:rPr>
              <a:t>tend to project.</a:t>
            </a:r>
            <a:endParaRPr lang="en-US"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7D608016-3028-48AC-89F9-913D89F81AFA}" type="slidenum">
              <a:rPr lang="en-US" smtClean="0"/>
              <a:pPr/>
              <a:t>29</a:t>
            </a:fld>
            <a:endParaRPr lang="en-US" dirty="0"/>
          </a:p>
        </p:txBody>
      </p:sp>
      <p:sp>
        <p:nvSpPr>
          <p:cNvPr id="5" name="TextBox 4"/>
          <p:cNvSpPr txBox="1"/>
          <p:nvPr/>
        </p:nvSpPr>
        <p:spPr>
          <a:xfrm>
            <a:off x="3786182" y="-214338"/>
            <a:ext cx="2714644" cy="769441"/>
          </a:xfrm>
          <a:prstGeom prst="rect">
            <a:avLst/>
          </a:prstGeom>
          <a:noFill/>
        </p:spPr>
        <p:txBody>
          <a:bodyPr wrap="square" rtlCol="0">
            <a:spAutoFit/>
          </a:bodyPr>
          <a:lstStyle/>
          <a:p>
            <a:r>
              <a:rPr lang="en-AU" sz="4400" dirty="0" smtClean="0">
                <a:latin typeface="Arial Black" pitchFamily="34" charset="0"/>
              </a:rPr>
              <a:t>Cont’d</a:t>
            </a:r>
            <a:endParaRPr lang="en-US" sz="4400" dirty="0">
              <a:latin typeface="Arial Black" pitchFamily="3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4282" y="928670"/>
            <a:ext cx="8715436" cy="5929330"/>
          </a:xfrm>
        </p:spPr>
        <p:txBody>
          <a:bodyPr>
            <a:normAutofit/>
          </a:bodyPr>
          <a:lstStyle/>
          <a:p>
            <a:pPr algn="just">
              <a:buFont typeface="Wingdings" pitchFamily="2" charset="2"/>
              <a:buChar char="§"/>
            </a:pPr>
            <a:r>
              <a:rPr lang="en-AU" b="1" dirty="0" smtClean="0">
                <a:latin typeface="Arial" pitchFamily="34" charset="0"/>
                <a:cs typeface="Arial" pitchFamily="34" charset="0"/>
              </a:rPr>
              <a:t>Widening of the mediastinum</a:t>
            </a:r>
            <a:r>
              <a:rPr lang="en-AU" dirty="0" smtClean="0">
                <a:latin typeface="Arial" pitchFamily="34" charset="0"/>
                <a:cs typeface="Arial" pitchFamily="34" charset="0"/>
              </a:rPr>
              <a:t>: The </a:t>
            </a:r>
            <a:r>
              <a:rPr lang="en-AU" b="1" dirty="0" smtClean="0">
                <a:latin typeface="Arial" pitchFamily="34" charset="0"/>
                <a:cs typeface="Arial" pitchFamily="34" charset="0"/>
              </a:rPr>
              <a:t>widening</a:t>
            </a:r>
            <a:r>
              <a:rPr lang="en-AU" dirty="0" smtClean="0">
                <a:latin typeface="Arial" pitchFamily="34" charset="0"/>
                <a:cs typeface="Arial" pitchFamily="34" charset="0"/>
              </a:rPr>
              <a:t> of the </a:t>
            </a:r>
            <a:r>
              <a:rPr lang="en-AU" b="1" dirty="0" smtClean="0">
                <a:latin typeface="Arial" pitchFamily="34" charset="0"/>
                <a:cs typeface="Arial" pitchFamily="34" charset="0"/>
              </a:rPr>
              <a:t>mediastinum</a:t>
            </a:r>
            <a:r>
              <a:rPr lang="en-AU" dirty="0" smtClean="0">
                <a:latin typeface="Arial" pitchFamily="34" charset="0"/>
                <a:cs typeface="Arial" pitchFamily="34" charset="0"/>
              </a:rPr>
              <a:t> is often observed in </a:t>
            </a:r>
            <a:r>
              <a:rPr lang="en-AU" b="1" dirty="0" smtClean="0">
                <a:latin typeface="Arial" pitchFamily="34" charset="0"/>
                <a:cs typeface="Arial" pitchFamily="34" charset="0"/>
              </a:rPr>
              <a:t>chest radiographs</a:t>
            </a:r>
            <a:r>
              <a:rPr lang="en-AU" dirty="0" smtClean="0">
                <a:latin typeface="Arial" pitchFamily="34" charset="0"/>
                <a:cs typeface="Arial" pitchFamily="34" charset="0"/>
              </a:rPr>
              <a:t>. It can occur due to a </a:t>
            </a:r>
            <a:r>
              <a:rPr lang="en-AU" b="1" dirty="0" smtClean="0">
                <a:latin typeface="Arial" pitchFamily="34" charset="0"/>
                <a:cs typeface="Arial" pitchFamily="34" charset="0"/>
              </a:rPr>
              <a:t>certain</a:t>
            </a:r>
            <a:r>
              <a:rPr lang="en-AU" dirty="0" smtClean="0">
                <a:latin typeface="Arial" pitchFamily="34" charset="0"/>
                <a:cs typeface="Arial" pitchFamily="34" charset="0"/>
              </a:rPr>
              <a:t> </a:t>
            </a:r>
            <a:r>
              <a:rPr lang="en-AU" b="1" dirty="0" smtClean="0">
                <a:latin typeface="Arial" pitchFamily="34" charset="0"/>
                <a:cs typeface="Arial" pitchFamily="34" charset="0"/>
              </a:rPr>
              <a:t>number of factors</a:t>
            </a:r>
            <a:r>
              <a:rPr lang="en-AU" dirty="0" smtClean="0">
                <a:latin typeface="Arial" pitchFamily="34" charset="0"/>
                <a:cs typeface="Arial" pitchFamily="34" charset="0"/>
              </a:rPr>
              <a:t>, such as</a:t>
            </a:r>
          </a:p>
          <a:p>
            <a:pPr algn="just">
              <a:buFont typeface="Wingdings" pitchFamily="2" charset="2"/>
              <a:buChar char="§"/>
            </a:pPr>
            <a:r>
              <a:rPr lang="en-AU" b="1" dirty="0" smtClean="0">
                <a:latin typeface="Arial" pitchFamily="34" charset="0"/>
                <a:cs typeface="Arial" pitchFamily="34" charset="0"/>
              </a:rPr>
              <a:t>Haemorrhage</a:t>
            </a:r>
            <a:r>
              <a:rPr lang="en-AU" dirty="0" smtClean="0">
                <a:latin typeface="Arial" pitchFamily="34" charset="0"/>
                <a:cs typeface="Arial" pitchFamily="34" charset="0"/>
              </a:rPr>
              <a:t> into the </a:t>
            </a:r>
            <a:r>
              <a:rPr lang="en-AU" b="1" dirty="0" smtClean="0">
                <a:latin typeface="Arial" pitchFamily="34" charset="0"/>
                <a:cs typeface="Arial" pitchFamily="34" charset="0"/>
              </a:rPr>
              <a:t>mediastinum</a:t>
            </a:r>
            <a:r>
              <a:rPr lang="en-AU" dirty="0" smtClean="0">
                <a:latin typeface="Arial" pitchFamily="34" charset="0"/>
                <a:cs typeface="Arial" pitchFamily="34" charset="0"/>
              </a:rPr>
              <a:t> from the </a:t>
            </a:r>
            <a:r>
              <a:rPr lang="en-AU" b="1" dirty="0" smtClean="0">
                <a:latin typeface="Arial" pitchFamily="34" charset="0"/>
                <a:cs typeface="Arial" pitchFamily="34" charset="0"/>
              </a:rPr>
              <a:t>lacerated great vessels </a:t>
            </a:r>
            <a:r>
              <a:rPr lang="en-AU" dirty="0" smtClean="0">
                <a:latin typeface="Arial" pitchFamily="34" charset="0"/>
                <a:cs typeface="Arial" pitchFamily="34" charset="0"/>
              </a:rPr>
              <a:t>(aorta, SVC) </a:t>
            </a:r>
            <a:r>
              <a:rPr lang="en-AU" b="1" dirty="0" smtClean="0">
                <a:latin typeface="Arial" pitchFamily="34" charset="0"/>
                <a:cs typeface="Arial" pitchFamily="34" charset="0"/>
              </a:rPr>
              <a:t>following trauma</a:t>
            </a:r>
            <a:r>
              <a:rPr lang="en-AU" dirty="0" smtClean="0">
                <a:latin typeface="Arial" pitchFamily="34" charset="0"/>
                <a:cs typeface="Arial" pitchFamily="34" charset="0"/>
              </a:rPr>
              <a:t>, e.g </a:t>
            </a:r>
            <a:r>
              <a:rPr lang="en-AU" b="1" dirty="0" smtClean="0">
                <a:latin typeface="Arial" pitchFamily="34" charset="0"/>
                <a:cs typeface="Arial" pitchFamily="34" charset="0"/>
              </a:rPr>
              <a:t>head on collision</a:t>
            </a:r>
            <a:r>
              <a:rPr lang="en-AU" dirty="0" smtClean="0">
                <a:latin typeface="Arial" pitchFamily="34" charset="0"/>
                <a:cs typeface="Arial" pitchFamily="34" charset="0"/>
              </a:rPr>
              <a:t>.</a:t>
            </a:r>
          </a:p>
          <a:p>
            <a:pPr algn="just">
              <a:buFont typeface="Wingdings" pitchFamily="2" charset="2"/>
              <a:buChar char="§"/>
            </a:pPr>
            <a:r>
              <a:rPr lang="en-AU" b="1" dirty="0" smtClean="0">
                <a:latin typeface="Arial" pitchFamily="34" charset="0"/>
                <a:cs typeface="Arial" pitchFamily="34" charset="0"/>
              </a:rPr>
              <a:t>Enlargement</a:t>
            </a:r>
            <a:r>
              <a:rPr lang="en-AU" dirty="0" smtClean="0">
                <a:latin typeface="Arial" pitchFamily="34" charset="0"/>
                <a:cs typeface="Arial" pitchFamily="34" charset="0"/>
              </a:rPr>
              <a:t> (hypertrophy) of the </a:t>
            </a:r>
            <a:r>
              <a:rPr lang="en-AU" b="1" dirty="0" smtClean="0">
                <a:latin typeface="Arial" pitchFamily="34" charset="0"/>
                <a:cs typeface="Arial" pitchFamily="34" charset="0"/>
              </a:rPr>
              <a:t>heart</a:t>
            </a:r>
            <a:r>
              <a:rPr lang="en-AU" dirty="0" smtClean="0">
                <a:latin typeface="Arial" pitchFamily="34" charset="0"/>
                <a:cs typeface="Arial" pitchFamily="34" charset="0"/>
              </a:rPr>
              <a:t> due to </a:t>
            </a:r>
            <a:r>
              <a:rPr lang="en-AU" b="1" dirty="0" smtClean="0">
                <a:latin typeface="Arial" pitchFamily="34" charset="0"/>
                <a:cs typeface="Arial" pitchFamily="34" charset="0"/>
              </a:rPr>
              <a:t>congestive heart failure </a:t>
            </a:r>
            <a:r>
              <a:rPr lang="en-AU" dirty="0" smtClean="0">
                <a:latin typeface="Arial" pitchFamily="34" charset="0"/>
                <a:cs typeface="Arial" pitchFamily="34" charset="0"/>
              </a:rPr>
              <a:t>(CHF).It is the </a:t>
            </a:r>
            <a:r>
              <a:rPr lang="en-AU" b="1" dirty="0" smtClean="0">
                <a:latin typeface="Arial" pitchFamily="34" charset="0"/>
                <a:cs typeface="Arial" pitchFamily="34" charset="0"/>
              </a:rPr>
              <a:t>common cause </a:t>
            </a:r>
            <a:r>
              <a:rPr lang="en-AU" dirty="0" smtClean="0">
                <a:latin typeface="Arial" pitchFamily="34" charset="0"/>
                <a:cs typeface="Arial" pitchFamily="34" charset="0"/>
              </a:rPr>
              <a:t>of </a:t>
            </a:r>
            <a:r>
              <a:rPr lang="en-AU" b="1" dirty="0" smtClean="0">
                <a:latin typeface="Arial" pitchFamily="34" charset="0"/>
                <a:cs typeface="Arial" pitchFamily="34" charset="0"/>
              </a:rPr>
              <a:t>widening</a:t>
            </a:r>
            <a:r>
              <a:rPr lang="en-AU" dirty="0" smtClean="0">
                <a:latin typeface="Arial" pitchFamily="34" charset="0"/>
                <a:cs typeface="Arial" pitchFamily="34" charset="0"/>
              </a:rPr>
              <a:t> of </a:t>
            </a:r>
            <a:r>
              <a:rPr lang="en-AU" b="1" dirty="0" smtClean="0">
                <a:latin typeface="Arial" pitchFamily="34" charset="0"/>
                <a:cs typeface="Arial" pitchFamily="34" charset="0"/>
              </a:rPr>
              <a:t>inferior mediastinum</a:t>
            </a:r>
            <a:r>
              <a:rPr lang="en-AU" dirty="0" smtClean="0">
                <a:latin typeface="Arial" pitchFamily="34" charset="0"/>
                <a:cs typeface="Arial" pitchFamily="34" charset="0"/>
              </a:rPr>
              <a:t>.</a:t>
            </a:r>
            <a:endParaRPr lang="en-US"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7D608016-3028-48AC-89F9-913D89F81AFA}" type="slidenum">
              <a:rPr lang="en-US" smtClean="0"/>
              <a:pPr/>
              <a:t>30</a:t>
            </a:fld>
            <a:endParaRPr lang="en-US"/>
          </a:p>
        </p:txBody>
      </p:sp>
      <p:sp>
        <p:nvSpPr>
          <p:cNvPr id="5" name="TextBox 4"/>
          <p:cNvSpPr txBox="1"/>
          <p:nvPr/>
        </p:nvSpPr>
        <p:spPr>
          <a:xfrm>
            <a:off x="3643306" y="214290"/>
            <a:ext cx="2151551" cy="769441"/>
          </a:xfrm>
          <a:prstGeom prst="rect">
            <a:avLst/>
          </a:prstGeom>
          <a:noFill/>
        </p:spPr>
        <p:txBody>
          <a:bodyPr wrap="square" rtlCol="0">
            <a:spAutoFit/>
          </a:bodyPr>
          <a:lstStyle/>
          <a:p>
            <a:r>
              <a:rPr lang="en-AU" sz="4400" dirty="0" smtClean="0">
                <a:latin typeface="Arial Black" pitchFamily="34" charset="0"/>
              </a:rPr>
              <a:t>Cont’d</a:t>
            </a:r>
            <a:endParaRPr lang="en-US" sz="4400" dirty="0">
              <a:latin typeface="Arial Black" pitchFamily="3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00108"/>
            <a:ext cx="8229600" cy="5500726"/>
          </a:xfrm>
        </p:spPr>
        <p:txBody>
          <a:bodyPr>
            <a:noAutofit/>
          </a:bodyPr>
          <a:lstStyle/>
          <a:p>
            <a:pPr algn="just">
              <a:buFont typeface="Wingdings" pitchFamily="2" charset="2"/>
              <a:buChar char="§"/>
            </a:pPr>
            <a:r>
              <a:rPr lang="en-AU" b="1" dirty="0" smtClean="0">
                <a:latin typeface="Arial" pitchFamily="34" charset="0"/>
                <a:cs typeface="Arial" pitchFamily="34" charset="0"/>
              </a:rPr>
              <a:t>Mediastinal shift</a:t>
            </a:r>
            <a:r>
              <a:rPr lang="en-AU" dirty="0" smtClean="0">
                <a:latin typeface="Arial" pitchFamily="34" charset="0"/>
                <a:cs typeface="Arial" pitchFamily="34" charset="0"/>
              </a:rPr>
              <a:t>: The </a:t>
            </a:r>
            <a:r>
              <a:rPr lang="en-AU" b="1" dirty="0" smtClean="0">
                <a:latin typeface="Arial" pitchFamily="34" charset="0"/>
                <a:cs typeface="Arial" pitchFamily="34" charset="0"/>
              </a:rPr>
              <a:t>mediastinal shift </a:t>
            </a:r>
            <a:r>
              <a:rPr lang="en-AU" dirty="0" smtClean="0">
                <a:latin typeface="Arial" pitchFamily="34" charset="0"/>
                <a:cs typeface="Arial" pitchFamily="34" charset="0"/>
              </a:rPr>
              <a:t>is common in </a:t>
            </a:r>
            <a:r>
              <a:rPr lang="en-AU" b="1" dirty="0" smtClean="0">
                <a:latin typeface="Arial" pitchFamily="34" charset="0"/>
                <a:cs typeface="Arial" pitchFamily="34" charset="0"/>
              </a:rPr>
              <a:t>lung</a:t>
            </a:r>
            <a:r>
              <a:rPr lang="en-AU" dirty="0" smtClean="0">
                <a:latin typeface="Arial" pitchFamily="34" charset="0"/>
                <a:cs typeface="Arial" pitchFamily="34" charset="0"/>
              </a:rPr>
              <a:t> and </a:t>
            </a:r>
            <a:r>
              <a:rPr lang="en-AU" b="1" dirty="0" smtClean="0">
                <a:latin typeface="Arial" pitchFamily="34" charset="0"/>
                <a:cs typeface="Arial" pitchFamily="34" charset="0"/>
              </a:rPr>
              <a:t>pleural diseases</a:t>
            </a:r>
            <a:r>
              <a:rPr lang="en-AU" dirty="0" smtClean="0">
                <a:latin typeface="Arial" pitchFamily="34" charset="0"/>
                <a:cs typeface="Arial" pitchFamily="34" charset="0"/>
              </a:rPr>
              <a:t>. The </a:t>
            </a:r>
            <a:r>
              <a:rPr lang="en-AU" b="1" dirty="0" smtClean="0">
                <a:latin typeface="Arial" pitchFamily="34" charset="0"/>
                <a:cs typeface="Arial" pitchFamily="34" charset="0"/>
              </a:rPr>
              <a:t>mediastinum shifts </a:t>
            </a:r>
            <a:r>
              <a:rPr lang="en-AU" dirty="0" smtClean="0">
                <a:latin typeface="Arial" pitchFamily="34" charset="0"/>
                <a:cs typeface="Arial" pitchFamily="34" charset="0"/>
              </a:rPr>
              <a:t>to the </a:t>
            </a:r>
            <a:r>
              <a:rPr lang="en-AU" b="1" dirty="0" smtClean="0">
                <a:latin typeface="Arial" pitchFamily="34" charset="0"/>
                <a:cs typeface="Arial" pitchFamily="34" charset="0"/>
              </a:rPr>
              <a:t>affected</a:t>
            </a:r>
            <a:r>
              <a:rPr lang="en-AU" dirty="0" smtClean="0">
                <a:latin typeface="Arial" pitchFamily="34" charset="0"/>
                <a:cs typeface="Arial" pitchFamily="34" charset="0"/>
              </a:rPr>
              <a:t> (diseased) </a:t>
            </a:r>
            <a:r>
              <a:rPr lang="en-AU" b="1" dirty="0" smtClean="0">
                <a:latin typeface="Arial" pitchFamily="34" charset="0"/>
                <a:cs typeface="Arial" pitchFamily="34" charset="0"/>
              </a:rPr>
              <a:t>side</a:t>
            </a:r>
            <a:r>
              <a:rPr lang="en-AU" dirty="0" smtClean="0">
                <a:latin typeface="Arial" pitchFamily="34" charset="0"/>
                <a:cs typeface="Arial" pitchFamily="34" charset="0"/>
              </a:rPr>
              <a:t> due to </a:t>
            </a:r>
            <a:r>
              <a:rPr lang="en-AU" b="1" dirty="0" smtClean="0">
                <a:latin typeface="Arial" pitchFamily="34" charset="0"/>
                <a:cs typeface="Arial" pitchFamily="34" charset="0"/>
              </a:rPr>
              <a:t>appreciable reduction</a:t>
            </a:r>
            <a:r>
              <a:rPr lang="en-AU" dirty="0" smtClean="0">
                <a:latin typeface="Arial" pitchFamily="34" charset="0"/>
                <a:cs typeface="Arial" pitchFamily="34" charset="0"/>
              </a:rPr>
              <a:t> in </a:t>
            </a:r>
            <a:r>
              <a:rPr lang="en-AU" b="1" dirty="0" smtClean="0">
                <a:latin typeface="Arial" pitchFamily="34" charset="0"/>
                <a:cs typeface="Arial" pitchFamily="34" charset="0"/>
              </a:rPr>
              <a:t>lung volume </a:t>
            </a:r>
            <a:r>
              <a:rPr lang="en-AU" dirty="0" smtClean="0">
                <a:latin typeface="Arial" pitchFamily="34" charset="0"/>
                <a:cs typeface="Arial" pitchFamily="34" charset="0"/>
              </a:rPr>
              <a:t>and </a:t>
            </a:r>
            <a:r>
              <a:rPr lang="en-AU" b="1" dirty="0" smtClean="0">
                <a:latin typeface="Arial" pitchFamily="34" charset="0"/>
                <a:cs typeface="Arial" pitchFamily="34" charset="0"/>
              </a:rPr>
              <a:t>decrease</a:t>
            </a:r>
            <a:r>
              <a:rPr lang="en-AU" dirty="0" smtClean="0">
                <a:latin typeface="Arial" pitchFamily="34" charset="0"/>
                <a:cs typeface="Arial" pitchFamily="34" charset="0"/>
              </a:rPr>
              <a:t> in </a:t>
            </a:r>
            <a:r>
              <a:rPr lang="en-AU" b="1" dirty="0" smtClean="0">
                <a:latin typeface="Arial" pitchFamily="34" charset="0"/>
                <a:cs typeface="Arial" pitchFamily="34" charset="0"/>
              </a:rPr>
              <a:t>intrapleural pressure </a:t>
            </a:r>
            <a:r>
              <a:rPr lang="en-AU" dirty="0" smtClean="0">
                <a:latin typeface="Arial" pitchFamily="34" charset="0"/>
                <a:cs typeface="Arial" pitchFamily="34" charset="0"/>
              </a:rPr>
              <a:t>as in </a:t>
            </a:r>
            <a:r>
              <a:rPr lang="en-AU" b="1" dirty="0" smtClean="0">
                <a:latin typeface="Arial" pitchFamily="34" charset="0"/>
                <a:cs typeface="Arial" pitchFamily="34" charset="0"/>
              </a:rPr>
              <a:t>collapse of lung </a:t>
            </a:r>
            <a:r>
              <a:rPr lang="en-AU" dirty="0" smtClean="0">
                <a:latin typeface="Arial" pitchFamily="34" charset="0"/>
                <a:cs typeface="Arial" pitchFamily="34" charset="0"/>
              </a:rPr>
              <a:t>and </a:t>
            </a:r>
            <a:r>
              <a:rPr lang="en-AU" b="1" dirty="0" smtClean="0">
                <a:latin typeface="Arial" pitchFamily="34" charset="0"/>
                <a:cs typeface="Arial" pitchFamily="34" charset="0"/>
              </a:rPr>
              <a:t>atelectasis</a:t>
            </a:r>
            <a:r>
              <a:rPr lang="en-AU" dirty="0" smtClean="0">
                <a:latin typeface="Arial" pitchFamily="34" charset="0"/>
                <a:cs typeface="Arial" pitchFamily="34" charset="0"/>
              </a:rPr>
              <a:t>. The </a:t>
            </a:r>
            <a:r>
              <a:rPr lang="en-AU" b="1" dirty="0" smtClean="0">
                <a:latin typeface="Arial" pitchFamily="34" charset="0"/>
                <a:cs typeface="Arial" pitchFamily="34" charset="0"/>
              </a:rPr>
              <a:t>mediastinum shifts </a:t>
            </a:r>
            <a:r>
              <a:rPr lang="en-AU" dirty="0" smtClean="0">
                <a:latin typeface="Arial" pitchFamily="34" charset="0"/>
                <a:cs typeface="Arial" pitchFamily="34" charset="0"/>
              </a:rPr>
              <a:t>to the </a:t>
            </a:r>
            <a:r>
              <a:rPr lang="en-AU" b="1" dirty="0" smtClean="0">
                <a:latin typeface="Arial" pitchFamily="34" charset="0"/>
                <a:cs typeface="Arial" pitchFamily="34" charset="0"/>
              </a:rPr>
              <a:t>healthy side </a:t>
            </a:r>
            <a:r>
              <a:rPr lang="en-AU" dirty="0" smtClean="0">
                <a:latin typeface="Arial" pitchFamily="34" charset="0"/>
                <a:cs typeface="Arial" pitchFamily="34" charset="0"/>
              </a:rPr>
              <a:t>when the </a:t>
            </a:r>
            <a:r>
              <a:rPr lang="en-AU" b="1" dirty="0" smtClean="0">
                <a:latin typeface="Arial" pitchFamily="34" charset="0"/>
                <a:cs typeface="Arial" pitchFamily="34" charset="0"/>
              </a:rPr>
              <a:t>intrapleural</a:t>
            </a:r>
            <a:r>
              <a:rPr lang="en-AU" dirty="0" smtClean="0">
                <a:latin typeface="Arial" pitchFamily="34" charset="0"/>
                <a:cs typeface="Arial" pitchFamily="34" charset="0"/>
              </a:rPr>
              <a:t> </a:t>
            </a:r>
            <a:r>
              <a:rPr lang="en-AU" b="1" dirty="0" smtClean="0">
                <a:latin typeface="Arial" pitchFamily="34" charset="0"/>
                <a:cs typeface="Arial" pitchFamily="34" charset="0"/>
              </a:rPr>
              <a:t>pressure</a:t>
            </a:r>
            <a:r>
              <a:rPr lang="en-AU" dirty="0" smtClean="0">
                <a:latin typeface="Arial" pitchFamily="34" charset="0"/>
                <a:cs typeface="Arial" pitchFamily="34" charset="0"/>
              </a:rPr>
              <a:t> is </a:t>
            </a:r>
            <a:r>
              <a:rPr lang="en-AU" b="1" dirty="0" smtClean="0">
                <a:latin typeface="Arial" pitchFamily="34" charset="0"/>
                <a:cs typeface="Arial" pitchFamily="34" charset="0"/>
              </a:rPr>
              <a:t>appreciably high </a:t>
            </a:r>
            <a:r>
              <a:rPr lang="en-AU" dirty="0" smtClean="0">
                <a:latin typeface="Arial" pitchFamily="34" charset="0"/>
                <a:cs typeface="Arial" pitchFamily="34" charset="0"/>
              </a:rPr>
              <a:t>on the affected side as in </a:t>
            </a:r>
            <a:r>
              <a:rPr lang="en-AU" b="1" dirty="0" smtClean="0">
                <a:latin typeface="Arial" pitchFamily="34" charset="0"/>
                <a:cs typeface="Arial" pitchFamily="34" charset="0"/>
              </a:rPr>
              <a:t>pneumothorax </a:t>
            </a:r>
            <a:r>
              <a:rPr lang="en-AU" dirty="0" smtClean="0">
                <a:latin typeface="Arial" pitchFamily="34" charset="0"/>
                <a:cs typeface="Arial" pitchFamily="34" charset="0"/>
              </a:rPr>
              <a:t>and </a:t>
            </a:r>
            <a:r>
              <a:rPr lang="en-AU" b="1" dirty="0" smtClean="0">
                <a:latin typeface="Arial" pitchFamily="34" charset="0"/>
                <a:cs typeface="Arial" pitchFamily="34" charset="0"/>
              </a:rPr>
              <a:t>hydrothorax</a:t>
            </a:r>
            <a:r>
              <a:rPr lang="en-AU" dirty="0" smtClean="0">
                <a:latin typeface="Arial" pitchFamily="34" charset="0"/>
                <a:cs typeface="Arial" pitchFamily="34" charset="0"/>
              </a:rPr>
              <a:t>.</a:t>
            </a:r>
            <a:endParaRPr lang="en-US"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7D608016-3028-48AC-89F9-913D89F81AFA}" type="slidenum">
              <a:rPr lang="en-US" smtClean="0"/>
              <a:pPr/>
              <a:t>31</a:t>
            </a:fld>
            <a:endParaRPr lang="en-US"/>
          </a:p>
        </p:txBody>
      </p:sp>
      <p:sp>
        <p:nvSpPr>
          <p:cNvPr id="5" name="TextBox 4"/>
          <p:cNvSpPr txBox="1"/>
          <p:nvPr/>
        </p:nvSpPr>
        <p:spPr>
          <a:xfrm>
            <a:off x="3643306" y="285728"/>
            <a:ext cx="2151551" cy="1046440"/>
          </a:xfrm>
          <a:prstGeom prst="rect">
            <a:avLst/>
          </a:prstGeom>
          <a:noFill/>
        </p:spPr>
        <p:txBody>
          <a:bodyPr wrap="square" rtlCol="0">
            <a:spAutoFit/>
          </a:bodyPr>
          <a:lstStyle/>
          <a:p>
            <a:r>
              <a:rPr lang="en-AU" sz="4400" dirty="0" smtClean="0">
                <a:latin typeface="Arial Black" pitchFamily="34" charset="0"/>
              </a:rPr>
              <a:t>Cont’d</a:t>
            </a:r>
            <a:endParaRPr lang="en-US" sz="4400" dirty="0" smtClean="0">
              <a:latin typeface="Arial Black" pitchFamily="34" charset="0"/>
            </a:endParaRPr>
          </a:p>
          <a:p>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14356"/>
            <a:ext cx="8229600" cy="703282"/>
          </a:xfrm>
        </p:spPr>
        <p:txBody>
          <a:bodyPr>
            <a:normAutofit fontScale="90000"/>
          </a:bodyPr>
          <a:lstStyle/>
          <a:p>
            <a:r>
              <a:rPr lang="en-AU" sz="4900" dirty="0" smtClean="0">
                <a:latin typeface="Arial Black" pitchFamily="34" charset="0"/>
              </a:rPr>
              <a:t>Cont’d</a:t>
            </a:r>
            <a:r>
              <a:rPr lang="en-US" dirty="0" smtClean="0">
                <a:latin typeface="Arial Black" pitchFamily="34" charset="0"/>
              </a:rPr>
              <a:t/>
            </a:r>
            <a:br>
              <a:rPr lang="en-US" dirty="0" smtClean="0">
                <a:latin typeface="Arial Black" pitchFamily="34" charset="0"/>
              </a:rPr>
            </a:br>
            <a:endParaRPr lang="en-US" dirty="0"/>
          </a:p>
        </p:txBody>
      </p:sp>
      <p:sp>
        <p:nvSpPr>
          <p:cNvPr id="3" name="Content Placeholder 2"/>
          <p:cNvSpPr>
            <a:spLocks noGrp="1"/>
          </p:cNvSpPr>
          <p:nvPr>
            <p:ph idx="1"/>
          </p:nvPr>
        </p:nvSpPr>
        <p:spPr/>
        <p:txBody>
          <a:bodyPr/>
          <a:lstStyle/>
          <a:p>
            <a:pPr algn="just"/>
            <a:r>
              <a:rPr lang="en-AU" dirty="0" smtClean="0">
                <a:latin typeface="Arial" pitchFamily="34" charset="0"/>
                <a:cs typeface="Arial" pitchFamily="34" charset="0"/>
              </a:rPr>
              <a:t>It</a:t>
            </a:r>
            <a:r>
              <a:rPr lang="en-AU" b="1" dirty="0" smtClean="0">
                <a:latin typeface="Arial" pitchFamily="34" charset="0"/>
                <a:cs typeface="Arial" pitchFamily="34" charset="0"/>
              </a:rPr>
              <a:t> </a:t>
            </a:r>
            <a:r>
              <a:rPr lang="en-AU" dirty="0" smtClean="0">
                <a:latin typeface="Arial" pitchFamily="34" charset="0"/>
                <a:cs typeface="Arial" pitchFamily="34" charset="0"/>
              </a:rPr>
              <a:t> can be detected by </a:t>
            </a:r>
            <a:r>
              <a:rPr lang="en-AU" b="1" dirty="0" smtClean="0">
                <a:latin typeface="Arial" pitchFamily="34" charset="0"/>
                <a:cs typeface="Arial" pitchFamily="34" charset="0"/>
              </a:rPr>
              <a:t>palpating</a:t>
            </a:r>
            <a:r>
              <a:rPr lang="en-AU" dirty="0" smtClean="0">
                <a:latin typeface="Arial" pitchFamily="34" charset="0"/>
                <a:cs typeface="Arial" pitchFamily="34" charset="0"/>
              </a:rPr>
              <a:t> the </a:t>
            </a:r>
            <a:r>
              <a:rPr lang="en-AU" b="1" dirty="0" smtClean="0">
                <a:latin typeface="Arial" pitchFamily="34" charset="0"/>
                <a:cs typeface="Arial" pitchFamily="34" charset="0"/>
              </a:rPr>
              <a:t>trachea</a:t>
            </a:r>
            <a:r>
              <a:rPr lang="en-AU" dirty="0" smtClean="0">
                <a:latin typeface="Arial" pitchFamily="34" charset="0"/>
                <a:cs typeface="Arial" pitchFamily="34" charset="0"/>
              </a:rPr>
              <a:t> in the </a:t>
            </a:r>
            <a:r>
              <a:rPr lang="en-AU" b="1" dirty="0" smtClean="0">
                <a:latin typeface="Arial" pitchFamily="34" charset="0"/>
                <a:cs typeface="Arial" pitchFamily="34" charset="0"/>
              </a:rPr>
              <a:t>suprasternal notch</a:t>
            </a:r>
            <a:r>
              <a:rPr lang="en-AU" dirty="0" smtClean="0">
                <a:latin typeface="Arial" pitchFamily="34" charset="0"/>
                <a:cs typeface="Arial" pitchFamily="34" charset="0"/>
              </a:rPr>
              <a:t>.</a:t>
            </a:r>
          </a:p>
          <a:p>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785926"/>
            <a:ext cx="8229600" cy="4340237"/>
          </a:xfrm>
        </p:spPr>
        <p:txBody>
          <a:bodyPr/>
          <a:lstStyle/>
          <a:p>
            <a:pPr algn="just">
              <a:buFont typeface="Wingdings" pitchFamily="2" charset="2"/>
              <a:buChar char="§"/>
            </a:pPr>
            <a:r>
              <a:rPr lang="en-AU" dirty="0" smtClean="0">
                <a:latin typeface="Arial" pitchFamily="34" charset="0"/>
                <a:cs typeface="Arial" pitchFamily="34" charset="0"/>
              </a:rPr>
              <a:t>The </a:t>
            </a:r>
            <a:r>
              <a:rPr lang="en-AU" b="1" dirty="0" smtClean="0">
                <a:latin typeface="Arial" pitchFamily="34" charset="0"/>
                <a:cs typeface="Arial" pitchFamily="34" charset="0"/>
              </a:rPr>
              <a:t>anterior mediastinum </a:t>
            </a:r>
            <a:r>
              <a:rPr lang="en-AU" dirty="0" smtClean="0">
                <a:latin typeface="Arial" pitchFamily="34" charset="0"/>
                <a:cs typeface="Arial" pitchFamily="34" charset="0"/>
              </a:rPr>
              <a:t>is a very </a:t>
            </a:r>
            <a:r>
              <a:rPr lang="en-AU" b="1" dirty="0" smtClean="0">
                <a:latin typeface="Arial" pitchFamily="34" charset="0"/>
                <a:cs typeface="Arial" pitchFamily="34" charset="0"/>
              </a:rPr>
              <a:t>narrow space</a:t>
            </a:r>
            <a:r>
              <a:rPr lang="en-AU" dirty="0" smtClean="0">
                <a:latin typeface="Arial" pitchFamily="34" charset="0"/>
                <a:cs typeface="Arial" pitchFamily="34" charset="0"/>
              </a:rPr>
              <a:t>. It is continuous through </a:t>
            </a:r>
            <a:r>
              <a:rPr lang="en-AU" b="1" dirty="0" smtClean="0">
                <a:latin typeface="Arial" pitchFamily="34" charset="0"/>
                <a:cs typeface="Arial" pitchFamily="34" charset="0"/>
              </a:rPr>
              <a:t>superior mediastinum </a:t>
            </a:r>
            <a:r>
              <a:rPr lang="en-AU" dirty="0" smtClean="0">
                <a:latin typeface="Arial" pitchFamily="34" charset="0"/>
                <a:cs typeface="Arial" pitchFamily="34" charset="0"/>
              </a:rPr>
              <a:t>with the </a:t>
            </a:r>
            <a:r>
              <a:rPr lang="en-AU" b="1" dirty="0" smtClean="0">
                <a:latin typeface="Arial" pitchFamily="34" charset="0"/>
                <a:cs typeface="Arial" pitchFamily="34" charset="0"/>
              </a:rPr>
              <a:t>pretracheal space </a:t>
            </a:r>
            <a:r>
              <a:rPr lang="en-AU" dirty="0" smtClean="0">
                <a:latin typeface="Arial" pitchFamily="34" charset="0"/>
                <a:cs typeface="Arial" pitchFamily="34" charset="0"/>
              </a:rPr>
              <a:t>of the </a:t>
            </a:r>
            <a:r>
              <a:rPr lang="en-AU" b="1" dirty="0" smtClean="0">
                <a:latin typeface="Arial" pitchFamily="34" charset="0"/>
                <a:cs typeface="Arial" pitchFamily="34" charset="0"/>
              </a:rPr>
              <a:t>neck</a:t>
            </a:r>
            <a:r>
              <a:rPr lang="en-AU" dirty="0" smtClean="0">
                <a:latin typeface="Arial" pitchFamily="34" charset="0"/>
                <a:cs typeface="Arial" pitchFamily="34" charset="0"/>
              </a:rPr>
              <a:t>. Therefore, </a:t>
            </a:r>
            <a:r>
              <a:rPr lang="en-AU" b="1" dirty="0" smtClean="0">
                <a:latin typeface="Arial" pitchFamily="34" charset="0"/>
                <a:cs typeface="Arial" pitchFamily="34" charset="0"/>
              </a:rPr>
              <a:t>neck infection </a:t>
            </a:r>
            <a:r>
              <a:rPr lang="en-AU" dirty="0" smtClean="0">
                <a:latin typeface="Arial" pitchFamily="34" charset="0"/>
                <a:cs typeface="Arial" pitchFamily="34" charset="0"/>
              </a:rPr>
              <a:t>in </a:t>
            </a:r>
            <a:r>
              <a:rPr lang="en-AU" b="1" dirty="0" smtClean="0">
                <a:latin typeface="Arial" pitchFamily="34" charset="0"/>
                <a:cs typeface="Arial" pitchFamily="34" charset="0"/>
              </a:rPr>
              <a:t>pretracheal space </a:t>
            </a:r>
            <a:r>
              <a:rPr lang="en-AU" dirty="0" smtClean="0">
                <a:latin typeface="Arial" pitchFamily="34" charset="0"/>
                <a:cs typeface="Arial" pitchFamily="34" charset="0"/>
              </a:rPr>
              <a:t>may spread into the </a:t>
            </a:r>
            <a:r>
              <a:rPr lang="en-AU" b="1" dirty="0" smtClean="0">
                <a:latin typeface="Arial" pitchFamily="34" charset="0"/>
                <a:cs typeface="Arial" pitchFamily="34" charset="0"/>
              </a:rPr>
              <a:t>anterior mediastinum</a:t>
            </a:r>
            <a:r>
              <a:rPr lang="en-AU" dirty="0" smtClean="0">
                <a:latin typeface="Arial" pitchFamily="34" charset="0"/>
                <a:cs typeface="Arial" pitchFamily="34" charset="0"/>
              </a:rPr>
              <a:t>.</a:t>
            </a:r>
            <a:endParaRPr lang="en-US"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7D608016-3028-48AC-89F9-913D89F81AFA}" type="slidenum">
              <a:rPr lang="en-US" smtClean="0"/>
              <a:pPr/>
              <a:t>33</a:t>
            </a:fld>
            <a:endParaRPr lang="en-US"/>
          </a:p>
        </p:txBody>
      </p:sp>
      <p:sp>
        <p:nvSpPr>
          <p:cNvPr id="5" name="TextBox 4"/>
          <p:cNvSpPr txBox="1"/>
          <p:nvPr/>
        </p:nvSpPr>
        <p:spPr>
          <a:xfrm>
            <a:off x="3714744" y="1071546"/>
            <a:ext cx="1969642" cy="984885"/>
          </a:xfrm>
          <a:prstGeom prst="rect">
            <a:avLst/>
          </a:prstGeom>
          <a:noFill/>
        </p:spPr>
        <p:txBody>
          <a:bodyPr wrap="none" rtlCol="0">
            <a:spAutoFit/>
          </a:bodyPr>
          <a:lstStyle/>
          <a:p>
            <a:r>
              <a:rPr lang="en-AU" sz="4000" dirty="0" smtClean="0">
                <a:latin typeface="Arial Black" pitchFamily="34" charset="0"/>
              </a:rPr>
              <a:t>Cont’d</a:t>
            </a:r>
            <a:endParaRPr lang="en-US" sz="4000" dirty="0" smtClean="0">
              <a:latin typeface="Arial Black" pitchFamily="34" charset="0"/>
            </a:endParaRPr>
          </a:p>
          <a:p>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158" y="1214422"/>
            <a:ext cx="8215370" cy="5643578"/>
          </a:xfrm>
        </p:spPr>
        <p:txBody>
          <a:bodyPr>
            <a:noAutofit/>
          </a:bodyPr>
          <a:lstStyle/>
          <a:p>
            <a:pPr algn="just">
              <a:buFont typeface="Wingdings" pitchFamily="2" charset="2"/>
              <a:buChar char="§"/>
            </a:pPr>
            <a:r>
              <a:rPr lang="en-AU" b="1" dirty="0" smtClean="0">
                <a:latin typeface="Arial" pitchFamily="34" charset="0"/>
                <a:cs typeface="Arial" pitchFamily="34" charset="0"/>
              </a:rPr>
              <a:t>Extension of pus into the posterior mediastinum from neck</a:t>
            </a:r>
            <a:r>
              <a:rPr lang="en-AU" dirty="0" smtClean="0">
                <a:latin typeface="Arial" pitchFamily="34" charset="0"/>
                <a:cs typeface="Arial" pitchFamily="34" charset="0"/>
              </a:rPr>
              <a:t>: The </a:t>
            </a:r>
            <a:r>
              <a:rPr lang="en-AU" b="1" dirty="0" smtClean="0">
                <a:latin typeface="Arial" pitchFamily="34" charset="0"/>
                <a:cs typeface="Arial" pitchFamily="34" charset="0"/>
              </a:rPr>
              <a:t>posterior mediastinum </a:t>
            </a:r>
            <a:r>
              <a:rPr lang="en-AU" dirty="0" smtClean="0">
                <a:latin typeface="Arial" pitchFamily="34" charset="0"/>
                <a:cs typeface="Arial" pitchFamily="34" charset="0"/>
              </a:rPr>
              <a:t>is continuous through </a:t>
            </a:r>
            <a:r>
              <a:rPr lang="en-AU" b="1" dirty="0" smtClean="0">
                <a:latin typeface="Arial" pitchFamily="34" charset="0"/>
                <a:cs typeface="Arial" pitchFamily="34" charset="0"/>
              </a:rPr>
              <a:t>superior mediastinum </a:t>
            </a:r>
            <a:r>
              <a:rPr lang="en-AU" dirty="0" smtClean="0">
                <a:latin typeface="Arial" pitchFamily="34" charset="0"/>
                <a:cs typeface="Arial" pitchFamily="34" charset="0"/>
              </a:rPr>
              <a:t>with </a:t>
            </a:r>
            <a:r>
              <a:rPr lang="en-AU" b="1" dirty="0" smtClean="0">
                <a:latin typeface="Arial" pitchFamily="34" charset="0"/>
                <a:cs typeface="Arial" pitchFamily="34" charset="0"/>
              </a:rPr>
              <a:t>spaces</a:t>
            </a:r>
            <a:r>
              <a:rPr lang="en-AU" dirty="0" smtClean="0">
                <a:latin typeface="Arial" pitchFamily="34" charset="0"/>
                <a:cs typeface="Arial" pitchFamily="34" charset="0"/>
              </a:rPr>
              <a:t> in the </a:t>
            </a:r>
            <a:r>
              <a:rPr lang="en-AU" b="1" dirty="0" smtClean="0">
                <a:latin typeface="Arial" pitchFamily="34" charset="0"/>
                <a:cs typeface="Arial" pitchFamily="34" charset="0"/>
              </a:rPr>
              <a:t>neck</a:t>
            </a:r>
            <a:r>
              <a:rPr lang="en-AU" dirty="0" smtClean="0">
                <a:latin typeface="Arial" pitchFamily="34" charset="0"/>
                <a:cs typeface="Arial" pitchFamily="34" charset="0"/>
              </a:rPr>
              <a:t> between </a:t>
            </a:r>
            <a:r>
              <a:rPr lang="en-AU" b="1" dirty="0" smtClean="0">
                <a:latin typeface="Arial" pitchFamily="34" charset="0"/>
                <a:cs typeface="Arial" pitchFamily="34" charset="0"/>
              </a:rPr>
              <a:t>pretracheal</a:t>
            </a:r>
            <a:r>
              <a:rPr lang="en-AU" dirty="0" smtClean="0">
                <a:latin typeface="Arial" pitchFamily="34" charset="0"/>
                <a:cs typeface="Arial" pitchFamily="34" charset="0"/>
              </a:rPr>
              <a:t> and </a:t>
            </a:r>
            <a:r>
              <a:rPr lang="en-AU" b="1" dirty="0" smtClean="0">
                <a:latin typeface="Arial" pitchFamily="34" charset="0"/>
                <a:cs typeface="Arial" pitchFamily="34" charset="0"/>
              </a:rPr>
              <a:t>prevertebral layers </a:t>
            </a:r>
            <a:r>
              <a:rPr lang="en-AU" dirty="0" smtClean="0">
                <a:latin typeface="Arial" pitchFamily="34" charset="0"/>
                <a:cs typeface="Arial" pitchFamily="34" charset="0"/>
              </a:rPr>
              <a:t>of </a:t>
            </a:r>
            <a:r>
              <a:rPr lang="en-AU" b="1" dirty="0" smtClean="0">
                <a:latin typeface="Arial" pitchFamily="34" charset="0"/>
                <a:cs typeface="Arial" pitchFamily="34" charset="0"/>
              </a:rPr>
              <a:t>deep cervical fascia </a:t>
            </a:r>
            <a:r>
              <a:rPr lang="en-AU" dirty="0" smtClean="0">
                <a:latin typeface="Arial" pitchFamily="34" charset="0"/>
                <a:cs typeface="Arial" pitchFamily="34" charset="0"/>
              </a:rPr>
              <a:t>such as </a:t>
            </a:r>
            <a:r>
              <a:rPr lang="en-AU" b="1" dirty="0" smtClean="0">
                <a:latin typeface="Arial" pitchFamily="34" charset="0"/>
                <a:cs typeface="Arial" pitchFamily="34" charset="0"/>
              </a:rPr>
              <a:t>retropharyngeal space </a:t>
            </a:r>
            <a:r>
              <a:rPr lang="en-AU" dirty="0" smtClean="0">
                <a:latin typeface="Arial" pitchFamily="34" charset="0"/>
                <a:cs typeface="Arial" pitchFamily="34" charset="0"/>
              </a:rPr>
              <a:t>etc. Therefore, </a:t>
            </a:r>
            <a:r>
              <a:rPr lang="en-AU" b="1" dirty="0" smtClean="0">
                <a:latin typeface="Arial" pitchFamily="34" charset="0"/>
                <a:cs typeface="Arial" pitchFamily="34" charset="0"/>
              </a:rPr>
              <a:t>pus</a:t>
            </a:r>
            <a:r>
              <a:rPr lang="en-AU" dirty="0" smtClean="0">
                <a:latin typeface="Arial" pitchFamily="34" charset="0"/>
                <a:cs typeface="Arial" pitchFamily="34" charset="0"/>
              </a:rPr>
              <a:t> from </a:t>
            </a:r>
            <a:r>
              <a:rPr lang="en-AU" b="1" dirty="0" smtClean="0">
                <a:latin typeface="Arial" pitchFamily="34" charset="0"/>
                <a:cs typeface="Arial" pitchFamily="34" charset="0"/>
              </a:rPr>
              <a:t>neck</a:t>
            </a:r>
            <a:r>
              <a:rPr lang="en-AU" dirty="0" smtClean="0">
                <a:latin typeface="Arial" pitchFamily="34" charset="0"/>
                <a:cs typeface="Arial" pitchFamily="34" charset="0"/>
              </a:rPr>
              <a:t> can </a:t>
            </a:r>
            <a:r>
              <a:rPr lang="en-AU" b="1" dirty="0" smtClean="0">
                <a:latin typeface="Arial" pitchFamily="34" charset="0"/>
                <a:cs typeface="Arial" pitchFamily="34" charset="0"/>
              </a:rPr>
              <a:t>extend</a:t>
            </a:r>
            <a:r>
              <a:rPr lang="en-AU" dirty="0" smtClean="0">
                <a:latin typeface="Arial" pitchFamily="34" charset="0"/>
                <a:cs typeface="Arial" pitchFamily="34" charset="0"/>
              </a:rPr>
              <a:t> into the </a:t>
            </a:r>
            <a:r>
              <a:rPr lang="en-AU" b="1" dirty="0" smtClean="0">
                <a:latin typeface="Arial" pitchFamily="34" charset="0"/>
                <a:cs typeface="Arial" pitchFamily="34" charset="0"/>
              </a:rPr>
              <a:t>posterior mediastinum</a:t>
            </a:r>
            <a:r>
              <a:rPr lang="en-AU" dirty="0" smtClean="0">
                <a:latin typeface="Arial" pitchFamily="34" charset="0"/>
                <a:cs typeface="Arial" pitchFamily="34" charset="0"/>
              </a:rPr>
              <a:t>.</a:t>
            </a:r>
          </a:p>
          <a:p>
            <a:pPr algn="just">
              <a:buNone/>
            </a:pPr>
            <a:endParaRPr lang="en-US" sz="2800"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7D608016-3028-48AC-89F9-913D89F81AFA}" type="slidenum">
              <a:rPr lang="en-US" smtClean="0"/>
              <a:pPr/>
              <a:t>34</a:t>
            </a:fld>
            <a:endParaRPr lang="en-US"/>
          </a:p>
        </p:txBody>
      </p:sp>
      <p:sp>
        <p:nvSpPr>
          <p:cNvPr id="5" name="TextBox 4"/>
          <p:cNvSpPr txBox="1"/>
          <p:nvPr/>
        </p:nvSpPr>
        <p:spPr>
          <a:xfrm>
            <a:off x="3786182" y="357166"/>
            <a:ext cx="2143140" cy="1046440"/>
          </a:xfrm>
          <a:prstGeom prst="rect">
            <a:avLst/>
          </a:prstGeom>
          <a:noFill/>
        </p:spPr>
        <p:txBody>
          <a:bodyPr wrap="square" rtlCol="0">
            <a:spAutoFit/>
          </a:bodyPr>
          <a:lstStyle/>
          <a:p>
            <a:r>
              <a:rPr lang="en-AU" sz="4400" dirty="0" smtClean="0">
                <a:latin typeface="Arial Black" pitchFamily="34" charset="0"/>
              </a:rPr>
              <a:t>Cont’d</a:t>
            </a:r>
            <a:endParaRPr lang="en-US" sz="4400" dirty="0" smtClean="0">
              <a:latin typeface="Arial Black" pitchFamily="34" charset="0"/>
            </a:endParaRPr>
          </a:p>
          <a:p>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57232"/>
            <a:ext cx="8229600" cy="1000132"/>
          </a:xfrm>
        </p:spPr>
        <p:txBody>
          <a:bodyPr>
            <a:normAutofit fontScale="90000"/>
          </a:bodyPr>
          <a:lstStyle/>
          <a:p>
            <a:r>
              <a:rPr lang="en-AU" sz="4900" dirty="0" smtClean="0">
                <a:latin typeface="Arial Black" pitchFamily="34" charset="0"/>
              </a:rPr>
              <a:t>Cont’d</a:t>
            </a:r>
            <a:r>
              <a:rPr lang="en-US" dirty="0" smtClean="0">
                <a:latin typeface="Arial Black" pitchFamily="34" charset="0"/>
              </a:rPr>
              <a:t/>
            </a:r>
            <a:br>
              <a:rPr lang="en-US" dirty="0" smtClean="0">
                <a:latin typeface="Arial Black" pitchFamily="34" charset="0"/>
              </a:rPr>
            </a:br>
            <a:endParaRPr lang="en-US" dirty="0"/>
          </a:p>
        </p:txBody>
      </p:sp>
      <p:sp>
        <p:nvSpPr>
          <p:cNvPr id="3" name="Content Placeholder 2"/>
          <p:cNvSpPr>
            <a:spLocks noGrp="1"/>
          </p:cNvSpPr>
          <p:nvPr>
            <p:ph idx="1"/>
          </p:nvPr>
        </p:nvSpPr>
        <p:spPr>
          <a:xfrm>
            <a:off x="457200" y="1785926"/>
            <a:ext cx="8229600" cy="4340237"/>
          </a:xfrm>
        </p:spPr>
        <p:txBody>
          <a:bodyPr/>
          <a:lstStyle/>
          <a:p>
            <a:pPr algn="just"/>
            <a:r>
              <a:rPr lang="en-AU" b="1" dirty="0" smtClean="0">
                <a:latin typeface="Arial" pitchFamily="34" charset="0"/>
                <a:cs typeface="Arial" pitchFamily="34" charset="0"/>
              </a:rPr>
              <a:t>Extension of pus into the thigh from posterior mediastinum: </a:t>
            </a:r>
            <a:r>
              <a:rPr lang="en-AU" dirty="0" smtClean="0">
                <a:latin typeface="Arial" pitchFamily="34" charset="0"/>
                <a:cs typeface="Arial" pitchFamily="34" charset="0"/>
              </a:rPr>
              <a:t>The </a:t>
            </a:r>
            <a:r>
              <a:rPr lang="en-AU" b="1" dirty="0" smtClean="0">
                <a:latin typeface="Arial" pitchFamily="34" charset="0"/>
                <a:cs typeface="Arial" pitchFamily="34" charset="0"/>
              </a:rPr>
              <a:t>psoas sheath </a:t>
            </a:r>
            <a:r>
              <a:rPr lang="en-AU" dirty="0" smtClean="0">
                <a:latin typeface="Arial" pitchFamily="34" charset="0"/>
                <a:cs typeface="Arial" pitchFamily="34" charset="0"/>
              </a:rPr>
              <a:t>communicates with the </a:t>
            </a:r>
            <a:r>
              <a:rPr lang="en-AU" b="1" dirty="0" smtClean="0">
                <a:latin typeface="Arial" pitchFamily="34" charset="0"/>
                <a:cs typeface="Arial" pitchFamily="34" charset="0"/>
              </a:rPr>
              <a:t>posterior mediastinum </a:t>
            </a:r>
            <a:r>
              <a:rPr lang="en-AU" dirty="0" smtClean="0">
                <a:latin typeface="Arial" pitchFamily="34" charset="0"/>
                <a:cs typeface="Arial" pitchFamily="34" charset="0"/>
              </a:rPr>
              <a:t>by a </a:t>
            </a:r>
            <a:r>
              <a:rPr lang="en-AU" b="1" dirty="0" smtClean="0">
                <a:latin typeface="Arial" pitchFamily="34" charset="0"/>
                <a:cs typeface="Arial" pitchFamily="34" charset="0"/>
              </a:rPr>
              <a:t>funnel-shaped orifice</a:t>
            </a:r>
            <a:r>
              <a:rPr lang="en-AU" dirty="0" smtClean="0">
                <a:latin typeface="Arial" pitchFamily="34" charset="0"/>
                <a:cs typeface="Arial" pitchFamily="34" charset="0"/>
              </a:rPr>
              <a:t>. Therefore, </a:t>
            </a:r>
            <a:r>
              <a:rPr lang="en-AU" b="1" dirty="0" smtClean="0">
                <a:latin typeface="Arial" pitchFamily="34" charset="0"/>
                <a:cs typeface="Arial" pitchFamily="34" charset="0"/>
              </a:rPr>
              <a:t>pus</a:t>
            </a:r>
            <a:r>
              <a:rPr lang="en-AU" dirty="0" smtClean="0">
                <a:latin typeface="Arial" pitchFamily="34" charset="0"/>
                <a:cs typeface="Arial" pitchFamily="34" charset="0"/>
              </a:rPr>
              <a:t> from </a:t>
            </a:r>
            <a:r>
              <a:rPr lang="en-AU" b="1" dirty="0" smtClean="0">
                <a:latin typeface="Arial" pitchFamily="34" charset="0"/>
                <a:cs typeface="Arial" pitchFamily="34" charset="0"/>
              </a:rPr>
              <a:t>posterior mediastinum </a:t>
            </a:r>
            <a:r>
              <a:rPr lang="en-AU" dirty="0" smtClean="0">
                <a:latin typeface="Arial" pitchFamily="34" charset="0"/>
                <a:cs typeface="Arial" pitchFamily="34" charset="0"/>
              </a:rPr>
              <a:t>can easily enter the </a:t>
            </a:r>
            <a:r>
              <a:rPr lang="en-AU" b="1" dirty="0" smtClean="0">
                <a:latin typeface="Arial" pitchFamily="34" charset="0"/>
                <a:cs typeface="Arial" pitchFamily="34" charset="0"/>
              </a:rPr>
              <a:t>psoas sheath</a:t>
            </a:r>
            <a:r>
              <a:rPr lang="en-AU" dirty="0" smtClean="0">
                <a:latin typeface="Arial" pitchFamily="34" charset="0"/>
                <a:cs typeface="Arial" pitchFamily="34" charset="0"/>
              </a:rPr>
              <a:t> and </a:t>
            </a:r>
            <a:r>
              <a:rPr lang="en-AU" b="1" dirty="0" smtClean="0">
                <a:latin typeface="Arial" pitchFamily="34" charset="0"/>
                <a:cs typeface="Arial" pitchFamily="34" charset="0"/>
              </a:rPr>
              <a:t>tracks down </a:t>
            </a:r>
            <a:r>
              <a:rPr lang="en-AU" dirty="0" smtClean="0">
                <a:latin typeface="Arial" pitchFamily="34" charset="0"/>
                <a:cs typeface="Arial" pitchFamily="34" charset="0"/>
              </a:rPr>
              <a:t>into the </a:t>
            </a:r>
            <a:r>
              <a:rPr lang="en-AU" b="1" dirty="0" smtClean="0">
                <a:latin typeface="Arial" pitchFamily="34" charset="0"/>
                <a:cs typeface="Arial" pitchFamily="34" charset="0"/>
              </a:rPr>
              <a:t>thighs</a:t>
            </a:r>
            <a:r>
              <a:rPr lang="en-AU" dirty="0" smtClean="0">
                <a:latin typeface="Arial" pitchFamily="34" charset="0"/>
                <a:cs typeface="Arial" pitchFamily="34" charset="0"/>
              </a:rPr>
              <a:t> in the </a:t>
            </a:r>
            <a:r>
              <a:rPr lang="en-AU" b="1" dirty="0" smtClean="0">
                <a:latin typeface="Arial" pitchFamily="34" charset="0"/>
                <a:cs typeface="Arial" pitchFamily="34" charset="0"/>
              </a:rPr>
              <a:t>region</a:t>
            </a:r>
            <a:r>
              <a:rPr lang="en-AU" dirty="0" smtClean="0">
                <a:latin typeface="Arial" pitchFamily="34" charset="0"/>
                <a:cs typeface="Arial" pitchFamily="34" charset="0"/>
              </a:rPr>
              <a:t> of </a:t>
            </a:r>
            <a:r>
              <a:rPr lang="en-AU" b="1" dirty="0" smtClean="0">
                <a:latin typeface="Arial" pitchFamily="34" charset="0"/>
                <a:cs typeface="Arial" pitchFamily="34" charset="0"/>
              </a:rPr>
              <a:t>femoral triangle</a:t>
            </a:r>
            <a:r>
              <a:rPr lang="en-AU" dirty="0" smtClean="0">
                <a:latin typeface="Arial" pitchFamily="34" charset="0"/>
                <a:cs typeface="Arial" pitchFamily="34" charset="0"/>
              </a:rPr>
              <a:t>.</a:t>
            </a:r>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p:txBody>
          <a:bodyPr/>
          <a:lstStyle/>
          <a:p>
            <a:endParaRPr lang="en-US" smtClean="0"/>
          </a:p>
        </p:txBody>
      </p:sp>
      <p:sp>
        <p:nvSpPr>
          <p:cNvPr id="43011" name="Content Placeholder 2"/>
          <p:cNvSpPr>
            <a:spLocks noGrp="1"/>
          </p:cNvSpPr>
          <p:nvPr>
            <p:ph idx="1"/>
          </p:nvPr>
        </p:nvSpPr>
        <p:spPr/>
        <p:txBody>
          <a:bodyPr/>
          <a:lstStyle/>
          <a:p>
            <a:endParaRPr lang="en-US" smtClean="0"/>
          </a:p>
        </p:txBody>
      </p:sp>
      <p:pic>
        <p:nvPicPr>
          <p:cNvPr id="43012" name="Picture 2"/>
          <p:cNvPicPr>
            <a:picLocks noChangeAspect="1" noChangeArrowheads="1"/>
          </p:cNvPicPr>
          <p:nvPr/>
        </p:nvPicPr>
        <p:blipFill>
          <a:blip r:embed="rId2"/>
          <a:srcRect/>
          <a:stretch>
            <a:fillRect/>
          </a:stretch>
        </p:blipFill>
        <p:spPr bwMode="auto">
          <a:xfrm>
            <a:off x="0" y="-33338"/>
            <a:ext cx="9085263" cy="681513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43116"/>
            <a:ext cx="7772400" cy="1928826"/>
          </a:xfrm>
        </p:spPr>
        <p:txBody>
          <a:bodyPr/>
          <a:lstStyle/>
          <a:p>
            <a:r>
              <a:rPr lang="en-US" dirty="0" smtClean="0">
                <a:latin typeface="Arial Black" pitchFamily="34" charset="0"/>
              </a:rPr>
              <a:t>PERICARDIUM</a:t>
            </a:r>
            <a:endParaRPr lang="en-US" dirty="0">
              <a:latin typeface="Arial Black" pitchFamily="34"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000108"/>
          </a:xfrm>
        </p:spPr>
        <p:txBody>
          <a:bodyPr/>
          <a:lstStyle/>
          <a:p>
            <a:r>
              <a:rPr lang="en-AU" dirty="0" smtClean="0">
                <a:latin typeface="Arial Black" pitchFamily="34" charset="0"/>
              </a:rPr>
              <a:t>Outline</a:t>
            </a:r>
            <a:endParaRPr lang="en-US" dirty="0">
              <a:latin typeface="Arial Black" pitchFamily="34" charset="0"/>
            </a:endParaRPr>
          </a:p>
        </p:txBody>
      </p:sp>
      <p:sp>
        <p:nvSpPr>
          <p:cNvPr id="3" name="Content Placeholder 2"/>
          <p:cNvSpPr>
            <a:spLocks noGrp="1"/>
          </p:cNvSpPr>
          <p:nvPr>
            <p:ph idx="1"/>
          </p:nvPr>
        </p:nvSpPr>
        <p:spPr>
          <a:xfrm>
            <a:off x="457200" y="785794"/>
            <a:ext cx="8229600" cy="6072206"/>
          </a:xfrm>
        </p:spPr>
        <p:txBody>
          <a:bodyPr>
            <a:normAutofit lnSpcReduction="10000"/>
          </a:bodyPr>
          <a:lstStyle/>
          <a:p>
            <a:r>
              <a:rPr lang="en-AU" dirty="0" smtClean="0">
                <a:latin typeface="Arial" pitchFamily="34" charset="0"/>
                <a:cs typeface="Arial" pitchFamily="34" charset="0"/>
              </a:rPr>
              <a:t>Intro’</a:t>
            </a:r>
          </a:p>
          <a:p>
            <a:r>
              <a:rPr lang="en-AU" dirty="0" smtClean="0">
                <a:latin typeface="Arial" pitchFamily="34" charset="0"/>
                <a:cs typeface="Arial" pitchFamily="34" charset="0"/>
              </a:rPr>
              <a:t>Functions</a:t>
            </a:r>
          </a:p>
          <a:p>
            <a:r>
              <a:rPr lang="en-AU" dirty="0" smtClean="0">
                <a:latin typeface="Arial" pitchFamily="34" charset="0"/>
                <a:cs typeface="Arial" pitchFamily="34" charset="0"/>
              </a:rPr>
              <a:t>Subdivisions</a:t>
            </a:r>
          </a:p>
          <a:p>
            <a:r>
              <a:rPr lang="en-AU" dirty="0" smtClean="0">
                <a:latin typeface="Arial" pitchFamily="34" charset="0"/>
                <a:cs typeface="Arial" pitchFamily="34" charset="0"/>
              </a:rPr>
              <a:t>Layers: Fibrous, Visceral &amp; Parietal layers</a:t>
            </a:r>
          </a:p>
          <a:p>
            <a:r>
              <a:rPr lang="en-AU" dirty="0" smtClean="0">
                <a:latin typeface="Arial" pitchFamily="34" charset="0"/>
                <a:cs typeface="Arial" pitchFamily="34" charset="0"/>
              </a:rPr>
              <a:t>Pericardial cavity</a:t>
            </a:r>
          </a:p>
          <a:p>
            <a:r>
              <a:rPr lang="en-AU" dirty="0" smtClean="0">
                <a:latin typeface="Arial" pitchFamily="34" charset="0"/>
                <a:cs typeface="Arial" pitchFamily="34" charset="0"/>
              </a:rPr>
              <a:t>Contents of the Pericardium</a:t>
            </a:r>
            <a:endParaRPr lang="en-AU" dirty="0" smtClean="0">
              <a:latin typeface="Arial" pitchFamily="34" charset="0"/>
              <a:cs typeface="Arial" pitchFamily="34" charset="0"/>
            </a:endParaRPr>
          </a:p>
          <a:p>
            <a:r>
              <a:rPr lang="en-AU" dirty="0" smtClean="0">
                <a:latin typeface="Arial" pitchFamily="34" charset="0"/>
                <a:cs typeface="Arial" pitchFamily="34" charset="0"/>
              </a:rPr>
              <a:t>Pericardium Sinuses</a:t>
            </a:r>
          </a:p>
          <a:p>
            <a:r>
              <a:rPr lang="en-AU" dirty="0" smtClean="0">
                <a:latin typeface="Arial" pitchFamily="34" charset="0"/>
                <a:cs typeface="Arial" pitchFamily="34" charset="0"/>
              </a:rPr>
              <a:t>Arterial supply</a:t>
            </a:r>
          </a:p>
          <a:p>
            <a:r>
              <a:rPr lang="en-AU" dirty="0" smtClean="0">
                <a:latin typeface="Arial" pitchFamily="34" charset="0"/>
                <a:cs typeface="Arial" pitchFamily="34" charset="0"/>
              </a:rPr>
              <a:t>Nerve supply</a:t>
            </a:r>
          </a:p>
          <a:p>
            <a:r>
              <a:rPr lang="en-AU" dirty="0" smtClean="0">
                <a:latin typeface="Arial" pitchFamily="34" charset="0"/>
                <a:cs typeface="Arial" pitchFamily="34" charset="0"/>
              </a:rPr>
              <a:t>Lymphatic drainage</a:t>
            </a:r>
          </a:p>
          <a:p>
            <a:r>
              <a:rPr lang="en-AU" dirty="0" smtClean="0">
                <a:latin typeface="Arial" pitchFamily="34" charset="0"/>
                <a:cs typeface="Arial" pitchFamily="34" charset="0"/>
              </a:rPr>
              <a:t>Applied Anatomy</a:t>
            </a:r>
          </a:p>
          <a:p>
            <a:endParaRPr lang="en-AU" dirty="0" smtClean="0"/>
          </a:p>
          <a:p>
            <a:endParaRPr lang="en-AU" dirty="0" smtClean="0"/>
          </a:p>
          <a:p>
            <a:endParaRPr lang="en-US" dirty="0"/>
          </a:p>
        </p:txBody>
      </p:sp>
      <p:sp>
        <p:nvSpPr>
          <p:cNvPr id="4" name="Slide Number Placeholder 3"/>
          <p:cNvSpPr>
            <a:spLocks noGrp="1"/>
          </p:cNvSpPr>
          <p:nvPr>
            <p:ph type="sldNum" sz="quarter" idx="12"/>
          </p:nvPr>
        </p:nvSpPr>
        <p:spPr/>
        <p:txBody>
          <a:bodyPr/>
          <a:lstStyle/>
          <a:p>
            <a:fld id="{7D608016-3028-48AC-89F9-913D89F81AFA}" type="slidenum">
              <a:rPr lang="en-US" smtClean="0"/>
              <a:pPr/>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14356"/>
            <a:ext cx="8229600" cy="1214446"/>
          </a:xfrm>
        </p:spPr>
        <p:txBody>
          <a:bodyPr/>
          <a:lstStyle/>
          <a:p>
            <a:r>
              <a:rPr lang="en-AU" dirty="0" smtClean="0">
                <a:latin typeface="Arial Black" pitchFamily="34" charset="0"/>
              </a:rPr>
              <a:t>Intro’</a:t>
            </a:r>
            <a:endParaRPr lang="en-US" dirty="0">
              <a:latin typeface="Arial Black" pitchFamily="34" charset="0"/>
            </a:endParaRPr>
          </a:p>
        </p:txBody>
      </p:sp>
      <p:sp>
        <p:nvSpPr>
          <p:cNvPr id="3" name="Content Placeholder 2"/>
          <p:cNvSpPr>
            <a:spLocks noGrp="1"/>
          </p:cNvSpPr>
          <p:nvPr>
            <p:ph idx="1"/>
          </p:nvPr>
        </p:nvSpPr>
        <p:spPr>
          <a:xfrm>
            <a:off x="457200" y="1857364"/>
            <a:ext cx="8229600" cy="4572032"/>
          </a:xfrm>
        </p:spPr>
        <p:txBody>
          <a:bodyPr>
            <a:normAutofit/>
          </a:bodyPr>
          <a:lstStyle/>
          <a:p>
            <a:pPr algn="just"/>
            <a:r>
              <a:rPr lang="en-AU" dirty="0" smtClean="0">
                <a:latin typeface="Arial" pitchFamily="34" charset="0"/>
                <a:cs typeface="Arial" pitchFamily="34" charset="0"/>
              </a:rPr>
              <a:t>The </a:t>
            </a:r>
            <a:r>
              <a:rPr lang="en-AU" b="1" dirty="0" smtClean="0">
                <a:latin typeface="Arial" pitchFamily="34" charset="0"/>
                <a:cs typeface="Arial" pitchFamily="34" charset="0"/>
              </a:rPr>
              <a:t>pericardium</a:t>
            </a:r>
            <a:r>
              <a:rPr lang="en-AU" dirty="0" smtClean="0">
                <a:latin typeface="Arial" pitchFamily="34" charset="0"/>
                <a:cs typeface="Arial" pitchFamily="34" charset="0"/>
              </a:rPr>
              <a:t> is a </a:t>
            </a:r>
            <a:r>
              <a:rPr lang="en-AU" b="1" dirty="0" smtClean="0">
                <a:latin typeface="Arial" pitchFamily="34" charset="0"/>
                <a:cs typeface="Arial" pitchFamily="34" charset="0"/>
              </a:rPr>
              <a:t>fibroserous sac </a:t>
            </a:r>
            <a:r>
              <a:rPr lang="en-AU" dirty="0" smtClean="0">
                <a:latin typeface="Arial" pitchFamily="34" charset="0"/>
                <a:cs typeface="Arial" pitchFamily="34" charset="0"/>
              </a:rPr>
              <a:t>which </a:t>
            </a:r>
            <a:r>
              <a:rPr lang="en-AU" b="1" dirty="0" smtClean="0">
                <a:latin typeface="Arial" pitchFamily="34" charset="0"/>
                <a:cs typeface="Arial" pitchFamily="34" charset="0"/>
              </a:rPr>
              <a:t>encloses</a:t>
            </a:r>
            <a:r>
              <a:rPr lang="en-AU" dirty="0" smtClean="0">
                <a:latin typeface="Arial" pitchFamily="34" charset="0"/>
                <a:cs typeface="Arial" pitchFamily="34" charset="0"/>
              </a:rPr>
              <a:t> the </a:t>
            </a:r>
            <a:r>
              <a:rPr lang="en-AU" b="1" dirty="0" smtClean="0">
                <a:latin typeface="Arial" pitchFamily="34" charset="0"/>
                <a:cs typeface="Arial" pitchFamily="34" charset="0"/>
              </a:rPr>
              <a:t>heart</a:t>
            </a:r>
            <a:r>
              <a:rPr lang="en-AU" dirty="0" smtClean="0">
                <a:latin typeface="Arial" pitchFamily="34" charset="0"/>
                <a:cs typeface="Arial" pitchFamily="34" charset="0"/>
              </a:rPr>
              <a:t>, and the </a:t>
            </a:r>
            <a:r>
              <a:rPr lang="en-AU" b="1" dirty="0" smtClean="0">
                <a:latin typeface="Arial" pitchFamily="34" charset="0"/>
                <a:cs typeface="Arial" pitchFamily="34" charset="0"/>
              </a:rPr>
              <a:t>roots</a:t>
            </a:r>
            <a:r>
              <a:rPr lang="en-AU" dirty="0" smtClean="0">
                <a:latin typeface="Arial" pitchFamily="34" charset="0"/>
                <a:cs typeface="Arial" pitchFamily="34" charset="0"/>
              </a:rPr>
              <a:t> of its </a:t>
            </a:r>
            <a:r>
              <a:rPr lang="en-AU" b="1" dirty="0" smtClean="0">
                <a:latin typeface="Arial" pitchFamily="34" charset="0"/>
                <a:cs typeface="Arial" pitchFamily="34" charset="0"/>
              </a:rPr>
              <a:t>great blood </a:t>
            </a:r>
            <a:r>
              <a:rPr lang="en-AU" b="1" dirty="0" smtClean="0">
                <a:latin typeface="Arial" pitchFamily="34" charset="0"/>
                <a:cs typeface="Arial" pitchFamily="34" charset="0"/>
              </a:rPr>
              <a:t>vessels</a:t>
            </a:r>
            <a:r>
              <a:rPr lang="en-AU" dirty="0" smtClean="0">
                <a:latin typeface="Arial" pitchFamily="34" charset="0"/>
                <a:cs typeface="Arial" pitchFamily="34" charset="0"/>
              </a:rPr>
              <a:t>. It </a:t>
            </a:r>
            <a:r>
              <a:rPr lang="en-AU" b="1" dirty="0" smtClean="0">
                <a:latin typeface="Arial" pitchFamily="34" charset="0"/>
                <a:cs typeface="Arial" pitchFamily="34" charset="0"/>
              </a:rPr>
              <a:t>lies</a:t>
            </a:r>
            <a:r>
              <a:rPr lang="en-AU" dirty="0" smtClean="0">
                <a:latin typeface="Arial" pitchFamily="34" charset="0"/>
                <a:cs typeface="Arial" pitchFamily="34" charset="0"/>
              </a:rPr>
              <a:t> </a:t>
            </a:r>
            <a:r>
              <a:rPr lang="en-AU" dirty="0" smtClean="0">
                <a:latin typeface="Arial" pitchFamily="34" charset="0"/>
                <a:cs typeface="Arial" pitchFamily="34" charset="0"/>
              </a:rPr>
              <a:t>within the </a:t>
            </a:r>
            <a:r>
              <a:rPr lang="en-AU" b="1" dirty="0" smtClean="0">
                <a:latin typeface="Arial" pitchFamily="34" charset="0"/>
                <a:cs typeface="Arial" pitchFamily="34" charset="0"/>
              </a:rPr>
              <a:t>middle mediastinum</a:t>
            </a:r>
            <a:r>
              <a:rPr lang="en-AU" dirty="0" smtClean="0">
                <a:latin typeface="Arial" pitchFamily="34" charset="0"/>
                <a:cs typeface="Arial" pitchFamily="34" charset="0"/>
              </a:rPr>
              <a:t>, </a:t>
            </a:r>
            <a:r>
              <a:rPr lang="en-AU" b="1" dirty="0" smtClean="0">
                <a:latin typeface="Arial" pitchFamily="34" charset="0"/>
                <a:cs typeface="Arial" pitchFamily="34" charset="0"/>
              </a:rPr>
              <a:t>posterior </a:t>
            </a:r>
            <a:r>
              <a:rPr lang="en-AU" dirty="0" smtClean="0">
                <a:latin typeface="Arial" pitchFamily="34" charset="0"/>
                <a:cs typeface="Arial" pitchFamily="34" charset="0"/>
              </a:rPr>
              <a:t>to the </a:t>
            </a:r>
            <a:r>
              <a:rPr lang="en-AU" b="1" dirty="0" smtClean="0">
                <a:latin typeface="Arial" pitchFamily="34" charset="0"/>
                <a:cs typeface="Arial" pitchFamily="34" charset="0"/>
              </a:rPr>
              <a:t>body</a:t>
            </a:r>
            <a:r>
              <a:rPr lang="en-AU" dirty="0" smtClean="0">
                <a:latin typeface="Arial" pitchFamily="34" charset="0"/>
                <a:cs typeface="Arial" pitchFamily="34" charset="0"/>
              </a:rPr>
              <a:t> of the </a:t>
            </a:r>
            <a:r>
              <a:rPr lang="en-AU" b="1" dirty="0" smtClean="0">
                <a:latin typeface="Arial" pitchFamily="34" charset="0"/>
                <a:cs typeface="Arial" pitchFamily="34" charset="0"/>
              </a:rPr>
              <a:t>sternum</a:t>
            </a:r>
            <a:r>
              <a:rPr lang="en-AU" dirty="0" smtClean="0">
                <a:latin typeface="Arial" pitchFamily="34" charset="0"/>
                <a:cs typeface="Arial" pitchFamily="34" charset="0"/>
              </a:rPr>
              <a:t> and </a:t>
            </a:r>
            <a:r>
              <a:rPr lang="en-AU" b="1" dirty="0" smtClean="0">
                <a:latin typeface="Arial" pitchFamily="34" charset="0"/>
                <a:cs typeface="Arial" pitchFamily="34" charset="0"/>
              </a:rPr>
              <a:t>2nd-6th </a:t>
            </a:r>
            <a:r>
              <a:rPr lang="en-AU" b="1" dirty="0" smtClean="0">
                <a:latin typeface="Arial" pitchFamily="34" charset="0"/>
                <a:cs typeface="Arial" pitchFamily="34" charset="0"/>
              </a:rPr>
              <a:t>costal cartilages </a:t>
            </a:r>
            <a:r>
              <a:rPr lang="en-AU" dirty="0" smtClean="0">
                <a:latin typeface="Arial" pitchFamily="34" charset="0"/>
                <a:cs typeface="Arial" pitchFamily="34" charset="0"/>
              </a:rPr>
              <a:t>and </a:t>
            </a:r>
            <a:r>
              <a:rPr lang="en-AU" b="1" dirty="0" smtClean="0">
                <a:latin typeface="Arial" pitchFamily="34" charset="0"/>
                <a:cs typeface="Arial" pitchFamily="34" charset="0"/>
              </a:rPr>
              <a:t>anterior</a:t>
            </a:r>
            <a:r>
              <a:rPr lang="en-AU" dirty="0" smtClean="0">
                <a:latin typeface="Arial" pitchFamily="34" charset="0"/>
                <a:cs typeface="Arial" pitchFamily="34" charset="0"/>
              </a:rPr>
              <a:t> to the </a:t>
            </a:r>
            <a:r>
              <a:rPr lang="en-AU" b="1" dirty="0" smtClean="0">
                <a:latin typeface="Arial" pitchFamily="34" charset="0"/>
                <a:cs typeface="Arial" pitchFamily="34" charset="0"/>
              </a:rPr>
              <a:t>middle four thoracic vertebrae </a:t>
            </a:r>
            <a:r>
              <a:rPr lang="en-AU" dirty="0" smtClean="0">
                <a:latin typeface="Arial" pitchFamily="34" charset="0"/>
                <a:cs typeface="Arial" pitchFamily="34" charset="0"/>
              </a:rPr>
              <a:t>(i.e., from </a:t>
            </a:r>
            <a:r>
              <a:rPr lang="en-AU" b="1" dirty="0" smtClean="0">
                <a:latin typeface="Arial" pitchFamily="34" charset="0"/>
                <a:cs typeface="Arial" pitchFamily="34" charset="0"/>
              </a:rPr>
              <a:t>T5 to T8</a:t>
            </a:r>
            <a:r>
              <a:rPr lang="en-AU" dirty="0" smtClean="0">
                <a:latin typeface="Arial" pitchFamily="34" charset="0"/>
                <a:cs typeface="Arial" pitchFamily="34" charset="0"/>
              </a:rPr>
              <a:t>).</a:t>
            </a:r>
            <a:endParaRPr lang="en-US" dirty="0">
              <a:latin typeface="Arial" pitchFamily="34" charset="0"/>
              <a:cs typeface="Arial" pitchFamily="34"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14356"/>
            <a:ext cx="8229600" cy="1143008"/>
          </a:xfrm>
        </p:spPr>
        <p:txBody>
          <a:bodyPr>
            <a:normAutofit/>
          </a:bodyPr>
          <a:lstStyle/>
          <a:p>
            <a:r>
              <a:rPr lang="en-AU" dirty="0" smtClean="0">
                <a:latin typeface="Arial Black" pitchFamily="34" charset="0"/>
              </a:rPr>
              <a:t>F</a:t>
            </a:r>
            <a:r>
              <a:rPr lang="en-AU" dirty="0" smtClean="0">
                <a:latin typeface="Arial Black" pitchFamily="34" charset="0"/>
              </a:rPr>
              <a:t>unctions</a:t>
            </a:r>
            <a:endParaRPr lang="en-US" dirty="0">
              <a:latin typeface="Arial Black" pitchFamily="34" charset="0"/>
            </a:endParaRPr>
          </a:p>
        </p:txBody>
      </p:sp>
      <p:sp>
        <p:nvSpPr>
          <p:cNvPr id="3" name="Content Placeholder 2"/>
          <p:cNvSpPr>
            <a:spLocks noGrp="1"/>
          </p:cNvSpPr>
          <p:nvPr>
            <p:ph idx="1"/>
          </p:nvPr>
        </p:nvSpPr>
        <p:spPr>
          <a:xfrm>
            <a:off x="457200" y="2214554"/>
            <a:ext cx="8229600" cy="3911609"/>
          </a:xfrm>
        </p:spPr>
        <p:txBody>
          <a:bodyPr>
            <a:normAutofit fontScale="92500"/>
          </a:bodyPr>
          <a:lstStyle/>
          <a:p>
            <a:pPr algn="just"/>
            <a:r>
              <a:rPr lang="en-AU" dirty="0" smtClean="0">
                <a:latin typeface="Arial" pitchFamily="34" charset="0"/>
                <a:cs typeface="Arial" pitchFamily="34" charset="0"/>
              </a:rPr>
              <a:t>It </a:t>
            </a:r>
            <a:r>
              <a:rPr lang="en-AU" b="1" dirty="0" smtClean="0">
                <a:latin typeface="Arial" pitchFamily="34" charset="0"/>
                <a:cs typeface="Arial" pitchFamily="34" charset="0"/>
              </a:rPr>
              <a:t>restricts</a:t>
            </a:r>
            <a:r>
              <a:rPr lang="en-AU" dirty="0" smtClean="0">
                <a:latin typeface="Arial" pitchFamily="34" charset="0"/>
                <a:cs typeface="Arial" pitchFamily="34" charset="0"/>
              </a:rPr>
              <a:t> </a:t>
            </a:r>
            <a:r>
              <a:rPr lang="en-AU" b="1" dirty="0" smtClean="0">
                <a:latin typeface="Arial" pitchFamily="34" charset="0"/>
                <a:cs typeface="Arial" pitchFamily="34" charset="0"/>
              </a:rPr>
              <a:t>excessive movements </a:t>
            </a:r>
            <a:r>
              <a:rPr lang="en-AU" dirty="0" smtClean="0">
                <a:latin typeface="Arial" pitchFamily="34" charset="0"/>
                <a:cs typeface="Arial" pitchFamily="34" charset="0"/>
              </a:rPr>
              <a:t>of the </a:t>
            </a:r>
            <a:r>
              <a:rPr lang="en-AU" b="1" dirty="0" smtClean="0">
                <a:latin typeface="Arial" pitchFamily="34" charset="0"/>
                <a:cs typeface="Arial" pitchFamily="34" charset="0"/>
              </a:rPr>
              <a:t>heart</a:t>
            </a:r>
          </a:p>
          <a:p>
            <a:pPr algn="just"/>
            <a:endParaRPr lang="en-AU" dirty="0" smtClean="0">
              <a:latin typeface="Arial" pitchFamily="34" charset="0"/>
              <a:cs typeface="Arial" pitchFamily="34" charset="0"/>
            </a:endParaRPr>
          </a:p>
          <a:p>
            <a:pPr algn="just"/>
            <a:r>
              <a:rPr lang="en-AU" dirty="0" smtClean="0">
                <a:latin typeface="Arial" pitchFamily="34" charset="0"/>
                <a:cs typeface="Arial" pitchFamily="34" charset="0"/>
              </a:rPr>
              <a:t>It serves as a </a:t>
            </a:r>
            <a:r>
              <a:rPr lang="en-AU" b="1" dirty="0" smtClean="0">
                <a:latin typeface="Arial" pitchFamily="34" charset="0"/>
                <a:cs typeface="Arial" pitchFamily="34" charset="0"/>
              </a:rPr>
              <a:t>lubricated container </a:t>
            </a:r>
            <a:r>
              <a:rPr lang="en-AU" dirty="0" smtClean="0">
                <a:latin typeface="Arial" pitchFamily="34" charset="0"/>
                <a:cs typeface="Arial" pitchFamily="34" charset="0"/>
              </a:rPr>
              <a:t>in which </a:t>
            </a:r>
            <a:r>
              <a:rPr lang="en-AU" b="1" dirty="0" smtClean="0">
                <a:latin typeface="Arial" pitchFamily="34" charset="0"/>
                <a:cs typeface="Arial" pitchFamily="34" charset="0"/>
              </a:rPr>
              <a:t>heart</a:t>
            </a:r>
            <a:r>
              <a:rPr lang="en-AU" dirty="0" smtClean="0">
                <a:latin typeface="Arial" pitchFamily="34" charset="0"/>
                <a:cs typeface="Arial" pitchFamily="34" charset="0"/>
              </a:rPr>
              <a:t> can </a:t>
            </a:r>
            <a:r>
              <a:rPr lang="en-AU" b="1" dirty="0" smtClean="0">
                <a:latin typeface="Arial" pitchFamily="34" charset="0"/>
                <a:cs typeface="Arial" pitchFamily="34" charset="0"/>
              </a:rPr>
              <a:t>contract</a:t>
            </a:r>
            <a:r>
              <a:rPr lang="en-AU" dirty="0" smtClean="0">
                <a:latin typeface="Arial" pitchFamily="34" charset="0"/>
                <a:cs typeface="Arial" pitchFamily="34" charset="0"/>
              </a:rPr>
              <a:t> and </a:t>
            </a:r>
            <a:r>
              <a:rPr lang="en-AU" b="1" dirty="0" smtClean="0">
                <a:latin typeface="Arial" pitchFamily="34" charset="0"/>
                <a:cs typeface="Arial" pitchFamily="34" charset="0"/>
              </a:rPr>
              <a:t>relax smoothly</a:t>
            </a:r>
            <a:r>
              <a:rPr lang="en-AU" dirty="0" smtClean="0">
                <a:latin typeface="Arial" pitchFamily="34" charset="0"/>
                <a:cs typeface="Arial" pitchFamily="34" charset="0"/>
              </a:rPr>
              <a:t>, and</a:t>
            </a:r>
          </a:p>
          <a:p>
            <a:pPr algn="just"/>
            <a:endParaRPr lang="en-AU" dirty="0" smtClean="0">
              <a:latin typeface="Arial" pitchFamily="34" charset="0"/>
              <a:cs typeface="Arial" pitchFamily="34" charset="0"/>
            </a:endParaRPr>
          </a:p>
          <a:p>
            <a:pPr algn="just"/>
            <a:r>
              <a:rPr lang="en-AU" dirty="0" smtClean="0">
                <a:latin typeface="Arial" pitchFamily="34" charset="0"/>
                <a:cs typeface="Arial" pitchFamily="34" charset="0"/>
              </a:rPr>
              <a:t>It </a:t>
            </a:r>
            <a:r>
              <a:rPr lang="en-AU" b="1" dirty="0" smtClean="0">
                <a:latin typeface="Arial" pitchFamily="34" charset="0"/>
                <a:cs typeface="Arial" pitchFamily="34" charset="0"/>
              </a:rPr>
              <a:t>limits</a:t>
            </a:r>
            <a:r>
              <a:rPr lang="en-AU" dirty="0" smtClean="0">
                <a:latin typeface="Arial" pitchFamily="34" charset="0"/>
                <a:cs typeface="Arial" pitchFamily="34" charset="0"/>
              </a:rPr>
              <a:t> the </a:t>
            </a:r>
            <a:r>
              <a:rPr lang="en-AU" b="1" dirty="0" smtClean="0">
                <a:latin typeface="Arial" pitchFamily="34" charset="0"/>
                <a:cs typeface="Arial" pitchFamily="34" charset="0"/>
              </a:rPr>
              <a:t>cardiac distension</a:t>
            </a:r>
            <a:r>
              <a:rPr lang="en-AU" dirty="0" smtClean="0">
                <a:latin typeface="Arial" pitchFamily="34" charset="0"/>
                <a:cs typeface="Arial" pitchFamily="34" charset="0"/>
              </a:rPr>
              <a:t>.</a:t>
            </a:r>
            <a:endParaRPr lang="en-US" dirty="0">
              <a:latin typeface="Arial" pitchFamily="34" charset="0"/>
              <a:cs typeface="Arial" pitchFamily="34"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Arial Black" pitchFamily="34" charset="0"/>
              </a:rPr>
              <a:t>Subdivisions</a:t>
            </a:r>
            <a:endParaRPr lang="en-US" dirty="0">
              <a:latin typeface="Arial Black" pitchFamily="34" charset="0"/>
            </a:endParaRPr>
          </a:p>
        </p:txBody>
      </p:sp>
      <p:sp>
        <p:nvSpPr>
          <p:cNvPr id="3" name="Content Placeholder 2"/>
          <p:cNvSpPr>
            <a:spLocks noGrp="1"/>
          </p:cNvSpPr>
          <p:nvPr>
            <p:ph idx="1"/>
          </p:nvPr>
        </p:nvSpPr>
        <p:spPr>
          <a:xfrm>
            <a:off x="457200" y="1600200"/>
            <a:ext cx="8229600" cy="4757758"/>
          </a:xfrm>
        </p:spPr>
        <p:txBody>
          <a:bodyPr/>
          <a:lstStyle/>
          <a:p>
            <a:pPr algn="just">
              <a:buFont typeface="Wingdings" pitchFamily="2" charset="2"/>
              <a:buChar char="Ø"/>
            </a:pPr>
            <a:r>
              <a:rPr lang="en-AU" dirty="0" smtClean="0">
                <a:latin typeface="Arial" pitchFamily="34" charset="0"/>
                <a:cs typeface="Arial" pitchFamily="34" charset="0"/>
              </a:rPr>
              <a:t>The </a:t>
            </a:r>
            <a:r>
              <a:rPr lang="en-AU" b="1" dirty="0" smtClean="0">
                <a:latin typeface="Arial" pitchFamily="34" charset="0"/>
                <a:cs typeface="Arial" pitchFamily="34" charset="0"/>
              </a:rPr>
              <a:t>pericardium</a:t>
            </a:r>
            <a:r>
              <a:rPr lang="en-AU" dirty="0" smtClean="0">
                <a:latin typeface="Arial" pitchFamily="34" charset="0"/>
                <a:cs typeface="Arial" pitchFamily="34" charset="0"/>
              </a:rPr>
              <a:t> consists of </a:t>
            </a:r>
            <a:r>
              <a:rPr lang="en-AU" b="1" dirty="0" smtClean="0">
                <a:latin typeface="Arial" pitchFamily="34" charset="0"/>
                <a:cs typeface="Arial" pitchFamily="34" charset="0"/>
              </a:rPr>
              <a:t>two components</a:t>
            </a:r>
            <a:r>
              <a:rPr lang="en-AU" dirty="0" smtClean="0">
                <a:latin typeface="Arial" pitchFamily="34" charset="0"/>
                <a:cs typeface="Arial" pitchFamily="34" charset="0"/>
              </a:rPr>
              <a:t>:</a:t>
            </a:r>
          </a:p>
          <a:p>
            <a:pPr marL="514350" indent="-514350" algn="just">
              <a:buAutoNum type="alphaLcParenBoth"/>
            </a:pPr>
            <a:r>
              <a:rPr lang="en-AU" dirty="0" smtClean="0">
                <a:latin typeface="Arial" pitchFamily="34" charset="0"/>
                <a:cs typeface="Arial" pitchFamily="34" charset="0"/>
              </a:rPr>
              <a:t>an outer </a:t>
            </a:r>
            <a:r>
              <a:rPr lang="en-AU" b="1" dirty="0" smtClean="0">
                <a:latin typeface="Arial" pitchFamily="34" charset="0"/>
                <a:cs typeface="Arial" pitchFamily="34" charset="0"/>
              </a:rPr>
              <a:t>single layered fibrous sac </a:t>
            </a:r>
            <a:r>
              <a:rPr lang="en-AU" dirty="0" smtClean="0">
                <a:latin typeface="Arial" pitchFamily="34" charset="0"/>
                <a:cs typeface="Arial" pitchFamily="34" charset="0"/>
              </a:rPr>
              <a:t>called  </a:t>
            </a:r>
            <a:r>
              <a:rPr lang="en-AU" b="1" dirty="0" smtClean="0">
                <a:latin typeface="Arial" pitchFamily="34" charset="0"/>
                <a:cs typeface="Arial" pitchFamily="34" charset="0"/>
              </a:rPr>
              <a:t>fibrous pericardium</a:t>
            </a:r>
            <a:r>
              <a:rPr lang="en-AU" dirty="0" smtClean="0">
                <a:latin typeface="Arial" pitchFamily="34" charset="0"/>
                <a:cs typeface="Arial" pitchFamily="34" charset="0"/>
              </a:rPr>
              <a:t>.</a:t>
            </a:r>
          </a:p>
          <a:p>
            <a:pPr marL="514350" indent="-514350" algn="just">
              <a:buNone/>
            </a:pPr>
            <a:endParaRPr lang="en-AU" dirty="0" smtClean="0">
              <a:latin typeface="Arial" pitchFamily="34" charset="0"/>
              <a:cs typeface="Arial" pitchFamily="34" charset="0"/>
            </a:endParaRPr>
          </a:p>
          <a:p>
            <a:pPr algn="just">
              <a:buNone/>
            </a:pPr>
            <a:r>
              <a:rPr lang="en-AU" dirty="0" smtClean="0">
                <a:latin typeface="Arial" pitchFamily="34" charset="0"/>
                <a:cs typeface="Arial" pitchFamily="34" charset="0"/>
              </a:rPr>
              <a:t>(b) inner </a:t>
            </a:r>
            <a:r>
              <a:rPr lang="en-AU" b="1" dirty="0" smtClean="0">
                <a:latin typeface="Arial" pitchFamily="34" charset="0"/>
                <a:cs typeface="Arial" pitchFamily="34" charset="0"/>
              </a:rPr>
              <a:t>double layered serous sac </a:t>
            </a:r>
            <a:r>
              <a:rPr lang="en-AU" dirty="0" smtClean="0">
                <a:latin typeface="Arial" pitchFamily="34" charset="0"/>
                <a:cs typeface="Arial" pitchFamily="34" charset="0"/>
              </a:rPr>
              <a:t>called  </a:t>
            </a:r>
            <a:r>
              <a:rPr lang="en-AU" b="1" dirty="0" smtClean="0">
                <a:latin typeface="Arial" pitchFamily="34" charset="0"/>
                <a:cs typeface="Arial" pitchFamily="34" charset="0"/>
              </a:rPr>
              <a:t>serous pericardium</a:t>
            </a:r>
            <a:r>
              <a:rPr lang="en-AU" dirty="0" smtClean="0">
                <a:latin typeface="Arial" pitchFamily="34" charset="0"/>
                <a:cs typeface="Arial" pitchFamily="34" charset="0"/>
              </a:rPr>
              <a:t>.</a:t>
            </a:r>
            <a:endParaRPr lang="en-US" dirty="0">
              <a:latin typeface="Arial" pitchFamily="34" charset="0"/>
              <a:cs typeface="Arial" pitchFamily="34"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357166"/>
            <a:ext cx="9144000" cy="6286544"/>
          </a:xfrm>
        </p:spPr>
        <p:txBody>
          <a:bodyPr>
            <a:noAutofit/>
          </a:bodyPr>
          <a:lstStyle/>
          <a:p>
            <a:pPr algn="just"/>
            <a:r>
              <a:rPr lang="en-AU" dirty="0" smtClean="0">
                <a:latin typeface="Arial" pitchFamily="34" charset="0"/>
                <a:cs typeface="Arial" pitchFamily="34" charset="0"/>
              </a:rPr>
              <a:t>The </a:t>
            </a:r>
            <a:r>
              <a:rPr lang="en-AU" b="1" dirty="0" smtClean="0">
                <a:latin typeface="Arial" pitchFamily="34" charset="0"/>
                <a:cs typeface="Arial" pitchFamily="34" charset="0"/>
              </a:rPr>
              <a:t>heart and great vessels </a:t>
            </a:r>
            <a:r>
              <a:rPr lang="en-AU" dirty="0" smtClean="0">
                <a:latin typeface="Arial" pitchFamily="34" charset="0"/>
                <a:cs typeface="Arial" pitchFamily="34" charset="0"/>
              </a:rPr>
              <a:t>lie inside the </a:t>
            </a:r>
            <a:r>
              <a:rPr lang="en-AU" b="1" dirty="0" smtClean="0">
                <a:latin typeface="Arial" pitchFamily="34" charset="0"/>
                <a:cs typeface="Arial" pitchFamily="34" charset="0"/>
              </a:rPr>
              <a:t>fibrous sac </a:t>
            </a:r>
            <a:r>
              <a:rPr lang="en-AU" dirty="0" smtClean="0">
                <a:latin typeface="Arial" pitchFamily="34" charset="0"/>
                <a:cs typeface="Arial" pitchFamily="34" charset="0"/>
              </a:rPr>
              <a:t>and </a:t>
            </a:r>
            <a:r>
              <a:rPr lang="en-AU" b="1" dirty="0" smtClean="0">
                <a:latin typeface="Arial" pitchFamily="34" charset="0"/>
                <a:cs typeface="Arial" pitchFamily="34" charset="0"/>
              </a:rPr>
              <a:t>invaginate</a:t>
            </a:r>
            <a:r>
              <a:rPr lang="en-AU" dirty="0" smtClean="0">
                <a:latin typeface="Arial" pitchFamily="34" charset="0"/>
                <a:cs typeface="Arial" pitchFamily="34" charset="0"/>
              </a:rPr>
              <a:t> the </a:t>
            </a:r>
            <a:r>
              <a:rPr lang="en-AU" b="1" dirty="0" smtClean="0">
                <a:latin typeface="Arial" pitchFamily="34" charset="0"/>
                <a:cs typeface="Arial" pitchFamily="34" charset="0"/>
              </a:rPr>
              <a:t>serous sac </a:t>
            </a:r>
            <a:r>
              <a:rPr lang="en-AU" dirty="0" smtClean="0">
                <a:latin typeface="Arial" pitchFamily="34" charset="0"/>
                <a:cs typeface="Arial" pitchFamily="34" charset="0"/>
              </a:rPr>
              <a:t>from </a:t>
            </a:r>
            <a:r>
              <a:rPr lang="en-AU" b="1" dirty="0" smtClean="0">
                <a:latin typeface="Arial" pitchFamily="34" charset="0"/>
                <a:cs typeface="Arial" pitchFamily="34" charset="0"/>
              </a:rPr>
              <a:t>behind </a:t>
            </a:r>
            <a:r>
              <a:rPr lang="en-AU" dirty="0" smtClean="0">
                <a:latin typeface="Arial" pitchFamily="34" charset="0"/>
                <a:cs typeface="Arial" pitchFamily="34" charset="0"/>
              </a:rPr>
              <a:t>during </a:t>
            </a:r>
            <a:r>
              <a:rPr lang="en-AU" b="1" dirty="0" smtClean="0">
                <a:latin typeface="Arial" pitchFamily="34" charset="0"/>
                <a:cs typeface="Arial" pitchFamily="34" charset="0"/>
              </a:rPr>
              <a:t>development</a:t>
            </a:r>
            <a:r>
              <a:rPr lang="en-AU" dirty="0" smtClean="0">
                <a:latin typeface="Arial" pitchFamily="34" charset="0"/>
                <a:cs typeface="Arial" pitchFamily="34" charset="0"/>
              </a:rPr>
              <a:t>. As a result, the </a:t>
            </a:r>
            <a:r>
              <a:rPr lang="en-AU" b="1" dirty="0" smtClean="0">
                <a:latin typeface="Arial" pitchFamily="34" charset="0"/>
                <a:cs typeface="Arial" pitchFamily="34" charset="0"/>
              </a:rPr>
              <a:t>external surface of the heart </a:t>
            </a:r>
            <a:r>
              <a:rPr lang="en-AU" dirty="0" smtClean="0">
                <a:latin typeface="Arial" pitchFamily="34" charset="0"/>
                <a:cs typeface="Arial" pitchFamily="34" charset="0"/>
              </a:rPr>
              <a:t>and </a:t>
            </a:r>
            <a:r>
              <a:rPr lang="en-AU" b="1" dirty="0" smtClean="0">
                <a:latin typeface="Arial" pitchFamily="34" charset="0"/>
                <a:cs typeface="Arial" pitchFamily="34" charset="0"/>
              </a:rPr>
              <a:t>internal surface of the fibrous pericardium </a:t>
            </a:r>
            <a:r>
              <a:rPr lang="en-AU" dirty="0" smtClean="0">
                <a:latin typeface="Arial" pitchFamily="34" charset="0"/>
                <a:cs typeface="Arial" pitchFamily="34" charset="0"/>
              </a:rPr>
              <a:t>are covered by a </a:t>
            </a:r>
            <a:r>
              <a:rPr lang="en-AU" b="1" dirty="0" smtClean="0">
                <a:latin typeface="Arial" pitchFamily="34" charset="0"/>
                <a:cs typeface="Arial" pitchFamily="34" charset="0"/>
              </a:rPr>
              <a:t>layer of serous pericardium</a:t>
            </a:r>
            <a:r>
              <a:rPr lang="en-AU" dirty="0" smtClean="0">
                <a:latin typeface="Arial" pitchFamily="34" charset="0"/>
                <a:cs typeface="Arial" pitchFamily="34" charset="0"/>
              </a:rPr>
              <a:t>. The </a:t>
            </a:r>
            <a:r>
              <a:rPr lang="en-AU" b="1" dirty="0" smtClean="0">
                <a:latin typeface="Arial" pitchFamily="34" charset="0"/>
                <a:cs typeface="Arial" pitchFamily="34" charset="0"/>
              </a:rPr>
              <a:t>layer</a:t>
            </a:r>
            <a:r>
              <a:rPr lang="en-AU" dirty="0" smtClean="0">
                <a:latin typeface="Arial" pitchFamily="34" charset="0"/>
                <a:cs typeface="Arial" pitchFamily="34" charset="0"/>
              </a:rPr>
              <a:t> covering the </a:t>
            </a:r>
            <a:r>
              <a:rPr lang="en-AU" b="1" dirty="0" smtClean="0">
                <a:latin typeface="Arial" pitchFamily="34" charset="0"/>
                <a:cs typeface="Arial" pitchFamily="34" charset="0"/>
              </a:rPr>
              <a:t>surface of the heart </a:t>
            </a:r>
            <a:r>
              <a:rPr lang="en-AU" dirty="0" smtClean="0">
                <a:latin typeface="Arial" pitchFamily="34" charset="0"/>
                <a:cs typeface="Arial" pitchFamily="34" charset="0"/>
              </a:rPr>
              <a:t>is called </a:t>
            </a:r>
            <a:r>
              <a:rPr lang="en-AU" b="1" dirty="0" smtClean="0">
                <a:latin typeface="Arial" pitchFamily="34" charset="0"/>
                <a:cs typeface="Arial" pitchFamily="34" charset="0"/>
              </a:rPr>
              <a:t>visceral pericardium </a:t>
            </a:r>
            <a:r>
              <a:rPr lang="en-AU" dirty="0" smtClean="0">
                <a:latin typeface="Arial" pitchFamily="34" charset="0"/>
                <a:cs typeface="Arial" pitchFamily="34" charset="0"/>
              </a:rPr>
              <a:t>or </a:t>
            </a:r>
            <a:r>
              <a:rPr lang="en-AU" b="1" dirty="0" smtClean="0">
                <a:latin typeface="Arial" pitchFamily="34" charset="0"/>
                <a:cs typeface="Arial" pitchFamily="34" charset="0"/>
              </a:rPr>
              <a:t>epicardium</a:t>
            </a:r>
            <a:r>
              <a:rPr lang="en-AU" dirty="0" smtClean="0">
                <a:latin typeface="Arial" pitchFamily="34" charset="0"/>
                <a:cs typeface="Arial" pitchFamily="34" charset="0"/>
              </a:rPr>
              <a:t> and the </a:t>
            </a:r>
            <a:r>
              <a:rPr lang="en-AU" b="1" dirty="0" smtClean="0">
                <a:latin typeface="Arial" pitchFamily="34" charset="0"/>
                <a:cs typeface="Arial" pitchFamily="34" charset="0"/>
              </a:rPr>
              <a:t>layer </a:t>
            </a:r>
            <a:r>
              <a:rPr lang="en-AU" dirty="0" smtClean="0">
                <a:latin typeface="Arial" pitchFamily="34" charset="0"/>
                <a:cs typeface="Arial" pitchFamily="34" charset="0"/>
              </a:rPr>
              <a:t>covering the </a:t>
            </a:r>
            <a:r>
              <a:rPr lang="en-AU" b="1" dirty="0" smtClean="0">
                <a:latin typeface="Arial" pitchFamily="34" charset="0"/>
                <a:cs typeface="Arial" pitchFamily="34" charset="0"/>
              </a:rPr>
              <a:t>inner aspect of the fibrous pericardium </a:t>
            </a:r>
            <a:r>
              <a:rPr lang="en-AU" dirty="0" smtClean="0">
                <a:latin typeface="Arial" pitchFamily="34" charset="0"/>
                <a:cs typeface="Arial" pitchFamily="34" charset="0"/>
              </a:rPr>
              <a:t>is called </a:t>
            </a:r>
            <a:r>
              <a:rPr lang="en-AU" b="1" dirty="0" smtClean="0">
                <a:latin typeface="Arial" pitchFamily="34" charset="0"/>
                <a:cs typeface="Arial" pitchFamily="34" charset="0"/>
              </a:rPr>
              <a:t>parietal pericardium</a:t>
            </a:r>
            <a:r>
              <a:rPr lang="en-AU" dirty="0" smtClean="0">
                <a:latin typeface="Arial" pitchFamily="34" charset="0"/>
                <a:cs typeface="Arial" pitchFamily="34" charset="0"/>
              </a:rPr>
              <a:t>. The intervening </a:t>
            </a:r>
            <a:r>
              <a:rPr lang="en-AU" b="1" dirty="0" smtClean="0">
                <a:latin typeface="Arial" pitchFamily="34" charset="0"/>
                <a:cs typeface="Arial" pitchFamily="34" charset="0"/>
              </a:rPr>
              <a:t>potential space </a:t>
            </a:r>
            <a:r>
              <a:rPr lang="en-AU" dirty="0" smtClean="0">
                <a:latin typeface="Arial" pitchFamily="34" charset="0"/>
                <a:cs typeface="Arial" pitchFamily="34" charset="0"/>
              </a:rPr>
              <a:t>between the </a:t>
            </a:r>
            <a:r>
              <a:rPr lang="en-AU" b="1" dirty="0" smtClean="0">
                <a:latin typeface="Arial" pitchFamily="34" charset="0"/>
                <a:cs typeface="Arial" pitchFamily="34" charset="0"/>
              </a:rPr>
              <a:t>two serous layers</a:t>
            </a:r>
            <a:r>
              <a:rPr lang="en-AU" dirty="0" smtClean="0">
                <a:latin typeface="Arial" pitchFamily="34" charset="0"/>
                <a:cs typeface="Arial" pitchFamily="34" charset="0"/>
              </a:rPr>
              <a:t> is called </a:t>
            </a:r>
            <a:r>
              <a:rPr lang="en-AU" b="1" dirty="0" smtClean="0">
                <a:latin typeface="Arial" pitchFamily="34" charset="0"/>
                <a:cs typeface="Arial" pitchFamily="34" charset="0"/>
              </a:rPr>
              <a:t>pericardial cavity</a:t>
            </a:r>
            <a:r>
              <a:rPr lang="en-AU" dirty="0" smtClean="0">
                <a:latin typeface="Arial" pitchFamily="34" charset="0"/>
                <a:cs typeface="Arial" pitchFamily="34" charset="0"/>
              </a:rPr>
              <a:t>.</a:t>
            </a:r>
            <a:endParaRPr lang="en-US" dirty="0">
              <a:latin typeface="Arial" pitchFamily="34" charset="0"/>
              <a:cs typeface="Arial" pitchFamily="34" charset="0"/>
            </a:endParaRPr>
          </a:p>
        </p:txBody>
      </p:sp>
      <p:sp>
        <p:nvSpPr>
          <p:cNvPr id="4" name="TextBox 3"/>
          <p:cNvSpPr txBox="1"/>
          <p:nvPr/>
        </p:nvSpPr>
        <p:spPr>
          <a:xfrm>
            <a:off x="3643306" y="0"/>
            <a:ext cx="2794493" cy="769441"/>
          </a:xfrm>
          <a:prstGeom prst="rect">
            <a:avLst/>
          </a:prstGeom>
          <a:noFill/>
        </p:spPr>
        <p:txBody>
          <a:bodyPr wrap="square" rtlCol="0">
            <a:spAutoFit/>
          </a:bodyPr>
          <a:lstStyle/>
          <a:p>
            <a:r>
              <a:rPr lang="en-AU" sz="4400" dirty="0" smtClean="0">
                <a:latin typeface="Arial Black" pitchFamily="34" charset="0"/>
              </a:rPr>
              <a:t>Cont’d</a:t>
            </a:r>
            <a:endParaRPr lang="en-US" sz="4400" dirty="0">
              <a:latin typeface="Arial Black" pitchFamily="34"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Grp="1" noChangeAspect="1" noChangeArrowheads="1"/>
          </p:cNvPicPr>
          <p:nvPr>
            <p:ph idx="1"/>
          </p:nvPr>
        </p:nvPicPr>
        <p:blipFill>
          <a:blip r:embed="rId2"/>
          <a:srcRect/>
          <a:stretch>
            <a:fillRect/>
          </a:stretch>
        </p:blipFill>
        <p:spPr bwMode="auto">
          <a:xfrm>
            <a:off x="357158" y="1000108"/>
            <a:ext cx="3619503" cy="4572032"/>
          </a:xfrm>
          <a:prstGeom prst="rect">
            <a:avLst/>
          </a:prstGeom>
          <a:noFill/>
          <a:ln w="9525">
            <a:noFill/>
            <a:miter lim="800000"/>
            <a:headEnd/>
            <a:tailEnd/>
          </a:ln>
          <a:effectLst/>
        </p:spPr>
      </p:pic>
      <p:sp>
        <p:nvSpPr>
          <p:cNvPr id="5" name="Right Arrow 4"/>
          <p:cNvSpPr/>
          <p:nvPr/>
        </p:nvSpPr>
        <p:spPr>
          <a:xfrm flipV="1">
            <a:off x="4071934" y="3571876"/>
            <a:ext cx="978408" cy="42862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3"/>
          <p:cNvPicPr>
            <a:picLocks noChangeAspect="1" noChangeArrowheads="1"/>
          </p:cNvPicPr>
          <p:nvPr/>
        </p:nvPicPr>
        <p:blipFill>
          <a:blip r:embed="rId3"/>
          <a:srcRect/>
          <a:stretch>
            <a:fillRect/>
          </a:stretch>
        </p:blipFill>
        <p:spPr bwMode="auto">
          <a:xfrm>
            <a:off x="5286380" y="1285860"/>
            <a:ext cx="2990850" cy="4786346"/>
          </a:xfrm>
          <a:prstGeom prst="rect">
            <a:avLst/>
          </a:prstGeom>
          <a:noFill/>
          <a:ln w="9525">
            <a:noFill/>
            <a:miter lim="800000"/>
            <a:headEnd/>
            <a:tailEnd/>
          </a:ln>
          <a:effectLst/>
        </p:spPr>
      </p:pic>
      <p:sp>
        <p:nvSpPr>
          <p:cNvPr id="8" name="TextBox 7"/>
          <p:cNvSpPr txBox="1"/>
          <p:nvPr/>
        </p:nvSpPr>
        <p:spPr>
          <a:xfrm>
            <a:off x="1857356" y="5786455"/>
            <a:ext cx="5284460" cy="646331"/>
          </a:xfrm>
          <a:prstGeom prst="rect">
            <a:avLst/>
          </a:prstGeom>
          <a:noFill/>
        </p:spPr>
        <p:txBody>
          <a:bodyPr wrap="square" rtlCol="0">
            <a:spAutoFit/>
          </a:bodyPr>
          <a:lstStyle/>
          <a:p>
            <a:r>
              <a:rPr lang="en-AU" dirty="0" smtClean="0">
                <a:latin typeface="Arial" pitchFamily="34" charset="0"/>
                <a:cs typeface="Arial" pitchFamily="34" charset="0"/>
              </a:rPr>
              <a:t>Development of different layers of the pericardium</a:t>
            </a:r>
            <a:endParaRPr lang="en-US" dirty="0" smtClean="0">
              <a:latin typeface="Arial" pitchFamily="34" charset="0"/>
              <a:cs typeface="Arial" pitchFamily="34" charset="0"/>
            </a:endParaRPr>
          </a:p>
          <a:p>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14290"/>
            <a:ext cx="8472518" cy="6429420"/>
          </a:xfrm>
        </p:spPr>
        <p:txBody>
          <a:bodyPr/>
          <a:lstStyle/>
          <a:p>
            <a:pPr algn="just">
              <a:buFont typeface="Wingdings" pitchFamily="2" charset="2"/>
              <a:buChar char="Ø"/>
            </a:pPr>
            <a:r>
              <a:rPr lang="en-AU" dirty="0" smtClean="0">
                <a:latin typeface="Arial" pitchFamily="34" charset="0"/>
                <a:cs typeface="Arial" pitchFamily="34" charset="0"/>
              </a:rPr>
              <a:t>The </a:t>
            </a:r>
            <a:r>
              <a:rPr lang="en-AU" b="1" dirty="0" smtClean="0">
                <a:latin typeface="Arial" pitchFamily="34" charset="0"/>
                <a:cs typeface="Arial" pitchFamily="34" charset="0"/>
              </a:rPr>
              <a:t>pericardium</a:t>
            </a:r>
            <a:r>
              <a:rPr lang="en-AU" dirty="0" smtClean="0">
                <a:latin typeface="Arial" pitchFamily="34" charset="0"/>
                <a:cs typeface="Arial" pitchFamily="34" charset="0"/>
              </a:rPr>
              <a:t> consists of </a:t>
            </a:r>
            <a:r>
              <a:rPr lang="en-AU" b="1" dirty="0" smtClean="0">
                <a:latin typeface="Arial" pitchFamily="34" charset="0"/>
                <a:cs typeface="Arial" pitchFamily="34" charset="0"/>
              </a:rPr>
              <a:t>three layers</a:t>
            </a:r>
          </a:p>
          <a:p>
            <a:pPr algn="just"/>
            <a:r>
              <a:rPr lang="en-AU" dirty="0" smtClean="0">
                <a:latin typeface="Arial" pitchFamily="34" charset="0"/>
                <a:cs typeface="Arial" pitchFamily="34" charset="0"/>
              </a:rPr>
              <a:t>From </a:t>
            </a:r>
            <a:r>
              <a:rPr lang="en-AU" b="1" dirty="0" smtClean="0">
                <a:latin typeface="Arial" pitchFamily="34" charset="0"/>
                <a:cs typeface="Arial" pitchFamily="34" charset="0"/>
              </a:rPr>
              <a:t>outside</a:t>
            </a:r>
            <a:r>
              <a:rPr lang="en-AU" dirty="0" smtClean="0">
                <a:latin typeface="Arial" pitchFamily="34" charset="0"/>
                <a:cs typeface="Arial" pitchFamily="34" charset="0"/>
              </a:rPr>
              <a:t> to </a:t>
            </a:r>
            <a:r>
              <a:rPr lang="en-AU" b="1" dirty="0" smtClean="0">
                <a:latin typeface="Arial" pitchFamily="34" charset="0"/>
                <a:cs typeface="Arial" pitchFamily="34" charset="0"/>
              </a:rPr>
              <a:t>inwards</a:t>
            </a:r>
            <a:r>
              <a:rPr lang="en-AU" dirty="0" smtClean="0">
                <a:latin typeface="Arial" pitchFamily="34" charset="0"/>
                <a:cs typeface="Arial" pitchFamily="34" charset="0"/>
              </a:rPr>
              <a:t> these are:</a:t>
            </a:r>
          </a:p>
          <a:p>
            <a:pPr algn="just">
              <a:buNone/>
            </a:pPr>
            <a:r>
              <a:rPr lang="en-AU" dirty="0" smtClean="0">
                <a:latin typeface="Arial" pitchFamily="34" charset="0"/>
                <a:cs typeface="Arial" pitchFamily="34" charset="0"/>
              </a:rPr>
              <a:t>1.  </a:t>
            </a:r>
            <a:r>
              <a:rPr lang="en-AU" b="1" dirty="0" smtClean="0">
                <a:latin typeface="Arial" pitchFamily="34" charset="0"/>
                <a:cs typeface="Arial" pitchFamily="34" charset="0"/>
              </a:rPr>
              <a:t>Fibrous layer </a:t>
            </a:r>
            <a:r>
              <a:rPr lang="en-AU" dirty="0" smtClean="0">
                <a:latin typeface="Arial" pitchFamily="34" charset="0"/>
                <a:cs typeface="Arial" pitchFamily="34" charset="0"/>
              </a:rPr>
              <a:t>of the </a:t>
            </a:r>
            <a:r>
              <a:rPr lang="en-AU" b="1" dirty="0" smtClean="0">
                <a:latin typeface="Arial" pitchFamily="34" charset="0"/>
                <a:cs typeface="Arial" pitchFamily="34" charset="0"/>
              </a:rPr>
              <a:t>pericardium</a:t>
            </a:r>
            <a:r>
              <a:rPr lang="en-AU" dirty="0" smtClean="0">
                <a:latin typeface="Arial" pitchFamily="34" charset="0"/>
                <a:cs typeface="Arial" pitchFamily="34" charset="0"/>
              </a:rPr>
              <a:t>.</a:t>
            </a:r>
          </a:p>
          <a:p>
            <a:pPr algn="just">
              <a:buNone/>
            </a:pPr>
            <a:r>
              <a:rPr lang="en-AU" dirty="0" smtClean="0">
                <a:latin typeface="Arial" pitchFamily="34" charset="0"/>
                <a:cs typeface="Arial" pitchFamily="34" charset="0"/>
              </a:rPr>
              <a:t>2.  </a:t>
            </a:r>
            <a:r>
              <a:rPr lang="en-AU" b="1" dirty="0" smtClean="0">
                <a:latin typeface="Arial" pitchFamily="34" charset="0"/>
                <a:cs typeface="Arial" pitchFamily="34" charset="0"/>
              </a:rPr>
              <a:t>Parietal layer </a:t>
            </a:r>
            <a:r>
              <a:rPr lang="en-AU" dirty="0" smtClean="0">
                <a:latin typeface="Arial" pitchFamily="34" charset="0"/>
                <a:cs typeface="Arial" pitchFamily="34" charset="0"/>
              </a:rPr>
              <a:t>of the </a:t>
            </a:r>
            <a:r>
              <a:rPr lang="en-AU" b="1" dirty="0" smtClean="0">
                <a:latin typeface="Arial" pitchFamily="34" charset="0"/>
                <a:cs typeface="Arial" pitchFamily="34" charset="0"/>
              </a:rPr>
              <a:t>serous pericardium</a:t>
            </a:r>
            <a:r>
              <a:rPr lang="en-AU" dirty="0" smtClean="0">
                <a:latin typeface="Arial" pitchFamily="34" charset="0"/>
                <a:cs typeface="Arial" pitchFamily="34" charset="0"/>
              </a:rPr>
              <a:t>.</a:t>
            </a:r>
          </a:p>
          <a:p>
            <a:pPr algn="just">
              <a:buNone/>
            </a:pPr>
            <a:r>
              <a:rPr lang="en-AU" dirty="0" smtClean="0">
                <a:latin typeface="Arial" pitchFamily="34" charset="0"/>
                <a:cs typeface="Arial" pitchFamily="34" charset="0"/>
              </a:rPr>
              <a:t>3. </a:t>
            </a:r>
            <a:r>
              <a:rPr lang="en-AU" b="1" dirty="0" smtClean="0">
                <a:latin typeface="Arial" pitchFamily="34" charset="0"/>
                <a:cs typeface="Arial" pitchFamily="34" charset="0"/>
              </a:rPr>
              <a:t>Visceral layer </a:t>
            </a:r>
            <a:r>
              <a:rPr lang="en-AU" dirty="0" smtClean="0">
                <a:latin typeface="Arial" pitchFamily="34" charset="0"/>
                <a:cs typeface="Arial" pitchFamily="34" charset="0"/>
              </a:rPr>
              <a:t>of the </a:t>
            </a:r>
            <a:r>
              <a:rPr lang="en-AU" b="1" dirty="0" smtClean="0">
                <a:latin typeface="Arial" pitchFamily="34" charset="0"/>
                <a:cs typeface="Arial" pitchFamily="34" charset="0"/>
              </a:rPr>
              <a:t>serous pericardium </a:t>
            </a:r>
            <a:r>
              <a:rPr lang="en-AU" dirty="0" smtClean="0">
                <a:latin typeface="Arial" pitchFamily="34" charset="0"/>
                <a:cs typeface="Arial" pitchFamily="34" charset="0"/>
              </a:rPr>
              <a:t>(</a:t>
            </a:r>
            <a:r>
              <a:rPr lang="en-AU" b="1" dirty="0" smtClean="0">
                <a:latin typeface="Arial" pitchFamily="34" charset="0"/>
                <a:cs typeface="Arial" pitchFamily="34" charset="0"/>
              </a:rPr>
              <a:t>epicardium</a:t>
            </a:r>
            <a:r>
              <a:rPr lang="en-AU" dirty="0" smtClean="0">
                <a:latin typeface="Arial" pitchFamily="34" charset="0"/>
                <a:cs typeface="Arial" pitchFamily="34" charset="0"/>
              </a:rPr>
              <a:t>).</a:t>
            </a:r>
          </a:p>
          <a:p>
            <a:pPr algn="just">
              <a:buNone/>
            </a:pPr>
            <a:endParaRPr lang="en-AU" dirty="0" smtClean="0">
              <a:latin typeface="Arial" pitchFamily="34" charset="0"/>
              <a:cs typeface="Arial" pitchFamily="34" charset="0"/>
            </a:endParaRPr>
          </a:p>
          <a:p>
            <a:pPr algn="just">
              <a:buNone/>
            </a:pPr>
            <a:endParaRPr lang="en-AU" dirty="0" smtClean="0">
              <a:latin typeface="Arial" pitchFamily="34" charset="0"/>
              <a:cs typeface="Arial" pitchFamily="34" charset="0"/>
            </a:endParaRPr>
          </a:p>
          <a:p>
            <a:pPr algn="just">
              <a:buNone/>
            </a:pPr>
            <a:endParaRPr lang="en-US" dirty="0">
              <a:latin typeface="Arial" pitchFamily="34" charset="0"/>
              <a:cs typeface="Arial" pitchFamily="34" charset="0"/>
            </a:endParaRPr>
          </a:p>
        </p:txBody>
      </p:sp>
      <p:pic>
        <p:nvPicPr>
          <p:cNvPr id="1028" name="Picture 4"/>
          <p:cNvPicPr>
            <a:picLocks noChangeAspect="1" noChangeArrowheads="1"/>
          </p:cNvPicPr>
          <p:nvPr/>
        </p:nvPicPr>
        <p:blipFill>
          <a:blip r:embed="rId2"/>
          <a:srcRect/>
          <a:stretch>
            <a:fillRect/>
          </a:stretch>
        </p:blipFill>
        <p:spPr bwMode="auto">
          <a:xfrm>
            <a:off x="1500166" y="3500438"/>
            <a:ext cx="5786478" cy="3048002"/>
          </a:xfrm>
          <a:prstGeom prst="rect">
            <a:avLst/>
          </a:prstGeom>
          <a:noFill/>
          <a:ln w="9525">
            <a:noFill/>
            <a:miter lim="800000"/>
            <a:headEnd/>
            <a:tailEnd/>
          </a:ln>
          <a:effectLst/>
        </p:spPr>
      </p:pic>
      <p:sp>
        <p:nvSpPr>
          <p:cNvPr id="11" name="TextBox 10"/>
          <p:cNvSpPr txBox="1"/>
          <p:nvPr/>
        </p:nvSpPr>
        <p:spPr>
          <a:xfrm>
            <a:off x="2928926" y="6357958"/>
            <a:ext cx="2857520" cy="369332"/>
          </a:xfrm>
          <a:prstGeom prst="rect">
            <a:avLst/>
          </a:prstGeom>
          <a:noFill/>
        </p:spPr>
        <p:txBody>
          <a:bodyPr wrap="square" rtlCol="0">
            <a:spAutoFit/>
          </a:bodyPr>
          <a:lstStyle/>
          <a:p>
            <a:r>
              <a:rPr lang="en-AU" dirty="0" smtClean="0"/>
              <a:t>Layers of pericardium</a:t>
            </a:r>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28604"/>
            <a:ext cx="8229600" cy="1143008"/>
          </a:xfrm>
        </p:spPr>
        <p:txBody>
          <a:bodyPr/>
          <a:lstStyle/>
          <a:p>
            <a:r>
              <a:rPr lang="en-US" dirty="0" smtClean="0">
                <a:latin typeface="Arial Black" pitchFamily="34" charset="0"/>
              </a:rPr>
              <a:t>FIBROUS PERICARDIUM</a:t>
            </a:r>
            <a:endParaRPr lang="en-US" dirty="0">
              <a:latin typeface="Arial Black" pitchFamily="34" charset="0"/>
            </a:endParaRPr>
          </a:p>
        </p:txBody>
      </p:sp>
      <p:sp>
        <p:nvSpPr>
          <p:cNvPr id="3" name="Content Placeholder 2"/>
          <p:cNvSpPr>
            <a:spLocks noGrp="1"/>
          </p:cNvSpPr>
          <p:nvPr>
            <p:ph idx="1"/>
          </p:nvPr>
        </p:nvSpPr>
        <p:spPr/>
        <p:txBody>
          <a:bodyPr/>
          <a:lstStyle/>
          <a:p>
            <a:pPr algn="just"/>
            <a:r>
              <a:rPr lang="en-AU" dirty="0" smtClean="0">
                <a:latin typeface="Arial" pitchFamily="34" charset="0"/>
                <a:cs typeface="Arial" pitchFamily="34" charset="0"/>
              </a:rPr>
              <a:t>It is </a:t>
            </a:r>
            <a:r>
              <a:rPr lang="en-AU" b="1" dirty="0" smtClean="0">
                <a:latin typeface="Arial" pitchFamily="34" charset="0"/>
                <a:cs typeface="Arial" pitchFamily="34" charset="0"/>
              </a:rPr>
              <a:t>strong fibrous sac </a:t>
            </a:r>
            <a:r>
              <a:rPr lang="en-AU" dirty="0" smtClean="0">
                <a:latin typeface="Arial" pitchFamily="34" charset="0"/>
                <a:cs typeface="Arial" pitchFamily="34" charset="0"/>
              </a:rPr>
              <a:t>which supports the </a:t>
            </a:r>
            <a:r>
              <a:rPr lang="en-AU" b="1" dirty="0" smtClean="0">
                <a:latin typeface="Arial" pitchFamily="34" charset="0"/>
                <a:cs typeface="Arial" pitchFamily="34" charset="0"/>
              </a:rPr>
              <a:t>delicate parietal layer </a:t>
            </a:r>
            <a:r>
              <a:rPr lang="en-AU" dirty="0" smtClean="0">
                <a:latin typeface="Arial" pitchFamily="34" charset="0"/>
                <a:cs typeface="Arial" pitchFamily="34" charset="0"/>
              </a:rPr>
              <a:t>of the </a:t>
            </a:r>
            <a:r>
              <a:rPr lang="en-AU" b="1" dirty="0" smtClean="0">
                <a:latin typeface="Arial" pitchFamily="34" charset="0"/>
                <a:cs typeface="Arial" pitchFamily="34" charset="0"/>
              </a:rPr>
              <a:t>serous pericardium </a:t>
            </a:r>
            <a:r>
              <a:rPr lang="en-AU" dirty="0" smtClean="0">
                <a:latin typeface="Arial" pitchFamily="34" charset="0"/>
                <a:cs typeface="Arial" pitchFamily="34" charset="0"/>
              </a:rPr>
              <a:t>with which it is </a:t>
            </a:r>
            <a:r>
              <a:rPr lang="en-AU" b="1" dirty="0" smtClean="0">
                <a:latin typeface="Arial" pitchFamily="34" charset="0"/>
                <a:cs typeface="Arial" pitchFamily="34" charset="0"/>
              </a:rPr>
              <a:t>firmly adherent</a:t>
            </a:r>
            <a:r>
              <a:rPr lang="en-AU" dirty="0" smtClean="0">
                <a:latin typeface="Arial" pitchFamily="34" charset="0"/>
                <a:cs typeface="Arial" pitchFamily="34" charset="0"/>
              </a:rPr>
              <a:t>.</a:t>
            </a:r>
          </a:p>
          <a:p>
            <a:pPr algn="just">
              <a:buFont typeface="Wingdings" pitchFamily="2" charset="2"/>
              <a:buChar char="Ø"/>
            </a:pPr>
            <a:r>
              <a:rPr lang="en-US" b="1" dirty="0" smtClean="0">
                <a:latin typeface="Arial" pitchFamily="34" charset="0"/>
                <a:cs typeface="Arial" pitchFamily="34" charset="0"/>
              </a:rPr>
              <a:t>Features</a:t>
            </a:r>
          </a:p>
          <a:p>
            <a:pPr algn="just"/>
            <a:r>
              <a:rPr lang="en-AU" dirty="0" smtClean="0">
                <a:latin typeface="Arial" pitchFamily="34" charset="0"/>
                <a:cs typeface="Arial" pitchFamily="34" charset="0"/>
              </a:rPr>
              <a:t>The </a:t>
            </a:r>
            <a:r>
              <a:rPr lang="en-AU" b="1" dirty="0" smtClean="0">
                <a:latin typeface="Arial" pitchFamily="34" charset="0"/>
                <a:cs typeface="Arial" pitchFamily="34" charset="0"/>
              </a:rPr>
              <a:t>features </a:t>
            </a:r>
            <a:r>
              <a:rPr lang="en-AU" dirty="0" smtClean="0">
                <a:latin typeface="Arial" pitchFamily="34" charset="0"/>
                <a:cs typeface="Arial" pitchFamily="34" charset="0"/>
              </a:rPr>
              <a:t>of </a:t>
            </a:r>
            <a:r>
              <a:rPr lang="en-AU" b="1" dirty="0" smtClean="0">
                <a:latin typeface="Arial" pitchFamily="34" charset="0"/>
                <a:cs typeface="Arial" pitchFamily="34" charset="0"/>
              </a:rPr>
              <a:t>fibrous pericardium </a:t>
            </a:r>
            <a:r>
              <a:rPr lang="en-AU" dirty="0" smtClean="0">
                <a:latin typeface="Arial" pitchFamily="34" charset="0"/>
                <a:cs typeface="Arial" pitchFamily="34" charset="0"/>
              </a:rPr>
              <a:t>are as </a:t>
            </a:r>
            <a:r>
              <a:rPr lang="en-AU" b="1" dirty="0" smtClean="0">
                <a:latin typeface="Arial" pitchFamily="34" charset="0"/>
                <a:cs typeface="Arial" pitchFamily="34" charset="0"/>
              </a:rPr>
              <a:t>follows:</a:t>
            </a:r>
            <a:endParaRPr lang="en-US" b="1" dirty="0">
              <a:latin typeface="Arial" pitchFamily="34" charset="0"/>
              <a:cs typeface="Arial" pitchFamily="34"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AU" dirty="0" smtClean="0">
                <a:latin typeface="Arial Black" pitchFamily="34" charset="0"/>
                <a:cs typeface="Arial" pitchFamily="34" charset="0"/>
              </a:rPr>
              <a:t>The </a:t>
            </a:r>
            <a:r>
              <a:rPr lang="en-AU" b="1" dirty="0" smtClean="0">
                <a:latin typeface="Arial Black" pitchFamily="34" charset="0"/>
                <a:cs typeface="Arial" pitchFamily="34" charset="0"/>
              </a:rPr>
              <a:t>features</a:t>
            </a:r>
            <a:r>
              <a:rPr lang="en-AU" dirty="0" smtClean="0">
                <a:latin typeface="Arial Black" pitchFamily="34" charset="0"/>
                <a:cs typeface="Arial" pitchFamily="34" charset="0"/>
              </a:rPr>
              <a:t> of </a:t>
            </a:r>
            <a:r>
              <a:rPr lang="en-AU" b="1" dirty="0" smtClean="0">
                <a:latin typeface="Arial Black" pitchFamily="34" charset="0"/>
                <a:cs typeface="Arial" pitchFamily="34" charset="0"/>
              </a:rPr>
              <a:t>fibrous pericardium</a:t>
            </a:r>
            <a:endParaRPr lang="en-US" b="1" dirty="0">
              <a:latin typeface="Arial Black" pitchFamily="34" charset="0"/>
              <a:cs typeface="Arial" pitchFamily="34" charset="0"/>
            </a:endParaRPr>
          </a:p>
        </p:txBody>
      </p:sp>
      <p:sp>
        <p:nvSpPr>
          <p:cNvPr id="3" name="Content Placeholder 2"/>
          <p:cNvSpPr>
            <a:spLocks noGrp="1"/>
          </p:cNvSpPr>
          <p:nvPr>
            <p:ph idx="1"/>
          </p:nvPr>
        </p:nvSpPr>
        <p:spPr>
          <a:xfrm>
            <a:off x="285720" y="1428736"/>
            <a:ext cx="8572560" cy="5429264"/>
          </a:xfrm>
        </p:spPr>
        <p:txBody>
          <a:bodyPr>
            <a:normAutofit fontScale="92500"/>
          </a:bodyPr>
          <a:lstStyle/>
          <a:p>
            <a:pPr algn="just"/>
            <a:r>
              <a:rPr lang="en-AU" sz="3500" dirty="0" smtClean="0">
                <a:latin typeface="Arial" pitchFamily="34" charset="0"/>
                <a:cs typeface="Arial" pitchFamily="34" charset="0"/>
              </a:rPr>
              <a:t>It is </a:t>
            </a:r>
            <a:r>
              <a:rPr lang="en-AU" sz="3500" b="1" dirty="0" smtClean="0">
                <a:latin typeface="Arial" pitchFamily="34" charset="0"/>
                <a:cs typeface="Arial" pitchFamily="34" charset="0"/>
              </a:rPr>
              <a:t>conical</a:t>
            </a:r>
            <a:r>
              <a:rPr lang="en-AU" sz="3500" dirty="0" smtClean="0">
                <a:latin typeface="Arial" pitchFamily="34" charset="0"/>
                <a:cs typeface="Arial" pitchFamily="34" charset="0"/>
              </a:rPr>
              <a:t> in </a:t>
            </a:r>
            <a:r>
              <a:rPr lang="en-AU" sz="3500" b="1" dirty="0" smtClean="0">
                <a:latin typeface="Arial" pitchFamily="34" charset="0"/>
                <a:cs typeface="Arial" pitchFamily="34" charset="0"/>
              </a:rPr>
              <a:t>shape</a:t>
            </a:r>
          </a:p>
          <a:p>
            <a:pPr algn="just"/>
            <a:r>
              <a:rPr lang="en-AU" sz="3500" dirty="0" smtClean="0">
                <a:latin typeface="Arial" pitchFamily="34" charset="0"/>
                <a:cs typeface="Arial" pitchFamily="34" charset="0"/>
              </a:rPr>
              <a:t>Its </a:t>
            </a:r>
            <a:r>
              <a:rPr lang="en-AU" sz="3500" b="1" dirty="0" smtClean="0">
                <a:latin typeface="Arial" pitchFamily="34" charset="0"/>
                <a:cs typeface="Arial" pitchFamily="34" charset="0"/>
              </a:rPr>
              <a:t>apex</a:t>
            </a:r>
            <a:r>
              <a:rPr lang="en-AU" sz="3500" dirty="0" smtClean="0">
                <a:latin typeface="Arial" pitchFamily="34" charset="0"/>
                <a:cs typeface="Arial" pitchFamily="34" charset="0"/>
              </a:rPr>
              <a:t> is </a:t>
            </a:r>
            <a:r>
              <a:rPr lang="en-AU" sz="3500" b="1" dirty="0" smtClean="0">
                <a:latin typeface="Arial" pitchFamily="34" charset="0"/>
                <a:cs typeface="Arial" pitchFamily="34" charset="0"/>
              </a:rPr>
              <a:t>blunt </a:t>
            </a:r>
            <a:r>
              <a:rPr lang="en-AU" sz="3500" dirty="0" smtClean="0">
                <a:latin typeface="Arial" pitchFamily="34" charset="0"/>
                <a:cs typeface="Arial" pitchFamily="34" charset="0"/>
              </a:rPr>
              <a:t>and </a:t>
            </a:r>
            <a:r>
              <a:rPr lang="en-AU" sz="3500" b="1" dirty="0" smtClean="0">
                <a:latin typeface="Arial" pitchFamily="34" charset="0"/>
                <a:cs typeface="Arial" pitchFamily="34" charset="0"/>
              </a:rPr>
              <a:t>fused</a:t>
            </a:r>
            <a:r>
              <a:rPr lang="en-AU" sz="3500" dirty="0" smtClean="0">
                <a:latin typeface="Arial" pitchFamily="34" charset="0"/>
                <a:cs typeface="Arial" pitchFamily="34" charset="0"/>
              </a:rPr>
              <a:t> with the </a:t>
            </a:r>
            <a:r>
              <a:rPr lang="en-AU" sz="3500" b="1" dirty="0" smtClean="0">
                <a:latin typeface="Arial" pitchFamily="34" charset="0"/>
                <a:cs typeface="Arial" pitchFamily="34" charset="0"/>
              </a:rPr>
              <a:t>outer coats </a:t>
            </a:r>
            <a:r>
              <a:rPr lang="en-AU" sz="3500" dirty="0" smtClean="0">
                <a:latin typeface="Arial" pitchFamily="34" charset="0"/>
                <a:cs typeface="Arial" pitchFamily="34" charset="0"/>
              </a:rPr>
              <a:t>of the </a:t>
            </a:r>
            <a:r>
              <a:rPr lang="en-AU" sz="3500" b="1" dirty="0" smtClean="0">
                <a:latin typeface="Arial" pitchFamily="34" charset="0"/>
                <a:cs typeface="Arial" pitchFamily="34" charset="0"/>
              </a:rPr>
              <a:t>roots </a:t>
            </a:r>
            <a:r>
              <a:rPr lang="en-AU" sz="3500" dirty="0" smtClean="0">
                <a:latin typeface="Arial" pitchFamily="34" charset="0"/>
                <a:cs typeface="Arial" pitchFamily="34" charset="0"/>
              </a:rPr>
              <a:t>of </a:t>
            </a:r>
            <a:r>
              <a:rPr lang="en-AU" sz="3500" b="1" dirty="0" smtClean="0">
                <a:latin typeface="Arial" pitchFamily="34" charset="0"/>
                <a:cs typeface="Arial" pitchFamily="34" charset="0"/>
              </a:rPr>
              <a:t>great blood vessels </a:t>
            </a:r>
            <a:r>
              <a:rPr lang="en-AU" sz="3500" dirty="0" smtClean="0">
                <a:latin typeface="Arial" pitchFamily="34" charset="0"/>
                <a:cs typeface="Arial" pitchFamily="34" charset="0"/>
              </a:rPr>
              <a:t>(e.g., </a:t>
            </a:r>
            <a:r>
              <a:rPr lang="en-AU" sz="3500" b="1" dirty="0" smtClean="0">
                <a:latin typeface="Arial" pitchFamily="34" charset="0"/>
                <a:cs typeface="Arial" pitchFamily="34" charset="0"/>
              </a:rPr>
              <a:t>ascending aorta</a:t>
            </a:r>
            <a:r>
              <a:rPr lang="en-AU" sz="3500" dirty="0" smtClean="0">
                <a:latin typeface="Arial" pitchFamily="34" charset="0"/>
                <a:cs typeface="Arial" pitchFamily="34" charset="0"/>
              </a:rPr>
              <a:t>, </a:t>
            </a:r>
            <a:r>
              <a:rPr lang="en-AU" sz="3500" b="1" dirty="0" smtClean="0">
                <a:latin typeface="Arial" pitchFamily="34" charset="0"/>
                <a:cs typeface="Arial" pitchFamily="34" charset="0"/>
              </a:rPr>
              <a:t>pulmonary trunk</a:t>
            </a:r>
            <a:r>
              <a:rPr lang="en-AU" sz="3500" dirty="0" smtClean="0">
                <a:latin typeface="Arial" pitchFamily="34" charset="0"/>
                <a:cs typeface="Arial" pitchFamily="34" charset="0"/>
              </a:rPr>
              <a:t>).</a:t>
            </a:r>
          </a:p>
          <a:p>
            <a:pPr algn="just"/>
            <a:r>
              <a:rPr lang="en-AU" sz="3500" dirty="0" smtClean="0">
                <a:latin typeface="Arial" pitchFamily="34" charset="0"/>
                <a:cs typeface="Arial" pitchFamily="34" charset="0"/>
              </a:rPr>
              <a:t>Its </a:t>
            </a:r>
            <a:r>
              <a:rPr lang="en-AU" sz="3500" b="1" dirty="0" smtClean="0">
                <a:latin typeface="Arial" pitchFamily="34" charset="0"/>
                <a:cs typeface="Arial" pitchFamily="34" charset="0"/>
              </a:rPr>
              <a:t>base</a:t>
            </a:r>
            <a:r>
              <a:rPr lang="en-AU" sz="3500" dirty="0" smtClean="0">
                <a:latin typeface="Arial" pitchFamily="34" charset="0"/>
                <a:cs typeface="Arial" pitchFamily="34" charset="0"/>
              </a:rPr>
              <a:t> is </a:t>
            </a:r>
            <a:r>
              <a:rPr lang="en-AU" sz="3500" b="1" dirty="0" smtClean="0">
                <a:latin typeface="Arial" pitchFamily="34" charset="0"/>
                <a:cs typeface="Arial" pitchFamily="34" charset="0"/>
              </a:rPr>
              <a:t>broad</a:t>
            </a:r>
            <a:r>
              <a:rPr lang="en-AU" sz="3500" dirty="0" smtClean="0">
                <a:latin typeface="Arial" pitchFamily="34" charset="0"/>
                <a:cs typeface="Arial" pitchFamily="34" charset="0"/>
              </a:rPr>
              <a:t> and </a:t>
            </a:r>
            <a:r>
              <a:rPr lang="en-AU" sz="3500" b="1" dirty="0" smtClean="0">
                <a:latin typeface="Arial" pitchFamily="34" charset="0"/>
                <a:cs typeface="Arial" pitchFamily="34" charset="0"/>
              </a:rPr>
              <a:t>blended</a:t>
            </a:r>
            <a:r>
              <a:rPr lang="en-AU" sz="3500" dirty="0" smtClean="0">
                <a:latin typeface="Arial" pitchFamily="34" charset="0"/>
                <a:cs typeface="Arial" pitchFamily="34" charset="0"/>
              </a:rPr>
              <a:t> with the </a:t>
            </a:r>
            <a:r>
              <a:rPr lang="en-AU" sz="3500" b="1" dirty="0" smtClean="0">
                <a:latin typeface="Arial" pitchFamily="34" charset="0"/>
                <a:cs typeface="Arial" pitchFamily="34" charset="0"/>
              </a:rPr>
              <a:t>central tendon </a:t>
            </a:r>
            <a:r>
              <a:rPr lang="en-AU" sz="3500" dirty="0" smtClean="0">
                <a:latin typeface="Arial" pitchFamily="34" charset="0"/>
                <a:cs typeface="Arial" pitchFamily="34" charset="0"/>
              </a:rPr>
              <a:t>of the </a:t>
            </a:r>
            <a:r>
              <a:rPr lang="en-AU" sz="3500" b="1" dirty="0" smtClean="0">
                <a:latin typeface="Arial" pitchFamily="34" charset="0"/>
                <a:cs typeface="Arial" pitchFamily="34" charset="0"/>
              </a:rPr>
              <a:t>diaphragm</a:t>
            </a:r>
            <a:r>
              <a:rPr lang="en-AU" sz="3500" dirty="0" smtClean="0">
                <a:latin typeface="Arial" pitchFamily="34" charset="0"/>
                <a:cs typeface="Arial" pitchFamily="34" charset="0"/>
              </a:rPr>
              <a:t>.</a:t>
            </a:r>
          </a:p>
          <a:p>
            <a:pPr algn="just"/>
            <a:r>
              <a:rPr lang="en-AU" sz="3500" b="1" dirty="0" smtClean="0">
                <a:latin typeface="Arial" pitchFamily="34" charset="0"/>
                <a:cs typeface="Arial" pitchFamily="34" charset="0"/>
              </a:rPr>
              <a:t>Anteriorly</a:t>
            </a:r>
            <a:r>
              <a:rPr lang="en-AU" sz="3500" dirty="0" smtClean="0">
                <a:latin typeface="Arial" pitchFamily="34" charset="0"/>
                <a:cs typeface="Arial" pitchFamily="34" charset="0"/>
              </a:rPr>
              <a:t>, it is </a:t>
            </a:r>
            <a:r>
              <a:rPr lang="en-AU" sz="3500" b="1" dirty="0" smtClean="0">
                <a:latin typeface="Arial" pitchFamily="34" charset="0"/>
                <a:cs typeface="Arial" pitchFamily="34" charset="0"/>
              </a:rPr>
              <a:t>connected</a:t>
            </a:r>
            <a:r>
              <a:rPr lang="en-AU" sz="3500" dirty="0" smtClean="0">
                <a:latin typeface="Arial" pitchFamily="34" charset="0"/>
                <a:cs typeface="Arial" pitchFamily="34" charset="0"/>
              </a:rPr>
              <a:t> to the </a:t>
            </a:r>
            <a:r>
              <a:rPr lang="en-AU" sz="3500" b="1" dirty="0" smtClean="0">
                <a:latin typeface="Arial" pitchFamily="34" charset="0"/>
                <a:cs typeface="Arial" pitchFamily="34" charset="0"/>
              </a:rPr>
              <a:t>posterior aspect </a:t>
            </a:r>
            <a:r>
              <a:rPr lang="en-AU" sz="3500" dirty="0" smtClean="0">
                <a:latin typeface="Arial" pitchFamily="34" charset="0"/>
                <a:cs typeface="Arial" pitchFamily="34" charset="0"/>
              </a:rPr>
              <a:t>of the </a:t>
            </a:r>
            <a:r>
              <a:rPr lang="en-AU" sz="3500" b="1" dirty="0" smtClean="0">
                <a:latin typeface="Arial" pitchFamily="34" charset="0"/>
                <a:cs typeface="Arial" pitchFamily="34" charset="0"/>
              </a:rPr>
              <a:t>body</a:t>
            </a:r>
            <a:r>
              <a:rPr lang="en-AU" sz="3500" dirty="0" smtClean="0">
                <a:latin typeface="Arial" pitchFamily="34" charset="0"/>
                <a:cs typeface="Arial" pitchFamily="34" charset="0"/>
              </a:rPr>
              <a:t> of </a:t>
            </a:r>
            <a:r>
              <a:rPr lang="en-AU" sz="3500" b="1" dirty="0" smtClean="0">
                <a:latin typeface="Arial" pitchFamily="34" charset="0"/>
                <a:cs typeface="Arial" pitchFamily="34" charset="0"/>
              </a:rPr>
              <a:t>sternum</a:t>
            </a:r>
            <a:r>
              <a:rPr lang="en-AU" sz="3500" dirty="0" smtClean="0">
                <a:latin typeface="Arial" pitchFamily="34" charset="0"/>
                <a:cs typeface="Arial" pitchFamily="34" charset="0"/>
              </a:rPr>
              <a:t> by the </a:t>
            </a:r>
            <a:r>
              <a:rPr lang="en-AU" sz="3500" b="1" dirty="0" smtClean="0">
                <a:latin typeface="Arial" pitchFamily="34" charset="0"/>
                <a:cs typeface="Arial" pitchFamily="34" charset="0"/>
              </a:rPr>
              <a:t>superior</a:t>
            </a:r>
            <a:r>
              <a:rPr lang="en-AU" sz="3500" dirty="0" smtClean="0">
                <a:latin typeface="Arial" pitchFamily="34" charset="0"/>
                <a:cs typeface="Arial" pitchFamily="34" charset="0"/>
              </a:rPr>
              <a:t> and </a:t>
            </a:r>
            <a:r>
              <a:rPr lang="en-AU" sz="3500" b="1" dirty="0" smtClean="0">
                <a:latin typeface="Arial" pitchFamily="34" charset="0"/>
                <a:cs typeface="Arial" pitchFamily="34" charset="0"/>
              </a:rPr>
              <a:t>inferior sternopericardial ligaments</a:t>
            </a:r>
            <a:r>
              <a:rPr lang="en-AU" sz="3500" dirty="0" smtClean="0">
                <a:latin typeface="Arial" pitchFamily="34" charset="0"/>
                <a:cs typeface="Arial" pitchFamily="34" charset="0"/>
              </a:rPr>
              <a:t>.</a:t>
            </a:r>
          </a:p>
          <a:p>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a:r>
              <a:rPr lang="en-AU" b="1" dirty="0" smtClean="0">
                <a:latin typeface="Arial" pitchFamily="34" charset="0"/>
                <a:cs typeface="Arial" pitchFamily="34" charset="0"/>
              </a:rPr>
              <a:t>Posteriorly</a:t>
            </a:r>
            <a:r>
              <a:rPr lang="en-AU" dirty="0" smtClean="0">
                <a:latin typeface="Arial" pitchFamily="34" charset="0"/>
                <a:cs typeface="Arial" pitchFamily="34" charset="0"/>
              </a:rPr>
              <a:t>, It is related to </a:t>
            </a:r>
            <a:r>
              <a:rPr lang="en-AU" b="1" dirty="0" smtClean="0">
                <a:latin typeface="Arial" pitchFamily="34" charset="0"/>
                <a:cs typeface="Arial" pitchFamily="34" charset="0"/>
              </a:rPr>
              <a:t>principal bronchi</a:t>
            </a:r>
            <a:r>
              <a:rPr lang="en-AU" dirty="0" smtClean="0">
                <a:latin typeface="Arial" pitchFamily="34" charset="0"/>
                <a:cs typeface="Arial" pitchFamily="34" charset="0"/>
              </a:rPr>
              <a:t>, </a:t>
            </a:r>
            <a:r>
              <a:rPr lang="en-AU" b="1" dirty="0" smtClean="0">
                <a:latin typeface="Arial" pitchFamily="34" charset="0"/>
                <a:cs typeface="Arial" pitchFamily="34" charset="0"/>
              </a:rPr>
              <a:t>oesophagus</a:t>
            </a:r>
            <a:r>
              <a:rPr lang="en-AU" dirty="0" smtClean="0">
                <a:latin typeface="Arial" pitchFamily="34" charset="0"/>
                <a:cs typeface="Arial" pitchFamily="34" charset="0"/>
              </a:rPr>
              <a:t>, and </a:t>
            </a:r>
            <a:r>
              <a:rPr lang="en-AU" b="1" dirty="0" smtClean="0">
                <a:latin typeface="Arial" pitchFamily="34" charset="0"/>
                <a:cs typeface="Arial" pitchFamily="34" charset="0"/>
              </a:rPr>
              <a:t>descending thoracic aorta</a:t>
            </a:r>
            <a:r>
              <a:rPr lang="en-AU" dirty="0" smtClean="0">
                <a:latin typeface="Arial" pitchFamily="34" charset="0"/>
                <a:cs typeface="Arial" pitchFamily="34" charset="0"/>
              </a:rPr>
              <a:t>.</a:t>
            </a:r>
          </a:p>
          <a:p>
            <a:pPr algn="just"/>
            <a:r>
              <a:rPr lang="en-AU" b="1" dirty="0" smtClean="0">
                <a:latin typeface="Arial" pitchFamily="34" charset="0"/>
                <a:cs typeface="Arial" pitchFamily="34" charset="0"/>
              </a:rPr>
              <a:t>On each side</a:t>
            </a:r>
            <a:r>
              <a:rPr lang="en-AU" dirty="0" smtClean="0">
                <a:latin typeface="Arial" pitchFamily="34" charset="0"/>
                <a:cs typeface="Arial" pitchFamily="34" charset="0"/>
              </a:rPr>
              <a:t>, it is related to </a:t>
            </a:r>
            <a:r>
              <a:rPr lang="en-AU" b="1" dirty="0" smtClean="0">
                <a:latin typeface="Arial" pitchFamily="34" charset="0"/>
                <a:cs typeface="Arial" pitchFamily="34" charset="0"/>
              </a:rPr>
              <a:t>phrenic nerve </a:t>
            </a:r>
            <a:r>
              <a:rPr lang="en-AU" dirty="0" smtClean="0">
                <a:latin typeface="Arial" pitchFamily="34" charset="0"/>
                <a:cs typeface="Arial" pitchFamily="34" charset="0"/>
              </a:rPr>
              <a:t>and </a:t>
            </a:r>
            <a:r>
              <a:rPr lang="en-AU" b="1" dirty="0" smtClean="0">
                <a:latin typeface="Arial" pitchFamily="34" charset="0"/>
                <a:cs typeface="Arial" pitchFamily="34" charset="0"/>
              </a:rPr>
              <a:t>pericardiophrenic vessels</a:t>
            </a:r>
            <a:r>
              <a:rPr lang="en-AU" dirty="0" smtClean="0">
                <a:latin typeface="Arial" pitchFamily="34" charset="0"/>
                <a:cs typeface="Arial" pitchFamily="34" charset="0"/>
              </a:rPr>
              <a:t>.</a:t>
            </a:r>
            <a:endParaRPr lang="en-US" dirty="0">
              <a:latin typeface="Arial" pitchFamily="34" charset="0"/>
              <a:cs typeface="Arial" pitchFamily="34" charset="0"/>
            </a:endParaRPr>
          </a:p>
        </p:txBody>
      </p:sp>
      <p:sp>
        <p:nvSpPr>
          <p:cNvPr id="4" name="TextBox 3"/>
          <p:cNvSpPr txBox="1"/>
          <p:nvPr/>
        </p:nvSpPr>
        <p:spPr>
          <a:xfrm>
            <a:off x="3286116" y="642918"/>
            <a:ext cx="2151551" cy="769441"/>
          </a:xfrm>
          <a:prstGeom prst="rect">
            <a:avLst/>
          </a:prstGeom>
          <a:noFill/>
        </p:spPr>
        <p:txBody>
          <a:bodyPr wrap="square" rtlCol="0">
            <a:spAutoFit/>
          </a:bodyPr>
          <a:lstStyle/>
          <a:p>
            <a:r>
              <a:rPr lang="en-AU" sz="4400" dirty="0" smtClean="0">
                <a:latin typeface="Arial Black" pitchFamily="34" charset="0"/>
              </a:rPr>
              <a:t>Cont’d</a:t>
            </a:r>
            <a:endParaRPr lang="en-US" sz="4400" dirty="0">
              <a:latin typeface="Arial Black" pitchFamily="34"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latin typeface="Arial Black" pitchFamily="34" charset="0"/>
              </a:rPr>
              <a:t>SEROUS PERICARDIUM</a:t>
            </a:r>
            <a:endParaRPr lang="en-US" dirty="0">
              <a:latin typeface="Arial Black" pitchFamily="34" charset="0"/>
            </a:endParaRPr>
          </a:p>
        </p:txBody>
      </p:sp>
      <p:sp>
        <p:nvSpPr>
          <p:cNvPr id="3" name="Content Placeholder 2"/>
          <p:cNvSpPr>
            <a:spLocks noGrp="1"/>
          </p:cNvSpPr>
          <p:nvPr>
            <p:ph idx="1"/>
          </p:nvPr>
        </p:nvSpPr>
        <p:spPr>
          <a:xfrm>
            <a:off x="285720" y="1285860"/>
            <a:ext cx="8572560" cy="5214974"/>
          </a:xfrm>
        </p:spPr>
        <p:txBody>
          <a:bodyPr>
            <a:noAutofit/>
          </a:bodyPr>
          <a:lstStyle/>
          <a:p>
            <a:pPr algn="just"/>
            <a:r>
              <a:rPr lang="en-AU" dirty="0" smtClean="0">
                <a:latin typeface="Arial" pitchFamily="34" charset="0"/>
                <a:cs typeface="Arial" pitchFamily="34" charset="0"/>
              </a:rPr>
              <a:t>It is </a:t>
            </a:r>
            <a:r>
              <a:rPr lang="en-AU" b="1" dirty="0" smtClean="0">
                <a:latin typeface="Arial" pitchFamily="34" charset="0"/>
                <a:cs typeface="Arial" pitchFamily="34" charset="0"/>
              </a:rPr>
              <a:t>thin serous membrane </a:t>
            </a:r>
            <a:r>
              <a:rPr lang="en-AU" dirty="0" smtClean="0">
                <a:latin typeface="Arial" pitchFamily="34" charset="0"/>
                <a:cs typeface="Arial" pitchFamily="34" charset="0"/>
              </a:rPr>
              <a:t>lined by </a:t>
            </a:r>
            <a:r>
              <a:rPr lang="en-AU" b="1" dirty="0" smtClean="0">
                <a:latin typeface="Arial" pitchFamily="34" charset="0"/>
                <a:cs typeface="Arial" pitchFamily="34" charset="0"/>
              </a:rPr>
              <a:t>mesothelium</a:t>
            </a:r>
            <a:r>
              <a:rPr lang="en-AU" dirty="0" smtClean="0">
                <a:latin typeface="Arial" pitchFamily="34" charset="0"/>
                <a:cs typeface="Arial" pitchFamily="34" charset="0"/>
              </a:rPr>
              <a:t>. It is </a:t>
            </a:r>
            <a:r>
              <a:rPr lang="en-AU" b="1" dirty="0" smtClean="0">
                <a:latin typeface="Arial" pitchFamily="34" charset="0"/>
                <a:cs typeface="Arial" pitchFamily="34" charset="0"/>
              </a:rPr>
              <a:t>double layered</a:t>
            </a:r>
            <a:r>
              <a:rPr lang="en-AU" dirty="0" smtClean="0">
                <a:latin typeface="Arial" pitchFamily="34" charset="0"/>
                <a:cs typeface="Arial" pitchFamily="34" charset="0"/>
              </a:rPr>
              <a:t>, the </a:t>
            </a:r>
            <a:r>
              <a:rPr lang="en-AU" b="1" dirty="0" smtClean="0">
                <a:latin typeface="Arial" pitchFamily="34" charset="0"/>
                <a:cs typeface="Arial" pitchFamily="34" charset="0"/>
              </a:rPr>
              <a:t>outer layer </a:t>
            </a:r>
            <a:r>
              <a:rPr lang="en-AU" dirty="0" smtClean="0">
                <a:latin typeface="Arial" pitchFamily="34" charset="0"/>
                <a:cs typeface="Arial" pitchFamily="34" charset="0"/>
              </a:rPr>
              <a:t>is called </a:t>
            </a:r>
            <a:r>
              <a:rPr lang="en-AU" b="1" dirty="0" smtClean="0">
                <a:latin typeface="Arial" pitchFamily="34" charset="0"/>
                <a:cs typeface="Arial" pitchFamily="34" charset="0"/>
              </a:rPr>
              <a:t>parietal layer </a:t>
            </a:r>
            <a:r>
              <a:rPr lang="en-AU" dirty="0" smtClean="0">
                <a:latin typeface="Arial" pitchFamily="34" charset="0"/>
                <a:cs typeface="Arial" pitchFamily="34" charset="0"/>
              </a:rPr>
              <a:t>and the </a:t>
            </a:r>
            <a:r>
              <a:rPr lang="en-AU" b="1" dirty="0" smtClean="0">
                <a:latin typeface="Arial" pitchFamily="34" charset="0"/>
                <a:cs typeface="Arial" pitchFamily="34" charset="0"/>
              </a:rPr>
              <a:t>inner layer </a:t>
            </a:r>
            <a:r>
              <a:rPr lang="en-AU" dirty="0" smtClean="0">
                <a:latin typeface="Arial" pitchFamily="34" charset="0"/>
                <a:cs typeface="Arial" pitchFamily="34" charset="0"/>
              </a:rPr>
              <a:t>is called </a:t>
            </a:r>
            <a:r>
              <a:rPr lang="en-AU" b="1" dirty="0" smtClean="0">
                <a:latin typeface="Arial" pitchFamily="34" charset="0"/>
                <a:cs typeface="Arial" pitchFamily="34" charset="0"/>
              </a:rPr>
              <a:t>visceral layer</a:t>
            </a:r>
            <a:r>
              <a:rPr lang="en-AU" dirty="0" smtClean="0">
                <a:latin typeface="Arial" pitchFamily="34" charset="0"/>
                <a:cs typeface="Arial" pitchFamily="34" charset="0"/>
              </a:rPr>
              <a:t>.</a:t>
            </a:r>
          </a:p>
          <a:p>
            <a:pPr algn="just"/>
            <a:r>
              <a:rPr lang="en-AU" dirty="0" smtClean="0">
                <a:latin typeface="Arial" pitchFamily="34" charset="0"/>
                <a:cs typeface="Arial" pitchFamily="34" charset="0"/>
              </a:rPr>
              <a:t>The </a:t>
            </a:r>
            <a:r>
              <a:rPr lang="en-AU" b="1" dirty="0" smtClean="0">
                <a:latin typeface="Arial" pitchFamily="34" charset="0"/>
                <a:cs typeface="Arial" pitchFamily="34" charset="0"/>
              </a:rPr>
              <a:t>outer layer </a:t>
            </a:r>
            <a:r>
              <a:rPr lang="en-AU" dirty="0" smtClean="0">
                <a:latin typeface="Arial" pitchFamily="34" charset="0"/>
                <a:cs typeface="Arial" pitchFamily="34" charset="0"/>
              </a:rPr>
              <a:t>lines the </a:t>
            </a:r>
            <a:r>
              <a:rPr lang="en-AU" b="1" dirty="0" smtClean="0">
                <a:latin typeface="Arial" pitchFamily="34" charset="0"/>
                <a:cs typeface="Arial" pitchFamily="34" charset="0"/>
              </a:rPr>
              <a:t>fibrous pericardium </a:t>
            </a:r>
            <a:r>
              <a:rPr lang="en-AU" dirty="0" smtClean="0">
                <a:latin typeface="Arial" pitchFamily="34" charset="0"/>
                <a:cs typeface="Arial" pitchFamily="34" charset="0"/>
              </a:rPr>
              <a:t>and is </a:t>
            </a:r>
            <a:r>
              <a:rPr lang="en-AU" b="1" dirty="0" smtClean="0">
                <a:latin typeface="Arial" pitchFamily="34" charset="0"/>
                <a:cs typeface="Arial" pitchFamily="34" charset="0"/>
              </a:rPr>
              <a:t>reflected</a:t>
            </a:r>
            <a:r>
              <a:rPr lang="en-AU" dirty="0" smtClean="0">
                <a:latin typeface="Arial" pitchFamily="34" charset="0"/>
                <a:cs typeface="Arial" pitchFamily="34" charset="0"/>
              </a:rPr>
              <a:t> around the roots of </a:t>
            </a:r>
            <a:r>
              <a:rPr lang="en-AU" b="1" dirty="0" smtClean="0">
                <a:latin typeface="Arial" pitchFamily="34" charset="0"/>
                <a:cs typeface="Arial" pitchFamily="34" charset="0"/>
              </a:rPr>
              <a:t>great blood vessels </a:t>
            </a:r>
            <a:r>
              <a:rPr lang="en-AU" dirty="0" smtClean="0">
                <a:latin typeface="Arial" pitchFamily="34" charset="0"/>
                <a:cs typeface="Arial" pitchFamily="34" charset="0"/>
              </a:rPr>
              <a:t>to become continuous with the </a:t>
            </a:r>
            <a:r>
              <a:rPr lang="en-AU" b="1" dirty="0" smtClean="0">
                <a:latin typeface="Arial" pitchFamily="34" charset="0"/>
                <a:cs typeface="Arial" pitchFamily="34" charset="0"/>
              </a:rPr>
              <a:t>visceral layer of the pericardium. </a:t>
            </a:r>
            <a:r>
              <a:rPr lang="en-AU" dirty="0" smtClean="0">
                <a:latin typeface="Arial" pitchFamily="34" charset="0"/>
                <a:cs typeface="Arial" pitchFamily="34" charset="0"/>
              </a:rPr>
              <a:t>It is called </a:t>
            </a:r>
            <a:r>
              <a:rPr lang="en-AU" b="1" dirty="0" smtClean="0">
                <a:latin typeface="Arial" pitchFamily="34" charset="0"/>
                <a:cs typeface="Arial" pitchFamily="34" charset="0"/>
              </a:rPr>
              <a:t>parietal pericardium.</a:t>
            </a:r>
            <a:endParaRPr lang="en-US" b="1" dirty="0">
              <a:latin typeface="Arial" pitchFamily="34" charset="0"/>
              <a:cs typeface="Arial" pitchFamily="34"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a:r>
              <a:rPr lang="en-AU" dirty="0" smtClean="0">
                <a:latin typeface="Arial" pitchFamily="34" charset="0"/>
                <a:cs typeface="Arial" pitchFamily="34" charset="0"/>
              </a:rPr>
              <a:t>The </a:t>
            </a:r>
            <a:r>
              <a:rPr lang="en-AU" b="1" dirty="0" smtClean="0">
                <a:latin typeface="Arial" pitchFamily="34" charset="0"/>
                <a:cs typeface="Arial" pitchFamily="34" charset="0"/>
              </a:rPr>
              <a:t>inner layer </a:t>
            </a:r>
            <a:r>
              <a:rPr lang="en-AU" dirty="0" smtClean="0">
                <a:latin typeface="Arial" pitchFamily="34" charset="0"/>
                <a:cs typeface="Arial" pitchFamily="34" charset="0"/>
              </a:rPr>
              <a:t>is </a:t>
            </a:r>
            <a:r>
              <a:rPr lang="en-AU" b="1" dirty="0" smtClean="0">
                <a:latin typeface="Arial" pitchFamily="34" charset="0"/>
                <a:cs typeface="Arial" pitchFamily="34" charset="0"/>
              </a:rPr>
              <a:t>closely applied </a:t>
            </a:r>
            <a:r>
              <a:rPr lang="en-AU" dirty="0" smtClean="0">
                <a:latin typeface="Arial" pitchFamily="34" charset="0"/>
                <a:cs typeface="Arial" pitchFamily="34" charset="0"/>
              </a:rPr>
              <a:t>to the </a:t>
            </a:r>
            <a:r>
              <a:rPr lang="en-AU" b="1" dirty="0" smtClean="0">
                <a:latin typeface="Arial" pitchFamily="34" charset="0"/>
                <a:cs typeface="Arial" pitchFamily="34" charset="0"/>
              </a:rPr>
              <a:t>heart</a:t>
            </a:r>
            <a:r>
              <a:rPr lang="en-AU" dirty="0" smtClean="0">
                <a:latin typeface="Arial" pitchFamily="34" charset="0"/>
                <a:cs typeface="Arial" pitchFamily="34" charset="0"/>
              </a:rPr>
              <a:t> except along the </a:t>
            </a:r>
            <a:r>
              <a:rPr lang="en-AU" b="1" dirty="0" smtClean="0">
                <a:latin typeface="Arial" pitchFamily="34" charset="0"/>
                <a:cs typeface="Arial" pitchFamily="34" charset="0"/>
              </a:rPr>
              <a:t>cardiac grooves</a:t>
            </a:r>
            <a:r>
              <a:rPr lang="en-AU" dirty="0" smtClean="0">
                <a:latin typeface="Arial" pitchFamily="34" charset="0"/>
                <a:cs typeface="Arial" pitchFamily="34" charset="0"/>
              </a:rPr>
              <a:t>, where it is </a:t>
            </a:r>
            <a:r>
              <a:rPr lang="en-AU" b="1" dirty="0" smtClean="0">
                <a:latin typeface="Arial" pitchFamily="34" charset="0"/>
                <a:cs typeface="Arial" pitchFamily="34" charset="0"/>
              </a:rPr>
              <a:t>separated</a:t>
            </a:r>
            <a:r>
              <a:rPr lang="en-AU" dirty="0" smtClean="0">
                <a:latin typeface="Arial" pitchFamily="34" charset="0"/>
                <a:cs typeface="Arial" pitchFamily="34" charset="0"/>
              </a:rPr>
              <a:t> from the </a:t>
            </a:r>
            <a:r>
              <a:rPr lang="en-AU" b="1" dirty="0" smtClean="0">
                <a:latin typeface="Arial" pitchFamily="34" charset="0"/>
                <a:cs typeface="Arial" pitchFamily="34" charset="0"/>
              </a:rPr>
              <a:t>heart</a:t>
            </a:r>
            <a:r>
              <a:rPr lang="en-AU" dirty="0" smtClean="0">
                <a:latin typeface="Arial" pitchFamily="34" charset="0"/>
                <a:cs typeface="Arial" pitchFamily="34" charset="0"/>
              </a:rPr>
              <a:t> by </a:t>
            </a:r>
            <a:r>
              <a:rPr lang="en-AU" b="1" dirty="0" smtClean="0">
                <a:latin typeface="Arial" pitchFamily="34" charset="0"/>
                <a:cs typeface="Arial" pitchFamily="34" charset="0"/>
              </a:rPr>
              <a:t>blood vessels</a:t>
            </a:r>
            <a:r>
              <a:rPr lang="en-AU" dirty="0" smtClean="0">
                <a:latin typeface="Arial" pitchFamily="34" charset="0"/>
                <a:cs typeface="Arial" pitchFamily="34" charset="0"/>
              </a:rPr>
              <a:t>. It is called </a:t>
            </a:r>
            <a:r>
              <a:rPr lang="en-AU" b="1" dirty="0" smtClean="0">
                <a:latin typeface="Arial" pitchFamily="34" charset="0"/>
                <a:cs typeface="Arial" pitchFamily="34" charset="0"/>
              </a:rPr>
              <a:t>visceral pericardium </a:t>
            </a:r>
            <a:r>
              <a:rPr lang="en-AU" dirty="0" smtClean="0">
                <a:latin typeface="Arial" pitchFamily="34" charset="0"/>
                <a:cs typeface="Arial" pitchFamily="34" charset="0"/>
              </a:rPr>
              <a:t>or </a:t>
            </a:r>
            <a:r>
              <a:rPr lang="en-AU" b="1" dirty="0" smtClean="0">
                <a:latin typeface="Arial" pitchFamily="34" charset="0"/>
                <a:cs typeface="Arial" pitchFamily="34" charset="0"/>
              </a:rPr>
              <a:t>epicardium</a:t>
            </a:r>
            <a:r>
              <a:rPr lang="en-AU" dirty="0" smtClean="0">
                <a:latin typeface="Arial" pitchFamily="34" charset="0"/>
                <a:cs typeface="Arial" pitchFamily="34" charset="0"/>
              </a:rPr>
              <a:t>.</a:t>
            </a:r>
            <a:endParaRPr lang="en-US" dirty="0">
              <a:latin typeface="Arial" pitchFamily="34" charset="0"/>
              <a:cs typeface="Arial" pitchFamily="34" charset="0"/>
            </a:endParaRPr>
          </a:p>
        </p:txBody>
      </p:sp>
      <p:sp>
        <p:nvSpPr>
          <p:cNvPr id="4" name="TextBox 3"/>
          <p:cNvSpPr txBox="1"/>
          <p:nvPr/>
        </p:nvSpPr>
        <p:spPr>
          <a:xfrm>
            <a:off x="3428992" y="714356"/>
            <a:ext cx="2151551" cy="769441"/>
          </a:xfrm>
          <a:prstGeom prst="rect">
            <a:avLst/>
          </a:prstGeom>
          <a:noFill/>
        </p:spPr>
        <p:txBody>
          <a:bodyPr wrap="none" rtlCol="0">
            <a:spAutoFit/>
          </a:bodyPr>
          <a:lstStyle/>
          <a:p>
            <a:r>
              <a:rPr lang="en-AU" sz="4400" dirty="0" smtClean="0">
                <a:latin typeface="Arial Black" pitchFamily="34" charset="0"/>
              </a:rPr>
              <a:t>Cont’d</a:t>
            </a:r>
            <a:endParaRPr lang="en-US" sz="4400" dirty="0">
              <a:latin typeface="Arial Black" pitchFamily="34"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AU" sz="3600" dirty="0" smtClean="0">
                <a:latin typeface="Arial Black" pitchFamily="34" charset="0"/>
                <a:cs typeface="Arial" pitchFamily="34" charset="0"/>
              </a:rPr>
              <a:t>Differences between the parietal and serous pericardium</a:t>
            </a:r>
            <a:endParaRPr lang="en-US" sz="3600" dirty="0">
              <a:latin typeface="Arial Black" pitchFamily="34" charset="0"/>
              <a:cs typeface="Arial" pitchFamily="34" charset="0"/>
            </a:endParaRPr>
          </a:p>
        </p:txBody>
      </p:sp>
      <p:graphicFrame>
        <p:nvGraphicFramePr>
          <p:cNvPr id="5" name="Content Placeholder 4"/>
          <p:cNvGraphicFramePr>
            <a:graphicFrameLocks noGrp="1"/>
          </p:cNvGraphicFramePr>
          <p:nvPr>
            <p:ph idx="1"/>
          </p:nvPr>
        </p:nvGraphicFramePr>
        <p:xfrm>
          <a:off x="214282" y="1357299"/>
          <a:ext cx="8643998" cy="5143536"/>
        </p:xfrm>
        <a:graphic>
          <a:graphicData uri="http://schemas.openxmlformats.org/drawingml/2006/table">
            <a:tbl>
              <a:tblPr firstRow="1" bandRow="1">
                <a:tableStyleId>{5C22544A-7EE6-4342-B048-85BDC9FD1C3A}</a:tableStyleId>
              </a:tblPr>
              <a:tblGrid>
                <a:gridCol w="4321999"/>
                <a:gridCol w="4321999"/>
              </a:tblGrid>
              <a:tr h="547344">
                <a:tc>
                  <a:txBody>
                    <a:bodyPr/>
                    <a:lstStyle/>
                    <a:p>
                      <a:r>
                        <a:rPr lang="en-AU" dirty="0" smtClean="0"/>
                        <a:t>Parietal pericardium</a:t>
                      </a:r>
                      <a:endParaRPr lang="en-US" dirty="0"/>
                    </a:p>
                  </a:txBody>
                  <a:tcPr/>
                </a:tc>
                <a:tc>
                  <a:txBody>
                    <a:bodyPr/>
                    <a:lstStyle/>
                    <a:p>
                      <a:r>
                        <a:rPr lang="en-AU" dirty="0" smtClean="0"/>
                        <a:t>Visceral pericardium</a:t>
                      </a:r>
                      <a:endParaRPr lang="en-US" dirty="0"/>
                    </a:p>
                  </a:txBody>
                  <a:tcPr/>
                </a:tc>
              </a:tr>
              <a:tr h="1349616">
                <a:tc>
                  <a:txBody>
                    <a:bodyPr/>
                    <a:lstStyle/>
                    <a:p>
                      <a:r>
                        <a:rPr lang="en-AU" dirty="0" smtClean="0">
                          <a:latin typeface="Arial" pitchFamily="34" charset="0"/>
                          <a:cs typeface="Arial" pitchFamily="34" charset="0"/>
                        </a:rPr>
                        <a:t>It is attached to the fibrous pericardium</a:t>
                      </a:r>
                      <a:endParaRPr lang="en-US" dirty="0">
                        <a:latin typeface="Arial" pitchFamily="34" charset="0"/>
                        <a:cs typeface="Arial" pitchFamily="34"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dirty="0" smtClean="0">
                          <a:latin typeface="Arial" pitchFamily="34" charset="0"/>
                          <a:cs typeface="Arial" pitchFamily="34" charset="0"/>
                        </a:rPr>
                        <a:t>It is attached to the myocardium</a:t>
                      </a:r>
                      <a:r>
                        <a:rPr lang="en-AU" baseline="0" dirty="0" smtClean="0">
                          <a:latin typeface="Arial" pitchFamily="34" charset="0"/>
                          <a:cs typeface="Arial" pitchFamily="34" charset="0"/>
                        </a:rPr>
                        <a:t> of the heart</a:t>
                      </a:r>
                      <a:endParaRPr lang="en-US" dirty="0" smtClean="0">
                        <a:latin typeface="Arial" pitchFamily="34" charset="0"/>
                        <a:cs typeface="Arial" pitchFamily="34" charset="0"/>
                      </a:endParaRPr>
                    </a:p>
                    <a:p>
                      <a:endParaRPr lang="en-US" dirty="0">
                        <a:latin typeface="Arial" pitchFamily="34" charset="0"/>
                        <a:cs typeface="Arial" pitchFamily="34" charset="0"/>
                      </a:endParaRPr>
                    </a:p>
                  </a:txBody>
                  <a:tcPr/>
                </a:tc>
              </a:tr>
              <a:tr h="1349616">
                <a:tc>
                  <a:txBody>
                    <a:bodyPr/>
                    <a:lstStyle/>
                    <a:p>
                      <a:r>
                        <a:rPr lang="en-AU" dirty="0" smtClean="0">
                          <a:latin typeface="Arial" pitchFamily="34" charset="0"/>
                          <a:cs typeface="Arial" pitchFamily="34" charset="0"/>
                        </a:rPr>
                        <a:t>It develops from somatopleuric</a:t>
                      </a:r>
                      <a:r>
                        <a:rPr lang="en-AU" baseline="0" dirty="0" smtClean="0">
                          <a:latin typeface="Arial" pitchFamily="34" charset="0"/>
                          <a:cs typeface="Arial" pitchFamily="34" charset="0"/>
                        </a:rPr>
                        <a:t> mesoderm</a:t>
                      </a:r>
                      <a:endParaRPr lang="en-US" dirty="0">
                        <a:latin typeface="Arial" pitchFamily="34" charset="0"/>
                        <a:cs typeface="Arial" pitchFamily="34"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dirty="0" smtClean="0">
                          <a:latin typeface="Arial" pitchFamily="34" charset="0"/>
                          <a:cs typeface="Arial" pitchFamily="34" charset="0"/>
                        </a:rPr>
                        <a:t>It develops from splanchnopleuric</a:t>
                      </a:r>
                      <a:r>
                        <a:rPr lang="en-AU" baseline="0" dirty="0" smtClean="0">
                          <a:latin typeface="Arial" pitchFamily="34" charset="0"/>
                          <a:cs typeface="Arial" pitchFamily="34" charset="0"/>
                        </a:rPr>
                        <a:t> mesoderm</a:t>
                      </a:r>
                      <a:endParaRPr lang="en-US" dirty="0" smtClean="0">
                        <a:latin typeface="Arial" pitchFamily="34" charset="0"/>
                        <a:cs typeface="Arial" pitchFamily="34" charset="0"/>
                      </a:endParaRPr>
                    </a:p>
                    <a:p>
                      <a:endParaRPr lang="en-US" dirty="0">
                        <a:latin typeface="Arial" pitchFamily="34" charset="0"/>
                        <a:cs typeface="Arial" pitchFamily="34" charset="0"/>
                      </a:endParaRPr>
                    </a:p>
                  </a:txBody>
                  <a:tcPr/>
                </a:tc>
              </a:tr>
              <a:tr h="1349616">
                <a:tc>
                  <a:txBody>
                    <a:bodyPr/>
                    <a:lstStyle/>
                    <a:p>
                      <a:r>
                        <a:rPr lang="en-AU" dirty="0" smtClean="0">
                          <a:latin typeface="Arial" pitchFamily="34" charset="0"/>
                          <a:cs typeface="Arial" pitchFamily="34" charset="0"/>
                        </a:rPr>
                        <a:t>It is innervated by the somatic nerve fibres</a:t>
                      </a:r>
                      <a:endParaRPr lang="en-US" dirty="0">
                        <a:latin typeface="Arial" pitchFamily="34" charset="0"/>
                        <a:cs typeface="Arial" pitchFamily="34"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dirty="0" smtClean="0">
                          <a:latin typeface="Arial" pitchFamily="34" charset="0"/>
                          <a:cs typeface="Arial" pitchFamily="34" charset="0"/>
                        </a:rPr>
                        <a:t>It is innervated by the autonomic nerve fibres</a:t>
                      </a:r>
                      <a:endParaRPr lang="en-US" dirty="0" smtClean="0">
                        <a:latin typeface="Arial" pitchFamily="34" charset="0"/>
                        <a:cs typeface="Arial" pitchFamily="34" charset="0"/>
                      </a:endParaRPr>
                    </a:p>
                    <a:p>
                      <a:endParaRPr lang="en-US" dirty="0">
                        <a:latin typeface="Arial" pitchFamily="34" charset="0"/>
                        <a:cs typeface="Arial" pitchFamily="34" charset="0"/>
                      </a:endParaRPr>
                    </a:p>
                  </a:txBody>
                  <a:tcPr/>
                </a:tc>
              </a:tr>
              <a:tr h="547344">
                <a:tc>
                  <a:txBody>
                    <a:bodyPr/>
                    <a:lstStyle/>
                    <a:p>
                      <a:r>
                        <a:rPr lang="en-AU" dirty="0" smtClean="0">
                          <a:latin typeface="Arial" pitchFamily="34" charset="0"/>
                          <a:cs typeface="Arial" pitchFamily="34" charset="0"/>
                        </a:rPr>
                        <a:t>It is sensitive to pain</a:t>
                      </a:r>
                      <a:endParaRPr lang="en-US" dirty="0">
                        <a:latin typeface="Arial" pitchFamily="34" charset="0"/>
                        <a:cs typeface="Arial" pitchFamily="34" charset="0"/>
                      </a:endParaRPr>
                    </a:p>
                  </a:txBody>
                  <a:tcPr/>
                </a:tc>
                <a:tc>
                  <a:txBody>
                    <a:bodyPr/>
                    <a:lstStyle/>
                    <a:p>
                      <a:r>
                        <a:rPr lang="en-AU" dirty="0" smtClean="0">
                          <a:latin typeface="Arial" pitchFamily="34" charset="0"/>
                          <a:cs typeface="Arial" pitchFamily="34" charset="0"/>
                        </a:rPr>
                        <a:t>It is insensitive to pain</a:t>
                      </a:r>
                      <a:endParaRPr lang="en-US" dirty="0">
                        <a:latin typeface="Arial" pitchFamily="34" charset="0"/>
                        <a:cs typeface="Arial" pitchFamily="34" charset="0"/>
                      </a:endParaRPr>
                    </a:p>
                  </a:txBody>
                  <a:tcPr/>
                </a:tc>
              </a:tr>
            </a:tbl>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14356"/>
            <a:ext cx="8229600" cy="1143008"/>
          </a:xfrm>
        </p:spPr>
        <p:txBody>
          <a:bodyPr/>
          <a:lstStyle/>
          <a:p>
            <a:r>
              <a:rPr lang="en-AU" dirty="0" smtClean="0">
                <a:latin typeface="Arial Black" pitchFamily="34" charset="0"/>
              </a:rPr>
              <a:t>Pericardial Cavity</a:t>
            </a:r>
            <a:endParaRPr lang="en-US" dirty="0">
              <a:latin typeface="Arial Black" pitchFamily="34" charset="0"/>
            </a:endParaRPr>
          </a:p>
        </p:txBody>
      </p:sp>
      <p:sp>
        <p:nvSpPr>
          <p:cNvPr id="3" name="Content Placeholder 2"/>
          <p:cNvSpPr>
            <a:spLocks noGrp="1"/>
          </p:cNvSpPr>
          <p:nvPr>
            <p:ph idx="1"/>
          </p:nvPr>
        </p:nvSpPr>
        <p:spPr>
          <a:xfrm>
            <a:off x="457200" y="1928802"/>
            <a:ext cx="8229600" cy="4572032"/>
          </a:xfrm>
        </p:spPr>
        <p:txBody>
          <a:bodyPr/>
          <a:lstStyle/>
          <a:p>
            <a:pPr algn="just"/>
            <a:r>
              <a:rPr lang="en-AU" dirty="0" smtClean="0">
                <a:latin typeface="Arial" pitchFamily="34" charset="0"/>
                <a:cs typeface="Arial" pitchFamily="34" charset="0"/>
              </a:rPr>
              <a:t>The </a:t>
            </a:r>
            <a:r>
              <a:rPr lang="en-AU" b="1" dirty="0" smtClean="0">
                <a:latin typeface="Arial" pitchFamily="34" charset="0"/>
                <a:cs typeface="Arial" pitchFamily="34" charset="0"/>
              </a:rPr>
              <a:t>Slit-like potential space </a:t>
            </a:r>
            <a:r>
              <a:rPr lang="en-AU" dirty="0" smtClean="0">
                <a:latin typeface="Arial" pitchFamily="34" charset="0"/>
                <a:cs typeface="Arial" pitchFamily="34" charset="0"/>
              </a:rPr>
              <a:t>between the </a:t>
            </a:r>
            <a:r>
              <a:rPr lang="en-AU" b="1" dirty="0" smtClean="0">
                <a:latin typeface="Arial" pitchFamily="34" charset="0"/>
                <a:cs typeface="Arial" pitchFamily="34" charset="0"/>
              </a:rPr>
              <a:t>parietal</a:t>
            </a:r>
            <a:r>
              <a:rPr lang="en-AU" dirty="0" smtClean="0">
                <a:latin typeface="Arial" pitchFamily="34" charset="0"/>
                <a:cs typeface="Arial" pitchFamily="34" charset="0"/>
              </a:rPr>
              <a:t> and </a:t>
            </a:r>
            <a:r>
              <a:rPr lang="en-AU" b="1" dirty="0" smtClean="0">
                <a:latin typeface="Arial" pitchFamily="34" charset="0"/>
                <a:cs typeface="Arial" pitchFamily="34" charset="0"/>
              </a:rPr>
              <a:t>visceral layers </a:t>
            </a:r>
            <a:r>
              <a:rPr lang="en-AU" dirty="0" smtClean="0">
                <a:latin typeface="Arial" pitchFamily="34" charset="0"/>
                <a:cs typeface="Arial" pitchFamily="34" charset="0"/>
              </a:rPr>
              <a:t>of </a:t>
            </a:r>
            <a:r>
              <a:rPr lang="en-AU" b="1" dirty="0" smtClean="0">
                <a:latin typeface="Arial" pitchFamily="34" charset="0"/>
                <a:cs typeface="Arial" pitchFamily="34" charset="0"/>
              </a:rPr>
              <a:t>serous pericardium</a:t>
            </a:r>
            <a:r>
              <a:rPr lang="en-AU" dirty="0" smtClean="0">
                <a:latin typeface="Arial" pitchFamily="34" charset="0"/>
                <a:cs typeface="Arial" pitchFamily="34" charset="0"/>
              </a:rPr>
              <a:t>. It is containing a </a:t>
            </a:r>
            <a:r>
              <a:rPr lang="en-AU" b="1" dirty="0" smtClean="0">
                <a:latin typeface="Arial" pitchFamily="34" charset="0"/>
                <a:cs typeface="Arial" pitchFamily="34" charset="0"/>
              </a:rPr>
              <a:t>thin film </a:t>
            </a:r>
            <a:r>
              <a:rPr lang="en-AU" dirty="0" smtClean="0">
                <a:latin typeface="Arial" pitchFamily="34" charset="0"/>
                <a:cs typeface="Arial" pitchFamily="34" charset="0"/>
              </a:rPr>
              <a:t>of </a:t>
            </a:r>
            <a:r>
              <a:rPr lang="en-AU" b="1" dirty="0" smtClean="0">
                <a:latin typeface="Arial" pitchFamily="34" charset="0"/>
                <a:cs typeface="Arial" pitchFamily="34" charset="0"/>
              </a:rPr>
              <a:t>serous fluid </a:t>
            </a:r>
            <a:r>
              <a:rPr lang="en-AU" dirty="0" smtClean="0">
                <a:latin typeface="Arial" pitchFamily="34" charset="0"/>
                <a:cs typeface="Arial" pitchFamily="34" charset="0"/>
              </a:rPr>
              <a:t>(about 50 ml) called </a:t>
            </a:r>
            <a:r>
              <a:rPr lang="en-AU" b="1" dirty="0" smtClean="0">
                <a:latin typeface="Arial" pitchFamily="34" charset="0"/>
                <a:cs typeface="Arial" pitchFamily="34" charset="0"/>
              </a:rPr>
              <a:t>pericardial fluid </a:t>
            </a:r>
            <a:r>
              <a:rPr lang="en-AU" dirty="0" smtClean="0">
                <a:latin typeface="Arial" pitchFamily="34" charset="0"/>
                <a:cs typeface="Arial" pitchFamily="34" charset="0"/>
              </a:rPr>
              <a:t>which lubricates the </a:t>
            </a:r>
            <a:r>
              <a:rPr lang="en-AU" b="1" dirty="0" smtClean="0">
                <a:latin typeface="Arial" pitchFamily="34" charset="0"/>
                <a:cs typeface="Arial" pitchFamily="34" charset="0"/>
              </a:rPr>
              <a:t>opposed surfaces </a:t>
            </a:r>
            <a:r>
              <a:rPr lang="en-AU" dirty="0" smtClean="0">
                <a:latin typeface="Arial" pitchFamily="34" charset="0"/>
                <a:cs typeface="Arial" pitchFamily="34" charset="0"/>
              </a:rPr>
              <a:t>to avoid </a:t>
            </a:r>
            <a:r>
              <a:rPr lang="en-AU" b="1" dirty="0" smtClean="0">
                <a:latin typeface="Arial" pitchFamily="34" charset="0"/>
                <a:cs typeface="Arial" pitchFamily="34" charset="0"/>
              </a:rPr>
              <a:t>friction</a:t>
            </a:r>
            <a:r>
              <a:rPr lang="en-AU" dirty="0" smtClean="0">
                <a:latin typeface="Arial" pitchFamily="34" charset="0"/>
                <a:cs typeface="Arial" pitchFamily="34" charset="0"/>
              </a:rPr>
              <a:t> during the </a:t>
            </a:r>
            <a:r>
              <a:rPr lang="en-AU" b="1" dirty="0" smtClean="0">
                <a:latin typeface="Arial" pitchFamily="34" charset="0"/>
                <a:cs typeface="Arial" pitchFamily="34" charset="0"/>
              </a:rPr>
              <a:t>movements</a:t>
            </a:r>
            <a:r>
              <a:rPr lang="en-AU" dirty="0" smtClean="0">
                <a:latin typeface="Arial" pitchFamily="34" charset="0"/>
                <a:cs typeface="Arial" pitchFamily="34" charset="0"/>
              </a:rPr>
              <a:t> of the </a:t>
            </a:r>
            <a:r>
              <a:rPr lang="en-AU" b="1" dirty="0" smtClean="0">
                <a:latin typeface="Arial" pitchFamily="34" charset="0"/>
                <a:cs typeface="Arial" pitchFamily="34" charset="0"/>
              </a:rPr>
              <a:t>heart</a:t>
            </a:r>
            <a:r>
              <a:rPr lang="en-AU" dirty="0" smtClean="0">
                <a:latin typeface="Arial" pitchFamily="34" charset="0"/>
                <a:cs typeface="Arial" pitchFamily="34" charset="0"/>
              </a:rPr>
              <a:t>.</a:t>
            </a:r>
            <a:endParaRPr lang="en-US" dirty="0">
              <a:latin typeface="Arial" pitchFamily="34" charset="0"/>
              <a:cs typeface="Arial" pitchFamily="34"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85794"/>
            <a:ext cx="8229600" cy="1071570"/>
          </a:xfrm>
        </p:spPr>
        <p:txBody>
          <a:bodyPr>
            <a:normAutofit fontScale="90000"/>
          </a:bodyPr>
          <a:lstStyle/>
          <a:p>
            <a:r>
              <a:rPr lang="en-AU" dirty="0" smtClean="0">
                <a:latin typeface="Arial Black" pitchFamily="34" charset="0"/>
              </a:rPr>
              <a:t>Contents </a:t>
            </a:r>
            <a:r>
              <a:rPr lang="en-AU" dirty="0" smtClean="0">
                <a:latin typeface="Arial Black" pitchFamily="34" charset="0"/>
              </a:rPr>
              <a:t>o</a:t>
            </a:r>
            <a:r>
              <a:rPr lang="en-AU" dirty="0" smtClean="0">
                <a:latin typeface="Arial Black" pitchFamily="34" charset="0"/>
              </a:rPr>
              <a:t>f the Pericardium</a:t>
            </a:r>
            <a:endParaRPr lang="en-US" dirty="0">
              <a:latin typeface="Arial Black" pitchFamily="34" charset="0"/>
            </a:endParaRPr>
          </a:p>
        </p:txBody>
      </p:sp>
      <p:sp>
        <p:nvSpPr>
          <p:cNvPr id="3" name="Content Placeholder 2"/>
          <p:cNvSpPr>
            <a:spLocks noGrp="1"/>
          </p:cNvSpPr>
          <p:nvPr>
            <p:ph idx="1"/>
          </p:nvPr>
        </p:nvSpPr>
        <p:spPr>
          <a:xfrm>
            <a:off x="457200" y="1857364"/>
            <a:ext cx="8229600" cy="4268799"/>
          </a:xfrm>
        </p:spPr>
        <p:txBody>
          <a:bodyPr/>
          <a:lstStyle/>
          <a:p>
            <a:r>
              <a:rPr lang="en-AU" b="1" dirty="0" smtClean="0">
                <a:latin typeface="Arial" pitchFamily="34" charset="0"/>
                <a:cs typeface="Arial" pitchFamily="34" charset="0"/>
              </a:rPr>
              <a:t>Heart</a:t>
            </a:r>
            <a:r>
              <a:rPr lang="en-AU" dirty="0" smtClean="0">
                <a:latin typeface="Arial" pitchFamily="34" charset="0"/>
                <a:cs typeface="Arial" pitchFamily="34" charset="0"/>
              </a:rPr>
              <a:t> with its</a:t>
            </a:r>
            <a:r>
              <a:rPr lang="en-AU" b="1" dirty="0" smtClean="0">
                <a:latin typeface="Arial" pitchFamily="34" charset="0"/>
                <a:cs typeface="Arial" pitchFamily="34" charset="0"/>
              </a:rPr>
              <a:t> vessels </a:t>
            </a:r>
            <a:r>
              <a:rPr lang="en-AU" dirty="0" smtClean="0">
                <a:latin typeface="Arial" pitchFamily="34" charset="0"/>
                <a:cs typeface="Arial" pitchFamily="34" charset="0"/>
              </a:rPr>
              <a:t>and </a:t>
            </a:r>
            <a:r>
              <a:rPr lang="en-AU" b="1" dirty="0" smtClean="0">
                <a:latin typeface="Arial" pitchFamily="34" charset="0"/>
                <a:cs typeface="Arial" pitchFamily="34" charset="0"/>
              </a:rPr>
              <a:t>nerves</a:t>
            </a:r>
          </a:p>
          <a:p>
            <a:r>
              <a:rPr lang="en-AU" b="1" dirty="0" smtClean="0">
                <a:latin typeface="Arial" pitchFamily="34" charset="0"/>
                <a:cs typeface="Arial" pitchFamily="34" charset="0"/>
              </a:rPr>
              <a:t>Ascending aorta</a:t>
            </a:r>
          </a:p>
          <a:p>
            <a:r>
              <a:rPr lang="en-AU" b="1" dirty="0" smtClean="0">
                <a:latin typeface="Arial" pitchFamily="34" charset="0"/>
                <a:cs typeface="Arial" pitchFamily="34" charset="0"/>
              </a:rPr>
              <a:t>Pulmonary trunk</a:t>
            </a:r>
          </a:p>
          <a:p>
            <a:r>
              <a:rPr lang="en-AU" b="1" dirty="0" smtClean="0">
                <a:latin typeface="Arial" pitchFamily="34" charset="0"/>
                <a:cs typeface="Arial" pitchFamily="34" charset="0"/>
              </a:rPr>
              <a:t>Superior vena cava</a:t>
            </a:r>
          </a:p>
          <a:p>
            <a:r>
              <a:rPr lang="en-AU" b="1" dirty="0" smtClean="0">
                <a:latin typeface="Arial" pitchFamily="34" charset="0"/>
                <a:cs typeface="Arial" pitchFamily="34" charset="0"/>
              </a:rPr>
              <a:t>Inferior vena cava</a:t>
            </a:r>
          </a:p>
          <a:p>
            <a:r>
              <a:rPr lang="en-AU" b="1" dirty="0" smtClean="0">
                <a:latin typeface="Arial" pitchFamily="34" charset="0"/>
                <a:cs typeface="Arial" pitchFamily="34" charset="0"/>
              </a:rPr>
              <a:t>Pulmonary veins</a:t>
            </a:r>
            <a:endParaRPr lang="en-US" b="1" dirty="0">
              <a:latin typeface="Arial" pitchFamily="34" charset="0"/>
              <a:cs typeface="Arial" pitchFamily="34"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2900"/>
            <a:ext cx="8229600" cy="1143008"/>
          </a:xfrm>
        </p:spPr>
        <p:txBody>
          <a:bodyPr>
            <a:normAutofit/>
          </a:bodyPr>
          <a:lstStyle/>
          <a:p>
            <a:r>
              <a:rPr lang="en-AU" dirty="0" smtClean="0">
                <a:latin typeface="Arial Black" pitchFamily="34" charset="0"/>
              </a:rPr>
              <a:t>Sinuses of Pericardium</a:t>
            </a:r>
            <a:endParaRPr lang="en-US" dirty="0">
              <a:latin typeface="Arial Black" pitchFamily="34" charset="0"/>
            </a:endParaRPr>
          </a:p>
        </p:txBody>
      </p:sp>
      <p:sp>
        <p:nvSpPr>
          <p:cNvPr id="3" name="Content Placeholder 2"/>
          <p:cNvSpPr>
            <a:spLocks noGrp="1"/>
          </p:cNvSpPr>
          <p:nvPr>
            <p:ph idx="1"/>
          </p:nvPr>
        </p:nvSpPr>
        <p:spPr>
          <a:xfrm>
            <a:off x="214282" y="642918"/>
            <a:ext cx="8715436" cy="6000792"/>
          </a:xfrm>
        </p:spPr>
        <p:txBody>
          <a:bodyPr>
            <a:noAutofit/>
          </a:bodyPr>
          <a:lstStyle/>
          <a:p>
            <a:r>
              <a:rPr lang="en-AU" dirty="0" smtClean="0">
                <a:latin typeface="Arial" pitchFamily="34" charset="0"/>
                <a:cs typeface="Arial" pitchFamily="34" charset="0"/>
              </a:rPr>
              <a:t>There are </a:t>
            </a:r>
            <a:r>
              <a:rPr lang="en-AU" b="1" dirty="0" smtClean="0">
                <a:latin typeface="Arial" pitchFamily="34" charset="0"/>
                <a:cs typeface="Arial" pitchFamily="34" charset="0"/>
              </a:rPr>
              <a:t>two sinuses </a:t>
            </a:r>
            <a:r>
              <a:rPr lang="en-AU" dirty="0" smtClean="0">
                <a:latin typeface="Arial" pitchFamily="34" charset="0"/>
                <a:cs typeface="Arial" pitchFamily="34" charset="0"/>
              </a:rPr>
              <a:t>between the</a:t>
            </a:r>
            <a:r>
              <a:rPr lang="en-AU" b="1" dirty="0" smtClean="0">
                <a:latin typeface="Arial" pitchFamily="34" charset="0"/>
                <a:cs typeface="Arial" pitchFamily="34" charset="0"/>
              </a:rPr>
              <a:t> parietal </a:t>
            </a:r>
            <a:r>
              <a:rPr lang="en-AU" dirty="0" smtClean="0">
                <a:latin typeface="Arial" pitchFamily="34" charset="0"/>
                <a:cs typeface="Arial" pitchFamily="34" charset="0"/>
              </a:rPr>
              <a:t>and </a:t>
            </a:r>
            <a:r>
              <a:rPr lang="en-AU" b="1" dirty="0" smtClean="0">
                <a:latin typeface="Arial" pitchFamily="34" charset="0"/>
                <a:cs typeface="Arial" pitchFamily="34" charset="0"/>
              </a:rPr>
              <a:t>visceral layers </a:t>
            </a:r>
            <a:r>
              <a:rPr lang="en-AU" dirty="0" smtClean="0">
                <a:latin typeface="Arial" pitchFamily="34" charset="0"/>
                <a:cs typeface="Arial" pitchFamily="34" charset="0"/>
              </a:rPr>
              <a:t>of </a:t>
            </a:r>
            <a:r>
              <a:rPr lang="en-AU" b="1" dirty="0" smtClean="0">
                <a:latin typeface="Arial" pitchFamily="34" charset="0"/>
                <a:cs typeface="Arial" pitchFamily="34" charset="0"/>
              </a:rPr>
              <a:t>serous pericardium</a:t>
            </a:r>
            <a:r>
              <a:rPr lang="en-AU" dirty="0" smtClean="0">
                <a:latin typeface="Arial" pitchFamily="34" charset="0"/>
                <a:cs typeface="Arial" pitchFamily="34" charset="0"/>
              </a:rPr>
              <a:t>:</a:t>
            </a:r>
          </a:p>
          <a:p>
            <a:pPr>
              <a:buFont typeface="Wingdings" pitchFamily="2" charset="2"/>
              <a:buChar char="§"/>
            </a:pPr>
            <a:r>
              <a:rPr lang="en-AU" b="1" dirty="0" smtClean="0">
                <a:latin typeface="Arial" pitchFamily="34" charset="0"/>
                <a:cs typeface="Arial" pitchFamily="34" charset="0"/>
              </a:rPr>
              <a:t>Transverse sinus</a:t>
            </a:r>
          </a:p>
          <a:p>
            <a:pPr>
              <a:buFont typeface="Wingdings" pitchFamily="2" charset="2"/>
              <a:buChar char="§"/>
            </a:pPr>
            <a:r>
              <a:rPr lang="en-AU" b="1" dirty="0" smtClean="0">
                <a:latin typeface="Arial" pitchFamily="34" charset="0"/>
                <a:cs typeface="Arial" pitchFamily="34" charset="0"/>
              </a:rPr>
              <a:t>Oblique sinus</a:t>
            </a:r>
          </a:p>
          <a:p>
            <a:pPr algn="just"/>
            <a:r>
              <a:rPr lang="en-AU" dirty="0" smtClean="0">
                <a:latin typeface="Arial" pitchFamily="34" charset="0"/>
                <a:cs typeface="Arial" pitchFamily="34" charset="0"/>
              </a:rPr>
              <a:t>The</a:t>
            </a:r>
            <a:r>
              <a:rPr lang="en-AU" b="1" dirty="0" smtClean="0">
                <a:latin typeface="Arial" pitchFamily="34" charset="0"/>
                <a:cs typeface="Arial" pitchFamily="34" charset="0"/>
              </a:rPr>
              <a:t> s</a:t>
            </a:r>
            <a:r>
              <a:rPr lang="en-AU" b="1" dirty="0" smtClean="0">
                <a:latin typeface="Arial" pitchFamily="34" charset="0"/>
                <a:cs typeface="Arial" pitchFamily="34" charset="0"/>
              </a:rPr>
              <a:t>inuses</a:t>
            </a:r>
            <a:r>
              <a:rPr lang="en-AU" dirty="0" smtClean="0">
                <a:latin typeface="Arial" pitchFamily="34" charset="0"/>
                <a:cs typeface="Arial" pitchFamily="34" charset="0"/>
              </a:rPr>
              <a:t> </a:t>
            </a:r>
            <a:r>
              <a:rPr lang="en-AU" dirty="0" smtClean="0">
                <a:latin typeface="Arial" pitchFamily="34" charset="0"/>
                <a:cs typeface="Arial" pitchFamily="34" charset="0"/>
              </a:rPr>
              <a:t>of </a:t>
            </a:r>
            <a:r>
              <a:rPr lang="en-AU" b="1" dirty="0" smtClean="0">
                <a:latin typeface="Arial" pitchFamily="34" charset="0"/>
                <a:cs typeface="Arial" pitchFamily="34" charset="0"/>
              </a:rPr>
              <a:t>pericardium</a:t>
            </a:r>
            <a:r>
              <a:rPr lang="en-AU" dirty="0" smtClean="0">
                <a:latin typeface="Arial" pitchFamily="34" charset="0"/>
                <a:cs typeface="Arial" pitchFamily="34" charset="0"/>
              </a:rPr>
              <a:t> are </a:t>
            </a:r>
            <a:r>
              <a:rPr lang="en-AU" b="1" dirty="0" smtClean="0">
                <a:latin typeface="Arial" pitchFamily="34" charset="0"/>
                <a:cs typeface="Arial" pitchFamily="34" charset="0"/>
              </a:rPr>
              <a:t>formed</a:t>
            </a:r>
            <a:r>
              <a:rPr lang="en-AU" dirty="0" smtClean="0">
                <a:latin typeface="Arial" pitchFamily="34" charset="0"/>
                <a:cs typeface="Arial" pitchFamily="34" charset="0"/>
              </a:rPr>
              <a:t> due to the </a:t>
            </a:r>
            <a:r>
              <a:rPr lang="en-AU" b="1" dirty="0" smtClean="0">
                <a:latin typeface="Arial" pitchFamily="34" charset="0"/>
                <a:cs typeface="Arial" pitchFamily="34" charset="0"/>
              </a:rPr>
              <a:t>reflection</a:t>
            </a:r>
            <a:r>
              <a:rPr lang="en-AU" dirty="0" smtClean="0">
                <a:latin typeface="Arial" pitchFamily="34" charset="0"/>
                <a:cs typeface="Arial" pitchFamily="34" charset="0"/>
              </a:rPr>
              <a:t> of </a:t>
            </a:r>
            <a:r>
              <a:rPr lang="en-AU" b="1" dirty="0" smtClean="0">
                <a:latin typeface="Arial" pitchFamily="34" charset="0"/>
                <a:cs typeface="Arial" pitchFamily="34" charset="0"/>
              </a:rPr>
              <a:t>visceral layer </a:t>
            </a:r>
            <a:r>
              <a:rPr lang="en-AU" dirty="0" smtClean="0">
                <a:latin typeface="Arial" pitchFamily="34" charset="0"/>
                <a:cs typeface="Arial" pitchFamily="34" charset="0"/>
              </a:rPr>
              <a:t>of </a:t>
            </a:r>
            <a:r>
              <a:rPr lang="en-AU" b="1" dirty="0" smtClean="0">
                <a:latin typeface="Arial" pitchFamily="34" charset="0"/>
                <a:cs typeface="Arial" pitchFamily="34" charset="0"/>
              </a:rPr>
              <a:t>serous pericardium</a:t>
            </a:r>
            <a:r>
              <a:rPr lang="en-AU" dirty="0" smtClean="0">
                <a:latin typeface="Arial" pitchFamily="34" charset="0"/>
                <a:cs typeface="Arial" pitchFamily="34" charset="0"/>
              </a:rPr>
              <a:t> around </a:t>
            </a:r>
            <a:r>
              <a:rPr lang="en-AU" b="1" dirty="0" smtClean="0">
                <a:latin typeface="Arial" pitchFamily="34" charset="0"/>
                <a:cs typeface="Arial" pitchFamily="34" charset="0"/>
              </a:rPr>
              <a:t>great vessels </a:t>
            </a:r>
            <a:r>
              <a:rPr lang="en-AU" dirty="0" smtClean="0">
                <a:latin typeface="Arial" pitchFamily="34" charset="0"/>
                <a:cs typeface="Arial" pitchFamily="34" charset="0"/>
              </a:rPr>
              <a:t>of the </a:t>
            </a:r>
            <a:r>
              <a:rPr lang="en-AU" b="1" dirty="0" smtClean="0">
                <a:latin typeface="Arial" pitchFamily="34" charset="0"/>
                <a:cs typeface="Arial" pitchFamily="34" charset="0"/>
              </a:rPr>
              <a:t>heart</a:t>
            </a:r>
            <a:r>
              <a:rPr lang="en-AU" dirty="0" smtClean="0">
                <a:latin typeface="Arial" pitchFamily="34" charset="0"/>
                <a:cs typeface="Arial" pitchFamily="34" charset="0"/>
              </a:rPr>
              <a:t>.</a:t>
            </a:r>
          </a:p>
          <a:p>
            <a:pPr algn="just"/>
            <a:r>
              <a:rPr lang="en-AU" dirty="0" smtClean="0">
                <a:latin typeface="Arial" pitchFamily="34" charset="0"/>
                <a:cs typeface="Arial" pitchFamily="34" charset="0"/>
              </a:rPr>
              <a:t>The </a:t>
            </a:r>
            <a:r>
              <a:rPr lang="en-AU" b="1" dirty="0" smtClean="0">
                <a:latin typeface="Arial" pitchFamily="34" charset="0"/>
                <a:cs typeface="Arial" pitchFamily="34" charset="0"/>
              </a:rPr>
              <a:t>visceral pericardium </a:t>
            </a:r>
            <a:r>
              <a:rPr lang="en-AU" dirty="0" smtClean="0">
                <a:latin typeface="Arial" pitchFamily="34" charset="0"/>
                <a:cs typeface="Arial" pitchFamily="34" charset="0"/>
              </a:rPr>
              <a:t>(epicardium) at the </a:t>
            </a:r>
            <a:r>
              <a:rPr lang="en-AU" b="1" dirty="0" smtClean="0">
                <a:latin typeface="Arial" pitchFamily="34" charset="0"/>
                <a:cs typeface="Arial" pitchFamily="34" charset="0"/>
              </a:rPr>
              <a:t>roots</a:t>
            </a:r>
            <a:r>
              <a:rPr lang="en-AU" dirty="0" smtClean="0">
                <a:latin typeface="Arial" pitchFamily="34" charset="0"/>
                <a:cs typeface="Arial" pitchFamily="34" charset="0"/>
              </a:rPr>
              <a:t> of </a:t>
            </a:r>
            <a:r>
              <a:rPr lang="en-AU" b="1" dirty="0" smtClean="0">
                <a:latin typeface="Arial" pitchFamily="34" charset="0"/>
                <a:cs typeface="Arial" pitchFamily="34" charset="0"/>
              </a:rPr>
              <a:t>great blood vessels </a:t>
            </a:r>
            <a:r>
              <a:rPr lang="en-AU" dirty="0" smtClean="0">
                <a:latin typeface="Arial" pitchFamily="34" charset="0"/>
                <a:cs typeface="Arial" pitchFamily="34" charset="0"/>
              </a:rPr>
              <a:t>is </a:t>
            </a:r>
            <a:r>
              <a:rPr lang="en-AU" b="1" dirty="0" smtClean="0">
                <a:latin typeface="Arial" pitchFamily="34" charset="0"/>
                <a:cs typeface="Arial" pitchFamily="34" charset="0"/>
              </a:rPr>
              <a:t>arranged</a:t>
            </a:r>
            <a:r>
              <a:rPr lang="en-AU" dirty="0" smtClean="0">
                <a:latin typeface="Arial" pitchFamily="34" charset="0"/>
                <a:cs typeface="Arial" pitchFamily="34" charset="0"/>
              </a:rPr>
              <a:t> into </a:t>
            </a:r>
            <a:r>
              <a:rPr lang="en-AU" b="1" dirty="0" smtClean="0">
                <a:latin typeface="Arial" pitchFamily="34" charset="0"/>
                <a:cs typeface="Arial" pitchFamily="34" charset="0"/>
              </a:rPr>
              <a:t>tubes</a:t>
            </a:r>
            <a:r>
              <a:rPr lang="en-AU" dirty="0" smtClean="0">
                <a:latin typeface="Arial" pitchFamily="34" charset="0"/>
                <a:cs typeface="Arial" pitchFamily="34" charset="0"/>
              </a:rPr>
              <a:t>: (a) </a:t>
            </a:r>
            <a:r>
              <a:rPr lang="en-AU" b="1" dirty="0" smtClean="0">
                <a:latin typeface="Arial" pitchFamily="34" charset="0"/>
                <a:cs typeface="Arial" pitchFamily="34" charset="0"/>
              </a:rPr>
              <a:t>arterial tube </a:t>
            </a:r>
            <a:r>
              <a:rPr lang="en-AU" dirty="0" smtClean="0">
                <a:latin typeface="Arial" pitchFamily="34" charset="0"/>
                <a:cs typeface="Arial" pitchFamily="34" charset="0"/>
              </a:rPr>
              <a:t>and (b) </a:t>
            </a:r>
            <a:r>
              <a:rPr lang="en-AU" b="1" dirty="0" smtClean="0">
                <a:latin typeface="Arial" pitchFamily="34" charset="0"/>
                <a:cs typeface="Arial" pitchFamily="34" charset="0"/>
              </a:rPr>
              <a:t>venous tube</a:t>
            </a:r>
            <a:r>
              <a:rPr lang="en-AU" dirty="0" smtClean="0">
                <a:latin typeface="Arial" pitchFamily="34" charset="0"/>
                <a:cs typeface="Arial" pitchFamily="34" charset="0"/>
              </a:rPr>
              <a:t>. </a:t>
            </a:r>
            <a:endParaRPr lang="en-US" dirty="0">
              <a:latin typeface="Arial" pitchFamily="34" charset="0"/>
              <a:cs typeface="Arial" pitchFamily="34"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a:r>
              <a:rPr lang="en-AU" dirty="0" smtClean="0">
                <a:latin typeface="Arial" pitchFamily="34" charset="0"/>
                <a:cs typeface="Arial" pitchFamily="34" charset="0"/>
              </a:rPr>
              <a:t>The </a:t>
            </a:r>
            <a:r>
              <a:rPr lang="en-AU" b="1" dirty="0" smtClean="0">
                <a:latin typeface="Arial" pitchFamily="34" charset="0"/>
                <a:cs typeface="Arial" pitchFamily="34" charset="0"/>
              </a:rPr>
              <a:t>arterial tube </a:t>
            </a:r>
            <a:r>
              <a:rPr lang="en-AU" dirty="0" smtClean="0">
                <a:latin typeface="Arial" pitchFamily="34" charset="0"/>
                <a:cs typeface="Arial" pitchFamily="34" charset="0"/>
              </a:rPr>
              <a:t>encloses the </a:t>
            </a:r>
            <a:r>
              <a:rPr lang="en-AU" b="1" dirty="0" smtClean="0">
                <a:latin typeface="Arial" pitchFamily="34" charset="0"/>
                <a:cs typeface="Arial" pitchFamily="34" charset="0"/>
              </a:rPr>
              <a:t>ascending aorta </a:t>
            </a:r>
            <a:r>
              <a:rPr lang="en-AU" dirty="0" smtClean="0">
                <a:latin typeface="Arial" pitchFamily="34" charset="0"/>
                <a:cs typeface="Arial" pitchFamily="34" charset="0"/>
              </a:rPr>
              <a:t>and </a:t>
            </a:r>
            <a:r>
              <a:rPr lang="en-AU" b="1" dirty="0" smtClean="0">
                <a:latin typeface="Arial" pitchFamily="34" charset="0"/>
                <a:cs typeface="Arial" pitchFamily="34" charset="0"/>
              </a:rPr>
              <a:t>pulmonary trunk </a:t>
            </a:r>
            <a:r>
              <a:rPr lang="en-AU" dirty="0" smtClean="0">
                <a:latin typeface="Arial" pitchFamily="34" charset="0"/>
                <a:cs typeface="Arial" pitchFamily="34" charset="0"/>
              </a:rPr>
              <a:t>(</a:t>
            </a:r>
            <a:r>
              <a:rPr lang="en-AU" b="1" dirty="0" smtClean="0">
                <a:latin typeface="Arial" pitchFamily="34" charset="0"/>
                <a:cs typeface="Arial" pitchFamily="34" charset="0"/>
              </a:rPr>
              <a:t>arterial end </a:t>
            </a:r>
            <a:r>
              <a:rPr lang="en-AU" dirty="0" smtClean="0">
                <a:latin typeface="Arial" pitchFamily="34" charset="0"/>
                <a:cs typeface="Arial" pitchFamily="34" charset="0"/>
              </a:rPr>
              <a:t>of the </a:t>
            </a:r>
            <a:r>
              <a:rPr lang="en-AU" b="1" dirty="0" smtClean="0">
                <a:latin typeface="Arial" pitchFamily="34" charset="0"/>
                <a:cs typeface="Arial" pitchFamily="34" charset="0"/>
              </a:rPr>
              <a:t>heart tube</a:t>
            </a:r>
            <a:r>
              <a:rPr lang="en-AU" dirty="0" smtClean="0">
                <a:latin typeface="Arial" pitchFamily="34" charset="0"/>
                <a:cs typeface="Arial" pitchFamily="34" charset="0"/>
              </a:rPr>
              <a:t>).</a:t>
            </a:r>
          </a:p>
          <a:p>
            <a:pPr algn="just"/>
            <a:r>
              <a:rPr lang="en-AU" dirty="0" smtClean="0">
                <a:latin typeface="Arial" pitchFamily="34" charset="0"/>
                <a:cs typeface="Arial" pitchFamily="34" charset="0"/>
              </a:rPr>
              <a:t>The </a:t>
            </a:r>
            <a:r>
              <a:rPr lang="en-AU" b="1" dirty="0" smtClean="0">
                <a:latin typeface="Arial" pitchFamily="34" charset="0"/>
                <a:cs typeface="Arial" pitchFamily="34" charset="0"/>
              </a:rPr>
              <a:t>venous tube </a:t>
            </a:r>
            <a:r>
              <a:rPr lang="en-AU" dirty="0" smtClean="0">
                <a:latin typeface="Arial" pitchFamily="34" charset="0"/>
                <a:cs typeface="Arial" pitchFamily="34" charset="0"/>
              </a:rPr>
              <a:t>encloses the </a:t>
            </a:r>
            <a:r>
              <a:rPr lang="en-AU" b="1" dirty="0" smtClean="0">
                <a:latin typeface="Arial" pitchFamily="34" charset="0"/>
                <a:cs typeface="Arial" pitchFamily="34" charset="0"/>
              </a:rPr>
              <a:t>superior</a:t>
            </a:r>
            <a:r>
              <a:rPr lang="en-AU" dirty="0" smtClean="0">
                <a:latin typeface="Arial" pitchFamily="34" charset="0"/>
                <a:cs typeface="Arial" pitchFamily="34" charset="0"/>
              </a:rPr>
              <a:t>, </a:t>
            </a:r>
            <a:r>
              <a:rPr lang="en-AU" b="1" dirty="0" smtClean="0">
                <a:latin typeface="Arial" pitchFamily="34" charset="0"/>
                <a:cs typeface="Arial" pitchFamily="34" charset="0"/>
              </a:rPr>
              <a:t>inferior vena cava </a:t>
            </a:r>
            <a:r>
              <a:rPr lang="en-AU" dirty="0" smtClean="0">
                <a:latin typeface="Arial" pitchFamily="34" charset="0"/>
                <a:cs typeface="Arial" pitchFamily="34" charset="0"/>
              </a:rPr>
              <a:t>and </a:t>
            </a:r>
            <a:r>
              <a:rPr lang="en-AU" b="1" dirty="0" smtClean="0">
                <a:latin typeface="Arial" pitchFamily="34" charset="0"/>
                <a:cs typeface="Arial" pitchFamily="34" charset="0"/>
              </a:rPr>
              <a:t>four pulmonary veins </a:t>
            </a:r>
            <a:r>
              <a:rPr lang="en-AU" dirty="0" smtClean="0">
                <a:latin typeface="Arial" pitchFamily="34" charset="0"/>
                <a:cs typeface="Arial" pitchFamily="34" charset="0"/>
              </a:rPr>
              <a:t>(</a:t>
            </a:r>
            <a:r>
              <a:rPr lang="en-AU" b="1" dirty="0" smtClean="0">
                <a:latin typeface="Arial" pitchFamily="34" charset="0"/>
                <a:cs typeface="Arial" pitchFamily="34" charset="0"/>
              </a:rPr>
              <a:t>venous end </a:t>
            </a:r>
            <a:r>
              <a:rPr lang="en-AU" dirty="0" smtClean="0">
                <a:latin typeface="Arial" pitchFamily="34" charset="0"/>
                <a:cs typeface="Arial" pitchFamily="34" charset="0"/>
              </a:rPr>
              <a:t>of the </a:t>
            </a:r>
            <a:r>
              <a:rPr lang="en-AU" b="1" dirty="0" smtClean="0">
                <a:latin typeface="Arial" pitchFamily="34" charset="0"/>
                <a:cs typeface="Arial" pitchFamily="34" charset="0"/>
              </a:rPr>
              <a:t>heart tube</a:t>
            </a:r>
            <a:r>
              <a:rPr lang="en-AU" dirty="0" smtClean="0">
                <a:latin typeface="Arial" pitchFamily="34" charset="0"/>
                <a:cs typeface="Arial" pitchFamily="34" charset="0"/>
              </a:rPr>
              <a:t>).</a:t>
            </a:r>
            <a:endParaRPr lang="en-US" dirty="0">
              <a:latin typeface="Arial" pitchFamily="34" charset="0"/>
              <a:cs typeface="Arial" pitchFamily="34" charset="0"/>
            </a:endParaRPr>
          </a:p>
        </p:txBody>
      </p:sp>
      <p:sp>
        <p:nvSpPr>
          <p:cNvPr id="4" name="TextBox 3"/>
          <p:cNvSpPr txBox="1"/>
          <p:nvPr/>
        </p:nvSpPr>
        <p:spPr>
          <a:xfrm>
            <a:off x="3571868" y="571480"/>
            <a:ext cx="2151551" cy="769441"/>
          </a:xfrm>
          <a:prstGeom prst="rect">
            <a:avLst/>
          </a:prstGeom>
          <a:noFill/>
        </p:spPr>
        <p:txBody>
          <a:bodyPr wrap="square" rtlCol="0">
            <a:spAutoFit/>
          </a:bodyPr>
          <a:lstStyle/>
          <a:p>
            <a:r>
              <a:rPr lang="en-AU" sz="4400" dirty="0" smtClean="0">
                <a:latin typeface="Arial Black" pitchFamily="34" charset="0"/>
              </a:rPr>
              <a:t>Cont’d</a:t>
            </a:r>
            <a:endParaRPr lang="en-US" sz="4400" dirty="0">
              <a:latin typeface="Arial Black" pitchFamily="34"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225536"/>
          </a:xfrm>
        </p:spPr>
        <p:txBody>
          <a:bodyPr>
            <a:normAutofit fontScale="90000"/>
          </a:bodyPr>
          <a:lstStyle/>
          <a:p>
            <a:r>
              <a:rPr lang="en-AU" dirty="0" smtClean="0">
                <a:latin typeface="Arial Black" pitchFamily="34" charset="0"/>
              </a:rPr>
              <a:t>Transverse Sinus of Pericardium</a:t>
            </a:r>
            <a:endParaRPr lang="en-US" dirty="0">
              <a:latin typeface="Arial Black" pitchFamily="34" charset="0"/>
            </a:endParaRPr>
          </a:p>
        </p:txBody>
      </p:sp>
      <p:sp>
        <p:nvSpPr>
          <p:cNvPr id="3" name="Content Placeholder 2"/>
          <p:cNvSpPr>
            <a:spLocks noGrp="1"/>
          </p:cNvSpPr>
          <p:nvPr>
            <p:ph idx="1"/>
          </p:nvPr>
        </p:nvSpPr>
        <p:spPr>
          <a:xfrm>
            <a:off x="457200" y="1643050"/>
            <a:ext cx="8401080" cy="5000660"/>
          </a:xfrm>
        </p:spPr>
        <p:txBody>
          <a:bodyPr>
            <a:normAutofit/>
          </a:bodyPr>
          <a:lstStyle/>
          <a:p>
            <a:pPr algn="just"/>
            <a:r>
              <a:rPr lang="en-AU" dirty="0" smtClean="0">
                <a:latin typeface="Arial" pitchFamily="34" charset="0"/>
                <a:cs typeface="Arial" pitchFamily="34" charset="0"/>
              </a:rPr>
              <a:t>It is a </a:t>
            </a:r>
            <a:r>
              <a:rPr lang="en-AU" b="1" dirty="0" smtClean="0">
                <a:latin typeface="Arial" pitchFamily="34" charset="0"/>
                <a:cs typeface="Arial" pitchFamily="34" charset="0"/>
              </a:rPr>
              <a:t>transverse recess behind</a:t>
            </a:r>
            <a:r>
              <a:rPr lang="en-AU" dirty="0" smtClean="0">
                <a:latin typeface="Arial" pitchFamily="34" charset="0"/>
                <a:cs typeface="Arial" pitchFamily="34" charset="0"/>
              </a:rPr>
              <a:t> the </a:t>
            </a:r>
            <a:r>
              <a:rPr lang="en-AU" b="1" dirty="0" smtClean="0">
                <a:latin typeface="Arial" pitchFamily="34" charset="0"/>
                <a:cs typeface="Arial" pitchFamily="34" charset="0"/>
              </a:rPr>
              <a:t>ascending aorta</a:t>
            </a:r>
            <a:r>
              <a:rPr lang="en-AU" dirty="0" smtClean="0">
                <a:latin typeface="Arial" pitchFamily="34" charset="0"/>
                <a:cs typeface="Arial" pitchFamily="34" charset="0"/>
              </a:rPr>
              <a:t>, </a:t>
            </a:r>
            <a:r>
              <a:rPr lang="en-AU" b="1" dirty="0" smtClean="0">
                <a:latin typeface="Arial" pitchFamily="34" charset="0"/>
                <a:cs typeface="Arial" pitchFamily="34" charset="0"/>
              </a:rPr>
              <a:t>pulmonary trunk </a:t>
            </a:r>
            <a:r>
              <a:rPr lang="en-AU" dirty="0" smtClean="0">
                <a:latin typeface="Arial" pitchFamily="34" charset="0"/>
                <a:cs typeface="Arial" pitchFamily="34" charset="0"/>
              </a:rPr>
              <a:t>in front, </a:t>
            </a:r>
            <a:r>
              <a:rPr lang="en-AU" b="1" dirty="0" smtClean="0">
                <a:latin typeface="Arial" pitchFamily="34" charset="0"/>
                <a:cs typeface="Arial" pitchFamily="34" charset="0"/>
              </a:rPr>
              <a:t>superior vena cava</a:t>
            </a:r>
            <a:r>
              <a:rPr lang="en-AU" dirty="0" smtClean="0">
                <a:latin typeface="Arial" pitchFamily="34" charset="0"/>
                <a:cs typeface="Arial" pitchFamily="34" charset="0"/>
              </a:rPr>
              <a:t>, </a:t>
            </a:r>
            <a:r>
              <a:rPr lang="en-AU" b="1" dirty="0" smtClean="0">
                <a:latin typeface="Arial" pitchFamily="34" charset="0"/>
                <a:cs typeface="Arial" pitchFamily="34" charset="0"/>
              </a:rPr>
              <a:t>left atrium</a:t>
            </a:r>
            <a:r>
              <a:rPr lang="en-AU" dirty="0" smtClean="0">
                <a:latin typeface="Arial" pitchFamily="34" charset="0"/>
                <a:cs typeface="Arial" pitchFamily="34" charset="0"/>
              </a:rPr>
              <a:t>, and </a:t>
            </a:r>
            <a:r>
              <a:rPr lang="en-AU" b="1" dirty="0" smtClean="0">
                <a:latin typeface="Arial" pitchFamily="34" charset="0"/>
                <a:cs typeface="Arial" pitchFamily="34" charset="0"/>
              </a:rPr>
              <a:t>pulmonary veins </a:t>
            </a:r>
            <a:r>
              <a:rPr lang="en-AU" dirty="0" smtClean="0">
                <a:latin typeface="Arial" pitchFamily="34" charset="0"/>
                <a:cs typeface="Arial" pitchFamily="34" charset="0"/>
              </a:rPr>
              <a:t>behind. It </a:t>
            </a:r>
            <a:r>
              <a:rPr lang="en-AU" b="1" dirty="0" smtClean="0">
                <a:latin typeface="Arial" pitchFamily="34" charset="0"/>
                <a:cs typeface="Arial" pitchFamily="34" charset="0"/>
              </a:rPr>
              <a:t>develops</a:t>
            </a:r>
            <a:r>
              <a:rPr lang="en-AU" dirty="0" smtClean="0">
                <a:latin typeface="Arial" pitchFamily="34" charset="0"/>
                <a:cs typeface="Arial" pitchFamily="34" charset="0"/>
              </a:rPr>
              <a:t> due to </a:t>
            </a:r>
            <a:r>
              <a:rPr lang="en-AU" b="1" dirty="0" smtClean="0">
                <a:latin typeface="Arial" pitchFamily="34" charset="0"/>
                <a:cs typeface="Arial" pitchFamily="34" charset="0"/>
              </a:rPr>
              <a:t>degeneration</a:t>
            </a:r>
            <a:r>
              <a:rPr lang="en-AU" dirty="0" smtClean="0">
                <a:latin typeface="Arial" pitchFamily="34" charset="0"/>
                <a:cs typeface="Arial" pitchFamily="34" charset="0"/>
              </a:rPr>
              <a:t> of </a:t>
            </a:r>
            <a:r>
              <a:rPr lang="en-AU" b="1" dirty="0" smtClean="0">
                <a:latin typeface="Arial" pitchFamily="34" charset="0"/>
                <a:cs typeface="Arial" pitchFamily="34" charset="0"/>
              </a:rPr>
              <a:t>dorsal mesocardium</a:t>
            </a:r>
            <a:r>
              <a:rPr lang="en-AU" dirty="0" smtClean="0">
                <a:latin typeface="Arial" pitchFamily="34" charset="0"/>
                <a:cs typeface="Arial" pitchFamily="34" charset="0"/>
              </a:rPr>
              <a:t>.</a:t>
            </a:r>
          </a:p>
          <a:p>
            <a:pPr algn="just"/>
            <a:r>
              <a:rPr lang="en-AU" dirty="0" smtClean="0">
                <a:latin typeface="Arial" pitchFamily="34" charset="0"/>
                <a:cs typeface="Arial" pitchFamily="34" charset="0"/>
              </a:rPr>
              <a:t>It is a </a:t>
            </a:r>
            <a:r>
              <a:rPr lang="en-AU" b="1" dirty="0" smtClean="0">
                <a:latin typeface="Arial" pitchFamily="34" charset="0"/>
                <a:cs typeface="Arial" pitchFamily="34" charset="0"/>
              </a:rPr>
              <a:t>horizontal passage </a:t>
            </a:r>
            <a:r>
              <a:rPr lang="en-AU" dirty="0" smtClean="0">
                <a:latin typeface="Arial" pitchFamily="34" charset="0"/>
                <a:cs typeface="Arial" pitchFamily="34" charset="0"/>
              </a:rPr>
              <a:t>between the </a:t>
            </a:r>
            <a:r>
              <a:rPr lang="en-AU" b="1" dirty="0" smtClean="0">
                <a:latin typeface="Arial" pitchFamily="34" charset="0"/>
                <a:cs typeface="Arial" pitchFamily="34" charset="0"/>
              </a:rPr>
              <a:t>two pericardial tubes</a:t>
            </a:r>
            <a:r>
              <a:rPr lang="en-AU" dirty="0" smtClean="0">
                <a:latin typeface="Arial" pitchFamily="34" charset="0"/>
                <a:cs typeface="Arial" pitchFamily="34" charset="0"/>
              </a:rPr>
              <a:t>. On </a:t>
            </a:r>
            <a:r>
              <a:rPr lang="en-AU" b="1" dirty="0" smtClean="0">
                <a:latin typeface="Arial" pitchFamily="34" charset="0"/>
                <a:cs typeface="Arial" pitchFamily="34" charset="0"/>
              </a:rPr>
              <a:t>each side</a:t>
            </a:r>
            <a:r>
              <a:rPr lang="en-AU" dirty="0" smtClean="0">
                <a:latin typeface="Arial" pitchFamily="34" charset="0"/>
                <a:cs typeface="Arial" pitchFamily="34" charset="0"/>
              </a:rPr>
              <a:t>, it communicates with the </a:t>
            </a:r>
            <a:r>
              <a:rPr lang="en-AU" b="1" dirty="0" smtClean="0">
                <a:latin typeface="Arial" pitchFamily="34" charset="0"/>
                <a:cs typeface="Arial" pitchFamily="34" charset="0"/>
              </a:rPr>
              <a:t>general pericardial </a:t>
            </a:r>
            <a:r>
              <a:rPr lang="en-AU" b="1" dirty="0" smtClean="0">
                <a:latin typeface="Arial" pitchFamily="34" charset="0"/>
                <a:cs typeface="Arial" pitchFamily="34" charset="0"/>
              </a:rPr>
              <a:t>cavity.</a:t>
            </a:r>
            <a:endParaRPr lang="en-US" b="1" dirty="0">
              <a:latin typeface="Arial" pitchFamily="34" charset="0"/>
              <a:cs typeface="Arial" pitchFamily="34"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4282" y="428604"/>
            <a:ext cx="8472518" cy="1214446"/>
          </a:xfrm>
        </p:spPr>
        <p:txBody>
          <a:bodyPr>
            <a:normAutofit fontScale="90000"/>
          </a:bodyPr>
          <a:lstStyle/>
          <a:p>
            <a:r>
              <a:rPr lang="en-US" dirty="0" smtClean="0">
                <a:latin typeface="Arial Black" pitchFamily="34" charset="0"/>
              </a:rPr>
              <a:t>Oblique Sinus of Pericardium</a:t>
            </a:r>
            <a:endParaRPr lang="en-US" dirty="0">
              <a:latin typeface="Arial Black" pitchFamily="34" charset="0"/>
            </a:endParaRPr>
          </a:p>
        </p:txBody>
      </p:sp>
      <p:sp>
        <p:nvSpPr>
          <p:cNvPr id="3" name="Content Placeholder 2"/>
          <p:cNvSpPr>
            <a:spLocks noGrp="1"/>
          </p:cNvSpPr>
          <p:nvPr>
            <p:ph idx="1"/>
          </p:nvPr>
        </p:nvSpPr>
        <p:spPr/>
        <p:txBody>
          <a:bodyPr/>
          <a:lstStyle/>
          <a:p>
            <a:pPr algn="just"/>
            <a:r>
              <a:rPr lang="en-AU" dirty="0" smtClean="0">
                <a:latin typeface="Arial" pitchFamily="34" charset="0"/>
                <a:cs typeface="Arial" pitchFamily="34" charset="0"/>
              </a:rPr>
              <a:t>It is a </a:t>
            </a:r>
            <a:r>
              <a:rPr lang="en-AU" b="1" dirty="0" smtClean="0">
                <a:latin typeface="Arial" pitchFamily="34" charset="0"/>
                <a:cs typeface="Arial" pitchFamily="34" charset="0"/>
              </a:rPr>
              <a:t>space behind</a:t>
            </a:r>
            <a:r>
              <a:rPr lang="en-AU" dirty="0" smtClean="0">
                <a:latin typeface="Arial" pitchFamily="34" charset="0"/>
                <a:cs typeface="Arial" pitchFamily="34" charset="0"/>
              </a:rPr>
              <a:t> the </a:t>
            </a:r>
            <a:r>
              <a:rPr lang="en-AU" b="1" dirty="0" smtClean="0">
                <a:latin typeface="Arial" pitchFamily="34" charset="0"/>
                <a:cs typeface="Arial" pitchFamily="34" charset="0"/>
              </a:rPr>
              <a:t>base </a:t>
            </a:r>
            <a:r>
              <a:rPr lang="en-AU" dirty="0" smtClean="0">
                <a:latin typeface="Arial" pitchFamily="34" charset="0"/>
                <a:cs typeface="Arial" pitchFamily="34" charset="0"/>
              </a:rPr>
              <a:t>of the </a:t>
            </a:r>
            <a:r>
              <a:rPr lang="en-AU" b="1" dirty="0" smtClean="0">
                <a:latin typeface="Arial" pitchFamily="34" charset="0"/>
                <a:cs typeface="Arial" pitchFamily="34" charset="0"/>
              </a:rPr>
              <a:t>heart</a:t>
            </a:r>
            <a:r>
              <a:rPr lang="en-AU" dirty="0" smtClean="0">
                <a:latin typeface="Arial" pitchFamily="34" charset="0"/>
                <a:cs typeface="Arial" pitchFamily="34" charset="0"/>
              </a:rPr>
              <a:t> </a:t>
            </a:r>
            <a:r>
              <a:rPr lang="en-AU" b="1" dirty="0" smtClean="0">
                <a:latin typeface="Arial" pitchFamily="34" charset="0"/>
                <a:cs typeface="Arial" pitchFamily="34" charset="0"/>
              </a:rPr>
              <a:t>between</a:t>
            </a:r>
            <a:r>
              <a:rPr lang="en-AU" dirty="0" smtClean="0">
                <a:latin typeface="Arial" pitchFamily="34" charset="0"/>
                <a:cs typeface="Arial" pitchFamily="34" charset="0"/>
              </a:rPr>
              <a:t> the </a:t>
            </a:r>
            <a:r>
              <a:rPr lang="en-AU" b="1" dirty="0" smtClean="0">
                <a:latin typeface="Arial" pitchFamily="34" charset="0"/>
                <a:cs typeface="Arial" pitchFamily="34" charset="0"/>
              </a:rPr>
              <a:t>left atrium</a:t>
            </a:r>
            <a:r>
              <a:rPr lang="en-AU" dirty="0" smtClean="0">
                <a:latin typeface="Arial" pitchFamily="34" charset="0"/>
                <a:cs typeface="Arial" pitchFamily="34" charset="0"/>
              </a:rPr>
              <a:t>, </a:t>
            </a:r>
            <a:r>
              <a:rPr lang="en-AU" b="1" dirty="0" smtClean="0">
                <a:latin typeface="Arial" pitchFamily="34" charset="0"/>
                <a:cs typeface="Arial" pitchFamily="34" charset="0"/>
              </a:rPr>
              <a:t>in front </a:t>
            </a:r>
            <a:r>
              <a:rPr lang="en-AU" dirty="0" smtClean="0">
                <a:latin typeface="Arial" pitchFamily="34" charset="0"/>
                <a:cs typeface="Arial" pitchFamily="34" charset="0"/>
              </a:rPr>
              <a:t>and the </a:t>
            </a:r>
            <a:r>
              <a:rPr lang="en-AU" b="1" dirty="0" smtClean="0">
                <a:latin typeface="Arial" pitchFamily="34" charset="0"/>
                <a:cs typeface="Arial" pitchFamily="34" charset="0"/>
              </a:rPr>
              <a:t>fibrous pericardium behind</a:t>
            </a:r>
            <a:r>
              <a:rPr lang="en-AU" dirty="0" smtClean="0">
                <a:latin typeface="Arial" pitchFamily="34" charset="0"/>
                <a:cs typeface="Arial" pitchFamily="34" charset="0"/>
              </a:rPr>
              <a:t>, </a:t>
            </a:r>
            <a:r>
              <a:rPr lang="en-AU" b="1" dirty="0" smtClean="0">
                <a:latin typeface="Arial" pitchFamily="34" charset="0"/>
                <a:cs typeface="Arial" pitchFamily="34" charset="0"/>
              </a:rPr>
              <a:t>posterior</a:t>
            </a:r>
            <a:r>
              <a:rPr lang="en-AU" dirty="0" smtClean="0">
                <a:latin typeface="Arial" pitchFamily="34" charset="0"/>
                <a:cs typeface="Arial" pitchFamily="34" charset="0"/>
              </a:rPr>
              <a:t> to which </a:t>
            </a:r>
            <a:r>
              <a:rPr lang="en-AU" b="1" dirty="0" smtClean="0">
                <a:latin typeface="Arial" pitchFamily="34" charset="0"/>
                <a:cs typeface="Arial" pitchFamily="34" charset="0"/>
              </a:rPr>
              <a:t>lies </a:t>
            </a:r>
            <a:r>
              <a:rPr lang="en-AU" dirty="0" smtClean="0">
                <a:latin typeface="Arial" pitchFamily="34" charset="0"/>
                <a:cs typeface="Arial" pitchFamily="34" charset="0"/>
              </a:rPr>
              <a:t>the </a:t>
            </a:r>
            <a:r>
              <a:rPr lang="en-AU" b="1" dirty="0" smtClean="0">
                <a:latin typeface="Arial" pitchFamily="34" charset="0"/>
                <a:cs typeface="Arial" pitchFamily="34" charset="0"/>
              </a:rPr>
              <a:t>oesophagus</a:t>
            </a:r>
            <a:r>
              <a:rPr lang="en-AU" dirty="0" smtClean="0">
                <a:latin typeface="Arial" pitchFamily="34" charset="0"/>
                <a:cs typeface="Arial" pitchFamily="34" charset="0"/>
              </a:rPr>
              <a:t>. It is </a:t>
            </a:r>
            <a:r>
              <a:rPr lang="en-AU" b="1" dirty="0" smtClean="0">
                <a:latin typeface="Arial" pitchFamily="34" charset="0"/>
                <a:cs typeface="Arial" pitchFamily="34" charset="0"/>
              </a:rPr>
              <a:t>enclosed</a:t>
            </a:r>
            <a:r>
              <a:rPr lang="en-AU" dirty="0" smtClean="0">
                <a:latin typeface="Arial" pitchFamily="34" charset="0"/>
                <a:cs typeface="Arial" pitchFamily="34" charset="0"/>
              </a:rPr>
              <a:t> by </a:t>
            </a:r>
            <a:r>
              <a:rPr lang="en-AU" b="1" dirty="0" smtClean="0">
                <a:latin typeface="Arial" pitchFamily="34" charset="0"/>
                <a:cs typeface="Arial" pitchFamily="34" charset="0"/>
              </a:rPr>
              <a:t>‘J-shaped’ </a:t>
            </a:r>
            <a:r>
              <a:rPr lang="en-AU" dirty="0" smtClean="0">
                <a:latin typeface="Arial" pitchFamily="34" charset="0"/>
                <a:cs typeface="Arial" pitchFamily="34" charset="0"/>
              </a:rPr>
              <a:t>sheath of </a:t>
            </a:r>
            <a:r>
              <a:rPr lang="en-AU" b="1" dirty="0" smtClean="0">
                <a:latin typeface="Arial" pitchFamily="34" charset="0"/>
                <a:cs typeface="Arial" pitchFamily="34" charset="0"/>
              </a:rPr>
              <a:t>visceral layer </a:t>
            </a:r>
            <a:r>
              <a:rPr lang="en-AU" dirty="0" smtClean="0">
                <a:latin typeface="Arial" pitchFamily="34" charset="0"/>
                <a:cs typeface="Arial" pitchFamily="34" charset="0"/>
              </a:rPr>
              <a:t>of </a:t>
            </a:r>
            <a:r>
              <a:rPr lang="en-AU" b="1" dirty="0" smtClean="0">
                <a:latin typeface="Arial" pitchFamily="34" charset="0"/>
                <a:cs typeface="Arial" pitchFamily="34" charset="0"/>
              </a:rPr>
              <a:t>serous pericardium </a:t>
            </a:r>
            <a:r>
              <a:rPr lang="en-AU" dirty="0" smtClean="0">
                <a:latin typeface="Arial" pitchFamily="34" charset="0"/>
                <a:cs typeface="Arial" pitchFamily="34" charset="0"/>
              </a:rPr>
              <a:t>enclosing </a:t>
            </a:r>
            <a:r>
              <a:rPr lang="en-AU" b="1" dirty="0" smtClean="0">
                <a:latin typeface="Arial" pitchFamily="34" charset="0"/>
                <a:cs typeface="Arial" pitchFamily="34" charset="0"/>
              </a:rPr>
              <a:t>six veins </a:t>
            </a:r>
            <a:r>
              <a:rPr lang="en-AU" dirty="0" smtClean="0">
                <a:latin typeface="Arial" pitchFamily="34" charset="0"/>
                <a:cs typeface="Arial" pitchFamily="34" charset="0"/>
              </a:rPr>
              <a:t>(i.e., </a:t>
            </a:r>
            <a:r>
              <a:rPr lang="en-AU" b="1" dirty="0" smtClean="0">
                <a:latin typeface="Arial" pitchFamily="34" charset="0"/>
                <a:cs typeface="Arial" pitchFamily="34" charset="0"/>
              </a:rPr>
              <a:t>2 vena cavae </a:t>
            </a:r>
            <a:r>
              <a:rPr lang="en-AU" dirty="0" smtClean="0">
                <a:latin typeface="Arial" pitchFamily="34" charset="0"/>
                <a:cs typeface="Arial" pitchFamily="34" charset="0"/>
              </a:rPr>
              <a:t>and </a:t>
            </a:r>
            <a:r>
              <a:rPr lang="en-AU" b="1" dirty="0" smtClean="0">
                <a:latin typeface="Arial" pitchFamily="34" charset="0"/>
                <a:cs typeface="Arial" pitchFamily="34" charset="0"/>
              </a:rPr>
              <a:t>4 pulmonary veins</a:t>
            </a:r>
            <a:r>
              <a:rPr lang="en-AU" dirty="0" smtClean="0">
                <a:latin typeface="Arial" pitchFamily="34" charset="0"/>
                <a:cs typeface="Arial" pitchFamily="34" charset="0"/>
              </a:rPr>
              <a:t>).</a:t>
            </a:r>
          </a:p>
          <a:p>
            <a:pPr algn="just"/>
            <a:endParaRPr lang="en-US" dirty="0">
              <a:latin typeface="Arial" pitchFamily="34" charset="0"/>
              <a:cs typeface="Arial" pitchFamily="34" charset="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14422"/>
            <a:ext cx="8229600" cy="4911741"/>
          </a:xfrm>
        </p:spPr>
        <p:txBody>
          <a:bodyPr>
            <a:normAutofit/>
          </a:bodyPr>
          <a:lstStyle/>
          <a:p>
            <a:pPr algn="just"/>
            <a:r>
              <a:rPr lang="en-AU" dirty="0" smtClean="0">
                <a:latin typeface="Arial" pitchFamily="34" charset="0"/>
                <a:cs typeface="Arial" pitchFamily="34" charset="0"/>
              </a:rPr>
              <a:t>The </a:t>
            </a:r>
            <a:r>
              <a:rPr lang="en-AU" b="1" dirty="0" smtClean="0">
                <a:latin typeface="Arial" pitchFamily="34" charset="0"/>
                <a:cs typeface="Arial" pitchFamily="34" charset="0"/>
              </a:rPr>
              <a:t>oblique sinus </a:t>
            </a:r>
            <a:r>
              <a:rPr lang="en-AU" dirty="0" smtClean="0">
                <a:latin typeface="Arial" pitchFamily="34" charset="0"/>
                <a:cs typeface="Arial" pitchFamily="34" charset="0"/>
              </a:rPr>
              <a:t>is </a:t>
            </a:r>
            <a:r>
              <a:rPr lang="en-AU" b="1" dirty="0" smtClean="0">
                <a:latin typeface="Arial" pitchFamily="34" charset="0"/>
                <a:cs typeface="Arial" pitchFamily="34" charset="0"/>
              </a:rPr>
              <a:t>similar </a:t>
            </a:r>
            <a:r>
              <a:rPr lang="en-AU" dirty="0" smtClean="0">
                <a:latin typeface="Arial" pitchFamily="34" charset="0"/>
                <a:cs typeface="Arial" pitchFamily="34" charset="0"/>
              </a:rPr>
              <a:t>to </a:t>
            </a:r>
            <a:r>
              <a:rPr lang="en-AU" b="1" dirty="0" smtClean="0">
                <a:latin typeface="Arial" pitchFamily="34" charset="0"/>
                <a:cs typeface="Arial" pitchFamily="34" charset="0"/>
              </a:rPr>
              <a:t>lesser sac behind</a:t>
            </a:r>
            <a:r>
              <a:rPr lang="en-AU" dirty="0" smtClean="0">
                <a:latin typeface="Arial" pitchFamily="34" charset="0"/>
                <a:cs typeface="Arial" pitchFamily="34" charset="0"/>
              </a:rPr>
              <a:t> the </a:t>
            </a:r>
            <a:r>
              <a:rPr lang="en-AU" b="1" dirty="0" smtClean="0">
                <a:latin typeface="Arial" pitchFamily="34" charset="0"/>
                <a:cs typeface="Arial" pitchFamily="34" charset="0"/>
              </a:rPr>
              <a:t>stomach</a:t>
            </a:r>
            <a:r>
              <a:rPr lang="en-AU" dirty="0" smtClean="0">
                <a:latin typeface="Arial" pitchFamily="34" charset="0"/>
                <a:cs typeface="Arial" pitchFamily="34" charset="0"/>
              </a:rPr>
              <a:t> and </a:t>
            </a:r>
            <a:r>
              <a:rPr lang="en-AU" b="1" dirty="0" smtClean="0">
                <a:latin typeface="Arial" pitchFamily="34" charset="0"/>
                <a:cs typeface="Arial" pitchFamily="34" charset="0"/>
              </a:rPr>
              <a:t>develops</a:t>
            </a:r>
            <a:r>
              <a:rPr lang="en-AU" dirty="0" smtClean="0">
                <a:latin typeface="Arial" pitchFamily="34" charset="0"/>
                <a:cs typeface="Arial" pitchFamily="34" charset="0"/>
              </a:rPr>
              <a:t> as a result of </a:t>
            </a:r>
            <a:r>
              <a:rPr lang="en-AU" b="1" dirty="0" smtClean="0">
                <a:latin typeface="Arial" pitchFamily="34" charset="0"/>
                <a:cs typeface="Arial" pitchFamily="34" charset="0"/>
              </a:rPr>
              <a:t>absorption</a:t>
            </a:r>
            <a:r>
              <a:rPr lang="en-AU" dirty="0" smtClean="0">
                <a:latin typeface="Arial" pitchFamily="34" charset="0"/>
                <a:cs typeface="Arial" pitchFamily="34" charset="0"/>
              </a:rPr>
              <a:t> of </a:t>
            </a:r>
            <a:r>
              <a:rPr lang="en-AU" b="1" dirty="0" smtClean="0">
                <a:latin typeface="Arial" pitchFamily="34" charset="0"/>
                <a:cs typeface="Arial" pitchFamily="34" charset="0"/>
              </a:rPr>
              <a:t>four pulmonary veins</a:t>
            </a:r>
            <a:r>
              <a:rPr lang="en-AU" dirty="0" smtClean="0">
                <a:latin typeface="Arial" pitchFamily="34" charset="0"/>
                <a:cs typeface="Arial" pitchFamily="34" charset="0"/>
              </a:rPr>
              <a:t> into the </a:t>
            </a:r>
            <a:r>
              <a:rPr lang="en-AU" b="1" dirty="0" smtClean="0">
                <a:latin typeface="Arial" pitchFamily="34" charset="0"/>
                <a:cs typeface="Arial" pitchFamily="34" charset="0"/>
              </a:rPr>
              <a:t>left atrium</a:t>
            </a:r>
            <a:r>
              <a:rPr lang="en-AU" dirty="0" smtClean="0">
                <a:latin typeface="Arial" pitchFamily="34" charset="0"/>
                <a:cs typeface="Arial" pitchFamily="34" charset="0"/>
              </a:rPr>
              <a:t>. The </a:t>
            </a:r>
            <a:r>
              <a:rPr lang="en-AU" b="1" dirty="0" smtClean="0">
                <a:latin typeface="Arial" pitchFamily="34" charset="0"/>
                <a:cs typeface="Arial" pitchFamily="34" charset="0"/>
              </a:rPr>
              <a:t>oblique sinus </a:t>
            </a:r>
            <a:r>
              <a:rPr lang="en-AU" dirty="0" smtClean="0">
                <a:latin typeface="Arial" pitchFamily="34" charset="0"/>
                <a:cs typeface="Arial" pitchFamily="34" charset="0"/>
              </a:rPr>
              <a:t>permits the </a:t>
            </a:r>
            <a:r>
              <a:rPr lang="en-AU" b="1" dirty="0" smtClean="0">
                <a:latin typeface="Arial" pitchFamily="34" charset="0"/>
                <a:cs typeface="Arial" pitchFamily="34" charset="0"/>
              </a:rPr>
              <a:t>distension of left atrium </a:t>
            </a:r>
            <a:r>
              <a:rPr lang="en-AU" dirty="0" smtClean="0">
                <a:latin typeface="Arial" pitchFamily="34" charset="0"/>
                <a:cs typeface="Arial" pitchFamily="34" charset="0"/>
              </a:rPr>
              <a:t>during </a:t>
            </a:r>
            <a:r>
              <a:rPr lang="en-AU" b="1" dirty="0" smtClean="0">
                <a:latin typeface="Arial" pitchFamily="34" charset="0"/>
                <a:cs typeface="Arial" pitchFamily="34" charset="0"/>
              </a:rPr>
              <a:t>return</a:t>
            </a:r>
            <a:r>
              <a:rPr lang="en-AU" dirty="0" smtClean="0">
                <a:latin typeface="Arial" pitchFamily="34" charset="0"/>
                <a:cs typeface="Arial" pitchFamily="34" charset="0"/>
              </a:rPr>
              <a:t> of </a:t>
            </a:r>
            <a:r>
              <a:rPr lang="en-AU" b="1" dirty="0" smtClean="0">
                <a:latin typeface="Arial" pitchFamily="34" charset="0"/>
                <a:cs typeface="Arial" pitchFamily="34" charset="0"/>
              </a:rPr>
              <a:t>oxygenated blood </a:t>
            </a:r>
            <a:r>
              <a:rPr lang="en-AU" dirty="0" smtClean="0">
                <a:latin typeface="Arial" pitchFamily="34" charset="0"/>
                <a:cs typeface="Arial" pitchFamily="34" charset="0"/>
              </a:rPr>
              <a:t>in it from </a:t>
            </a:r>
            <a:r>
              <a:rPr lang="en-AU" b="1" dirty="0" smtClean="0">
                <a:latin typeface="Arial" pitchFamily="34" charset="0"/>
                <a:cs typeface="Arial" pitchFamily="34" charset="0"/>
              </a:rPr>
              <a:t>the lungs</a:t>
            </a:r>
            <a:r>
              <a:rPr lang="en-AU" dirty="0" smtClean="0">
                <a:latin typeface="Arial" pitchFamily="34" charset="0"/>
                <a:cs typeface="Arial" pitchFamily="34" charset="0"/>
              </a:rPr>
              <a:t>.</a:t>
            </a:r>
            <a:endParaRPr lang="en-US" dirty="0">
              <a:latin typeface="Arial" pitchFamily="34" charset="0"/>
              <a:cs typeface="Arial" pitchFamily="34" charset="0"/>
            </a:endParaRPr>
          </a:p>
        </p:txBody>
      </p:sp>
      <p:sp>
        <p:nvSpPr>
          <p:cNvPr id="4" name="TextBox 3"/>
          <p:cNvSpPr txBox="1"/>
          <p:nvPr/>
        </p:nvSpPr>
        <p:spPr>
          <a:xfrm>
            <a:off x="3357554" y="428604"/>
            <a:ext cx="2151551" cy="769441"/>
          </a:xfrm>
          <a:prstGeom prst="rect">
            <a:avLst/>
          </a:prstGeom>
          <a:noFill/>
        </p:spPr>
        <p:txBody>
          <a:bodyPr wrap="square" rtlCol="0">
            <a:spAutoFit/>
          </a:bodyPr>
          <a:lstStyle/>
          <a:p>
            <a:r>
              <a:rPr lang="en-AU" sz="4400" dirty="0" smtClean="0">
                <a:latin typeface="Arial Black" pitchFamily="34" charset="0"/>
              </a:rPr>
              <a:t>Cont’d</a:t>
            </a:r>
            <a:endParaRPr lang="en-US" sz="4400" dirty="0">
              <a:latin typeface="Arial Black" pitchFamily="34"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2"/>
          <a:srcRect/>
          <a:stretch>
            <a:fillRect/>
          </a:stretch>
        </p:blipFill>
        <p:spPr bwMode="auto">
          <a:xfrm>
            <a:off x="785786" y="1142984"/>
            <a:ext cx="7215238" cy="4958572"/>
          </a:xfrm>
          <a:prstGeom prst="rect">
            <a:avLst/>
          </a:prstGeom>
          <a:noFill/>
          <a:ln w="9525">
            <a:noFill/>
            <a:miter lim="800000"/>
            <a:headEnd/>
            <a:tailEnd/>
          </a:ln>
          <a:effectLst/>
        </p:spPr>
      </p:pic>
      <p:sp>
        <p:nvSpPr>
          <p:cNvPr id="5" name="TextBox 4"/>
          <p:cNvSpPr txBox="1"/>
          <p:nvPr/>
        </p:nvSpPr>
        <p:spPr>
          <a:xfrm>
            <a:off x="214283" y="6000768"/>
            <a:ext cx="8929717" cy="646331"/>
          </a:xfrm>
          <a:prstGeom prst="rect">
            <a:avLst/>
          </a:prstGeom>
          <a:noFill/>
        </p:spPr>
        <p:txBody>
          <a:bodyPr wrap="square" rtlCol="0">
            <a:spAutoFit/>
          </a:bodyPr>
          <a:lstStyle/>
          <a:p>
            <a:r>
              <a:rPr lang="en-AU" dirty="0" smtClean="0"/>
              <a:t>Interior of the serous pericardial sac after section of the large vessels and removal of the heart showing transverse and oblique pericardial sinuses.</a:t>
            </a:r>
            <a:endParaRPr 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5728"/>
            <a:ext cx="8229600" cy="928694"/>
          </a:xfrm>
        </p:spPr>
        <p:txBody>
          <a:bodyPr>
            <a:normAutofit fontScale="90000"/>
          </a:bodyPr>
          <a:lstStyle/>
          <a:p>
            <a:r>
              <a:rPr lang="en-US" dirty="0" smtClean="0">
                <a:latin typeface="Arial Black" pitchFamily="34" charset="0"/>
              </a:rPr>
              <a:t>Boundaries of the Oblique sinus</a:t>
            </a:r>
            <a:endParaRPr lang="en-US" dirty="0">
              <a:latin typeface="Arial Black" pitchFamily="34" charset="0"/>
            </a:endParaRPr>
          </a:p>
        </p:txBody>
      </p:sp>
      <p:sp>
        <p:nvSpPr>
          <p:cNvPr id="3" name="Content Placeholder 2"/>
          <p:cNvSpPr>
            <a:spLocks noGrp="1"/>
          </p:cNvSpPr>
          <p:nvPr>
            <p:ph idx="1"/>
          </p:nvPr>
        </p:nvSpPr>
        <p:spPr>
          <a:xfrm>
            <a:off x="285720" y="1285860"/>
            <a:ext cx="8643998" cy="5572140"/>
          </a:xfrm>
        </p:spPr>
        <p:txBody>
          <a:bodyPr>
            <a:noAutofit/>
          </a:bodyPr>
          <a:lstStyle/>
          <a:p>
            <a:pPr algn="just"/>
            <a:r>
              <a:rPr lang="en-AU" b="1" dirty="0" smtClean="0">
                <a:latin typeface="Arial" pitchFamily="34" charset="0"/>
                <a:cs typeface="Arial" pitchFamily="34" charset="0"/>
              </a:rPr>
              <a:t>Oblique sinus </a:t>
            </a:r>
            <a:r>
              <a:rPr lang="en-AU" dirty="0" smtClean="0">
                <a:latin typeface="Arial" pitchFamily="34" charset="0"/>
                <a:cs typeface="Arial" pitchFamily="34" charset="0"/>
              </a:rPr>
              <a:t>of </a:t>
            </a:r>
            <a:r>
              <a:rPr lang="en-AU" b="1" dirty="0" smtClean="0">
                <a:latin typeface="Arial" pitchFamily="34" charset="0"/>
                <a:cs typeface="Arial" pitchFamily="34" charset="0"/>
              </a:rPr>
              <a:t>pericardium</a:t>
            </a:r>
            <a:r>
              <a:rPr lang="en-AU" dirty="0" smtClean="0">
                <a:latin typeface="Arial" pitchFamily="34" charset="0"/>
                <a:cs typeface="Arial" pitchFamily="34" charset="0"/>
              </a:rPr>
              <a:t> is </a:t>
            </a:r>
            <a:r>
              <a:rPr lang="en-AU" b="1" dirty="0" smtClean="0">
                <a:latin typeface="Arial" pitchFamily="34" charset="0"/>
                <a:cs typeface="Arial" pitchFamily="34" charset="0"/>
              </a:rPr>
              <a:t>bounded </a:t>
            </a:r>
            <a:r>
              <a:rPr lang="en-AU" dirty="0" smtClean="0">
                <a:latin typeface="Arial" pitchFamily="34" charset="0"/>
                <a:cs typeface="Arial" pitchFamily="34" charset="0"/>
              </a:rPr>
              <a:t>in the </a:t>
            </a:r>
            <a:r>
              <a:rPr lang="en-AU" b="1" dirty="0" smtClean="0">
                <a:latin typeface="Arial" pitchFamily="34" charset="0"/>
                <a:cs typeface="Arial" pitchFamily="34" charset="0"/>
              </a:rPr>
              <a:t>following way</a:t>
            </a:r>
            <a:r>
              <a:rPr lang="en-AU" dirty="0" smtClean="0">
                <a:latin typeface="Arial" pitchFamily="34" charset="0"/>
                <a:cs typeface="Arial" pitchFamily="34" charset="0"/>
              </a:rPr>
              <a:t>:</a:t>
            </a:r>
          </a:p>
          <a:p>
            <a:pPr algn="just"/>
            <a:r>
              <a:rPr lang="en-AU" b="1" dirty="0" smtClean="0">
                <a:latin typeface="Arial" pitchFamily="34" charset="0"/>
                <a:cs typeface="Arial" pitchFamily="34" charset="0"/>
              </a:rPr>
              <a:t>Anteriorly</a:t>
            </a:r>
            <a:r>
              <a:rPr lang="en-AU" dirty="0" smtClean="0">
                <a:latin typeface="Arial" pitchFamily="34" charset="0"/>
                <a:cs typeface="Arial" pitchFamily="34" charset="0"/>
              </a:rPr>
              <a:t>: by </a:t>
            </a:r>
            <a:r>
              <a:rPr lang="en-AU" b="1" dirty="0" smtClean="0">
                <a:latin typeface="Arial" pitchFamily="34" charset="0"/>
                <a:cs typeface="Arial" pitchFamily="34" charset="0"/>
              </a:rPr>
              <a:t>left atrium</a:t>
            </a:r>
            <a:r>
              <a:rPr lang="en-AU" dirty="0" smtClean="0">
                <a:latin typeface="Arial" pitchFamily="34" charset="0"/>
                <a:cs typeface="Arial" pitchFamily="34" charset="0"/>
              </a:rPr>
              <a:t>.</a:t>
            </a:r>
          </a:p>
          <a:p>
            <a:pPr algn="just"/>
            <a:r>
              <a:rPr lang="en-AU" b="1" dirty="0" smtClean="0">
                <a:latin typeface="Arial" pitchFamily="34" charset="0"/>
                <a:cs typeface="Arial" pitchFamily="34" charset="0"/>
              </a:rPr>
              <a:t>Posteriorly</a:t>
            </a:r>
            <a:r>
              <a:rPr lang="en-AU" dirty="0" smtClean="0">
                <a:latin typeface="Arial" pitchFamily="34" charset="0"/>
                <a:cs typeface="Arial" pitchFamily="34" charset="0"/>
              </a:rPr>
              <a:t>: by </a:t>
            </a:r>
            <a:r>
              <a:rPr lang="en-AU" b="1" dirty="0" smtClean="0">
                <a:latin typeface="Arial" pitchFamily="34" charset="0"/>
                <a:cs typeface="Arial" pitchFamily="34" charset="0"/>
              </a:rPr>
              <a:t>parietal pericardium</a:t>
            </a:r>
            <a:r>
              <a:rPr lang="en-AU" dirty="0" smtClean="0">
                <a:latin typeface="Arial" pitchFamily="34" charset="0"/>
                <a:cs typeface="Arial" pitchFamily="34" charset="0"/>
              </a:rPr>
              <a:t>.</a:t>
            </a:r>
          </a:p>
          <a:p>
            <a:pPr algn="just"/>
            <a:r>
              <a:rPr lang="en-AU" b="1" dirty="0" smtClean="0">
                <a:latin typeface="Arial" pitchFamily="34" charset="0"/>
                <a:cs typeface="Arial" pitchFamily="34" charset="0"/>
              </a:rPr>
              <a:t>On right side</a:t>
            </a:r>
            <a:r>
              <a:rPr lang="en-AU" dirty="0" smtClean="0">
                <a:latin typeface="Arial" pitchFamily="34" charset="0"/>
                <a:cs typeface="Arial" pitchFamily="34" charset="0"/>
              </a:rPr>
              <a:t>: by </a:t>
            </a:r>
            <a:r>
              <a:rPr lang="en-AU" b="1" dirty="0" smtClean="0">
                <a:latin typeface="Arial" pitchFamily="34" charset="0"/>
                <a:cs typeface="Arial" pitchFamily="34" charset="0"/>
              </a:rPr>
              <a:t>reflection</a:t>
            </a:r>
            <a:r>
              <a:rPr lang="en-AU" dirty="0" smtClean="0">
                <a:latin typeface="Arial" pitchFamily="34" charset="0"/>
                <a:cs typeface="Arial" pitchFamily="34" charset="0"/>
              </a:rPr>
              <a:t> of </a:t>
            </a:r>
            <a:r>
              <a:rPr lang="en-AU" b="1" dirty="0" smtClean="0">
                <a:latin typeface="Arial" pitchFamily="34" charset="0"/>
                <a:cs typeface="Arial" pitchFamily="34" charset="0"/>
              </a:rPr>
              <a:t>visceral pericardium </a:t>
            </a:r>
            <a:r>
              <a:rPr lang="en-AU" dirty="0" smtClean="0">
                <a:latin typeface="Arial" pitchFamily="34" charset="0"/>
                <a:cs typeface="Arial" pitchFamily="34" charset="0"/>
              </a:rPr>
              <a:t>along the </a:t>
            </a:r>
            <a:r>
              <a:rPr lang="en-AU" b="1" dirty="0" smtClean="0">
                <a:latin typeface="Arial" pitchFamily="34" charset="0"/>
                <a:cs typeface="Arial" pitchFamily="34" charset="0"/>
              </a:rPr>
              <a:t>right pulmonary veins </a:t>
            </a:r>
            <a:r>
              <a:rPr lang="en-AU" dirty="0" smtClean="0">
                <a:latin typeface="Arial" pitchFamily="34" charset="0"/>
                <a:cs typeface="Arial" pitchFamily="34" charset="0"/>
              </a:rPr>
              <a:t>and </a:t>
            </a:r>
            <a:r>
              <a:rPr lang="en-AU" b="1" dirty="0" smtClean="0">
                <a:latin typeface="Arial" pitchFamily="34" charset="0"/>
                <a:cs typeface="Arial" pitchFamily="34" charset="0"/>
              </a:rPr>
              <a:t>inferior vena cava</a:t>
            </a:r>
            <a:r>
              <a:rPr lang="en-AU" dirty="0" smtClean="0">
                <a:latin typeface="Arial" pitchFamily="34" charset="0"/>
                <a:cs typeface="Arial" pitchFamily="34" charset="0"/>
              </a:rPr>
              <a:t>.</a:t>
            </a:r>
          </a:p>
          <a:p>
            <a:pPr algn="just"/>
            <a:r>
              <a:rPr lang="en-AU" b="1" dirty="0" smtClean="0">
                <a:latin typeface="Arial" pitchFamily="34" charset="0"/>
                <a:cs typeface="Arial" pitchFamily="34" charset="0"/>
              </a:rPr>
              <a:t>On the left side</a:t>
            </a:r>
            <a:r>
              <a:rPr lang="en-AU" dirty="0" smtClean="0">
                <a:latin typeface="Arial" pitchFamily="34" charset="0"/>
                <a:cs typeface="Arial" pitchFamily="34" charset="0"/>
              </a:rPr>
              <a:t>: by </a:t>
            </a:r>
            <a:r>
              <a:rPr lang="en-AU" b="1" dirty="0" smtClean="0">
                <a:latin typeface="Arial" pitchFamily="34" charset="0"/>
                <a:cs typeface="Arial" pitchFamily="34" charset="0"/>
              </a:rPr>
              <a:t>reflection</a:t>
            </a:r>
            <a:r>
              <a:rPr lang="en-AU" dirty="0" smtClean="0">
                <a:latin typeface="Arial" pitchFamily="34" charset="0"/>
                <a:cs typeface="Arial" pitchFamily="34" charset="0"/>
              </a:rPr>
              <a:t> of </a:t>
            </a:r>
            <a:r>
              <a:rPr lang="en-AU" b="1" dirty="0" smtClean="0">
                <a:latin typeface="Arial" pitchFamily="34" charset="0"/>
                <a:cs typeface="Arial" pitchFamily="34" charset="0"/>
              </a:rPr>
              <a:t>visceral pericardium </a:t>
            </a:r>
            <a:r>
              <a:rPr lang="en-AU" dirty="0" smtClean="0">
                <a:latin typeface="Arial" pitchFamily="34" charset="0"/>
                <a:cs typeface="Arial" pitchFamily="34" charset="0"/>
              </a:rPr>
              <a:t>along  the </a:t>
            </a:r>
            <a:r>
              <a:rPr lang="en-AU" b="1" dirty="0" smtClean="0">
                <a:latin typeface="Arial" pitchFamily="34" charset="0"/>
                <a:cs typeface="Arial" pitchFamily="34" charset="0"/>
              </a:rPr>
              <a:t>left pulmonary veins</a:t>
            </a:r>
            <a:r>
              <a:rPr lang="en-AU" dirty="0" smtClean="0">
                <a:latin typeface="Arial" pitchFamily="34" charset="0"/>
                <a:cs typeface="Arial" pitchFamily="34" charset="0"/>
              </a:rPr>
              <a:t>.</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28604"/>
            <a:ext cx="8229600" cy="1143008"/>
          </a:xfrm>
        </p:spPr>
        <p:txBody>
          <a:bodyPr/>
          <a:lstStyle/>
          <a:p>
            <a:r>
              <a:rPr lang="en-AU" dirty="0" smtClean="0">
                <a:latin typeface="Arial Black" pitchFamily="34" charset="0"/>
              </a:rPr>
              <a:t>Cont’d</a:t>
            </a:r>
            <a:endParaRPr lang="en-US" dirty="0">
              <a:latin typeface="Arial Black" pitchFamily="34" charset="0"/>
            </a:endParaRPr>
          </a:p>
        </p:txBody>
      </p:sp>
      <p:sp>
        <p:nvSpPr>
          <p:cNvPr id="3" name="Content Placeholder 2"/>
          <p:cNvSpPr>
            <a:spLocks noGrp="1"/>
          </p:cNvSpPr>
          <p:nvPr>
            <p:ph idx="1"/>
          </p:nvPr>
        </p:nvSpPr>
        <p:spPr/>
        <p:txBody>
          <a:bodyPr/>
          <a:lstStyle/>
          <a:p>
            <a:pPr algn="just"/>
            <a:r>
              <a:rPr lang="en-AU" b="1" dirty="0" smtClean="0">
                <a:latin typeface="Arial" pitchFamily="34" charset="0"/>
                <a:cs typeface="Arial" pitchFamily="34" charset="0"/>
              </a:rPr>
              <a:t>Superiorly</a:t>
            </a:r>
            <a:r>
              <a:rPr lang="en-AU" dirty="0" smtClean="0">
                <a:latin typeface="Arial" pitchFamily="34" charset="0"/>
                <a:cs typeface="Arial" pitchFamily="34" charset="0"/>
              </a:rPr>
              <a:t>: by </a:t>
            </a:r>
            <a:r>
              <a:rPr lang="en-AU" b="1" dirty="0" smtClean="0">
                <a:latin typeface="Arial" pitchFamily="34" charset="0"/>
                <a:cs typeface="Arial" pitchFamily="34" charset="0"/>
              </a:rPr>
              <a:t>reflection</a:t>
            </a:r>
            <a:r>
              <a:rPr lang="en-AU" dirty="0" smtClean="0">
                <a:latin typeface="Arial" pitchFamily="34" charset="0"/>
                <a:cs typeface="Arial" pitchFamily="34" charset="0"/>
              </a:rPr>
              <a:t> of </a:t>
            </a:r>
            <a:r>
              <a:rPr lang="en-AU" b="1" dirty="0" smtClean="0">
                <a:latin typeface="Arial" pitchFamily="34" charset="0"/>
                <a:cs typeface="Arial" pitchFamily="34" charset="0"/>
              </a:rPr>
              <a:t>visceral pericardium </a:t>
            </a:r>
            <a:r>
              <a:rPr lang="en-AU" dirty="0" smtClean="0">
                <a:latin typeface="Arial" pitchFamily="34" charset="0"/>
                <a:cs typeface="Arial" pitchFamily="34" charset="0"/>
              </a:rPr>
              <a:t>along the </a:t>
            </a:r>
            <a:r>
              <a:rPr lang="en-AU" b="1" dirty="0" smtClean="0">
                <a:latin typeface="Arial" pitchFamily="34" charset="0"/>
                <a:cs typeface="Arial" pitchFamily="34" charset="0"/>
              </a:rPr>
              <a:t>right</a:t>
            </a:r>
            <a:r>
              <a:rPr lang="en-AU" dirty="0" smtClean="0">
                <a:latin typeface="Arial" pitchFamily="34" charset="0"/>
                <a:cs typeface="Arial" pitchFamily="34" charset="0"/>
              </a:rPr>
              <a:t> and </a:t>
            </a:r>
            <a:r>
              <a:rPr lang="en-AU" b="1" dirty="0" smtClean="0">
                <a:latin typeface="Arial" pitchFamily="34" charset="0"/>
                <a:cs typeface="Arial" pitchFamily="34" charset="0"/>
              </a:rPr>
              <a:t>left</a:t>
            </a:r>
            <a:r>
              <a:rPr lang="en-AU" dirty="0" smtClean="0">
                <a:latin typeface="Arial" pitchFamily="34" charset="0"/>
                <a:cs typeface="Arial" pitchFamily="34" charset="0"/>
              </a:rPr>
              <a:t> </a:t>
            </a:r>
            <a:r>
              <a:rPr lang="en-AU" b="1" dirty="0" smtClean="0">
                <a:latin typeface="Arial" pitchFamily="34" charset="0"/>
                <a:cs typeface="Arial" pitchFamily="34" charset="0"/>
              </a:rPr>
              <a:t>superior pulmonary veins</a:t>
            </a:r>
            <a:r>
              <a:rPr lang="en-AU" dirty="0" smtClean="0">
                <a:latin typeface="Arial" pitchFamily="34" charset="0"/>
                <a:cs typeface="Arial" pitchFamily="34" charset="0"/>
              </a:rPr>
              <a:t>.</a:t>
            </a:r>
          </a:p>
          <a:p>
            <a:pPr>
              <a:buNone/>
            </a:pPr>
            <a:endParaRPr 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Arial Black" pitchFamily="34" charset="0"/>
              </a:rPr>
              <a:t>Arterial Supply</a:t>
            </a:r>
            <a:endParaRPr lang="en-US" dirty="0">
              <a:latin typeface="Arial Black" pitchFamily="34" charset="0"/>
            </a:endParaRPr>
          </a:p>
        </p:txBody>
      </p:sp>
      <p:sp>
        <p:nvSpPr>
          <p:cNvPr id="3" name="Content Placeholder 2"/>
          <p:cNvSpPr>
            <a:spLocks noGrp="1"/>
          </p:cNvSpPr>
          <p:nvPr>
            <p:ph idx="1"/>
          </p:nvPr>
        </p:nvSpPr>
        <p:spPr>
          <a:xfrm>
            <a:off x="285720" y="1285860"/>
            <a:ext cx="8501122" cy="5214974"/>
          </a:xfrm>
        </p:spPr>
        <p:txBody>
          <a:bodyPr>
            <a:normAutofit lnSpcReduction="10000"/>
          </a:bodyPr>
          <a:lstStyle/>
          <a:p>
            <a:pPr algn="just"/>
            <a:r>
              <a:rPr lang="en-AU" dirty="0" smtClean="0">
                <a:latin typeface="Arial" pitchFamily="34" charset="0"/>
                <a:cs typeface="Arial" pitchFamily="34" charset="0"/>
              </a:rPr>
              <a:t>The </a:t>
            </a:r>
            <a:r>
              <a:rPr lang="en-AU" b="1" dirty="0" smtClean="0">
                <a:latin typeface="Arial" pitchFamily="34" charset="0"/>
                <a:cs typeface="Arial" pitchFamily="34" charset="0"/>
              </a:rPr>
              <a:t>fibrous pericardium </a:t>
            </a:r>
            <a:r>
              <a:rPr lang="en-AU" dirty="0" smtClean="0">
                <a:latin typeface="Arial" pitchFamily="34" charset="0"/>
                <a:cs typeface="Arial" pitchFamily="34" charset="0"/>
              </a:rPr>
              <a:t>and </a:t>
            </a:r>
            <a:r>
              <a:rPr lang="en-AU" b="1" dirty="0" smtClean="0">
                <a:latin typeface="Arial" pitchFamily="34" charset="0"/>
                <a:cs typeface="Arial" pitchFamily="34" charset="0"/>
              </a:rPr>
              <a:t>parietal layer </a:t>
            </a:r>
            <a:r>
              <a:rPr lang="en-AU" dirty="0" smtClean="0">
                <a:latin typeface="Arial" pitchFamily="34" charset="0"/>
                <a:cs typeface="Arial" pitchFamily="34" charset="0"/>
              </a:rPr>
              <a:t>of </a:t>
            </a:r>
            <a:r>
              <a:rPr lang="en-AU" b="1" dirty="0" smtClean="0">
                <a:latin typeface="Arial" pitchFamily="34" charset="0"/>
                <a:cs typeface="Arial" pitchFamily="34" charset="0"/>
              </a:rPr>
              <a:t>serous pericardium </a:t>
            </a:r>
            <a:r>
              <a:rPr lang="en-AU" dirty="0" smtClean="0">
                <a:latin typeface="Arial" pitchFamily="34" charset="0"/>
                <a:cs typeface="Arial" pitchFamily="34" charset="0"/>
              </a:rPr>
              <a:t>is supplied by the </a:t>
            </a:r>
            <a:r>
              <a:rPr lang="en-AU" b="1" dirty="0" smtClean="0">
                <a:latin typeface="Arial" pitchFamily="34" charset="0"/>
                <a:cs typeface="Arial" pitchFamily="34" charset="0"/>
              </a:rPr>
              <a:t>branches </a:t>
            </a:r>
            <a:r>
              <a:rPr lang="en-AU" dirty="0" smtClean="0">
                <a:latin typeface="Arial" pitchFamily="34" charset="0"/>
                <a:cs typeface="Arial" pitchFamily="34" charset="0"/>
              </a:rPr>
              <a:t>of the </a:t>
            </a:r>
            <a:r>
              <a:rPr lang="en-AU" b="1" dirty="0" smtClean="0">
                <a:latin typeface="Arial" pitchFamily="34" charset="0"/>
                <a:cs typeface="Arial" pitchFamily="34" charset="0"/>
              </a:rPr>
              <a:t>following arteries</a:t>
            </a:r>
            <a:r>
              <a:rPr lang="en-AU" dirty="0" smtClean="0">
                <a:latin typeface="Arial" pitchFamily="34" charset="0"/>
                <a:cs typeface="Arial" pitchFamily="34" charset="0"/>
              </a:rPr>
              <a:t>.</a:t>
            </a:r>
          </a:p>
          <a:p>
            <a:pPr algn="just">
              <a:buFont typeface="Wingdings" pitchFamily="2" charset="2"/>
              <a:buChar char="§"/>
            </a:pPr>
            <a:r>
              <a:rPr lang="en-AU" dirty="0" smtClean="0">
                <a:latin typeface="Arial" pitchFamily="34" charset="0"/>
                <a:cs typeface="Arial" pitchFamily="34" charset="0"/>
              </a:rPr>
              <a:t>Internal thoracic artery.</a:t>
            </a:r>
          </a:p>
          <a:p>
            <a:pPr algn="just">
              <a:buFont typeface="Wingdings" pitchFamily="2" charset="2"/>
              <a:buChar char="§"/>
            </a:pPr>
            <a:r>
              <a:rPr lang="en-AU" dirty="0" smtClean="0">
                <a:latin typeface="Arial" pitchFamily="34" charset="0"/>
                <a:cs typeface="Arial" pitchFamily="34" charset="0"/>
              </a:rPr>
              <a:t>Musculophrenic artery.</a:t>
            </a:r>
          </a:p>
          <a:p>
            <a:pPr algn="just">
              <a:buFont typeface="Wingdings" pitchFamily="2" charset="2"/>
              <a:buChar char="§"/>
            </a:pPr>
            <a:r>
              <a:rPr lang="en-AU" dirty="0" smtClean="0">
                <a:latin typeface="Arial" pitchFamily="34" charset="0"/>
                <a:cs typeface="Arial" pitchFamily="34" charset="0"/>
              </a:rPr>
              <a:t>Pericardiophrenic artery</a:t>
            </a:r>
          </a:p>
          <a:p>
            <a:pPr algn="just">
              <a:buFont typeface="Wingdings" pitchFamily="2" charset="2"/>
              <a:buChar char="§"/>
            </a:pPr>
            <a:r>
              <a:rPr lang="en-AU" dirty="0" smtClean="0">
                <a:latin typeface="Arial" pitchFamily="34" charset="0"/>
                <a:cs typeface="Arial" pitchFamily="34" charset="0"/>
              </a:rPr>
              <a:t>Thoracic (Descending) aorta.</a:t>
            </a:r>
          </a:p>
          <a:p>
            <a:pPr algn="just">
              <a:buNone/>
            </a:pPr>
            <a:endParaRPr lang="en-AU" dirty="0" smtClean="0">
              <a:latin typeface="Arial" pitchFamily="34" charset="0"/>
              <a:cs typeface="Arial" pitchFamily="34" charset="0"/>
            </a:endParaRPr>
          </a:p>
          <a:p>
            <a:pPr algn="just"/>
            <a:r>
              <a:rPr lang="en-AU" dirty="0" smtClean="0">
                <a:latin typeface="Arial" pitchFamily="34" charset="0"/>
                <a:cs typeface="Arial" pitchFamily="34" charset="0"/>
              </a:rPr>
              <a:t>The </a:t>
            </a:r>
            <a:r>
              <a:rPr lang="en-AU" b="1" dirty="0" smtClean="0">
                <a:latin typeface="Arial" pitchFamily="34" charset="0"/>
                <a:cs typeface="Arial" pitchFamily="34" charset="0"/>
              </a:rPr>
              <a:t>visceral layer </a:t>
            </a:r>
            <a:r>
              <a:rPr lang="en-AU" dirty="0" smtClean="0">
                <a:latin typeface="Arial" pitchFamily="34" charset="0"/>
                <a:cs typeface="Arial" pitchFamily="34" charset="0"/>
              </a:rPr>
              <a:t>of </a:t>
            </a:r>
            <a:r>
              <a:rPr lang="en-AU" b="1" dirty="0" smtClean="0">
                <a:latin typeface="Arial" pitchFamily="34" charset="0"/>
                <a:cs typeface="Arial" pitchFamily="34" charset="0"/>
              </a:rPr>
              <a:t>serous pericardium </a:t>
            </a:r>
            <a:r>
              <a:rPr lang="en-AU" dirty="0" smtClean="0">
                <a:latin typeface="Arial" pitchFamily="34" charset="0"/>
                <a:cs typeface="Arial" pitchFamily="34" charset="0"/>
              </a:rPr>
              <a:t>is supplied by the </a:t>
            </a:r>
            <a:r>
              <a:rPr lang="en-AU" b="1" dirty="0" smtClean="0">
                <a:latin typeface="Arial" pitchFamily="34" charset="0"/>
                <a:cs typeface="Arial" pitchFamily="34" charset="0"/>
              </a:rPr>
              <a:t>coronary arteries</a:t>
            </a:r>
            <a:r>
              <a:rPr lang="en-AU" dirty="0" smtClean="0">
                <a:latin typeface="Arial" pitchFamily="34" charset="0"/>
                <a:cs typeface="Arial" pitchFamily="34" charset="0"/>
              </a:rPr>
              <a:t>.</a:t>
            </a:r>
            <a:endParaRPr lang="en-US" dirty="0">
              <a:latin typeface="Arial" pitchFamily="34" charset="0"/>
              <a:cs typeface="Arial" pitchFamily="34" charset="0"/>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42918"/>
            <a:ext cx="8229600" cy="774720"/>
          </a:xfrm>
        </p:spPr>
        <p:txBody>
          <a:bodyPr/>
          <a:lstStyle/>
          <a:p>
            <a:r>
              <a:rPr lang="en-US" dirty="0" smtClean="0">
                <a:latin typeface="Arial Black" pitchFamily="34" charset="0"/>
              </a:rPr>
              <a:t>Nerve Supply</a:t>
            </a:r>
            <a:endParaRPr lang="en-US" dirty="0">
              <a:latin typeface="Arial Black" pitchFamily="34" charset="0"/>
            </a:endParaRPr>
          </a:p>
        </p:txBody>
      </p:sp>
      <p:sp>
        <p:nvSpPr>
          <p:cNvPr id="3" name="Content Placeholder 2"/>
          <p:cNvSpPr>
            <a:spLocks noGrp="1"/>
          </p:cNvSpPr>
          <p:nvPr>
            <p:ph idx="1"/>
          </p:nvPr>
        </p:nvSpPr>
        <p:spPr>
          <a:xfrm>
            <a:off x="457200" y="1600200"/>
            <a:ext cx="8229600" cy="4829196"/>
          </a:xfrm>
        </p:spPr>
        <p:txBody>
          <a:bodyPr/>
          <a:lstStyle/>
          <a:p>
            <a:pPr algn="just"/>
            <a:r>
              <a:rPr lang="en-AU" dirty="0" smtClean="0">
                <a:latin typeface="Arial" pitchFamily="34" charset="0"/>
                <a:cs typeface="Arial" pitchFamily="34" charset="0"/>
              </a:rPr>
              <a:t>The </a:t>
            </a:r>
            <a:r>
              <a:rPr lang="en-AU" b="1" dirty="0" smtClean="0">
                <a:latin typeface="Arial" pitchFamily="34" charset="0"/>
                <a:cs typeface="Arial" pitchFamily="34" charset="0"/>
              </a:rPr>
              <a:t>fibrous pericardium </a:t>
            </a:r>
            <a:r>
              <a:rPr lang="en-AU" dirty="0" smtClean="0">
                <a:latin typeface="Arial" pitchFamily="34" charset="0"/>
                <a:cs typeface="Arial" pitchFamily="34" charset="0"/>
              </a:rPr>
              <a:t>and </a:t>
            </a:r>
            <a:r>
              <a:rPr lang="en-AU" b="1" dirty="0" smtClean="0">
                <a:latin typeface="Arial" pitchFamily="34" charset="0"/>
                <a:cs typeface="Arial" pitchFamily="34" charset="0"/>
              </a:rPr>
              <a:t>parietal layer </a:t>
            </a:r>
            <a:r>
              <a:rPr lang="en-AU" dirty="0" smtClean="0">
                <a:latin typeface="Arial" pitchFamily="34" charset="0"/>
                <a:cs typeface="Arial" pitchFamily="34" charset="0"/>
              </a:rPr>
              <a:t>of the </a:t>
            </a:r>
            <a:r>
              <a:rPr lang="en-AU" b="1" dirty="0" smtClean="0">
                <a:latin typeface="Arial" pitchFamily="34" charset="0"/>
                <a:cs typeface="Arial" pitchFamily="34" charset="0"/>
              </a:rPr>
              <a:t>serous pericardium </a:t>
            </a:r>
            <a:r>
              <a:rPr lang="en-AU" dirty="0" smtClean="0">
                <a:latin typeface="Arial" pitchFamily="34" charset="0"/>
                <a:cs typeface="Arial" pitchFamily="34" charset="0"/>
              </a:rPr>
              <a:t>are supplied by the </a:t>
            </a:r>
            <a:r>
              <a:rPr lang="en-AU" b="1" dirty="0" smtClean="0">
                <a:latin typeface="Arial" pitchFamily="34" charset="0"/>
                <a:cs typeface="Arial" pitchFamily="34" charset="0"/>
              </a:rPr>
              <a:t>phrenic nerves </a:t>
            </a:r>
            <a:r>
              <a:rPr lang="en-AU" dirty="0" smtClean="0">
                <a:latin typeface="Arial" pitchFamily="34" charset="0"/>
                <a:cs typeface="Arial" pitchFamily="34" charset="0"/>
              </a:rPr>
              <a:t>(</a:t>
            </a:r>
            <a:r>
              <a:rPr lang="en-AU" b="1" dirty="0" smtClean="0">
                <a:latin typeface="Arial" pitchFamily="34" charset="0"/>
                <a:cs typeface="Arial" pitchFamily="34" charset="0"/>
              </a:rPr>
              <a:t>somatic nerve fibres</a:t>
            </a:r>
            <a:r>
              <a:rPr lang="en-AU" dirty="0" smtClean="0">
                <a:latin typeface="Arial" pitchFamily="34" charset="0"/>
                <a:cs typeface="Arial" pitchFamily="34" charset="0"/>
              </a:rPr>
              <a:t>).</a:t>
            </a:r>
          </a:p>
          <a:p>
            <a:pPr algn="just"/>
            <a:r>
              <a:rPr lang="en-AU" dirty="0" smtClean="0">
                <a:latin typeface="Arial" pitchFamily="34" charset="0"/>
                <a:cs typeface="Arial" pitchFamily="34" charset="0"/>
              </a:rPr>
              <a:t>The </a:t>
            </a:r>
            <a:r>
              <a:rPr lang="en-AU" b="1" dirty="0" smtClean="0">
                <a:latin typeface="Arial" pitchFamily="34" charset="0"/>
                <a:cs typeface="Arial" pitchFamily="34" charset="0"/>
              </a:rPr>
              <a:t>visceral layer </a:t>
            </a:r>
            <a:r>
              <a:rPr lang="en-AU" dirty="0" smtClean="0">
                <a:latin typeface="Arial" pitchFamily="34" charset="0"/>
                <a:cs typeface="Arial" pitchFamily="34" charset="0"/>
              </a:rPr>
              <a:t>of the </a:t>
            </a:r>
            <a:r>
              <a:rPr lang="en-AU" b="1" dirty="0" smtClean="0">
                <a:latin typeface="Arial" pitchFamily="34" charset="0"/>
                <a:cs typeface="Arial" pitchFamily="34" charset="0"/>
              </a:rPr>
              <a:t>serous pericardium </a:t>
            </a:r>
            <a:r>
              <a:rPr lang="en-AU" dirty="0" smtClean="0">
                <a:latin typeface="Arial" pitchFamily="34" charset="0"/>
                <a:cs typeface="Arial" pitchFamily="34" charset="0"/>
              </a:rPr>
              <a:t>is supplied by the </a:t>
            </a:r>
            <a:r>
              <a:rPr lang="en-AU" b="1" dirty="0" smtClean="0">
                <a:latin typeface="Arial" pitchFamily="34" charset="0"/>
                <a:cs typeface="Arial" pitchFamily="34" charset="0"/>
              </a:rPr>
              <a:t>branches</a:t>
            </a:r>
            <a:r>
              <a:rPr lang="en-AU" dirty="0" smtClean="0">
                <a:latin typeface="Arial" pitchFamily="34" charset="0"/>
                <a:cs typeface="Arial" pitchFamily="34" charset="0"/>
              </a:rPr>
              <a:t> of </a:t>
            </a:r>
            <a:r>
              <a:rPr lang="en-AU" b="1" dirty="0" smtClean="0">
                <a:latin typeface="Arial" pitchFamily="34" charset="0"/>
                <a:cs typeface="Arial" pitchFamily="34" charset="0"/>
              </a:rPr>
              <a:t>sympathetic trunks </a:t>
            </a:r>
            <a:r>
              <a:rPr lang="en-AU" dirty="0" smtClean="0">
                <a:latin typeface="Arial" pitchFamily="34" charset="0"/>
                <a:cs typeface="Arial" pitchFamily="34" charset="0"/>
              </a:rPr>
              <a:t>and </a:t>
            </a:r>
            <a:r>
              <a:rPr lang="en-AU" b="1" dirty="0" smtClean="0">
                <a:latin typeface="Arial" pitchFamily="34" charset="0"/>
                <a:cs typeface="Arial" pitchFamily="34" charset="0"/>
              </a:rPr>
              <a:t>vagus nerves </a:t>
            </a:r>
            <a:r>
              <a:rPr lang="en-AU" dirty="0" smtClean="0">
                <a:latin typeface="Arial" pitchFamily="34" charset="0"/>
                <a:cs typeface="Arial" pitchFamily="34" charset="0"/>
              </a:rPr>
              <a:t>(</a:t>
            </a:r>
            <a:r>
              <a:rPr lang="en-AU" b="1" dirty="0" smtClean="0">
                <a:latin typeface="Arial" pitchFamily="34" charset="0"/>
                <a:cs typeface="Arial" pitchFamily="34" charset="0"/>
              </a:rPr>
              <a:t>autonomic nerve fibres</a:t>
            </a:r>
            <a:r>
              <a:rPr lang="en-AU" dirty="0" smtClean="0">
                <a:latin typeface="Arial" pitchFamily="34" charset="0"/>
                <a:cs typeface="Arial" pitchFamily="34" charset="0"/>
              </a:rPr>
              <a:t>).</a:t>
            </a:r>
            <a:endParaRPr lang="en-US" dirty="0">
              <a:latin typeface="Arial" pitchFamily="34" charset="0"/>
              <a:cs typeface="Arial" pitchFamily="34" charset="0"/>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2984"/>
          </a:xfrm>
        </p:spPr>
        <p:txBody>
          <a:bodyPr/>
          <a:lstStyle/>
          <a:p>
            <a:r>
              <a:rPr lang="en-AU" dirty="0" smtClean="0">
                <a:latin typeface="Arial Black" pitchFamily="34" charset="0"/>
              </a:rPr>
              <a:t>APPLIED ANATOMY</a:t>
            </a:r>
            <a:endParaRPr lang="en-US" dirty="0">
              <a:latin typeface="Arial Black" pitchFamily="34" charset="0"/>
            </a:endParaRPr>
          </a:p>
        </p:txBody>
      </p:sp>
      <p:sp>
        <p:nvSpPr>
          <p:cNvPr id="3" name="Content Placeholder 2"/>
          <p:cNvSpPr>
            <a:spLocks noGrp="1"/>
          </p:cNvSpPr>
          <p:nvPr>
            <p:ph idx="1"/>
          </p:nvPr>
        </p:nvSpPr>
        <p:spPr>
          <a:xfrm>
            <a:off x="214282" y="1000108"/>
            <a:ext cx="8643998" cy="5572164"/>
          </a:xfrm>
        </p:spPr>
        <p:txBody>
          <a:bodyPr>
            <a:noAutofit/>
          </a:bodyPr>
          <a:lstStyle/>
          <a:p>
            <a:pPr algn="just"/>
            <a:r>
              <a:rPr lang="en-US" b="1" dirty="0" smtClean="0">
                <a:latin typeface="Arial" pitchFamily="34" charset="0"/>
                <a:cs typeface="Arial" pitchFamily="34" charset="0"/>
              </a:rPr>
              <a:t>Pericarditis</a:t>
            </a:r>
            <a:r>
              <a:rPr lang="en-US" dirty="0" smtClean="0">
                <a:latin typeface="Arial" pitchFamily="34" charset="0"/>
                <a:cs typeface="Arial" pitchFamily="34" charset="0"/>
              </a:rPr>
              <a:t>: </a:t>
            </a:r>
            <a:r>
              <a:rPr lang="en-AU" dirty="0" smtClean="0">
                <a:latin typeface="Arial" pitchFamily="34" charset="0"/>
                <a:cs typeface="Arial" pitchFamily="34" charset="0"/>
              </a:rPr>
              <a:t>The i</a:t>
            </a:r>
            <a:r>
              <a:rPr lang="en-AU" b="1" dirty="0" smtClean="0">
                <a:latin typeface="Arial" pitchFamily="34" charset="0"/>
                <a:cs typeface="Arial" pitchFamily="34" charset="0"/>
              </a:rPr>
              <a:t>nflammation</a:t>
            </a:r>
            <a:r>
              <a:rPr lang="en-AU" dirty="0" smtClean="0">
                <a:latin typeface="Arial" pitchFamily="34" charset="0"/>
                <a:cs typeface="Arial" pitchFamily="34" charset="0"/>
              </a:rPr>
              <a:t> of the serous </a:t>
            </a:r>
            <a:r>
              <a:rPr lang="en-AU" b="1" dirty="0" smtClean="0">
                <a:latin typeface="Arial" pitchFamily="34" charset="0"/>
                <a:cs typeface="Arial" pitchFamily="34" charset="0"/>
              </a:rPr>
              <a:t>pericardium</a:t>
            </a:r>
            <a:r>
              <a:rPr lang="en-AU" dirty="0" smtClean="0">
                <a:latin typeface="Arial" pitchFamily="34" charset="0"/>
                <a:cs typeface="Arial" pitchFamily="34" charset="0"/>
              </a:rPr>
              <a:t> is called </a:t>
            </a:r>
            <a:r>
              <a:rPr lang="en-AU" b="1" dirty="0" smtClean="0">
                <a:latin typeface="Arial" pitchFamily="34" charset="0"/>
                <a:cs typeface="Arial" pitchFamily="34" charset="0"/>
              </a:rPr>
              <a:t>pericarditis</a:t>
            </a:r>
            <a:r>
              <a:rPr lang="en-AU" dirty="0" smtClean="0">
                <a:latin typeface="Arial" pitchFamily="34" charset="0"/>
                <a:cs typeface="Arial" pitchFamily="34" charset="0"/>
              </a:rPr>
              <a:t> which causes </a:t>
            </a:r>
            <a:r>
              <a:rPr lang="en-AU" b="1" dirty="0" smtClean="0">
                <a:latin typeface="Arial" pitchFamily="34" charset="0"/>
                <a:cs typeface="Arial" pitchFamily="34" charset="0"/>
              </a:rPr>
              <a:t>accumulation</a:t>
            </a:r>
            <a:r>
              <a:rPr lang="en-AU" dirty="0" smtClean="0">
                <a:latin typeface="Arial" pitchFamily="34" charset="0"/>
                <a:cs typeface="Arial" pitchFamily="34" charset="0"/>
              </a:rPr>
              <a:t> of </a:t>
            </a:r>
            <a:r>
              <a:rPr lang="en-AU" b="1" dirty="0" smtClean="0">
                <a:latin typeface="Arial" pitchFamily="34" charset="0"/>
                <a:cs typeface="Arial" pitchFamily="34" charset="0"/>
              </a:rPr>
              <a:t>serous fluid </a:t>
            </a:r>
            <a:r>
              <a:rPr lang="en-AU" dirty="0" smtClean="0">
                <a:latin typeface="Arial" pitchFamily="34" charset="0"/>
                <a:cs typeface="Arial" pitchFamily="34" charset="0"/>
              </a:rPr>
              <a:t>in the </a:t>
            </a:r>
            <a:r>
              <a:rPr lang="en-AU" b="1" dirty="0" smtClean="0">
                <a:latin typeface="Arial" pitchFamily="34" charset="0"/>
                <a:cs typeface="Arial" pitchFamily="34" charset="0"/>
              </a:rPr>
              <a:t>pericardial cavity</a:t>
            </a:r>
            <a:r>
              <a:rPr lang="en-AU" dirty="0" smtClean="0">
                <a:latin typeface="Arial" pitchFamily="34" charset="0"/>
                <a:cs typeface="Arial" pitchFamily="34" charset="0"/>
              </a:rPr>
              <a:t>, the  </a:t>
            </a:r>
            <a:r>
              <a:rPr lang="en-AU" b="1" dirty="0" smtClean="0">
                <a:latin typeface="Arial" pitchFamily="34" charset="0"/>
                <a:cs typeface="Arial" pitchFamily="34" charset="0"/>
              </a:rPr>
              <a:t>pericardial effusion</a:t>
            </a:r>
            <a:r>
              <a:rPr lang="en-AU" dirty="0" smtClean="0">
                <a:latin typeface="Arial" pitchFamily="34" charset="0"/>
                <a:cs typeface="Arial" pitchFamily="34" charset="0"/>
              </a:rPr>
              <a:t>.</a:t>
            </a:r>
          </a:p>
          <a:p>
            <a:pPr algn="just"/>
            <a:r>
              <a:rPr lang="en-US" b="1" dirty="0" smtClean="0">
                <a:latin typeface="Arial" pitchFamily="34" charset="0"/>
                <a:cs typeface="Arial" pitchFamily="34" charset="0"/>
              </a:rPr>
              <a:t>Cardiac tamponade</a:t>
            </a:r>
            <a:r>
              <a:rPr lang="en-US" dirty="0" smtClean="0">
                <a:latin typeface="Arial" pitchFamily="34" charset="0"/>
                <a:cs typeface="Arial" pitchFamily="34" charset="0"/>
              </a:rPr>
              <a:t>: </a:t>
            </a:r>
            <a:r>
              <a:rPr lang="en-AU" dirty="0" smtClean="0">
                <a:latin typeface="Arial" pitchFamily="34" charset="0"/>
                <a:cs typeface="Arial" pitchFamily="34" charset="0"/>
              </a:rPr>
              <a:t>The </a:t>
            </a:r>
            <a:r>
              <a:rPr lang="en-AU" b="1" dirty="0" smtClean="0">
                <a:latin typeface="Arial" pitchFamily="34" charset="0"/>
                <a:cs typeface="Arial" pitchFamily="34" charset="0"/>
              </a:rPr>
              <a:t>excessive accumulation </a:t>
            </a:r>
            <a:r>
              <a:rPr lang="en-AU" dirty="0" smtClean="0">
                <a:latin typeface="Arial" pitchFamily="34" charset="0"/>
                <a:cs typeface="Arial" pitchFamily="34" charset="0"/>
              </a:rPr>
              <a:t>of </a:t>
            </a:r>
            <a:r>
              <a:rPr lang="en-AU" b="1" dirty="0" smtClean="0">
                <a:latin typeface="Arial" pitchFamily="34" charset="0"/>
                <a:cs typeface="Arial" pitchFamily="34" charset="0"/>
              </a:rPr>
              <a:t>serous fluid </a:t>
            </a:r>
            <a:r>
              <a:rPr lang="en-AU" dirty="0" smtClean="0">
                <a:latin typeface="Arial" pitchFamily="34" charset="0"/>
                <a:cs typeface="Arial" pitchFamily="34" charset="0"/>
              </a:rPr>
              <a:t>in the </a:t>
            </a:r>
            <a:r>
              <a:rPr lang="en-AU" b="1" dirty="0" smtClean="0">
                <a:latin typeface="Arial" pitchFamily="34" charset="0"/>
                <a:cs typeface="Arial" pitchFamily="34" charset="0"/>
              </a:rPr>
              <a:t>pericardial cavity </a:t>
            </a:r>
            <a:r>
              <a:rPr lang="en-AU" dirty="0" smtClean="0">
                <a:latin typeface="Arial" pitchFamily="34" charset="0"/>
                <a:cs typeface="Arial" pitchFamily="34" charset="0"/>
              </a:rPr>
              <a:t>may compress the </a:t>
            </a:r>
            <a:r>
              <a:rPr lang="en-AU" b="1" dirty="0" smtClean="0">
                <a:latin typeface="Arial" pitchFamily="34" charset="0"/>
                <a:cs typeface="Arial" pitchFamily="34" charset="0"/>
              </a:rPr>
              <a:t>thin-walled atria </a:t>
            </a:r>
            <a:r>
              <a:rPr lang="en-AU" dirty="0" smtClean="0">
                <a:latin typeface="Arial" pitchFamily="34" charset="0"/>
                <a:cs typeface="Arial" pitchFamily="34" charset="0"/>
              </a:rPr>
              <a:t>and </a:t>
            </a:r>
            <a:r>
              <a:rPr lang="en-AU" b="1" dirty="0" smtClean="0">
                <a:latin typeface="Arial" pitchFamily="34" charset="0"/>
                <a:cs typeface="Arial" pitchFamily="34" charset="0"/>
              </a:rPr>
              <a:t>interfere </a:t>
            </a:r>
            <a:r>
              <a:rPr lang="en-AU" dirty="0" smtClean="0">
                <a:latin typeface="Arial" pitchFamily="34" charset="0"/>
                <a:cs typeface="Arial" pitchFamily="34" charset="0"/>
              </a:rPr>
              <a:t>with the </a:t>
            </a:r>
            <a:r>
              <a:rPr lang="en-AU" b="1" dirty="0" smtClean="0">
                <a:latin typeface="Arial" pitchFamily="34" charset="0"/>
                <a:cs typeface="Arial" pitchFamily="34" charset="0"/>
              </a:rPr>
              <a:t>filling</a:t>
            </a:r>
            <a:r>
              <a:rPr lang="en-AU" dirty="0" smtClean="0">
                <a:latin typeface="Arial" pitchFamily="34" charset="0"/>
                <a:cs typeface="Arial" pitchFamily="34" charset="0"/>
              </a:rPr>
              <a:t> of the </a:t>
            </a:r>
            <a:r>
              <a:rPr lang="en-AU" b="1" dirty="0" smtClean="0">
                <a:latin typeface="Arial" pitchFamily="34" charset="0"/>
                <a:cs typeface="Arial" pitchFamily="34" charset="0"/>
              </a:rPr>
              <a:t>heart</a:t>
            </a:r>
            <a:r>
              <a:rPr lang="en-AU" dirty="0" smtClean="0">
                <a:latin typeface="Arial" pitchFamily="34" charset="0"/>
                <a:cs typeface="Arial" pitchFamily="34" charset="0"/>
              </a:rPr>
              <a:t> during </a:t>
            </a:r>
            <a:r>
              <a:rPr lang="en-AU" b="1" dirty="0" smtClean="0">
                <a:latin typeface="Arial" pitchFamily="34" charset="0"/>
                <a:cs typeface="Arial" pitchFamily="34" charset="0"/>
              </a:rPr>
              <a:t>diastole</a:t>
            </a:r>
            <a:r>
              <a:rPr lang="en-AU" dirty="0" smtClean="0">
                <a:latin typeface="Arial" pitchFamily="34" charset="0"/>
                <a:cs typeface="Arial" pitchFamily="34" charset="0"/>
              </a:rPr>
              <a:t> and consequently the </a:t>
            </a:r>
            <a:r>
              <a:rPr lang="en-AU" b="1" dirty="0" smtClean="0">
                <a:latin typeface="Arial" pitchFamily="34" charset="0"/>
                <a:cs typeface="Arial" pitchFamily="34" charset="0"/>
              </a:rPr>
              <a:t>cardiac output </a:t>
            </a:r>
            <a:r>
              <a:rPr lang="en-AU" dirty="0" smtClean="0">
                <a:latin typeface="Arial" pitchFamily="34" charset="0"/>
                <a:cs typeface="Arial" pitchFamily="34" charset="0"/>
              </a:rPr>
              <a:t>is </a:t>
            </a:r>
            <a:r>
              <a:rPr lang="en-AU" b="1" dirty="0" smtClean="0">
                <a:latin typeface="Arial" pitchFamily="34" charset="0"/>
                <a:cs typeface="Arial" pitchFamily="34" charset="0"/>
              </a:rPr>
              <a:t>diminished</a:t>
            </a:r>
            <a:r>
              <a:rPr lang="en-AU" dirty="0" smtClean="0">
                <a:latin typeface="Arial" pitchFamily="34" charset="0"/>
                <a:cs typeface="Arial" pitchFamily="34" charset="0"/>
              </a:rPr>
              <a:t>.</a:t>
            </a:r>
            <a:endParaRPr lang="en-US" dirty="0">
              <a:latin typeface="Arial" pitchFamily="34" charset="0"/>
              <a:cs typeface="Arial" pitchFamily="34" charset="0"/>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85794"/>
            <a:ext cx="8229600" cy="5786478"/>
          </a:xfrm>
        </p:spPr>
        <p:txBody>
          <a:bodyPr>
            <a:normAutofit lnSpcReduction="10000"/>
          </a:bodyPr>
          <a:lstStyle/>
          <a:p>
            <a:pPr algn="just"/>
            <a:r>
              <a:rPr lang="en-US" b="1" dirty="0" smtClean="0">
                <a:latin typeface="Arial" pitchFamily="34" charset="0"/>
                <a:cs typeface="Arial" pitchFamily="34" charset="0"/>
              </a:rPr>
              <a:t>Pericardiocentesis: </a:t>
            </a:r>
            <a:r>
              <a:rPr lang="en-AU" dirty="0" smtClean="0">
                <a:latin typeface="Arial" pitchFamily="34" charset="0"/>
                <a:cs typeface="Arial" pitchFamily="34" charset="0"/>
              </a:rPr>
              <a:t>Excessive </a:t>
            </a:r>
            <a:r>
              <a:rPr lang="en-AU" dirty="0" smtClean="0">
                <a:latin typeface="Arial" pitchFamily="34" charset="0"/>
                <a:cs typeface="Arial" pitchFamily="34" charset="0"/>
              </a:rPr>
              <a:t>pericardial fluid can be </a:t>
            </a:r>
            <a:r>
              <a:rPr lang="en-AU" b="1" dirty="0" smtClean="0">
                <a:latin typeface="Arial" pitchFamily="34" charset="0"/>
                <a:cs typeface="Arial" pitchFamily="34" charset="0"/>
              </a:rPr>
              <a:t>aspirated </a:t>
            </a:r>
            <a:r>
              <a:rPr lang="en-AU" dirty="0" smtClean="0">
                <a:latin typeface="Arial" pitchFamily="34" charset="0"/>
                <a:cs typeface="Arial" pitchFamily="34" charset="0"/>
              </a:rPr>
              <a:t>from the </a:t>
            </a:r>
            <a:r>
              <a:rPr lang="en-AU" b="1" dirty="0" smtClean="0">
                <a:latin typeface="Arial" pitchFamily="34" charset="0"/>
                <a:cs typeface="Arial" pitchFamily="34" charset="0"/>
              </a:rPr>
              <a:t>pericardial cavity </a:t>
            </a:r>
            <a:r>
              <a:rPr lang="en-AU" dirty="0" smtClean="0">
                <a:latin typeface="Arial" pitchFamily="34" charset="0"/>
                <a:cs typeface="Arial" pitchFamily="34" charset="0"/>
              </a:rPr>
              <a:t>by </a:t>
            </a:r>
            <a:r>
              <a:rPr lang="en-AU" b="1" dirty="0" smtClean="0">
                <a:latin typeface="Arial" pitchFamily="34" charset="0"/>
                <a:cs typeface="Arial" pitchFamily="34" charset="0"/>
              </a:rPr>
              <a:t>two routes</a:t>
            </a:r>
            <a:r>
              <a:rPr lang="en-AU" dirty="0" smtClean="0">
                <a:latin typeface="Arial" pitchFamily="34" charset="0"/>
                <a:cs typeface="Arial" pitchFamily="34" charset="0"/>
              </a:rPr>
              <a:t>:</a:t>
            </a:r>
          </a:p>
          <a:p>
            <a:pPr algn="just">
              <a:buFont typeface="Wingdings" pitchFamily="2" charset="2"/>
              <a:buChar char="Ø"/>
            </a:pPr>
            <a:r>
              <a:rPr lang="en-US" b="1" dirty="0" smtClean="0">
                <a:latin typeface="Arial" pitchFamily="34" charset="0"/>
                <a:cs typeface="Arial" pitchFamily="34" charset="0"/>
              </a:rPr>
              <a:t>Sternal approach</a:t>
            </a:r>
          </a:p>
          <a:p>
            <a:pPr algn="just">
              <a:buFont typeface="Wingdings" pitchFamily="2" charset="2"/>
              <a:buChar char="Ø"/>
            </a:pPr>
            <a:r>
              <a:rPr lang="en-US" b="1" dirty="0" smtClean="0">
                <a:latin typeface="Arial" pitchFamily="34" charset="0"/>
                <a:cs typeface="Arial" pitchFamily="34" charset="0"/>
              </a:rPr>
              <a:t>Subxiphoid approach</a:t>
            </a:r>
          </a:p>
          <a:p>
            <a:pPr algn="just"/>
            <a:r>
              <a:rPr lang="en-US" b="1" dirty="0" smtClean="0">
                <a:latin typeface="Arial" pitchFamily="34" charset="0"/>
                <a:cs typeface="Arial" pitchFamily="34" charset="0"/>
              </a:rPr>
              <a:t>Pericardial friction rub</a:t>
            </a:r>
            <a:r>
              <a:rPr lang="en-US" dirty="0" smtClean="0">
                <a:latin typeface="Arial" pitchFamily="34" charset="0"/>
                <a:cs typeface="Arial" pitchFamily="34" charset="0"/>
              </a:rPr>
              <a:t>:</a:t>
            </a:r>
            <a:r>
              <a:rPr lang="en-AU" dirty="0" smtClean="0">
                <a:latin typeface="Arial" pitchFamily="34" charset="0"/>
                <a:cs typeface="Arial" pitchFamily="34" charset="0"/>
              </a:rPr>
              <a:t>The </a:t>
            </a:r>
            <a:r>
              <a:rPr lang="en-AU" b="1" dirty="0" smtClean="0">
                <a:latin typeface="Arial" pitchFamily="34" charset="0"/>
                <a:cs typeface="Arial" pitchFamily="34" charset="0"/>
              </a:rPr>
              <a:t>roughening</a:t>
            </a:r>
            <a:r>
              <a:rPr lang="en-AU" dirty="0" smtClean="0">
                <a:latin typeface="Arial" pitchFamily="34" charset="0"/>
                <a:cs typeface="Arial" pitchFamily="34" charset="0"/>
              </a:rPr>
              <a:t> of </a:t>
            </a:r>
            <a:r>
              <a:rPr lang="en-AU" b="1" dirty="0" smtClean="0">
                <a:latin typeface="Arial" pitchFamily="34" charset="0"/>
                <a:cs typeface="Arial" pitchFamily="34" charset="0"/>
              </a:rPr>
              <a:t>parietal</a:t>
            </a:r>
            <a:r>
              <a:rPr lang="en-AU" dirty="0" smtClean="0">
                <a:latin typeface="Arial" pitchFamily="34" charset="0"/>
                <a:cs typeface="Arial" pitchFamily="34" charset="0"/>
              </a:rPr>
              <a:t> and </a:t>
            </a:r>
            <a:r>
              <a:rPr lang="en-AU" b="1" dirty="0" smtClean="0">
                <a:latin typeface="Arial" pitchFamily="34" charset="0"/>
                <a:cs typeface="Arial" pitchFamily="34" charset="0"/>
              </a:rPr>
              <a:t>visceral layers </a:t>
            </a:r>
            <a:r>
              <a:rPr lang="en-AU" dirty="0" smtClean="0">
                <a:latin typeface="Arial" pitchFamily="34" charset="0"/>
                <a:cs typeface="Arial" pitchFamily="34" charset="0"/>
              </a:rPr>
              <a:t>of the </a:t>
            </a:r>
            <a:r>
              <a:rPr lang="en-AU" b="1" dirty="0" smtClean="0">
                <a:latin typeface="Arial" pitchFamily="34" charset="0"/>
                <a:cs typeface="Arial" pitchFamily="34" charset="0"/>
              </a:rPr>
              <a:t>serous pericardium </a:t>
            </a:r>
            <a:r>
              <a:rPr lang="en-AU" dirty="0" smtClean="0">
                <a:latin typeface="Arial" pitchFamily="34" charset="0"/>
                <a:cs typeface="Arial" pitchFamily="34" charset="0"/>
              </a:rPr>
              <a:t>by </a:t>
            </a:r>
            <a:r>
              <a:rPr lang="en-AU" b="1" dirty="0" smtClean="0">
                <a:latin typeface="Arial" pitchFamily="34" charset="0"/>
                <a:cs typeface="Arial" pitchFamily="34" charset="0"/>
              </a:rPr>
              <a:t>inflammatory</a:t>
            </a:r>
            <a:r>
              <a:rPr lang="en-AU" dirty="0" smtClean="0">
                <a:latin typeface="Arial" pitchFamily="34" charset="0"/>
                <a:cs typeface="Arial" pitchFamily="34" charset="0"/>
              </a:rPr>
              <a:t> extremely can </a:t>
            </a:r>
            <a:r>
              <a:rPr lang="en-AU" b="1" dirty="0" smtClean="0">
                <a:latin typeface="Arial" pitchFamily="34" charset="0"/>
                <a:cs typeface="Arial" pitchFamily="34" charset="0"/>
              </a:rPr>
              <a:t>cause friction </a:t>
            </a:r>
            <a:r>
              <a:rPr lang="en-AU" dirty="0" smtClean="0">
                <a:latin typeface="Arial" pitchFamily="34" charset="0"/>
                <a:cs typeface="Arial" pitchFamily="34" charset="0"/>
              </a:rPr>
              <a:t>between the </a:t>
            </a:r>
            <a:r>
              <a:rPr lang="en-AU" b="1" dirty="0" smtClean="0">
                <a:latin typeface="Arial" pitchFamily="34" charset="0"/>
                <a:cs typeface="Arial" pitchFamily="34" charset="0"/>
              </a:rPr>
              <a:t>two layers </a:t>
            </a:r>
            <a:r>
              <a:rPr lang="en-AU" dirty="0" smtClean="0">
                <a:latin typeface="Arial" pitchFamily="34" charset="0"/>
                <a:cs typeface="Arial" pitchFamily="34" charset="0"/>
              </a:rPr>
              <a:t>called </a:t>
            </a:r>
            <a:r>
              <a:rPr lang="en-AU" b="1" dirty="0" smtClean="0">
                <a:latin typeface="Arial" pitchFamily="34" charset="0"/>
                <a:cs typeface="Arial" pitchFamily="34" charset="0"/>
              </a:rPr>
              <a:t>pericardial friction rub </a:t>
            </a:r>
            <a:r>
              <a:rPr lang="en-AU" dirty="0" smtClean="0">
                <a:latin typeface="Arial" pitchFamily="34" charset="0"/>
                <a:cs typeface="Arial" pitchFamily="34" charset="0"/>
              </a:rPr>
              <a:t>which </a:t>
            </a:r>
            <a:r>
              <a:rPr lang="en-AU" b="1" dirty="0" smtClean="0">
                <a:latin typeface="Arial" pitchFamily="34" charset="0"/>
                <a:cs typeface="Arial" pitchFamily="34" charset="0"/>
              </a:rPr>
              <a:t>can be felt </a:t>
            </a:r>
            <a:r>
              <a:rPr lang="en-AU" dirty="0" smtClean="0">
                <a:latin typeface="Arial" pitchFamily="34" charset="0"/>
                <a:cs typeface="Arial" pitchFamily="34" charset="0"/>
              </a:rPr>
              <a:t>on </a:t>
            </a:r>
            <a:r>
              <a:rPr lang="en-AU" b="1" dirty="0" smtClean="0">
                <a:latin typeface="Arial" pitchFamily="34" charset="0"/>
                <a:cs typeface="Arial" pitchFamily="34" charset="0"/>
              </a:rPr>
              <a:t>palpation</a:t>
            </a:r>
            <a:r>
              <a:rPr lang="en-AU" dirty="0" smtClean="0">
                <a:latin typeface="Arial" pitchFamily="34" charset="0"/>
                <a:cs typeface="Arial" pitchFamily="34" charset="0"/>
              </a:rPr>
              <a:t> and </a:t>
            </a:r>
            <a:r>
              <a:rPr lang="en-AU" b="1" dirty="0" smtClean="0">
                <a:latin typeface="Arial" pitchFamily="34" charset="0"/>
                <a:cs typeface="Arial" pitchFamily="34" charset="0"/>
              </a:rPr>
              <a:t>heard</a:t>
            </a:r>
            <a:r>
              <a:rPr lang="en-AU" dirty="0" smtClean="0">
                <a:latin typeface="Arial" pitchFamily="34" charset="0"/>
                <a:cs typeface="Arial" pitchFamily="34" charset="0"/>
              </a:rPr>
              <a:t> through the </a:t>
            </a:r>
            <a:r>
              <a:rPr lang="en-AU" b="1" dirty="0" smtClean="0">
                <a:latin typeface="Arial" pitchFamily="34" charset="0"/>
                <a:cs typeface="Arial" pitchFamily="34" charset="0"/>
              </a:rPr>
              <a:t>stethoscope</a:t>
            </a:r>
            <a:r>
              <a:rPr lang="en-AU" dirty="0" smtClean="0">
                <a:latin typeface="Arial" pitchFamily="34" charset="0"/>
                <a:cs typeface="Arial" pitchFamily="34" charset="0"/>
              </a:rPr>
              <a:t>.</a:t>
            </a:r>
            <a:endParaRPr lang="en-US" dirty="0">
              <a:latin typeface="Arial" pitchFamily="34" charset="0"/>
              <a:cs typeface="Arial" pitchFamily="34" charset="0"/>
            </a:endParaRPr>
          </a:p>
        </p:txBody>
      </p:sp>
      <p:sp>
        <p:nvSpPr>
          <p:cNvPr id="4" name="TextBox 3"/>
          <p:cNvSpPr txBox="1"/>
          <p:nvPr/>
        </p:nvSpPr>
        <p:spPr>
          <a:xfrm>
            <a:off x="3500430" y="214290"/>
            <a:ext cx="2437303" cy="1046440"/>
          </a:xfrm>
          <a:prstGeom prst="rect">
            <a:avLst/>
          </a:prstGeom>
          <a:noFill/>
        </p:spPr>
        <p:txBody>
          <a:bodyPr wrap="square" rtlCol="0">
            <a:spAutoFit/>
          </a:bodyPr>
          <a:lstStyle/>
          <a:p>
            <a:r>
              <a:rPr lang="en-AU" sz="4400" dirty="0" smtClean="0">
                <a:latin typeface="Arial Black" pitchFamily="34" charset="0"/>
              </a:rPr>
              <a:t>Cont’d</a:t>
            </a:r>
            <a:endParaRPr lang="en-US" sz="4400" dirty="0" smtClean="0">
              <a:latin typeface="Arial Black" pitchFamily="34" charset="0"/>
            </a:endParaRPr>
          </a:p>
          <a:p>
            <a:endParaRPr 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4282" y="714356"/>
            <a:ext cx="8643998" cy="5857916"/>
          </a:xfrm>
        </p:spPr>
        <p:txBody>
          <a:bodyPr>
            <a:noAutofit/>
          </a:bodyPr>
          <a:lstStyle/>
          <a:p>
            <a:pPr algn="just"/>
            <a:r>
              <a:rPr lang="en-AU" b="1" dirty="0" smtClean="0">
                <a:latin typeface="Arial" pitchFamily="34" charset="0"/>
                <a:cs typeface="Arial" pitchFamily="34" charset="0"/>
              </a:rPr>
              <a:t>Surgical significance of transverse pericardial sinus</a:t>
            </a:r>
            <a:r>
              <a:rPr lang="en-AU" dirty="0" smtClean="0">
                <a:latin typeface="Arial" pitchFamily="34" charset="0"/>
                <a:cs typeface="Arial" pitchFamily="34" charset="0"/>
              </a:rPr>
              <a:t>: During </a:t>
            </a:r>
            <a:r>
              <a:rPr lang="en-AU" b="1" dirty="0" smtClean="0">
                <a:latin typeface="Arial" pitchFamily="34" charset="0"/>
                <a:cs typeface="Arial" pitchFamily="34" charset="0"/>
              </a:rPr>
              <a:t>cardiac procedure</a:t>
            </a:r>
            <a:r>
              <a:rPr lang="en-AU" dirty="0" smtClean="0">
                <a:latin typeface="Arial" pitchFamily="34" charset="0"/>
                <a:cs typeface="Arial" pitchFamily="34" charset="0"/>
              </a:rPr>
              <a:t>, after the </a:t>
            </a:r>
            <a:r>
              <a:rPr lang="en-AU" b="1" dirty="0" smtClean="0">
                <a:latin typeface="Arial" pitchFamily="34" charset="0"/>
                <a:cs typeface="Arial" pitchFamily="34" charset="0"/>
              </a:rPr>
              <a:t>pericardial sac </a:t>
            </a:r>
            <a:r>
              <a:rPr lang="en-AU" dirty="0" smtClean="0">
                <a:latin typeface="Arial" pitchFamily="34" charset="0"/>
                <a:cs typeface="Arial" pitchFamily="34" charset="0"/>
              </a:rPr>
              <a:t>is opened </a:t>
            </a:r>
            <a:r>
              <a:rPr lang="en-AU" b="1" dirty="0" smtClean="0">
                <a:latin typeface="Arial" pitchFamily="34" charset="0"/>
                <a:cs typeface="Arial" pitchFamily="34" charset="0"/>
              </a:rPr>
              <a:t>anteriorly</a:t>
            </a:r>
            <a:r>
              <a:rPr lang="en-AU" dirty="0" smtClean="0">
                <a:latin typeface="Arial" pitchFamily="34" charset="0"/>
                <a:cs typeface="Arial" pitchFamily="34" charset="0"/>
              </a:rPr>
              <a:t>, a </a:t>
            </a:r>
            <a:r>
              <a:rPr lang="en-AU" b="1" dirty="0" smtClean="0">
                <a:latin typeface="Arial" pitchFamily="34" charset="0"/>
                <a:cs typeface="Arial" pitchFamily="34" charset="0"/>
              </a:rPr>
              <a:t>finger</a:t>
            </a:r>
            <a:r>
              <a:rPr lang="en-AU" dirty="0" smtClean="0">
                <a:latin typeface="Arial" pitchFamily="34" charset="0"/>
                <a:cs typeface="Arial" pitchFamily="34" charset="0"/>
              </a:rPr>
              <a:t> is passed through the </a:t>
            </a:r>
            <a:r>
              <a:rPr lang="en-AU" b="1" dirty="0" smtClean="0">
                <a:latin typeface="Arial" pitchFamily="34" charset="0"/>
                <a:cs typeface="Arial" pitchFamily="34" charset="0"/>
              </a:rPr>
              <a:t>transverse sinus </a:t>
            </a:r>
            <a:r>
              <a:rPr lang="en-AU" dirty="0" smtClean="0">
                <a:latin typeface="Arial" pitchFamily="34" charset="0"/>
                <a:cs typeface="Arial" pitchFamily="34" charset="0"/>
              </a:rPr>
              <a:t>of </a:t>
            </a:r>
            <a:r>
              <a:rPr lang="en-AU" b="1" dirty="0" smtClean="0">
                <a:latin typeface="Arial" pitchFamily="34" charset="0"/>
                <a:cs typeface="Arial" pitchFamily="34" charset="0"/>
              </a:rPr>
              <a:t>pericardium</a:t>
            </a:r>
            <a:r>
              <a:rPr lang="en-AU" dirty="0" smtClean="0">
                <a:latin typeface="Arial" pitchFamily="34" charset="0"/>
                <a:cs typeface="Arial" pitchFamily="34" charset="0"/>
              </a:rPr>
              <a:t>, </a:t>
            </a:r>
            <a:r>
              <a:rPr lang="en-AU" b="1" dirty="0" smtClean="0">
                <a:latin typeface="Arial" pitchFamily="34" charset="0"/>
                <a:cs typeface="Arial" pitchFamily="34" charset="0"/>
              </a:rPr>
              <a:t>posterior</a:t>
            </a:r>
            <a:r>
              <a:rPr lang="en-AU" dirty="0" smtClean="0">
                <a:latin typeface="Arial" pitchFamily="34" charset="0"/>
                <a:cs typeface="Arial" pitchFamily="34" charset="0"/>
              </a:rPr>
              <a:t> to the aorta and </a:t>
            </a:r>
            <a:r>
              <a:rPr lang="en-AU" b="1" dirty="0" smtClean="0">
                <a:latin typeface="Arial" pitchFamily="34" charset="0"/>
                <a:cs typeface="Arial" pitchFamily="34" charset="0"/>
              </a:rPr>
              <a:t>pulmonary trunk</a:t>
            </a:r>
            <a:r>
              <a:rPr lang="en-AU" dirty="0" smtClean="0">
                <a:latin typeface="Arial" pitchFamily="34" charset="0"/>
                <a:cs typeface="Arial" pitchFamily="34" charset="0"/>
              </a:rPr>
              <a:t>. A </a:t>
            </a:r>
            <a:r>
              <a:rPr lang="en-AU" b="1" dirty="0" smtClean="0">
                <a:latin typeface="Arial" pitchFamily="34" charset="0"/>
                <a:cs typeface="Arial" pitchFamily="34" charset="0"/>
              </a:rPr>
              <a:t>temporary ligature </a:t>
            </a:r>
            <a:r>
              <a:rPr lang="en-AU" dirty="0" smtClean="0">
                <a:latin typeface="Arial" pitchFamily="34" charset="0"/>
                <a:cs typeface="Arial" pitchFamily="34" charset="0"/>
              </a:rPr>
              <a:t>is </a:t>
            </a:r>
            <a:r>
              <a:rPr lang="en-AU" b="1" dirty="0" smtClean="0">
                <a:latin typeface="Arial" pitchFamily="34" charset="0"/>
                <a:cs typeface="Arial" pitchFamily="34" charset="0"/>
              </a:rPr>
              <a:t>passed</a:t>
            </a:r>
            <a:r>
              <a:rPr lang="en-AU" dirty="0" smtClean="0">
                <a:latin typeface="Arial" pitchFamily="34" charset="0"/>
                <a:cs typeface="Arial" pitchFamily="34" charset="0"/>
              </a:rPr>
              <a:t> through the </a:t>
            </a:r>
            <a:r>
              <a:rPr lang="en-AU" b="1" dirty="0" smtClean="0">
                <a:latin typeface="Arial" pitchFamily="34" charset="0"/>
                <a:cs typeface="Arial" pitchFamily="34" charset="0"/>
              </a:rPr>
              <a:t>transverse sinus </a:t>
            </a:r>
            <a:r>
              <a:rPr lang="en-AU" dirty="0" smtClean="0">
                <a:latin typeface="Arial" pitchFamily="34" charset="0"/>
                <a:cs typeface="Arial" pitchFamily="34" charset="0"/>
              </a:rPr>
              <a:t>around the </a:t>
            </a:r>
            <a:r>
              <a:rPr lang="en-AU" b="1" dirty="0" smtClean="0">
                <a:latin typeface="Arial" pitchFamily="34" charset="0"/>
                <a:cs typeface="Arial" pitchFamily="34" charset="0"/>
              </a:rPr>
              <a:t>aorta</a:t>
            </a:r>
            <a:r>
              <a:rPr lang="en-AU" dirty="0" smtClean="0">
                <a:latin typeface="Arial" pitchFamily="34" charset="0"/>
                <a:cs typeface="Arial" pitchFamily="34" charset="0"/>
              </a:rPr>
              <a:t> and </a:t>
            </a:r>
            <a:r>
              <a:rPr lang="en-AU" b="1" dirty="0" smtClean="0">
                <a:latin typeface="Arial" pitchFamily="34" charset="0"/>
                <a:cs typeface="Arial" pitchFamily="34" charset="0"/>
              </a:rPr>
              <a:t>pulmonary trunk</a:t>
            </a:r>
            <a:r>
              <a:rPr lang="en-AU" dirty="0" smtClean="0">
                <a:latin typeface="Arial" pitchFamily="34" charset="0"/>
                <a:cs typeface="Arial" pitchFamily="34" charset="0"/>
              </a:rPr>
              <a:t>. The </a:t>
            </a:r>
            <a:r>
              <a:rPr lang="en-AU" b="1" dirty="0" smtClean="0">
                <a:latin typeface="Arial" pitchFamily="34" charset="0"/>
                <a:cs typeface="Arial" pitchFamily="34" charset="0"/>
              </a:rPr>
              <a:t>tubes </a:t>
            </a:r>
            <a:r>
              <a:rPr lang="en-AU" dirty="0" smtClean="0">
                <a:latin typeface="Arial" pitchFamily="34" charset="0"/>
                <a:cs typeface="Arial" pitchFamily="34" charset="0"/>
              </a:rPr>
              <a:t>of </a:t>
            </a:r>
            <a:r>
              <a:rPr lang="en-AU" b="1" dirty="0" smtClean="0">
                <a:latin typeface="Arial" pitchFamily="34" charset="0"/>
                <a:cs typeface="Arial" pitchFamily="34" charset="0"/>
              </a:rPr>
              <a:t>heart-lung machine </a:t>
            </a:r>
            <a:r>
              <a:rPr lang="en-AU" dirty="0" smtClean="0">
                <a:latin typeface="Arial" pitchFamily="34" charset="0"/>
                <a:cs typeface="Arial" pitchFamily="34" charset="0"/>
              </a:rPr>
              <a:t>are inserted into these </a:t>
            </a:r>
            <a:r>
              <a:rPr lang="en-AU" b="1" dirty="0" smtClean="0">
                <a:latin typeface="Arial" pitchFamily="34" charset="0"/>
                <a:cs typeface="Arial" pitchFamily="34" charset="0"/>
              </a:rPr>
              <a:t>vessels </a:t>
            </a:r>
            <a:r>
              <a:rPr lang="en-AU" dirty="0" smtClean="0">
                <a:latin typeface="Arial" pitchFamily="34" charset="0"/>
                <a:cs typeface="Arial" pitchFamily="34" charset="0"/>
              </a:rPr>
              <a:t>and </a:t>
            </a:r>
            <a:r>
              <a:rPr lang="en-AU" b="1" dirty="0" smtClean="0">
                <a:latin typeface="Arial" pitchFamily="34" charset="0"/>
                <a:cs typeface="Arial" pitchFamily="34" charset="0"/>
              </a:rPr>
              <a:t>ligature</a:t>
            </a:r>
            <a:r>
              <a:rPr lang="en-AU" dirty="0" smtClean="0">
                <a:latin typeface="Arial" pitchFamily="34" charset="0"/>
                <a:cs typeface="Arial" pitchFamily="34" charset="0"/>
              </a:rPr>
              <a:t> is </a:t>
            </a:r>
            <a:r>
              <a:rPr lang="en-AU" b="1" dirty="0" smtClean="0">
                <a:latin typeface="Arial" pitchFamily="34" charset="0"/>
                <a:cs typeface="Arial" pitchFamily="34" charset="0"/>
              </a:rPr>
              <a:t>tightened</a:t>
            </a:r>
            <a:r>
              <a:rPr lang="en-AU" dirty="0" smtClean="0">
                <a:latin typeface="Arial" pitchFamily="34" charset="0"/>
                <a:cs typeface="Arial" pitchFamily="34" charset="0"/>
              </a:rPr>
              <a:t>.</a:t>
            </a:r>
            <a:endParaRPr lang="en-US" dirty="0">
              <a:latin typeface="Arial" pitchFamily="34" charset="0"/>
              <a:cs typeface="Arial" pitchFamily="34" charset="0"/>
            </a:endParaRPr>
          </a:p>
        </p:txBody>
      </p:sp>
      <p:sp>
        <p:nvSpPr>
          <p:cNvPr id="4" name="TextBox 3"/>
          <p:cNvSpPr txBox="1"/>
          <p:nvPr/>
        </p:nvSpPr>
        <p:spPr>
          <a:xfrm>
            <a:off x="3714744" y="0"/>
            <a:ext cx="2151551" cy="769441"/>
          </a:xfrm>
          <a:prstGeom prst="rect">
            <a:avLst/>
          </a:prstGeom>
          <a:noFill/>
        </p:spPr>
        <p:txBody>
          <a:bodyPr wrap="square" rtlCol="0">
            <a:spAutoFit/>
          </a:bodyPr>
          <a:lstStyle/>
          <a:p>
            <a:r>
              <a:rPr lang="en-AU" sz="4400" dirty="0" smtClean="0">
                <a:latin typeface="Arial Black" pitchFamily="34" charset="0"/>
              </a:rPr>
              <a:t>Cont’d</a:t>
            </a:r>
            <a:endParaRPr lang="en-US" sz="4400" dirty="0">
              <a:latin typeface="Arial Black" pitchFamily="34" charset="0"/>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srcRect/>
          <a:stretch>
            <a:fillRect/>
          </a:stretch>
        </p:blipFill>
        <p:spPr bwMode="auto">
          <a:xfrm>
            <a:off x="1357290" y="1785926"/>
            <a:ext cx="6357981" cy="4500594"/>
          </a:xfrm>
          <a:prstGeom prst="rect">
            <a:avLst/>
          </a:prstGeom>
          <a:noFill/>
          <a:ln w="9525">
            <a:noFill/>
            <a:miter lim="800000"/>
            <a:headEnd/>
            <a:tailEnd/>
          </a:ln>
          <a:effectLst/>
        </p:spPr>
      </p:pic>
      <p:sp>
        <p:nvSpPr>
          <p:cNvPr id="5" name="TextBox 4"/>
          <p:cNvSpPr txBox="1"/>
          <p:nvPr/>
        </p:nvSpPr>
        <p:spPr>
          <a:xfrm>
            <a:off x="2071670" y="6143644"/>
            <a:ext cx="5549942" cy="646331"/>
          </a:xfrm>
          <a:prstGeom prst="rect">
            <a:avLst/>
          </a:prstGeom>
          <a:noFill/>
        </p:spPr>
        <p:txBody>
          <a:bodyPr wrap="square" rtlCol="0">
            <a:spAutoFit/>
          </a:bodyPr>
          <a:lstStyle/>
          <a:p>
            <a:r>
              <a:rPr lang="en-AU" dirty="0" smtClean="0"/>
              <a:t> </a:t>
            </a:r>
            <a:r>
              <a:rPr lang="en-AU" dirty="0" smtClean="0">
                <a:latin typeface="Arial" pitchFamily="34" charset="0"/>
                <a:cs typeface="Arial" pitchFamily="34" charset="0"/>
              </a:rPr>
              <a:t>Finger passing through the transverse pericardial   sinus</a:t>
            </a:r>
            <a:endParaRPr lang="en-US" dirty="0">
              <a:latin typeface="Arial" pitchFamily="34" charset="0"/>
              <a:cs typeface="Arial" pitchFamily="34" charset="0"/>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20" y="2643182"/>
            <a:ext cx="8858280" cy="3482981"/>
          </a:xfrm>
        </p:spPr>
        <p:txBody>
          <a:bodyPr>
            <a:normAutofit/>
          </a:bodyPr>
          <a:lstStyle/>
          <a:p>
            <a:pPr>
              <a:buNone/>
            </a:pPr>
            <a:r>
              <a:rPr lang="en-AU" sz="4400" dirty="0" smtClean="0">
                <a:latin typeface="Arial Black" pitchFamily="34" charset="0"/>
              </a:rPr>
              <a:t>ANATOMY OF THE PLEURA</a:t>
            </a:r>
            <a:endParaRPr lang="en-US" sz="4400" dirty="0">
              <a:latin typeface="Arial Black" pitchFamily="34" charset="0"/>
            </a:endParaRPr>
          </a:p>
        </p:txBody>
      </p:sp>
      <p:sp>
        <p:nvSpPr>
          <p:cNvPr id="4" name="Slide Number Placeholder 3"/>
          <p:cNvSpPr>
            <a:spLocks noGrp="1"/>
          </p:cNvSpPr>
          <p:nvPr>
            <p:ph type="sldNum" sz="quarter" idx="12"/>
          </p:nvPr>
        </p:nvSpPr>
        <p:spPr/>
        <p:txBody>
          <a:bodyPr/>
          <a:lstStyle/>
          <a:p>
            <a:fld id="{7D608016-3028-48AC-89F9-913D89F81AFA}" type="slidenum">
              <a:rPr lang="en-US" smtClean="0"/>
              <a:pPr/>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000108"/>
          </a:xfrm>
        </p:spPr>
        <p:txBody>
          <a:bodyPr/>
          <a:lstStyle/>
          <a:p>
            <a:r>
              <a:rPr lang="en-AU" dirty="0" smtClean="0">
                <a:latin typeface="Arial Black" pitchFamily="34" charset="0"/>
              </a:rPr>
              <a:t>Outline</a:t>
            </a:r>
            <a:endParaRPr lang="en-US" dirty="0">
              <a:latin typeface="Arial Black" pitchFamily="34" charset="0"/>
            </a:endParaRPr>
          </a:p>
        </p:txBody>
      </p:sp>
      <p:sp>
        <p:nvSpPr>
          <p:cNvPr id="3" name="Content Placeholder 2"/>
          <p:cNvSpPr>
            <a:spLocks noGrp="1"/>
          </p:cNvSpPr>
          <p:nvPr>
            <p:ph idx="1"/>
          </p:nvPr>
        </p:nvSpPr>
        <p:spPr>
          <a:xfrm>
            <a:off x="457200" y="785794"/>
            <a:ext cx="8229600" cy="6072206"/>
          </a:xfrm>
        </p:spPr>
        <p:txBody>
          <a:bodyPr>
            <a:normAutofit/>
          </a:bodyPr>
          <a:lstStyle/>
          <a:p>
            <a:r>
              <a:rPr lang="en-AU" dirty="0" smtClean="0">
                <a:latin typeface="Arial" pitchFamily="34" charset="0"/>
                <a:cs typeface="Arial" pitchFamily="34" charset="0"/>
              </a:rPr>
              <a:t>Intro’</a:t>
            </a:r>
          </a:p>
          <a:p>
            <a:r>
              <a:rPr lang="en-AU" dirty="0" smtClean="0">
                <a:latin typeface="Arial" pitchFamily="34" charset="0"/>
                <a:cs typeface="Arial" pitchFamily="34" charset="0"/>
              </a:rPr>
              <a:t>Layers: Visceral &amp; Parietal layers</a:t>
            </a:r>
          </a:p>
          <a:p>
            <a:r>
              <a:rPr lang="en-AU" dirty="0" smtClean="0">
                <a:latin typeface="Arial" pitchFamily="34" charset="0"/>
                <a:cs typeface="Arial" pitchFamily="34" charset="0"/>
              </a:rPr>
              <a:t>Subdivisions of Parietal pleura</a:t>
            </a:r>
          </a:p>
          <a:p>
            <a:r>
              <a:rPr lang="en-AU" dirty="0" smtClean="0">
                <a:latin typeface="Arial" pitchFamily="34" charset="0"/>
                <a:cs typeface="Arial" pitchFamily="34" charset="0"/>
              </a:rPr>
              <a:t>Pleural cavity</a:t>
            </a:r>
          </a:p>
          <a:p>
            <a:r>
              <a:rPr lang="en-AU" dirty="0" smtClean="0">
                <a:latin typeface="Arial" pitchFamily="34" charset="0"/>
                <a:cs typeface="Arial" pitchFamily="34" charset="0"/>
              </a:rPr>
              <a:t>Pleural recesses (</a:t>
            </a:r>
            <a:r>
              <a:rPr lang="en-AU" dirty="0" err="1" smtClean="0">
                <a:latin typeface="Arial" pitchFamily="34" charset="0"/>
                <a:cs typeface="Arial" pitchFamily="34" charset="0"/>
              </a:rPr>
              <a:t>Costodiaphramatic</a:t>
            </a:r>
            <a:r>
              <a:rPr lang="en-AU" dirty="0" smtClean="0">
                <a:latin typeface="Arial" pitchFamily="34" charset="0"/>
                <a:cs typeface="Arial" pitchFamily="34" charset="0"/>
              </a:rPr>
              <a:t> &amp; </a:t>
            </a:r>
            <a:r>
              <a:rPr lang="en-AU" dirty="0" err="1" smtClean="0">
                <a:latin typeface="Arial" pitchFamily="34" charset="0"/>
                <a:cs typeface="Arial" pitchFamily="34" charset="0"/>
              </a:rPr>
              <a:t>Costomediastinal</a:t>
            </a:r>
            <a:r>
              <a:rPr lang="en-AU" dirty="0" smtClean="0">
                <a:latin typeface="Arial" pitchFamily="34" charset="0"/>
                <a:cs typeface="Arial" pitchFamily="34" charset="0"/>
              </a:rPr>
              <a:t>)</a:t>
            </a:r>
          </a:p>
          <a:p>
            <a:r>
              <a:rPr lang="en-AU" dirty="0" smtClean="0">
                <a:latin typeface="Arial" pitchFamily="34" charset="0"/>
                <a:cs typeface="Arial" pitchFamily="34" charset="0"/>
              </a:rPr>
              <a:t>Arterial supply</a:t>
            </a:r>
          </a:p>
          <a:p>
            <a:r>
              <a:rPr lang="en-AU" dirty="0" smtClean="0">
                <a:latin typeface="Arial" pitchFamily="34" charset="0"/>
                <a:cs typeface="Arial" pitchFamily="34" charset="0"/>
              </a:rPr>
              <a:t>Nerve supply</a:t>
            </a:r>
          </a:p>
          <a:p>
            <a:r>
              <a:rPr lang="en-AU" dirty="0" smtClean="0">
                <a:latin typeface="Arial" pitchFamily="34" charset="0"/>
                <a:cs typeface="Arial" pitchFamily="34" charset="0"/>
              </a:rPr>
              <a:t>Lymphatic drainage</a:t>
            </a:r>
          </a:p>
          <a:p>
            <a:r>
              <a:rPr lang="en-AU" dirty="0" smtClean="0">
                <a:latin typeface="Arial" pitchFamily="34" charset="0"/>
                <a:cs typeface="Arial" pitchFamily="34" charset="0"/>
              </a:rPr>
              <a:t>Applied Anatomy</a:t>
            </a:r>
          </a:p>
          <a:p>
            <a:endParaRPr lang="en-AU" dirty="0" smtClean="0"/>
          </a:p>
          <a:p>
            <a:endParaRPr lang="en-AU" dirty="0" smtClean="0"/>
          </a:p>
          <a:p>
            <a:endParaRPr lang="en-US" dirty="0"/>
          </a:p>
        </p:txBody>
      </p:sp>
      <p:sp>
        <p:nvSpPr>
          <p:cNvPr id="4" name="Slide Number Placeholder 3"/>
          <p:cNvSpPr>
            <a:spLocks noGrp="1"/>
          </p:cNvSpPr>
          <p:nvPr>
            <p:ph type="sldNum" sz="quarter" idx="12"/>
          </p:nvPr>
        </p:nvSpPr>
        <p:spPr/>
        <p:txBody>
          <a:bodyPr/>
          <a:lstStyle/>
          <a:p>
            <a:fld id="{7D608016-3028-48AC-89F9-913D89F81AFA}" type="slidenum">
              <a:rPr lang="en-US" smtClean="0"/>
              <a:pPr/>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latin typeface="Arial Black" pitchFamily="34" charset="0"/>
              </a:rPr>
              <a:t>PLEURA</a:t>
            </a:r>
            <a:endParaRPr lang="en-US" dirty="0">
              <a:latin typeface="Arial Black" pitchFamily="34" charset="0"/>
            </a:endParaRPr>
          </a:p>
        </p:txBody>
      </p:sp>
      <p:sp>
        <p:nvSpPr>
          <p:cNvPr id="3" name="Content Placeholder 2"/>
          <p:cNvSpPr>
            <a:spLocks noGrp="1"/>
          </p:cNvSpPr>
          <p:nvPr>
            <p:ph idx="1"/>
          </p:nvPr>
        </p:nvSpPr>
        <p:spPr>
          <a:xfrm>
            <a:off x="457200" y="1928802"/>
            <a:ext cx="8229600" cy="4197361"/>
          </a:xfrm>
        </p:spPr>
        <p:txBody>
          <a:bodyPr/>
          <a:lstStyle/>
          <a:p>
            <a:pPr algn="just"/>
            <a:r>
              <a:rPr lang="en-AU" dirty="0" smtClean="0">
                <a:latin typeface="Arial" pitchFamily="34" charset="0"/>
                <a:cs typeface="Arial" pitchFamily="34" charset="0"/>
              </a:rPr>
              <a:t>The </a:t>
            </a:r>
            <a:r>
              <a:rPr lang="en-AU" b="1" dirty="0" smtClean="0">
                <a:latin typeface="Arial" pitchFamily="34" charset="0"/>
                <a:cs typeface="Arial" pitchFamily="34" charset="0"/>
              </a:rPr>
              <a:t>pleura</a:t>
            </a:r>
            <a:r>
              <a:rPr lang="en-AU" dirty="0" smtClean="0">
                <a:latin typeface="Arial" pitchFamily="34" charset="0"/>
                <a:cs typeface="Arial" pitchFamily="34" charset="0"/>
              </a:rPr>
              <a:t> is a </a:t>
            </a:r>
            <a:r>
              <a:rPr lang="en-AU" b="1" dirty="0" smtClean="0">
                <a:latin typeface="Arial" pitchFamily="34" charset="0"/>
                <a:cs typeface="Arial" pitchFamily="34" charset="0"/>
              </a:rPr>
              <a:t>thin membrane </a:t>
            </a:r>
            <a:r>
              <a:rPr lang="en-AU" dirty="0" smtClean="0">
                <a:latin typeface="Arial" pitchFamily="34" charset="0"/>
                <a:cs typeface="Arial" pitchFamily="34" charset="0"/>
              </a:rPr>
              <a:t>of </a:t>
            </a:r>
            <a:r>
              <a:rPr lang="en-AU" b="1" dirty="0" smtClean="0">
                <a:latin typeface="Arial" pitchFamily="34" charset="0"/>
                <a:cs typeface="Arial" pitchFamily="34" charset="0"/>
              </a:rPr>
              <a:t>fibrous tissue </a:t>
            </a:r>
            <a:r>
              <a:rPr lang="en-AU" dirty="0" smtClean="0">
                <a:latin typeface="Arial" pitchFamily="34" charset="0"/>
                <a:cs typeface="Arial" pitchFamily="34" charset="0"/>
              </a:rPr>
              <a:t>surfaced by a </a:t>
            </a:r>
            <a:r>
              <a:rPr lang="en-AU" b="1" dirty="0" smtClean="0">
                <a:latin typeface="Arial" pitchFamily="34" charset="0"/>
                <a:cs typeface="Arial" pitchFamily="34" charset="0"/>
              </a:rPr>
              <a:t>single layer </a:t>
            </a:r>
            <a:r>
              <a:rPr lang="en-AU" dirty="0" smtClean="0">
                <a:latin typeface="Arial" pitchFamily="34" charset="0"/>
                <a:cs typeface="Arial" pitchFamily="34" charset="0"/>
              </a:rPr>
              <a:t>of </a:t>
            </a:r>
            <a:r>
              <a:rPr lang="en-AU" b="1" dirty="0" smtClean="0">
                <a:latin typeface="Arial" pitchFamily="34" charset="0"/>
                <a:cs typeface="Arial" pitchFamily="34" charset="0"/>
              </a:rPr>
              <a:t>flat cells </a:t>
            </a:r>
            <a:r>
              <a:rPr lang="en-AU" dirty="0" smtClean="0">
                <a:latin typeface="Arial" pitchFamily="34" charset="0"/>
                <a:cs typeface="Arial" pitchFamily="34" charset="0"/>
              </a:rPr>
              <a:t>(mesothelium). The lining </a:t>
            </a:r>
            <a:r>
              <a:rPr lang="en-AU" b="1" dirty="0" smtClean="0">
                <a:latin typeface="Arial" pitchFamily="34" charset="0"/>
                <a:cs typeface="Arial" pitchFamily="34" charset="0"/>
              </a:rPr>
              <a:t>epithelium</a:t>
            </a:r>
            <a:r>
              <a:rPr lang="en-AU" dirty="0" smtClean="0">
                <a:latin typeface="Arial" pitchFamily="34" charset="0"/>
                <a:cs typeface="Arial" pitchFamily="34" charset="0"/>
              </a:rPr>
              <a:t> secretes a </a:t>
            </a:r>
            <a:r>
              <a:rPr lang="en-AU" b="1" dirty="0" smtClean="0">
                <a:latin typeface="Arial" pitchFamily="34" charset="0"/>
                <a:cs typeface="Arial" pitchFamily="34" charset="0"/>
              </a:rPr>
              <a:t>watery lubricant</a:t>
            </a:r>
            <a:r>
              <a:rPr lang="en-AU" dirty="0" smtClean="0">
                <a:latin typeface="Arial" pitchFamily="34" charset="0"/>
                <a:cs typeface="Arial" pitchFamily="34" charset="0"/>
              </a:rPr>
              <a:t>-the </a:t>
            </a:r>
            <a:r>
              <a:rPr lang="en-AU" b="1" dirty="0" smtClean="0">
                <a:latin typeface="Arial" pitchFamily="34" charset="0"/>
                <a:cs typeface="Arial" pitchFamily="34" charset="0"/>
              </a:rPr>
              <a:t>serous fluid</a:t>
            </a:r>
            <a:r>
              <a:rPr lang="en-AU" dirty="0" smtClean="0">
                <a:latin typeface="Arial" pitchFamily="34" charset="0"/>
                <a:cs typeface="Arial" pitchFamily="34" charset="0"/>
              </a:rPr>
              <a:t>. It </a:t>
            </a:r>
            <a:r>
              <a:rPr lang="en-AU" b="1" dirty="0" smtClean="0">
                <a:latin typeface="Arial" pitchFamily="34" charset="0"/>
                <a:cs typeface="Arial" pitchFamily="34" charset="0"/>
              </a:rPr>
              <a:t>clothes</a:t>
            </a:r>
            <a:r>
              <a:rPr lang="en-AU" dirty="0" smtClean="0">
                <a:latin typeface="Arial" pitchFamily="34" charset="0"/>
                <a:cs typeface="Arial" pitchFamily="34" charset="0"/>
              </a:rPr>
              <a:t> each </a:t>
            </a:r>
            <a:r>
              <a:rPr lang="en-AU" b="1" dirty="0" smtClean="0">
                <a:latin typeface="Arial" pitchFamily="34" charset="0"/>
                <a:cs typeface="Arial" pitchFamily="34" charset="0"/>
              </a:rPr>
              <a:t>lung</a:t>
            </a:r>
            <a:r>
              <a:rPr lang="en-AU" dirty="0" smtClean="0">
                <a:latin typeface="Arial" pitchFamily="34" charset="0"/>
                <a:cs typeface="Arial" pitchFamily="34" charset="0"/>
              </a:rPr>
              <a:t> and lines the </a:t>
            </a:r>
            <a:r>
              <a:rPr lang="en-AU" b="1" dirty="0" smtClean="0">
                <a:latin typeface="Arial" pitchFamily="34" charset="0"/>
                <a:cs typeface="Arial" pitchFamily="34" charset="0"/>
              </a:rPr>
              <a:t>thoracic cavity</a:t>
            </a:r>
            <a:r>
              <a:rPr lang="en-AU" dirty="0" smtClean="0">
                <a:latin typeface="Arial" pitchFamily="34" charset="0"/>
                <a:cs typeface="Arial" pitchFamily="34" charset="0"/>
              </a:rPr>
              <a:t>.</a:t>
            </a:r>
          </a:p>
          <a:p>
            <a:pPr algn="just"/>
            <a:endParaRPr lang="en-US"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8B1A3310-08A0-497E-A7E0-07BF4EF4A19E}" type="slidenum">
              <a:rPr lang="en-US" smtClean="0"/>
              <a:pPr/>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42918"/>
            <a:ext cx="8229600" cy="1285884"/>
          </a:xfrm>
        </p:spPr>
        <p:txBody>
          <a:bodyPr/>
          <a:lstStyle/>
          <a:p>
            <a:r>
              <a:rPr lang="en-AU" dirty="0" smtClean="0">
                <a:latin typeface="Arial Black" pitchFamily="34" charset="0"/>
              </a:rPr>
              <a:t>LAYERS OF THE PLEURA</a:t>
            </a:r>
            <a:endParaRPr lang="en-US" dirty="0">
              <a:latin typeface="Arial Black" pitchFamily="34" charset="0"/>
            </a:endParaRPr>
          </a:p>
        </p:txBody>
      </p:sp>
      <p:sp>
        <p:nvSpPr>
          <p:cNvPr id="3" name="Content Placeholder 2"/>
          <p:cNvSpPr>
            <a:spLocks noGrp="1"/>
          </p:cNvSpPr>
          <p:nvPr>
            <p:ph idx="1"/>
          </p:nvPr>
        </p:nvSpPr>
        <p:spPr>
          <a:xfrm>
            <a:off x="457200" y="2143116"/>
            <a:ext cx="8229600" cy="3983047"/>
          </a:xfrm>
        </p:spPr>
        <p:txBody>
          <a:bodyPr/>
          <a:lstStyle/>
          <a:p>
            <a:pPr algn="just"/>
            <a:r>
              <a:rPr lang="en-AU" dirty="0" smtClean="0">
                <a:latin typeface="Arial" pitchFamily="34" charset="0"/>
                <a:cs typeface="Arial" pitchFamily="34" charset="0"/>
              </a:rPr>
              <a:t>The </a:t>
            </a:r>
            <a:r>
              <a:rPr lang="en-AU" b="1" dirty="0" smtClean="0">
                <a:latin typeface="Arial" pitchFamily="34" charset="0"/>
                <a:cs typeface="Arial" pitchFamily="34" charset="0"/>
              </a:rPr>
              <a:t>pleura consist </a:t>
            </a:r>
            <a:r>
              <a:rPr lang="en-AU" dirty="0" smtClean="0">
                <a:latin typeface="Arial" pitchFamily="34" charset="0"/>
                <a:cs typeface="Arial" pitchFamily="34" charset="0"/>
              </a:rPr>
              <a:t>of </a:t>
            </a:r>
            <a:r>
              <a:rPr lang="en-AU" b="1" dirty="0" smtClean="0">
                <a:latin typeface="Arial" pitchFamily="34" charset="0"/>
                <a:cs typeface="Arial" pitchFamily="34" charset="0"/>
              </a:rPr>
              <a:t>two layers</a:t>
            </a:r>
            <a:r>
              <a:rPr lang="en-AU" dirty="0" smtClean="0">
                <a:latin typeface="Arial" pitchFamily="34" charset="0"/>
                <a:cs typeface="Arial" pitchFamily="34" charset="0"/>
              </a:rPr>
              <a:t>: (a) </a:t>
            </a:r>
            <a:r>
              <a:rPr lang="en-AU" b="1" dirty="0" smtClean="0">
                <a:latin typeface="Arial" pitchFamily="34" charset="0"/>
                <a:cs typeface="Arial" pitchFamily="34" charset="0"/>
              </a:rPr>
              <a:t>visceral pleura </a:t>
            </a:r>
            <a:r>
              <a:rPr lang="en-AU" dirty="0" smtClean="0">
                <a:latin typeface="Arial" pitchFamily="34" charset="0"/>
                <a:cs typeface="Arial" pitchFamily="34" charset="0"/>
              </a:rPr>
              <a:t>and (b) </a:t>
            </a:r>
            <a:r>
              <a:rPr lang="en-AU" b="1" dirty="0" smtClean="0">
                <a:latin typeface="Arial" pitchFamily="34" charset="0"/>
                <a:cs typeface="Arial" pitchFamily="34" charset="0"/>
              </a:rPr>
              <a:t>parietal pleura</a:t>
            </a:r>
            <a:r>
              <a:rPr lang="en-AU" dirty="0" smtClean="0">
                <a:latin typeface="Arial" pitchFamily="34" charset="0"/>
                <a:cs typeface="Arial" pitchFamily="34" charset="0"/>
              </a:rPr>
              <a:t>. The </a:t>
            </a:r>
            <a:r>
              <a:rPr lang="en-AU" b="1" dirty="0" smtClean="0">
                <a:latin typeface="Arial" pitchFamily="34" charset="0"/>
                <a:cs typeface="Arial" pitchFamily="34" charset="0"/>
              </a:rPr>
              <a:t>moistened space </a:t>
            </a:r>
            <a:r>
              <a:rPr lang="en-AU" dirty="0" smtClean="0">
                <a:latin typeface="Arial" pitchFamily="34" charset="0"/>
                <a:cs typeface="Arial" pitchFamily="34" charset="0"/>
              </a:rPr>
              <a:t>between the </a:t>
            </a:r>
            <a:r>
              <a:rPr lang="en-AU" b="1" dirty="0" smtClean="0">
                <a:latin typeface="Arial" pitchFamily="34" charset="0"/>
                <a:cs typeface="Arial" pitchFamily="34" charset="0"/>
              </a:rPr>
              <a:t>two layers </a:t>
            </a:r>
            <a:r>
              <a:rPr lang="en-AU" dirty="0" smtClean="0">
                <a:latin typeface="Arial" pitchFamily="34" charset="0"/>
                <a:cs typeface="Arial" pitchFamily="34" charset="0"/>
              </a:rPr>
              <a:t>is called </a:t>
            </a:r>
            <a:r>
              <a:rPr lang="en-AU" b="1" dirty="0" smtClean="0">
                <a:latin typeface="Arial" pitchFamily="34" charset="0"/>
                <a:cs typeface="Arial" pitchFamily="34" charset="0"/>
              </a:rPr>
              <a:t>pleural cavity</a:t>
            </a:r>
            <a:r>
              <a:rPr lang="en-AU" dirty="0" smtClean="0">
                <a:latin typeface="Arial" pitchFamily="34" charset="0"/>
                <a:cs typeface="Arial" pitchFamily="34" charset="0"/>
              </a:rPr>
              <a:t>. </a:t>
            </a:r>
          </a:p>
          <a:p>
            <a:pPr algn="just"/>
            <a:endParaRPr lang="en-US"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8B1A3310-08A0-497E-A7E0-07BF4EF4A19E}" type="slidenum">
              <a:rPr lang="en-US" smtClean="0"/>
              <a:pPr/>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57166"/>
            <a:ext cx="8229600" cy="1357322"/>
          </a:xfrm>
        </p:spPr>
        <p:txBody>
          <a:bodyPr/>
          <a:lstStyle/>
          <a:p>
            <a:r>
              <a:rPr lang="en-US" dirty="0" smtClean="0">
                <a:latin typeface="Arial Black" pitchFamily="34" charset="0"/>
              </a:rPr>
              <a:t>Parietal Pleura</a:t>
            </a:r>
            <a:endParaRPr lang="en-US" dirty="0"/>
          </a:p>
        </p:txBody>
      </p:sp>
      <p:sp>
        <p:nvSpPr>
          <p:cNvPr id="3" name="Content Placeholder 2"/>
          <p:cNvSpPr>
            <a:spLocks noGrp="1"/>
          </p:cNvSpPr>
          <p:nvPr>
            <p:ph idx="1"/>
          </p:nvPr>
        </p:nvSpPr>
        <p:spPr>
          <a:xfrm>
            <a:off x="285720" y="1571612"/>
            <a:ext cx="8643998" cy="5072098"/>
          </a:xfrm>
        </p:spPr>
        <p:txBody>
          <a:bodyPr>
            <a:noAutofit/>
          </a:bodyPr>
          <a:lstStyle/>
          <a:p>
            <a:pPr algn="just"/>
            <a:r>
              <a:rPr lang="en-AU" dirty="0" smtClean="0">
                <a:latin typeface="Arial" pitchFamily="34" charset="0"/>
                <a:cs typeface="Arial" pitchFamily="34" charset="0"/>
              </a:rPr>
              <a:t>The </a:t>
            </a:r>
            <a:r>
              <a:rPr lang="en-AU" b="1" dirty="0" smtClean="0">
                <a:latin typeface="Arial" pitchFamily="34" charset="0"/>
                <a:cs typeface="Arial" pitchFamily="34" charset="0"/>
              </a:rPr>
              <a:t>parietal layer </a:t>
            </a:r>
            <a:r>
              <a:rPr lang="en-AU" dirty="0" smtClean="0">
                <a:latin typeface="Arial" pitchFamily="34" charset="0"/>
                <a:cs typeface="Arial" pitchFamily="34" charset="0"/>
              </a:rPr>
              <a:t>of the </a:t>
            </a:r>
            <a:r>
              <a:rPr lang="en-AU" b="1" dirty="0" smtClean="0">
                <a:latin typeface="Arial" pitchFamily="34" charset="0"/>
                <a:cs typeface="Arial" pitchFamily="34" charset="0"/>
              </a:rPr>
              <a:t>pleura</a:t>
            </a:r>
            <a:r>
              <a:rPr lang="en-AU" dirty="0" smtClean="0">
                <a:latin typeface="Arial" pitchFamily="34" charset="0"/>
                <a:cs typeface="Arial" pitchFamily="34" charset="0"/>
              </a:rPr>
              <a:t> lines the </a:t>
            </a:r>
            <a:r>
              <a:rPr lang="en-AU" b="1" dirty="0" smtClean="0">
                <a:latin typeface="Arial" pitchFamily="34" charset="0"/>
                <a:cs typeface="Arial" pitchFamily="34" charset="0"/>
              </a:rPr>
              <a:t>thoracic wall </a:t>
            </a:r>
            <a:r>
              <a:rPr lang="en-AU" dirty="0" smtClean="0">
                <a:latin typeface="Arial" pitchFamily="34" charset="0"/>
                <a:cs typeface="Arial" pitchFamily="34" charset="0"/>
              </a:rPr>
              <a:t>(</a:t>
            </a:r>
            <a:r>
              <a:rPr lang="en-AU" b="1" dirty="0" smtClean="0">
                <a:latin typeface="Arial" pitchFamily="34" charset="0"/>
                <a:cs typeface="Arial" pitchFamily="34" charset="0"/>
              </a:rPr>
              <a:t>rib cage</a:t>
            </a:r>
            <a:r>
              <a:rPr lang="en-AU" dirty="0" smtClean="0">
                <a:latin typeface="Arial" pitchFamily="34" charset="0"/>
                <a:cs typeface="Arial" pitchFamily="34" charset="0"/>
              </a:rPr>
              <a:t>, </a:t>
            </a:r>
            <a:r>
              <a:rPr lang="en-AU" b="1" dirty="0" smtClean="0">
                <a:latin typeface="Arial" pitchFamily="34" charset="0"/>
                <a:cs typeface="Arial" pitchFamily="34" charset="0"/>
              </a:rPr>
              <a:t>vertebrae</a:t>
            </a:r>
            <a:r>
              <a:rPr lang="en-AU" dirty="0" smtClean="0">
                <a:latin typeface="Arial" pitchFamily="34" charset="0"/>
                <a:cs typeface="Arial" pitchFamily="34" charset="0"/>
              </a:rPr>
              <a:t>, and </a:t>
            </a:r>
            <a:r>
              <a:rPr lang="en-AU" b="1" dirty="0" smtClean="0">
                <a:latin typeface="Arial" pitchFamily="34" charset="0"/>
                <a:cs typeface="Arial" pitchFamily="34" charset="0"/>
              </a:rPr>
              <a:t>diaphragm), </a:t>
            </a:r>
            <a:r>
              <a:rPr lang="en-AU" dirty="0" smtClean="0">
                <a:latin typeface="Arial" pitchFamily="34" charset="0"/>
                <a:cs typeface="Arial" pitchFamily="34" charset="0"/>
              </a:rPr>
              <a:t>from which it is </a:t>
            </a:r>
            <a:r>
              <a:rPr lang="en-AU" b="1" dirty="0" smtClean="0">
                <a:latin typeface="Arial" pitchFamily="34" charset="0"/>
                <a:cs typeface="Arial" pitchFamily="34" charset="0"/>
              </a:rPr>
              <a:t>separated</a:t>
            </a:r>
            <a:r>
              <a:rPr lang="en-AU" dirty="0" smtClean="0">
                <a:latin typeface="Arial" pitchFamily="34" charset="0"/>
                <a:cs typeface="Arial" pitchFamily="34" charset="0"/>
              </a:rPr>
              <a:t> by </a:t>
            </a:r>
            <a:r>
              <a:rPr lang="en-AU" b="1" dirty="0" smtClean="0">
                <a:latin typeface="Arial" pitchFamily="34" charset="0"/>
                <a:cs typeface="Arial" pitchFamily="34" charset="0"/>
              </a:rPr>
              <a:t>loose areolar tissue</a:t>
            </a:r>
            <a:r>
              <a:rPr lang="en-AU" dirty="0" smtClean="0">
                <a:latin typeface="Arial" pitchFamily="34" charset="0"/>
                <a:cs typeface="Arial" pitchFamily="34" charset="0"/>
              </a:rPr>
              <a:t>, the </a:t>
            </a:r>
            <a:r>
              <a:rPr lang="en-AU" b="1" dirty="0" smtClean="0">
                <a:latin typeface="Arial" pitchFamily="34" charset="0"/>
                <a:cs typeface="Arial" pitchFamily="34" charset="0"/>
              </a:rPr>
              <a:t>endothoracic fascia</a:t>
            </a:r>
            <a:r>
              <a:rPr lang="en-AU" dirty="0" smtClean="0">
                <a:latin typeface="Arial" pitchFamily="34" charset="0"/>
                <a:cs typeface="Arial" pitchFamily="34" charset="0"/>
              </a:rPr>
              <a:t>. But the </a:t>
            </a:r>
            <a:r>
              <a:rPr lang="en-AU" b="1" dirty="0" smtClean="0">
                <a:latin typeface="Arial" pitchFamily="34" charset="0"/>
                <a:cs typeface="Arial" pitchFamily="34" charset="0"/>
              </a:rPr>
              <a:t>parietal pleura </a:t>
            </a:r>
            <a:r>
              <a:rPr lang="en-AU" dirty="0" smtClean="0">
                <a:latin typeface="Arial" pitchFamily="34" charset="0"/>
                <a:cs typeface="Arial" pitchFamily="34" charset="0"/>
              </a:rPr>
              <a:t>is </a:t>
            </a:r>
            <a:r>
              <a:rPr lang="en-AU" b="1" dirty="0" smtClean="0">
                <a:latin typeface="Arial" pitchFamily="34" charset="0"/>
                <a:cs typeface="Arial" pitchFamily="34" charset="0"/>
              </a:rPr>
              <a:t>attached</a:t>
            </a:r>
            <a:r>
              <a:rPr lang="en-AU" dirty="0" smtClean="0">
                <a:latin typeface="Arial" pitchFamily="34" charset="0"/>
                <a:cs typeface="Arial" pitchFamily="34" charset="0"/>
              </a:rPr>
              <a:t> to the </a:t>
            </a:r>
            <a:r>
              <a:rPr lang="en-AU" b="1" dirty="0" smtClean="0">
                <a:latin typeface="Arial" pitchFamily="34" charset="0"/>
                <a:cs typeface="Arial" pitchFamily="34" charset="0"/>
              </a:rPr>
              <a:t>inferior surface </a:t>
            </a:r>
            <a:r>
              <a:rPr lang="en-AU" dirty="0" smtClean="0">
                <a:latin typeface="Arial" pitchFamily="34" charset="0"/>
                <a:cs typeface="Arial" pitchFamily="34" charset="0"/>
              </a:rPr>
              <a:t>of the </a:t>
            </a:r>
            <a:r>
              <a:rPr lang="en-AU" b="1" dirty="0" smtClean="0">
                <a:latin typeface="Arial" pitchFamily="34" charset="0"/>
                <a:cs typeface="Arial" pitchFamily="34" charset="0"/>
              </a:rPr>
              <a:t>suprapleural membrane</a:t>
            </a:r>
            <a:r>
              <a:rPr lang="en-AU" dirty="0" smtClean="0">
                <a:latin typeface="Arial" pitchFamily="34" charset="0"/>
                <a:cs typeface="Arial" pitchFamily="34" charset="0"/>
              </a:rPr>
              <a:t>, at the </a:t>
            </a:r>
            <a:r>
              <a:rPr lang="en-AU" b="1" dirty="0" smtClean="0">
                <a:latin typeface="Arial" pitchFamily="34" charset="0"/>
                <a:cs typeface="Arial" pitchFamily="34" charset="0"/>
              </a:rPr>
              <a:t>thoracic inlet</a:t>
            </a:r>
            <a:r>
              <a:rPr lang="en-AU" dirty="0" smtClean="0">
                <a:latin typeface="Arial" pitchFamily="34" charset="0"/>
                <a:cs typeface="Arial" pitchFamily="34" charset="0"/>
              </a:rPr>
              <a:t>, and to the </a:t>
            </a:r>
            <a:r>
              <a:rPr lang="en-AU" b="1" dirty="0" smtClean="0">
                <a:latin typeface="Arial" pitchFamily="34" charset="0"/>
                <a:cs typeface="Arial" pitchFamily="34" charset="0"/>
              </a:rPr>
              <a:t>mediastinal surface </a:t>
            </a:r>
            <a:r>
              <a:rPr lang="en-AU" dirty="0" smtClean="0">
                <a:latin typeface="Arial" pitchFamily="34" charset="0"/>
                <a:cs typeface="Arial" pitchFamily="34" charset="0"/>
              </a:rPr>
              <a:t>of the </a:t>
            </a:r>
            <a:r>
              <a:rPr lang="en-AU" b="1" dirty="0" smtClean="0">
                <a:latin typeface="Arial" pitchFamily="34" charset="0"/>
                <a:cs typeface="Arial" pitchFamily="34" charset="0"/>
              </a:rPr>
              <a:t>fibrous pericardium</a:t>
            </a:r>
            <a:r>
              <a:rPr lang="en-AU" dirty="0" smtClean="0">
                <a:latin typeface="Arial" pitchFamily="34" charset="0"/>
                <a:cs typeface="Arial" pitchFamily="34" charset="0"/>
              </a:rPr>
              <a:t>. </a:t>
            </a:r>
            <a:endParaRPr lang="en-US"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8B1A3310-08A0-497E-A7E0-07BF4EF4A19E}" type="slidenum">
              <a:rPr lang="en-US" smtClean="0"/>
              <a:pPr/>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a:r>
              <a:rPr lang="en-AU" dirty="0" smtClean="0">
                <a:latin typeface="Arial" pitchFamily="34" charset="0"/>
                <a:cs typeface="Arial" pitchFamily="34" charset="0"/>
              </a:rPr>
              <a:t>It, however, extends </a:t>
            </a:r>
            <a:r>
              <a:rPr lang="en-AU" b="1" dirty="0" smtClean="0">
                <a:latin typeface="Arial" pitchFamily="34" charset="0"/>
                <a:cs typeface="Arial" pitchFamily="34" charset="0"/>
              </a:rPr>
              <a:t>further than </a:t>
            </a:r>
            <a:r>
              <a:rPr lang="en-AU" dirty="0" smtClean="0">
                <a:latin typeface="Arial" pitchFamily="34" charset="0"/>
                <a:cs typeface="Arial" pitchFamily="34" charset="0"/>
              </a:rPr>
              <a:t>the inferior </a:t>
            </a:r>
            <a:r>
              <a:rPr lang="en-AU" b="1" dirty="0" smtClean="0">
                <a:latin typeface="Arial" pitchFamily="34" charset="0"/>
                <a:cs typeface="Arial" pitchFamily="34" charset="0"/>
              </a:rPr>
              <a:t>lung edge</a:t>
            </a:r>
            <a:r>
              <a:rPr lang="en-AU" dirty="0" smtClean="0">
                <a:latin typeface="Arial" pitchFamily="34" charset="0"/>
                <a:cs typeface="Arial" pitchFamily="34" charset="0"/>
              </a:rPr>
              <a:t>, to allow </a:t>
            </a:r>
            <a:r>
              <a:rPr lang="en-AU" b="1" dirty="0" smtClean="0">
                <a:latin typeface="Arial" pitchFamily="34" charset="0"/>
                <a:cs typeface="Arial" pitchFamily="34" charset="0"/>
              </a:rPr>
              <a:t>space</a:t>
            </a:r>
            <a:r>
              <a:rPr lang="en-AU" dirty="0" smtClean="0">
                <a:latin typeface="Arial" pitchFamily="34" charset="0"/>
                <a:cs typeface="Arial" pitchFamily="34" charset="0"/>
              </a:rPr>
              <a:t> for </a:t>
            </a:r>
            <a:r>
              <a:rPr lang="en-AU" b="1" dirty="0" smtClean="0">
                <a:latin typeface="Arial" pitchFamily="34" charset="0"/>
                <a:cs typeface="Arial" pitchFamily="34" charset="0"/>
              </a:rPr>
              <a:t>lung expansion</a:t>
            </a:r>
            <a:r>
              <a:rPr lang="en-AU" dirty="0" smtClean="0">
                <a:latin typeface="Arial" pitchFamily="34" charset="0"/>
                <a:cs typeface="Arial" pitchFamily="34" charset="0"/>
              </a:rPr>
              <a:t>. In these situations, the </a:t>
            </a:r>
            <a:r>
              <a:rPr lang="en-AU" b="1" dirty="0" smtClean="0">
                <a:latin typeface="Arial" pitchFamily="34" charset="0"/>
                <a:cs typeface="Arial" pitchFamily="34" charset="0"/>
              </a:rPr>
              <a:t>costal parietal pleura </a:t>
            </a:r>
            <a:r>
              <a:rPr lang="en-AU" dirty="0" smtClean="0">
                <a:latin typeface="Arial" pitchFamily="34" charset="0"/>
                <a:cs typeface="Arial" pitchFamily="34" charset="0"/>
              </a:rPr>
              <a:t>is in </a:t>
            </a:r>
            <a:r>
              <a:rPr lang="en-AU" b="1" dirty="0" smtClean="0">
                <a:latin typeface="Arial" pitchFamily="34" charset="0"/>
                <a:cs typeface="Arial" pitchFamily="34" charset="0"/>
              </a:rPr>
              <a:t>contact</a:t>
            </a:r>
            <a:r>
              <a:rPr lang="en-AU" dirty="0" smtClean="0">
                <a:latin typeface="Arial" pitchFamily="34" charset="0"/>
                <a:cs typeface="Arial" pitchFamily="34" charset="0"/>
              </a:rPr>
              <a:t> with the </a:t>
            </a:r>
            <a:r>
              <a:rPr lang="en-AU" b="1" dirty="0" smtClean="0">
                <a:latin typeface="Arial" pitchFamily="34" charset="0"/>
                <a:cs typeface="Arial" pitchFamily="34" charset="0"/>
              </a:rPr>
              <a:t>mediastinal</a:t>
            </a:r>
            <a:r>
              <a:rPr lang="en-AU" dirty="0" smtClean="0">
                <a:latin typeface="Arial" pitchFamily="34" charset="0"/>
                <a:cs typeface="Arial" pitchFamily="34" charset="0"/>
              </a:rPr>
              <a:t> and </a:t>
            </a:r>
            <a:r>
              <a:rPr lang="en-AU" b="1" dirty="0" smtClean="0">
                <a:latin typeface="Arial" pitchFamily="34" charset="0"/>
                <a:cs typeface="Arial" pitchFamily="34" charset="0"/>
              </a:rPr>
              <a:t>diaphragmatic parietal pleura</a:t>
            </a:r>
            <a:r>
              <a:rPr lang="en-AU" dirty="0" smtClean="0">
                <a:latin typeface="Arial" pitchFamily="34" charset="0"/>
                <a:cs typeface="Arial" pitchFamily="34" charset="0"/>
              </a:rPr>
              <a:t>.</a:t>
            </a:r>
            <a:endParaRPr lang="en-US" dirty="0" smtClean="0">
              <a:latin typeface="Arial" pitchFamily="34" charset="0"/>
              <a:cs typeface="Arial" pitchFamily="34" charset="0"/>
            </a:endParaRPr>
          </a:p>
          <a:p>
            <a:endParaRPr lang="en-US" dirty="0"/>
          </a:p>
        </p:txBody>
      </p:sp>
      <p:sp>
        <p:nvSpPr>
          <p:cNvPr id="4" name="Slide Number Placeholder 3"/>
          <p:cNvSpPr>
            <a:spLocks noGrp="1"/>
          </p:cNvSpPr>
          <p:nvPr>
            <p:ph type="sldNum" sz="quarter" idx="12"/>
          </p:nvPr>
        </p:nvSpPr>
        <p:spPr/>
        <p:txBody>
          <a:bodyPr/>
          <a:lstStyle/>
          <a:p>
            <a:fld id="{8B1A3310-08A0-497E-A7E0-07BF4EF4A19E}" type="slidenum">
              <a:rPr lang="en-US" smtClean="0"/>
              <a:pPr/>
              <a:t>72</a:t>
            </a:fld>
            <a:endParaRPr lang="en-US"/>
          </a:p>
        </p:txBody>
      </p:sp>
      <p:sp>
        <p:nvSpPr>
          <p:cNvPr id="5" name="TextBox 4"/>
          <p:cNvSpPr txBox="1"/>
          <p:nvPr/>
        </p:nvSpPr>
        <p:spPr>
          <a:xfrm>
            <a:off x="3643306" y="785794"/>
            <a:ext cx="2151551" cy="1046440"/>
          </a:xfrm>
          <a:prstGeom prst="rect">
            <a:avLst/>
          </a:prstGeom>
          <a:noFill/>
        </p:spPr>
        <p:txBody>
          <a:bodyPr wrap="none" rtlCol="0">
            <a:spAutoFit/>
          </a:bodyPr>
          <a:lstStyle/>
          <a:p>
            <a:r>
              <a:rPr lang="en-AU" sz="4400" dirty="0" smtClean="0">
                <a:latin typeface="Arial Black" pitchFamily="34" charset="0"/>
              </a:rPr>
              <a:t>Cont’d</a:t>
            </a:r>
            <a:endParaRPr lang="en-US" sz="4400" dirty="0" smtClean="0">
              <a:latin typeface="Arial Black" pitchFamily="34" charset="0"/>
            </a:endParaRPr>
          </a:p>
          <a:p>
            <a:endParaRPr lang="en-US"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417638"/>
          </a:xfrm>
        </p:spPr>
        <p:txBody>
          <a:bodyPr>
            <a:normAutofit fontScale="90000"/>
          </a:bodyPr>
          <a:lstStyle/>
          <a:p>
            <a:r>
              <a:rPr lang="en-US" dirty="0" smtClean="0">
                <a:latin typeface="Arial Black" pitchFamily="34" charset="0"/>
              </a:rPr>
              <a:t>Visceral Pleura (Pulmonary Pleura)</a:t>
            </a:r>
            <a:endParaRPr lang="en-US" dirty="0">
              <a:latin typeface="Arial Black" pitchFamily="34" charset="0"/>
            </a:endParaRPr>
          </a:p>
        </p:txBody>
      </p:sp>
      <p:sp>
        <p:nvSpPr>
          <p:cNvPr id="3" name="Content Placeholder 2"/>
          <p:cNvSpPr>
            <a:spLocks noGrp="1"/>
          </p:cNvSpPr>
          <p:nvPr>
            <p:ph idx="1"/>
          </p:nvPr>
        </p:nvSpPr>
        <p:spPr>
          <a:xfrm>
            <a:off x="457200" y="1285860"/>
            <a:ext cx="8229600" cy="5572140"/>
          </a:xfrm>
        </p:spPr>
        <p:txBody>
          <a:bodyPr>
            <a:normAutofit lnSpcReduction="10000"/>
          </a:bodyPr>
          <a:lstStyle/>
          <a:p>
            <a:pPr algn="just"/>
            <a:r>
              <a:rPr lang="en-AU" dirty="0" smtClean="0">
                <a:latin typeface="Arial" pitchFamily="34" charset="0"/>
                <a:cs typeface="Arial" pitchFamily="34" charset="0"/>
              </a:rPr>
              <a:t>The </a:t>
            </a:r>
            <a:r>
              <a:rPr lang="en-AU" b="1" dirty="0" smtClean="0">
                <a:latin typeface="Arial" pitchFamily="34" charset="0"/>
                <a:cs typeface="Arial" pitchFamily="34" charset="0"/>
              </a:rPr>
              <a:t>visceral pleura </a:t>
            </a:r>
            <a:r>
              <a:rPr lang="en-AU" dirty="0" smtClean="0">
                <a:latin typeface="Arial" pitchFamily="34" charset="0"/>
                <a:cs typeface="Arial" pitchFamily="34" charset="0"/>
              </a:rPr>
              <a:t>completely </a:t>
            </a:r>
            <a:r>
              <a:rPr lang="en-AU" b="1" dirty="0" smtClean="0">
                <a:latin typeface="Arial" pitchFamily="34" charset="0"/>
                <a:cs typeface="Arial" pitchFamily="34" charset="0"/>
              </a:rPr>
              <a:t>covers</a:t>
            </a:r>
            <a:r>
              <a:rPr lang="en-AU" dirty="0" smtClean="0">
                <a:latin typeface="Arial" pitchFamily="34" charset="0"/>
                <a:cs typeface="Arial" pitchFamily="34" charset="0"/>
              </a:rPr>
              <a:t> the </a:t>
            </a:r>
            <a:r>
              <a:rPr lang="en-AU" b="1" dirty="0" smtClean="0">
                <a:latin typeface="Arial" pitchFamily="34" charset="0"/>
                <a:cs typeface="Arial" pitchFamily="34" charset="0"/>
              </a:rPr>
              <a:t>surface</a:t>
            </a:r>
            <a:r>
              <a:rPr lang="en-AU" dirty="0" smtClean="0">
                <a:latin typeface="Arial" pitchFamily="34" charset="0"/>
                <a:cs typeface="Arial" pitchFamily="34" charset="0"/>
              </a:rPr>
              <a:t> of the</a:t>
            </a:r>
            <a:r>
              <a:rPr lang="en-AU" b="1" dirty="0" smtClean="0">
                <a:latin typeface="Arial" pitchFamily="34" charset="0"/>
                <a:cs typeface="Arial" pitchFamily="34" charset="0"/>
              </a:rPr>
              <a:t> lung </a:t>
            </a:r>
            <a:r>
              <a:rPr lang="en-AU" dirty="0" smtClean="0">
                <a:latin typeface="Arial" pitchFamily="34" charset="0"/>
                <a:cs typeface="Arial" pitchFamily="34" charset="0"/>
              </a:rPr>
              <a:t>except at the </a:t>
            </a:r>
            <a:r>
              <a:rPr lang="en-AU" b="1" dirty="0" smtClean="0">
                <a:latin typeface="Arial" pitchFamily="34" charset="0"/>
                <a:cs typeface="Arial" pitchFamily="34" charset="0"/>
              </a:rPr>
              <a:t>hilum </a:t>
            </a:r>
            <a:r>
              <a:rPr lang="en-AU" dirty="0" smtClean="0">
                <a:latin typeface="Arial" pitchFamily="34" charset="0"/>
                <a:cs typeface="Arial" pitchFamily="34" charset="0"/>
              </a:rPr>
              <a:t>and along the </a:t>
            </a:r>
            <a:r>
              <a:rPr lang="en-AU" b="1" dirty="0" smtClean="0">
                <a:latin typeface="Arial" pitchFamily="34" charset="0"/>
                <a:cs typeface="Arial" pitchFamily="34" charset="0"/>
              </a:rPr>
              <a:t>attachment</a:t>
            </a:r>
            <a:r>
              <a:rPr lang="en-AU" dirty="0" smtClean="0">
                <a:latin typeface="Arial" pitchFamily="34" charset="0"/>
                <a:cs typeface="Arial" pitchFamily="34" charset="0"/>
              </a:rPr>
              <a:t> of the </a:t>
            </a:r>
            <a:r>
              <a:rPr lang="en-AU" b="1" dirty="0" smtClean="0">
                <a:latin typeface="Arial" pitchFamily="34" charset="0"/>
                <a:cs typeface="Arial" pitchFamily="34" charset="0"/>
              </a:rPr>
              <a:t>pulmonary ligament</a:t>
            </a:r>
            <a:r>
              <a:rPr lang="en-AU" dirty="0" smtClean="0">
                <a:latin typeface="Arial" pitchFamily="34" charset="0"/>
                <a:cs typeface="Arial" pitchFamily="34" charset="0"/>
              </a:rPr>
              <a:t>. It also </a:t>
            </a:r>
            <a:r>
              <a:rPr lang="en-AU" b="1" dirty="0" smtClean="0">
                <a:latin typeface="Arial" pitchFamily="34" charset="0"/>
                <a:cs typeface="Arial" pitchFamily="34" charset="0"/>
              </a:rPr>
              <a:t>extends</a:t>
            </a:r>
            <a:r>
              <a:rPr lang="en-AU" dirty="0" smtClean="0">
                <a:latin typeface="Arial" pitchFamily="34" charset="0"/>
                <a:cs typeface="Arial" pitchFamily="34" charset="0"/>
              </a:rPr>
              <a:t> into the </a:t>
            </a:r>
            <a:r>
              <a:rPr lang="en-AU" b="1" dirty="0" smtClean="0">
                <a:latin typeface="Arial" pitchFamily="34" charset="0"/>
                <a:cs typeface="Arial" pitchFamily="34" charset="0"/>
              </a:rPr>
              <a:t>depths</a:t>
            </a:r>
            <a:r>
              <a:rPr lang="en-AU" dirty="0" smtClean="0">
                <a:latin typeface="Arial" pitchFamily="34" charset="0"/>
                <a:cs typeface="Arial" pitchFamily="34" charset="0"/>
              </a:rPr>
              <a:t> of the </a:t>
            </a:r>
            <a:r>
              <a:rPr lang="en-AU" b="1" dirty="0" smtClean="0">
                <a:latin typeface="Arial" pitchFamily="34" charset="0"/>
                <a:cs typeface="Arial" pitchFamily="34" charset="0"/>
              </a:rPr>
              <a:t>fissures of the lungs</a:t>
            </a:r>
            <a:r>
              <a:rPr lang="en-AU" dirty="0" smtClean="0">
                <a:latin typeface="Arial" pitchFamily="34" charset="0"/>
                <a:cs typeface="Arial" pitchFamily="34" charset="0"/>
              </a:rPr>
              <a:t>. It </a:t>
            </a:r>
            <a:r>
              <a:rPr lang="en-AU" b="1" dirty="0" smtClean="0">
                <a:latin typeface="Arial" pitchFamily="34" charset="0"/>
                <a:cs typeface="Arial" pitchFamily="34" charset="0"/>
              </a:rPr>
              <a:t>extends</a:t>
            </a:r>
            <a:r>
              <a:rPr lang="en-AU" dirty="0" smtClean="0">
                <a:latin typeface="Arial" pitchFamily="34" charset="0"/>
                <a:cs typeface="Arial" pitchFamily="34" charset="0"/>
              </a:rPr>
              <a:t> into the </a:t>
            </a:r>
            <a:r>
              <a:rPr lang="en-AU" b="1" dirty="0" smtClean="0">
                <a:latin typeface="Arial" pitchFamily="34" charset="0"/>
                <a:cs typeface="Arial" pitchFamily="34" charset="0"/>
              </a:rPr>
              <a:t>depths </a:t>
            </a:r>
            <a:r>
              <a:rPr lang="en-AU" dirty="0" smtClean="0">
                <a:latin typeface="Arial" pitchFamily="34" charset="0"/>
                <a:cs typeface="Arial" pitchFamily="34" charset="0"/>
              </a:rPr>
              <a:t>of the </a:t>
            </a:r>
            <a:r>
              <a:rPr lang="en-AU" b="1" dirty="0" smtClean="0">
                <a:latin typeface="Arial" pitchFamily="34" charset="0"/>
                <a:cs typeface="Arial" pitchFamily="34" charset="0"/>
              </a:rPr>
              <a:t>interlobar clefts </a:t>
            </a:r>
            <a:r>
              <a:rPr lang="en-AU" dirty="0" smtClean="0">
                <a:latin typeface="Arial" pitchFamily="34" charset="0"/>
                <a:cs typeface="Arial" pitchFamily="34" charset="0"/>
              </a:rPr>
              <a:t>and is </a:t>
            </a:r>
            <a:r>
              <a:rPr lang="en-AU" b="1" dirty="0" smtClean="0">
                <a:latin typeface="Arial" pitchFamily="34" charset="0"/>
                <a:cs typeface="Arial" pitchFamily="34" charset="0"/>
              </a:rPr>
              <a:t>firmly adherent </a:t>
            </a:r>
            <a:r>
              <a:rPr lang="en-AU" dirty="0" smtClean="0">
                <a:latin typeface="Arial" pitchFamily="34" charset="0"/>
                <a:cs typeface="Arial" pitchFamily="34" charset="0"/>
              </a:rPr>
              <a:t>to the </a:t>
            </a:r>
            <a:r>
              <a:rPr lang="en-AU" b="1" dirty="0" smtClean="0">
                <a:latin typeface="Arial" pitchFamily="34" charset="0"/>
                <a:cs typeface="Arial" pitchFamily="34" charset="0"/>
              </a:rPr>
              <a:t>lung surface </a:t>
            </a:r>
            <a:r>
              <a:rPr lang="en-AU" dirty="0" smtClean="0">
                <a:latin typeface="Arial" pitchFamily="34" charset="0"/>
                <a:cs typeface="Arial" pitchFamily="34" charset="0"/>
              </a:rPr>
              <a:t>and </a:t>
            </a:r>
            <a:r>
              <a:rPr lang="en-AU" b="1" dirty="0" smtClean="0">
                <a:latin typeface="Arial" pitchFamily="34" charset="0"/>
                <a:cs typeface="Arial" pitchFamily="34" charset="0"/>
              </a:rPr>
              <a:t>cannot</a:t>
            </a:r>
            <a:r>
              <a:rPr lang="en-AU" dirty="0" smtClean="0">
                <a:latin typeface="Arial" pitchFamily="34" charset="0"/>
                <a:cs typeface="Arial" pitchFamily="34" charset="0"/>
              </a:rPr>
              <a:t> be </a:t>
            </a:r>
            <a:r>
              <a:rPr lang="en-AU" b="1" dirty="0" smtClean="0">
                <a:latin typeface="Arial" pitchFamily="34" charset="0"/>
                <a:cs typeface="Arial" pitchFamily="34" charset="0"/>
              </a:rPr>
              <a:t>separated</a:t>
            </a:r>
            <a:r>
              <a:rPr lang="en-AU" dirty="0" smtClean="0">
                <a:latin typeface="Arial" pitchFamily="34" charset="0"/>
                <a:cs typeface="Arial" pitchFamily="34" charset="0"/>
              </a:rPr>
              <a:t> from </a:t>
            </a:r>
            <a:r>
              <a:rPr lang="en-AU" b="1" dirty="0" smtClean="0">
                <a:latin typeface="Arial" pitchFamily="34" charset="0"/>
                <a:cs typeface="Arial" pitchFamily="34" charset="0"/>
              </a:rPr>
              <a:t>it</a:t>
            </a:r>
            <a:r>
              <a:rPr lang="en-AU" dirty="0" smtClean="0">
                <a:latin typeface="Arial" pitchFamily="34" charset="0"/>
                <a:cs typeface="Arial" pitchFamily="34" charset="0"/>
              </a:rPr>
              <a:t>. The </a:t>
            </a:r>
            <a:r>
              <a:rPr lang="en-AU" b="1" dirty="0" smtClean="0">
                <a:latin typeface="Arial" pitchFamily="34" charset="0"/>
                <a:cs typeface="Arial" pitchFamily="34" charset="0"/>
              </a:rPr>
              <a:t>pleura cavity </a:t>
            </a:r>
            <a:r>
              <a:rPr lang="en-AU" dirty="0" smtClean="0">
                <a:latin typeface="Arial" pitchFamily="34" charset="0"/>
                <a:cs typeface="Arial" pitchFamily="34" charset="0"/>
              </a:rPr>
              <a:t>is a completely </a:t>
            </a:r>
            <a:r>
              <a:rPr lang="en-AU" b="1" dirty="0" smtClean="0">
                <a:latin typeface="Arial" pitchFamily="34" charset="0"/>
                <a:cs typeface="Arial" pitchFamily="34" charset="0"/>
              </a:rPr>
              <a:t>closed space</a:t>
            </a:r>
            <a:r>
              <a:rPr lang="en-AU" dirty="0" smtClean="0">
                <a:latin typeface="Arial" pitchFamily="34" charset="0"/>
                <a:cs typeface="Arial" pitchFamily="34" charset="0"/>
              </a:rPr>
              <a:t>. The </a:t>
            </a:r>
            <a:r>
              <a:rPr lang="en-AU" b="1" dirty="0" smtClean="0">
                <a:latin typeface="Arial" pitchFamily="34" charset="0"/>
                <a:cs typeface="Arial" pitchFamily="34" charset="0"/>
              </a:rPr>
              <a:t>visceral pleura </a:t>
            </a:r>
            <a:r>
              <a:rPr lang="en-AU" dirty="0" smtClean="0">
                <a:latin typeface="Arial" pitchFamily="34" charset="0"/>
                <a:cs typeface="Arial" pitchFamily="34" charset="0"/>
              </a:rPr>
              <a:t>on the </a:t>
            </a:r>
            <a:r>
              <a:rPr lang="en-AU" b="1" dirty="0" smtClean="0">
                <a:latin typeface="Arial" pitchFamily="34" charset="0"/>
                <a:cs typeface="Arial" pitchFamily="34" charset="0"/>
              </a:rPr>
              <a:t>lung surface </a:t>
            </a:r>
            <a:r>
              <a:rPr lang="en-AU" dirty="0" smtClean="0">
                <a:latin typeface="Arial" pitchFamily="34" charset="0"/>
                <a:cs typeface="Arial" pitchFamily="34" charset="0"/>
              </a:rPr>
              <a:t>is in </a:t>
            </a:r>
            <a:r>
              <a:rPr lang="en-AU" b="1" dirty="0" smtClean="0">
                <a:latin typeface="Arial" pitchFamily="34" charset="0"/>
                <a:cs typeface="Arial" pitchFamily="34" charset="0"/>
              </a:rPr>
              <a:t>contact</a:t>
            </a:r>
            <a:r>
              <a:rPr lang="en-AU" dirty="0" smtClean="0">
                <a:latin typeface="Arial" pitchFamily="34" charset="0"/>
                <a:cs typeface="Arial" pitchFamily="34" charset="0"/>
              </a:rPr>
              <a:t> with the </a:t>
            </a:r>
            <a:r>
              <a:rPr lang="en-AU" b="1" dirty="0" smtClean="0">
                <a:latin typeface="Arial" pitchFamily="34" charset="0"/>
                <a:cs typeface="Arial" pitchFamily="34" charset="0"/>
              </a:rPr>
              <a:t>parietal pleura</a:t>
            </a:r>
            <a:r>
              <a:rPr lang="en-AU" dirty="0" smtClean="0">
                <a:latin typeface="Arial" pitchFamily="34" charset="0"/>
                <a:cs typeface="Arial" pitchFamily="34" charset="0"/>
              </a:rPr>
              <a:t>.</a:t>
            </a:r>
            <a:endParaRPr lang="en-US"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8B1A3310-08A0-497E-A7E0-07BF4EF4A19E}" type="slidenum">
              <a:rPr lang="en-US" smtClean="0"/>
              <a:pPr/>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2"/>
          <a:srcRect/>
          <a:stretch>
            <a:fillRect/>
          </a:stretch>
        </p:blipFill>
        <p:spPr bwMode="auto">
          <a:xfrm>
            <a:off x="1285852" y="1500174"/>
            <a:ext cx="6357982" cy="4929222"/>
          </a:xfrm>
          <a:prstGeom prst="rect">
            <a:avLst/>
          </a:prstGeom>
          <a:noFill/>
          <a:ln w="9525">
            <a:noFill/>
            <a:miter lim="800000"/>
            <a:headEnd/>
            <a:tailEnd/>
          </a:ln>
          <a:effectLst/>
        </p:spPr>
      </p:pic>
      <p:sp>
        <p:nvSpPr>
          <p:cNvPr id="5" name="Slide Number Placeholder 4"/>
          <p:cNvSpPr>
            <a:spLocks noGrp="1"/>
          </p:cNvSpPr>
          <p:nvPr>
            <p:ph type="sldNum" sz="quarter" idx="12"/>
          </p:nvPr>
        </p:nvSpPr>
        <p:spPr/>
        <p:txBody>
          <a:bodyPr/>
          <a:lstStyle/>
          <a:p>
            <a:fld id="{8B1A3310-08A0-497E-A7E0-07BF4EF4A19E}" type="slidenum">
              <a:rPr lang="en-US" smtClean="0"/>
              <a:pPr/>
              <a:t>74</a:t>
            </a:fld>
            <a:endParaRPr lang="en-US" dirty="0"/>
          </a:p>
        </p:txBody>
      </p:sp>
      <p:sp>
        <p:nvSpPr>
          <p:cNvPr id="4" name="TextBox 3"/>
          <p:cNvSpPr txBox="1"/>
          <p:nvPr/>
        </p:nvSpPr>
        <p:spPr>
          <a:xfrm>
            <a:off x="3571868" y="571480"/>
            <a:ext cx="2151551" cy="1046440"/>
          </a:xfrm>
          <a:prstGeom prst="rect">
            <a:avLst/>
          </a:prstGeom>
          <a:noFill/>
        </p:spPr>
        <p:txBody>
          <a:bodyPr wrap="square" rtlCol="0">
            <a:spAutoFit/>
          </a:bodyPr>
          <a:lstStyle/>
          <a:p>
            <a:r>
              <a:rPr lang="en-AU" sz="4400" dirty="0" smtClean="0">
                <a:latin typeface="Arial Black" pitchFamily="34" charset="0"/>
              </a:rPr>
              <a:t>Cont’d</a:t>
            </a:r>
            <a:endParaRPr lang="en-US" sz="4400" dirty="0" smtClean="0">
              <a:latin typeface="Arial Black" pitchFamily="34" charset="0"/>
            </a:endParaRPr>
          </a:p>
          <a:p>
            <a:endParaRPr lang="en-US"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Arial Black" pitchFamily="34" charset="0"/>
              </a:rPr>
              <a:t>Parietal Pleura</a:t>
            </a:r>
            <a:endParaRPr lang="en-US" dirty="0">
              <a:latin typeface="Arial Black" pitchFamily="34" charset="0"/>
            </a:endParaRPr>
          </a:p>
        </p:txBody>
      </p:sp>
      <p:sp>
        <p:nvSpPr>
          <p:cNvPr id="3" name="Content Placeholder 2"/>
          <p:cNvSpPr>
            <a:spLocks noGrp="1"/>
          </p:cNvSpPr>
          <p:nvPr>
            <p:ph idx="1"/>
          </p:nvPr>
        </p:nvSpPr>
        <p:spPr>
          <a:xfrm>
            <a:off x="285720" y="1214422"/>
            <a:ext cx="8401080" cy="5286412"/>
          </a:xfrm>
        </p:spPr>
        <p:txBody>
          <a:bodyPr>
            <a:normAutofit/>
          </a:bodyPr>
          <a:lstStyle/>
          <a:p>
            <a:pPr algn="just"/>
            <a:r>
              <a:rPr lang="en-AU" dirty="0" smtClean="0">
                <a:latin typeface="Arial" pitchFamily="34" charset="0"/>
                <a:cs typeface="Arial" pitchFamily="34" charset="0"/>
              </a:rPr>
              <a:t>The </a:t>
            </a:r>
            <a:r>
              <a:rPr lang="en-AU" b="1" dirty="0" smtClean="0">
                <a:latin typeface="Arial" pitchFamily="34" charset="0"/>
                <a:cs typeface="Arial" pitchFamily="34" charset="0"/>
              </a:rPr>
              <a:t>parietal pleura </a:t>
            </a:r>
            <a:r>
              <a:rPr lang="en-AU" dirty="0" smtClean="0">
                <a:latin typeface="Arial" pitchFamily="34" charset="0"/>
                <a:cs typeface="Arial" pitchFamily="34" charset="0"/>
              </a:rPr>
              <a:t>is </a:t>
            </a:r>
            <a:r>
              <a:rPr lang="en-AU" b="1" dirty="0" smtClean="0">
                <a:latin typeface="Arial" pitchFamily="34" charset="0"/>
                <a:cs typeface="Arial" pitchFamily="34" charset="0"/>
              </a:rPr>
              <a:t>thicker</a:t>
            </a:r>
            <a:r>
              <a:rPr lang="en-AU" dirty="0" smtClean="0">
                <a:latin typeface="Arial" pitchFamily="34" charset="0"/>
                <a:cs typeface="Arial" pitchFamily="34" charset="0"/>
              </a:rPr>
              <a:t> than the </a:t>
            </a:r>
            <a:r>
              <a:rPr lang="en-AU" b="1" dirty="0" smtClean="0">
                <a:latin typeface="Arial" pitchFamily="34" charset="0"/>
                <a:cs typeface="Arial" pitchFamily="34" charset="0"/>
              </a:rPr>
              <a:t>visceral pleura </a:t>
            </a:r>
            <a:r>
              <a:rPr lang="en-AU" dirty="0" smtClean="0">
                <a:latin typeface="Arial" pitchFamily="34" charset="0"/>
                <a:cs typeface="Arial" pitchFamily="34" charset="0"/>
              </a:rPr>
              <a:t>and </a:t>
            </a:r>
            <a:r>
              <a:rPr lang="en-AU" b="1" dirty="0" smtClean="0">
                <a:latin typeface="Arial" pitchFamily="34" charset="0"/>
                <a:cs typeface="Arial" pitchFamily="34" charset="0"/>
              </a:rPr>
              <a:t>lines </a:t>
            </a:r>
            <a:r>
              <a:rPr lang="en-AU" dirty="0" smtClean="0">
                <a:latin typeface="Arial" pitchFamily="34" charset="0"/>
                <a:cs typeface="Arial" pitchFamily="34" charset="0"/>
              </a:rPr>
              <a:t>the </a:t>
            </a:r>
            <a:r>
              <a:rPr lang="en-AU" b="1" dirty="0" smtClean="0">
                <a:latin typeface="Arial" pitchFamily="34" charset="0"/>
                <a:cs typeface="Arial" pitchFamily="34" charset="0"/>
              </a:rPr>
              <a:t>walls</a:t>
            </a:r>
            <a:r>
              <a:rPr lang="en-AU" dirty="0" smtClean="0">
                <a:latin typeface="Arial" pitchFamily="34" charset="0"/>
                <a:cs typeface="Arial" pitchFamily="34" charset="0"/>
              </a:rPr>
              <a:t> of the </a:t>
            </a:r>
            <a:r>
              <a:rPr lang="en-AU" b="1" dirty="0" smtClean="0">
                <a:latin typeface="Arial" pitchFamily="34" charset="0"/>
                <a:cs typeface="Arial" pitchFamily="34" charset="0"/>
              </a:rPr>
              <a:t>pulmonary cavity</a:t>
            </a:r>
            <a:r>
              <a:rPr lang="en-AU" dirty="0" smtClean="0">
                <a:latin typeface="Arial" pitchFamily="34" charset="0"/>
                <a:cs typeface="Arial" pitchFamily="34" charset="0"/>
              </a:rPr>
              <a:t>.</a:t>
            </a:r>
          </a:p>
          <a:p>
            <a:pPr algn="just">
              <a:buFont typeface="Wingdings" pitchFamily="2" charset="2"/>
              <a:buChar char="§"/>
            </a:pPr>
            <a:r>
              <a:rPr lang="en-US" b="1" dirty="0" smtClean="0">
                <a:latin typeface="Arial" pitchFamily="34" charset="0"/>
                <a:cs typeface="Arial" pitchFamily="34" charset="0"/>
              </a:rPr>
              <a:t>Subdivisions</a:t>
            </a:r>
          </a:p>
          <a:p>
            <a:pPr algn="just"/>
            <a:r>
              <a:rPr lang="en-AU" b="1" dirty="0">
                <a:latin typeface="Arial" pitchFamily="34" charset="0"/>
                <a:cs typeface="Arial" pitchFamily="34" charset="0"/>
              </a:rPr>
              <a:t>P</a:t>
            </a:r>
            <a:r>
              <a:rPr lang="en-AU" b="1" dirty="0" smtClean="0">
                <a:latin typeface="Arial" pitchFamily="34" charset="0"/>
                <a:cs typeface="Arial" pitchFamily="34" charset="0"/>
              </a:rPr>
              <a:t>arietal pleura</a:t>
            </a:r>
            <a:r>
              <a:rPr lang="en-AU" dirty="0" smtClean="0">
                <a:latin typeface="Arial" pitchFamily="34" charset="0"/>
                <a:cs typeface="Arial" pitchFamily="34" charset="0"/>
              </a:rPr>
              <a:t>, which it lines, according to the</a:t>
            </a:r>
            <a:r>
              <a:rPr lang="en-AU" b="1" dirty="0" smtClean="0">
                <a:latin typeface="Arial" pitchFamily="34" charset="0"/>
                <a:cs typeface="Arial" pitchFamily="34" charset="0"/>
              </a:rPr>
              <a:t> surface</a:t>
            </a:r>
            <a:r>
              <a:rPr lang="en-AU" dirty="0" smtClean="0">
                <a:latin typeface="Arial" pitchFamily="34" charset="0"/>
                <a:cs typeface="Arial" pitchFamily="34" charset="0"/>
              </a:rPr>
              <a:t>, </a:t>
            </a:r>
            <a:r>
              <a:rPr lang="en-AU" b="1" dirty="0" smtClean="0">
                <a:latin typeface="Arial" pitchFamily="34" charset="0"/>
                <a:cs typeface="Arial" pitchFamily="34" charset="0"/>
              </a:rPr>
              <a:t>covers</a:t>
            </a:r>
            <a:r>
              <a:rPr lang="en-AU" dirty="0" smtClean="0">
                <a:latin typeface="Arial" pitchFamily="34" charset="0"/>
                <a:cs typeface="Arial" pitchFamily="34" charset="0"/>
              </a:rPr>
              <a:t> or the</a:t>
            </a:r>
            <a:r>
              <a:rPr lang="en-AU" b="1" dirty="0" smtClean="0">
                <a:latin typeface="Arial" pitchFamily="34" charset="0"/>
                <a:cs typeface="Arial" pitchFamily="34" charset="0"/>
              </a:rPr>
              <a:t> region </a:t>
            </a:r>
            <a:r>
              <a:rPr lang="en-AU" dirty="0" smtClean="0">
                <a:latin typeface="Arial" pitchFamily="34" charset="0"/>
                <a:cs typeface="Arial" pitchFamily="34" charset="0"/>
              </a:rPr>
              <a:t>in </a:t>
            </a:r>
            <a:r>
              <a:rPr lang="en-AU" b="1" dirty="0" smtClean="0">
                <a:latin typeface="Arial" pitchFamily="34" charset="0"/>
                <a:cs typeface="Arial" pitchFamily="34" charset="0"/>
              </a:rPr>
              <a:t>which</a:t>
            </a:r>
            <a:r>
              <a:rPr lang="en-AU" dirty="0" smtClean="0">
                <a:latin typeface="Arial" pitchFamily="34" charset="0"/>
                <a:cs typeface="Arial" pitchFamily="34" charset="0"/>
              </a:rPr>
              <a:t> it lies. Thus </a:t>
            </a:r>
            <a:r>
              <a:rPr lang="en-AU" b="1" dirty="0" smtClean="0">
                <a:latin typeface="Arial" pitchFamily="34" charset="0"/>
                <a:cs typeface="Arial" pitchFamily="34" charset="0"/>
              </a:rPr>
              <a:t>parietal pleura </a:t>
            </a:r>
            <a:r>
              <a:rPr lang="en-AU" dirty="0" smtClean="0">
                <a:latin typeface="Arial" pitchFamily="34" charset="0"/>
                <a:cs typeface="Arial" pitchFamily="34" charset="0"/>
              </a:rPr>
              <a:t>is </a:t>
            </a:r>
            <a:r>
              <a:rPr lang="en-AU" b="1" dirty="0" smtClean="0">
                <a:latin typeface="Arial" pitchFamily="34" charset="0"/>
                <a:cs typeface="Arial" pitchFamily="34" charset="0"/>
              </a:rPr>
              <a:t>divided</a:t>
            </a:r>
            <a:r>
              <a:rPr lang="en-AU" dirty="0" smtClean="0">
                <a:latin typeface="Arial" pitchFamily="34" charset="0"/>
                <a:cs typeface="Arial" pitchFamily="34" charset="0"/>
              </a:rPr>
              <a:t> into the following </a:t>
            </a:r>
            <a:r>
              <a:rPr lang="en-AU" b="1" dirty="0" smtClean="0">
                <a:latin typeface="Arial" pitchFamily="34" charset="0"/>
                <a:cs typeface="Arial" pitchFamily="34" charset="0"/>
              </a:rPr>
              <a:t>four parts</a:t>
            </a:r>
            <a:r>
              <a:rPr lang="en-AU" dirty="0" smtClean="0">
                <a:latin typeface="Arial" pitchFamily="34" charset="0"/>
                <a:cs typeface="Arial" pitchFamily="34" charset="0"/>
              </a:rPr>
              <a:t>: 1, </a:t>
            </a:r>
            <a:r>
              <a:rPr lang="en-AU" b="1" dirty="0" smtClean="0">
                <a:latin typeface="Arial" pitchFamily="34" charset="0"/>
                <a:cs typeface="Arial" pitchFamily="34" charset="0"/>
              </a:rPr>
              <a:t>Costal pleura</a:t>
            </a:r>
            <a:r>
              <a:rPr lang="en-AU" dirty="0" smtClean="0">
                <a:latin typeface="Arial" pitchFamily="34" charset="0"/>
                <a:cs typeface="Arial" pitchFamily="34" charset="0"/>
              </a:rPr>
              <a:t>; 2, </a:t>
            </a:r>
            <a:r>
              <a:rPr lang="en-AU" b="1" dirty="0" smtClean="0">
                <a:latin typeface="Arial" pitchFamily="34" charset="0"/>
                <a:cs typeface="Arial" pitchFamily="34" charset="0"/>
              </a:rPr>
              <a:t>Diaphragmatic pleura</a:t>
            </a:r>
            <a:r>
              <a:rPr lang="en-AU" dirty="0" smtClean="0">
                <a:latin typeface="Arial" pitchFamily="34" charset="0"/>
                <a:cs typeface="Arial" pitchFamily="34" charset="0"/>
              </a:rPr>
              <a:t>; 3</a:t>
            </a:r>
            <a:r>
              <a:rPr lang="en-AU" dirty="0">
                <a:latin typeface="Arial" pitchFamily="34" charset="0"/>
                <a:cs typeface="Arial" pitchFamily="34" charset="0"/>
              </a:rPr>
              <a:t>,</a:t>
            </a:r>
            <a:r>
              <a:rPr lang="en-AU" dirty="0" smtClean="0">
                <a:latin typeface="Arial" pitchFamily="34" charset="0"/>
                <a:cs typeface="Arial" pitchFamily="34" charset="0"/>
              </a:rPr>
              <a:t> </a:t>
            </a:r>
            <a:r>
              <a:rPr lang="en-AU" b="1" dirty="0" smtClean="0">
                <a:latin typeface="Arial" pitchFamily="34" charset="0"/>
                <a:cs typeface="Arial" pitchFamily="34" charset="0"/>
              </a:rPr>
              <a:t>Mediastinal pleura</a:t>
            </a:r>
            <a:r>
              <a:rPr lang="en-AU" dirty="0" smtClean="0">
                <a:latin typeface="Arial" pitchFamily="34" charset="0"/>
                <a:cs typeface="Arial" pitchFamily="34" charset="0"/>
              </a:rPr>
              <a:t>; 4, </a:t>
            </a:r>
            <a:r>
              <a:rPr lang="en-AU" b="1" dirty="0" smtClean="0">
                <a:latin typeface="Arial" pitchFamily="34" charset="0"/>
                <a:cs typeface="Arial" pitchFamily="34" charset="0"/>
              </a:rPr>
              <a:t>Cervical pleura</a:t>
            </a:r>
            <a:r>
              <a:rPr lang="en-AU" dirty="0" smtClean="0">
                <a:latin typeface="Arial" pitchFamily="34" charset="0"/>
                <a:cs typeface="Arial" pitchFamily="34" charset="0"/>
              </a:rPr>
              <a:t>.</a:t>
            </a:r>
            <a:endParaRPr lang="en-US"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8B1A3310-08A0-497E-A7E0-07BF4EF4A19E}" type="slidenum">
              <a:rPr lang="en-US" smtClean="0"/>
              <a:pPr/>
              <a:t>75</a:t>
            </a:fld>
            <a:endParaRPr lang="en-US"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071678"/>
            <a:ext cx="8229600" cy="4054485"/>
          </a:xfrm>
        </p:spPr>
        <p:txBody>
          <a:bodyPr>
            <a:normAutofit/>
          </a:bodyPr>
          <a:lstStyle/>
          <a:p>
            <a:pPr algn="just"/>
            <a:r>
              <a:rPr lang="en-AU" b="1" dirty="0" smtClean="0">
                <a:latin typeface="Arial" pitchFamily="34" charset="0"/>
                <a:cs typeface="Arial" pitchFamily="34" charset="0"/>
              </a:rPr>
              <a:t>Costal pleura</a:t>
            </a:r>
            <a:r>
              <a:rPr lang="en-AU" dirty="0" smtClean="0">
                <a:latin typeface="Arial" pitchFamily="34" charset="0"/>
                <a:cs typeface="Arial" pitchFamily="34" charset="0"/>
              </a:rPr>
              <a:t>: It </a:t>
            </a:r>
            <a:r>
              <a:rPr lang="en-AU" b="1" dirty="0" smtClean="0">
                <a:latin typeface="Arial" pitchFamily="34" charset="0"/>
                <a:cs typeface="Arial" pitchFamily="34" charset="0"/>
              </a:rPr>
              <a:t>lines</a:t>
            </a:r>
            <a:r>
              <a:rPr lang="en-AU" dirty="0" smtClean="0">
                <a:latin typeface="Arial" pitchFamily="34" charset="0"/>
                <a:cs typeface="Arial" pitchFamily="34" charset="0"/>
              </a:rPr>
              <a:t> the </a:t>
            </a:r>
            <a:r>
              <a:rPr lang="en-AU" b="1" dirty="0" smtClean="0">
                <a:latin typeface="Arial" pitchFamily="34" charset="0"/>
                <a:cs typeface="Arial" pitchFamily="34" charset="0"/>
              </a:rPr>
              <a:t>inner surface </a:t>
            </a:r>
            <a:r>
              <a:rPr lang="en-AU" dirty="0" smtClean="0">
                <a:latin typeface="Arial" pitchFamily="34" charset="0"/>
                <a:cs typeface="Arial" pitchFamily="34" charset="0"/>
              </a:rPr>
              <a:t>of the </a:t>
            </a:r>
            <a:r>
              <a:rPr lang="en-AU" b="1" dirty="0" smtClean="0">
                <a:latin typeface="Arial" pitchFamily="34" charset="0"/>
                <a:cs typeface="Arial" pitchFamily="34" charset="0"/>
              </a:rPr>
              <a:t>thoracic wall </a:t>
            </a:r>
            <a:r>
              <a:rPr lang="en-AU" dirty="0" smtClean="0">
                <a:latin typeface="Arial" pitchFamily="34" charset="0"/>
                <a:cs typeface="Arial" pitchFamily="34" charset="0"/>
              </a:rPr>
              <a:t>(consisting of </a:t>
            </a:r>
            <a:r>
              <a:rPr lang="en-AU" b="1" dirty="0" smtClean="0">
                <a:latin typeface="Arial" pitchFamily="34" charset="0"/>
                <a:cs typeface="Arial" pitchFamily="34" charset="0"/>
              </a:rPr>
              <a:t>ribs</a:t>
            </a:r>
            <a:r>
              <a:rPr lang="en-AU" dirty="0" smtClean="0">
                <a:latin typeface="Arial" pitchFamily="34" charset="0"/>
                <a:cs typeface="Arial" pitchFamily="34" charset="0"/>
              </a:rPr>
              <a:t>, </a:t>
            </a:r>
            <a:r>
              <a:rPr lang="en-AU" b="1" dirty="0" smtClean="0">
                <a:latin typeface="Arial" pitchFamily="34" charset="0"/>
                <a:cs typeface="Arial" pitchFamily="34" charset="0"/>
              </a:rPr>
              <a:t>costal cartilages</a:t>
            </a:r>
            <a:r>
              <a:rPr lang="en-AU" dirty="0" smtClean="0">
                <a:latin typeface="Arial" pitchFamily="34" charset="0"/>
                <a:cs typeface="Arial" pitchFamily="34" charset="0"/>
              </a:rPr>
              <a:t>, and </a:t>
            </a:r>
            <a:r>
              <a:rPr lang="en-AU" b="1" dirty="0" smtClean="0">
                <a:latin typeface="Arial" pitchFamily="34" charset="0"/>
                <a:cs typeface="Arial" pitchFamily="34" charset="0"/>
              </a:rPr>
              <a:t>intercostal spaces) </a:t>
            </a:r>
            <a:r>
              <a:rPr lang="en-AU" dirty="0" smtClean="0">
                <a:latin typeface="Arial" pitchFamily="34" charset="0"/>
                <a:cs typeface="Arial" pitchFamily="34" charset="0"/>
              </a:rPr>
              <a:t>to which it is </a:t>
            </a:r>
            <a:r>
              <a:rPr lang="en-AU" b="1" dirty="0" smtClean="0">
                <a:latin typeface="Arial" pitchFamily="34" charset="0"/>
                <a:cs typeface="Arial" pitchFamily="34" charset="0"/>
              </a:rPr>
              <a:t>loosely attached </a:t>
            </a:r>
            <a:r>
              <a:rPr lang="en-AU" dirty="0" smtClean="0">
                <a:latin typeface="Arial" pitchFamily="34" charset="0"/>
                <a:cs typeface="Arial" pitchFamily="34" charset="0"/>
              </a:rPr>
              <a:t>by a </a:t>
            </a:r>
            <a:r>
              <a:rPr lang="en-AU" b="1" dirty="0" smtClean="0">
                <a:latin typeface="Arial" pitchFamily="34" charset="0"/>
                <a:cs typeface="Arial" pitchFamily="34" charset="0"/>
              </a:rPr>
              <a:t>thin layer </a:t>
            </a:r>
            <a:r>
              <a:rPr lang="en-AU" dirty="0" smtClean="0">
                <a:latin typeface="Arial" pitchFamily="34" charset="0"/>
                <a:cs typeface="Arial" pitchFamily="34" charset="0"/>
              </a:rPr>
              <a:t>of </a:t>
            </a:r>
            <a:r>
              <a:rPr lang="en-AU" b="1" dirty="0" smtClean="0">
                <a:latin typeface="Arial" pitchFamily="34" charset="0"/>
                <a:cs typeface="Arial" pitchFamily="34" charset="0"/>
              </a:rPr>
              <a:t>loose areolar tissue </a:t>
            </a:r>
            <a:r>
              <a:rPr lang="en-AU" dirty="0" smtClean="0">
                <a:latin typeface="Arial" pitchFamily="34" charset="0"/>
                <a:cs typeface="Arial" pitchFamily="34" charset="0"/>
              </a:rPr>
              <a:t>called  </a:t>
            </a:r>
            <a:r>
              <a:rPr lang="en-AU" b="1" dirty="0" smtClean="0">
                <a:latin typeface="Arial" pitchFamily="34" charset="0"/>
                <a:cs typeface="Arial" pitchFamily="34" charset="0"/>
              </a:rPr>
              <a:t>endothoracic fascia</a:t>
            </a:r>
            <a:r>
              <a:rPr lang="en-AU" dirty="0" smtClean="0">
                <a:latin typeface="Arial" pitchFamily="34" charset="0"/>
                <a:cs typeface="Arial" pitchFamily="34" charset="0"/>
              </a:rPr>
              <a:t>. </a:t>
            </a:r>
            <a:r>
              <a:rPr lang="en-AU" b="1" dirty="0" smtClean="0">
                <a:latin typeface="Arial" pitchFamily="34" charset="0"/>
                <a:cs typeface="Arial" pitchFamily="34" charset="0"/>
              </a:rPr>
              <a:t>In living beings</a:t>
            </a:r>
            <a:r>
              <a:rPr lang="en-AU" dirty="0" smtClean="0">
                <a:latin typeface="Arial" pitchFamily="34" charset="0"/>
                <a:cs typeface="Arial" pitchFamily="34" charset="0"/>
              </a:rPr>
              <a:t>, </a:t>
            </a:r>
            <a:r>
              <a:rPr lang="en-AU" dirty="0" smtClean="0">
                <a:latin typeface="Arial" pitchFamily="34" charset="0"/>
                <a:cs typeface="Arial" pitchFamily="34" charset="0"/>
              </a:rPr>
              <a:t>It is </a:t>
            </a:r>
            <a:r>
              <a:rPr lang="en-AU" dirty="0" smtClean="0">
                <a:latin typeface="Arial" pitchFamily="34" charset="0"/>
                <a:cs typeface="Arial" pitchFamily="34" charset="0"/>
              </a:rPr>
              <a:t>easily </a:t>
            </a:r>
            <a:r>
              <a:rPr lang="en-AU" b="1" dirty="0" smtClean="0">
                <a:latin typeface="Arial" pitchFamily="34" charset="0"/>
                <a:cs typeface="Arial" pitchFamily="34" charset="0"/>
              </a:rPr>
              <a:t>separated</a:t>
            </a:r>
            <a:r>
              <a:rPr lang="en-AU" dirty="0" smtClean="0">
                <a:latin typeface="Arial" pitchFamily="34" charset="0"/>
                <a:cs typeface="Arial" pitchFamily="34" charset="0"/>
              </a:rPr>
              <a:t> from the </a:t>
            </a:r>
            <a:r>
              <a:rPr lang="en-AU" b="1" dirty="0" smtClean="0">
                <a:latin typeface="Arial" pitchFamily="34" charset="0"/>
                <a:cs typeface="Arial" pitchFamily="34" charset="0"/>
              </a:rPr>
              <a:t>thoracic wall</a:t>
            </a:r>
            <a:r>
              <a:rPr lang="en-AU" dirty="0" smtClean="0">
                <a:latin typeface="Arial" pitchFamily="34" charset="0"/>
                <a:cs typeface="Arial" pitchFamily="34" charset="0"/>
              </a:rPr>
              <a:t>.</a:t>
            </a:r>
            <a:endParaRPr lang="en-US"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8B1A3310-08A0-497E-A7E0-07BF4EF4A19E}" type="slidenum">
              <a:rPr lang="en-US" smtClean="0"/>
              <a:pPr/>
              <a:t>76</a:t>
            </a:fld>
            <a:endParaRPr lang="en-US" dirty="0"/>
          </a:p>
        </p:txBody>
      </p:sp>
      <p:sp>
        <p:nvSpPr>
          <p:cNvPr id="5" name="TextBox 4"/>
          <p:cNvSpPr txBox="1"/>
          <p:nvPr/>
        </p:nvSpPr>
        <p:spPr>
          <a:xfrm>
            <a:off x="357158" y="428604"/>
            <a:ext cx="8215370" cy="1446550"/>
          </a:xfrm>
          <a:prstGeom prst="rect">
            <a:avLst/>
          </a:prstGeom>
          <a:noFill/>
        </p:spPr>
        <p:txBody>
          <a:bodyPr wrap="square" rtlCol="0">
            <a:spAutoFit/>
          </a:bodyPr>
          <a:lstStyle/>
          <a:p>
            <a:pPr algn="ctr"/>
            <a:r>
              <a:rPr lang="en-AU" sz="4400" dirty="0" smtClean="0">
                <a:latin typeface="Arial Black" pitchFamily="34" charset="0"/>
              </a:rPr>
              <a:t>Subdivisions of Parietal pleura</a:t>
            </a:r>
            <a:endParaRPr lang="en-US" sz="4400" dirty="0">
              <a:latin typeface="Arial Black" pitchFamily="34" charset="0"/>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85794"/>
            <a:ext cx="8229600" cy="5572164"/>
          </a:xfrm>
        </p:spPr>
        <p:txBody>
          <a:bodyPr>
            <a:normAutofit lnSpcReduction="10000"/>
          </a:bodyPr>
          <a:lstStyle/>
          <a:p>
            <a:pPr algn="just"/>
            <a:r>
              <a:rPr lang="en-AU" b="1" dirty="0" smtClean="0">
                <a:latin typeface="Arial" pitchFamily="34" charset="0"/>
                <a:cs typeface="Arial" pitchFamily="34" charset="0"/>
              </a:rPr>
              <a:t>Diaphragmatic pleura</a:t>
            </a:r>
            <a:r>
              <a:rPr lang="en-AU" dirty="0" smtClean="0">
                <a:latin typeface="Arial" pitchFamily="34" charset="0"/>
                <a:cs typeface="Arial" pitchFamily="34" charset="0"/>
              </a:rPr>
              <a:t>: It </a:t>
            </a:r>
            <a:r>
              <a:rPr lang="en-AU" b="1" dirty="0" smtClean="0">
                <a:latin typeface="Arial" pitchFamily="34" charset="0"/>
                <a:cs typeface="Arial" pitchFamily="34" charset="0"/>
              </a:rPr>
              <a:t>covers</a:t>
            </a:r>
            <a:r>
              <a:rPr lang="en-AU" dirty="0" smtClean="0">
                <a:latin typeface="Arial" pitchFamily="34" charset="0"/>
                <a:cs typeface="Arial" pitchFamily="34" charset="0"/>
              </a:rPr>
              <a:t> the </a:t>
            </a:r>
            <a:r>
              <a:rPr lang="en-AU" b="1" dirty="0" smtClean="0">
                <a:latin typeface="Arial" pitchFamily="34" charset="0"/>
                <a:cs typeface="Arial" pitchFamily="34" charset="0"/>
              </a:rPr>
              <a:t>superior surface </a:t>
            </a:r>
            <a:r>
              <a:rPr lang="en-AU" dirty="0" smtClean="0">
                <a:latin typeface="Arial" pitchFamily="34" charset="0"/>
                <a:cs typeface="Arial" pitchFamily="34" charset="0"/>
              </a:rPr>
              <a:t>of the </a:t>
            </a:r>
            <a:r>
              <a:rPr lang="en-AU" b="1" dirty="0" smtClean="0">
                <a:latin typeface="Arial" pitchFamily="34" charset="0"/>
                <a:cs typeface="Arial" pitchFamily="34" charset="0"/>
              </a:rPr>
              <a:t>diaphragm</a:t>
            </a:r>
            <a:r>
              <a:rPr lang="en-AU" dirty="0" smtClean="0">
                <a:latin typeface="Arial" pitchFamily="34" charset="0"/>
                <a:cs typeface="Arial" pitchFamily="34" charset="0"/>
              </a:rPr>
              <a:t>. In </a:t>
            </a:r>
            <a:r>
              <a:rPr lang="en-AU" b="1" dirty="0" smtClean="0">
                <a:latin typeface="Arial" pitchFamily="34" charset="0"/>
                <a:cs typeface="Arial" pitchFamily="34" charset="0"/>
              </a:rPr>
              <a:t>quiet respiration</a:t>
            </a:r>
            <a:r>
              <a:rPr lang="en-AU" dirty="0" smtClean="0">
                <a:latin typeface="Arial" pitchFamily="34" charset="0"/>
                <a:cs typeface="Arial" pitchFamily="34" charset="0"/>
              </a:rPr>
              <a:t>, the </a:t>
            </a:r>
            <a:r>
              <a:rPr lang="en-AU" b="1" dirty="0" smtClean="0">
                <a:latin typeface="Arial" pitchFamily="34" charset="0"/>
                <a:cs typeface="Arial" pitchFamily="34" charset="0"/>
              </a:rPr>
              <a:t>costal,</a:t>
            </a:r>
            <a:r>
              <a:rPr lang="en-AU" dirty="0" smtClean="0">
                <a:latin typeface="Arial" pitchFamily="34" charset="0"/>
                <a:cs typeface="Arial" pitchFamily="34" charset="0"/>
              </a:rPr>
              <a:t> </a:t>
            </a:r>
            <a:r>
              <a:rPr lang="en-AU" dirty="0" smtClean="0">
                <a:latin typeface="Arial" pitchFamily="34" charset="0"/>
                <a:cs typeface="Arial" pitchFamily="34" charset="0"/>
              </a:rPr>
              <a:t>and </a:t>
            </a:r>
            <a:r>
              <a:rPr lang="en-AU" b="1" dirty="0" smtClean="0">
                <a:latin typeface="Arial" pitchFamily="34" charset="0"/>
                <a:cs typeface="Arial" pitchFamily="34" charset="0"/>
              </a:rPr>
              <a:t>diaphragmatic pleura </a:t>
            </a:r>
            <a:r>
              <a:rPr lang="en-AU" dirty="0" smtClean="0">
                <a:latin typeface="Arial" pitchFamily="34" charset="0"/>
                <a:cs typeface="Arial" pitchFamily="34" charset="0"/>
              </a:rPr>
              <a:t>are in </a:t>
            </a:r>
            <a:r>
              <a:rPr lang="en-AU" b="1" dirty="0" smtClean="0">
                <a:latin typeface="Arial" pitchFamily="34" charset="0"/>
                <a:cs typeface="Arial" pitchFamily="34" charset="0"/>
              </a:rPr>
              <a:t>opposition</a:t>
            </a:r>
            <a:r>
              <a:rPr lang="en-AU" dirty="0" smtClean="0">
                <a:latin typeface="Arial" pitchFamily="34" charset="0"/>
                <a:cs typeface="Arial" pitchFamily="34" charset="0"/>
              </a:rPr>
              <a:t> to </a:t>
            </a:r>
            <a:r>
              <a:rPr lang="en-AU" b="1" dirty="0" smtClean="0">
                <a:latin typeface="Arial" pitchFamily="34" charset="0"/>
                <a:cs typeface="Arial" pitchFamily="34" charset="0"/>
              </a:rPr>
              <a:t>each other </a:t>
            </a:r>
            <a:r>
              <a:rPr lang="en-AU" dirty="0" smtClean="0">
                <a:latin typeface="Arial" pitchFamily="34" charset="0"/>
                <a:cs typeface="Arial" pitchFamily="34" charset="0"/>
              </a:rPr>
              <a:t>below the </a:t>
            </a:r>
            <a:r>
              <a:rPr lang="en-AU" b="1" dirty="0" smtClean="0">
                <a:latin typeface="Arial" pitchFamily="34" charset="0"/>
                <a:cs typeface="Arial" pitchFamily="34" charset="0"/>
              </a:rPr>
              <a:t>inferior border </a:t>
            </a:r>
            <a:r>
              <a:rPr lang="en-AU" dirty="0" smtClean="0">
                <a:latin typeface="Arial" pitchFamily="34" charset="0"/>
                <a:cs typeface="Arial" pitchFamily="34" charset="0"/>
              </a:rPr>
              <a:t>of the </a:t>
            </a:r>
            <a:r>
              <a:rPr lang="en-AU" b="1" dirty="0" smtClean="0">
                <a:latin typeface="Arial" pitchFamily="34" charset="0"/>
                <a:cs typeface="Arial" pitchFamily="34" charset="0"/>
              </a:rPr>
              <a:t>lung</a:t>
            </a:r>
            <a:r>
              <a:rPr lang="en-AU" dirty="0" smtClean="0">
                <a:latin typeface="Arial" pitchFamily="34" charset="0"/>
                <a:cs typeface="Arial" pitchFamily="34" charset="0"/>
              </a:rPr>
              <a:t>.</a:t>
            </a:r>
          </a:p>
          <a:p>
            <a:pPr algn="just"/>
            <a:r>
              <a:rPr lang="en-AU" b="1" dirty="0" smtClean="0">
                <a:latin typeface="Arial" pitchFamily="34" charset="0"/>
                <a:cs typeface="Arial" pitchFamily="34" charset="0"/>
              </a:rPr>
              <a:t>Mediastinal pleura</a:t>
            </a:r>
            <a:r>
              <a:rPr lang="en-AU" dirty="0" smtClean="0">
                <a:latin typeface="Arial" pitchFamily="34" charset="0"/>
                <a:cs typeface="Arial" pitchFamily="34" charset="0"/>
              </a:rPr>
              <a:t>: It </a:t>
            </a:r>
            <a:r>
              <a:rPr lang="en-AU" b="1" dirty="0" smtClean="0">
                <a:latin typeface="Arial" pitchFamily="34" charset="0"/>
                <a:cs typeface="Arial" pitchFamily="34" charset="0"/>
              </a:rPr>
              <a:t>lines</a:t>
            </a:r>
            <a:r>
              <a:rPr lang="en-AU" dirty="0" smtClean="0">
                <a:latin typeface="Arial" pitchFamily="34" charset="0"/>
                <a:cs typeface="Arial" pitchFamily="34" charset="0"/>
              </a:rPr>
              <a:t> the </a:t>
            </a:r>
            <a:r>
              <a:rPr lang="en-AU" b="1" dirty="0" smtClean="0">
                <a:latin typeface="Arial" pitchFamily="34" charset="0"/>
                <a:cs typeface="Arial" pitchFamily="34" charset="0"/>
              </a:rPr>
              <a:t>corresponding surface </a:t>
            </a:r>
            <a:r>
              <a:rPr lang="en-AU" dirty="0" smtClean="0">
                <a:latin typeface="Arial" pitchFamily="34" charset="0"/>
                <a:cs typeface="Arial" pitchFamily="34" charset="0"/>
              </a:rPr>
              <a:t>of the </a:t>
            </a:r>
            <a:r>
              <a:rPr lang="en-AU" b="1" dirty="0" smtClean="0">
                <a:latin typeface="Arial" pitchFamily="34" charset="0"/>
                <a:cs typeface="Arial" pitchFamily="34" charset="0"/>
              </a:rPr>
              <a:t>mediastinum</a:t>
            </a:r>
            <a:r>
              <a:rPr lang="en-AU" dirty="0" smtClean="0">
                <a:latin typeface="Arial" pitchFamily="34" charset="0"/>
                <a:cs typeface="Arial" pitchFamily="34" charset="0"/>
              </a:rPr>
              <a:t> and forms its </a:t>
            </a:r>
            <a:r>
              <a:rPr lang="en-AU" b="1" dirty="0" smtClean="0">
                <a:latin typeface="Arial" pitchFamily="34" charset="0"/>
                <a:cs typeface="Arial" pitchFamily="34" charset="0"/>
              </a:rPr>
              <a:t>lateral boundary</a:t>
            </a:r>
            <a:r>
              <a:rPr lang="en-AU" dirty="0" smtClean="0">
                <a:latin typeface="Arial" pitchFamily="34" charset="0"/>
                <a:cs typeface="Arial" pitchFamily="34" charset="0"/>
              </a:rPr>
              <a:t>. It is </a:t>
            </a:r>
            <a:r>
              <a:rPr lang="en-AU" b="1" dirty="0" smtClean="0">
                <a:latin typeface="Arial" pitchFamily="34" charset="0"/>
                <a:cs typeface="Arial" pitchFamily="34" charset="0"/>
              </a:rPr>
              <a:t>reflected</a:t>
            </a:r>
            <a:r>
              <a:rPr lang="en-AU" dirty="0" smtClean="0">
                <a:latin typeface="Arial" pitchFamily="34" charset="0"/>
                <a:cs typeface="Arial" pitchFamily="34" charset="0"/>
              </a:rPr>
              <a:t> as a </a:t>
            </a:r>
            <a:r>
              <a:rPr lang="en-AU" b="1" dirty="0" smtClean="0">
                <a:latin typeface="Arial" pitchFamily="34" charset="0"/>
                <a:cs typeface="Arial" pitchFamily="34" charset="0"/>
              </a:rPr>
              <a:t>cuff</a:t>
            </a:r>
            <a:r>
              <a:rPr lang="en-AU" dirty="0" smtClean="0">
                <a:latin typeface="Arial" pitchFamily="34" charset="0"/>
                <a:cs typeface="Arial" pitchFamily="34" charset="0"/>
              </a:rPr>
              <a:t> over the </a:t>
            </a:r>
            <a:r>
              <a:rPr lang="en-AU" b="1" dirty="0" smtClean="0">
                <a:latin typeface="Arial" pitchFamily="34" charset="0"/>
                <a:cs typeface="Arial" pitchFamily="34" charset="0"/>
              </a:rPr>
              <a:t>root</a:t>
            </a:r>
            <a:r>
              <a:rPr lang="en-AU" dirty="0" smtClean="0">
                <a:latin typeface="Arial" pitchFamily="34" charset="0"/>
                <a:cs typeface="Arial" pitchFamily="34" charset="0"/>
              </a:rPr>
              <a:t> of the </a:t>
            </a:r>
            <a:r>
              <a:rPr lang="en-AU" b="1" dirty="0" smtClean="0">
                <a:latin typeface="Arial" pitchFamily="34" charset="0"/>
                <a:cs typeface="Arial" pitchFamily="34" charset="0"/>
              </a:rPr>
              <a:t>lung</a:t>
            </a:r>
            <a:r>
              <a:rPr lang="en-AU" dirty="0" smtClean="0">
                <a:latin typeface="Arial" pitchFamily="34" charset="0"/>
                <a:cs typeface="Arial" pitchFamily="34" charset="0"/>
              </a:rPr>
              <a:t> and </a:t>
            </a:r>
            <a:r>
              <a:rPr lang="en-AU" b="1" dirty="0" smtClean="0">
                <a:latin typeface="Arial" pitchFamily="34" charset="0"/>
                <a:cs typeface="Arial" pitchFamily="34" charset="0"/>
              </a:rPr>
              <a:t>becomes</a:t>
            </a:r>
            <a:r>
              <a:rPr lang="en-AU" dirty="0" smtClean="0">
                <a:latin typeface="Arial" pitchFamily="34" charset="0"/>
                <a:cs typeface="Arial" pitchFamily="34" charset="0"/>
              </a:rPr>
              <a:t> </a:t>
            </a:r>
            <a:r>
              <a:rPr lang="en-AU" b="1" dirty="0" smtClean="0">
                <a:latin typeface="Arial" pitchFamily="34" charset="0"/>
                <a:cs typeface="Arial" pitchFamily="34" charset="0"/>
              </a:rPr>
              <a:t>continuous</a:t>
            </a:r>
            <a:r>
              <a:rPr lang="en-AU" dirty="0" smtClean="0">
                <a:latin typeface="Arial" pitchFamily="34" charset="0"/>
                <a:cs typeface="Arial" pitchFamily="34" charset="0"/>
              </a:rPr>
              <a:t> with the </a:t>
            </a:r>
            <a:r>
              <a:rPr lang="en-AU" b="1" dirty="0" smtClean="0">
                <a:latin typeface="Arial" pitchFamily="34" charset="0"/>
                <a:cs typeface="Arial" pitchFamily="34" charset="0"/>
              </a:rPr>
              <a:t>visceral pleura</a:t>
            </a:r>
            <a:r>
              <a:rPr lang="en-AU" dirty="0" smtClean="0">
                <a:latin typeface="Arial" pitchFamily="34" charset="0"/>
                <a:cs typeface="Arial" pitchFamily="34" charset="0"/>
              </a:rPr>
              <a:t>.</a:t>
            </a:r>
            <a:endParaRPr lang="en-US"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8B1A3310-08A0-497E-A7E0-07BF4EF4A19E}" type="slidenum">
              <a:rPr lang="en-US" smtClean="0"/>
              <a:pPr/>
              <a:t>77</a:t>
            </a:fld>
            <a:endParaRPr lang="en-US" dirty="0"/>
          </a:p>
        </p:txBody>
      </p:sp>
      <p:sp>
        <p:nvSpPr>
          <p:cNvPr id="5" name="TextBox 4"/>
          <p:cNvSpPr txBox="1"/>
          <p:nvPr/>
        </p:nvSpPr>
        <p:spPr>
          <a:xfrm>
            <a:off x="3571868" y="214290"/>
            <a:ext cx="2151551" cy="1046440"/>
          </a:xfrm>
          <a:prstGeom prst="rect">
            <a:avLst/>
          </a:prstGeom>
          <a:noFill/>
        </p:spPr>
        <p:txBody>
          <a:bodyPr wrap="square" rtlCol="0">
            <a:spAutoFit/>
          </a:bodyPr>
          <a:lstStyle/>
          <a:p>
            <a:r>
              <a:rPr lang="en-AU" sz="4400" dirty="0" smtClean="0">
                <a:latin typeface="Arial Black" pitchFamily="34" charset="0"/>
              </a:rPr>
              <a:t>Cont’d</a:t>
            </a:r>
            <a:endParaRPr lang="en-US" sz="4400" dirty="0" smtClean="0">
              <a:latin typeface="Arial Black" pitchFamily="34" charset="0"/>
            </a:endParaRPr>
          </a:p>
          <a:p>
            <a:endParaRPr lang="en-US"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srcRect/>
          <a:stretch>
            <a:fillRect/>
          </a:stretch>
        </p:blipFill>
        <p:spPr bwMode="auto">
          <a:xfrm>
            <a:off x="1428728" y="1643050"/>
            <a:ext cx="6572296" cy="4429156"/>
          </a:xfrm>
          <a:prstGeom prst="rect">
            <a:avLst/>
          </a:prstGeom>
          <a:noFill/>
          <a:ln w="9525">
            <a:noFill/>
            <a:miter lim="800000"/>
            <a:headEnd/>
            <a:tailEnd/>
          </a:ln>
          <a:effectLst/>
        </p:spPr>
      </p:pic>
      <p:sp>
        <p:nvSpPr>
          <p:cNvPr id="6" name="Slide Number Placeholder 5"/>
          <p:cNvSpPr>
            <a:spLocks noGrp="1"/>
          </p:cNvSpPr>
          <p:nvPr>
            <p:ph type="sldNum" sz="quarter" idx="12"/>
          </p:nvPr>
        </p:nvSpPr>
        <p:spPr/>
        <p:txBody>
          <a:bodyPr/>
          <a:lstStyle/>
          <a:p>
            <a:fld id="{8B1A3310-08A0-497E-A7E0-07BF4EF4A19E}" type="slidenum">
              <a:rPr lang="en-US" smtClean="0"/>
              <a:pPr/>
              <a:t>78</a:t>
            </a:fld>
            <a:endParaRPr lang="en-US" dirty="0"/>
          </a:p>
        </p:txBody>
      </p:sp>
      <p:sp>
        <p:nvSpPr>
          <p:cNvPr id="4" name="TextBox 3"/>
          <p:cNvSpPr txBox="1"/>
          <p:nvPr/>
        </p:nvSpPr>
        <p:spPr>
          <a:xfrm>
            <a:off x="3143240" y="500042"/>
            <a:ext cx="2151551" cy="1046440"/>
          </a:xfrm>
          <a:prstGeom prst="rect">
            <a:avLst/>
          </a:prstGeom>
          <a:noFill/>
        </p:spPr>
        <p:txBody>
          <a:bodyPr wrap="square" rtlCol="0">
            <a:spAutoFit/>
          </a:bodyPr>
          <a:lstStyle/>
          <a:p>
            <a:r>
              <a:rPr lang="en-AU" sz="4400" dirty="0" smtClean="0">
                <a:latin typeface="Arial Black" pitchFamily="34" charset="0"/>
              </a:rPr>
              <a:t>Cont’d</a:t>
            </a:r>
            <a:endParaRPr lang="en-US" sz="4400" dirty="0" smtClean="0">
              <a:latin typeface="Arial Black" pitchFamily="34" charset="0"/>
            </a:endParaRPr>
          </a:p>
          <a:p>
            <a:endParaRPr lang="en-US"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a:r>
              <a:rPr lang="en-AU" b="1" dirty="0" smtClean="0">
                <a:latin typeface="Arial" pitchFamily="34" charset="0"/>
                <a:cs typeface="Arial" pitchFamily="34" charset="0"/>
              </a:rPr>
              <a:t>Cervical pleura</a:t>
            </a:r>
            <a:r>
              <a:rPr lang="en-AU" dirty="0" smtClean="0">
                <a:latin typeface="Arial" pitchFamily="34" charset="0"/>
                <a:cs typeface="Arial" pitchFamily="34" charset="0"/>
              </a:rPr>
              <a:t>:  It is the </a:t>
            </a:r>
            <a:r>
              <a:rPr lang="en-AU" b="1" dirty="0" smtClean="0">
                <a:latin typeface="Arial" pitchFamily="34" charset="0"/>
                <a:cs typeface="Arial" pitchFamily="34" charset="0"/>
              </a:rPr>
              <a:t>dome </a:t>
            </a:r>
            <a:r>
              <a:rPr lang="en-AU" dirty="0" smtClean="0">
                <a:latin typeface="Arial" pitchFamily="34" charset="0"/>
                <a:cs typeface="Arial" pitchFamily="34" charset="0"/>
              </a:rPr>
              <a:t>of </a:t>
            </a:r>
            <a:r>
              <a:rPr lang="en-AU" b="1" dirty="0" smtClean="0">
                <a:latin typeface="Arial" pitchFamily="34" charset="0"/>
                <a:cs typeface="Arial" pitchFamily="34" charset="0"/>
              </a:rPr>
              <a:t>parietal pleura</a:t>
            </a:r>
            <a:r>
              <a:rPr lang="en-AU" dirty="0" smtClean="0">
                <a:latin typeface="Arial" pitchFamily="34" charset="0"/>
                <a:cs typeface="Arial" pitchFamily="34" charset="0"/>
              </a:rPr>
              <a:t>, which </a:t>
            </a:r>
            <a:r>
              <a:rPr lang="en-AU" b="1" dirty="0" smtClean="0">
                <a:latin typeface="Arial" pitchFamily="34" charset="0"/>
                <a:cs typeface="Arial" pitchFamily="34" charset="0"/>
              </a:rPr>
              <a:t>extends</a:t>
            </a:r>
            <a:r>
              <a:rPr lang="en-AU" dirty="0" smtClean="0">
                <a:latin typeface="Arial" pitchFamily="34" charset="0"/>
                <a:cs typeface="Arial" pitchFamily="34" charset="0"/>
              </a:rPr>
              <a:t> into the </a:t>
            </a:r>
            <a:r>
              <a:rPr lang="en-AU" b="1" dirty="0" smtClean="0">
                <a:latin typeface="Arial" pitchFamily="34" charset="0"/>
                <a:cs typeface="Arial" pitchFamily="34" charset="0"/>
              </a:rPr>
              <a:t>root</a:t>
            </a:r>
            <a:r>
              <a:rPr lang="en-AU" dirty="0" smtClean="0">
                <a:latin typeface="Arial" pitchFamily="34" charset="0"/>
                <a:cs typeface="Arial" pitchFamily="34" charset="0"/>
              </a:rPr>
              <a:t> of the </a:t>
            </a:r>
            <a:r>
              <a:rPr lang="en-AU" b="1" dirty="0" smtClean="0">
                <a:latin typeface="Arial" pitchFamily="34" charset="0"/>
                <a:cs typeface="Arial" pitchFamily="34" charset="0"/>
              </a:rPr>
              <a:t>neck </a:t>
            </a:r>
            <a:r>
              <a:rPr lang="en-AU" dirty="0" smtClean="0">
                <a:latin typeface="Arial" pitchFamily="34" charset="0"/>
                <a:cs typeface="Arial" pitchFamily="34" charset="0"/>
              </a:rPr>
              <a:t>about </a:t>
            </a:r>
            <a:r>
              <a:rPr lang="en-AU" b="1" dirty="0" smtClean="0">
                <a:latin typeface="Arial" pitchFamily="34" charset="0"/>
                <a:cs typeface="Arial" pitchFamily="34" charset="0"/>
              </a:rPr>
              <a:t>1 inch </a:t>
            </a:r>
            <a:r>
              <a:rPr lang="en-AU" dirty="0" smtClean="0">
                <a:latin typeface="Arial" pitchFamily="34" charset="0"/>
                <a:cs typeface="Arial" pitchFamily="34" charset="0"/>
              </a:rPr>
              <a:t>(2.5 cm) </a:t>
            </a:r>
            <a:r>
              <a:rPr lang="en-AU" b="1" dirty="0" smtClean="0">
                <a:latin typeface="Arial" pitchFamily="34" charset="0"/>
                <a:cs typeface="Arial" pitchFamily="34" charset="0"/>
              </a:rPr>
              <a:t>above</a:t>
            </a:r>
            <a:r>
              <a:rPr lang="en-AU" dirty="0" smtClean="0">
                <a:latin typeface="Arial" pitchFamily="34" charset="0"/>
                <a:cs typeface="Arial" pitchFamily="34" charset="0"/>
              </a:rPr>
              <a:t> the </a:t>
            </a:r>
            <a:r>
              <a:rPr lang="en-AU" b="1" dirty="0" smtClean="0">
                <a:latin typeface="Arial" pitchFamily="34" charset="0"/>
                <a:cs typeface="Arial" pitchFamily="34" charset="0"/>
              </a:rPr>
              <a:t>medial end </a:t>
            </a:r>
            <a:r>
              <a:rPr lang="en-AU" dirty="0" smtClean="0">
                <a:latin typeface="Arial" pitchFamily="34" charset="0"/>
                <a:cs typeface="Arial" pitchFamily="34" charset="0"/>
              </a:rPr>
              <a:t>of </a:t>
            </a:r>
            <a:r>
              <a:rPr lang="en-AU" b="1" dirty="0" smtClean="0">
                <a:latin typeface="Arial" pitchFamily="34" charset="0"/>
                <a:cs typeface="Arial" pitchFamily="34" charset="0"/>
              </a:rPr>
              <a:t>clavicle</a:t>
            </a:r>
            <a:r>
              <a:rPr lang="en-AU" dirty="0" smtClean="0">
                <a:latin typeface="Arial" pitchFamily="34" charset="0"/>
                <a:cs typeface="Arial" pitchFamily="34" charset="0"/>
              </a:rPr>
              <a:t> and </a:t>
            </a:r>
            <a:r>
              <a:rPr lang="en-AU" b="1" dirty="0" smtClean="0">
                <a:latin typeface="Arial" pitchFamily="34" charset="0"/>
                <a:cs typeface="Arial" pitchFamily="34" charset="0"/>
              </a:rPr>
              <a:t>2</a:t>
            </a:r>
            <a:r>
              <a:rPr lang="en-AU" dirty="0" smtClean="0">
                <a:latin typeface="Arial" pitchFamily="34" charset="0"/>
                <a:cs typeface="Arial" pitchFamily="34" charset="0"/>
              </a:rPr>
              <a:t> </a:t>
            </a:r>
            <a:r>
              <a:rPr lang="en-AU" b="1" dirty="0" smtClean="0">
                <a:latin typeface="Arial" pitchFamily="34" charset="0"/>
                <a:cs typeface="Arial" pitchFamily="34" charset="0"/>
              </a:rPr>
              <a:t>inches</a:t>
            </a:r>
            <a:r>
              <a:rPr lang="en-AU" dirty="0" smtClean="0">
                <a:latin typeface="Arial" pitchFamily="34" charset="0"/>
                <a:cs typeface="Arial" pitchFamily="34" charset="0"/>
              </a:rPr>
              <a:t> (5 cm) </a:t>
            </a:r>
            <a:r>
              <a:rPr lang="en-AU" b="1" dirty="0" smtClean="0">
                <a:latin typeface="Arial" pitchFamily="34" charset="0"/>
                <a:cs typeface="Arial" pitchFamily="34" charset="0"/>
              </a:rPr>
              <a:t>above </a:t>
            </a:r>
            <a:r>
              <a:rPr lang="en-AU" dirty="0" smtClean="0">
                <a:latin typeface="Arial" pitchFamily="34" charset="0"/>
                <a:cs typeface="Arial" pitchFamily="34" charset="0"/>
              </a:rPr>
              <a:t>the </a:t>
            </a:r>
            <a:r>
              <a:rPr lang="en-AU" b="1" dirty="0" smtClean="0">
                <a:latin typeface="Arial" pitchFamily="34" charset="0"/>
                <a:cs typeface="Arial" pitchFamily="34" charset="0"/>
              </a:rPr>
              <a:t>1</a:t>
            </a:r>
            <a:r>
              <a:rPr lang="en-AU" b="1" baseline="30000" dirty="0" smtClean="0">
                <a:latin typeface="Arial" pitchFamily="34" charset="0"/>
                <a:cs typeface="Arial" pitchFamily="34" charset="0"/>
              </a:rPr>
              <a:t>st</a:t>
            </a:r>
            <a:r>
              <a:rPr lang="en-AU" b="1" dirty="0">
                <a:latin typeface="Arial" pitchFamily="34" charset="0"/>
                <a:cs typeface="Arial" pitchFamily="34" charset="0"/>
              </a:rPr>
              <a:t> </a:t>
            </a:r>
            <a:r>
              <a:rPr lang="en-AU" b="1" dirty="0" smtClean="0">
                <a:latin typeface="Arial" pitchFamily="34" charset="0"/>
                <a:cs typeface="Arial" pitchFamily="34" charset="0"/>
              </a:rPr>
              <a:t>costal cartilage</a:t>
            </a:r>
            <a:r>
              <a:rPr lang="en-AU" dirty="0" smtClean="0">
                <a:latin typeface="Arial" pitchFamily="34" charset="0"/>
                <a:cs typeface="Arial" pitchFamily="34" charset="0"/>
              </a:rPr>
              <a:t>. It is called </a:t>
            </a:r>
            <a:r>
              <a:rPr lang="en-AU" b="1" dirty="0" smtClean="0">
                <a:latin typeface="Arial" pitchFamily="34" charset="0"/>
                <a:cs typeface="Arial" pitchFamily="34" charset="0"/>
              </a:rPr>
              <a:t>cupola </a:t>
            </a:r>
            <a:r>
              <a:rPr lang="en-AU" dirty="0" smtClean="0">
                <a:latin typeface="Arial" pitchFamily="34" charset="0"/>
                <a:cs typeface="Arial" pitchFamily="34" charset="0"/>
              </a:rPr>
              <a:t>and </a:t>
            </a:r>
            <a:r>
              <a:rPr lang="en-AU" b="1" dirty="0" smtClean="0">
                <a:latin typeface="Arial" pitchFamily="34" charset="0"/>
                <a:cs typeface="Arial" pitchFamily="34" charset="0"/>
              </a:rPr>
              <a:t>covers</a:t>
            </a:r>
            <a:r>
              <a:rPr lang="en-AU" dirty="0" smtClean="0">
                <a:latin typeface="Arial" pitchFamily="34" charset="0"/>
                <a:cs typeface="Arial" pitchFamily="34" charset="0"/>
              </a:rPr>
              <a:t> the </a:t>
            </a:r>
            <a:r>
              <a:rPr lang="en-AU" b="1" dirty="0" smtClean="0">
                <a:latin typeface="Arial" pitchFamily="34" charset="0"/>
                <a:cs typeface="Arial" pitchFamily="34" charset="0"/>
              </a:rPr>
              <a:t>apex</a:t>
            </a:r>
            <a:r>
              <a:rPr lang="en-AU" dirty="0" smtClean="0">
                <a:latin typeface="Arial" pitchFamily="34" charset="0"/>
                <a:cs typeface="Arial" pitchFamily="34" charset="0"/>
              </a:rPr>
              <a:t> of the l</a:t>
            </a:r>
            <a:r>
              <a:rPr lang="en-AU" b="1" dirty="0" smtClean="0">
                <a:latin typeface="Arial" pitchFamily="34" charset="0"/>
                <a:cs typeface="Arial" pitchFamily="34" charset="0"/>
              </a:rPr>
              <a:t>ung</a:t>
            </a:r>
            <a:r>
              <a:rPr lang="en-AU" dirty="0" smtClean="0">
                <a:latin typeface="Arial" pitchFamily="34" charset="0"/>
                <a:cs typeface="Arial" pitchFamily="34" charset="0"/>
              </a:rPr>
              <a:t>. It is </a:t>
            </a:r>
            <a:r>
              <a:rPr lang="en-AU" b="1" dirty="0" smtClean="0">
                <a:latin typeface="Arial" pitchFamily="34" charset="0"/>
                <a:cs typeface="Arial" pitchFamily="34" charset="0"/>
              </a:rPr>
              <a:t>covered</a:t>
            </a:r>
            <a:r>
              <a:rPr lang="en-AU" dirty="0" smtClean="0">
                <a:latin typeface="Arial" pitchFamily="34" charset="0"/>
                <a:cs typeface="Arial" pitchFamily="34" charset="0"/>
              </a:rPr>
              <a:t> by the </a:t>
            </a:r>
            <a:r>
              <a:rPr lang="en-AU" b="1" dirty="0" smtClean="0">
                <a:latin typeface="Arial" pitchFamily="34" charset="0"/>
                <a:cs typeface="Arial" pitchFamily="34" charset="0"/>
              </a:rPr>
              <a:t>suprapleural membrane</a:t>
            </a:r>
            <a:r>
              <a:rPr lang="en-AU" dirty="0" smtClean="0">
                <a:latin typeface="Arial" pitchFamily="34" charset="0"/>
                <a:cs typeface="Arial" pitchFamily="34" charset="0"/>
              </a:rPr>
              <a:t>.</a:t>
            </a:r>
            <a:endParaRPr lang="en-US"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8B1A3310-08A0-497E-A7E0-07BF4EF4A19E}" type="slidenum">
              <a:rPr lang="en-US" smtClean="0"/>
              <a:pPr/>
              <a:t>79</a:t>
            </a:fld>
            <a:endParaRPr lang="en-US" dirty="0"/>
          </a:p>
        </p:txBody>
      </p:sp>
      <p:sp>
        <p:nvSpPr>
          <p:cNvPr id="5" name="TextBox 4"/>
          <p:cNvSpPr txBox="1"/>
          <p:nvPr/>
        </p:nvSpPr>
        <p:spPr>
          <a:xfrm>
            <a:off x="3428992" y="285728"/>
            <a:ext cx="2580179" cy="1046440"/>
          </a:xfrm>
          <a:prstGeom prst="rect">
            <a:avLst/>
          </a:prstGeom>
          <a:noFill/>
        </p:spPr>
        <p:txBody>
          <a:bodyPr wrap="square" rtlCol="0">
            <a:spAutoFit/>
          </a:bodyPr>
          <a:lstStyle/>
          <a:p>
            <a:r>
              <a:rPr lang="en-AU" sz="4400" dirty="0" smtClean="0">
                <a:latin typeface="Arial Black" pitchFamily="34" charset="0"/>
              </a:rPr>
              <a:t>Cont’d</a:t>
            </a:r>
            <a:endParaRPr lang="en-US" sz="4400" dirty="0" smtClean="0">
              <a:latin typeface="Arial Black" pitchFamily="34" charset="0"/>
            </a:endParaRPr>
          </a:p>
          <a:p>
            <a:endParaRPr lang="en-US"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643182"/>
            <a:ext cx="8229600" cy="3482981"/>
          </a:xfrm>
        </p:spPr>
        <p:txBody>
          <a:bodyPr>
            <a:normAutofit/>
          </a:bodyPr>
          <a:lstStyle/>
          <a:p>
            <a:pPr algn="ctr">
              <a:buNone/>
            </a:pPr>
            <a:r>
              <a:rPr lang="en-AU" sz="4400" dirty="0" smtClean="0">
                <a:latin typeface="Arial Black" pitchFamily="34" charset="0"/>
              </a:rPr>
              <a:t>PLEURAL </a:t>
            </a:r>
            <a:r>
              <a:rPr lang="en-AU" sz="4400" dirty="0" smtClean="0">
                <a:latin typeface="Arial Black" pitchFamily="34" charset="0"/>
              </a:rPr>
              <a:t>CAVITY</a:t>
            </a:r>
            <a:endParaRPr lang="en-US" sz="4400" dirty="0">
              <a:latin typeface="Arial Black" pitchFamily="34" charset="0"/>
            </a:endParaRPr>
          </a:p>
        </p:txBody>
      </p:sp>
      <p:sp>
        <p:nvSpPr>
          <p:cNvPr id="4" name="Slide Number Placeholder 3"/>
          <p:cNvSpPr>
            <a:spLocks noGrp="1"/>
          </p:cNvSpPr>
          <p:nvPr>
            <p:ph type="sldNum" sz="quarter" idx="12"/>
          </p:nvPr>
        </p:nvSpPr>
        <p:spPr/>
        <p:txBody>
          <a:bodyPr/>
          <a:lstStyle/>
          <a:p>
            <a:fld id="{8B1A3310-08A0-497E-A7E0-07BF4EF4A19E}" type="slidenum">
              <a:rPr lang="en-US" smtClean="0"/>
              <a:pPr/>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4282" y="642918"/>
            <a:ext cx="8643998" cy="5929354"/>
          </a:xfrm>
        </p:spPr>
        <p:txBody>
          <a:bodyPr>
            <a:normAutofit lnSpcReduction="10000"/>
          </a:bodyPr>
          <a:lstStyle/>
          <a:p>
            <a:pPr algn="just"/>
            <a:r>
              <a:rPr lang="en-AU" dirty="0" smtClean="0">
                <a:latin typeface="Arial" pitchFamily="34" charset="0"/>
                <a:cs typeface="Arial" pitchFamily="34" charset="0"/>
              </a:rPr>
              <a:t>The parietal and visceral layers are separated from each other by a slit-like potential space called pleural cavity. The pleural cavity is normally filled with a thin film of tissue fluid, which lubricates the adjoining surfaces of the pleura and allows them to move on each other without friction. The two layers become continuous with each other by means of a </a:t>
            </a:r>
            <a:r>
              <a:rPr lang="en-AU" b="1" dirty="0" smtClean="0">
                <a:latin typeface="Arial" pitchFamily="34" charset="0"/>
                <a:cs typeface="Arial" pitchFamily="34" charset="0"/>
              </a:rPr>
              <a:t>cuff of pleura</a:t>
            </a:r>
            <a:r>
              <a:rPr lang="en-AU" dirty="0" smtClean="0">
                <a:latin typeface="Arial" pitchFamily="34" charset="0"/>
                <a:cs typeface="Arial" pitchFamily="34" charset="0"/>
              </a:rPr>
              <a:t>, which surrounds the root of the lung consisting of structures entering and leaving the lung at the hilum of the lung, such as principal bronchi and pulmonary vessels. </a:t>
            </a:r>
            <a:endParaRPr lang="en-US"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8B1A3310-08A0-497E-A7E0-07BF4EF4A19E}" type="slidenum">
              <a:rPr lang="en-US" smtClean="0"/>
              <a:pPr/>
              <a:t>81</a:t>
            </a:fld>
            <a:endParaRPr lang="en-US"/>
          </a:p>
        </p:txBody>
      </p:sp>
      <p:sp>
        <p:nvSpPr>
          <p:cNvPr id="5" name="TextBox 4"/>
          <p:cNvSpPr txBox="1"/>
          <p:nvPr/>
        </p:nvSpPr>
        <p:spPr>
          <a:xfrm>
            <a:off x="3929058" y="0"/>
            <a:ext cx="2151551" cy="1046440"/>
          </a:xfrm>
          <a:prstGeom prst="rect">
            <a:avLst/>
          </a:prstGeom>
          <a:noFill/>
        </p:spPr>
        <p:txBody>
          <a:bodyPr wrap="square" rtlCol="0">
            <a:spAutoFit/>
          </a:bodyPr>
          <a:lstStyle/>
          <a:p>
            <a:r>
              <a:rPr lang="en-AU" sz="4400" dirty="0" smtClean="0">
                <a:latin typeface="Arial Black" pitchFamily="34" charset="0"/>
              </a:rPr>
              <a:t>Cont’d</a:t>
            </a:r>
            <a:endParaRPr lang="en-US" sz="4400" dirty="0" smtClean="0">
              <a:latin typeface="Arial Black" pitchFamily="34" charset="0"/>
            </a:endParaRPr>
          </a:p>
          <a:p>
            <a:endParaRPr lang="en-US"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20" y="500042"/>
            <a:ext cx="8401080" cy="5929354"/>
          </a:xfrm>
        </p:spPr>
        <p:txBody>
          <a:bodyPr>
            <a:noAutofit/>
          </a:bodyPr>
          <a:lstStyle/>
          <a:p>
            <a:pPr algn="just"/>
            <a:r>
              <a:rPr lang="en-AU" dirty="0" smtClean="0">
                <a:latin typeface="Arial" pitchFamily="34" charset="0"/>
                <a:cs typeface="Arial" pitchFamily="34" charset="0"/>
              </a:rPr>
              <a:t>To allow the movement of principal bronchi and pulmonary vessels during respiration, the cuff of pleura hangs down as an empty fold, called the </a:t>
            </a:r>
            <a:r>
              <a:rPr lang="en-AU" b="1" dirty="0" smtClean="0">
                <a:latin typeface="Arial" pitchFamily="34" charset="0"/>
                <a:cs typeface="Arial" pitchFamily="34" charset="0"/>
              </a:rPr>
              <a:t>pulmonary ligament</a:t>
            </a:r>
            <a:r>
              <a:rPr lang="en-AU" dirty="0" smtClean="0">
                <a:latin typeface="Arial" pitchFamily="34" charset="0"/>
                <a:cs typeface="Arial" pitchFamily="34" charset="0"/>
              </a:rPr>
              <a:t>.</a:t>
            </a:r>
            <a:endParaRPr lang="en-AU" dirty="0" smtClean="0">
              <a:latin typeface="Arial" pitchFamily="34" charset="0"/>
              <a:cs typeface="Arial" pitchFamily="34" charset="0"/>
            </a:endParaRPr>
          </a:p>
          <a:p>
            <a:pPr algn="just"/>
            <a:r>
              <a:rPr lang="en-AU" dirty="0" smtClean="0">
                <a:latin typeface="Arial" pitchFamily="34" charset="0"/>
                <a:cs typeface="Arial" pitchFamily="34" charset="0"/>
              </a:rPr>
              <a:t>It provides dead space into which the descent of the root of the lung with descent of the diaphragm, and allows for expansion of vessels in the lung root during inspiration, especially the inferior pulmonary vein. It extends from root of the lung as far down as the diaphragm between the lung and the mediastinum.</a:t>
            </a:r>
            <a:endParaRPr lang="en-US"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8B1A3310-08A0-497E-A7E0-07BF4EF4A19E}" type="slidenum">
              <a:rPr lang="en-US" smtClean="0"/>
              <a:pPr/>
              <a:t>82</a:t>
            </a:fld>
            <a:endParaRPr lang="en-US"/>
          </a:p>
        </p:txBody>
      </p:sp>
      <p:sp>
        <p:nvSpPr>
          <p:cNvPr id="5" name="TextBox 4"/>
          <p:cNvSpPr txBox="1"/>
          <p:nvPr/>
        </p:nvSpPr>
        <p:spPr>
          <a:xfrm>
            <a:off x="3857620" y="0"/>
            <a:ext cx="2214578" cy="1046440"/>
          </a:xfrm>
          <a:prstGeom prst="rect">
            <a:avLst/>
          </a:prstGeom>
          <a:noFill/>
        </p:spPr>
        <p:txBody>
          <a:bodyPr wrap="square" rtlCol="0">
            <a:spAutoFit/>
          </a:bodyPr>
          <a:lstStyle/>
          <a:p>
            <a:r>
              <a:rPr lang="en-AU" sz="4400" dirty="0" smtClean="0">
                <a:latin typeface="Arial Black" pitchFamily="34" charset="0"/>
              </a:rPr>
              <a:t>Cont’d</a:t>
            </a:r>
            <a:endParaRPr lang="en-US" sz="4400" dirty="0" smtClean="0">
              <a:latin typeface="Arial Black" pitchFamily="34" charset="0"/>
            </a:endParaRPr>
          </a:p>
          <a:p>
            <a:endParaRPr lang="en-US"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4282" y="2428868"/>
            <a:ext cx="8472518" cy="1500198"/>
          </a:xfrm>
        </p:spPr>
        <p:txBody>
          <a:bodyPr>
            <a:normAutofit/>
          </a:bodyPr>
          <a:lstStyle/>
          <a:p>
            <a:r>
              <a:rPr lang="en-US" dirty="0" smtClean="0">
                <a:latin typeface="Arial Black" pitchFamily="34" charset="0"/>
              </a:rPr>
              <a:t>RECESSES OF THE PLEURA</a:t>
            </a:r>
            <a:endParaRPr lang="en-US" dirty="0"/>
          </a:p>
        </p:txBody>
      </p:sp>
      <p:sp>
        <p:nvSpPr>
          <p:cNvPr id="4" name="Slide Number Placeholder 3"/>
          <p:cNvSpPr>
            <a:spLocks noGrp="1"/>
          </p:cNvSpPr>
          <p:nvPr>
            <p:ph type="sldNum" sz="quarter" idx="12"/>
          </p:nvPr>
        </p:nvSpPr>
        <p:spPr/>
        <p:txBody>
          <a:bodyPr/>
          <a:lstStyle/>
          <a:p>
            <a:fld id="{7D608016-3028-48AC-89F9-913D89F81AFA}" type="slidenum">
              <a:rPr lang="en-US" smtClean="0"/>
              <a:pPr/>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28670"/>
          </a:xfrm>
        </p:spPr>
        <p:txBody>
          <a:bodyPr>
            <a:normAutofit/>
          </a:bodyPr>
          <a:lstStyle/>
          <a:p>
            <a:r>
              <a:rPr lang="en-US" sz="4000" dirty="0" smtClean="0">
                <a:latin typeface="Arial Black" pitchFamily="34" charset="0"/>
              </a:rPr>
              <a:t>RECESSES OF THE PLEURA</a:t>
            </a:r>
            <a:endParaRPr lang="en-US" sz="4000" dirty="0">
              <a:latin typeface="Arial Black" pitchFamily="34" charset="0"/>
            </a:endParaRPr>
          </a:p>
        </p:txBody>
      </p:sp>
      <p:sp>
        <p:nvSpPr>
          <p:cNvPr id="3" name="Content Placeholder 2"/>
          <p:cNvSpPr>
            <a:spLocks noGrp="1"/>
          </p:cNvSpPr>
          <p:nvPr>
            <p:ph idx="1"/>
          </p:nvPr>
        </p:nvSpPr>
        <p:spPr>
          <a:xfrm>
            <a:off x="0" y="714356"/>
            <a:ext cx="8929718" cy="5929354"/>
          </a:xfrm>
        </p:spPr>
        <p:txBody>
          <a:bodyPr>
            <a:noAutofit/>
          </a:bodyPr>
          <a:lstStyle/>
          <a:p>
            <a:pPr algn="just"/>
            <a:r>
              <a:rPr lang="en-AU" dirty="0">
                <a:latin typeface="Arial" pitchFamily="34" charset="0"/>
                <a:cs typeface="Arial" pitchFamily="34" charset="0"/>
              </a:rPr>
              <a:t>I</a:t>
            </a:r>
            <a:r>
              <a:rPr lang="en-AU" dirty="0" smtClean="0">
                <a:latin typeface="Arial" pitchFamily="34" charset="0"/>
                <a:cs typeface="Arial" pitchFamily="34" charset="0"/>
              </a:rPr>
              <a:t>n </a:t>
            </a:r>
            <a:r>
              <a:rPr lang="en-AU" b="1" dirty="0" smtClean="0">
                <a:latin typeface="Arial" pitchFamily="34" charset="0"/>
                <a:cs typeface="Arial" pitchFamily="34" charset="0"/>
              </a:rPr>
              <a:t>areas</a:t>
            </a:r>
            <a:r>
              <a:rPr lang="en-AU" dirty="0" smtClean="0">
                <a:latin typeface="Arial" pitchFamily="34" charset="0"/>
                <a:cs typeface="Arial" pitchFamily="34" charset="0"/>
              </a:rPr>
              <a:t> of </a:t>
            </a:r>
            <a:r>
              <a:rPr lang="en-AU" b="1" dirty="0" smtClean="0">
                <a:latin typeface="Arial" pitchFamily="34" charset="0"/>
                <a:cs typeface="Arial" pitchFamily="34" charset="0"/>
              </a:rPr>
              <a:t>pleural reflection </a:t>
            </a:r>
            <a:r>
              <a:rPr lang="en-AU" dirty="0" smtClean="0">
                <a:latin typeface="Arial" pitchFamily="34" charset="0"/>
                <a:cs typeface="Arial" pitchFamily="34" charset="0"/>
              </a:rPr>
              <a:t>on to the </a:t>
            </a:r>
            <a:r>
              <a:rPr lang="en-AU" b="1" dirty="0" smtClean="0">
                <a:latin typeface="Arial" pitchFamily="34" charset="0"/>
                <a:cs typeface="Arial" pitchFamily="34" charset="0"/>
              </a:rPr>
              <a:t>diaphragm, </a:t>
            </a:r>
            <a:r>
              <a:rPr lang="en-AU" dirty="0" smtClean="0">
                <a:latin typeface="Arial" pitchFamily="34" charset="0"/>
                <a:cs typeface="Arial" pitchFamily="34" charset="0"/>
              </a:rPr>
              <a:t>and </a:t>
            </a:r>
            <a:r>
              <a:rPr lang="en-AU" b="1" dirty="0" smtClean="0">
                <a:latin typeface="Arial" pitchFamily="34" charset="0"/>
                <a:cs typeface="Arial" pitchFamily="34" charset="0"/>
              </a:rPr>
              <a:t>mediastinum, </a:t>
            </a:r>
            <a:r>
              <a:rPr lang="en-AU" dirty="0" smtClean="0">
                <a:latin typeface="Arial" pitchFamily="34" charset="0"/>
                <a:cs typeface="Arial" pitchFamily="34" charset="0"/>
              </a:rPr>
              <a:t>the </a:t>
            </a:r>
            <a:r>
              <a:rPr lang="en-AU" b="1" dirty="0" smtClean="0">
                <a:latin typeface="Arial" pitchFamily="34" charset="0"/>
                <a:cs typeface="Arial" pitchFamily="34" charset="0"/>
              </a:rPr>
              <a:t>space</a:t>
            </a:r>
            <a:r>
              <a:rPr lang="en-AU" dirty="0" smtClean="0">
                <a:latin typeface="Arial" pitchFamily="34" charset="0"/>
                <a:cs typeface="Arial" pitchFamily="34" charset="0"/>
              </a:rPr>
              <a:t> between the </a:t>
            </a:r>
            <a:r>
              <a:rPr lang="en-AU" b="1" dirty="0" smtClean="0">
                <a:latin typeface="Arial" pitchFamily="34" charset="0"/>
                <a:cs typeface="Arial" pitchFamily="34" charset="0"/>
              </a:rPr>
              <a:t>parietal </a:t>
            </a:r>
            <a:r>
              <a:rPr lang="en-AU" dirty="0" smtClean="0">
                <a:latin typeface="Arial" pitchFamily="34" charset="0"/>
                <a:cs typeface="Arial" pitchFamily="34" charset="0"/>
              </a:rPr>
              <a:t>and </a:t>
            </a:r>
            <a:r>
              <a:rPr lang="en-AU" b="1" dirty="0" smtClean="0">
                <a:latin typeface="Arial" pitchFamily="34" charset="0"/>
                <a:cs typeface="Arial" pitchFamily="34" charset="0"/>
              </a:rPr>
              <a:t>visceral pleura </a:t>
            </a:r>
            <a:r>
              <a:rPr lang="en-AU" dirty="0" smtClean="0">
                <a:latin typeface="Arial" pitchFamily="34" charset="0"/>
                <a:cs typeface="Arial" pitchFamily="34" charset="0"/>
              </a:rPr>
              <a:t>is </a:t>
            </a:r>
            <a:r>
              <a:rPr lang="en-AU" b="1" dirty="0" smtClean="0">
                <a:latin typeface="Arial" pitchFamily="34" charset="0"/>
                <a:cs typeface="Arial" pitchFamily="34" charset="0"/>
              </a:rPr>
              <a:t>greatly expanded</a:t>
            </a:r>
            <a:r>
              <a:rPr lang="en-AU" dirty="0" smtClean="0">
                <a:latin typeface="Arial" pitchFamily="34" charset="0"/>
                <a:cs typeface="Arial" pitchFamily="34" charset="0"/>
              </a:rPr>
              <a:t>. These </a:t>
            </a:r>
            <a:r>
              <a:rPr lang="en-AU" b="1" dirty="0" smtClean="0">
                <a:latin typeface="Arial" pitchFamily="34" charset="0"/>
                <a:cs typeface="Arial" pitchFamily="34" charset="0"/>
              </a:rPr>
              <a:t>expanded regions </a:t>
            </a:r>
            <a:r>
              <a:rPr lang="en-AU" dirty="0" smtClean="0">
                <a:latin typeface="Arial" pitchFamily="34" charset="0"/>
                <a:cs typeface="Arial" pitchFamily="34" charset="0"/>
              </a:rPr>
              <a:t>of </a:t>
            </a:r>
            <a:r>
              <a:rPr lang="en-AU" b="1" dirty="0" smtClean="0">
                <a:latin typeface="Arial" pitchFamily="34" charset="0"/>
                <a:cs typeface="Arial" pitchFamily="34" charset="0"/>
              </a:rPr>
              <a:t>pleural cavity </a:t>
            </a:r>
            <a:r>
              <a:rPr lang="en-AU" dirty="0" smtClean="0">
                <a:latin typeface="Arial" pitchFamily="34" charset="0"/>
                <a:cs typeface="Arial" pitchFamily="34" charset="0"/>
              </a:rPr>
              <a:t>are called </a:t>
            </a:r>
            <a:r>
              <a:rPr lang="en-AU" b="1" dirty="0" smtClean="0">
                <a:latin typeface="Arial" pitchFamily="34" charset="0"/>
                <a:cs typeface="Arial" pitchFamily="34" charset="0"/>
              </a:rPr>
              <a:t>pleural recesses</a:t>
            </a:r>
            <a:r>
              <a:rPr lang="en-AU" dirty="0" smtClean="0">
                <a:latin typeface="Arial" pitchFamily="34" charset="0"/>
                <a:cs typeface="Arial" pitchFamily="34" charset="0"/>
              </a:rPr>
              <a:t>. They are </a:t>
            </a:r>
            <a:r>
              <a:rPr lang="en-AU" b="1" dirty="0" smtClean="0">
                <a:latin typeface="Arial" pitchFamily="34" charset="0"/>
                <a:cs typeface="Arial" pitchFamily="34" charset="0"/>
              </a:rPr>
              <a:t>essential</a:t>
            </a:r>
            <a:r>
              <a:rPr lang="en-AU" dirty="0" smtClean="0">
                <a:latin typeface="Arial" pitchFamily="34" charset="0"/>
                <a:cs typeface="Arial" pitchFamily="34" charset="0"/>
              </a:rPr>
              <a:t> for </a:t>
            </a:r>
            <a:r>
              <a:rPr lang="en-AU" b="1" dirty="0" smtClean="0">
                <a:latin typeface="Arial" pitchFamily="34" charset="0"/>
                <a:cs typeface="Arial" pitchFamily="34" charset="0"/>
              </a:rPr>
              <a:t>lung expansion </a:t>
            </a:r>
            <a:r>
              <a:rPr lang="en-AU" dirty="0" smtClean="0">
                <a:latin typeface="Arial" pitchFamily="34" charset="0"/>
                <a:cs typeface="Arial" pitchFamily="34" charset="0"/>
              </a:rPr>
              <a:t>during </a:t>
            </a:r>
            <a:r>
              <a:rPr lang="en-AU" b="1" dirty="0" smtClean="0">
                <a:latin typeface="Arial" pitchFamily="34" charset="0"/>
                <a:cs typeface="Arial" pitchFamily="34" charset="0"/>
              </a:rPr>
              <a:t>deep inspiration</a:t>
            </a:r>
            <a:r>
              <a:rPr lang="en-AU" dirty="0" smtClean="0">
                <a:latin typeface="Arial" pitchFamily="34" charset="0"/>
                <a:cs typeface="Arial" pitchFamily="34" charset="0"/>
              </a:rPr>
              <a:t>. They serve as </a:t>
            </a:r>
            <a:r>
              <a:rPr lang="en-AU" b="1" dirty="0" smtClean="0">
                <a:latin typeface="Arial" pitchFamily="34" charset="0"/>
                <a:cs typeface="Arial" pitchFamily="34" charset="0"/>
              </a:rPr>
              <a:t>reserve spaces </a:t>
            </a:r>
            <a:r>
              <a:rPr lang="en-AU" dirty="0" smtClean="0">
                <a:latin typeface="Arial" pitchFamily="34" charset="0"/>
                <a:cs typeface="Arial" pitchFamily="34" charset="0"/>
              </a:rPr>
              <a:t>of </a:t>
            </a:r>
            <a:r>
              <a:rPr lang="en-AU" b="1" dirty="0" smtClean="0">
                <a:latin typeface="Arial" pitchFamily="34" charset="0"/>
                <a:cs typeface="Arial" pitchFamily="34" charset="0"/>
              </a:rPr>
              <a:t>pleural cavity </a:t>
            </a:r>
            <a:r>
              <a:rPr lang="en-AU" dirty="0" smtClean="0">
                <a:latin typeface="Arial" pitchFamily="34" charset="0"/>
                <a:cs typeface="Arial" pitchFamily="34" charset="0"/>
              </a:rPr>
              <a:t>for the </a:t>
            </a:r>
            <a:r>
              <a:rPr lang="en-AU" b="1" dirty="0" smtClean="0">
                <a:latin typeface="Arial" pitchFamily="34" charset="0"/>
                <a:cs typeface="Arial" pitchFamily="34" charset="0"/>
              </a:rPr>
              <a:t>lungs</a:t>
            </a:r>
            <a:r>
              <a:rPr lang="en-AU" dirty="0" smtClean="0">
                <a:latin typeface="Arial" pitchFamily="34" charset="0"/>
                <a:cs typeface="Arial" pitchFamily="34" charset="0"/>
              </a:rPr>
              <a:t> to </a:t>
            </a:r>
            <a:r>
              <a:rPr lang="en-AU" b="1" dirty="0" smtClean="0">
                <a:latin typeface="Arial" pitchFamily="34" charset="0"/>
                <a:cs typeface="Arial" pitchFamily="34" charset="0"/>
              </a:rPr>
              <a:t>expand</a:t>
            </a:r>
            <a:r>
              <a:rPr lang="en-AU" dirty="0" smtClean="0">
                <a:latin typeface="Arial" pitchFamily="34" charset="0"/>
                <a:cs typeface="Arial" pitchFamily="34" charset="0"/>
              </a:rPr>
              <a:t> during </a:t>
            </a:r>
            <a:r>
              <a:rPr lang="en-AU" b="1" dirty="0" smtClean="0">
                <a:latin typeface="Arial" pitchFamily="34" charset="0"/>
                <a:cs typeface="Arial" pitchFamily="34" charset="0"/>
              </a:rPr>
              <a:t>deep inspiration</a:t>
            </a:r>
            <a:r>
              <a:rPr lang="en-AU" dirty="0" smtClean="0">
                <a:latin typeface="Arial" pitchFamily="34" charset="0"/>
                <a:cs typeface="Arial" pitchFamily="34" charset="0"/>
              </a:rPr>
              <a:t>. The </a:t>
            </a:r>
            <a:r>
              <a:rPr lang="en-AU" b="1" dirty="0" smtClean="0">
                <a:latin typeface="Arial" pitchFamily="34" charset="0"/>
                <a:cs typeface="Arial" pitchFamily="34" charset="0"/>
              </a:rPr>
              <a:t>recesses</a:t>
            </a:r>
            <a:r>
              <a:rPr lang="en-AU" dirty="0" smtClean="0">
                <a:latin typeface="Arial" pitchFamily="34" charset="0"/>
                <a:cs typeface="Arial" pitchFamily="34" charset="0"/>
              </a:rPr>
              <a:t> of </a:t>
            </a:r>
            <a:r>
              <a:rPr lang="en-AU" b="1" dirty="0" smtClean="0">
                <a:latin typeface="Arial" pitchFamily="34" charset="0"/>
                <a:cs typeface="Arial" pitchFamily="34" charset="0"/>
              </a:rPr>
              <a:t>pleura</a:t>
            </a:r>
            <a:r>
              <a:rPr lang="en-AU" dirty="0" smtClean="0">
                <a:latin typeface="Arial" pitchFamily="34" charset="0"/>
                <a:cs typeface="Arial" pitchFamily="34" charset="0"/>
              </a:rPr>
              <a:t> are as </a:t>
            </a:r>
            <a:r>
              <a:rPr lang="en-AU" b="1" dirty="0" smtClean="0">
                <a:latin typeface="Arial" pitchFamily="34" charset="0"/>
                <a:cs typeface="Arial" pitchFamily="34" charset="0"/>
              </a:rPr>
              <a:t>follows</a:t>
            </a:r>
            <a:r>
              <a:rPr lang="en-AU" dirty="0" smtClean="0">
                <a:latin typeface="Arial" pitchFamily="34" charset="0"/>
                <a:cs typeface="Arial" pitchFamily="34" charset="0"/>
              </a:rPr>
              <a:t>:</a:t>
            </a:r>
          </a:p>
          <a:p>
            <a:pPr algn="just">
              <a:buFont typeface="Wingdings" pitchFamily="2" charset="2"/>
              <a:buChar char="§"/>
            </a:pPr>
            <a:r>
              <a:rPr lang="en-AU" dirty="0" smtClean="0">
                <a:latin typeface="Arial" pitchFamily="34" charset="0"/>
                <a:cs typeface="Arial" pitchFamily="34" charset="0"/>
              </a:rPr>
              <a:t>Costodiaphragmatic recesses (right and left).</a:t>
            </a:r>
          </a:p>
          <a:p>
            <a:pPr algn="just">
              <a:buFont typeface="Wingdings" pitchFamily="2" charset="2"/>
              <a:buChar char="§"/>
            </a:pPr>
            <a:r>
              <a:rPr lang="en-AU" dirty="0" smtClean="0">
                <a:latin typeface="Arial" pitchFamily="34" charset="0"/>
                <a:cs typeface="Arial" pitchFamily="34" charset="0"/>
              </a:rPr>
              <a:t>Costomediastinal recesses (right and left).</a:t>
            </a:r>
            <a:endParaRPr lang="en-US"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8B1A3310-08A0-497E-A7E0-07BF4EF4A19E}" type="slidenum">
              <a:rPr lang="en-US" smtClean="0"/>
              <a:pPr/>
              <a:t>84</a:t>
            </a:fld>
            <a:endParaRPr lang="en-US"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296974"/>
          </a:xfrm>
        </p:spPr>
        <p:txBody>
          <a:bodyPr>
            <a:normAutofit fontScale="90000"/>
          </a:bodyPr>
          <a:lstStyle/>
          <a:p>
            <a:r>
              <a:rPr lang="en-AU" dirty="0" smtClean="0">
                <a:latin typeface="Arial Black" pitchFamily="34" charset="0"/>
              </a:rPr>
              <a:t>Costodiaphragmatic recess</a:t>
            </a:r>
            <a:endParaRPr lang="en-US" dirty="0">
              <a:latin typeface="Arial Black" pitchFamily="34" charset="0"/>
            </a:endParaRPr>
          </a:p>
        </p:txBody>
      </p:sp>
      <p:sp>
        <p:nvSpPr>
          <p:cNvPr id="3" name="Content Placeholder 2"/>
          <p:cNvSpPr>
            <a:spLocks noGrp="1"/>
          </p:cNvSpPr>
          <p:nvPr>
            <p:ph idx="1"/>
          </p:nvPr>
        </p:nvSpPr>
        <p:spPr>
          <a:xfrm>
            <a:off x="457200" y="1571612"/>
            <a:ext cx="8229600" cy="4554551"/>
          </a:xfrm>
        </p:spPr>
        <p:txBody>
          <a:bodyPr>
            <a:normAutofit/>
          </a:bodyPr>
          <a:lstStyle/>
          <a:p>
            <a:pPr algn="just"/>
            <a:r>
              <a:rPr lang="en-AU" dirty="0" smtClean="0">
                <a:latin typeface="Arial" pitchFamily="34" charset="0"/>
                <a:cs typeface="Arial" pitchFamily="34" charset="0"/>
              </a:rPr>
              <a:t>It is located </a:t>
            </a:r>
            <a:r>
              <a:rPr lang="en-AU" b="1" dirty="0" smtClean="0">
                <a:latin typeface="Arial" pitchFamily="34" charset="0"/>
                <a:cs typeface="Arial" pitchFamily="34" charset="0"/>
              </a:rPr>
              <a:t>inferiorly</a:t>
            </a:r>
            <a:r>
              <a:rPr lang="en-AU" dirty="0" smtClean="0">
                <a:latin typeface="Arial" pitchFamily="34" charset="0"/>
                <a:cs typeface="Arial" pitchFamily="34" charset="0"/>
              </a:rPr>
              <a:t> between the </a:t>
            </a:r>
            <a:r>
              <a:rPr lang="en-AU" b="1" dirty="0" smtClean="0">
                <a:latin typeface="Arial" pitchFamily="34" charset="0"/>
                <a:cs typeface="Arial" pitchFamily="34" charset="0"/>
              </a:rPr>
              <a:t>costal</a:t>
            </a:r>
            <a:r>
              <a:rPr lang="en-AU" dirty="0" smtClean="0">
                <a:latin typeface="Arial" pitchFamily="34" charset="0"/>
                <a:cs typeface="Arial" pitchFamily="34" charset="0"/>
              </a:rPr>
              <a:t> and </a:t>
            </a:r>
            <a:r>
              <a:rPr lang="en-AU" b="1" dirty="0" smtClean="0">
                <a:latin typeface="Arial" pitchFamily="34" charset="0"/>
                <a:cs typeface="Arial" pitchFamily="34" charset="0"/>
              </a:rPr>
              <a:t>diaphragmatic pleurae</a:t>
            </a:r>
            <a:r>
              <a:rPr lang="en-AU" dirty="0" smtClean="0">
                <a:latin typeface="Arial" pitchFamily="34" charset="0"/>
                <a:cs typeface="Arial" pitchFamily="34" charset="0"/>
              </a:rPr>
              <a:t>. </a:t>
            </a:r>
            <a:r>
              <a:rPr lang="en-AU" dirty="0" smtClean="0">
                <a:latin typeface="Arial" pitchFamily="34" charset="0"/>
                <a:cs typeface="Arial" pitchFamily="34" charset="0"/>
              </a:rPr>
              <a:t>I</a:t>
            </a:r>
            <a:r>
              <a:rPr lang="en-AU" dirty="0" smtClean="0">
                <a:latin typeface="Arial" pitchFamily="34" charset="0"/>
                <a:cs typeface="Arial" pitchFamily="34" charset="0"/>
              </a:rPr>
              <a:t>t </a:t>
            </a:r>
            <a:r>
              <a:rPr lang="en-AU" dirty="0" smtClean="0">
                <a:latin typeface="Arial" pitchFamily="34" charset="0"/>
                <a:cs typeface="Arial" pitchFamily="34" charset="0"/>
              </a:rPr>
              <a:t>measures about </a:t>
            </a:r>
            <a:r>
              <a:rPr lang="en-AU" b="1" dirty="0" smtClean="0">
                <a:latin typeface="Arial" pitchFamily="34" charset="0"/>
                <a:cs typeface="Arial" pitchFamily="34" charset="0"/>
              </a:rPr>
              <a:t>5 cm </a:t>
            </a:r>
            <a:r>
              <a:rPr lang="en-AU" dirty="0" smtClean="0">
                <a:latin typeface="Arial" pitchFamily="34" charset="0"/>
                <a:cs typeface="Arial" pitchFamily="34" charset="0"/>
              </a:rPr>
              <a:t>and lies </a:t>
            </a:r>
            <a:r>
              <a:rPr lang="en-AU" b="1" dirty="0" smtClean="0">
                <a:latin typeface="Arial" pitchFamily="34" charset="0"/>
                <a:cs typeface="Arial" pitchFamily="34" charset="0"/>
              </a:rPr>
              <a:t>opposite</a:t>
            </a:r>
            <a:r>
              <a:rPr lang="en-AU" dirty="0" smtClean="0">
                <a:latin typeface="Arial" pitchFamily="34" charset="0"/>
                <a:cs typeface="Arial" pitchFamily="34" charset="0"/>
              </a:rPr>
              <a:t> the </a:t>
            </a:r>
            <a:r>
              <a:rPr lang="en-AU" b="1" dirty="0" smtClean="0">
                <a:latin typeface="Arial" pitchFamily="34" charset="0"/>
                <a:cs typeface="Arial" pitchFamily="34" charset="0"/>
              </a:rPr>
              <a:t>8</a:t>
            </a:r>
            <a:r>
              <a:rPr lang="en-AU" b="1" baseline="30000" dirty="0" smtClean="0">
                <a:latin typeface="Arial" pitchFamily="34" charset="0"/>
                <a:cs typeface="Arial" pitchFamily="34" charset="0"/>
              </a:rPr>
              <a:t>th</a:t>
            </a:r>
            <a:r>
              <a:rPr lang="en-AU" b="1" dirty="0" smtClean="0">
                <a:latin typeface="Arial" pitchFamily="34" charset="0"/>
                <a:cs typeface="Arial" pitchFamily="34" charset="0"/>
              </a:rPr>
              <a:t>-10th </a:t>
            </a:r>
            <a:r>
              <a:rPr lang="en-AU" b="1" dirty="0" smtClean="0">
                <a:latin typeface="Arial" pitchFamily="34" charset="0"/>
                <a:cs typeface="Arial" pitchFamily="34" charset="0"/>
              </a:rPr>
              <a:t>ribs </a:t>
            </a:r>
            <a:r>
              <a:rPr lang="en-AU" dirty="0" smtClean="0">
                <a:latin typeface="Arial" pitchFamily="34" charset="0"/>
                <a:cs typeface="Arial" pitchFamily="34" charset="0"/>
              </a:rPr>
              <a:t>along the </a:t>
            </a:r>
            <a:r>
              <a:rPr lang="en-AU" b="1" dirty="0" smtClean="0">
                <a:latin typeface="Arial" pitchFamily="34" charset="0"/>
                <a:cs typeface="Arial" pitchFamily="34" charset="0"/>
              </a:rPr>
              <a:t>midaxillary </a:t>
            </a:r>
            <a:r>
              <a:rPr lang="en-AU" b="1" dirty="0" smtClean="0">
                <a:latin typeface="Arial" pitchFamily="34" charset="0"/>
                <a:cs typeface="Arial" pitchFamily="34" charset="0"/>
              </a:rPr>
              <a:t>line</a:t>
            </a:r>
            <a:r>
              <a:rPr lang="en-AU" dirty="0" smtClean="0">
                <a:latin typeface="Arial" pitchFamily="34" charset="0"/>
                <a:cs typeface="Arial" pitchFamily="34" charset="0"/>
              </a:rPr>
              <a:t>, </a:t>
            </a:r>
            <a:r>
              <a:rPr lang="en-AU" b="1" dirty="0" smtClean="0">
                <a:latin typeface="Arial" pitchFamily="34" charset="0"/>
                <a:cs typeface="Arial" pitchFamily="34" charset="0"/>
              </a:rPr>
              <a:t>vertically</a:t>
            </a:r>
            <a:r>
              <a:rPr lang="en-AU" dirty="0" smtClean="0">
                <a:latin typeface="Arial" pitchFamily="34" charset="0"/>
                <a:cs typeface="Arial" pitchFamily="34" charset="0"/>
              </a:rPr>
              <a:t>.</a:t>
            </a:r>
          </a:p>
          <a:p>
            <a:pPr algn="just"/>
            <a:r>
              <a:rPr lang="en-AU" dirty="0" smtClean="0">
                <a:latin typeface="Arial" pitchFamily="34" charset="0"/>
                <a:cs typeface="Arial" pitchFamily="34" charset="0"/>
              </a:rPr>
              <a:t>They are </a:t>
            </a:r>
            <a:r>
              <a:rPr lang="en-AU" dirty="0" smtClean="0">
                <a:latin typeface="Arial" pitchFamily="34" charset="0"/>
                <a:cs typeface="Arial" pitchFamily="34" charset="0"/>
              </a:rPr>
              <a:t>the </a:t>
            </a:r>
            <a:r>
              <a:rPr lang="en-AU" b="1" dirty="0" smtClean="0">
                <a:latin typeface="Arial" pitchFamily="34" charset="0"/>
                <a:cs typeface="Arial" pitchFamily="34" charset="0"/>
              </a:rPr>
              <a:t>most dependent parts </a:t>
            </a:r>
            <a:r>
              <a:rPr lang="en-AU" dirty="0" smtClean="0">
                <a:latin typeface="Arial" pitchFamily="34" charset="0"/>
                <a:cs typeface="Arial" pitchFamily="34" charset="0"/>
              </a:rPr>
              <a:t>of the </a:t>
            </a:r>
            <a:r>
              <a:rPr lang="en-AU" b="1" dirty="0" smtClean="0">
                <a:latin typeface="Arial" pitchFamily="34" charset="0"/>
                <a:cs typeface="Arial" pitchFamily="34" charset="0"/>
              </a:rPr>
              <a:t>pleural cavities</a:t>
            </a:r>
            <a:r>
              <a:rPr lang="en-AU" dirty="0" smtClean="0">
                <a:latin typeface="Arial" pitchFamily="34" charset="0"/>
                <a:cs typeface="Arial" pitchFamily="34" charset="0"/>
              </a:rPr>
              <a:t>, hence the </a:t>
            </a:r>
            <a:r>
              <a:rPr lang="en-AU" b="1" dirty="0" smtClean="0">
                <a:latin typeface="Arial" pitchFamily="34" charset="0"/>
                <a:cs typeface="Arial" pitchFamily="34" charset="0"/>
              </a:rPr>
              <a:t>fluid </a:t>
            </a:r>
            <a:r>
              <a:rPr lang="en-AU" dirty="0" smtClean="0">
                <a:latin typeface="Arial" pitchFamily="34" charset="0"/>
                <a:cs typeface="Arial" pitchFamily="34" charset="0"/>
              </a:rPr>
              <a:t>of </a:t>
            </a:r>
            <a:r>
              <a:rPr lang="en-AU" b="1" dirty="0" smtClean="0">
                <a:latin typeface="Arial" pitchFamily="34" charset="0"/>
                <a:cs typeface="Arial" pitchFamily="34" charset="0"/>
              </a:rPr>
              <a:t>pleural effusion </a:t>
            </a:r>
            <a:r>
              <a:rPr lang="en-AU" dirty="0" smtClean="0">
                <a:latin typeface="Arial" pitchFamily="34" charset="0"/>
                <a:cs typeface="Arial" pitchFamily="34" charset="0"/>
              </a:rPr>
              <a:t>first collect at </a:t>
            </a:r>
            <a:r>
              <a:rPr lang="en-AU" b="1" dirty="0" smtClean="0">
                <a:latin typeface="Arial" pitchFamily="34" charset="0"/>
                <a:cs typeface="Arial" pitchFamily="34" charset="0"/>
              </a:rPr>
              <a:t>these sites</a:t>
            </a:r>
            <a:r>
              <a:rPr lang="en-AU" dirty="0" smtClean="0">
                <a:latin typeface="Arial" pitchFamily="34" charset="0"/>
                <a:cs typeface="Arial" pitchFamily="34" charset="0"/>
              </a:rPr>
              <a:t>.</a:t>
            </a:r>
          </a:p>
          <a:p>
            <a:pPr algn="just"/>
            <a:endParaRPr lang="en-US"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8B1A3310-08A0-497E-A7E0-07BF4EF4A19E}" type="slidenum">
              <a:rPr lang="en-US" smtClean="0"/>
              <a:pPr/>
              <a:t>85</a:t>
            </a:fld>
            <a:endParaRPr lang="en-US"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latin typeface="Arial Black" pitchFamily="34" charset="0"/>
              </a:rPr>
              <a:t>Costomediastinal recess</a:t>
            </a:r>
            <a:endParaRPr lang="en-US" dirty="0">
              <a:latin typeface="Arial Black" pitchFamily="34" charset="0"/>
            </a:endParaRPr>
          </a:p>
        </p:txBody>
      </p:sp>
      <p:sp>
        <p:nvSpPr>
          <p:cNvPr id="3" name="Content Placeholder 2"/>
          <p:cNvSpPr>
            <a:spLocks noGrp="1"/>
          </p:cNvSpPr>
          <p:nvPr>
            <p:ph idx="1"/>
          </p:nvPr>
        </p:nvSpPr>
        <p:spPr>
          <a:xfrm>
            <a:off x="214282" y="1285860"/>
            <a:ext cx="8643998" cy="5143536"/>
          </a:xfrm>
        </p:spPr>
        <p:txBody>
          <a:bodyPr>
            <a:noAutofit/>
          </a:bodyPr>
          <a:lstStyle/>
          <a:p>
            <a:pPr algn="just"/>
            <a:r>
              <a:rPr lang="en-AU" dirty="0" smtClean="0">
                <a:latin typeface="Arial" pitchFamily="34" charset="0"/>
                <a:cs typeface="Arial" pitchFamily="34" charset="0"/>
              </a:rPr>
              <a:t>It is located </a:t>
            </a:r>
            <a:r>
              <a:rPr lang="en-AU" b="1" dirty="0" smtClean="0">
                <a:latin typeface="Arial" pitchFamily="34" charset="0"/>
                <a:cs typeface="Arial" pitchFamily="34" charset="0"/>
              </a:rPr>
              <a:t>anteriorly</a:t>
            </a:r>
            <a:r>
              <a:rPr lang="en-AU" dirty="0" smtClean="0">
                <a:latin typeface="Arial" pitchFamily="34" charset="0"/>
                <a:cs typeface="Arial" pitchFamily="34" charset="0"/>
              </a:rPr>
              <a:t> between the </a:t>
            </a:r>
            <a:r>
              <a:rPr lang="en-AU" b="1" dirty="0" smtClean="0">
                <a:latin typeface="Arial" pitchFamily="34" charset="0"/>
                <a:cs typeface="Arial" pitchFamily="34" charset="0"/>
              </a:rPr>
              <a:t>costal</a:t>
            </a:r>
            <a:r>
              <a:rPr lang="en-AU" dirty="0" smtClean="0">
                <a:latin typeface="Arial" pitchFamily="34" charset="0"/>
                <a:cs typeface="Arial" pitchFamily="34" charset="0"/>
              </a:rPr>
              <a:t> and </a:t>
            </a:r>
            <a:r>
              <a:rPr lang="en-AU" b="1" dirty="0" smtClean="0">
                <a:latin typeface="Arial" pitchFamily="34" charset="0"/>
                <a:cs typeface="Arial" pitchFamily="34" charset="0"/>
              </a:rPr>
              <a:t>mediastinal pleurae </a:t>
            </a:r>
            <a:r>
              <a:rPr lang="en-AU" dirty="0" smtClean="0">
                <a:latin typeface="Arial" pitchFamily="34" charset="0"/>
                <a:cs typeface="Arial" pitchFamily="34" charset="0"/>
              </a:rPr>
              <a:t>and </a:t>
            </a:r>
            <a:r>
              <a:rPr lang="en-AU" b="1" dirty="0" smtClean="0">
                <a:latin typeface="Arial" pitchFamily="34" charset="0"/>
                <a:cs typeface="Arial" pitchFamily="34" charset="0"/>
              </a:rPr>
              <a:t>lies</a:t>
            </a:r>
            <a:r>
              <a:rPr lang="en-AU" dirty="0" smtClean="0">
                <a:latin typeface="Arial" pitchFamily="34" charset="0"/>
                <a:cs typeface="Arial" pitchFamily="34" charset="0"/>
              </a:rPr>
              <a:t> between </a:t>
            </a:r>
            <a:r>
              <a:rPr lang="en-AU" b="1" dirty="0" smtClean="0">
                <a:latin typeface="Arial" pitchFamily="34" charset="0"/>
                <a:cs typeface="Arial" pitchFamily="34" charset="0"/>
              </a:rPr>
              <a:t>sternum</a:t>
            </a:r>
            <a:r>
              <a:rPr lang="en-AU" dirty="0" smtClean="0">
                <a:latin typeface="Arial" pitchFamily="34" charset="0"/>
                <a:cs typeface="Arial" pitchFamily="34" charset="0"/>
              </a:rPr>
              <a:t> and </a:t>
            </a:r>
            <a:r>
              <a:rPr lang="en-AU" b="1" dirty="0" smtClean="0">
                <a:latin typeface="Arial" pitchFamily="34" charset="0"/>
                <a:cs typeface="Arial" pitchFamily="34" charset="0"/>
              </a:rPr>
              <a:t>costal cartilages</a:t>
            </a:r>
            <a:r>
              <a:rPr lang="en-AU" dirty="0" smtClean="0">
                <a:latin typeface="Arial" pitchFamily="34" charset="0"/>
                <a:cs typeface="Arial" pitchFamily="34" charset="0"/>
              </a:rPr>
              <a:t>. The </a:t>
            </a:r>
            <a:r>
              <a:rPr lang="en-AU" b="1" dirty="0" smtClean="0">
                <a:latin typeface="Arial" pitchFamily="34" charset="0"/>
                <a:cs typeface="Arial" pitchFamily="34" charset="0"/>
              </a:rPr>
              <a:t>right costomediastinal recess </a:t>
            </a:r>
            <a:r>
              <a:rPr lang="en-AU" dirty="0" smtClean="0">
                <a:latin typeface="Arial" pitchFamily="34" charset="0"/>
                <a:cs typeface="Arial" pitchFamily="34" charset="0"/>
              </a:rPr>
              <a:t>is possibly occupied by the </a:t>
            </a:r>
            <a:r>
              <a:rPr lang="en-AU" b="1" dirty="0" smtClean="0">
                <a:latin typeface="Arial" pitchFamily="34" charset="0"/>
                <a:cs typeface="Arial" pitchFamily="34" charset="0"/>
              </a:rPr>
              <a:t>anterior margin </a:t>
            </a:r>
            <a:r>
              <a:rPr lang="en-AU" dirty="0" smtClean="0">
                <a:latin typeface="Arial" pitchFamily="34" charset="0"/>
                <a:cs typeface="Arial" pitchFamily="34" charset="0"/>
              </a:rPr>
              <a:t>of the </a:t>
            </a:r>
            <a:r>
              <a:rPr lang="en-AU" b="1" dirty="0" smtClean="0">
                <a:latin typeface="Arial" pitchFamily="34" charset="0"/>
                <a:cs typeface="Arial" pitchFamily="34" charset="0"/>
              </a:rPr>
              <a:t>right lung </a:t>
            </a:r>
            <a:r>
              <a:rPr lang="en-AU" dirty="0" smtClean="0">
                <a:latin typeface="Arial" pitchFamily="34" charset="0"/>
                <a:cs typeface="Arial" pitchFamily="34" charset="0"/>
              </a:rPr>
              <a:t>even during </a:t>
            </a:r>
            <a:r>
              <a:rPr lang="en-AU" b="1" dirty="0" smtClean="0">
                <a:latin typeface="Arial" pitchFamily="34" charset="0"/>
                <a:cs typeface="Arial" pitchFamily="34" charset="0"/>
              </a:rPr>
              <a:t>quiet breathing</a:t>
            </a:r>
            <a:r>
              <a:rPr lang="en-AU" dirty="0" smtClean="0">
                <a:latin typeface="Arial" pitchFamily="34" charset="0"/>
                <a:cs typeface="Arial" pitchFamily="34" charset="0"/>
              </a:rPr>
              <a:t>. The </a:t>
            </a:r>
            <a:r>
              <a:rPr lang="en-AU" b="1" dirty="0" smtClean="0">
                <a:latin typeface="Arial" pitchFamily="34" charset="0"/>
                <a:cs typeface="Arial" pitchFamily="34" charset="0"/>
              </a:rPr>
              <a:t>left costomediastinal recess </a:t>
            </a:r>
            <a:r>
              <a:rPr lang="en-AU" dirty="0" smtClean="0">
                <a:latin typeface="Arial" pitchFamily="34" charset="0"/>
                <a:cs typeface="Arial" pitchFamily="34" charset="0"/>
              </a:rPr>
              <a:t>is </a:t>
            </a:r>
            <a:r>
              <a:rPr lang="en-AU" b="1" dirty="0" smtClean="0">
                <a:latin typeface="Arial" pitchFamily="34" charset="0"/>
                <a:cs typeface="Arial" pitchFamily="34" charset="0"/>
              </a:rPr>
              <a:t>large</a:t>
            </a:r>
            <a:r>
              <a:rPr lang="en-AU" dirty="0" smtClean="0">
                <a:latin typeface="Arial" pitchFamily="34" charset="0"/>
                <a:cs typeface="Arial" pitchFamily="34" charset="0"/>
              </a:rPr>
              <a:t> due to the </a:t>
            </a:r>
            <a:r>
              <a:rPr lang="en-AU" b="1" dirty="0" smtClean="0">
                <a:latin typeface="Arial" pitchFamily="34" charset="0"/>
                <a:cs typeface="Arial" pitchFamily="34" charset="0"/>
              </a:rPr>
              <a:t>presence </a:t>
            </a:r>
            <a:r>
              <a:rPr lang="en-AU" dirty="0" smtClean="0">
                <a:latin typeface="Arial" pitchFamily="34" charset="0"/>
                <a:cs typeface="Arial" pitchFamily="34" charset="0"/>
              </a:rPr>
              <a:t>of </a:t>
            </a:r>
            <a:r>
              <a:rPr lang="en-AU" b="1" dirty="0" smtClean="0">
                <a:latin typeface="Arial" pitchFamily="34" charset="0"/>
                <a:cs typeface="Arial" pitchFamily="34" charset="0"/>
              </a:rPr>
              <a:t>cardiac notch </a:t>
            </a:r>
            <a:r>
              <a:rPr lang="en-AU" dirty="0" smtClean="0">
                <a:latin typeface="Arial" pitchFamily="34" charset="0"/>
                <a:cs typeface="Arial" pitchFamily="34" charset="0"/>
              </a:rPr>
              <a:t>in the </a:t>
            </a:r>
            <a:r>
              <a:rPr lang="en-AU" b="1" dirty="0" smtClean="0">
                <a:latin typeface="Arial" pitchFamily="34" charset="0"/>
                <a:cs typeface="Arial" pitchFamily="34" charset="0"/>
              </a:rPr>
              <a:t>left lung</a:t>
            </a:r>
            <a:r>
              <a:rPr lang="en-AU" dirty="0" smtClean="0">
                <a:latin typeface="Arial" pitchFamily="34" charset="0"/>
                <a:cs typeface="Arial" pitchFamily="34" charset="0"/>
              </a:rPr>
              <a:t>. Its </a:t>
            </a:r>
            <a:r>
              <a:rPr lang="en-AU" b="1" dirty="0" smtClean="0">
                <a:latin typeface="Arial" pitchFamily="34" charset="0"/>
                <a:cs typeface="Arial" pitchFamily="34" charset="0"/>
              </a:rPr>
              <a:t>location</a:t>
            </a:r>
            <a:r>
              <a:rPr lang="en-AU" dirty="0" smtClean="0">
                <a:latin typeface="Arial" pitchFamily="34" charset="0"/>
                <a:cs typeface="Arial" pitchFamily="34" charset="0"/>
              </a:rPr>
              <a:t> can be confirmed </a:t>
            </a:r>
            <a:r>
              <a:rPr lang="en-AU" b="1" dirty="0" smtClean="0">
                <a:latin typeface="Arial" pitchFamily="34" charset="0"/>
                <a:cs typeface="Arial" pitchFamily="34" charset="0"/>
              </a:rPr>
              <a:t>clinically</a:t>
            </a:r>
            <a:r>
              <a:rPr lang="en-AU" dirty="0" smtClean="0">
                <a:latin typeface="Arial" pitchFamily="34" charset="0"/>
                <a:cs typeface="Arial" pitchFamily="34" charset="0"/>
              </a:rPr>
              <a:t> by </a:t>
            </a:r>
            <a:r>
              <a:rPr lang="en-AU" b="1" dirty="0" smtClean="0">
                <a:latin typeface="Arial" pitchFamily="34" charset="0"/>
                <a:cs typeface="Arial" pitchFamily="34" charset="0"/>
              </a:rPr>
              <a:t>percussion</a:t>
            </a:r>
            <a:r>
              <a:rPr lang="en-AU" dirty="0" smtClean="0">
                <a:latin typeface="Arial" pitchFamily="34" charset="0"/>
                <a:cs typeface="Arial" pitchFamily="34" charset="0"/>
              </a:rPr>
              <a:t> (tapping) of the </a:t>
            </a:r>
            <a:r>
              <a:rPr lang="en-AU" b="1" dirty="0" smtClean="0">
                <a:latin typeface="Arial" pitchFamily="34" charset="0"/>
                <a:cs typeface="Arial" pitchFamily="34" charset="0"/>
              </a:rPr>
              <a:t>chest wall</a:t>
            </a:r>
            <a:r>
              <a:rPr lang="en-AU" dirty="0" smtClean="0">
                <a:latin typeface="Arial" pitchFamily="34" charset="0"/>
                <a:cs typeface="Arial" pitchFamily="34" charset="0"/>
              </a:rPr>
              <a:t>.</a:t>
            </a:r>
            <a:endParaRPr lang="en-US"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8B1A3310-08A0-497E-A7E0-07BF4EF4A19E}" type="slidenum">
              <a:rPr lang="en-US" smtClean="0"/>
              <a:pPr/>
              <a:t>86</a:t>
            </a:fld>
            <a:endParaRPr lang="en-US"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714488"/>
            <a:ext cx="8229600" cy="4411675"/>
          </a:xfrm>
        </p:spPr>
        <p:txBody>
          <a:bodyPr/>
          <a:lstStyle/>
          <a:p>
            <a:pPr algn="just"/>
            <a:r>
              <a:rPr lang="en-AU" dirty="0">
                <a:latin typeface="Arial" pitchFamily="34" charset="0"/>
                <a:cs typeface="Arial" pitchFamily="34" charset="0"/>
              </a:rPr>
              <a:t>A</a:t>
            </a:r>
            <a:r>
              <a:rPr lang="en-AU" dirty="0" smtClean="0">
                <a:latin typeface="Arial" pitchFamily="34" charset="0"/>
                <a:cs typeface="Arial" pitchFamily="34" charset="0"/>
              </a:rPr>
              <a:t>rea of </a:t>
            </a:r>
            <a:r>
              <a:rPr lang="en-AU" b="1" dirty="0" smtClean="0">
                <a:latin typeface="Arial" pitchFamily="34" charset="0"/>
                <a:cs typeface="Arial" pitchFamily="34" charset="0"/>
              </a:rPr>
              <a:t>superficial cardiac dullness</a:t>
            </a:r>
            <a:r>
              <a:rPr lang="en-AU" dirty="0" smtClean="0">
                <a:latin typeface="Arial" pitchFamily="34" charset="0"/>
                <a:cs typeface="Arial" pitchFamily="34" charset="0"/>
              </a:rPr>
              <a:t>: As one </a:t>
            </a:r>
            <a:r>
              <a:rPr lang="en-AU" b="1" dirty="0" smtClean="0">
                <a:latin typeface="Arial" pitchFamily="34" charset="0"/>
                <a:cs typeface="Arial" pitchFamily="34" charset="0"/>
              </a:rPr>
              <a:t>moves</a:t>
            </a:r>
            <a:r>
              <a:rPr lang="en-AU" dirty="0" smtClean="0">
                <a:latin typeface="Arial" pitchFamily="34" charset="0"/>
                <a:cs typeface="Arial" pitchFamily="34" charset="0"/>
              </a:rPr>
              <a:t> during </a:t>
            </a:r>
            <a:r>
              <a:rPr lang="en-AU" b="1" dirty="0" smtClean="0">
                <a:latin typeface="Arial" pitchFamily="34" charset="0"/>
                <a:cs typeface="Arial" pitchFamily="34" charset="0"/>
              </a:rPr>
              <a:t>tapping</a:t>
            </a:r>
            <a:r>
              <a:rPr lang="en-AU" dirty="0" smtClean="0">
                <a:latin typeface="Arial" pitchFamily="34" charset="0"/>
                <a:cs typeface="Arial" pitchFamily="34" charset="0"/>
              </a:rPr>
              <a:t> from the </a:t>
            </a:r>
            <a:r>
              <a:rPr lang="en-AU" b="1" dirty="0" smtClean="0">
                <a:latin typeface="Arial" pitchFamily="34" charset="0"/>
                <a:cs typeface="Arial" pitchFamily="34" charset="0"/>
              </a:rPr>
              <a:t>area</a:t>
            </a:r>
            <a:r>
              <a:rPr lang="en-AU" dirty="0" smtClean="0">
                <a:latin typeface="Arial" pitchFamily="34" charset="0"/>
                <a:cs typeface="Arial" pitchFamily="34" charset="0"/>
              </a:rPr>
              <a:t> of </a:t>
            </a:r>
            <a:r>
              <a:rPr lang="en-AU" b="1" dirty="0" smtClean="0">
                <a:latin typeface="Arial" pitchFamily="34" charset="0"/>
                <a:cs typeface="Arial" pitchFamily="34" charset="0"/>
              </a:rPr>
              <a:t>underlying lung tissue </a:t>
            </a:r>
            <a:r>
              <a:rPr lang="en-AU" dirty="0" smtClean="0">
                <a:latin typeface="Arial" pitchFamily="34" charset="0"/>
                <a:cs typeface="Arial" pitchFamily="34" charset="0"/>
              </a:rPr>
              <a:t>to the </a:t>
            </a:r>
            <a:r>
              <a:rPr lang="en-AU" b="1" dirty="0" smtClean="0">
                <a:latin typeface="Arial" pitchFamily="34" charset="0"/>
                <a:cs typeface="Arial" pitchFamily="34" charset="0"/>
              </a:rPr>
              <a:t>area</a:t>
            </a:r>
            <a:r>
              <a:rPr lang="en-AU" dirty="0" smtClean="0">
                <a:latin typeface="Arial" pitchFamily="34" charset="0"/>
                <a:cs typeface="Arial" pitchFamily="34" charset="0"/>
              </a:rPr>
              <a:t> of left </a:t>
            </a:r>
            <a:r>
              <a:rPr lang="en-AU" b="1" dirty="0" smtClean="0">
                <a:latin typeface="Arial" pitchFamily="34" charset="0"/>
                <a:cs typeface="Arial" pitchFamily="34" charset="0"/>
              </a:rPr>
              <a:t>costomediastinal recess </a:t>
            </a:r>
            <a:r>
              <a:rPr lang="en-AU" dirty="0" smtClean="0">
                <a:latin typeface="Arial" pitchFamily="34" charset="0"/>
                <a:cs typeface="Arial" pitchFamily="34" charset="0"/>
              </a:rPr>
              <a:t>unoccupied by </a:t>
            </a:r>
            <a:r>
              <a:rPr lang="en-AU" b="1" dirty="0" smtClean="0">
                <a:latin typeface="Arial" pitchFamily="34" charset="0"/>
                <a:cs typeface="Arial" pitchFamily="34" charset="0"/>
              </a:rPr>
              <a:t>lung tissue</a:t>
            </a:r>
            <a:r>
              <a:rPr lang="en-AU" dirty="0" smtClean="0">
                <a:latin typeface="Arial" pitchFamily="34" charset="0"/>
                <a:cs typeface="Arial" pitchFamily="34" charset="0"/>
              </a:rPr>
              <a:t>, a </a:t>
            </a:r>
            <a:r>
              <a:rPr lang="en-AU" b="1" dirty="0" smtClean="0">
                <a:latin typeface="Arial" pitchFamily="34" charset="0"/>
                <a:cs typeface="Arial" pitchFamily="34" charset="0"/>
              </a:rPr>
              <a:t>change</a:t>
            </a:r>
            <a:r>
              <a:rPr lang="en-AU" dirty="0" smtClean="0">
                <a:latin typeface="Arial" pitchFamily="34" charset="0"/>
                <a:cs typeface="Arial" pitchFamily="34" charset="0"/>
              </a:rPr>
              <a:t> in </a:t>
            </a:r>
            <a:r>
              <a:rPr lang="en-AU" b="1" dirty="0" smtClean="0">
                <a:latin typeface="Arial" pitchFamily="34" charset="0"/>
                <a:cs typeface="Arial" pitchFamily="34" charset="0"/>
              </a:rPr>
              <a:t>tone</a:t>
            </a:r>
            <a:r>
              <a:rPr lang="en-AU" dirty="0" smtClean="0">
                <a:latin typeface="Arial" pitchFamily="34" charset="0"/>
                <a:cs typeface="Arial" pitchFamily="34" charset="0"/>
              </a:rPr>
              <a:t>, from </a:t>
            </a:r>
            <a:r>
              <a:rPr lang="en-AU" b="1" dirty="0" smtClean="0">
                <a:latin typeface="Arial" pitchFamily="34" charset="0"/>
                <a:cs typeface="Arial" pitchFamily="34" charset="0"/>
              </a:rPr>
              <a:t>resonant</a:t>
            </a:r>
            <a:r>
              <a:rPr lang="en-AU" dirty="0" smtClean="0">
                <a:latin typeface="Arial" pitchFamily="34" charset="0"/>
                <a:cs typeface="Arial" pitchFamily="34" charset="0"/>
              </a:rPr>
              <a:t> to </a:t>
            </a:r>
            <a:r>
              <a:rPr lang="en-AU" b="1" dirty="0" smtClean="0">
                <a:latin typeface="Arial" pitchFamily="34" charset="0"/>
                <a:cs typeface="Arial" pitchFamily="34" charset="0"/>
              </a:rPr>
              <a:t>dull</a:t>
            </a:r>
            <a:r>
              <a:rPr lang="en-AU" dirty="0" smtClean="0">
                <a:latin typeface="Arial" pitchFamily="34" charset="0"/>
                <a:cs typeface="Arial" pitchFamily="34" charset="0"/>
              </a:rPr>
              <a:t>, is </a:t>
            </a:r>
            <a:r>
              <a:rPr lang="en-AU" b="1" dirty="0" smtClean="0">
                <a:latin typeface="Arial" pitchFamily="34" charset="0"/>
                <a:cs typeface="Arial" pitchFamily="34" charset="0"/>
              </a:rPr>
              <a:t>noticed</a:t>
            </a:r>
            <a:r>
              <a:rPr lang="en-AU" dirty="0" smtClean="0">
                <a:latin typeface="Arial" pitchFamily="34" charset="0"/>
                <a:cs typeface="Arial" pitchFamily="34" charset="0"/>
              </a:rPr>
              <a:t>.</a:t>
            </a:r>
            <a:endParaRPr lang="en-US"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8B1A3310-08A0-497E-A7E0-07BF4EF4A19E}" type="slidenum">
              <a:rPr lang="en-US" smtClean="0"/>
              <a:pPr/>
              <a:t>87</a:t>
            </a:fld>
            <a:endParaRPr lang="en-US" dirty="0"/>
          </a:p>
        </p:txBody>
      </p:sp>
      <p:sp>
        <p:nvSpPr>
          <p:cNvPr id="5" name="TextBox 4"/>
          <p:cNvSpPr txBox="1"/>
          <p:nvPr/>
        </p:nvSpPr>
        <p:spPr>
          <a:xfrm>
            <a:off x="3428992" y="642918"/>
            <a:ext cx="2151551" cy="769441"/>
          </a:xfrm>
          <a:prstGeom prst="rect">
            <a:avLst/>
          </a:prstGeom>
          <a:noFill/>
        </p:spPr>
        <p:txBody>
          <a:bodyPr wrap="square" rtlCol="0">
            <a:spAutoFit/>
          </a:bodyPr>
          <a:lstStyle/>
          <a:p>
            <a:r>
              <a:rPr lang="en-AU" sz="4400" dirty="0" smtClean="0">
                <a:latin typeface="Arial Black" pitchFamily="34" charset="0"/>
              </a:rPr>
              <a:t>Cont’d</a:t>
            </a:r>
            <a:endParaRPr lang="en-US" sz="4400" dirty="0">
              <a:latin typeface="Arial Black" pitchFamily="34" charset="0"/>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00042"/>
            <a:ext cx="8229600" cy="1214446"/>
          </a:xfrm>
        </p:spPr>
        <p:txBody>
          <a:bodyPr>
            <a:normAutofit fontScale="90000"/>
          </a:bodyPr>
          <a:lstStyle/>
          <a:p>
            <a:r>
              <a:rPr lang="en-AU" dirty="0" smtClean="0">
                <a:latin typeface="Arial Black" pitchFamily="34" charset="0"/>
              </a:rPr>
              <a:t>ARTERIAL </a:t>
            </a:r>
            <a:r>
              <a:rPr lang="en-AU" dirty="0" smtClean="0">
                <a:latin typeface="Arial Black" pitchFamily="34" charset="0"/>
              </a:rPr>
              <a:t>SUPPLY </a:t>
            </a:r>
            <a:r>
              <a:rPr lang="en-AU" dirty="0" smtClean="0">
                <a:latin typeface="Arial Black" pitchFamily="34" charset="0"/>
              </a:rPr>
              <a:t>OF THE PLEURA</a:t>
            </a:r>
            <a:endParaRPr lang="en-US" dirty="0">
              <a:latin typeface="Arial Black" pitchFamily="34" charset="0"/>
            </a:endParaRPr>
          </a:p>
        </p:txBody>
      </p:sp>
      <p:sp>
        <p:nvSpPr>
          <p:cNvPr id="3" name="Content Placeholder 2"/>
          <p:cNvSpPr>
            <a:spLocks noGrp="1"/>
          </p:cNvSpPr>
          <p:nvPr>
            <p:ph idx="1"/>
          </p:nvPr>
        </p:nvSpPr>
        <p:spPr>
          <a:xfrm>
            <a:off x="457200" y="2071678"/>
            <a:ext cx="8229600" cy="4054485"/>
          </a:xfrm>
        </p:spPr>
        <p:txBody>
          <a:bodyPr/>
          <a:lstStyle/>
          <a:p>
            <a:pPr algn="just"/>
            <a:r>
              <a:rPr lang="en-AU" dirty="0" smtClean="0">
                <a:latin typeface="Arial" pitchFamily="34" charset="0"/>
                <a:cs typeface="Arial" pitchFamily="34" charset="0"/>
              </a:rPr>
              <a:t>Intercostal artery</a:t>
            </a:r>
          </a:p>
          <a:p>
            <a:pPr algn="just"/>
            <a:r>
              <a:rPr lang="en-AU" dirty="0" smtClean="0">
                <a:latin typeface="Arial" pitchFamily="34" charset="0"/>
                <a:cs typeface="Arial" pitchFamily="34" charset="0"/>
              </a:rPr>
              <a:t>Internal thoracic artery</a:t>
            </a:r>
          </a:p>
          <a:p>
            <a:pPr algn="just"/>
            <a:r>
              <a:rPr lang="en-AU" dirty="0" smtClean="0">
                <a:latin typeface="Arial" pitchFamily="34" charset="0"/>
                <a:cs typeface="Arial" pitchFamily="34" charset="0"/>
              </a:rPr>
              <a:t>Musculophrenic artery</a:t>
            </a:r>
          </a:p>
        </p:txBody>
      </p:sp>
      <p:sp>
        <p:nvSpPr>
          <p:cNvPr id="4" name="Slide Number Placeholder 3"/>
          <p:cNvSpPr>
            <a:spLocks noGrp="1"/>
          </p:cNvSpPr>
          <p:nvPr>
            <p:ph type="sldNum" sz="quarter" idx="12"/>
          </p:nvPr>
        </p:nvSpPr>
        <p:spPr/>
        <p:txBody>
          <a:bodyPr/>
          <a:lstStyle/>
          <a:p>
            <a:fld id="{8B1A3310-08A0-497E-A7E0-07BF4EF4A19E}" type="slidenum">
              <a:rPr lang="en-US" smtClean="0"/>
              <a:pPr/>
              <a:t>88</a:t>
            </a:fld>
            <a:endParaRPr lang="en-US"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4282" y="0"/>
            <a:ext cx="8472518" cy="1428736"/>
          </a:xfrm>
        </p:spPr>
        <p:txBody>
          <a:bodyPr>
            <a:normAutofit fontScale="90000"/>
          </a:bodyPr>
          <a:lstStyle/>
          <a:p>
            <a:r>
              <a:rPr lang="en-AU" dirty="0" smtClean="0">
                <a:latin typeface="Arial Black" pitchFamily="34" charset="0"/>
              </a:rPr>
              <a:t>NERVE SUPPLY OF THE PLEURA</a:t>
            </a:r>
            <a:endParaRPr lang="en-US" dirty="0">
              <a:latin typeface="Arial Black" pitchFamily="34" charset="0"/>
            </a:endParaRPr>
          </a:p>
        </p:txBody>
      </p:sp>
      <p:sp>
        <p:nvSpPr>
          <p:cNvPr id="3" name="Content Placeholder 2"/>
          <p:cNvSpPr>
            <a:spLocks noGrp="1"/>
          </p:cNvSpPr>
          <p:nvPr>
            <p:ph idx="1"/>
          </p:nvPr>
        </p:nvSpPr>
        <p:spPr>
          <a:xfrm>
            <a:off x="0" y="1357298"/>
            <a:ext cx="8858280" cy="5286412"/>
          </a:xfrm>
        </p:spPr>
        <p:txBody>
          <a:bodyPr>
            <a:noAutofit/>
          </a:bodyPr>
          <a:lstStyle/>
          <a:p>
            <a:pPr algn="just"/>
            <a:r>
              <a:rPr lang="en-AU" b="1" dirty="0" smtClean="0">
                <a:latin typeface="Arial" pitchFamily="34" charset="0"/>
                <a:cs typeface="Arial" pitchFamily="34" charset="0"/>
              </a:rPr>
              <a:t>Costovertebral pleura</a:t>
            </a:r>
            <a:r>
              <a:rPr lang="en-AU" dirty="0" smtClean="0">
                <a:latin typeface="Arial" pitchFamily="34" charset="0"/>
                <a:cs typeface="Arial" pitchFamily="34" charset="0"/>
              </a:rPr>
              <a:t>, </a:t>
            </a:r>
            <a:r>
              <a:rPr lang="en-AU" b="1" dirty="0" smtClean="0">
                <a:latin typeface="Arial" pitchFamily="34" charset="0"/>
                <a:cs typeface="Arial" pitchFamily="34" charset="0"/>
              </a:rPr>
              <a:t>costal</a:t>
            </a:r>
            <a:r>
              <a:rPr lang="en-AU" dirty="0" smtClean="0">
                <a:latin typeface="Arial" pitchFamily="34" charset="0"/>
                <a:cs typeface="Arial" pitchFamily="34" charset="0"/>
              </a:rPr>
              <a:t> and </a:t>
            </a:r>
            <a:r>
              <a:rPr lang="en-AU" b="1" dirty="0" smtClean="0">
                <a:latin typeface="Arial" pitchFamily="34" charset="0"/>
                <a:cs typeface="Arial" pitchFamily="34" charset="0"/>
              </a:rPr>
              <a:t>peripheral part </a:t>
            </a:r>
            <a:r>
              <a:rPr lang="en-AU" dirty="0" smtClean="0">
                <a:latin typeface="Arial" pitchFamily="34" charset="0"/>
                <a:cs typeface="Arial" pitchFamily="34" charset="0"/>
              </a:rPr>
              <a:t>of the </a:t>
            </a:r>
            <a:r>
              <a:rPr lang="en-AU" b="1" dirty="0" smtClean="0">
                <a:latin typeface="Arial" pitchFamily="34" charset="0"/>
                <a:cs typeface="Arial" pitchFamily="34" charset="0"/>
              </a:rPr>
              <a:t>diaphragmatic pleura </a:t>
            </a:r>
            <a:r>
              <a:rPr lang="en-AU" dirty="0" smtClean="0">
                <a:latin typeface="Arial" pitchFamily="34" charset="0"/>
                <a:cs typeface="Arial" pitchFamily="34" charset="0"/>
              </a:rPr>
              <a:t>is supplied by the </a:t>
            </a:r>
            <a:r>
              <a:rPr lang="en-AU" b="1" dirty="0" smtClean="0">
                <a:latin typeface="Arial" pitchFamily="34" charset="0"/>
                <a:cs typeface="Arial" pitchFamily="34" charset="0"/>
              </a:rPr>
              <a:t>intercostal nerves</a:t>
            </a:r>
            <a:r>
              <a:rPr lang="en-AU" dirty="0" smtClean="0">
                <a:latin typeface="Arial" pitchFamily="34" charset="0"/>
                <a:cs typeface="Arial" pitchFamily="34" charset="0"/>
              </a:rPr>
              <a:t>.</a:t>
            </a:r>
          </a:p>
          <a:p>
            <a:pPr algn="just"/>
            <a:r>
              <a:rPr lang="en-AU" b="1" dirty="0" smtClean="0">
                <a:latin typeface="Arial" pitchFamily="34" charset="0"/>
                <a:cs typeface="Arial" pitchFamily="34" charset="0"/>
              </a:rPr>
              <a:t>Mediastinal pleura </a:t>
            </a:r>
            <a:r>
              <a:rPr lang="en-AU" dirty="0" smtClean="0">
                <a:latin typeface="Arial" pitchFamily="34" charset="0"/>
                <a:cs typeface="Arial" pitchFamily="34" charset="0"/>
              </a:rPr>
              <a:t>and </a:t>
            </a:r>
            <a:r>
              <a:rPr lang="en-AU" b="1" dirty="0" smtClean="0">
                <a:latin typeface="Arial" pitchFamily="34" charset="0"/>
                <a:cs typeface="Arial" pitchFamily="34" charset="0"/>
              </a:rPr>
              <a:t>central part </a:t>
            </a:r>
            <a:r>
              <a:rPr lang="en-AU" dirty="0" smtClean="0">
                <a:latin typeface="Arial" pitchFamily="34" charset="0"/>
                <a:cs typeface="Arial" pitchFamily="34" charset="0"/>
              </a:rPr>
              <a:t>of the </a:t>
            </a:r>
            <a:r>
              <a:rPr lang="en-AU" b="1" dirty="0" smtClean="0">
                <a:latin typeface="Arial" pitchFamily="34" charset="0"/>
                <a:cs typeface="Arial" pitchFamily="34" charset="0"/>
              </a:rPr>
              <a:t>diaphragmatic pleura </a:t>
            </a:r>
            <a:r>
              <a:rPr lang="en-AU" dirty="0" smtClean="0">
                <a:latin typeface="Arial" pitchFamily="34" charset="0"/>
                <a:cs typeface="Arial" pitchFamily="34" charset="0"/>
              </a:rPr>
              <a:t>is supplied by the </a:t>
            </a:r>
            <a:r>
              <a:rPr lang="en-AU" b="1" dirty="0" smtClean="0">
                <a:latin typeface="Arial" pitchFamily="34" charset="0"/>
                <a:cs typeface="Arial" pitchFamily="34" charset="0"/>
              </a:rPr>
              <a:t>phrenic nerve</a:t>
            </a:r>
            <a:r>
              <a:rPr lang="en-AU" dirty="0" smtClean="0">
                <a:latin typeface="Arial" pitchFamily="34" charset="0"/>
                <a:cs typeface="Arial" pitchFamily="34" charset="0"/>
              </a:rPr>
              <a:t>.</a:t>
            </a:r>
          </a:p>
          <a:p>
            <a:pPr algn="just"/>
            <a:r>
              <a:rPr lang="en-AU" dirty="0" smtClean="0">
                <a:latin typeface="Arial" pitchFamily="34" charset="0"/>
                <a:cs typeface="Arial" pitchFamily="34" charset="0"/>
              </a:rPr>
              <a:t>The </a:t>
            </a:r>
            <a:r>
              <a:rPr lang="en-AU" b="1" dirty="0" smtClean="0">
                <a:latin typeface="Arial" pitchFamily="34" charset="0"/>
                <a:cs typeface="Arial" pitchFamily="34" charset="0"/>
              </a:rPr>
              <a:t>parietal pleura </a:t>
            </a:r>
            <a:r>
              <a:rPr lang="en-AU" dirty="0" smtClean="0">
                <a:latin typeface="Arial" pitchFamily="34" charset="0"/>
                <a:cs typeface="Arial" pitchFamily="34" charset="0"/>
              </a:rPr>
              <a:t>develops from </a:t>
            </a:r>
            <a:r>
              <a:rPr lang="en-AU" b="1" dirty="0" smtClean="0">
                <a:latin typeface="Arial" pitchFamily="34" charset="0"/>
                <a:cs typeface="Arial" pitchFamily="34" charset="0"/>
              </a:rPr>
              <a:t>somatopleuric layer </a:t>
            </a:r>
            <a:r>
              <a:rPr lang="en-AU" dirty="0" smtClean="0">
                <a:latin typeface="Arial" pitchFamily="34" charset="0"/>
                <a:cs typeface="Arial" pitchFamily="34" charset="0"/>
              </a:rPr>
              <a:t>of the </a:t>
            </a:r>
            <a:r>
              <a:rPr lang="en-AU" b="1" dirty="0" smtClean="0">
                <a:latin typeface="Arial" pitchFamily="34" charset="0"/>
                <a:cs typeface="Arial" pitchFamily="34" charset="0"/>
              </a:rPr>
              <a:t>lateral plate </a:t>
            </a:r>
            <a:r>
              <a:rPr lang="en-AU" dirty="0" smtClean="0">
                <a:latin typeface="Arial" pitchFamily="34" charset="0"/>
                <a:cs typeface="Arial" pitchFamily="34" charset="0"/>
              </a:rPr>
              <a:t>of </a:t>
            </a:r>
            <a:r>
              <a:rPr lang="en-AU" b="1" dirty="0" smtClean="0">
                <a:latin typeface="Arial" pitchFamily="34" charset="0"/>
                <a:cs typeface="Arial" pitchFamily="34" charset="0"/>
              </a:rPr>
              <a:t>mesoderm</a:t>
            </a:r>
            <a:r>
              <a:rPr lang="en-AU" dirty="0" smtClean="0">
                <a:latin typeface="Arial" pitchFamily="34" charset="0"/>
                <a:cs typeface="Arial" pitchFamily="34" charset="0"/>
              </a:rPr>
              <a:t>, hence it is </a:t>
            </a:r>
            <a:r>
              <a:rPr lang="en-AU" b="1" dirty="0" smtClean="0">
                <a:latin typeface="Arial" pitchFamily="34" charset="0"/>
                <a:cs typeface="Arial" pitchFamily="34" charset="0"/>
              </a:rPr>
              <a:t>supplied</a:t>
            </a:r>
            <a:r>
              <a:rPr lang="en-AU" dirty="0" smtClean="0">
                <a:latin typeface="Arial" pitchFamily="34" charset="0"/>
                <a:cs typeface="Arial" pitchFamily="34" charset="0"/>
              </a:rPr>
              <a:t> by the </a:t>
            </a:r>
            <a:r>
              <a:rPr lang="en-AU" b="1" dirty="0" smtClean="0">
                <a:latin typeface="Arial" pitchFamily="34" charset="0"/>
                <a:cs typeface="Arial" pitchFamily="34" charset="0"/>
              </a:rPr>
              <a:t>somatic nerves </a:t>
            </a:r>
            <a:r>
              <a:rPr lang="en-AU" dirty="0" smtClean="0">
                <a:latin typeface="Arial" pitchFamily="34" charset="0"/>
                <a:cs typeface="Arial" pitchFamily="34" charset="0"/>
              </a:rPr>
              <a:t>and is </a:t>
            </a:r>
            <a:r>
              <a:rPr lang="en-AU" b="1" dirty="0" smtClean="0">
                <a:latin typeface="Arial" pitchFamily="34" charset="0"/>
                <a:cs typeface="Arial" pitchFamily="34" charset="0"/>
              </a:rPr>
              <a:t>sensitive to pain.</a:t>
            </a:r>
          </a:p>
          <a:p>
            <a:pPr algn="just">
              <a:buFont typeface="Wingdings" pitchFamily="2" charset="2"/>
              <a:buChar char="§"/>
            </a:pPr>
            <a:endParaRPr lang="en-AU" dirty="0" smtClean="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8B1A3310-08A0-497E-A7E0-07BF4EF4A19E}" type="slidenum">
              <a:rPr lang="en-US" smtClean="0"/>
              <a:pPr/>
              <a:t>89</a:t>
            </a:fld>
            <a:endParaRPr lang="en-US"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28736"/>
            <a:ext cx="8229600" cy="4697427"/>
          </a:xfrm>
        </p:spPr>
        <p:txBody>
          <a:bodyPr/>
          <a:lstStyle/>
          <a:p>
            <a:pPr algn="just"/>
            <a:r>
              <a:rPr lang="en-AU" dirty="0" smtClean="0">
                <a:latin typeface="Arial" pitchFamily="34" charset="0"/>
                <a:cs typeface="Arial" pitchFamily="34" charset="0"/>
              </a:rPr>
              <a:t>The </a:t>
            </a:r>
            <a:r>
              <a:rPr lang="en-AU" b="1" dirty="0" smtClean="0">
                <a:latin typeface="Arial" pitchFamily="34" charset="0"/>
                <a:cs typeface="Arial" pitchFamily="34" charset="0"/>
              </a:rPr>
              <a:t>visceral pleura </a:t>
            </a:r>
            <a:r>
              <a:rPr lang="en-AU" dirty="0" smtClean="0">
                <a:latin typeface="Arial" pitchFamily="34" charset="0"/>
                <a:cs typeface="Arial" pitchFamily="34" charset="0"/>
              </a:rPr>
              <a:t>develops from </a:t>
            </a:r>
            <a:r>
              <a:rPr lang="en-AU" b="1" dirty="0" smtClean="0">
                <a:latin typeface="Arial" pitchFamily="34" charset="0"/>
                <a:cs typeface="Arial" pitchFamily="34" charset="0"/>
              </a:rPr>
              <a:t>splanchnopleuric layer </a:t>
            </a:r>
            <a:r>
              <a:rPr lang="en-AU" dirty="0" smtClean="0">
                <a:latin typeface="Arial" pitchFamily="34" charset="0"/>
                <a:cs typeface="Arial" pitchFamily="34" charset="0"/>
              </a:rPr>
              <a:t>of the </a:t>
            </a:r>
            <a:r>
              <a:rPr lang="en-AU" b="1" dirty="0" smtClean="0">
                <a:latin typeface="Arial" pitchFamily="34" charset="0"/>
                <a:cs typeface="Arial" pitchFamily="34" charset="0"/>
              </a:rPr>
              <a:t>lateral plate</a:t>
            </a:r>
            <a:r>
              <a:rPr lang="en-AU" dirty="0" smtClean="0">
                <a:latin typeface="Arial" pitchFamily="34" charset="0"/>
                <a:cs typeface="Arial" pitchFamily="34" charset="0"/>
              </a:rPr>
              <a:t> of </a:t>
            </a:r>
            <a:r>
              <a:rPr lang="en-AU" b="1" dirty="0" smtClean="0">
                <a:latin typeface="Arial" pitchFamily="34" charset="0"/>
                <a:cs typeface="Arial" pitchFamily="34" charset="0"/>
              </a:rPr>
              <a:t>mesoderm</a:t>
            </a:r>
            <a:r>
              <a:rPr lang="en-AU" dirty="0" smtClean="0">
                <a:latin typeface="Arial" pitchFamily="34" charset="0"/>
                <a:cs typeface="Arial" pitchFamily="34" charset="0"/>
              </a:rPr>
              <a:t>, hence it is </a:t>
            </a:r>
            <a:r>
              <a:rPr lang="en-AU" b="1" dirty="0" smtClean="0">
                <a:latin typeface="Arial" pitchFamily="34" charset="0"/>
                <a:cs typeface="Arial" pitchFamily="34" charset="0"/>
              </a:rPr>
              <a:t>supplied</a:t>
            </a:r>
            <a:r>
              <a:rPr lang="en-AU" dirty="0" smtClean="0">
                <a:latin typeface="Arial" pitchFamily="34" charset="0"/>
                <a:cs typeface="Arial" pitchFamily="34" charset="0"/>
              </a:rPr>
              <a:t> by the </a:t>
            </a:r>
            <a:r>
              <a:rPr lang="en-AU" b="1" dirty="0" smtClean="0">
                <a:latin typeface="Arial" pitchFamily="34" charset="0"/>
                <a:cs typeface="Arial" pitchFamily="34" charset="0"/>
              </a:rPr>
              <a:t>autonomic </a:t>
            </a:r>
            <a:r>
              <a:rPr lang="en-AU" dirty="0" smtClean="0">
                <a:latin typeface="Arial" pitchFamily="34" charset="0"/>
                <a:cs typeface="Arial" pitchFamily="34" charset="0"/>
              </a:rPr>
              <a:t>(sympathetic) </a:t>
            </a:r>
            <a:r>
              <a:rPr lang="en-AU" b="1" dirty="0" smtClean="0">
                <a:latin typeface="Arial" pitchFamily="34" charset="0"/>
                <a:cs typeface="Arial" pitchFamily="34" charset="0"/>
              </a:rPr>
              <a:t>nerves</a:t>
            </a:r>
            <a:r>
              <a:rPr lang="en-AU" dirty="0" smtClean="0">
                <a:latin typeface="Arial" pitchFamily="34" charset="0"/>
                <a:cs typeface="Arial" pitchFamily="34" charset="0"/>
              </a:rPr>
              <a:t> (</a:t>
            </a:r>
            <a:r>
              <a:rPr lang="en-AU" b="1" dirty="0" smtClean="0">
                <a:latin typeface="Arial" pitchFamily="34" charset="0"/>
                <a:cs typeface="Arial" pitchFamily="34" charset="0"/>
              </a:rPr>
              <a:t>T2-T5</a:t>
            </a:r>
            <a:r>
              <a:rPr lang="en-AU" dirty="0" smtClean="0">
                <a:latin typeface="Arial" pitchFamily="34" charset="0"/>
                <a:cs typeface="Arial" pitchFamily="34" charset="0"/>
              </a:rPr>
              <a:t>) and is </a:t>
            </a:r>
            <a:r>
              <a:rPr lang="en-AU" b="1" dirty="0" smtClean="0">
                <a:latin typeface="Arial" pitchFamily="34" charset="0"/>
                <a:cs typeface="Arial" pitchFamily="34" charset="0"/>
              </a:rPr>
              <a:t>insensitive</a:t>
            </a:r>
            <a:r>
              <a:rPr lang="en-AU" dirty="0" smtClean="0">
                <a:latin typeface="Arial" pitchFamily="34" charset="0"/>
                <a:cs typeface="Arial" pitchFamily="34" charset="0"/>
              </a:rPr>
              <a:t> to </a:t>
            </a:r>
            <a:r>
              <a:rPr lang="en-AU" b="1" dirty="0" smtClean="0">
                <a:latin typeface="Arial" pitchFamily="34" charset="0"/>
                <a:cs typeface="Arial" pitchFamily="34" charset="0"/>
              </a:rPr>
              <a:t>pain</a:t>
            </a:r>
            <a:r>
              <a:rPr lang="en-AU" dirty="0" smtClean="0">
                <a:latin typeface="Arial" pitchFamily="34" charset="0"/>
                <a:cs typeface="Arial" pitchFamily="34" charset="0"/>
              </a:rPr>
              <a:t>.</a:t>
            </a:r>
            <a:endParaRPr lang="en-US"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8B1A3310-08A0-497E-A7E0-07BF4EF4A19E}" type="slidenum">
              <a:rPr lang="en-US" smtClean="0"/>
              <a:pPr/>
              <a:t>90</a:t>
            </a:fld>
            <a:endParaRPr lang="en-US" dirty="0"/>
          </a:p>
        </p:txBody>
      </p:sp>
      <p:sp>
        <p:nvSpPr>
          <p:cNvPr id="5" name="TextBox 4"/>
          <p:cNvSpPr txBox="1"/>
          <p:nvPr/>
        </p:nvSpPr>
        <p:spPr>
          <a:xfrm>
            <a:off x="3643306" y="357166"/>
            <a:ext cx="2151551" cy="769441"/>
          </a:xfrm>
          <a:prstGeom prst="rect">
            <a:avLst/>
          </a:prstGeom>
          <a:noFill/>
        </p:spPr>
        <p:txBody>
          <a:bodyPr wrap="square" rtlCol="0">
            <a:spAutoFit/>
          </a:bodyPr>
          <a:lstStyle/>
          <a:p>
            <a:r>
              <a:rPr lang="en-AU" sz="4400" dirty="0" smtClean="0">
                <a:latin typeface="Arial Black" pitchFamily="34" charset="0"/>
              </a:rPr>
              <a:t>Cont’d</a:t>
            </a:r>
            <a:endParaRPr lang="en-US" sz="4400" dirty="0">
              <a:latin typeface="Arial Black" pitchFamily="34" charset="0"/>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8686800" cy="1143000"/>
          </a:xfrm>
        </p:spPr>
        <p:txBody>
          <a:bodyPr>
            <a:noAutofit/>
          </a:bodyPr>
          <a:lstStyle/>
          <a:p>
            <a:r>
              <a:rPr lang="en-AU" dirty="0" smtClean="0">
                <a:latin typeface="Arial Black" pitchFamily="34" charset="0"/>
              </a:rPr>
              <a:t>LYMPHATIC</a:t>
            </a:r>
            <a:br>
              <a:rPr lang="en-AU" dirty="0" smtClean="0">
                <a:latin typeface="Arial Black" pitchFamily="34" charset="0"/>
              </a:rPr>
            </a:br>
            <a:r>
              <a:rPr lang="en-AU" dirty="0" smtClean="0">
                <a:latin typeface="Arial Black" pitchFamily="34" charset="0"/>
              </a:rPr>
              <a:t>DRAINAGE OF THE PLEURA</a:t>
            </a:r>
            <a:endParaRPr lang="en-US" dirty="0">
              <a:latin typeface="Arial Black" pitchFamily="34" charset="0"/>
            </a:endParaRPr>
          </a:p>
        </p:txBody>
      </p:sp>
      <p:sp>
        <p:nvSpPr>
          <p:cNvPr id="3" name="Content Placeholder 2"/>
          <p:cNvSpPr>
            <a:spLocks noGrp="1"/>
          </p:cNvSpPr>
          <p:nvPr>
            <p:ph idx="1"/>
          </p:nvPr>
        </p:nvSpPr>
        <p:spPr>
          <a:xfrm>
            <a:off x="457200" y="1785926"/>
            <a:ext cx="8229600" cy="4340237"/>
          </a:xfrm>
        </p:spPr>
        <p:txBody>
          <a:bodyPr/>
          <a:lstStyle/>
          <a:p>
            <a:pPr algn="just"/>
            <a:r>
              <a:rPr lang="en-AU" dirty="0" smtClean="0">
                <a:latin typeface="Arial" pitchFamily="34" charset="0"/>
                <a:cs typeface="Arial" pitchFamily="34" charset="0"/>
              </a:rPr>
              <a:t>Intercostal lymph node</a:t>
            </a:r>
          </a:p>
          <a:p>
            <a:pPr algn="just"/>
            <a:r>
              <a:rPr lang="en-AU" dirty="0" smtClean="0">
                <a:latin typeface="Arial" pitchFamily="34" charset="0"/>
                <a:cs typeface="Arial" pitchFamily="34" charset="0"/>
              </a:rPr>
              <a:t>Parasternal lymph node</a:t>
            </a:r>
          </a:p>
          <a:p>
            <a:pPr algn="just"/>
            <a:r>
              <a:rPr lang="en-AU" dirty="0" smtClean="0">
                <a:latin typeface="Arial" pitchFamily="34" charset="0"/>
                <a:cs typeface="Arial" pitchFamily="34" charset="0"/>
              </a:rPr>
              <a:t>Diaphragmatic lymph node</a:t>
            </a:r>
          </a:p>
          <a:p>
            <a:pPr algn="just"/>
            <a:r>
              <a:rPr lang="en-AU" dirty="0" smtClean="0">
                <a:latin typeface="Arial" pitchFamily="34" charset="0"/>
                <a:cs typeface="Arial" pitchFamily="34" charset="0"/>
              </a:rPr>
              <a:t>Posterior mediastinal lymph node.</a:t>
            </a:r>
            <a:endParaRPr lang="en-US"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8B1A3310-08A0-497E-A7E0-07BF4EF4A19E}" type="slidenum">
              <a:rPr lang="en-US" smtClean="0"/>
              <a:pPr/>
              <a:t>91</a:t>
            </a:fld>
            <a:endParaRPr lang="en-US"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latin typeface="Arial Black" pitchFamily="34" charset="0"/>
              </a:rPr>
              <a:t>Differences between the parietal and visceral pleurae</a:t>
            </a:r>
            <a:endParaRPr lang="en-US" dirty="0">
              <a:latin typeface="Arial Black" pitchFamily="34" charset="0"/>
            </a:endParaRPr>
          </a:p>
        </p:txBody>
      </p:sp>
      <p:graphicFrame>
        <p:nvGraphicFramePr>
          <p:cNvPr id="5" name="Content Placeholder 4"/>
          <p:cNvGraphicFramePr>
            <a:graphicFrameLocks noGrp="1"/>
          </p:cNvGraphicFramePr>
          <p:nvPr>
            <p:ph idx="1"/>
          </p:nvPr>
        </p:nvGraphicFramePr>
        <p:xfrm>
          <a:off x="214282" y="1643050"/>
          <a:ext cx="8715436" cy="4786347"/>
        </p:xfrm>
        <a:graphic>
          <a:graphicData uri="http://schemas.openxmlformats.org/drawingml/2006/table">
            <a:tbl>
              <a:tblPr firstRow="1" bandRow="1">
                <a:tableStyleId>{5C22544A-7EE6-4342-B048-85BDC9FD1C3A}</a:tableStyleId>
              </a:tblPr>
              <a:tblGrid>
                <a:gridCol w="4357718"/>
                <a:gridCol w="4357718"/>
              </a:tblGrid>
              <a:tr h="605551">
                <a:tc>
                  <a:txBody>
                    <a:bodyPr/>
                    <a:lstStyle/>
                    <a:p>
                      <a:r>
                        <a:rPr lang="en-US" dirty="0" smtClean="0"/>
                        <a:t>              Parietal pleura</a:t>
                      </a:r>
                      <a:endParaRPr lang="en-US" dirty="0"/>
                    </a:p>
                  </a:txBody>
                  <a:tcPr/>
                </a:tc>
                <a:tc>
                  <a:txBody>
                    <a:bodyPr/>
                    <a:lstStyle/>
                    <a:p>
                      <a:r>
                        <a:rPr lang="en-US" dirty="0" smtClean="0"/>
                        <a:t>Visceral pleura</a:t>
                      </a:r>
                      <a:endParaRPr lang="en-US" dirty="0"/>
                    </a:p>
                  </a:txBody>
                  <a:tcPr/>
                </a:tc>
              </a:tr>
              <a:tr h="1045199">
                <a:tc>
                  <a:txBody>
                    <a:bodyPr/>
                    <a:lstStyle/>
                    <a:p>
                      <a:r>
                        <a:rPr lang="en-AU" dirty="0" smtClean="0">
                          <a:latin typeface="Arial" pitchFamily="34" charset="0"/>
                          <a:cs typeface="Arial" pitchFamily="34" charset="0"/>
                        </a:rPr>
                        <a:t>Lines the thoracic wall and </a:t>
                      </a:r>
                    </a:p>
                    <a:p>
                      <a:r>
                        <a:rPr lang="en-AU" dirty="0" smtClean="0">
                          <a:latin typeface="Arial" pitchFamily="34" charset="0"/>
                          <a:cs typeface="Arial" pitchFamily="34" charset="0"/>
                        </a:rPr>
                        <a:t>mediastinum</a:t>
                      </a:r>
                      <a:endParaRPr lang="en-US" dirty="0">
                        <a:latin typeface="Arial" pitchFamily="34" charset="0"/>
                        <a:cs typeface="Arial" pitchFamily="34" charset="0"/>
                      </a:endParaRPr>
                    </a:p>
                  </a:txBody>
                  <a:tcPr/>
                </a:tc>
                <a:tc>
                  <a:txBody>
                    <a:bodyPr/>
                    <a:lstStyle/>
                    <a:p>
                      <a:r>
                        <a:rPr lang="en-AU" dirty="0" smtClean="0">
                          <a:latin typeface="Arial" pitchFamily="34" charset="0"/>
                          <a:cs typeface="Arial" pitchFamily="34" charset="0"/>
                        </a:rPr>
                        <a:t>Lines the surface of the lung</a:t>
                      </a:r>
                      <a:endParaRPr lang="en-US" dirty="0">
                        <a:latin typeface="Arial" pitchFamily="34" charset="0"/>
                        <a:cs typeface="Arial" pitchFamily="34" charset="0"/>
                      </a:endParaRPr>
                    </a:p>
                  </a:txBody>
                  <a:tcPr/>
                </a:tc>
              </a:tr>
              <a:tr h="1045199">
                <a:tc>
                  <a:txBody>
                    <a:bodyPr/>
                    <a:lstStyle/>
                    <a:p>
                      <a:r>
                        <a:rPr lang="en-AU" dirty="0" smtClean="0">
                          <a:latin typeface="Arial" pitchFamily="34" charset="0"/>
                          <a:cs typeface="Arial" pitchFamily="34" charset="0"/>
                        </a:rPr>
                        <a:t>Develops from the </a:t>
                      </a:r>
                    </a:p>
                    <a:p>
                      <a:r>
                        <a:rPr lang="en-AU" dirty="0" smtClean="0">
                          <a:latin typeface="Arial" pitchFamily="34" charset="0"/>
                          <a:cs typeface="Arial" pitchFamily="34" charset="0"/>
                        </a:rPr>
                        <a:t>somatopleuric mesoderm</a:t>
                      </a:r>
                      <a:endParaRPr lang="en-US" dirty="0">
                        <a:latin typeface="Arial" pitchFamily="34" charset="0"/>
                        <a:cs typeface="Arial" pitchFamily="34" charset="0"/>
                      </a:endParaRPr>
                    </a:p>
                  </a:txBody>
                  <a:tcPr/>
                </a:tc>
                <a:tc>
                  <a:txBody>
                    <a:bodyPr/>
                    <a:lstStyle/>
                    <a:p>
                      <a:r>
                        <a:rPr lang="en-AU" dirty="0" smtClean="0">
                          <a:latin typeface="Arial" pitchFamily="34" charset="0"/>
                          <a:cs typeface="Arial" pitchFamily="34" charset="0"/>
                        </a:rPr>
                        <a:t>Develops from the </a:t>
                      </a:r>
                    </a:p>
                    <a:p>
                      <a:r>
                        <a:rPr lang="en-AU" dirty="0" smtClean="0">
                          <a:latin typeface="Arial" pitchFamily="34" charset="0"/>
                          <a:cs typeface="Arial" pitchFamily="34" charset="0"/>
                        </a:rPr>
                        <a:t>splanchnopleuric mesoderm</a:t>
                      </a:r>
                      <a:endParaRPr lang="en-US" dirty="0">
                        <a:latin typeface="Arial" pitchFamily="34" charset="0"/>
                        <a:cs typeface="Arial" pitchFamily="34" charset="0"/>
                      </a:endParaRPr>
                    </a:p>
                  </a:txBody>
                  <a:tcPr/>
                </a:tc>
              </a:tr>
              <a:tr h="1045199">
                <a:tc>
                  <a:txBody>
                    <a:bodyPr/>
                    <a:lstStyle/>
                    <a:p>
                      <a:r>
                        <a:rPr lang="en-AU" dirty="0" smtClean="0">
                          <a:latin typeface="Arial" pitchFamily="34" charset="0"/>
                          <a:cs typeface="Arial" pitchFamily="34" charset="0"/>
                        </a:rPr>
                        <a:t>Innervated by the somatic </a:t>
                      </a:r>
                    </a:p>
                    <a:p>
                      <a:r>
                        <a:rPr lang="en-AU" dirty="0" smtClean="0">
                          <a:latin typeface="Arial" pitchFamily="34" charset="0"/>
                          <a:cs typeface="Arial" pitchFamily="34" charset="0"/>
                        </a:rPr>
                        <a:t>nerves</a:t>
                      </a:r>
                      <a:endParaRPr lang="en-US" dirty="0">
                        <a:latin typeface="Arial" pitchFamily="34" charset="0"/>
                        <a:cs typeface="Arial" pitchFamily="34" charset="0"/>
                      </a:endParaRPr>
                    </a:p>
                  </a:txBody>
                  <a:tcPr/>
                </a:tc>
                <a:tc>
                  <a:txBody>
                    <a:bodyPr/>
                    <a:lstStyle/>
                    <a:p>
                      <a:r>
                        <a:rPr lang="en-AU" dirty="0" smtClean="0">
                          <a:latin typeface="Arial" pitchFamily="34" charset="0"/>
                          <a:cs typeface="Arial" pitchFamily="34" charset="0"/>
                        </a:rPr>
                        <a:t>Innervated by the autonomic </a:t>
                      </a:r>
                    </a:p>
                    <a:p>
                      <a:r>
                        <a:rPr lang="en-AU" dirty="0" smtClean="0">
                          <a:latin typeface="Arial" pitchFamily="34" charset="0"/>
                          <a:cs typeface="Arial" pitchFamily="34" charset="0"/>
                        </a:rPr>
                        <a:t>nerves</a:t>
                      </a:r>
                      <a:endParaRPr lang="en-US" dirty="0">
                        <a:latin typeface="Arial" pitchFamily="34" charset="0"/>
                        <a:cs typeface="Arial" pitchFamily="34" charset="0"/>
                      </a:endParaRPr>
                    </a:p>
                  </a:txBody>
                  <a:tcPr/>
                </a:tc>
              </a:tr>
              <a:tr h="1045199">
                <a:tc>
                  <a:txBody>
                    <a:bodyPr/>
                    <a:lstStyle/>
                    <a:p>
                      <a:r>
                        <a:rPr lang="en-US" dirty="0" smtClean="0">
                          <a:latin typeface="Arial" pitchFamily="34" charset="0"/>
                          <a:cs typeface="Arial" pitchFamily="34" charset="0"/>
                        </a:rPr>
                        <a:t>Sensitive to pain</a:t>
                      </a:r>
                      <a:endParaRPr lang="en-US" dirty="0">
                        <a:latin typeface="Arial" pitchFamily="34" charset="0"/>
                        <a:cs typeface="Arial" pitchFamily="34" charset="0"/>
                      </a:endParaRPr>
                    </a:p>
                  </a:txBody>
                  <a:tcPr/>
                </a:tc>
                <a:tc>
                  <a:txBody>
                    <a:bodyPr/>
                    <a:lstStyle/>
                    <a:p>
                      <a:r>
                        <a:rPr lang="en-US" dirty="0" smtClean="0">
                          <a:latin typeface="Arial" pitchFamily="34" charset="0"/>
                          <a:cs typeface="Arial" pitchFamily="34" charset="0"/>
                        </a:rPr>
                        <a:t>Insensitive to pain</a:t>
                      </a:r>
                    </a:p>
                    <a:p>
                      <a:endParaRPr lang="en-US" dirty="0">
                        <a:latin typeface="Arial" pitchFamily="34" charset="0"/>
                        <a:cs typeface="Arial" pitchFamily="34" charset="0"/>
                      </a:endParaRPr>
                    </a:p>
                  </a:txBody>
                  <a:tcPr/>
                </a:tc>
              </a:tr>
            </a:tbl>
          </a:graphicData>
        </a:graphic>
      </p:graphicFrame>
      <p:sp>
        <p:nvSpPr>
          <p:cNvPr id="4" name="Slide Number Placeholder 3"/>
          <p:cNvSpPr>
            <a:spLocks noGrp="1"/>
          </p:cNvSpPr>
          <p:nvPr>
            <p:ph type="sldNum" sz="quarter" idx="12"/>
          </p:nvPr>
        </p:nvSpPr>
        <p:spPr/>
        <p:txBody>
          <a:bodyPr/>
          <a:lstStyle/>
          <a:p>
            <a:fld id="{8B1A3310-08A0-497E-A7E0-07BF4EF4A19E}" type="slidenum">
              <a:rPr lang="en-US" smtClean="0"/>
              <a:pPr/>
              <a:t>92</a:t>
            </a:fld>
            <a:endParaRPr lang="en-US"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latin typeface="Arial Black" pitchFamily="34" charset="0"/>
              </a:rPr>
              <a:t>APPLIED ANATOMY</a:t>
            </a:r>
            <a:endParaRPr lang="en-US" dirty="0">
              <a:latin typeface="Arial Black" pitchFamily="34" charset="0"/>
            </a:endParaRPr>
          </a:p>
        </p:txBody>
      </p:sp>
      <p:sp>
        <p:nvSpPr>
          <p:cNvPr id="3" name="Content Placeholder 2"/>
          <p:cNvSpPr>
            <a:spLocks noGrp="1"/>
          </p:cNvSpPr>
          <p:nvPr>
            <p:ph idx="1"/>
          </p:nvPr>
        </p:nvSpPr>
        <p:spPr>
          <a:xfrm>
            <a:off x="457200" y="1600200"/>
            <a:ext cx="8229600" cy="5257800"/>
          </a:xfrm>
        </p:spPr>
        <p:txBody>
          <a:bodyPr>
            <a:normAutofit fontScale="92500" lnSpcReduction="10000"/>
          </a:bodyPr>
          <a:lstStyle/>
          <a:p>
            <a:pPr algn="just"/>
            <a:r>
              <a:rPr lang="en-AU" sz="3500" b="1" dirty="0" smtClean="0">
                <a:latin typeface="Arial" pitchFamily="34" charset="0"/>
                <a:cs typeface="Arial" pitchFamily="34" charset="0"/>
              </a:rPr>
              <a:t>Pleurisy or pleuritis</a:t>
            </a:r>
            <a:r>
              <a:rPr lang="en-AU" sz="3500" dirty="0" smtClean="0">
                <a:latin typeface="Arial" pitchFamily="34" charset="0"/>
                <a:cs typeface="Arial" pitchFamily="34" charset="0"/>
              </a:rPr>
              <a:t>: It is the </a:t>
            </a:r>
            <a:r>
              <a:rPr lang="en-AU" sz="3500" b="1" dirty="0" smtClean="0">
                <a:latin typeface="Arial" pitchFamily="34" charset="0"/>
                <a:cs typeface="Arial" pitchFamily="34" charset="0"/>
              </a:rPr>
              <a:t>inflammation</a:t>
            </a:r>
            <a:r>
              <a:rPr lang="en-AU" sz="3500" dirty="0" smtClean="0">
                <a:latin typeface="Arial" pitchFamily="34" charset="0"/>
                <a:cs typeface="Arial" pitchFamily="34" charset="0"/>
              </a:rPr>
              <a:t> of the </a:t>
            </a:r>
            <a:r>
              <a:rPr lang="en-AU" sz="3500" b="1" dirty="0" smtClean="0">
                <a:latin typeface="Arial" pitchFamily="34" charset="0"/>
                <a:cs typeface="Arial" pitchFamily="34" charset="0"/>
              </a:rPr>
              <a:t>parietal pleura</a:t>
            </a:r>
            <a:r>
              <a:rPr lang="en-AU" sz="3500" dirty="0" smtClean="0">
                <a:latin typeface="Arial" pitchFamily="34" charset="0"/>
                <a:cs typeface="Arial" pitchFamily="34" charset="0"/>
              </a:rPr>
              <a:t>. lt usually presents as </a:t>
            </a:r>
            <a:r>
              <a:rPr lang="en-AU" sz="3500" b="1" dirty="0" smtClean="0">
                <a:latin typeface="Arial" pitchFamily="34" charset="0"/>
                <a:cs typeface="Arial" pitchFamily="34" charset="0"/>
              </a:rPr>
              <a:t>pain</a:t>
            </a:r>
            <a:r>
              <a:rPr lang="en-AU" sz="3500" dirty="0" smtClean="0">
                <a:latin typeface="Arial" pitchFamily="34" charset="0"/>
                <a:cs typeface="Arial" pitchFamily="34" charset="0"/>
              </a:rPr>
              <a:t>, which is </a:t>
            </a:r>
            <a:r>
              <a:rPr lang="en-AU" sz="3500" b="1" dirty="0" smtClean="0">
                <a:latin typeface="Arial" pitchFamily="34" charset="0"/>
                <a:cs typeface="Arial" pitchFamily="34" charset="0"/>
              </a:rPr>
              <a:t>exacerbated</a:t>
            </a:r>
            <a:r>
              <a:rPr lang="en-AU" sz="3500" dirty="0" smtClean="0">
                <a:latin typeface="Arial" pitchFamily="34" charset="0"/>
                <a:cs typeface="Arial" pitchFamily="34" charset="0"/>
              </a:rPr>
              <a:t> by </a:t>
            </a:r>
            <a:r>
              <a:rPr lang="en-AU" sz="3500" b="1" dirty="0" smtClean="0">
                <a:latin typeface="Arial" pitchFamily="34" charset="0"/>
                <a:cs typeface="Arial" pitchFamily="34" charset="0"/>
              </a:rPr>
              <a:t>respiratory movements </a:t>
            </a:r>
            <a:r>
              <a:rPr lang="en-AU" sz="3500" dirty="0" smtClean="0">
                <a:latin typeface="Arial" pitchFamily="34" charset="0"/>
                <a:cs typeface="Arial" pitchFamily="34" charset="0"/>
              </a:rPr>
              <a:t>and </a:t>
            </a:r>
            <a:r>
              <a:rPr lang="en-AU" sz="3500" b="1" dirty="0" smtClean="0">
                <a:latin typeface="Arial" pitchFamily="34" charset="0"/>
                <a:cs typeface="Arial" pitchFamily="34" charset="0"/>
              </a:rPr>
              <a:t>radiates</a:t>
            </a:r>
            <a:r>
              <a:rPr lang="en-AU" sz="3500" dirty="0" smtClean="0">
                <a:latin typeface="Arial" pitchFamily="34" charset="0"/>
                <a:cs typeface="Arial" pitchFamily="34" charset="0"/>
              </a:rPr>
              <a:t> to </a:t>
            </a:r>
            <a:r>
              <a:rPr lang="en-AU" sz="3500" b="1" dirty="0" smtClean="0">
                <a:latin typeface="Arial" pitchFamily="34" charset="0"/>
                <a:cs typeface="Arial" pitchFamily="34" charset="0"/>
              </a:rPr>
              <a:t>thoracic</a:t>
            </a:r>
            <a:r>
              <a:rPr lang="en-AU" sz="3500" dirty="0" smtClean="0">
                <a:latin typeface="Arial" pitchFamily="34" charset="0"/>
                <a:cs typeface="Arial" pitchFamily="34" charset="0"/>
              </a:rPr>
              <a:t> and </a:t>
            </a:r>
            <a:r>
              <a:rPr lang="en-AU" sz="3500" b="1" dirty="0" smtClean="0">
                <a:latin typeface="Arial" pitchFamily="34" charset="0"/>
                <a:cs typeface="Arial" pitchFamily="34" charset="0"/>
              </a:rPr>
              <a:t>abdominal walls</a:t>
            </a:r>
            <a:r>
              <a:rPr lang="en-AU" sz="3500" dirty="0" smtClean="0">
                <a:latin typeface="Arial" pitchFamily="34" charset="0"/>
                <a:cs typeface="Arial" pitchFamily="34" charset="0"/>
              </a:rPr>
              <a:t>. The </a:t>
            </a:r>
            <a:r>
              <a:rPr lang="en-AU" sz="3500" b="1" dirty="0" smtClean="0">
                <a:latin typeface="Arial" pitchFamily="34" charset="0"/>
                <a:cs typeface="Arial" pitchFamily="34" charset="0"/>
              </a:rPr>
              <a:t>pleural surface </a:t>
            </a:r>
            <a:r>
              <a:rPr lang="en-AU" sz="3500" dirty="0" smtClean="0">
                <a:latin typeface="Arial" pitchFamily="34" charset="0"/>
                <a:cs typeface="Arial" pitchFamily="34" charset="0"/>
              </a:rPr>
              <a:t>becomes </a:t>
            </a:r>
            <a:r>
              <a:rPr lang="en-AU" sz="3500" b="1" dirty="0" smtClean="0">
                <a:latin typeface="Arial" pitchFamily="34" charset="0"/>
                <a:cs typeface="Arial" pitchFamily="34" charset="0"/>
              </a:rPr>
              <a:t>rough </a:t>
            </a:r>
            <a:r>
              <a:rPr lang="en-AU" sz="3500" dirty="0" smtClean="0">
                <a:latin typeface="Arial" pitchFamily="34" charset="0"/>
                <a:cs typeface="Arial" pitchFamily="34" charset="0"/>
              </a:rPr>
              <a:t>due to </a:t>
            </a:r>
            <a:r>
              <a:rPr lang="en-AU" sz="3500" b="1" dirty="0" smtClean="0">
                <a:latin typeface="Arial" pitchFamily="34" charset="0"/>
                <a:cs typeface="Arial" pitchFamily="34" charset="0"/>
              </a:rPr>
              <a:t>accumulation</a:t>
            </a:r>
            <a:r>
              <a:rPr lang="en-AU" sz="3500" dirty="0" smtClean="0">
                <a:latin typeface="Arial" pitchFamily="34" charset="0"/>
                <a:cs typeface="Arial" pitchFamily="34" charset="0"/>
              </a:rPr>
              <a:t> of </a:t>
            </a:r>
            <a:r>
              <a:rPr lang="en-AU" sz="3500" b="1" dirty="0" smtClean="0">
                <a:latin typeface="Arial" pitchFamily="34" charset="0"/>
                <a:cs typeface="Arial" pitchFamily="34" charset="0"/>
              </a:rPr>
              <a:t>inflammatory</a:t>
            </a:r>
            <a:r>
              <a:rPr lang="en-AU" sz="3500" dirty="0" smtClean="0">
                <a:latin typeface="Arial" pitchFamily="34" charset="0"/>
                <a:cs typeface="Arial" pitchFamily="34" charset="0"/>
              </a:rPr>
              <a:t> </a:t>
            </a:r>
            <a:r>
              <a:rPr lang="en-AU" sz="3500" b="1" dirty="0" smtClean="0">
                <a:latin typeface="Arial" pitchFamily="34" charset="0"/>
                <a:cs typeface="Arial" pitchFamily="34" charset="0"/>
              </a:rPr>
              <a:t>exudate</a:t>
            </a:r>
            <a:r>
              <a:rPr lang="en-AU" sz="3500" dirty="0" smtClean="0">
                <a:latin typeface="Arial" pitchFamily="34" charset="0"/>
                <a:cs typeface="Arial" pitchFamily="34" charset="0"/>
              </a:rPr>
              <a:t>. Due to </a:t>
            </a:r>
            <a:r>
              <a:rPr lang="en-AU" sz="3500" b="1" dirty="0" smtClean="0">
                <a:latin typeface="Arial" pitchFamily="34" charset="0"/>
                <a:cs typeface="Arial" pitchFamily="34" charset="0"/>
              </a:rPr>
              <a:t>roughening</a:t>
            </a:r>
            <a:r>
              <a:rPr lang="en-AU" sz="3500" dirty="0" smtClean="0">
                <a:latin typeface="Arial" pitchFamily="34" charset="0"/>
                <a:cs typeface="Arial" pitchFamily="34" charset="0"/>
              </a:rPr>
              <a:t> of the </a:t>
            </a:r>
            <a:r>
              <a:rPr lang="en-AU" sz="3500" b="1" dirty="0" smtClean="0">
                <a:latin typeface="Arial" pitchFamily="34" charset="0"/>
                <a:cs typeface="Arial" pitchFamily="34" charset="0"/>
              </a:rPr>
              <a:t>pleural surfaces friction</a:t>
            </a:r>
            <a:r>
              <a:rPr lang="en-AU" sz="3500" dirty="0" smtClean="0">
                <a:latin typeface="Arial" pitchFamily="34" charset="0"/>
                <a:cs typeface="Arial" pitchFamily="34" charset="0"/>
              </a:rPr>
              <a:t> occurs between the </a:t>
            </a:r>
            <a:r>
              <a:rPr lang="en-AU" sz="3500" b="1" dirty="0" smtClean="0">
                <a:latin typeface="Arial" pitchFamily="34" charset="0"/>
                <a:cs typeface="Arial" pitchFamily="34" charset="0"/>
              </a:rPr>
              <a:t>two layers </a:t>
            </a:r>
            <a:r>
              <a:rPr lang="en-AU" sz="3500" dirty="0" smtClean="0">
                <a:latin typeface="Arial" pitchFamily="34" charset="0"/>
                <a:cs typeface="Arial" pitchFamily="34" charset="0"/>
              </a:rPr>
              <a:t>of </a:t>
            </a:r>
            <a:r>
              <a:rPr lang="en-AU" sz="3500" b="1" dirty="0" smtClean="0">
                <a:latin typeface="Arial" pitchFamily="34" charset="0"/>
                <a:cs typeface="Arial" pitchFamily="34" charset="0"/>
              </a:rPr>
              <a:t>pleura </a:t>
            </a:r>
            <a:r>
              <a:rPr lang="en-AU" sz="3500" dirty="0" smtClean="0">
                <a:latin typeface="Arial" pitchFamily="34" charset="0"/>
                <a:cs typeface="Arial" pitchFamily="34" charset="0"/>
              </a:rPr>
              <a:t>during </a:t>
            </a:r>
            <a:r>
              <a:rPr lang="en-AU" sz="3500" b="1" dirty="0" smtClean="0">
                <a:latin typeface="Arial" pitchFamily="34" charset="0"/>
                <a:cs typeface="Arial" pitchFamily="34" charset="0"/>
              </a:rPr>
              <a:t>respiratory movements</a:t>
            </a:r>
            <a:r>
              <a:rPr lang="en-AU" sz="3500" dirty="0" smtClean="0">
                <a:latin typeface="Arial" pitchFamily="34" charset="0"/>
                <a:cs typeface="Arial" pitchFamily="34" charset="0"/>
              </a:rPr>
              <a:t>.</a:t>
            </a:r>
          </a:p>
          <a:p>
            <a:pPr algn="just">
              <a:buNone/>
            </a:pPr>
            <a:endParaRPr lang="en-US"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8B1A3310-08A0-497E-A7E0-07BF4EF4A19E}" type="slidenum">
              <a:rPr lang="en-US" smtClean="0"/>
              <a:pPr/>
              <a:t>93</a:t>
            </a:fld>
            <a:endParaRPr lang="en-US"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20" y="1285860"/>
            <a:ext cx="8401080" cy="5286412"/>
          </a:xfrm>
        </p:spPr>
        <p:txBody>
          <a:bodyPr>
            <a:noAutofit/>
          </a:bodyPr>
          <a:lstStyle/>
          <a:p>
            <a:pPr algn="just"/>
            <a:r>
              <a:rPr lang="en-AU" dirty="0" smtClean="0">
                <a:latin typeface="Arial" pitchFamily="34" charset="0"/>
                <a:cs typeface="Arial" pitchFamily="34" charset="0"/>
              </a:rPr>
              <a:t>The </a:t>
            </a:r>
            <a:r>
              <a:rPr lang="en-AU" b="1" dirty="0" smtClean="0">
                <a:latin typeface="Arial" pitchFamily="34" charset="0"/>
                <a:cs typeface="Arial" pitchFamily="34" charset="0"/>
              </a:rPr>
              <a:t>collection</a:t>
            </a:r>
            <a:r>
              <a:rPr lang="en-AU" dirty="0" smtClean="0">
                <a:latin typeface="Arial" pitchFamily="34" charset="0"/>
                <a:cs typeface="Arial" pitchFamily="34" charset="0"/>
              </a:rPr>
              <a:t> of </a:t>
            </a:r>
            <a:r>
              <a:rPr lang="en-AU" b="1" dirty="0" smtClean="0">
                <a:latin typeface="Arial" pitchFamily="34" charset="0"/>
                <a:cs typeface="Arial" pitchFamily="34" charset="0"/>
              </a:rPr>
              <a:t>serous fluid</a:t>
            </a:r>
            <a:r>
              <a:rPr lang="en-AU" dirty="0" smtClean="0">
                <a:latin typeface="Arial" pitchFamily="34" charset="0"/>
                <a:cs typeface="Arial" pitchFamily="34" charset="0"/>
              </a:rPr>
              <a:t>, </a:t>
            </a:r>
            <a:r>
              <a:rPr lang="en-AU" b="1" dirty="0" smtClean="0">
                <a:latin typeface="Arial" pitchFamily="34" charset="0"/>
                <a:cs typeface="Arial" pitchFamily="34" charset="0"/>
              </a:rPr>
              <a:t>air</a:t>
            </a:r>
            <a:r>
              <a:rPr lang="en-AU" dirty="0" smtClean="0">
                <a:latin typeface="Arial" pitchFamily="34" charset="0"/>
                <a:cs typeface="Arial" pitchFamily="34" charset="0"/>
              </a:rPr>
              <a:t>, blood, and </a:t>
            </a:r>
            <a:r>
              <a:rPr lang="en-AU" b="1" dirty="0" smtClean="0">
                <a:latin typeface="Arial" pitchFamily="34" charset="0"/>
                <a:cs typeface="Arial" pitchFamily="34" charset="0"/>
              </a:rPr>
              <a:t>pus </a:t>
            </a:r>
            <a:r>
              <a:rPr lang="en-AU" dirty="0" smtClean="0">
                <a:latin typeface="Arial" pitchFamily="34" charset="0"/>
                <a:cs typeface="Arial" pitchFamily="34" charset="0"/>
              </a:rPr>
              <a:t>in the </a:t>
            </a:r>
            <a:r>
              <a:rPr lang="en-AU" b="1" dirty="0" smtClean="0">
                <a:latin typeface="Arial" pitchFamily="34" charset="0"/>
                <a:cs typeface="Arial" pitchFamily="34" charset="0"/>
              </a:rPr>
              <a:t>pleural cavity </a:t>
            </a:r>
            <a:r>
              <a:rPr lang="en-AU" dirty="0" smtClean="0">
                <a:latin typeface="Arial" pitchFamily="34" charset="0"/>
                <a:cs typeface="Arial" pitchFamily="34" charset="0"/>
              </a:rPr>
              <a:t>is termed </a:t>
            </a:r>
            <a:r>
              <a:rPr lang="en-AU" b="1" dirty="0" smtClean="0">
                <a:latin typeface="Arial" pitchFamily="34" charset="0"/>
                <a:cs typeface="Arial" pitchFamily="34" charset="0"/>
              </a:rPr>
              <a:t>hydrothorax</a:t>
            </a:r>
            <a:r>
              <a:rPr lang="en-AU" dirty="0" smtClean="0">
                <a:latin typeface="Arial" pitchFamily="34" charset="0"/>
                <a:cs typeface="Arial" pitchFamily="34" charset="0"/>
              </a:rPr>
              <a:t> (</a:t>
            </a:r>
            <a:r>
              <a:rPr lang="en-AU" b="1" dirty="0" smtClean="0">
                <a:latin typeface="Arial" pitchFamily="34" charset="0"/>
                <a:cs typeface="Arial" pitchFamily="34" charset="0"/>
              </a:rPr>
              <a:t>pleural effusion</a:t>
            </a:r>
            <a:r>
              <a:rPr lang="en-AU" dirty="0" smtClean="0">
                <a:latin typeface="Arial" pitchFamily="34" charset="0"/>
                <a:cs typeface="Arial" pitchFamily="34" charset="0"/>
              </a:rPr>
              <a:t>), </a:t>
            </a:r>
            <a:r>
              <a:rPr lang="en-AU" b="1" dirty="0" smtClean="0">
                <a:latin typeface="Arial" pitchFamily="34" charset="0"/>
                <a:cs typeface="Arial" pitchFamily="34" charset="0"/>
              </a:rPr>
              <a:t>pneumothorax</a:t>
            </a:r>
            <a:r>
              <a:rPr lang="en-AU" dirty="0" smtClean="0">
                <a:latin typeface="Arial" pitchFamily="34" charset="0"/>
                <a:cs typeface="Arial" pitchFamily="34" charset="0"/>
              </a:rPr>
              <a:t>, </a:t>
            </a:r>
            <a:r>
              <a:rPr lang="en-AU" b="1" dirty="0" smtClean="0">
                <a:latin typeface="Arial" pitchFamily="34" charset="0"/>
                <a:cs typeface="Arial" pitchFamily="34" charset="0"/>
              </a:rPr>
              <a:t>hemothorax, </a:t>
            </a:r>
            <a:r>
              <a:rPr lang="en-AU" dirty="0" smtClean="0">
                <a:latin typeface="Arial" pitchFamily="34" charset="0"/>
                <a:cs typeface="Arial" pitchFamily="34" charset="0"/>
              </a:rPr>
              <a:t>and </a:t>
            </a:r>
            <a:r>
              <a:rPr lang="en-AU" b="1" dirty="0" err="1" smtClean="0">
                <a:latin typeface="Arial" pitchFamily="34" charset="0"/>
                <a:cs typeface="Arial" pitchFamily="34" charset="0"/>
              </a:rPr>
              <a:t>pyothorax</a:t>
            </a:r>
            <a:r>
              <a:rPr lang="en-AU" dirty="0" smtClean="0">
                <a:latin typeface="Arial" pitchFamily="34" charset="0"/>
                <a:cs typeface="Arial" pitchFamily="34" charset="0"/>
              </a:rPr>
              <a:t> </a:t>
            </a:r>
            <a:r>
              <a:rPr lang="en-AU" dirty="0" smtClean="0">
                <a:latin typeface="Arial" pitchFamily="34" charset="0"/>
                <a:cs typeface="Arial" pitchFamily="34" charset="0"/>
              </a:rPr>
              <a:t>(empysema), </a:t>
            </a:r>
            <a:r>
              <a:rPr lang="en-AU" dirty="0" smtClean="0">
                <a:latin typeface="Arial" pitchFamily="34" charset="0"/>
                <a:cs typeface="Arial" pitchFamily="34" charset="0"/>
              </a:rPr>
              <a:t>respectively.</a:t>
            </a:r>
          </a:p>
          <a:p>
            <a:pPr algn="just"/>
            <a:r>
              <a:rPr lang="en-US" b="1" dirty="0" smtClean="0">
                <a:latin typeface="Arial" pitchFamily="34" charset="0"/>
                <a:cs typeface="Arial" pitchFamily="34" charset="0"/>
              </a:rPr>
              <a:t>Pleural effusion</a:t>
            </a:r>
            <a:r>
              <a:rPr lang="en-US" dirty="0" smtClean="0">
                <a:latin typeface="Arial" pitchFamily="34" charset="0"/>
                <a:cs typeface="Arial" pitchFamily="34" charset="0"/>
              </a:rPr>
              <a:t>:</a:t>
            </a:r>
            <a:r>
              <a:rPr lang="en-AU" dirty="0" smtClean="0">
                <a:latin typeface="Arial" pitchFamily="34" charset="0"/>
                <a:cs typeface="Arial" pitchFamily="34" charset="0"/>
              </a:rPr>
              <a:t> The </a:t>
            </a:r>
            <a:r>
              <a:rPr lang="en-AU" b="1" dirty="0" smtClean="0">
                <a:latin typeface="Arial" pitchFamily="34" charset="0"/>
                <a:cs typeface="Arial" pitchFamily="34" charset="0"/>
              </a:rPr>
              <a:t>excessive accumulation</a:t>
            </a:r>
            <a:r>
              <a:rPr lang="en-AU" dirty="0" smtClean="0">
                <a:latin typeface="Arial" pitchFamily="34" charset="0"/>
                <a:cs typeface="Arial" pitchFamily="34" charset="0"/>
              </a:rPr>
              <a:t> of fluid in the </a:t>
            </a:r>
            <a:r>
              <a:rPr lang="en-AU" b="1" dirty="0" smtClean="0">
                <a:latin typeface="Arial" pitchFamily="34" charset="0"/>
                <a:cs typeface="Arial" pitchFamily="34" charset="0"/>
              </a:rPr>
              <a:t>pleural cavity </a:t>
            </a:r>
            <a:r>
              <a:rPr lang="en-AU" dirty="0" smtClean="0">
                <a:latin typeface="Arial" pitchFamily="34" charset="0"/>
                <a:cs typeface="Arial" pitchFamily="34" charset="0"/>
              </a:rPr>
              <a:t>is called </a:t>
            </a:r>
            <a:r>
              <a:rPr lang="en-AU" b="1" dirty="0" smtClean="0">
                <a:latin typeface="Arial" pitchFamily="34" charset="0"/>
                <a:cs typeface="Arial" pitchFamily="34" charset="0"/>
              </a:rPr>
              <a:t>pleural effusion</a:t>
            </a:r>
            <a:r>
              <a:rPr lang="en-AU" dirty="0" smtClean="0">
                <a:latin typeface="Arial" pitchFamily="34" charset="0"/>
                <a:cs typeface="Arial" pitchFamily="34" charset="0"/>
              </a:rPr>
              <a:t>. It usually </a:t>
            </a:r>
            <a:r>
              <a:rPr lang="en-AU" b="1" dirty="0" smtClean="0">
                <a:latin typeface="Arial" pitchFamily="34" charset="0"/>
                <a:cs typeface="Arial" pitchFamily="34" charset="0"/>
              </a:rPr>
              <a:t>occurs</a:t>
            </a:r>
            <a:r>
              <a:rPr lang="en-AU" dirty="0" smtClean="0">
                <a:latin typeface="Arial" pitchFamily="34" charset="0"/>
                <a:cs typeface="Arial" pitchFamily="34" charset="0"/>
              </a:rPr>
              <a:t> due to </a:t>
            </a:r>
            <a:r>
              <a:rPr lang="en-AU" b="1" dirty="0" smtClean="0">
                <a:latin typeface="Arial" pitchFamily="34" charset="0"/>
                <a:cs typeface="Arial" pitchFamily="34" charset="0"/>
              </a:rPr>
              <a:t>inflammation</a:t>
            </a:r>
            <a:r>
              <a:rPr lang="en-AU" dirty="0" smtClean="0">
                <a:latin typeface="Arial" pitchFamily="34" charset="0"/>
                <a:cs typeface="Arial" pitchFamily="34" charset="0"/>
              </a:rPr>
              <a:t> of </a:t>
            </a:r>
            <a:r>
              <a:rPr lang="en-AU" b="1" dirty="0" smtClean="0">
                <a:latin typeface="Arial" pitchFamily="34" charset="0"/>
                <a:cs typeface="Arial" pitchFamily="34" charset="0"/>
              </a:rPr>
              <a:t>pleura</a:t>
            </a:r>
            <a:r>
              <a:rPr lang="en-AU" dirty="0" smtClean="0">
                <a:latin typeface="Arial" pitchFamily="34" charset="0"/>
                <a:cs typeface="Arial" pitchFamily="34" charset="0"/>
              </a:rPr>
              <a:t>.</a:t>
            </a:r>
            <a:endParaRPr lang="en-US"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8B1A3310-08A0-497E-A7E0-07BF4EF4A19E}" type="slidenum">
              <a:rPr lang="en-US" smtClean="0"/>
              <a:pPr/>
              <a:t>94</a:t>
            </a:fld>
            <a:endParaRPr lang="en-US"/>
          </a:p>
        </p:txBody>
      </p:sp>
      <p:sp>
        <p:nvSpPr>
          <p:cNvPr id="5" name="TextBox 4"/>
          <p:cNvSpPr txBox="1"/>
          <p:nvPr/>
        </p:nvSpPr>
        <p:spPr>
          <a:xfrm>
            <a:off x="3571868" y="428604"/>
            <a:ext cx="2151551" cy="769441"/>
          </a:xfrm>
          <a:prstGeom prst="rect">
            <a:avLst/>
          </a:prstGeom>
          <a:noFill/>
        </p:spPr>
        <p:txBody>
          <a:bodyPr wrap="square" rtlCol="0">
            <a:spAutoFit/>
          </a:bodyPr>
          <a:lstStyle/>
          <a:p>
            <a:r>
              <a:rPr lang="en-AU" sz="4400" dirty="0" smtClean="0">
                <a:latin typeface="Arial Black" pitchFamily="34" charset="0"/>
                <a:cs typeface="Arial" pitchFamily="34" charset="0"/>
              </a:rPr>
              <a:t>Cont’d</a:t>
            </a:r>
            <a:endParaRPr lang="en-US" sz="4400" dirty="0">
              <a:latin typeface="Arial Black" pitchFamily="34" charset="0"/>
              <a:cs typeface="Arial" pitchFamily="34" charset="0"/>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4282" y="500042"/>
            <a:ext cx="8643998" cy="6357958"/>
          </a:xfrm>
        </p:spPr>
        <p:txBody>
          <a:bodyPr>
            <a:noAutofit/>
          </a:bodyPr>
          <a:lstStyle/>
          <a:p>
            <a:pPr algn="just"/>
            <a:r>
              <a:rPr lang="en-US" b="1" dirty="0" smtClean="0">
                <a:latin typeface="Arial" pitchFamily="34" charset="0"/>
                <a:cs typeface="Arial" pitchFamily="34" charset="0"/>
              </a:rPr>
              <a:t>Thoracocentesis/pleural tab</a:t>
            </a:r>
            <a:r>
              <a:rPr lang="en-US" dirty="0" smtClean="0">
                <a:latin typeface="Arial" pitchFamily="34" charset="0"/>
                <a:cs typeface="Arial" pitchFamily="34" charset="0"/>
              </a:rPr>
              <a:t>:</a:t>
            </a:r>
            <a:r>
              <a:rPr lang="en-AU" dirty="0" smtClean="0">
                <a:latin typeface="Arial" pitchFamily="34" charset="0"/>
                <a:cs typeface="Arial" pitchFamily="34" charset="0"/>
              </a:rPr>
              <a:t> It is a </a:t>
            </a:r>
            <a:r>
              <a:rPr lang="en-AU" b="1" dirty="0" smtClean="0">
                <a:latin typeface="Arial" pitchFamily="34" charset="0"/>
                <a:cs typeface="Arial" pitchFamily="34" charset="0"/>
              </a:rPr>
              <a:t>procedure</a:t>
            </a:r>
            <a:r>
              <a:rPr lang="en-AU" dirty="0" smtClean="0">
                <a:latin typeface="Arial" pitchFamily="34" charset="0"/>
                <a:cs typeface="Arial" pitchFamily="34" charset="0"/>
              </a:rPr>
              <a:t> by which an </a:t>
            </a:r>
            <a:r>
              <a:rPr lang="en-AU" b="1" dirty="0" smtClean="0">
                <a:latin typeface="Arial" pitchFamily="34" charset="0"/>
                <a:cs typeface="Arial" pitchFamily="34" charset="0"/>
              </a:rPr>
              <a:t>excess fluid </a:t>
            </a:r>
            <a:r>
              <a:rPr lang="en-AU" dirty="0" smtClean="0">
                <a:latin typeface="Arial" pitchFamily="34" charset="0"/>
                <a:cs typeface="Arial" pitchFamily="34" charset="0"/>
              </a:rPr>
              <a:t>is </a:t>
            </a:r>
            <a:r>
              <a:rPr lang="en-AU" b="1" dirty="0" smtClean="0">
                <a:latin typeface="Arial" pitchFamily="34" charset="0"/>
                <a:cs typeface="Arial" pitchFamily="34" charset="0"/>
              </a:rPr>
              <a:t>aspirated </a:t>
            </a:r>
            <a:r>
              <a:rPr lang="en-AU" dirty="0" smtClean="0">
                <a:latin typeface="Arial" pitchFamily="34" charset="0"/>
                <a:cs typeface="Arial" pitchFamily="34" charset="0"/>
              </a:rPr>
              <a:t>from the </a:t>
            </a:r>
            <a:r>
              <a:rPr lang="en-AU" b="1" dirty="0" smtClean="0">
                <a:latin typeface="Arial" pitchFamily="34" charset="0"/>
                <a:cs typeface="Arial" pitchFamily="34" charset="0"/>
              </a:rPr>
              <a:t>pleural cavity</a:t>
            </a:r>
            <a:r>
              <a:rPr lang="en-AU" dirty="0" smtClean="0">
                <a:latin typeface="Arial" pitchFamily="34" charset="0"/>
                <a:cs typeface="Arial" pitchFamily="34" charset="0"/>
              </a:rPr>
              <a:t>. Normally, the </a:t>
            </a:r>
            <a:r>
              <a:rPr lang="en-AU" b="1" dirty="0" smtClean="0">
                <a:latin typeface="Arial" pitchFamily="34" charset="0"/>
                <a:cs typeface="Arial" pitchFamily="34" charset="0"/>
              </a:rPr>
              <a:t>needle </a:t>
            </a:r>
            <a:r>
              <a:rPr lang="en-AU" dirty="0" smtClean="0">
                <a:latin typeface="Arial" pitchFamily="34" charset="0"/>
                <a:cs typeface="Arial" pitchFamily="34" charset="0"/>
              </a:rPr>
              <a:t>is </a:t>
            </a:r>
            <a:r>
              <a:rPr lang="en-AU" b="1" dirty="0" smtClean="0">
                <a:latin typeface="Arial" pitchFamily="34" charset="0"/>
                <a:cs typeface="Arial" pitchFamily="34" charset="0"/>
              </a:rPr>
              <a:t>inserted</a:t>
            </a:r>
            <a:r>
              <a:rPr lang="en-AU" dirty="0" smtClean="0">
                <a:latin typeface="Arial" pitchFamily="34" charset="0"/>
                <a:cs typeface="Arial" pitchFamily="34" charset="0"/>
              </a:rPr>
              <a:t> in the </a:t>
            </a:r>
            <a:r>
              <a:rPr lang="en-AU" b="1" dirty="0" smtClean="0">
                <a:latin typeface="Arial" pitchFamily="34" charset="0"/>
                <a:cs typeface="Arial" pitchFamily="34" charset="0"/>
              </a:rPr>
              <a:t>6th intercostal space </a:t>
            </a:r>
            <a:r>
              <a:rPr lang="en-AU" dirty="0" smtClean="0">
                <a:latin typeface="Arial" pitchFamily="34" charset="0"/>
                <a:cs typeface="Arial" pitchFamily="34" charset="0"/>
              </a:rPr>
              <a:t>in the </a:t>
            </a:r>
            <a:r>
              <a:rPr lang="en-AU" b="1" dirty="0" smtClean="0">
                <a:latin typeface="Arial" pitchFamily="34" charset="0"/>
                <a:cs typeface="Arial" pitchFamily="34" charset="0"/>
              </a:rPr>
              <a:t>midaxillary line</a:t>
            </a:r>
            <a:r>
              <a:rPr lang="en-AU" dirty="0" smtClean="0">
                <a:latin typeface="Arial" pitchFamily="34" charset="0"/>
                <a:cs typeface="Arial" pitchFamily="34" charset="0"/>
              </a:rPr>
              <a:t>. The </a:t>
            </a:r>
            <a:r>
              <a:rPr lang="en-AU" b="1" dirty="0" smtClean="0">
                <a:latin typeface="Arial" pitchFamily="34" charset="0"/>
                <a:cs typeface="Arial" pitchFamily="34" charset="0"/>
              </a:rPr>
              <a:t>needle</a:t>
            </a:r>
            <a:r>
              <a:rPr lang="en-AU" dirty="0" smtClean="0">
                <a:latin typeface="Arial" pitchFamily="34" charset="0"/>
                <a:cs typeface="Arial" pitchFamily="34" charset="0"/>
              </a:rPr>
              <a:t> passes in </a:t>
            </a:r>
            <a:r>
              <a:rPr lang="en-AU" b="1" dirty="0" smtClean="0">
                <a:latin typeface="Arial" pitchFamily="34" charset="0"/>
                <a:cs typeface="Arial" pitchFamily="34" charset="0"/>
              </a:rPr>
              <a:t>succession</a:t>
            </a:r>
            <a:r>
              <a:rPr lang="en-AU" dirty="0" smtClean="0">
                <a:latin typeface="Arial" pitchFamily="34" charset="0"/>
                <a:cs typeface="Arial" pitchFamily="34" charset="0"/>
              </a:rPr>
              <a:t> through </a:t>
            </a:r>
            <a:r>
              <a:rPr lang="en-AU" b="1" dirty="0" smtClean="0">
                <a:latin typeface="Arial" pitchFamily="34" charset="0"/>
                <a:cs typeface="Arial" pitchFamily="34" charset="0"/>
              </a:rPr>
              <a:t>skin</a:t>
            </a:r>
            <a:r>
              <a:rPr lang="en-AU" dirty="0" smtClean="0">
                <a:latin typeface="Arial" pitchFamily="34" charset="0"/>
                <a:cs typeface="Arial" pitchFamily="34" charset="0"/>
              </a:rPr>
              <a:t>, </a:t>
            </a:r>
            <a:r>
              <a:rPr lang="en-AU" b="1" dirty="0" smtClean="0">
                <a:latin typeface="Arial" pitchFamily="34" charset="0"/>
                <a:cs typeface="Arial" pitchFamily="34" charset="0"/>
              </a:rPr>
              <a:t>superficial fascia</a:t>
            </a:r>
            <a:r>
              <a:rPr lang="en-AU" dirty="0" smtClean="0">
                <a:latin typeface="Arial" pitchFamily="34" charset="0"/>
                <a:cs typeface="Arial" pitchFamily="34" charset="0"/>
              </a:rPr>
              <a:t>, </a:t>
            </a:r>
            <a:r>
              <a:rPr lang="en-AU" b="1" dirty="0" smtClean="0">
                <a:latin typeface="Arial" pitchFamily="34" charset="0"/>
                <a:cs typeface="Arial" pitchFamily="34" charset="0"/>
              </a:rPr>
              <a:t>serratus anterior</a:t>
            </a:r>
            <a:r>
              <a:rPr lang="en-AU" dirty="0" smtClean="0">
                <a:latin typeface="Arial" pitchFamily="34" charset="0"/>
                <a:cs typeface="Arial" pitchFamily="34" charset="0"/>
              </a:rPr>
              <a:t>, </a:t>
            </a:r>
            <a:r>
              <a:rPr lang="en-AU" b="1" dirty="0" smtClean="0">
                <a:latin typeface="Arial" pitchFamily="34" charset="0"/>
                <a:cs typeface="Arial" pitchFamily="34" charset="0"/>
              </a:rPr>
              <a:t>intercostal muscles</a:t>
            </a:r>
            <a:r>
              <a:rPr lang="en-AU" dirty="0" smtClean="0">
                <a:latin typeface="Arial" pitchFamily="34" charset="0"/>
                <a:cs typeface="Arial" pitchFamily="34" charset="0"/>
              </a:rPr>
              <a:t>, </a:t>
            </a:r>
            <a:r>
              <a:rPr lang="en-AU" b="1" dirty="0" smtClean="0">
                <a:latin typeface="Arial" pitchFamily="34" charset="0"/>
                <a:cs typeface="Arial" pitchFamily="34" charset="0"/>
              </a:rPr>
              <a:t>endothoracic fascia</a:t>
            </a:r>
            <a:r>
              <a:rPr lang="en-AU" dirty="0" smtClean="0">
                <a:latin typeface="Arial" pitchFamily="34" charset="0"/>
                <a:cs typeface="Arial" pitchFamily="34" charset="0"/>
              </a:rPr>
              <a:t>, and </a:t>
            </a:r>
            <a:r>
              <a:rPr lang="en-AU" b="1" dirty="0" smtClean="0">
                <a:latin typeface="Arial" pitchFamily="34" charset="0"/>
                <a:cs typeface="Arial" pitchFamily="34" charset="0"/>
              </a:rPr>
              <a:t>parietal pleura </a:t>
            </a:r>
            <a:r>
              <a:rPr lang="en-AU" dirty="0" smtClean="0">
                <a:latin typeface="Arial" pitchFamily="34" charset="0"/>
                <a:cs typeface="Arial" pitchFamily="34" charset="0"/>
              </a:rPr>
              <a:t>to reach the </a:t>
            </a:r>
            <a:r>
              <a:rPr lang="en-AU" b="1" dirty="0" smtClean="0">
                <a:latin typeface="Arial" pitchFamily="34" charset="0"/>
                <a:cs typeface="Arial" pitchFamily="34" charset="0"/>
              </a:rPr>
              <a:t>pleural cavity</a:t>
            </a:r>
            <a:r>
              <a:rPr lang="en-AU" dirty="0" smtClean="0">
                <a:latin typeface="Arial" pitchFamily="34" charset="0"/>
                <a:cs typeface="Arial" pitchFamily="34" charset="0"/>
              </a:rPr>
              <a:t>. The </a:t>
            </a:r>
            <a:r>
              <a:rPr lang="en-AU" b="1" dirty="0" smtClean="0">
                <a:latin typeface="Arial" pitchFamily="34" charset="0"/>
                <a:cs typeface="Arial" pitchFamily="34" charset="0"/>
              </a:rPr>
              <a:t>needle</a:t>
            </a:r>
            <a:r>
              <a:rPr lang="en-AU" dirty="0" smtClean="0">
                <a:latin typeface="Arial" pitchFamily="34" charset="0"/>
                <a:cs typeface="Arial" pitchFamily="34" charset="0"/>
              </a:rPr>
              <a:t> is </a:t>
            </a:r>
            <a:r>
              <a:rPr lang="en-AU" b="1" dirty="0" smtClean="0">
                <a:latin typeface="Arial" pitchFamily="34" charset="0"/>
                <a:cs typeface="Arial" pitchFamily="34" charset="0"/>
              </a:rPr>
              <a:t>inserted</a:t>
            </a:r>
            <a:r>
              <a:rPr lang="en-AU" dirty="0" smtClean="0">
                <a:latin typeface="Arial" pitchFamily="34" charset="0"/>
                <a:cs typeface="Arial" pitchFamily="34" charset="0"/>
              </a:rPr>
              <a:t> into the </a:t>
            </a:r>
            <a:r>
              <a:rPr lang="en-AU" b="1" dirty="0" smtClean="0">
                <a:latin typeface="Arial" pitchFamily="34" charset="0"/>
                <a:cs typeface="Arial" pitchFamily="34" charset="0"/>
              </a:rPr>
              <a:t>lower part </a:t>
            </a:r>
            <a:r>
              <a:rPr lang="en-AU" dirty="0" smtClean="0">
                <a:latin typeface="Arial" pitchFamily="34" charset="0"/>
                <a:cs typeface="Arial" pitchFamily="34" charset="0"/>
              </a:rPr>
              <a:t>of the </a:t>
            </a:r>
            <a:r>
              <a:rPr lang="en-AU" b="1" dirty="0" smtClean="0">
                <a:latin typeface="Arial" pitchFamily="34" charset="0"/>
                <a:cs typeface="Arial" pitchFamily="34" charset="0"/>
              </a:rPr>
              <a:t>intercostal space </a:t>
            </a:r>
            <a:r>
              <a:rPr lang="en-AU" dirty="0" smtClean="0">
                <a:latin typeface="Arial" pitchFamily="34" charset="0"/>
                <a:cs typeface="Arial" pitchFamily="34" charset="0"/>
              </a:rPr>
              <a:t>along the </a:t>
            </a:r>
            <a:r>
              <a:rPr lang="en-AU" b="1" dirty="0" smtClean="0">
                <a:latin typeface="Arial" pitchFamily="34" charset="0"/>
                <a:cs typeface="Arial" pitchFamily="34" charset="0"/>
              </a:rPr>
              <a:t>upper border </a:t>
            </a:r>
            <a:r>
              <a:rPr lang="en-AU" dirty="0" smtClean="0">
                <a:latin typeface="Arial" pitchFamily="34" charset="0"/>
                <a:cs typeface="Arial" pitchFamily="34" charset="0"/>
              </a:rPr>
              <a:t>of the </a:t>
            </a:r>
            <a:r>
              <a:rPr lang="en-AU" b="1" dirty="0" smtClean="0">
                <a:latin typeface="Arial" pitchFamily="34" charset="0"/>
                <a:cs typeface="Arial" pitchFamily="34" charset="0"/>
              </a:rPr>
              <a:t>rib</a:t>
            </a:r>
            <a:r>
              <a:rPr lang="en-AU" dirty="0" smtClean="0">
                <a:latin typeface="Arial" pitchFamily="34" charset="0"/>
                <a:cs typeface="Arial" pitchFamily="34" charset="0"/>
              </a:rPr>
              <a:t> to avoid </a:t>
            </a:r>
            <a:r>
              <a:rPr lang="en-AU" b="1" dirty="0" smtClean="0">
                <a:latin typeface="Arial" pitchFamily="34" charset="0"/>
                <a:cs typeface="Arial" pitchFamily="34" charset="0"/>
              </a:rPr>
              <a:t>injury </a:t>
            </a:r>
            <a:r>
              <a:rPr lang="en-AU" dirty="0" smtClean="0">
                <a:latin typeface="Arial" pitchFamily="34" charset="0"/>
                <a:cs typeface="Arial" pitchFamily="34" charset="0"/>
              </a:rPr>
              <a:t>to the </a:t>
            </a:r>
            <a:r>
              <a:rPr lang="en-AU" b="1" dirty="0" smtClean="0">
                <a:latin typeface="Arial" pitchFamily="34" charset="0"/>
                <a:cs typeface="Arial" pitchFamily="34" charset="0"/>
              </a:rPr>
              <a:t>intercostal nerve </a:t>
            </a:r>
            <a:r>
              <a:rPr lang="en-AU" dirty="0" smtClean="0">
                <a:latin typeface="Arial" pitchFamily="34" charset="0"/>
                <a:cs typeface="Arial" pitchFamily="34" charset="0"/>
              </a:rPr>
              <a:t>and </a:t>
            </a:r>
            <a:r>
              <a:rPr lang="en-AU" b="1" dirty="0" smtClean="0">
                <a:latin typeface="Arial" pitchFamily="34" charset="0"/>
                <a:cs typeface="Arial" pitchFamily="34" charset="0"/>
              </a:rPr>
              <a:t>vessels</a:t>
            </a:r>
            <a:r>
              <a:rPr lang="en-AU" dirty="0" smtClean="0">
                <a:latin typeface="Arial" pitchFamily="34" charset="0"/>
                <a:cs typeface="Arial" pitchFamily="34" charset="0"/>
              </a:rPr>
              <a:t>.</a:t>
            </a:r>
            <a:endParaRPr lang="en-US"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8B1A3310-08A0-497E-A7E0-07BF4EF4A19E}" type="slidenum">
              <a:rPr lang="en-US" smtClean="0"/>
              <a:pPr/>
              <a:t>95</a:t>
            </a:fld>
            <a:endParaRPr lang="en-US"/>
          </a:p>
        </p:txBody>
      </p:sp>
      <p:sp>
        <p:nvSpPr>
          <p:cNvPr id="5" name="TextBox 4"/>
          <p:cNvSpPr txBox="1"/>
          <p:nvPr/>
        </p:nvSpPr>
        <p:spPr>
          <a:xfrm>
            <a:off x="3571868" y="0"/>
            <a:ext cx="2151551" cy="1046440"/>
          </a:xfrm>
          <a:prstGeom prst="rect">
            <a:avLst/>
          </a:prstGeom>
          <a:noFill/>
        </p:spPr>
        <p:txBody>
          <a:bodyPr wrap="square" rtlCol="0">
            <a:spAutoFit/>
          </a:bodyPr>
          <a:lstStyle/>
          <a:p>
            <a:r>
              <a:rPr lang="en-AU" sz="4400" dirty="0" smtClean="0">
                <a:latin typeface="Arial Black" pitchFamily="34" charset="0"/>
                <a:cs typeface="Arial" pitchFamily="34" charset="0"/>
              </a:rPr>
              <a:t>Cont’d</a:t>
            </a:r>
            <a:endParaRPr lang="en-US" sz="4400" dirty="0" smtClean="0">
              <a:latin typeface="Arial Black" pitchFamily="34" charset="0"/>
              <a:cs typeface="Arial" pitchFamily="34" charset="0"/>
            </a:endParaRPr>
          </a:p>
          <a:p>
            <a:endParaRPr lang="en-US"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14554"/>
            <a:ext cx="8229600" cy="3911609"/>
          </a:xfrm>
        </p:spPr>
        <p:txBody>
          <a:bodyPr>
            <a:normAutofit/>
          </a:bodyPr>
          <a:lstStyle/>
          <a:p>
            <a:r>
              <a:rPr lang="en-AU" sz="6000" dirty="0" smtClean="0">
                <a:latin typeface="Arial Black" pitchFamily="34" charset="0"/>
              </a:rPr>
              <a:t>THANK YOU, ALL FOR LISTENING.</a:t>
            </a:r>
            <a:endParaRPr lang="en-US" sz="6000" dirty="0">
              <a:latin typeface="Arial Black" pitchFamily="34" charset="0"/>
            </a:endParaRPr>
          </a:p>
        </p:txBody>
      </p:sp>
      <p:sp>
        <p:nvSpPr>
          <p:cNvPr id="4" name="Slide Number Placeholder 3"/>
          <p:cNvSpPr>
            <a:spLocks noGrp="1"/>
          </p:cNvSpPr>
          <p:nvPr>
            <p:ph type="sldNum" sz="quarter" idx="12"/>
          </p:nvPr>
        </p:nvSpPr>
        <p:spPr/>
        <p:txBody>
          <a:bodyPr/>
          <a:lstStyle/>
          <a:p>
            <a:fld id="{35285C71-1492-43FB-96F6-8D65CDCF6EE2}" type="slidenum">
              <a:rPr lang="en-US" smtClean="0"/>
              <a:pPr/>
              <a:t>96</a:t>
            </a:fld>
            <a:endParaRPr lang="en-US"/>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76769</TotalTime>
  <Words>4459</Words>
  <Application>Microsoft Office PowerPoint</Application>
  <PresentationFormat>On-screen Show (4:3)</PresentationFormat>
  <Paragraphs>443</Paragraphs>
  <Slides>96</Slides>
  <Notes>2</Notes>
  <HiddenSlides>0</HiddenSlides>
  <MMClips>0</MMClips>
  <ScaleCrop>false</ScaleCrop>
  <HeadingPairs>
    <vt:vector size="4" baseType="variant">
      <vt:variant>
        <vt:lpstr>Theme</vt:lpstr>
      </vt:variant>
      <vt:variant>
        <vt:i4>1</vt:i4>
      </vt:variant>
      <vt:variant>
        <vt:lpstr>Slide Titles</vt:lpstr>
      </vt:variant>
      <vt:variant>
        <vt:i4>96</vt:i4>
      </vt:variant>
    </vt:vector>
  </HeadingPairs>
  <TitlesOfParts>
    <vt:vector size="97" baseType="lpstr">
      <vt:lpstr>Office Theme</vt:lpstr>
      <vt:lpstr>MEDIASTINUM</vt:lpstr>
      <vt:lpstr>Outline</vt:lpstr>
      <vt:lpstr>Intro’</vt:lpstr>
      <vt:lpstr>Cont’d</vt:lpstr>
      <vt:lpstr>Slide 5</vt:lpstr>
      <vt:lpstr>Boundaries</vt:lpstr>
      <vt:lpstr>Slide 7</vt:lpstr>
      <vt:lpstr>Divisions</vt:lpstr>
      <vt:lpstr>Slide 9</vt:lpstr>
      <vt:lpstr>Slide 10</vt:lpstr>
      <vt:lpstr>Superior Mediastinum</vt:lpstr>
      <vt:lpstr>Boundaries</vt:lpstr>
      <vt:lpstr>Contents</vt:lpstr>
      <vt:lpstr>Slide 14</vt:lpstr>
      <vt:lpstr>Slide 15</vt:lpstr>
      <vt:lpstr>Anterior Mediastinum</vt:lpstr>
      <vt:lpstr>Boundaries </vt:lpstr>
      <vt:lpstr>Contents</vt:lpstr>
      <vt:lpstr>Middle Mediastinum</vt:lpstr>
      <vt:lpstr>Boundaries</vt:lpstr>
      <vt:lpstr>Contents</vt:lpstr>
      <vt:lpstr>Slide 22</vt:lpstr>
      <vt:lpstr>Posterior Mediastinum</vt:lpstr>
      <vt:lpstr>Boundaries</vt:lpstr>
      <vt:lpstr>Contents</vt:lpstr>
      <vt:lpstr>Slide 26</vt:lpstr>
      <vt:lpstr>Slide 27</vt:lpstr>
      <vt:lpstr>Slide 28</vt:lpstr>
      <vt:lpstr>Slide 29</vt:lpstr>
      <vt:lpstr>Slide 30</vt:lpstr>
      <vt:lpstr>Slide 31</vt:lpstr>
      <vt:lpstr>Cont’d </vt:lpstr>
      <vt:lpstr>Slide 33</vt:lpstr>
      <vt:lpstr>Slide 34</vt:lpstr>
      <vt:lpstr>Cont’d </vt:lpstr>
      <vt:lpstr>Slide 36</vt:lpstr>
      <vt:lpstr>PERICARDIUM</vt:lpstr>
      <vt:lpstr>Outline</vt:lpstr>
      <vt:lpstr>Intro’</vt:lpstr>
      <vt:lpstr>Functions</vt:lpstr>
      <vt:lpstr>Subdivisions</vt:lpstr>
      <vt:lpstr>Slide 42</vt:lpstr>
      <vt:lpstr>Slide 43</vt:lpstr>
      <vt:lpstr>Slide 44</vt:lpstr>
      <vt:lpstr>FIBROUS PERICARDIUM</vt:lpstr>
      <vt:lpstr>The features of fibrous pericardium</vt:lpstr>
      <vt:lpstr>Slide 47</vt:lpstr>
      <vt:lpstr>SEROUS PERICARDIUM</vt:lpstr>
      <vt:lpstr>Slide 49</vt:lpstr>
      <vt:lpstr>Differences between the parietal and serous pericardium</vt:lpstr>
      <vt:lpstr>Pericardial Cavity</vt:lpstr>
      <vt:lpstr>Contents of the Pericardium</vt:lpstr>
      <vt:lpstr>Sinuses of Pericardium</vt:lpstr>
      <vt:lpstr>Slide 54</vt:lpstr>
      <vt:lpstr>Transverse Sinus of Pericardium</vt:lpstr>
      <vt:lpstr>Oblique Sinus of Pericardium</vt:lpstr>
      <vt:lpstr>Slide 57</vt:lpstr>
      <vt:lpstr>Slide 58</vt:lpstr>
      <vt:lpstr>Boundaries of the Oblique sinus</vt:lpstr>
      <vt:lpstr>Cont’d</vt:lpstr>
      <vt:lpstr>Arterial Supply</vt:lpstr>
      <vt:lpstr>Nerve Supply</vt:lpstr>
      <vt:lpstr>APPLIED ANATOMY</vt:lpstr>
      <vt:lpstr>Slide 64</vt:lpstr>
      <vt:lpstr>Slide 65</vt:lpstr>
      <vt:lpstr>Slide 66</vt:lpstr>
      <vt:lpstr>Slide 67</vt:lpstr>
      <vt:lpstr>Outline</vt:lpstr>
      <vt:lpstr>PLEURA</vt:lpstr>
      <vt:lpstr>LAYERS OF THE PLEURA</vt:lpstr>
      <vt:lpstr>Parietal Pleura</vt:lpstr>
      <vt:lpstr>Slide 72</vt:lpstr>
      <vt:lpstr>Visceral Pleura (Pulmonary Pleura)</vt:lpstr>
      <vt:lpstr>Slide 74</vt:lpstr>
      <vt:lpstr>Parietal Pleura</vt:lpstr>
      <vt:lpstr>Slide 76</vt:lpstr>
      <vt:lpstr>Slide 77</vt:lpstr>
      <vt:lpstr>Slide 78</vt:lpstr>
      <vt:lpstr>Slide 79</vt:lpstr>
      <vt:lpstr>Slide 80</vt:lpstr>
      <vt:lpstr>Slide 81</vt:lpstr>
      <vt:lpstr>Slide 82</vt:lpstr>
      <vt:lpstr>RECESSES OF THE PLEURA</vt:lpstr>
      <vt:lpstr>RECESSES OF THE PLEURA</vt:lpstr>
      <vt:lpstr>Costodiaphragmatic recess</vt:lpstr>
      <vt:lpstr>Costomediastinal recess</vt:lpstr>
      <vt:lpstr>Slide 87</vt:lpstr>
      <vt:lpstr>ARTERIAL SUPPLY OF THE PLEURA</vt:lpstr>
      <vt:lpstr>NERVE SUPPLY OF THE PLEURA</vt:lpstr>
      <vt:lpstr>Slide 90</vt:lpstr>
      <vt:lpstr>LYMPHATIC DRAINAGE OF THE PLEURA</vt:lpstr>
      <vt:lpstr>Differences between the parietal and visceral pleurae</vt:lpstr>
      <vt:lpstr>APPLIED ANATOMY</vt:lpstr>
      <vt:lpstr>Slide 94</vt:lpstr>
      <vt:lpstr>Slide 95</vt:lpstr>
      <vt:lpstr>Slide 96</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MEDIASTINUM</dc:title>
  <dc:creator>olakunle</dc:creator>
  <cp:lastModifiedBy>Dr. Ojewale</cp:lastModifiedBy>
  <cp:revision>12</cp:revision>
  <dcterms:created xsi:type="dcterms:W3CDTF">2021-06-24T12:53:36Z</dcterms:created>
  <dcterms:modified xsi:type="dcterms:W3CDTF">2024-11-11T08:22:03Z</dcterms:modified>
</cp:coreProperties>
</file>