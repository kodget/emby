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3"/>
    <p:sldId id="296" r:id="rId4"/>
    <p:sldId id="257" r:id="rId5"/>
    <p:sldId id="291" r:id="rId6"/>
    <p:sldId id="295" r:id="rId7"/>
    <p:sldId id="294" r:id="rId8"/>
    <p:sldId id="293" r:id="rId9"/>
    <p:sldId id="281" r:id="rId10"/>
    <p:sldId id="292" r:id="rId11"/>
    <p:sldId id="282" r:id="rId12"/>
    <p:sldId id="283" r:id="rId13"/>
    <p:sldId id="260" r:id="rId14"/>
    <p:sldId id="270" r:id="rId16"/>
    <p:sldId id="284" r:id="rId17"/>
    <p:sldId id="285" r:id="rId18"/>
    <p:sldId id="263" r:id="rId19"/>
    <p:sldId id="264" r:id="rId20"/>
    <p:sldId id="287" r:id="rId21"/>
    <p:sldId id="288" r:id="rId22"/>
    <p:sldId id="289" r:id="rId23"/>
    <p:sldId id="267" r:id="rId24"/>
    <p:sldId id="290" r:id="rId25"/>
    <p:sldId id="268" r:id="rId26"/>
    <p:sldId id="269"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28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4" d="100"/>
          <a:sy n="84" d="100"/>
        </p:scale>
        <p:origin x="1402" y="48"/>
      </p:cViewPr>
      <p:guideLst>
        <p:guide orient="horz" pos="2159"/>
        <p:guide pos="289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b="1">
                <a:latin typeface="Times New Roman" panose="02020603050405020304" pitchFamily="18" charset="0"/>
                <a:cs typeface="Times New Roman" panose="02020603050405020304" pitchFamily="18" charset="0"/>
                <a:sym typeface="+mn-ea"/>
              </a:rPr>
              <a:t>Anterior relations</a:t>
            </a:r>
            <a:r>
              <a:rPr lang="en-US" altLang="en-US">
                <a:latin typeface="Times New Roman" panose="02020603050405020304" pitchFamily="18" charset="0"/>
                <a:cs typeface="Times New Roman" panose="02020603050405020304" pitchFamily="18" charset="0"/>
                <a:sym typeface="+mn-ea"/>
              </a:rPr>
              <a:t>: Anterior to the azygos vein is the esophagus, which runs along the same vertical axis but is positioned more anteriorly in the posterior mediastinum. The right lung root is also anterior to the azygos vein, where the vein forms an arch over it as it empties into the superior vena cava.</a:t>
            </a:r>
            <a:endParaRPr lang="en-US" altLang="en-US">
              <a:latin typeface="Times New Roman" panose="02020603050405020304" pitchFamily="18" charset="0"/>
              <a:cs typeface="Times New Roman" panose="02020603050405020304" pitchFamily="18" charset="0"/>
            </a:endParaRPr>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187180E-E335-449E-B0C3-C3D388FE63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EC497C-4D3C-46AB-9BDF-DD5FD3C267C2}"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187180E-E335-449E-B0C3-C3D388FE63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EC497C-4D3C-46AB-9BDF-DD5FD3C267C2}"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0187180E-E335-449E-B0C3-C3D388FE63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EC497C-4D3C-46AB-9BDF-DD5FD3C267C2}"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0187180E-E335-449E-B0C3-C3D388FE63F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EC497C-4D3C-46AB-9BDF-DD5FD3C267C2}"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0187180E-E335-449E-B0C3-C3D388FE63F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EC497C-4D3C-46AB-9BDF-DD5FD3C267C2}"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187180E-E335-449E-B0C3-C3D388FE63F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EC497C-4D3C-46AB-9BDF-DD5FD3C267C2}"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87180E-E335-449E-B0C3-C3D388FE63F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EC497C-4D3C-46AB-9BDF-DD5FD3C267C2}"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187180E-E335-449E-B0C3-C3D388FE63F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EC497C-4D3C-46AB-9BDF-DD5FD3C267C2}"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187180E-E335-449E-B0C3-C3D388FE63F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EC497C-4D3C-46AB-9BDF-DD5FD3C267C2}" type="slidenum">
              <a:rPr lang="en-US" smtClean="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187180E-E335-449E-B0C3-C3D388FE63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EC497C-4D3C-46AB-9BDF-DD5FD3C267C2}"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187180E-E335-449E-B0C3-C3D388FE63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EC497C-4D3C-46AB-9BDF-DD5FD3C267C2}" type="slidenum">
              <a:rPr lang="en-US" smtClean="0"/>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187180E-E335-449E-B0C3-C3D388FE63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EC497C-4D3C-46AB-9BDF-DD5FD3C267C2}"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457200" y="274638"/>
            <a:ext cx="82296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457200" y="1600200"/>
            <a:ext cx="82296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457200" y="6245225"/>
            <a:ext cx="2133600" cy="476250"/>
          </a:xfrm>
          <a:prstGeom prst="rect">
            <a:avLst/>
          </a:prstGeom>
          <a:noFill/>
          <a:ln w="9525">
            <a:noFill/>
          </a:ln>
        </p:spPr>
        <p:txBody>
          <a:bodyPr/>
          <a:lstStyle>
            <a:lvl1pPr>
              <a:defRPr sz="1400"/>
            </a:lvl1pPr>
          </a:lstStyle>
          <a:p>
            <a:fld id="{0187180E-E335-449E-B0C3-C3D388FE63FB}" type="datetimeFigureOut">
              <a:rPr lang="en-US" smtClean="0"/>
            </a:fld>
            <a:endParaRPr lang="en-US"/>
          </a:p>
        </p:txBody>
      </p:sp>
      <p:sp>
        <p:nvSpPr>
          <p:cNvPr id="1029" name="Footer Placeholder 1028"/>
          <p:cNvSpPr/>
          <p:nvPr>
            <p:ph type="ftr" sz="quarter" idx="3"/>
          </p:nvPr>
        </p:nvSpPr>
        <p:spPr>
          <a:xfrm>
            <a:off x="3124200" y="6245225"/>
            <a:ext cx="28956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6553200" y="6245225"/>
            <a:ext cx="2133600" cy="476250"/>
          </a:xfrm>
          <a:prstGeom prst="rect">
            <a:avLst/>
          </a:prstGeom>
          <a:noFill/>
          <a:ln w="9525">
            <a:noFill/>
          </a:ln>
        </p:spPr>
        <p:txBody>
          <a:bodyPr/>
          <a:lstStyle>
            <a:lvl1pPr algn="r">
              <a:defRPr sz="1400"/>
            </a:lvl1pPr>
          </a:lstStyle>
          <a:p>
            <a:fld id="{5AEC497C-4D3C-46AB-9BDF-DD5FD3C267C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anatomy.co.uk/thoracic-cavity/" TargetMode="External"/><Relationship Id="rId2" Type="http://schemas.openxmlformats.org/officeDocument/2006/relationships/hyperlink" Target="https://anatomy.co.uk/diaphragm/" TargetMode="External"/><Relationship Id="rId1" Type="http://schemas.openxmlformats.org/officeDocument/2006/relationships/hyperlink" Target="https://anatomy.co.uk/ascending-lumbar-vein/" TargetMode="Externa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anatomy.co.uk/thoracic-duc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457200"/>
            <a:ext cx="9067800" cy="1830070"/>
          </a:xfrm>
        </p:spPr>
        <p:txBody>
          <a:bodyPr/>
          <a:lstStyle/>
          <a:p>
            <a:r>
              <a:rPr lang="en-US" sz="4800" b="1" dirty="0" smtClean="0">
                <a:solidFill>
                  <a:srgbClr val="C00000"/>
                </a:solidFill>
                <a:latin typeface="Times New Roman" panose="02020603050405020304" pitchFamily="18" charset="0"/>
                <a:cs typeface="Times New Roman" panose="02020603050405020304" pitchFamily="18" charset="0"/>
              </a:rPr>
              <a:t>AZYGO</a:t>
            </a:r>
            <a:r>
              <a:rPr lang="en-GB" altLang="en-US" sz="4800" b="1" dirty="0" smtClean="0">
                <a:solidFill>
                  <a:srgbClr val="C00000"/>
                </a:solidFill>
                <a:latin typeface="Times New Roman" panose="02020603050405020304" pitchFamily="18" charset="0"/>
                <a:cs typeface="Times New Roman" panose="02020603050405020304" pitchFamily="18" charset="0"/>
              </a:rPr>
              <a:t>S SYSTEM OF VEINS</a:t>
            </a:r>
            <a:endParaRPr lang="en-GB" altLang="en-US" sz="4800" b="1" dirty="0" smtClean="0">
              <a:solidFill>
                <a:srgbClr val="C0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a:bodyPr>
          <a:lstStyle/>
          <a:p>
            <a:r>
              <a:rPr lang="en-US" dirty="0" smtClean="0">
                <a:latin typeface="Times New Roman" panose="02020603050405020304" pitchFamily="18" charset="0"/>
                <a:cs typeface="Times New Roman" panose="02020603050405020304" pitchFamily="18" charset="0"/>
              </a:rPr>
              <a:t>BY</a:t>
            </a:r>
            <a:endParaRPr lang="en-US" dirty="0" smtClean="0">
              <a:latin typeface="Times New Roman" panose="02020603050405020304" pitchFamily="18" charset="0"/>
              <a:cs typeface="Times New Roman" panose="02020603050405020304" pitchFamily="18" charset="0"/>
            </a:endParaRPr>
          </a:p>
          <a:p>
            <a:r>
              <a:rPr lang="en-GB" altLang="en-US" dirty="0" smtClean="0">
                <a:latin typeface="Times New Roman" panose="02020603050405020304" pitchFamily="18" charset="0"/>
                <a:cs typeface="Times New Roman" panose="02020603050405020304" pitchFamily="18" charset="0"/>
              </a:rPr>
              <a:t> Dr. </a:t>
            </a:r>
            <a:r>
              <a:rPr lang="en-US" dirty="0" smtClean="0">
                <a:latin typeface="Times New Roman" panose="02020603050405020304" pitchFamily="18" charset="0"/>
                <a:cs typeface="Times New Roman" panose="02020603050405020304" pitchFamily="18" charset="0"/>
              </a:rPr>
              <a:t>F.O. </a:t>
            </a:r>
            <a:r>
              <a:rPr lang="en-GB" altLang="en-US" dirty="0" smtClean="0">
                <a:latin typeface="Times New Roman" panose="02020603050405020304" pitchFamily="18" charset="0"/>
                <a:cs typeface="Times New Roman" panose="02020603050405020304" pitchFamily="18" charset="0"/>
              </a:rPr>
              <a:t>IGELIGE</a:t>
            </a:r>
            <a:endParaRPr lang="en-GB" altLang="en-US"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a:latin typeface="Times New Roman" panose="02020603050405020304" pitchFamily="18" charset="0"/>
                <a:cs typeface="Times New Roman" panose="02020603050405020304" pitchFamily="18" charset="0"/>
              </a:rPr>
              <a:t>OBJECTIVES</a:t>
            </a:r>
            <a:endParaRPr lang="en-GB" alt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pPr>
              <a:buFont typeface="Wingdings" panose="05000000000000000000" charset="0"/>
              <a:buChar char="v"/>
            </a:pPr>
            <a:r>
              <a:rPr lang="en-GB" altLang="en-US">
                <a:latin typeface="Times New Roman" panose="02020603050405020304" pitchFamily="18" charset="0"/>
                <a:cs typeface="Times New Roman" panose="02020603050405020304" pitchFamily="18" charset="0"/>
              </a:rPr>
              <a:t> INTRODUCTION</a:t>
            </a:r>
            <a:endParaRPr lang="en-GB" altLang="en-US">
              <a:latin typeface="Times New Roman" panose="02020603050405020304" pitchFamily="18" charset="0"/>
              <a:cs typeface="Times New Roman" panose="02020603050405020304" pitchFamily="18" charset="0"/>
            </a:endParaRPr>
          </a:p>
          <a:p>
            <a:pPr>
              <a:buFont typeface="Wingdings" panose="05000000000000000000" charset="0"/>
              <a:buChar char="v"/>
            </a:pPr>
            <a:r>
              <a:rPr lang="en-GB" altLang="en-US">
                <a:latin typeface="Times New Roman" panose="02020603050405020304" pitchFamily="18" charset="0"/>
                <a:cs typeface="Times New Roman" panose="02020603050405020304" pitchFamily="18" charset="0"/>
              </a:rPr>
              <a:t> COURSE</a:t>
            </a:r>
            <a:endParaRPr lang="en-GB" altLang="en-US">
              <a:latin typeface="Times New Roman" panose="02020603050405020304" pitchFamily="18" charset="0"/>
              <a:cs typeface="Times New Roman" panose="02020603050405020304" pitchFamily="18" charset="0"/>
            </a:endParaRPr>
          </a:p>
          <a:p>
            <a:pPr>
              <a:buFont typeface="Wingdings" panose="05000000000000000000" charset="0"/>
              <a:buChar char="v"/>
            </a:pPr>
            <a:r>
              <a:rPr lang="en-GB" altLang="en-US">
                <a:latin typeface="Times New Roman" panose="02020603050405020304" pitchFamily="18" charset="0"/>
                <a:cs typeface="Times New Roman" panose="02020603050405020304" pitchFamily="18" charset="0"/>
              </a:rPr>
              <a:t>RELATIONS </a:t>
            </a:r>
            <a:endParaRPr lang="en-GB" altLang="en-US">
              <a:latin typeface="Times New Roman" panose="02020603050405020304" pitchFamily="18" charset="0"/>
              <a:cs typeface="Times New Roman" panose="02020603050405020304" pitchFamily="18" charset="0"/>
            </a:endParaRPr>
          </a:p>
          <a:p>
            <a:pPr>
              <a:buFont typeface="Wingdings" panose="05000000000000000000" charset="0"/>
              <a:buChar char="v"/>
            </a:pPr>
            <a:r>
              <a:rPr lang="en-GB" altLang="en-US">
                <a:latin typeface="Times New Roman" panose="02020603050405020304" pitchFamily="18" charset="0"/>
                <a:cs typeface="Times New Roman" panose="02020603050405020304" pitchFamily="18" charset="0"/>
              </a:rPr>
              <a:t>TRIBUTARIES</a:t>
            </a:r>
            <a:endParaRPr lang="en-GB" altLang="en-US">
              <a:latin typeface="Times New Roman" panose="02020603050405020304" pitchFamily="18" charset="0"/>
              <a:cs typeface="Times New Roman" panose="02020603050405020304" pitchFamily="18" charset="0"/>
            </a:endParaRPr>
          </a:p>
          <a:p>
            <a:pPr>
              <a:buFont typeface="Wingdings" panose="05000000000000000000" charset="0"/>
              <a:buChar char="v"/>
            </a:pPr>
            <a:endParaRPr lang="en-GB" altLang="en-US">
              <a:latin typeface="Times New Roman" panose="02020603050405020304" pitchFamily="18" charset="0"/>
              <a:cs typeface="Times New Roman" panose="02020603050405020304" pitchFamily="18" charset="0"/>
            </a:endParaRPr>
          </a:p>
          <a:p>
            <a:pPr>
              <a:buFont typeface="Wingdings" panose="05000000000000000000" charset="0"/>
              <a:buChar char="v"/>
            </a:pPr>
            <a:endParaRPr lang="en-GB" altLang="en-US">
              <a:latin typeface="Times New Roman" panose="02020603050405020304" pitchFamily="18" charset="0"/>
              <a:cs typeface="Times New Roman" panose="02020603050405020304" pitchFamily="18" charset="0"/>
            </a:endParaRPr>
          </a:p>
          <a:p>
            <a:pPr>
              <a:buFont typeface="Wingdings" panose="05000000000000000000" charset="0"/>
              <a:buChar char="v"/>
            </a:pPr>
            <a:endParaRPr lang="en-GB" altLang="en-US">
              <a:latin typeface="Times New Roman" panose="02020603050405020304" pitchFamily="18" charset="0"/>
              <a:cs typeface="Times New Roman" panose="02020603050405020304" pitchFamily="18" charset="0"/>
            </a:endParaRPr>
          </a:p>
          <a:p>
            <a:pPr>
              <a:buFont typeface="Wingdings" panose="05000000000000000000" charset="0"/>
              <a:buChar char="v"/>
            </a:pPr>
            <a:endParaRPr lang="en-GB"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130" y="685800"/>
            <a:ext cx="9069070" cy="6172200"/>
          </a:xfrm>
        </p:spPr>
        <p:txBody>
          <a:bodyPr/>
          <a:lstStyle/>
          <a:p>
            <a:pPr>
              <a:buFont typeface="Wingdings" panose="05000000000000000000" charset="0"/>
              <a:buChar char="v"/>
            </a:pPr>
            <a:r>
              <a:rPr lang="en-US" altLang="en-US">
                <a:latin typeface="Times New Roman" panose="02020603050405020304" pitchFamily="18" charset="0"/>
                <a:cs typeface="Times New Roman" panose="02020603050405020304" pitchFamily="18" charset="0"/>
              </a:rPr>
              <a:t>The azygos vein is a major vein located along the right side of the thoracic vertebral column. </a:t>
            </a:r>
            <a:endParaRPr lang="en-US" altLang="en-US">
              <a:latin typeface="Times New Roman" panose="02020603050405020304" pitchFamily="18" charset="0"/>
              <a:cs typeface="Times New Roman" panose="02020603050405020304" pitchFamily="18" charset="0"/>
            </a:endParaRPr>
          </a:p>
          <a:p>
            <a:pPr>
              <a:buFont typeface="Wingdings" panose="05000000000000000000" charset="0"/>
              <a:buChar char="v"/>
            </a:pPr>
            <a:endParaRPr lang="en-US" altLang="en-US">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altLang="en-US">
                <a:latin typeface="Times New Roman" panose="02020603050405020304" pitchFamily="18" charset="0"/>
                <a:cs typeface="Times New Roman" panose="02020603050405020304" pitchFamily="18" charset="0"/>
              </a:rPr>
              <a:t>It originates from the union of the right lumbar vein and the right subcostal vein or as a continuation of the inferior vena cava. </a:t>
            </a:r>
            <a:endParaRPr lang="en-US" altLang="en-US">
              <a:latin typeface="Times New Roman" panose="02020603050405020304" pitchFamily="18" charset="0"/>
              <a:cs typeface="Times New Roman" panose="02020603050405020304" pitchFamily="18" charset="0"/>
            </a:endParaRPr>
          </a:p>
          <a:p>
            <a:pPr marL="0" indent="0">
              <a:buFont typeface="Wingdings" panose="05000000000000000000" charset="0"/>
              <a:buNone/>
            </a:pPr>
            <a:endParaRPr lang="en-US" altLang="en-US">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altLang="en-US">
                <a:latin typeface="Times New Roman" panose="02020603050405020304" pitchFamily="18" charset="0"/>
                <a:cs typeface="Times New Roman" panose="02020603050405020304" pitchFamily="18" charset="0"/>
              </a:rPr>
              <a:t>It ascends through the posterior mediastinum, running upward along the right side of the vertebrae, behind the esophagus and in front of the thoracic aorta. </a:t>
            </a:r>
            <a:endParaRPr lang="en-US" altLang="en-US">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0" y="0"/>
            <a:ext cx="9058910" cy="850265"/>
          </a:xfrm>
        </p:spPr>
        <p:txBody>
          <a:bodyPr/>
          <a:lstStyle/>
          <a:p>
            <a:r>
              <a:rPr lang="en-US" b="1" dirty="0" smtClean="0">
                <a:solidFill>
                  <a:srgbClr val="C00000"/>
                </a:solidFill>
                <a:latin typeface="Times New Roman" panose="02020603050405020304" pitchFamily="18" charset="0"/>
                <a:cs typeface="Times New Roman" panose="02020603050405020304" pitchFamily="18" charset="0"/>
              </a:rPr>
              <a:t>INTRODUCTION</a:t>
            </a:r>
            <a:endParaRPr lang="en-US" b="1" dirty="0" smtClean="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905" y="3810"/>
            <a:ext cx="9142095" cy="4301490"/>
          </a:xfrm>
          <a:prstGeom prst="rect">
            <a:avLst/>
          </a:prstGeom>
          <a:noFill/>
        </p:spPr>
        <p:txBody>
          <a:bodyPr wrap="square" rtlCol="0" anchor="t">
            <a:noAutofit/>
          </a:bodyPr>
          <a:p>
            <a:pPr marL="0" indent="0">
              <a:buNone/>
            </a:pPr>
            <a:endParaRPr lang="en-US" altLang="en-US" sz="3200">
              <a:latin typeface="Times New Roman" panose="02020603050405020304" pitchFamily="18" charset="0"/>
              <a:cs typeface="Times New Roman" panose="02020603050405020304" pitchFamily="18" charset="0"/>
              <a:sym typeface="+mn-ea"/>
            </a:endParaRPr>
          </a:p>
          <a:p>
            <a:pPr marL="0" indent="0">
              <a:buNone/>
            </a:pPr>
            <a:r>
              <a:rPr lang="en-US" sz="3200" b="1" dirty="0" smtClean="0">
                <a:solidFill>
                  <a:srgbClr val="C00000"/>
                </a:solidFill>
                <a:latin typeface="Times New Roman" panose="02020603050405020304" pitchFamily="18" charset="0"/>
                <a:cs typeface="Times New Roman" panose="02020603050405020304" pitchFamily="18" charset="0"/>
                <a:sym typeface="+mn-ea"/>
              </a:rPr>
              <a:t>INTRODUCTION</a:t>
            </a:r>
            <a:r>
              <a:rPr lang="en-GB" altLang="en-US" sz="3200" b="1" dirty="0" smtClean="0">
                <a:solidFill>
                  <a:srgbClr val="C00000"/>
                </a:solidFill>
                <a:latin typeface="Times New Roman" panose="02020603050405020304" pitchFamily="18" charset="0"/>
                <a:cs typeface="Times New Roman" panose="02020603050405020304" pitchFamily="18" charset="0"/>
                <a:sym typeface="+mn-ea"/>
              </a:rPr>
              <a:t> CONT’D</a:t>
            </a:r>
            <a:endParaRPr lang="en-US" sz="3200" b="1" dirty="0" smtClean="0">
              <a:solidFill>
                <a:srgbClr val="C00000"/>
              </a:solidFill>
              <a:latin typeface="Times New Roman" panose="02020603050405020304" pitchFamily="18" charset="0"/>
              <a:cs typeface="Times New Roman" panose="02020603050405020304" pitchFamily="18" charset="0"/>
            </a:endParaRPr>
          </a:p>
          <a:p>
            <a:pPr marL="0" indent="0">
              <a:buNone/>
            </a:pPr>
            <a:endParaRPr lang="en-US" altLang="en-US" sz="3200">
              <a:latin typeface="Times New Roman" panose="02020603050405020304" pitchFamily="18" charset="0"/>
              <a:cs typeface="Times New Roman" panose="02020603050405020304" pitchFamily="18" charset="0"/>
              <a:sym typeface="+mn-ea"/>
            </a:endParaRPr>
          </a:p>
          <a:p>
            <a:pPr marL="457200" indent="-457200">
              <a:buFont typeface="Wingdings" panose="05000000000000000000" charset="0"/>
              <a:buChar char="v"/>
            </a:pPr>
            <a:r>
              <a:rPr lang="en-US" altLang="en-US" sz="3200">
                <a:latin typeface="Times New Roman" panose="02020603050405020304" pitchFamily="18" charset="0"/>
                <a:cs typeface="Times New Roman" panose="02020603050405020304" pitchFamily="18" charset="0"/>
                <a:sym typeface="+mn-ea"/>
              </a:rPr>
              <a:t>The azygos vein receives blood from the posterior intercostal veins, hemiazygos vein, and accessory hemiazygos vein. </a:t>
            </a:r>
            <a:endParaRPr lang="en-US" altLang="en-US" sz="3200">
              <a:latin typeface="Times New Roman" panose="02020603050405020304" pitchFamily="18" charset="0"/>
              <a:cs typeface="Times New Roman" panose="02020603050405020304" pitchFamily="18" charset="0"/>
              <a:sym typeface="+mn-ea"/>
            </a:endParaRPr>
          </a:p>
          <a:p>
            <a:pPr indent="0">
              <a:buFont typeface="Wingdings" panose="05000000000000000000" charset="0"/>
              <a:buNone/>
            </a:pPr>
            <a:endParaRPr lang="en-US" altLang="en-US" sz="3200">
              <a:latin typeface="Times New Roman" panose="02020603050405020304" pitchFamily="18" charset="0"/>
              <a:cs typeface="Times New Roman" panose="02020603050405020304" pitchFamily="18" charset="0"/>
              <a:sym typeface="+mn-ea"/>
            </a:endParaRPr>
          </a:p>
          <a:p>
            <a:pPr marL="457200" indent="-457200">
              <a:buFont typeface="Wingdings" panose="05000000000000000000" charset="0"/>
              <a:buChar char="v"/>
            </a:pPr>
            <a:r>
              <a:rPr lang="en-US" altLang="en-US" sz="3200">
                <a:latin typeface="Times New Roman" panose="02020603050405020304" pitchFamily="18" charset="0"/>
                <a:cs typeface="Times New Roman" panose="02020603050405020304" pitchFamily="18" charset="0"/>
                <a:sym typeface="+mn-ea"/>
              </a:rPr>
              <a:t>It arches over the root of the right lung before draining into the superior vena cava, which carries blood back to the heart.</a:t>
            </a:r>
            <a:endParaRPr lang="en-US" altLang="en-US" sz="32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100330" y="318770"/>
            <a:ext cx="8915400" cy="62198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207010" y="0"/>
            <a:ext cx="8936990" cy="723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95250" y="25400"/>
            <a:ext cx="8963660" cy="63512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1435" y="109855"/>
            <a:ext cx="9086215" cy="4965065"/>
          </a:xfrm>
          <a:prstGeom prst="rect">
            <a:avLst/>
          </a:prstGeom>
        </p:spPr>
        <p:txBody>
          <a:bodyPr>
            <a:noAutofit/>
          </a:bodyPr>
          <a:p>
            <a:pPr marL="0" indent="0" algn="l"/>
            <a:r>
              <a:rPr lang="en-GB" sz="3200" b="1" i="0">
                <a:solidFill>
                  <a:srgbClr val="C00000"/>
                </a:solidFill>
                <a:latin typeface="Times New Roman" panose="02020603050405020304" pitchFamily="18" charset="0"/>
                <a:ea typeface="Proxima Nova"/>
                <a:cs typeface="Times New Roman" panose="02020603050405020304" pitchFamily="18" charset="0"/>
              </a:rPr>
              <a:t>ORIGIN</a:t>
            </a:r>
            <a:r>
              <a:rPr lang="en-GB" sz="3200" b="0" i="0">
                <a:solidFill>
                  <a:srgbClr val="222222"/>
                </a:solidFill>
                <a:latin typeface="Times New Roman" panose="02020603050405020304" pitchFamily="18" charset="0"/>
                <a:ea typeface="Proxima Nova"/>
                <a:cs typeface="Times New Roman" panose="02020603050405020304" pitchFamily="18" charset="0"/>
              </a:rPr>
              <a:t> ; </a:t>
            </a:r>
            <a:r>
              <a:rPr sz="3200" b="0" i="0">
                <a:solidFill>
                  <a:srgbClr val="222222"/>
                </a:solidFill>
                <a:latin typeface="Times New Roman" panose="02020603050405020304" pitchFamily="18" charset="0"/>
                <a:ea typeface="Proxima Nova"/>
                <a:cs typeface="Times New Roman" panose="02020603050405020304" pitchFamily="18" charset="0"/>
              </a:rPr>
              <a:t>The azygos vein typically arises from the </a:t>
            </a:r>
            <a:r>
              <a:rPr sz="3200" b="1" i="0">
                <a:solidFill>
                  <a:srgbClr val="222222"/>
                </a:solidFill>
                <a:latin typeface="Times New Roman" panose="02020603050405020304" pitchFamily="18" charset="0"/>
                <a:ea typeface="Proxima Nova"/>
                <a:cs typeface="Times New Roman" panose="02020603050405020304" pitchFamily="18" charset="0"/>
              </a:rPr>
              <a:t>right </a:t>
            </a:r>
            <a:r>
              <a:rPr sz="3200" b="1" i="0">
                <a:solidFill>
                  <a:srgbClr val="C00000"/>
                </a:solidFill>
                <a:latin typeface="Times New Roman" panose="02020603050405020304" pitchFamily="18" charset="0"/>
                <a:ea typeface="Proxima Nova"/>
                <a:cs typeface="Times New Roman" panose="02020603050405020304" pitchFamily="18" charset="0"/>
                <a:hlinkClick r:id="rId1" tooltip="Ascending lumbar vein"/>
              </a:rPr>
              <a:t>ascending lumbar vein</a:t>
            </a:r>
            <a:r>
              <a:rPr sz="3200" b="0" i="0">
                <a:solidFill>
                  <a:srgbClr val="222222"/>
                </a:solidFill>
                <a:latin typeface="Times New Roman" panose="02020603050405020304" pitchFamily="18" charset="0"/>
                <a:ea typeface="Proxima Nova"/>
                <a:cs typeface="Times New Roman" panose="02020603050405020304" pitchFamily="18" charset="0"/>
              </a:rPr>
              <a:t> and the </a:t>
            </a:r>
            <a:r>
              <a:rPr sz="3200" b="1" i="0">
                <a:solidFill>
                  <a:srgbClr val="222222"/>
                </a:solidFill>
                <a:latin typeface="Times New Roman" panose="02020603050405020304" pitchFamily="18" charset="0"/>
                <a:ea typeface="Proxima Nova"/>
                <a:cs typeface="Times New Roman" panose="02020603050405020304" pitchFamily="18" charset="0"/>
              </a:rPr>
              <a:t>right subcostal vein</a:t>
            </a:r>
            <a:r>
              <a:rPr sz="3200" b="0" i="0">
                <a:solidFill>
                  <a:srgbClr val="222222"/>
                </a:solidFill>
                <a:latin typeface="Times New Roman" panose="02020603050405020304" pitchFamily="18" charset="0"/>
                <a:ea typeface="Proxima Nova"/>
                <a:cs typeface="Times New Roman" panose="02020603050405020304" pitchFamily="18" charset="0"/>
              </a:rPr>
              <a:t> at the level of the </a:t>
            </a:r>
            <a:r>
              <a:rPr sz="3200" b="1" i="0">
                <a:solidFill>
                  <a:srgbClr val="222222"/>
                </a:solidFill>
                <a:latin typeface="Times New Roman" panose="02020603050405020304" pitchFamily="18" charset="0"/>
                <a:ea typeface="Proxima Nova"/>
                <a:cs typeface="Times New Roman" panose="02020603050405020304" pitchFamily="18" charset="0"/>
              </a:rPr>
              <a:t>first</a:t>
            </a:r>
            <a:r>
              <a:rPr sz="3200" b="0" i="0">
                <a:solidFill>
                  <a:srgbClr val="222222"/>
                </a:solidFill>
                <a:latin typeface="Times New Roman" panose="02020603050405020304" pitchFamily="18" charset="0"/>
                <a:ea typeface="Proxima Nova"/>
                <a:cs typeface="Times New Roman" panose="02020603050405020304" pitchFamily="18" charset="0"/>
              </a:rPr>
              <a:t> or </a:t>
            </a:r>
            <a:r>
              <a:rPr sz="3200" b="1" i="0">
                <a:solidFill>
                  <a:srgbClr val="222222"/>
                </a:solidFill>
                <a:latin typeface="Times New Roman" panose="02020603050405020304" pitchFamily="18" charset="0"/>
                <a:ea typeface="Proxima Nova"/>
                <a:cs typeface="Times New Roman" panose="02020603050405020304" pitchFamily="18" charset="0"/>
              </a:rPr>
              <a:t>second</a:t>
            </a:r>
            <a:r>
              <a:rPr sz="3200" b="0" i="0">
                <a:solidFill>
                  <a:srgbClr val="222222"/>
                </a:solidFill>
                <a:latin typeface="Times New Roman" panose="02020603050405020304" pitchFamily="18" charset="0"/>
                <a:ea typeface="Proxima Nova"/>
                <a:cs typeface="Times New Roman" panose="02020603050405020304" pitchFamily="18" charset="0"/>
              </a:rPr>
              <a:t> lumbar vertebra. </a:t>
            </a:r>
            <a:endParaRPr sz="3200" b="0" i="0">
              <a:solidFill>
                <a:srgbClr val="222222"/>
              </a:solidFill>
              <a:latin typeface="Times New Roman" panose="02020603050405020304" pitchFamily="18" charset="0"/>
              <a:ea typeface="Proxima Nova"/>
              <a:cs typeface="Times New Roman" panose="02020603050405020304" pitchFamily="18" charset="0"/>
            </a:endParaRPr>
          </a:p>
          <a:p>
            <a:pPr marL="457200" indent="-457200" algn="l">
              <a:buFont typeface="Wingdings" panose="05000000000000000000" charset="0"/>
              <a:buChar char="v"/>
            </a:pPr>
            <a:r>
              <a:rPr sz="3200" b="0" i="0">
                <a:solidFill>
                  <a:srgbClr val="222222"/>
                </a:solidFill>
                <a:latin typeface="Times New Roman" panose="02020603050405020304" pitchFamily="18" charset="0"/>
                <a:ea typeface="Proxima Nova"/>
                <a:cs typeface="Times New Roman" panose="02020603050405020304" pitchFamily="18" charset="0"/>
              </a:rPr>
              <a:t>In some cases, it can originate as a direct continuation of the </a:t>
            </a:r>
            <a:r>
              <a:rPr sz="3200" b="1" i="0">
                <a:solidFill>
                  <a:srgbClr val="222222"/>
                </a:solidFill>
                <a:latin typeface="Times New Roman" panose="02020603050405020304" pitchFamily="18" charset="0"/>
                <a:ea typeface="Proxima Nova"/>
                <a:cs typeface="Times New Roman" panose="02020603050405020304" pitchFamily="18" charset="0"/>
              </a:rPr>
              <a:t>inferior vena cava</a:t>
            </a:r>
            <a:r>
              <a:rPr sz="3200" b="0" i="0">
                <a:solidFill>
                  <a:srgbClr val="222222"/>
                </a:solidFill>
                <a:latin typeface="Times New Roman" panose="02020603050405020304" pitchFamily="18" charset="0"/>
                <a:ea typeface="Proxima Nova"/>
                <a:cs typeface="Times New Roman" panose="02020603050405020304" pitchFamily="18" charset="0"/>
              </a:rPr>
              <a:t>. </a:t>
            </a:r>
            <a:endParaRPr sz="3200" b="0" i="0">
              <a:solidFill>
                <a:srgbClr val="222222"/>
              </a:solidFill>
              <a:latin typeface="Times New Roman" panose="02020603050405020304" pitchFamily="18" charset="0"/>
              <a:ea typeface="Proxima Nova"/>
              <a:cs typeface="Times New Roman" panose="02020603050405020304" pitchFamily="18" charset="0"/>
            </a:endParaRPr>
          </a:p>
          <a:p>
            <a:pPr marL="457200" indent="-457200" algn="l">
              <a:buFont typeface="Wingdings" panose="05000000000000000000" charset="0"/>
              <a:buChar char="v"/>
            </a:pPr>
            <a:r>
              <a:rPr sz="3200" b="0" i="0">
                <a:solidFill>
                  <a:srgbClr val="222222"/>
                </a:solidFill>
                <a:latin typeface="Times New Roman" panose="02020603050405020304" pitchFamily="18" charset="0"/>
                <a:ea typeface="Proxima Nova"/>
                <a:cs typeface="Times New Roman" panose="02020603050405020304" pitchFamily="18" charset="0"/>
              </a:rPr>
              <a:t>The exact point of origin can vary, but it is usually found in the lower part of the thorax or upper abdomen. </a:t>
            </a:r>
            <a:endParaRPr sz="3200" b="0" i="0">
              <a:solidFill>
                <a:srgbClr val="222222"/>
              </a:solidFill>
              <a:latin typeface="Times New Roman" panose="02020603050405020304" pitchFamily="18" charset="0"/>
              <a:ea typeface="Proxima Nova"/>
              <a:cs typeface="Times New Roman" panose="02020603050405020304" pitchFamily="18" charset="0"/>
            </a:endParaRPr>
          </a:p>
          <a:p>
            <a:pPr marL="457200" indent="-457200" algn="l">
              <a:buFont typeface="Wingdings" panose="05000000000000000000" charset="0"/>
              <a:buChar char="v"/>
            </a:pPr>
            <a:r>
              <a:rPr sz="3200" b="0" i="0">
                <a:solidFill>
                  <a:srgbClr val="222222"/>
                </a:solidFill>
                <a:latin typeface="Times New Roman" panose="02020603050405020304" pitchFamily="18" charset="0"/>
                <a:ea typeface="Proxima Nova"/>
                <a:cs typeface="Times New Roman" panose="02020603050405020304" pitchFamily="18" charset="0"/>
              </a:rPr>
              <a:t>The vein begins in the posterior abdominal wall and ascends toward the thorax through the </a:t>
            </a:r>
            <a:r>
              <a:rPr sz="3200" b="1" i="0">
                <a:solidFill>
                  <a:srgbClr val="222222"/>
                </a:solidFill>
                <a:latin typeface="Times New Roman" panose="02020603050405020304" pitchFamily="18" charset="0"/>
                <a:ea typeface="Proxima Nova"/>
                <a:cs typeface="Times New Roman" panose="02020603050405020304" pitchFamily="18" charset="0"/>
              </a:rPr>
              <a:t>aortic hiatus</a:t>
            </a:r>
            <a:r>
              <a:rPr sz="3200" b="0" i="0">
                <a:solidFill>
                  <a:srgbClr val="222222"/>
                </a:solidFill>
                <a:latin typeface="Times New Roman" panose="02020603050405020304" pitchFamily="18" charset="0"/>
                <a:ea typeface="Proxima Nova"/>
                <a:cs typeface="Times New Roman" panose="02020603050405020304" pitchFamily="18" charset="0"/>
              </a:rPr>
              <a:t> of the </a:t>
            </a:r>
            <a:r>
              <a:rPr sz="3200" b="0" i="0">
                <a:solidFill>
                  <a:srgbClr val="3557FF"/>
                </a:solidFill>
                <a:latin typeface="Times New Roman" panose="02020603050405020304" pitchFamily="18" charset="0"/>
                <a:ea typeface="Proxima Nova"/>
                <a:cs typeface="Times New Roman" panose="02020603050405020304" pitchFamily="18" charset="0"/>
                <a:hlinkClick r:id="rId2" tooltip="Diaphragm"/>
              </a:rPr>
              <a:t>diaphragm</a:t>
            </a:r>
            <a:r>
              <a:rPr sz="3200" b="0" i="0">
                <a:solidFill>
                  <a:srgbClr val="222222"/>
                </a:solidFill>
                <a:latin typeface="Times New Roman" panose="02020603050405020304" pitchFamily="18" charset="0"/>
                <a:ea typeface="Proxima Nova"/>
                <a:cs typeface="Times New Roman" panose="02020603050405020304" pitchFamily="18" charset="0"/>
              </a:rPr>
              <a:t>, entering the </a:t>
            </a:r>
            <a:r>
              <a:rPr sz="3200" b="0" i="0">
                <a:solidFill>
                  <a:srgbClr val="3557FF"/>
                </a:solidFill>
                <a:latin typeface="Times New Roman" panose="02020603050405020304" pitchFamily="18" charset="0"/>
                <a:ea typeface="Proxima Nova"/>
                <a:cs typeface="Times New Roman" panose="02020603050405020304" pitchFamily="18" charset="0"/>
                <a:hlinkClick r:id="rId3" tooltip="Thoracic cavity"/>
              </a:rPr>
              <a:t>thoracic cavity</a:t>
            </a:r>
            <a:r>
              <a:rPr sz="3200" b="0" i="0">
                <a:solidFill>
                  <a:srgbClr val="222222"/>
                </a:solidFill>
                <a:latin typeface="Times New Roman" panose="02020603050405020304" pitchFamily="18" charset="0"/>
                <a:ea typeface="Proxima Nova"/>
                <a:cs typeface="Times New Roman" panose="02020603050405020304" pitchFamily="18" charset="0"/>
              </a:rPr>
              <a:t>.</a:t>
            </a:r>
            <a:endParaRPr sz="3200" b="0" i="0">
              <a:solidFill>
                <a:srgbClr val="222222"/>
              </a:solidFill>
              <a:latin typeface="Times New Roman" panose="02020603050405020304" pitchFamily="18" charset="0"/>
              <a:ea typeface="Proxima Nova"/>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91440" y="88265"/>
            <a:ext cx="9048750" cy="66643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6200" y="76200"/>
            <a:ext cx="9080500" cy="6843395"/>
          </a:xfrm>
          <a:prstGeom prst="rect">
            <a:avLst/>
          </a:prstGeom>
        </p:spPr>
        <p:txBody>
          <a:bodyPr wrap="square">
            <a:noAutofit/>
          </a:bodyPr>
          <a:p>
            <a:pPr marL="0" indent="0" algn="l">
              <a:lnSpc>
                <a:spcPts val="1260"/>
              </a:lnSpc>
              <a:spcBef>
                <a:spcPct val="0"/>
              </a:spcBef>
              <a:spcAft>
                <a:spcPts val="1200"/>
              </a:spcAft>
            </a:pPr>
            <a:endParaRPr sz="3600" b="1" i="0">
              <a:solidFill>
                <a:srgbClr val="C00000"/>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sz="3600" b="1" i="0">
                <a:solidFill>
                  <a:srgbClr val="C00000"/>
                </a:solidFill>
                <a:latin typeface="Times New Roman" panose="02020603050405020304" pitchFamily="18" charset="0"/>
                <a:ea typeface="Proxima Nova"/>
                <a:cs typeface="Times New Roman" panose="02020603050405020304" pitchFamily="18" charset="0"/>
              </a:rPr>
              <a:t>C</a:t>
            </a:r>
            <a:r>
              <a:rPr lang="en-GB" sz="3600" b="1" i="0">
                <a:solidFill>
                  <a:srgbClr val="C00000"/>
                </a:solidFill>
                <a:latin typeface="Times New Roman" panose="02020603050405020304" pitchFamily="18" charset="0"/>
                <a:ea typeface="Proxima Nova"/>
                <a:cs typeface="Times New Roman" panose="02020603050405020304" pitchFamily="18" charset="0"/>
              </a:rPr>
              <a:t>OURSE</a:t>
            </a:r>
            <a:endParaRPr sz="3600" b="0" i="0">
              <a:solidFill>
                <a:srgbClr val="222222"/>
              </a:solidFill>
              <a:latin typeface="Times New Roman" panose="02020603050405020304" pitchFamily="18" charset="0"/>
              <a:ea typeface="Proxima Nova"/>
              <a:cs typeface="Times New Roman" panose="02020603050405020304" pitchFamily="18" charset="0"/>
            </a:endParaRPr>
          </a:p>
          <a:p>
            <a:pPr marL="457200" indent="-457200" algn="l">
              <a:spcBef>
                <a:spcPct val="0"/>
              </a:spcBef>
              <a:spcAft>
                <a:spcPts val="1500"/>
              </a:spcAft>
              <a:buFont typeface="Wingdings" panose="05000000000000000000" charset="0"/>
              <a:buChar char="v"/>
            </a:pPr>
            <a:r>
              <a:rPr sz="3200" b="0" i="0">
                <a:solidFill>
                  <a:srgbClr val="222222"/>
                </a:solidFill>
                <a:latin typeface="Times New Roman" panose="02020603050405020304" pitchFamily="18" charset="0"/>
                <a:ea typeface="Proxima Nova"/>
                <a:cs typeface="Times New Roman" panose="02020603050405020304" pitchFamily="18" charset="0"/>
              </a:rPr>
              <a:t>The azygos vein ascends vertically along the </a:t>
            </a:r>
            <a:r>
              <a:rPr sz="3200" b="1" i="0">
                <a:solidFill>
                  <a:srgbClr val="222222"/>
                </a:solidFill>
                <a:latin typeface="Times New Roman" panose="02020603050405020304" pitchFamily="18" charset="0"/>
                <a:ea typeface="Proxima Nova"/>
                <a:cs typeface="Times New Roman" panose="02020603050405020304" pitchFamily="18" charset="0"/>
              </a:rPr>
              <a:t>right side of the thoracic vertebral column</a:t>
            </a:r>
            <a:r>
              <a:rPr sz="3200" b="0" i="0">
                <a:solidFill>
                  <a:srgbClr val="222222"/>
                </a:solidFill>
                <a:latin typeface="Times New Roman" panose="02020603050405020304" pitchFamily="18" charset="0"/>
                <a:ea typeface="Proxima Nova"/>
                <a:cs typeface="Times New Roman" panose="02020603050405020304" pitchFamily="18" charset="0"/>
              </a:rPr>
              <a:t>. It runs in the </a:t>
            </a:r>
            <a:r>
              <a:rPr sz="3200" b="1" i="0">
                <a:solidFill>
                  <a:srgbClr val="222222"/>
                </a:solidFill>
                <a:latin typeface="Times New Roman" panose="02020603050405020304" pitchFamily="18" charset="0"/>
                <a:ea typeface="Proxima Nova"/>
                <a:cs typeface="Times New Roman" panose="02020603050405020304" pitchFamily="18" charset="0"/>
              </a:rPr>
              <a:t>posterior mediastinum</a:t>
            </a:r>
            <a:r>
              <a:rPr sz="3200" b="0" i="0">
                <a:solidFill>
                  <a:srgbClr val="222222"/>
                </a:solidFill>
                <a:latin typeface="Times New Roman" panose="02020603050405020304" pitchFamily="18" charset="0"/>
                <a:ea typeface="Proxima Nova"/>
                <a:cs typeface="Times New Roman" panose="02020603050405020304" pitchFamily="18" charset="0"/>
              </a:rPr>
              <a:t>, a region located between the lungs, behind the heart and in front of the thoracic vertebrae. </a:t>
            </a:r>
            <a:endParaRPr sz="3200" b="0" i="0">
              <a:solidFill>
                <a:srgbClr val="222222"/>
              </a:solidFill>
              <a:latin typeface="Times New Roman" panose="02020603050405020304" pitchFamily="18" charset="0"/>
              <a:ea typeface="Proxima Nova"/>
              <a:cs typeface="Times New Roman" panose="02020603050405020304" pitchFamily="18" charset="0"/>
            </a:endParaRPr>
          </a:p>
          <a:p>
            <a:pPr marL="457200" indent="-457200" algn="l">
              <a:spcBef>
                <a:spcPct val="0"/>
              </a:spcBef>
              <a:spcAft>
                <a:spcPts val="1500"/>
              </a:spcAft>
              <a:buFont typeface="Wingdings" panose="05000000000000000000" charset="0"/>
              <a:buChar char="v"/>
            </a:pPr>
            <a:r>
              <a:rPr sz="3200" b="0" i="0">
                <a:solidFill>
                  <a:srgbClr val="222222"/>
                </a:solidFill>
                <a:latin typeface="Times New Roman" panose="02020603050405020304" pitchFamily="18" charset="0"/>
                <a:ea typeface="Proxima Nova"/>
                <a:cs typeface="Times New Roman" panose="02020603050405020304" pitchFamily="18" charset="0"/>
              </a:rPr>
              <a:t>As the vein ascends, it lies posterior to the esophagus and to the right of the </a:t>
            </a:r>
            <a:r>
              <a:rPr sz="3200" b="0" i="0">
                <a:solidFill>
                  <a:srgbClr val="3557FF"/>
                </a:solidFill>
                <a:latin typeface="Times New Roman" panose="02020603050405020304" pitchFamily="18" charset="0"/>
                <a:ea typeface="Proxima Nova"/>
                <a:cs typeface="Times New Roman" panose="02020603050405020304" pitchFamily="18" charset="0"/>
                <a:hlinkClick r:id="rId1" tooltip="Thoracic duct"/>
              </a:rPr>
              <a:t>thoracic duct</a:t>
            </a:r>
            <a:r>
              <a:rPr sz="3200" b="0" i="0">
                <a:solidFill>
                  <a:srgbClr val="222222"/>
                </a:solidFill>
                <a:latin typeface="Times New Roman" panose="02020603050405020304" pitchFamily="18" charset="0"/>
                <a:ea typeface="Proxima Nova"/>
                <a:cs typeface="Times New Roman" panose="02020603050405020304" pitchFamily="18" charset="0"/>
              </a:rPr>
              <a:t>. </a:t>
            </a:r>
            <a:endParaRPr sz="3200" b="0" i="0">
              <a:solidFill>
                <a:srgbClr val="222222"/>
              </a:solidFill>
              <a:latin typeface="Times New Roman" panose="02020603050405020304" pitchFamily="18" charset="0"/>
              <a:ea typeface="Proxima Nova"/>
              <a:cs typeface="Times New Roman" panose="02020603050405020304" pitchFamily="18" charset="0"/>
            </a:endParaRPr>
          </a:p>
          <a:p>
            <a:pPr marL="457200" indent="-457200" algn="l">
              <a:spcBef>
                <a:spcPct val="0"/>
              </a:spcBef>
              <a:spcAft>
                <a:spcPts val="1500"/>
              </a:spcAft>
              <a:buFont typeface="Wingdings" panose="05000000000000000000" charset="0"/>
              <a:buChar char="v"/>
            </a:pPr>
            <a:r>
              <a:rPr sz="3200" b="0" i="0">
                <a:solidFill>
                  <a:srgbClr val="222222"/>
                </a:solidFill>
                <a:latin typeface="Times New Roman" panose="02020603050405020304" pitchFamily="18" charset="0"/>
                <a:ea typeface="Proxima Nova"/>
                <a:cs typeface="Times New Roman" panose="02020603050405020304" pitchFamily="18" charset="0"/>
              </a:rPr>
              <a:t>The azygos vein runs along the right side of the vertebral bodies, closely associated with the thoracic vertebrae, and receives tributaries from various veins as it ascends.</a:t>
            </a:r>
            <a:endParaRPr sz="3200" b="0" i="0">
              <a:solidFill>
                <a:srgbClr val="222222"/>
              </a:solidFill>
              <a:latin typeface="Times New Roman" panose="02020603050405020304" pitchFamily="18" charset="0"/>
              <a:ea typeface="Proxima Nova"/>
              <a:cs typeface="Times New Roman" panose="02020603050405020304" pitchFamily="18" charset="0"/>
            </a:endParaRPr>
          </a:p>
          <a:p>
            <a:pPr marL="0" indent="0" algn="l">
              <a:spcBef>
                <a:spcPct val="0"/>
              </a:spcBef>
              <a:spcAft>
                <a:spcPts val="1500"/>
              </a:spcAft>
            </a:pPr>
            <a:endParaRPr sz="3200" b="0" i="0">
              <a:solidFill>
                <a:srgbClr val="222222"/>
              </a:solidFill>
              <a:latin typeface="Times New Roman" panose="02020603050405020304" pitchFamily="18" charset="0"/>
              <a:ea typeface="Proxima Nova"/>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9690" y="136525"/>
            <a:ext cx="9044305" cy="6670675"/>
          </a:xfrm>
          <a:prstGeom prst="rect">
            <a:avLst/>
          </a:prstGeom>
          <a:noFill/>
        </p:spPr>
        <p:txBody>
          <a:bodyPr wrap="square" rtlCol="0" anchor="t">
            <a:noAutofit/>
          </a:bodyPr>
          <a:p>
            <a:pPr marL="0" indent="0" algn="l">
              <a:lnSpc>
                <a:spcPts val="1260"/>
              </a:lnSpc>
              <a:spcBef>
                <a:spcPct val="0"/>
              </a:spcBef>
              <a:spcAft>
                <a:spcPts val="1200"/>
              </a:spcAft>
            </a:pPr>
            <a:endParaRPr sz="4000" b="1" i="0">
              <a:solidFill>
                <a:srgbClr val="C00000"/>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sz="4000" b="1">
                <a:solidFill>
                  <a:srgbClr val="C00000"/>
                </a:solidFill>
                <a:latin typeface="Times New Roman" panose="02020603050405020304" pitchFamily="18" charset="0"/>
                <a:ea typeface="Proxima Nova"/>
                <a:cs typeface="Times New Roman" panose="02020603050405020304" pitchFamily="18" charset="0"/>
                <a:sym typeface="+mn-ea"/>
              </a:rPr>
              <a:t>Course</a:t>
            </a:r>
            <a:r>
              <a:rPr lang="en-GB" sz="4000" b="1">
                <a:solidFill>
                  <a:srgbClr val="C00000"/>
                </a:solidFill>
                <a:latin typeface="Times New Roman" panose="02020603050405020304" pitchFamily="18" charset="0"/>
                <a:ea typeface="Proxima Nova"/>
                <a:cs typeface="Times New Roman" panose="02020603050405020304" pitchFamily="18" charset="0"/>
                <a:sym typeface="+mn-ea"/>
              </a:rPr>
              <a:t> Cont’d ...</a:t>
            </a:r>
            <a:endParaRPr sz="4000">
              <a:solidFill>
                <a:srgbClr val="222222"/>
              </a:solidFill>
              <a:latin typeface="Times New Roman" panose="02020603050405020304" pitchFamily="18" charset="0"/>
              <a:ea typeface="Proxima Nova"/>
              <a:cs typeface="Times New Roman" panose="02020603050405020304" pitchFamily="18" charset="0"/>
              <a:sym typeface="+mn-ea"/>
            </a:endParaRPr>
          </a:p>
          <a:p>
            <a:pPr marL="0" indent="0" algn="l">
              <a:spcBef>
                <a:spcPct val="0"/>
              </a:spcBef>
              <a:spcAft>
                <a:spcPts val="1500"/>
              </a:spcAft>
            </a:pPr>
            <a:endParaRPr sz="2800">
              <a:solidFill>
                <a:srgbClr val="222222"/>
              </a:solidFill>
              <a:latin typeface="Times New Roman" panose="02020603050405020304" pitchFamily="18" charset="0"/>
              <a:ea typeface="Proxima Nova"/>
              <a:cs typeface="Times New Roman" panose="02020603050405020304" pitchFamily="18" charset="0"/>
              <a:sym typeface="+mn-ea"/>
            </a:endParaRPr>
          </a:p>
          <a:p>
            <a:pPr marL="457200" indent="-457200" algn="l">
              <a:spcBef>
                <a:spcPct val="0"/>
              </a:spcBef>
              <a:spcAft>
                <a:spcPts val="1500"/>
              </a:spcAft>
              <a:buFont typeface="Wingdings" panose="05000000000000000000" charset="0"/>
              <a:buChar char="v"/>
            </a:pPr>
            <a:r>
              <a:rPr sz="3200">
                <a:solidFill>
                  <a:srgbClr val="222222"/>
                </a:solidFill>
                <a:latin typeface="Times New Roman" panose="02020603050405020304" pitchFamily="18" charset="0"/>
                <a:ea typeface="Proxima Nova"/>
                <a:cs typeface="Times New Roman" panose="02020603050405020304" pitchFamily="18" charset="0"/>
                <a:sym typeface="+mn-ea"/>
              </a:rPr>
              <a:t>At around the level of the </a:t>
            </a:r>
            <a:r>
              <a:rPr sz="3200" b="1">
                <a:solidFill>
                  <a:srgbClr val="222222"/>
                </a:solidFill>
                <a:latin typeface="Times New Roman" panose="02020603050405020304" pitchFamily="18" charset="0"/>
                <a:ea typeface="Proxima Nova"/>
                <a:cs typeface="Times New Roman" panose="02020603050405020304" pitchFamily="18" charset="0"/>
                <a:sym typeface="+mn-ea"/>
              </a:rPr>
              <a:t>T4</a:t>
            </a:r>
            <a:r>
              <a:rPr sz="3200">
                <a:solidFill>
                  <a:srgbClr val="222222"/>
                </a:solidFill>
                <a:latin typeface="Times New Roman" panose="02020603050405020304" pitchFamily="18" charset="0"/>
                <a:ea typeface="Proxima Nova"/>
                <a:cs typeface="Times New Roman" panose="02020603050405020304" pitchFamily="18" charset="0"/>
                <a:sym typeface="+mn-ea"/>
              </a:rPr>
              <a:t> vertebra, the azygos vein curves forward, forming the </a:t>
            </a:r>
            <a:r>
              <a:rPr sz="3200" b="1">
                <a:solidFill>
                  <a:srgbClr val="222222"/>
                </a:solidFill>
                <a:latin typeface="Times New Roman" panose="02020603050405020304" pitchFamily="18" charset="0"/>
                <a:ea typeface="Proxima Nova"/>
                <a:cs typeface="Times New Roman" panose="02020603050405020304" pitchFamily="18" charset="0"/>
                <a:sym typeface="+mn-ea"/>
              </a:rPr>
              <a:t>azygos arch</a:t>
            </a:r>
            <a:r>
              <a:rPr sz="3200">
                <a:solidFill>
                  <a:srgbClr val="222222"/>
                </a:solidFill>
                <a:latin typeface="Times New Roman" panose="02020603050405020304" pitchFamily="18" charset="0"/>
                <a:ea typeface="Proxima Nova"/>
                <a:cs typeface="Times New Roman" panose="02020603050405020304" pitchFamily="18" charset="0"/>
                <a:sym typeface="+mn-ea"/>
              </a:rPr>
              <a:t>. </a:t>
            </a:r>
            <a:endParaRPr sz="3200">
              <a:solidFill>
                <a:srgbClr val="222222"/>
              </a:solidFill>
              <a:latin typeface="Times New Roman" panose="02020603050405020304" pitchFamily="18" charset="0"/>
              <a:ea typeface="Proxima Nova"/>
              <a:cs typeface="Times New Roman" panose="02020603050405020304" pitchFamily="18" charset="0"/>
              <a:sym typeface="+mn-ea"/>
            </a:endParaRPr>
          </a:p>
          <a:p>
            <a:pPr marL="457200" indent="-457200" algn="l">
              <a:spcBef>
                <a:spcPct val="0"/>
              </a:spcBef>
              <a:spcAft>
                <a:spcPts val="1500"/>
              </a:spcAft>
              <a:buFont typeface="Wingdings" panose="05000000000000000000" charset="0"/>
              <a:buChar char="v"/>
            </a:pPr>
            <a:r>
              <a:rPr sz="3200">
                <a:solidFill>
                  <a:srgbClr val="222222"/>
                </a:solidFill>
                <a:latin typeface="Times New Roman" panose="02020603050405020304" pitchFamily="18" charset="0"/>
                <a:ea typeface="Proxima Nova"/>
                <a:cs typeface="Times New Roman" panose="02020603050405020304" pitchFamily="18" charset="0"/>
                <a:sym typeface="+mn-ea"/>
              </a:rPr>
              <a:t>This arch passes over the root of the right lung and empties into the </a:t>
            </a:r>
            <a:r>
              <a:rPr sz="3200" b="1">
                <a:solidFill>
                  <a:srgbClr val="222222"/>
                </a:solidFill>
                <a:latin typeface="Times New Roman" panose="02020603050405020304" pitchFamily="18" charset="0"/>
                <a:ea typeface="Proxima Nova"/>
                <a:cs typeface="Times New Roman" panose="02020603050405020304" pitchFamily="18" charset="0"/>
                <a:sym typeface="+mn-ea"/>
              </a:rPr>
              <a:t>superior vena cava</a:t>
            </a:r>
            <a:r>
              <a:rPr sz="3200">
                <a:solidFill>
                  <a:srgbClr val="222222"/>
                </a:solidFill>
                <a:latin typeface="Times New Roman" panose="02020603050405020304" pitchFamily="18" charset="0"/>
                <a:ea typeface="Proxima Nova"/>
                <a:cs typeface="Times New Roman" panose="02020603050405020304" pitchFamily="18" charset="0"/>
                <a:sym typeface="+mn-ea"/>
              </a:rPr>
              <a:t>, which then carries the blood back to the heart. </a:t>
            </a:r>
            <a:endParaRPr sz="3200">
              <a:solidFill>
                <a:srgbClr val="222222"/>
              </a:solidFill>
              <a:latin typeface="Times New Roman" panose="02020603050405020304" pitchFamily="18" charset="0"/>
              <a:ea typeface="Proxima Nova"/>
              <a:cs typeface="Times New Roman" panose="02020603050405020304" pitchFamily="18" charset="0"/>
              <a:sym typeface="+mn-ea"/>
            </a:endParaRPr>
          </a:p>
          <a:p>
            <a:pPr marL="457200" indent="-457200" algn="l">
              <a:spcBef>
                <a:spcPct val="0"/>
              </a:spcBef>
              <a:spcAft>
                <a:spcPts val="1500"/>
              </a:spcAft>
              <a:buFont typeface="Wingdings" panose="05000000000000000000" charset="0"/>
              <a:buChar char="v"/>
            </a:pPr>
            <a:r>
              <a:rPr sz="3200">
                <a:solidFill>
                  <a:srgbClr val="222222"/>
                </a:solidFill>
                <a:latin typeface="Times New Roman" panose="02020603050405020304" pitchFamily="18" charset="0"/>
                <a:ea typeface="Proxima Nova"/>
                <a:cs typeface="Times New Roman" panose="02020603050405020304" pitchFamily="18" charset="0"/>
                <a:sym typeface="+mn-ea"/>
              </a:rPr>
              <a:t>The vein travels in the mediastinum between the azygos arch and the right lung before making this connection.</a:t>
            </a:r>
            <a:endParaRPr lang="en-US" sz="3200">
              <a:solidFill>
                <a:srgbClr val="222222"/>
              </a:solidFill>
              <a:latin typeface="Times New Roman" panose="02020603050405020304" pitchFamily="18" charset="0"/>
              <a:ea typeface="Proxima Nova"/>
              <a:cs typeface="Times New Roman" panose="02020603050405020304" pitchFamily="18"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0"/>
            <a:ext cx="4757420" cy="5353050"/>
          </a:xfrm>
        </p:spPr>
        <p:txBody>
          <a:bodyPr>
            <a:noAutofit/>
          </a:bodyPr>
          <a:lstStyle/>
          <a:p>
            <a:pPr>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posterior</a:t>
            </a:r>
            <a:r>
              <a:rPr lang="en-US" dirty="0">
                <a:latin typeface="Times New Roman" panose="02020603050405020304" pitchFamily="18" charset="0"/>
                <a:cs typeface="Times New Roman" panose="02020603050405020304" pitchFamily="18" charset="0"/>
              </a:rPr>
              <a:t> to the </a:t>
            </a:r>
            <a:r>
              <a:rPr lang="en-US" dirty="0" err="1">
                <a:latin typeface="Times New Roman" panose="02020603050405020304" pitchFamily="18" charset="0"/>
                <a:cs typeface="Times New Roman" panose="02020603050405020304" pitchFamily="18" charset="0"/>
              </a:rPr>
              <a:t>azygos</a:t>
            </a:r>
            <a:r>
              <a:rPr lang="en-US" dirty="0">
                <a:latin typeface="Times New Roman" panose="02020603050405020304" pitchFamily="18" charset="0"/>
                <a:cs typeface="Times New Roman" panose="02020603050405020304" pitchFamily="18" charset="0"/>
              </a:rPr>
              <a:t> vein</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anterior longitudinal ligament</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right </a:t>
            </a:r>
            <a:r>
              <a:rPr lang="en-US" dirty="0">
                <a:latin typeface="Times New Roman" panose="02020603050405020304" pitchFamily="18" charset="0"/>
                <a:cs typeface="Times New Roman" panose="02020603050405020304" pitchFamily="18" charset="0"/>
              </a:rPr>
              <a:t>posterior </a:t>
            </a:r>
            <a:r>
              <a:rPr lang="en-US" dirty="0" err="1">
                <a:latin typeface="Times New Roman" panose="02020603050405020304" pitchFamily="18" charset="0"/>
                <a:cs typeface="Times New Roman" panose="02020603050405020304" pitchFamily="18" charset="0"/>
              </a:rPr>
              <a:t>intercostal</a:t>
            </a:r>
            <a:r>
              <a:rPr lang="en-US" dirty="0">
                <a:latin typeface="Times New Roman" panose="02020603050405020304" pitchFamily="18" charset="0"/>
                <a:cs typeface="Times New Roman" panose="02020603050405020304" pitchFamily="18" charset="0"/>
              </a:rPr>
              <a:t> arteries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bodies of T4-T12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In</a:t>
            </a:r>
            <a:r>
              <a:rPr lang="en-GB" altLang="en-US" dirty="0">
                <a:latin typeface="Times New Roman" panose="02020603050405020304" pitchFamily="18" charset="0"/>
                <a:cs typeface="Times New Roman" panose="02020603050405020304" pitchFamily="18" charset="0"/>
                <a:sym typeface="+mn-ea"/>
              </a:rPr>
              <a:t> </a:t>
            </a:r>
            <a:r>
              <a:rPr lang="en-US" dirty="0">
                <a:latin typeface="Times New Roman" panose="02020603050405020304" pitchFamily="18" charset="0"/>
                <a:cs typeface="Times New Roman" panose="02020603050405020304" pitchFamily="18" charset="0"/>
                <a:sym typeface="+mn-ea"/>
              </a:rPr>
              <a:t>the posterior thorax, the </a:t>
            </a:r>
            <a:r>
              <a:rPr lang="en-US" dirty="0" err="1">
                <a:latin typeface="Times New Roman" panose="02020603050405020304" pitchFamily="18" charset="0"/>
                <a:cs typeface="Times New Roman" panose="02020603050405020304" pitchFamily="18" charset="0"/>
                <a:sym typeface="+mn-ea"/>
              </a:rPr>
              <a:t>azygos</a:t>
            </a:r>
            <a:r>
              <a:rPr lang="en-US" dirty="0">
                <a:latin typeface="Times New Roman" panose="02020603050405020304" pitchFamily="18" charset="0"/>
                <a:cs typeface="Times New Roman" panose="02020603050405020304" pitchFamily="18" charset="0"/>
                <a:sym typeface="+mn-ea"/>
              </a:rPr>
              <a:t> vein is located posterior to the recess of the right pleural sac and the </a:t>
            </a:r>
            <a:r>
              <a:rPr lang="en-US" dirty="0" err="1">
                <a:latin typeface="Times New Roman" panose="02020603050405020304" pitchFamily="18" charset="0"/>
                <a:cs typeface="Times New Roman" panose="02020603050405020304" pitchFamily="18" charset="0"/>
                <a:sym typeface="+mn-ea"/>
              </a:rPr>
              <a:t>oesophagus</a:t>
            </a:r>
            <a:r>
              <a:rPr lang="en-US" dirty="0">
                <a:latin typeface="Times New Roman" panose="02020603050405020304" pitchFamily="18" charset="0"/>
                <a:cs typeface="Times New Roman" panose="02020603050405020304" pitchFamily="18" charset="0"/>
                <a:sym typeface="+mn-ea"/>
              </a:rPr>
              <a: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0" y="0"/>
            <a:ext cx="9191625" cy="879475"/>
          </a:xfrm>
        </p:spPr>
        <p:txBody>
          <a:bodyPr/>
          <a:lstStyle/>
          <a:p>
            <a:r>
              <a:rPr lang="en-US" b="1" dirty="0" smtClean="0">
                <a:solidFill>
                  <a:srgbClr val="C00000"/>
                </a:solidFill>
                <a:latin typeface="Times New Roman" panose="02020603050405020304" pitchFamily="18" charset="0"/>
                <a:cs typeface="Times New Roman" panose="02020603050405020304" pitchFamily="18" charset="0"/>
              </a:rPr>
              <a:t>ANATOMICAL RELATIONS</a:t>
            </a:r>
            <a:endParaRPr lang="en-US" b="1" dirty="0" smtClean="0">
              <a:solidFill>
                <a:srgbClr val="C00000"/>
              </a:solidFill>
              <a:latin typeface="Times New Roman" panose="02020603050405020304" pitchFamily="18" charset="0"/>
              <a:cs typeface="Times New Roman" panose="02020603050405020304" pitchFamily="18" charset="0"/>
            </a:endParaRPr>
          </a:p>
        </p:txBody>
      </p:sp>
      <p:sp>
        <p:nvSpPr>
          <p:cNvPr id="6" name="Rectangle 5"/>
          <p:cNvSpPr/>
          <p:nvPr/>
        </p:nvSpPr>
        <p:spPr>
          <a:xfrm>
            <a:off x="4800600" y="727075"/>
            <a:ext cx="4344035" cy="5997575"/>
          </a:xfrm>
          <a:prstGeom prst="rect">
            <a:avLst/>
          </a:prstGeom>
        </p:spPr>
        <p:txBody>
          <a:bodyPr wrap="square">
            <a:noAutofit/>
          </a:bodyPr>
          <a:lstStyle/>
          <a:p>
            <a:r>
              <a:rPr lang="en-US" sz="3200" b="1" dirty="0" smtClean="0">
                <a:latin typeface="Times New Roman" panose="02020603050405020304" pitchFamily="18" charset="0"/>
                <a:cs typeface="Times New Roman" panose="02020603050405020304" pitchFamily="18" charset="0"/>
              </a:rPr>
              <a:t>M​</a:t>
            </a:r>
            <a:r>
              <a:rPr lang="en-US" sz="3200" b="1" dirty="0" err="1" smtClean="0">
                <a:latin typeface="Times New Roman" panose="02020603050405020304" pitchFamily="18" charset="0"/>
                <a:cs typeface="Times New Roman" panose="02020603050405020304" pitchFamily="18" charset="0"/>
              </a:rPr>
              <a:t>edially</a:t>
            </a:r>
            <a:r>
              <a:rPr lang="en-US" sz="3200" dirty="0" smtClean="0">
                <a:latin typeface="Times New Roman" panose="02020603050405020304" pitchFamily="18" charset="0"/>
                <a:cs typeface="Times New Roman" panose="02020603050405020304" pitchFamily="18" charset="0"/>
              </a:rPr>
              <a:t>:</a:t>
            </a:r>
            <a:endParaRPr lang="en-US" sz="32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the thoracic </a:t>
            </a:r>
            <a:r>
              <a:rPr lang="en-US" sz="3200" dirty="0" smtClean="0">
                <a:latin typeface="Times New Roman" panose="02020603050405020304" pitchFamily="18" charset="0"/>
                <a:cs typeface="Times New Roman" panose="02020603050405020304" pitchFamily="18" charset="0"/>
              </a:rPr>
              <a:t>duct</a:t>
            </a:r>
            <a:endParaRPr lang="en-US" sz="32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3200" u="sng" dirty="0" smtClean="0">
                <a:latin typeface="Times New Roman" panose="02020603050405020304" pitchFamily="18" charset="0"/>
                <a:cs typeface="Times New Roman" panose="02020603050405020304" pitchFamily="18" charset="0"/>
              </a:rPr>
              <a:t>Aorta</a:t>
            </a:r>
            <a:endParaRPr lang="en-US" sz="3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3200" dirty="0" err="1" smtClean="0">
                <a:latin typeface="Times New Roman" panose="02020603050405020304" pitchFamily="18" charset="0"/>
                <a:cs typeface="Times New Roman" panose="02020603050405020304" pitchFamily="18" charset="0"/>
              </a:rPr>
              <a:t>Oesophagus</a:t>
            </a:r>
            <a:endParaRPr lang="en-US" sz="3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Trachea</a:t>
            </a:r>
            <a:endParaRPr lang="en-US" sz="3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right </a:t>
            </a:r>
            <a:r>
              <a:rPr lang="en-US" sz="3200" dirty="0" err="1" smtClean="0">
                <a:latin typeface="Times New Roman" panose="02020603050405020304" pitchFamily="18" charset="0"/>
                <a:cs typeface="Times New Roman" panose="02020603050405020304" pitchFamily="18" charset="0"/>
              </a:rPr>
              <a:t>vagus</a:t>
            </a:r>
            <a:r>
              <a:rPr lang="en-US" sz="3200" dirty="0" smtClean="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nerve</a:t>
            </a:r>
            <a:endParaRPr lang="en-US" sz="3200" dirty="0" smtClean="0">
              <a:latin typeface="Times New Roman" panose="02020603050405020304" pitchFamily="18" charset="0"/>
              <a:cs typeface="Times New Roman" panose="02020603050405020304" pitchFamily="18" charset="0"/>
            </a:endParaRPr>
          </a:p>
          <a:p>
            <a:endParaRPr lang="en-US" sz="3200" dirty="0" smtClean="0">
              <a:latin typeface="Times New Roman" panose="02020603050405020304" pitchFamily="18" charset="0"/>
              <a:cs typeface="Times New Roman" panose="02020603050405020304" pitchFamily="18" charset="0"/>
            </a:endParaRPr>
          </a:p>
          <a:p>
            <a:r>
              <a:rPr lang="en-US" sz="3200" b="1" dirty="0" smtClean="0">
                <a:latin typeface="Times New Roman" panose="02020603050405020304" pitchFamily="18" charset="0"/>
                <a:cs typeface="Times New Roman" panose="02020603050405020304" pitchFamily="18" charset="0"/>
              </a:rPr>
              <a:t>laterally </a:t>
            </a:r>
            <a:r>
              <a:rPr lang="en-US" sz="3200" dirty="0" smtClean="0">
                <a:latin typeface="Times New Roman" panose="02020603050405020304" pitchFamily="18" charset="0"/>
                <a:cs typeface="Times New Roman" panose="02020603050405020304" pitchFamily="18" charset="0"/>
              </a:rPr>
              <a:t>:</a:t>
            </a:r>
            <a:endParaRPr lang="en-US" sz="32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the right greater splanchnic </a:t>
            </a:r>
            <a:r>
              <a:rPr lang="en-US" sz="3200" dirty="0" smtClean="0">
                <a:latin typeface="Times New Roman" panose="02020603050405020304" pitchFamily="18" charset="0"/>
                <a:cs typeface="Times New Roman" panose="02020603050405020304" pitchFamily="18" charset="0"/>
              </a:rPr>
              <a:t>nerve</a:t>
            </a:r>
            <a:endParaRPr lang="en-US" sz="32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3200" u="sng" dirty="0" smtClean="0">
                <a:latin typeface="Times New Roman" panose="02020603050405020304" pitchFamily="18" charset="0"/>
                <a:cs typeface="Times New Roman" panose="02020603050405020304" pitchFamily="18" charset="0"/>
              </a:rPr>
              <a:t>Lung</a:t>
            </a:r>
            <a:endParaRPr lang="en-US" sz="3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pleura</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ENOVO\Desktop\Gray480.png"/>
          <p:cNvPicPr>
            <a:picLocks noGrp="1" noChangeAspect="1" noChangeArrowheads="1"/>
          </p:cNvPicPr>
          <p:nvPr>
            <p:ph idx="1"/>
          </p:nvPr>
        </p:nvPicPr>
        <p:blipFill>
          <a:blip r:embed="rId1"/>
          <a:srcRect/>
          <a:stretch>
            <a:fillRect/>
          </a:stretch>
        </p:blipFill>
        <p:spPr bwMode="auto">
          <a:xfrm>
            <a:off x="1295400" y="1371600"/>
            <a:ext cx="6324600" cy="5105400"/>
          </a:xfrm>
          <a:prstGeom prst="rect">
            <a:avLst/>
          </a:prstGeom>
          <a:noFill/>
        </p:spPr>
      </p:pic>
      <p:sp>
        <p:nvSpPr>
          <p:cNvPr id="2" name="Title 1"/>
          <p:cNvSpPr>
            <a:spLocks noGrp="1"/>
          </p:cNvSpPr>
          <p:nvPr>
            <p:ph type="title"/>
          </p:nvPr>
        </p:nvSpPr>
        <p:spPr/>
        <p:txBody>
          <a:bodyPr/>
          <a:lstStyle/>
          <a:p>
            <a:r>
              <a:rPr lang="en-US" b="1" dirty="0" smtClean="0">
                <a:solidFill>
                  <a:srgbClr val="C00000"/>
                </a:solidFill>
                <a:latin typeface="Times New Roman" panose="02020603050405020304" pitchFamily="18" charset="0"/>
                <a:cs typeface="Times New Roman" panose="02020603050405020304" pitchFamily="18" charset="0"/>
              </a:rPr>
              <a:t>ANATOMICAL RELATIONS</a:t>
            </a:r>
            <a:endParaRPr lang="en-US" b="1" dirty="0" smtClean="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6200" y="-635"/>
            <a:ext cx="9110345" cy="6730365"/>
          </a:xfrm>
          <a:prstGeom prst="rect">
            <a:avLst/>
          </a:prstGeom>
        </p:spPr>
        <p:txBody>
          <a:bodyPr>
            <a:noAutofit/>
          </a:bodyPr>
          <a:p>
            <a:pPr marL="0" indent="0" algn="l">
              <a:lnSpc>
                <a:spcPts val="1260"/>
              </a:lnSpc>
              <a:spcBef>
                <a:spcPct val="0"/>
              </a:spcBef>
              <a:spcAft>
                <a:spcPts val="1200"/>
              </a:spcAft>
            </a:pPr>
            <a:endParaRPr sz="3600" b="1" i="0">
              <a:solidFill>
                <a:srgbClr val="C00000"/>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sz="3600" b="1" i="0">
                <a:solidFill>
                  <a:srgbClr val="C00000"/>
                </a:solidFill>
                <a:latin typeface="Times New Roman" panose="02020603050405020304" pitchFamily="18" charset="0"/>
                <a:ea typeface="Proxima Nova"/>
                <a:cs typeface="Times New Roman" panose="02020603050405020304" pitchFamily="18" charset="0"/>
              </a:rPr>
              <a:t>Tributaries</a:t>
            </a:r>
            <a:endParaRPr sz="2800" b="1" i="0">
              <a:solidFill>
                <a:srgbClr val="1B1B1B"/>
              </a:solidFill>
              <a:latin typeface="Times New Roman" panose="02020603050405020304" pitchFamily="18" charset="0"/>
              <a:ea typeface="Proxima Nova"/>
              <a:cs typeface="Times New Roman" panose="02020603050405020304" pitchFamily="18" charset="0"/>
            </a:endParaRPr>
          </a:p>
          <a:p>
            <a:pPr marL="0" indent="0" algn="l">
              <a:spcBef>
                <a:spcPct val="0"/>
              </a:spcBef>
              <a:spcAft>
                <a:spcPts val="1500"/>
              </a:spcAft>
            </a:pPr>
            <a:r>
              <a:rPr sz="2800" b="0" i="0">
                <a:solidFill>
                  <a:srgbClr val="222222"/>
                </a:solidFill>
                <a:latin typeface="Times New Roman" panose="02020603050405020304" pitchFamily="18" charset="0"/>
                <a:ea typeface="Proxima Nova"/>
                <a:cs typeface="Times New Roman" panose="02020603050405020304" pitchFamily="18" charset="0"/>
              </a:rPr>
              <a:t>The azygos vein receives blood from multiple tributaries throughout its course, including:</a:t>
            </a:r>
            <a:endParaRPr sz="2800" b="0" i="0">
              <a:solidFill>
                <a:srgbClr val="222222"/>
              </a:solidFill>
              <a:latin typeface="Times New Roman" panose="02020603050405020304" pitchFamily="18" charset="0"/>
              <a:ea typeface="Proxima Nova"/>
              <a:cs typeface="Times New Roman" panose="02020603050405020304" pitchFamily="18" charset="0"/>
            </a:endParaRPr>
          </a:p>
          <a:p>
            <a:pPr marL="0" indent="0" algn="l">
              <a:spcBef>
                <a:spcPct val="0"/>
              </a:spcBef>
              <a:spcAft>
                <a:spcPts val="1500"/>
              </a:spcAft>
            </a:pPr>
            <a:r>
              <a:rPr lang="en-GB" altLang="en-US" sz="2800" b="0" i="0">
                <a:solidFill>
                  <a:srgbClr val="222222"/>
                </a:solidFill>
                <a:latin typeface="Times New Roman" panose="02020603050405020304" pitchFamily="18" charset="0"/>
                <a:ea typeface="Proxima Nova"/>
                <a:cs typeface="Times New Roman" panose="02020603050405020304" pitchFamily="18" charset="0"/>
              </a:rPr>
              <a:t>1. </a:t>
            </a:r>
            <a:r>
              <a:rPr lang="en-US" altLang="en-US" sz="2800" b="1" i="0">
                <a:solidFill>
                  <a:srgbClr val="222222"/>
                </a:solidFill>
                <a:latin typeface="Times New Roman" panose="02020603050405020304" pitchFamily="18" charset="0"/>
                <a:ea typeface="Proxima Nova"/>
                <a:cs typeface="Times New Roman" panose="02020603050405020304" pitchFamily="18" charset="0"/>
              </a:rPr>
              <a:t>Posterior intercostal veins</a:t>
            </a:r>
            <a:r>
              <a:rPr lang="en-US" altLang="en-US" sz="2800" b="0" i="0">
                <a:solidFill>
                  <a:srgbClr val="222222"/>
                </a:solidFill>
                <a:latin typeface="Times New Roman" panose="02020603050405020304" pitchFamily="18" charset="0"/>
                <a:ea typeface="Proxima Nova"/>
                <a:cs typeface="Times New Roman" panose="02020603050405020304" pitchFamily="18" charset="0"/>
              </a:rPr>
              <a:t>: These veins drain the intercostal spaces between the ribs and contribute to the azygos vein. On the right side, the posterior intercostal veins directly empty into the azygos vein.</a:t>
            </a:r>
            <a:endParaRPr lang="en-US" altLang="en-US" sz="2800" b="0" i="0">
              <a:solidFill>
                <a:srgbClr val="222222"/>
              </a:solidFill>
              <a:latin typeface="Times New Roman" panose="02020603050405020304" pitchFamily="18" charset="0"/>
              <a:ea typeface="Proxima Nova"/>
              <a:cs typeface="Times New Roman" panose="02020603050405020304" pitchFamily="18" charset="0"/>
            </a:endParaRPr>
          </a:p>
          <a:p>
            <a:pPr marL="0" indent="0" algn="l">
              <a:spcBef>
                <a:spcPct val="0"/>
              </a:spcBef>
              <a:spcAft>
                <a:spcPts val="1500"/>
              </a:spcAft>
            </a:pPr>
            <a:r>
              <a:rPr lang="en-GB" altLang="en-US" sz="2800" b="0" i="0">
                <a:solidFill>
                  <a:srgbClr val="222222"/>
                </a:solidFill>
                <a:latin typeface="Times New Roman" panose="02020603050405020304" pitchFamily="18" charset="0"/>
                <a:ea typeface="Proxima Nova"/>
                <a:cs typeface="Times New Roman" panose="02020603050405020304" pitchFamily="18" charset="0"/>
              </a:rPr>
              <a:t>2.</a:t>
            </a:r>
            <a:r>
              <a:rPr lang="en-US" altLang="en-US" sz="2800" b="1" i="0">
                <a:solidFill>
                  <a:srgbClr val="222222"/>
                </a:solidFill>
                <a:latin typeface="Times New Roman" panose="02020603050405020304" pitchFamily="18" charset="0"/>
                <a:ea typeface="Proxima Nova"/>
                <a:cs typeface="Times New Roman" panose="02020603050405020304" pitchFamily="18" charset="0"/>
              </a:rPr>
              <a:t>Hemiazygos vein</a:t>
            </a:r>
            <a:r>
              <a:rPr lang="en-US" altLang="en-US" sz="2800" b="0" i="0">
                <a:solidFill>
                  <a:srgbClr val="222222"/>
                </a:solidFill>
                <a:latin typeface="Times New Roman" panose="02020603050405020304" pitchFamily="18" charset="0"/>
                <a:ea typeface="Proxima Nova"/>
                <a:cs typeface="Times New Roman" panose="02020603050405020304" pitchFamily="18" charset="0"/>
              </a:rPr>
              <a:t>: The hemiazygos vein drains the lower left thoracic wall and passes across the midline to join the azygos vein, usually around the level of the T8 vertebra.</a:t>
            </a:r>
            <a:endParaRPr lang="en-US" altLang="en-US" sz="2800" b="0" i="0">
              <a:solidFill>
                <a:srgbClr val="222222"/>
              </a:solidFill>
              <a:latin typeface="Times New Roman" panose="02020603050405020304" pitchFamily="18" charset="0"/>
              <a:ea typeface="Proxima Nova"/>
              <a:cs typeface="Times New Roman" panose="02020603050405020304" pitchFamily="18" charset="0"/>
            </a:endParaRPr>
          </a:p>
          <a:p>
            <a:pPr marL="0" indent="0" algn="l">
              <a:spcBef>
                <a:spcPct val="0"/>
              </a:spcBef>
              <a:spcAft>
                <a:spcPts val="1500"/>
              </a:spcAft>
            </a:pPr>
            <a:r>
              <a:rPr lang="en-GB" altLang="en-US" sz="2800" b="0" i="0">
                <a:solidFill>
                  <a:srgbClr val="222222"/>
                </a:solidFill>
                <a:latin typeface="Times New Roman" panose="02020603050405020304" pitchFamily="18" charset="0"/>
                <a:ea typeface="Proxima Nova"/>
                <a:cs typeface="Times New Roman" panose="02020603050405020304" pitchFamily="18" charset="0"/>
              </a:rPr>
              <a:t>3.</a:t>
            </a:r>
            <a:r>
              <a:rPr lang="en-US" altLang="en-US" sz="2800" b="1" i="0">
                <a:solidFill>
                  <a:srgbClr val="222222"/>
                </a:solidFill>
                <a:latin typeface="Times New Roman" panose="02020603050405020304" pitchFamily="18" charset="0"/>
                <a:ea typeface="Proxima Nova"/>
                <a:cs typeface="Times New Roman" panose="02020603050405020304" pitchFamily="18" charset="0"/>
              </a:rPr>
              <a:t>Accessory hemiazygos vein</a:t>
            </a:r>
            <a:r>
              <a:rPr lang="en-US" altLang="en-US" sz="2800" b="0" i="0">
                <a:solidFill>
                  <a:srgbClr val="222222"/>
                </a:solidFill>
                <a:latin typeface="Times New Roman" panose="02020603050405020304" pitchFamily="18" charset="0"/>
                <a:ea typeface="Proxima Nova"/>
                <a:cs typeface="Times New Roman" panose="02020603050405020304" pitchFamily="18" charset="0"/>
              </a:rPr>
              <a:t>: This vein drains the upper left thoracic wall and similarly crosses to join the azygos vein, typically around the level of the T7 or T8 vertebra.</a:t>
            </a:r>
            <a:endParaRPr lang="en-US" altLang="en-US" sz="2800" b="0" i="0">
              <a:solidFill>
                <a:srgbClr val="222222"/>
              </a:solidFill>
              <a:latin typeface="Times New Roman" panose="02020603050405020304" pitchFamily="18" charset="0"/>
              <a:ea typeface="Proxima Nova"/>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ext Box 7"/>
          <p:cNvSpPr txBox="1"/>
          <p:nvPr/>
        </p:nvSpPr>
        <p:spPr>
          <a:xfrm>
            <a:off x="-15875" y="0"/>
            <a:ext cx="9140190" cy="6783070"/>
          </a:xfrm>
          <a:prstGeom prst="rect">
            <a:avLst/>
          </a:prstGeom>
          <a:noFill/>
        </p:spPr>
        <p:txBody>
          <a:bodyPr wrap="square" rtlCol="0" anchor="t">
            <a:noAutofit/>
          </a:bodyPr>
          <a:p>
            <a:r>
              <a:rPr lang="en-GB" altLang="en-US" sz="3200">
                <a:latin typeface="Times New Roman" panose="02020603050405020304" pitchFamily="18" charset="0"/>
                <a:cs typeface="Times New Roman" panose="02020603050405020304" pitchFamily="18" charset="0"/>
              </a:rPr>
              <a:t>4.</a:t>
            </a:r>
            <a:r>
              <a:rPr lang="en-US" altLang="en-US" sz="3200" b="1">
                <a:latin typeface="Times New Roman" panose="02020603050405020304" pitchFamily="18" charset="0"/>
                <a:cs typeface="Times New Roman" panose="02020603050405020304" pitchFamily="18" charset="0"/>
              </a:rPr>
              <a:t>Esophageal veins</a:t>
            </a:r>
            <a:r>
              <a:rPr lang="en-US" altLang="en-US" sz="3200">
                <a:latin typeface="Times New Roman" panose="02020603050405020304" pitchFamily="18" charset="0"/>
                <a:cs typeface="Times New Roman" panose="02020603050405020304" pitchFamily="18" charset="0"/>
              </a:rPr>
              <a:t>: Veins from the esophagus drain into the azygos vein, contributing to its flow.</a:t>
            </a:r>
            <a:endParaRPr lang="en-US" altLang="en-US" sz="3200">
              <a:latin typeface="Times New Roman" panose="02020603050405020304" pitchFamily="18" charset="0"/>
              <a:cs typeface="Times New Roman" panose="02020603050405020304" pitchFamily="18" charset="0"/>
            </a:endParaRPr>
          </a:p>
          <a:p>
            <a:endParaRPr lang="en-US" altLang="en-US" sz="3200">
              <a:latin typeface="Times New Roman" panose="02020603050405020304" pitchFamily="18" charset="0"/>
              <a:cs typeface="Times New Roman" panose="02020603050405020304" pitchFamily="18" charset="0"/>
            </a:endParaRPr>
          </a:p>
          <a:p>
            <a:r>
              <a:rPr lang="en-GB" altLang="en-US" sz="3200">
                <a:latin typeface="Times New Roman" panose="02020603050405020304" pitchFamily="18" charset="0"/>
                <a:cs typeface="Times New Roman" panose="02020603050405020304" pitchFamily="18" charset="0"/>
              </a:rPr>
              <a:t>5.</a:t>
            </a:r>
            <a:r>
              <a:rPr lang="en-US" altLang="en-US" sz="3200" b="1">
                <a:latin typeface="Times New Roman" panose="02020603050405020304" pitchFamily="18" charset="0"/>
                <a:cs typeface="Times New Roman" panose="02020603050405020304" pitchFamily="18" charset="0"/>
              </a:rPr>
              <a:t>Mediastinal veins</a:t>
            </a:r>
            <a:r>
              <a:rPr lang="en-US" altLang="en-US" sz="3200">
                <a:latin typeface="Times New Roman" panose="02020603050405020304" pitchFamily="18" charset="0"/>
                <a:cs typeface="Times New Roman" panose="02020603050405020304" pitchFamily="18" charset="0"/>
              </a:rPr>
              <a:t>: These small veins drain the mediastinal structures, such as the pericardium and the lymph nodes, into the azygos vein.</a:t>
            </a:r>
            <a:endParaRPr lang="en-US" altLang="en-US" sz="3200">
              <a:latin typeface="Times New Roman" panose="02020603050405020304" pitchFamily="18" charset="0"/>
              <a:cs typeface="Times New Roman" panose="02020603050405020304" pitchFamily="18" charset="0"/>
            </a:endParaRPr>
          </a:p>
          <a:p>
            <a:endParaRPr lang="en-US" altLang="en-US" sz="3200">
              <a:latin typeface="Times New Roman" panose="02020603050405020304" pitchFamily="18" charset="0"/>
              <a:cs typeface="Times New Roman" panose="02020603050405020304" pitchFamily="18" charset="0"/>
            </a:endParaRPr>
          </a:p>
          <a:p>
            <a:r>
              <a:rPr lang="en-GB" altLang="en-US" sz="3200">
                <a:latin typeface="Times New Roman" panose="02020603050405020304" pitchFamily="18" charset="0"/>
                <a:cs typeface="Times New Roman" panose="02020603050405020304" pitchFamily="18" charset="0"/>
              </a:rPr>
              <a:t>6. </a:t>
            </a:r>
            <a:r>
              <a:rPr lang="en-US" altLang="en-US" sz="3200" b="1">
                <a:latin typeface="Times New Roman" panose="02020603050405020304" pitchFamily="18" charset="0"/>
                <a:cs typeface="Times New Roman" panose="02020603050405020304" pitchFamily="18" charset="0"/>
              </a:rPr>
              <a:t>Bronchial veins</a:t>
            </a:r>
            <a:r>
              <a:rPr lang="en-US" altLang="en-US" sz="3200">
                <a:latin typeface="Times New Roman" panose="02020603050405020304" pitchFamily="18" charset="0"/>
                <a:cs typeface="Times New Roman" panose="02020603050405020304" pitchFamily="18" charset="0"/>
              </a:rPr>
              <a:t>: Some of the veins that drain the bronchi and lung tissue may also empty into the azygos vein.</a:t>
            </a:r>
            <a:endParaRPr lang="en-US" altLang="en-US" sz="3200">
              <a:latin typeface="Times New Roman" panose="02020603050405020304" pitchFamily="18" charset="0"/>
              <a:cs typeface="Times New Roman" panose="02020603050405020304" pitchFamily="18" charset="0"/>
            </a:endParaRPr>
          </a:p>
          <a:p>
            <a:endParaRPr lang="en-US" altLang="en-US" sz="3200">
              <a:latin typeface="Times New Roman" panose="02020603050405020304" pitchFamily="18" charset="0"/>
              <a:cs typeface="Times New Roman" panose="02020603050405020304" pitchFamily="18" charset="0"/>
            </a:endParaRPr>
          </a:p>
          <a:p>
            <a:r>
              <a:rPr lang="en-GB" altLang="en-US" sz="3200">
                <a:latin typeface="Times New Roman" panose="02020603050405020304" pitchFamily="18" charset="0"/>
                <a:cs typeface="Times New Roman" panose="02020603050405020304" pitchFamily="18" charset="0"/>
              </a:rPr>
              <a:t>7. </a:t>
            </a:r>
            <a:r>
              <a:rPr lang="en-US" altLang="en-US" sz="3200" b="1">
                <a:latin typeface="Times New Roman" panose="02020603050405020304" pitchFamily="18" charset="0"/>
                <a:cs typeface="Times New Roman" panose="02020603050405020304" pitchFamily="18" charset="0"/>
              </a:rPr>
              <a:t>Vertebral veins</a:t>
            </a:r>
            <a:r>
              <a:rPr lang="en-US" altLang="en-US" sz="3200">
                <a:latin typeface="Times New Roman" panose="02020603050405020304" pitchFamily="18" charset="0"/>
                <a:cs typeface="Times New Roman" panose="02020603050405020304" pitchFamily="18" charset="0"/>
              </a:rPr>
              <a:t>: Some venous drainage from the vertebral bodies and spinal cord may enter the azygos system via smaller tributaries.</a:t>
            </a:r>
            <a:endParaRPr 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TRIBUTARIES</a:t>
            </a:r>
            <a:endParaRPr lang="en-US" dirty="0">
              <a:latin typeface="Times New Roman" panose="02020603050405020304" pitchFamily="18" charset="0"/>
              <a:cs typeface="Times New Roman" panose="02020603050405020304" pitchFamily="18" charset="0"/>
            </a:endParaRPr>
          </a:p>
        </p:txBody>
      </p:sp>
      <p:pic>
        <p:nvPicPr>
          <p:cNvPr id="4" name="Picture 2" descr="C:\Users\LENOVO\Desktop\aa_2010_12_28_kuzumi_202474_sdc3.jpg"/>
          <p:cNvPicPr>
            <a:picLocks noChangeAspect="1" noChangeArrowheads="1"/>
          </p:cNvPicPr>
          <p:nvPr/>
        </p:nvPicPr>
        <p:blipFill>
          <a:blip r:embed="rId1"/>
          <a:srcRect/>
          <a:stretch>
            <a:fillRect/>
          </a:stretch>
        </p:blipFill>
        <p:spPr bwMode="auto">
          <a:xfrm>
            <a:off x="914400" y="1600200"/>
            <a:ext cx="6655435" cy="452628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4724400" cy="5334000"/>
          </a:xfrm>
        </p:spPr>
        <p:txBody>
          <a:bodyPr>
            <a:noAutofit/>
          </a:bodyPr>
          <a:lstStyle/>
          <a:p>
            <a:r>
              <a:rPr lang="en-US" sz="2400" b="1" dirty="0" smtClean="0">
                <a:latin typeface="Times New Roman" panose="02020603050405020304" pitchFamily="18" charset="0"/>
                <a:cs typeface="Times New Roman" panose="02020603050405020304" pitchFamily="18" charset="0"/>
              </a:rPr>
              <a:t>The </a:t>
            </a:r>
            <a:r>
              <a:rPr lang="en-US" sz="2400" b="1" dirty="0" err="1" smtClean="0">
                <a:latin typeface="Times New Roman" panose="02020603050405020304" pitchFamily="18" charset="0"/>
                <a:cs typeface="Times New Roman" panose="02020603050405020304" pitchFamily="18" charset="0"/>
              </a:rPr>
              <a:t>hemiazygos</a:t>
            </a:r>
            <a:r>
              <a:rPr lang="en-US" sz="2400" b="1" dirty="0" smtClean="0">
                <a:latin typeface="Times New Roman" panose="02020603050405020304" pitchFamily="18" charset="0"/>
                <a:cs typeface="Times New Roman" panose="02020603050405020304" pitchFamily="18" charset="0"/>
              </a:rPr>
              <a:t> vein</a:t>
            </a:r>
            <a:r>
              <a:rPr lang="en-US" sz="2400" dirty="0" smtClean="0">
                <a:latin typeface="Times New Roman" panose="02020603050405020304" pitchFamily="18" charset="0"/>
                <a:cs typeface="Times New Roman" panose="02020603050405020304" pitchFamily="18" charset="0"/>
              </a:rPr>
              <a:t> is often connected to the left renal vein.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 formed by the </a:t>
            </a:r>
            <a:r>
              <a:rPr lang="en-US" sz="2400" b="1" dirty="0" err="1" smtClean="0">
                <a:latin typeface="Times New Roman" panose="02020603050405020304" pitchFamily="18" charset="0"/>
                <a:cs typeface="Times New Roman" panose="02020603050405020304" pitchFamily="18" charset="0"/>
              </a:rPr>
              <a:t>oesophageal</a:t>
            </a:r>
            <a:r>
              <a:rPr lang="en-US" sz="2400" dirty="0" smtClean="0">
                <a:latin typeface="Times New Roman" panose="02020603050405020304" pitchFamily="18" charset="0"/>
                <a:cs typeface="Times New Roman" panose="02020603050405020304" pitchFamily="18" charset="0"/>
              </a:rPr>
              <a:t> and </a:t>
            </a:r>
            <a:r>
              <a:rPr lang="en-US" sz="2400" b="1" dirty="0" err="1" smtClean="0">
                <a:latin typeface="Times New Roman" panose="02020603050405020304" pitchFamily="18" charset="0"/>
                <a:cs typeface="Times New Roman" panose="02020603050405020304" pitchFamily="18" charset="0"/>
              </a:rPr>
              <a:t>mediastinal</a:t>
            </a:r>
            <a:r>
              <a:rPr lang="en-US" sz="2400" b="1" dirty="0" smtClean="0">
                <a:latin typeface="Times New Roman" panose="02020603050405020304" pitchFamily="18" charset="0"/>
                <a:cs typeface="Times New Roman" panose="02020603050405020304" pitchFamily="18" charset="0"/>
              </a:rPr>
              <a:t> tributaries</a:t>
            </a:r>
            <a:r>
              <a:rPr lang="en-US" sz="2400" dirty="0" smtClean="0">
                <a:latin typeface="Times New Roman" panose="02020603050405020304" pitchFamily="18" charset="0"/>
                <a:cs typeface="Times New Roman" panose="02020603050405020304" pitchFamily="18" charset="0"/>
              </a:rPr>
              <a:t>, the common trunk of the left ascending lumbar vein and left </a:t>
            </a:r>
            <a:r>
              <a:rPr lang="en-US" sz="2400" dirty="0" err="1" smtClean="0">
                <a:latin typeface="Times New Roman" panose="02020603050405020304" pitchFamily="18" charset="0"/>
                <a:cs typeface="Times New Roman" panose="02020603050405020304" pitchFamily="18" charset="0"/>
              </a:rPr>
              <a:t>subcostal</a:t>
            </a:r>
            <a:r>
              <a:rPr lang="en-US" sz="2400" dirty="0" smtClean="0">
                <a:latin typeface="Times New Roman" panose="02020603050405020304" pitchFamily="18" charset="0"/>
                <a:cs typeface="Times New Roman" panose="02020603050405020304" pitchFamily="18" charset="0"/>
              </a:rPr>
              <a:t> vein, and by the lower three posterior </a:t>
            </a:r>
            <a:r>
              <a:rPr lang="en-US" sz="2400" dirty="0" err="1" smtClean="0">
                <a:latin typeface="Times New Roman" panose="02020603050405020304" pitchFamily="18" charset="0"/>
                <a:cs typeface="Times New Roman" panose="02020603050405020304" pitchFamily="18" charset="0"/>
              </a:rPr>
              <a:t>intercostal</a:t>
            </a:r>
            <a:r>
              <a:rPr lang="en-US" sz="2400" dirty="0" smtClean="0">
                <a:latin typeface="Times New Roman" panose="02020603050405020304" pitchFamily="18" charset="0"/>
                <a:cs typeface="Times New Roman" panose="02020603050405020304" pitchFamily="18" charset="0"/>
              </a:rPr>
              <a:t> veins.</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 It ascends anterior to the vertebral column before crossing the column posterior to the aorta, </a:t>
            </a:r>
            <a:r>
              <a:rPr lang="en-US" sz="2400" dirty="0" err="1" smtClean="0">
                <a:latin typeface="Times New Roman" panose="02020603050405020304" pitchFamily="18" charset="0"/>
                <a:cs typeface="Times New Roman" panose="02020603050405020304" pitchFamily="18" charset="0"/>
              </a:rPr>
              <a:t>oesophagus</a:t>
            </a:r>
            <a:r>
              <a:rPr lang="en-US" sz="2400" dirty="0" smtClean="0">
                <a:latin typeface="Times New Roman" panose="02020603050405020304" pitchFamily="18" charset="0"/>
                <a:cs typeface="Times New Roman" panose="02020603050405020304" pitchFamily="18" charset="0"/>
              </a:rPr>
              <a:t> and thoracic duct at the level of T8.</a:t>
            </a:r>
            <a:endParaRPr lang="en-US" sz="24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609600" y="0"/>
            <a:ext cx="8229600" cy="1143000"/>
          </a:xfrm>
        </p:spPr>
        <p:txBody>
          <a:bodyPr/>
          <a:lstStyle/>
          <a:p>
            <a:r>
              <a:rPr lang="en-US" dirty="0" smtClean="0">
                <a:latin typeface="Times New Roman" panose="02020603050405020304" pitchFamily="18" charset="0"/>
                <a:cs typeface="Times New Roman" panose="02020603050405020304" pitchFamily="18" charset="0"/>
              </a:rPr>
              <a:t>		</a:t>
            </a:r>
            <a:r>
              <a:rPr lang="en-US" b="1" dirty="0" smtClean="0">
                <a:solidFill>
                  <a:srgbClr val="C00000"/>
                </a:solidFill>
                <a:latin typeface="Times New Roman" panose="02020603050405020304" pitchFamily="18" charset="0"/>
                <a:cs typeface="Times New Roman" panose="02020603050405020304" pitchFamily="18" charset="0"/>
              </a:rPr>
              <a:t>TRIBUTARIES</a:t>
            </a:r>
            <a:endParaRPr lang="en-US" b="1" dirty="0" smtClean="0">
              <a:solidFill>
                <a:srgbClr val="C00000"/>
              </a:solidFill>
              <a:latin typeface="Times New Roman" panose="02020603050405020304" pitchFamily="18" charset="0"/>
              <a:cs typeface="Times New Roman" panose="02020603050405020304" pitchFamily="18" charset="0"/>
            </a:endParaRPr>
          </a:p>
        </p:txBody>
      </p:sp>
      <p:sp>
        <p:nvSpPr>
          <p:cNvPr id="4" name="Rectangle 3"/>
          <p:cNvSpPr/>
          <p:nvPr/>
        </p:nvSpPr>
        <p:spPr>
          <a:xfrm>
            <a:off x="4800600" y="1219200"/>
            <a:ext cx="4191000" cy="5632311"/>
          </a:xfrm>
          <a:prstGeom prst="rect">
            <a:avLst/>
          </a:prstGeom>
        </p:spPr>
        <p:txBody>
          <a:bodyPr wrap="square">
            <a:spAutoFit/>
          </a:bodyPr>
          <a:lstStyle/>
          <a:p>
            <a:pPr marL="285750" indent="-285750">
              <a:buFont typeface="Wingdings" panose="05000000000000000000" pitchFamily="2" charset="2"/>
              <a:buChar char="Ø"/>
            </a:pPr>
            <a:r>
              <a:rPr lang="en-US" sz="2400" b="1" dirty="0" smtClean="0">
                <a:latin typeface="Times New Roman" panose="02020603050405020304" pitchFamily="18" charset="0"/>
                <a:cs typeface="Times New Roman" panose="02020603050405020304" pitchFamily="18" charset="0"/>
              </a:rPr>
              <a:t>The accessory </a:t>
            </a:r>
            <a:r>
              <a:rPr lang="en-US" sz="2400" b="1" dirty="0" err="1" smtClean="0">
                <a:latin typeface="Times New Roman" panose="02020603050405020304" pitchFamily="18" charset="0"/>
                <a:cs typeface="Times New Roman" panose="02020603050405020304" pitchFamily="18" charset="0"/>
              </a:rPr>
              <a:t>hemiazygos</a:t>
            </a:r>
            <a:r>
              <a:rPr lang="en-US" sz="2400" b="1"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vein is formed by veins from the 4th to 8th intercostal spaces and sometimes by the left bronchial veins. </a:t>
            </a:r>
            <a:endParaRPr lang="en-US" sz="24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4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It descends to the left of the vertebral column before crossing T7, where it joins with the </a:t>
            </a:r>
            <a:r>
              <a:rPr lang="en-US" sz="2400" dirty="0" err="1" smtClean="0">
                <a:latin typeface="Times New Roman" panose="02020603050405020304" pitchFamily="18" charset="0"/>
                <a:cs typeface="Times New Roman" panose="02020603050405020304" pitchFamily="18" charset="0"/>
              </a:rPr>
              <a:t>azygos</a:t>
            </a:r>
            <a:r>
              <a:rPr lang="en-US" sz="2400" dirty="0" smtClean="0">
                <a:latin typeface="Times New Roman" panose="02020603050405020304" pitchFamily="18" charset="0"/>
                <a:cs typeface="Times New Roman" panose="02020603050405020304" pitchFamily="18" charset="0"/>
              </a:rPr>
              <a:t> vein</a:t>
            </a:r>
            <a:r>
              <a:rPr lang="en-US" sz="2400" smtClean="0">
                <a:latin typeface="Times New Roman" panose="02020603050405020304" pitchFamily="18" charset="0"/>
                <a:cs typeface="Times New Roman" panose="02020603050405020304" pitchFamily="18" charset="0"/>
              </a:rPr>
              <a:t>. </a:t>
            </a:r>
            <a:endParaRPr lang="en-US" sz="240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Sometimes it joins the </a:t>
            </a:r>
            <a:r>
              <a:rPr lang="en-US" sz="2400" dirty="0" err="1" smtClean="0">
                <a:latin typeface="Times New Roman" panose="02020603050405020304" pitchFamily="18" charset="0"/>
                <a:cs typeface="Times New Roman" panose="02020603050405020304" pitchFamily="18" charset="0"/>
              </a:rPr>
              <a:t>hemiazygos</a:t>
            </a:r>
            <a:r>
              <a:rPr lang="en-US" sz="2400" dirty="0" smtClean="0">
                <a:latin typeface="Times New Roman" panose="02020603050405020304" pitchFamily="18" charset="0"/>
                <a:cs typeface="Times New Roman" panose="02020603050405020304" pitchFamily="18" charset="0"/>
              </a:rPr>
              <a:t> vein and, in this case, their common trunk drains into the </a:t>
            </a:r>
            <a:r>
              <a:rPr lang="en-US" sz="2400" dirty="0" err="1" smtClean="0">
                <a:latin typeface="Times New Roman" panose="02020603050405020304" pitchFamily="18" charset="0"/>
                <a:cs typeface="Times New Roman" panose="02020603050405020304" pitchFamily="18" charset="0"/>
              </a:rPr>
              <a:t>azygos</a:t>
            </a:r>
            <a:r>
              <a:rPr lang="en-US" sz="2400" dirty="0" smtClean="0">
                <a:latin typeface="Times New Roman" panose="02020603050405020304" pitchFamily="18" charset="0"/>
                <a:cs typeface="Times New Roman" panose="02020603050405020304" pitchFamily="18" charset="0"/>
              </a:rPr>
              <a:t> vein.</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0800" y="59055"/>
            <a:ext cx="9015730" cy="6985635"/>
          </a:xfrm>
          <a:prstGeom prst="rect">
            <a:avLst/>
          </a:prstGeom>
          <a:noFill/>
        </p:spPr>
        <p:txBody>
          <a:bodyPr wrap="square" rtlCol="0" anchor="t">
            <a:spAutoFit/>
          </a:bodyPr>
          <a:p>
            <a:r>
              <a:rPr lang="en-US" altLang="en-US" sz="3200" b="1">
                <a:solidFill>
                  <a:srgbClr val="C00000"/>
                </a:solidFill>
                <a:latin typeface="Times New Roman" panose="02020603050405020304" pitchFamily="18" charset="0"/>
                <a:cs typeface="Times New Roman" panose="02020603050405020304" pitchFamily="18" charset="0"/>
              </a:rPr>
              <a:t>Azygos Arch</a:t>
            </a:r>
            <a:endParaRPr lang="en-US" altLang="en-US" sz="3200" b="1">
              <a:solidFill>
                <a:srgbClr val="C00000"/>
              </a:solidFill>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altLang="en-US" sz="3200">
                <a:latin typeface="Times New Roman" panose="02020603050405020304" pitchFamily="18" charset="0"/>
                <a:cs typeface="Times New Roman" panose="02020603050405020304" pitchFamily="18" charset="0"/>
              </a:rPr>
              <a:t>The azygos arch is a defining feature of the azygos vein’s anatomy. </a:t>
            </a:r>
            <a:endParaRPr lang="en-US" altLang="en-US" sz="320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altLang="en-US" sz="3200">
                <a:latin typeface="Times New Roman" panose="02020603050405020304" pitchFamily="18" charset="0"/>
                <a:cs typeface="Times New Roman" panose="02020603050405020304" pitchFamily="18" charset="0"/>
              </a:rPr>
              <a:t>As the azygos vein reaches the superior portion of the thoracic cavity, it curves anteriorly to pass over the root of the right lung. </a:t>
            </a:r>
            <a:endParaRPr lang="en-US" altLang="en-US" sz="320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altLang="en-US" sz="3200">
                <a:latin typeface="Times New Roman" panose="02020603050405020304" pitchFamily="18" charset="0"/>
                <a:cs typeface="Times New Roman" panose="02020603050405020304" pitchFamily="18" charset="0"/>
              </a:rPr>
              <a:t>This arch then empties into the superior vena cava at approximately the level of the fourth thoracic vertebra (T4). </a:t>
            </a:r>
            <a:endParaRPr lang="en-US" altLang="en-US" sz="320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pPr>
            <a:r>
              <a:rPr lang="en-US" altLang="en-US" sz="3200">
                <a:latin typeface="Times New Roman" panose="02020603050405020304" pitchFamily="18" charset="0"/>
                <a:cs typeface="Times New Roman" panose="02020603050405020304" pitchFamily="18" charset="0"/>
              </a:rPr>
              <a:t>The azygos arch is visible in imaging studies like chest X-rays and CT scans, and it serves as a key anatomical landmark.</a:t>
            </a:r>
            <a:endParaRPr lang="en-US" altLang="en-US" sz="3200">
              <a:latin typeface="Times New Roman" panose="02020603050405020304" pitchFamily="18" charset="0"/>
              <a:cs typeface="Times New Roman" panose="02020603050405020304" pitchFamily="18" charset="0"/>
            </a:endParaRPr>
          </a:p>
          <a:p>
            <a:endParaRPr lang="en-US" altLang="en-US" sz="3200">
              <a:latin typeface="Times New Roman" panose="02020603050405020304" pitchFamily="18" charset="0"/>
              <a:cs typeface="Times New Roman" panose="02020603050405020304" pitchFamily="18" charset="0"/>
            </a:endParaRPr>
          </a:p>
          <a:p>
            <a:endParaRPr 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4295" y="-802005"/>
            <a:ext cx="9216390" cy="7652385"/>
          </a:xfrm>
          <a:prstGeom prst="rect">
            <a:avLst/>
          </a:prstGeom>
          <a:noFill/>
        </p:spPr>
        <p:txBody>
          <a:bodyPr wrap="square" rtlCol="0" anchor="t">
            <a:noAutofit/>
          </a:bodyPr>
          <a:p>
            <a:r>
              <a:rPr lang="en-US" altLang="en-US" sz="3200">
                <a:latin typeface="Times New Roman" panose="02020603050405020304" pitchFamily="18" charset="0"/>
                <a:cs typeface="Times New Roman" panose="02020603050405020304" pitchFamily="18" charset="0"/>
                <a:sym typeface="+mn-ea"/>
              </a:rPr>
              <a:t>Termination</a:t>
            </a:r>
            <a:endParaRPr lang="en-US" altLang="en-US" sz="3200">
              <a:latin typeface="Times New Roman" panose="02020603050405020304" pitchFamily="18" charset="0"/>
              <a:cs typeface="Times New Roman" panose="02020603050405020304" pitchFamily="18" charset="0"/>
            </a:endParaRPr>
          </a:p>
          <a:p>
            <a:endParaRPr lang="en-US" altLang="en-US" sz="3200">
              <a:latin typeface="Times New Roman" panose="02020603050405020304" pitchFamily="18" charset="0"/>
              <a:cs typeface="Times New Roman" panose="02020603050405020304" pitchFamily="18" charset="0"/>
            </a:endParaRPr>
          </a:p>
          <a:p>
            <a:r>
              <a:rPr lang="en-GB" altLang="en-US" sz="3200" b="1">
                <a:solidFill>
                  <a:srgbClr val="C00000"/>
                </a:solidFill>
                <a:latin typeface="Times New Roman" panose="02020603050405020304" pitchFamily="18" charset="0"/>
                <a:cs typeface="Times New Roman" panose="02020603050405020304" pitchFamily="18" charset="0"/>
                <a:sym typeface="+mn-ea"/>
              </a:rPr>
              <a:t>Termination</a:t>
            </a:r>
            <a:endParaRPr lang="en-US" altLang="en-US" sz="3200" b="1">
              <a:solidFill>
                <a:srgbClr val="C00000"/>
              </a:solidFill>
              <a:latin typeface="Times New Roman" panose="02020603050405020304" pitchFamily="18" charset="0"/>
              <a:cs typeface="Times New Roman" panose="02020603050405020304" pitchFamily="18" charset="0"/>
              <a:sym typeface="+mn-ea"/>
            </a:endParaRPr>
          </a:p>
          <a:p>
            <a:endParaRPr lang="en-US" altLang="en-US" sz="3200">
              <a:latin typeface="Times New Roman" panose="02020603050405020304" pitchFamily="18" charset="0"/>
              <a:cs typeface="Times New Roman" panose="02020603050405020304" pitchFamily="18" charset="0"/>
              <a:sym typeface="+mn-ea"/>
            </a:endParaRPr>
          </a:p>
          <a:p>
            <a:pPr marL="457200" indent="-457200">
              <a:buFont typeface="Wingdings" panose="05000000000000000000" charset="0"/>
              <a:buChar char="v"/>
            </a:pPr>
            <a:r>
              <a:rPr lang="en-US" altLang="en-US" sz="3200">
                <a:latin typeface="Times New Roman" panose="02020603050405020304" pitchFamily="18" charset="0"/>
                <a:cs typeface="Times New Roman" panose="02020603050405020304" pitchFamily="18" charset="0"/>
                <a:sym typeface="+mn-ea"/>
              </a:rPr>
              <a:t>The azygos vein terminates by draining into the superior vena cava. After forming the azygos arch, it empties into the </a:t>
            </a:r>
            <a:r>
              <a:rPr lang="en-US" altLang="en-US" sz="3200" b="1">
                <a:latin typeface="Times New Roman" panose="02020603050405020304" pitchFamily="18" charset="0"/>
                <a:cs typeface="Times New Roman" panose="02020603050405020304" pitchFamily="18" charset="0"/>
                <a:sym typeface="+mn-ea"/>
              </a:rPr>
              <a:t>superior vena cava</a:t>
            </a:r>
            <a:r>
              <a:rPr lang="en-US" altLang="en-US" sz="3200">
                <a:latin typeface="Times New Roman" panose="02020603050405020304" pitchFamily="18" charset="0"/>
                <a:cs typeface="Times New Roman" panose="02020603050405020304" pitchFamily="18" charset="0"/>
                <a:sym typeface="+mn-ea"/>
              </a:rPr>
              <a:t> just before the superior vena cava enters the right atrium of the heart. </a:t>
            </a:r>
            <a:endParaRPr lang="en-US" altLang="en-US" sz="3200">
              <a:latin typeface="Times New Roman" panose="02020603050405020304" pitchFamily="18" charset="0"/>
              <a:cs typeface="Times New Roman" panose="02020603050405020304" pitchFamily="18" charset="0"/>
              <a:sym typeface="+mn-ea"/>
            </a:endParaRPr>
          </a:p>
          <a:p>
            <a:pPr marL="457200" indent="-457200">
              <a:buFont typeface="Wingdings" panose="05000000000000000000" charset="0"/>
              <a:buChar char="v"/>
            </a:pPr>
            <a:r>
              <a:rPr lang="en-US" altLang="en-US" sz="3200">
                <a:latin typeface="Times New Roman" panose="02020603050405020304" pitchFamily="18" charset="0"/>
                <a:cs typeface="Times New Roman" panose="02020603050405020304" pitchFamily="18" charset="0"/>
                <a:sym typeface="+mn-ea"/>
              </a:rPr>
              <a:t>This connection is critical for returning deoxygenated blood from the thoracic wall and posterior chest structures back to the heart for reoxygenation.</a:t>
            </a:r>
            <a:endParaRPr lang="en-US" altLang="en-US" sz="32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3340" y="635"/>
            <a:ext cx="9090660" cy="6732905"/>
          </a:xfrm>
          <a:prstGeom prst="rect">
            <a:avLst/>
          </a:prstGeom>
        </p:spPr>
        <p:txBody>
          <a:bodyPr>
            <a:noAutofit/>
          </a:bodyPr>
          <a:p>
            <a:pPr marL="0" indent="0" algn="l">
              <a:lnSpc>
                <a:spcPts val="1260"/>
              </a:lnSpc>
              <a:spcBef>
                <a:spcPct val="0"/>
              </a:spcBef>
              <a:spcAft>
                <a:spcPts val="1200"/>
              </a:spcAft>
            </a:pPr>
            <a:endParaRPr sz="3200" b="1" i="0">
              <a:solidFill>
                <a:srgbClr val="C00000"/>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sz="3200" b="1" i="0">
                <a:solidFill>
                  <a:srgbClr val="C00000"/>
                </a:solidFill>
                <a:latin typeface="Times New Roman" panose="02020603050405020304" pitchFamily="18" charset="0"/>
                <a:ea typeface="Proxima Nova"/>
                <a:cs typeface="Times New Roman" panose="02020603050405020304" pitchFamily="18" charset="0"/>
              </a:rPr>
              <a:t>Variations</a:t>
            </a:r>
            <a:endParaRPr sz="3200" b="1" i="0">
              <a:solidFill>
                <a:srgbClr val="C00000"/>
              </a:solidFill>
              <a:latin typeface="Times New Roman" panose="02020603050405020304" pitchFamily="18" charset="0"/>
              <a:ea typeface="Proxima Nova"/>
              <a:cs typeface="Times New Roman" panose="02020603050405020304" pitchFamily="18" charset="0"/>
            </a:endParaRPr>
          </a:p>
          <a:p>
            <a:pPr marL="457200" indent="-457200" algn="l">
              <a:spcBef>
                <a:spcPct val="0"/>
              </a:spcBef>
              <a:spcAft>
                <a:spcPts val="1500"/>
              </a:spcAft>
              <a:buFont typeface="Wingdings" panose="05000000000000000000" charset="0"/>
              <a:buChar char="v"/>
            </a:pPr>
            <a:r>
              <a:rPr sz="3200" b="0" i="0">
                <a:solidFill>
                  <a:srgbClr val="222222"/>
                </a:solidFill>
                <a:latin typeface="Times New Roman" panose="02020603050405020304" pitchFamily="18" charset="0"/>
                <a:ea typeface="Proxima Nova"/>
                <a:cs typeface="Times New Roman" panose="02020603050405020304" pitchFamily="18" charset="0"/>
              </a:rPr>
              <a:t>The anatomy of the azygos vein can exhibit </a:t>
            </a:r>
            <a:r>
              <a:rPr sz="3200" b="1" i="0">
                <a:solidFill>
                  <a:srgbClr val="222222"/>
                </a:solidFill>
                <a:latin typeface="Times New Roman" panose="02020603050405020304" pitchFamily="18" charset="0"/>
                <a:ea typeface="Proxima Nova"/>
                <a:cs typeface="Times New Roman" panose="02020603050405020304" pitchFamily="18" charset="0"/>
              </a:rPr>
              <a:t>variations</a:t>
            </a:r>
            <a:r>
              <a:rPr sz="3200" b="0" i="0">
                <a:solidFill>
                  <a:srgbClr val="222222"/>
                </a:solidFill>
                <a:latin typeface="Times New Roman" panose="02020603050405020304" pitchFamily="18" charset="0"/>
                <a:ea typeface="Proxima Nova"/>
                <a:cs typeface="Times New Roman" panose="02020603050405020304" pitchFamily="18" charset="0"/>
              </a:rPr>
              <a:t> in its origin, course, and tributaries. </a:t>
            </a:r>
            <a:endParaRPr sz="3200" b="0" i="0">
              <a:solidFill>
                <a:srgbClr val="222222"/>
              </a:solidFill>
              <a:latin typeface="Times New Roman" panose="02020603050405020304" pitchFamily="18" charset="0"/>
              <a:ea typeface="Proxima Nova"/>
              <a:cs typeface="Times New Roman" panose="02020603050405020304" pitchFamily="18" charset="0"/>
            </a:endParaRPr>
          </a:p>
          <a:p>
            <a:pPr marL="457200" indent="-457200" algn="l">
              <a:spcBef>
                <a:spcPct val="0"/>
              </a:spcBef>
              <a:spcAft>
                <a:spcPts val="1500"/>
              </a:spcAft>
              <a:buFont typeface="Wingdings" panose="05000000000000000000" charset="0"/>
              <a:buChar char="v"/>
            </a:pPr>
            <a:r>
              <a:rPr sz="3200" b="0" i="0">
                <a:solidFill>
                  <a:srgbClr val="222222"/>
                </a:solidFill>
                <a:latin typeface="Times New Roman" panose="02020603050405020304" pitchFamily="18" charset="0"/>
                <a:ea typeface="Proxima Nova"/>
                <a:cs typeface="Times New Roman" panose="02020603050405020304" pitchFamily="18" charset="0"/>
              </a:rPr>
              <a:t>Some individuals may have an azygos vein that originates directly from the </a:t>
            </a:r>
            <a:r>
              <a:rPr sz="3200" b="1" i="0">
                <a:solidFill>
                  <a:srgbClr val="222222"/>
                </a:solidFill>
                <a:latin typeface="Times New Roman" panose="02020603050405020304" pitchFamily="18" charset="0"/>
                <a:ea typeface="Proxima Nova"/>
                <a:cs typeface="Times New Roman" panose="02020603050405020304" pitchFamily="18" charset="0"/>
              </a:rPr>
              <a:t>inferior vena cava</a:t>
            </a:r>
            <a:r>
              <a:rPr sz="3200" b="0" i="0">
                <a:solidFill>
                  <a:srgbClr val="222222"/>
                </a:solidFill>
                <a:latin typeface="Times New Roman" panose="02020603050405020304" pitchFamily="18" charset="0"/>
                <a:ea typeface="Proxima Nova"/>
                <a:cs typeface="Times New Roman" panose="02020603050405020304" pitchFamily="18" charset="0"/>
              </a:rPr>
              <a:t>, while others may have variations in the level at which the </a:t>
            </a:r>
            <a:r>
              <a:rPr sz="3200" b="1" i="0">
                <a:solidFill>
                  <a:srgbClr val="222222"/>
                </a:solidFill>
                <a:latin typeface="Times New Roman" panose="02020603050405020304" pitchFamily="18" charset="0"/>
                <a:ea typeface="Proxima Nova"/>
                <a:cs typeface="Times New Roman" panose="02020603050405020304" pitchFamily="18" charset="0"/>
              </a:rPr>
              <a:t>hemiazygos</a:t>
            </a:r>
            <a:r>
              <a:rPr sz="3200" b="0" i="0">
                <a:solidFill>
                  <a:srgbClr val="222222"/>
                </a:solidFill>
                <a:latin typeface="Times New Roman" panose="02020603050405020304" pitchFamily="18" charset="0"/>
                <a:ea typeface="Proxima Nova"/>
                <a:cs typeface="Times New Roman" panose="02020603050405020304" pitchFamily="18" charset="0"/>
              </a:rPr>
              <a:t> or </a:t>
            </a:r>
            <a:r>
              <a:rPr sz="3200" b="1" i="0">
                <a:solidFill>
                  <a:srgbClr val="222222"/>
                </a:solidFill>
                <a:latin typeface="Times New Roman" panose="02020603050405020304" pitchFamily="18" charset="0"/>
                <a:ea typeface="Proxima Nova"/>
                <a:cs typeface="Times New Roman" panose="02020603050405020304" pitchFamily="18" charset="0"/>
              </a:rPr>
              <a:t>accessory hemiazygos </a:t>
            </a:r>
            <a:r>
              <a:rPr sz="3200" b="0" i="0">
                <a:solidFill>
                  <a:srgbClr val="222222"/>
                </a:solidFill>
                <a:latin typeface="Times New Roman" panose="02020603050405020304" pitchFamily="18" charset="0"/>
                <a:ea typeface="Proxima Nova"/>
                <a:cs typeface="Times New Roman" panose="02020603050405020304" pitchFamily="18" charset="0"/>
              </a:rPr>
              <a:t>veins join the azygos vein. </a:t>
            </a:r>
            <a:endParaRPr sz="3200" b="0" i="0">
              <a:solidFill>
                <a:srgbClr val="222222"/>
              </a:solidFill>
              <a:latin typeface="Times New Roman" panose="02020603050405020304" pitchFamily="18" charset="0"/>
              <a:ea typeface="Proxima Nova"/>
              <a:cs typeface="Times New Roman" panose="02020603050405020304" pitchFamily="18" charset="0"/>
            </a:endParaRPr>
          </a:p>
          <a:p>
            <a:pPr marL="457200" indent="-457200" algn="l">
              <a:spcBef>
                <a:spcPct val="0"/>
              </a:spcBef>
              <a:spcAft>
                <a:spcPts val="1500"/>
              </a:spcAft>
              <a:buFont typeface="Wingdings" panose="05000000000000000000" charset="0"/>
              <a:buChar char="v"/>
            </a:pPr>
            <a:r>
              <a:rPr sz="3200" b="0" i="0">
                <a:solidFill>
                  <a:srgbClr val="222222"/>
                </a:solidFill>
                <a:latin typeface="Times New Roman" panose="02020603050405020304" pitchFamily="18" charset="0"/>
                <a:ea typeface="Proxima Nova"/>
                <a:cs typeface="Times New Roman" panose="02020603050405020304" pitchFamily="18" charset="0"/>
              </a:rPr>
              <a:t>Additionally, in some individuals, the azygos vein may be smaller or less prominent, depending on the development of collateral venous systems. In rare cases, the azygos vein may even be duplicated.</a:t>
            </a:r>
            <a:endParaRPr sz="3200" b="0" i="0">
              <a:solidFill>
                <a:srgbClr val="222222"/>
              </a:solidFill>
              <a:latin typeface="Times New Roman" panose="02020603050405020304" pitchFamily="18" charset="0"/>
              <a:ea typeface="Proxima Nova"/>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 y="990600"/>
            <a:ext cx="9078595" cy="5867400"/>
          </a:xfrm>
        </p:spPr>
        <p:txBody>
          <a:bodyPr>
            <a:normAutofit fontScale="92500" lnSpcReduction="10000"/>
          </a:bodyPr>
          <a:lstStyle/>
          <a:p>
            <a:pPr>
              <a:buNone/>
            </a:pPr>
            <a:r>
              <a:rPr lang="en-US" b="1" dirty="0" smtClean="0">
                <a:latin typeface="Times New Roman" panose="02020603050405020304" pitchFamily="18" charset="0"/>
                <a:cs typeface="Times New Roman" panose="02020603050405020304" pitchFamily="18" charset="0"/>
              </a:rPr>
              <a:t>Laceration</a:t>
            </a:r>
            <a:endParaRPr lang="en-US" b="1"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dirty="0" smtClean="0">
                <a:latin typeface="Times New Roman" panose="02020603050405020304" pitchFamily="18" charset="0"/>
                <a:cs typeface="Times New Roman" panose="02020603050405020304" pitchFamily="18" charset="0"/>
              </a:rPr>
              <a:t>Laceration, or ruptures of the </a:t>
            </a:r>
            <a:r>
              <a:rPr lang="en-US" dirty="0" err="1" smtClean="0">
                <a:latin typeface="Times New Roman" panose="02020603050405020304" pitchFamily="18" charset="0"/>
                <a:cs typeface="Times New Roman" panose="02020603050405020304" pitchFamily="18" charset="0"/>
              </a:rPr>
              <a:t>azygos</a:t>
            </a:r>
            <a:r>
              <a:rPr lang="en-US" dirty="0" smtClean="0">
                <a:latin typeface="Times New Roman" panose="02020603050405020304" pitchFamily="18" charset="0"/>
                <a:cs typeface="Times New Roman" panose="02020603050405020304" pitchFamily="18" charset="0"/>
              </a:rPr>
              <a:t> vein may occur in blunt trauma to the thorax as a result of a motor vehicle accident or a fall from a height.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dirty="0" smtClean="0">
                <a:latin typeface="Times New Roman" panose="02020603050405020304" pitchFamily="18" charset="0"/>
                <a:cs typeface="Times New Roman" panose="02020603050405020304" pitchFamily="18" charset="0"/>
              </a:rPr>
              <a:t>Rupture of the vein usually occurs at its arch, just proximal to where it joins the superior vena cava.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dirty="0" smtClean="0">
                <a:latin typeface="Times New Roman" panose="02020603050405020304" pitchFamily="18" charset="0"/>
                <a:cs typeface="Times New Roman" panose="02020603050405020304" pitchFamily="18" charset="0"/>
              </a:rPr>
              <a:t>Damage to the vein can result in a </a:t>
            </a:r>
            <a:r>
              <a:rPr lang="en-US" dirty="0" err="1" smtClean="0">
                <a:latin typeface="Times New Roman" panose="02020603050405020304" pitchFamily="18" charset="0"/>
                <a:cs typeface="Times New Roman" panose="02020603050405020304" pitchFamily="18" charset="0"/>
              </a:rPr>
              <a:t>haemothorax</a:t>
            </a:r>
            <a:r>
              <a:rPr lang="en-US" dirty="0" smtClean="0">
                <a:latin typeface="Times New Roman" panose="02020603050405020304" pitchFamily="18" charset="0"/>
                <a:cs typeface="Times New Roman" panose="02020603050405020304" pitchFamily="18" charset="0"/>
              </a:rPr>
              <a:t>, a collection of blood in the pleural space, which is usually detected by an X-ray.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dirty="0" smtClean="0">
                <a:latin typeface="Times New Roman" panose="02020603050405020304" pitchFamily="18" charset="0"/>
                <a:cs typeface="Times New Roman" panose="02020603050405020304" pitchFamily="18" charset="0"/>
              </a:rPr>
              <a:t>If this occurs, a </a:t>
            </a:r>
            <a:r>
              <a:rPr lang="en-US" dirty="0" err="1" smtClean="0">
                <a:latin typeface="Times New Roman" panose="02020603050405020304" pitchFamily="18" charset="0"/>
                <a:cs typeface="Times New Roman" panose="02020603050405020304" pitchFamily="18" charset="0"/>
              </a:rPr>
              <a:t>thoracotomy</a:t>
            </a:r>
            <a:r>
              <a:rPr lang="en-US" dirty="0" smtClean="0">
                <a:latin typeface="Times New Roman" panose="02020603050405020304" pitchFamily="18" charset="0"/>
                <a:cs typeface="Times New Roman" panose="02020603050405020304" pitchFamily="18" charset="0"/>
              </a:rPr>
              <a:t> is usually indicated, which involves an incision to the chest wall to allow drainage of the blood within the pleural space</a:t>
            </a:r>
            <a:r>
              <a:rPr lang="en-US" dirty="0" smtClean="0"/>
              <a:t>.</a:t>
            </a:r>
            <a:endParaRPr lang="en-US" dirty="0" smtClean="0"/>
          </a:p>
          <a:p>
            <a:endParaRPr lang="en-US" dirty="0"/>
          </a:p>
        </p:txBody>
      </p:sp>
      <p:sp>
        <p:nvSpPr>
          <p:cNvPr id="2" name="Title 1"/>
          <p:cNvSpPr>
            <a:spLocks noGrp="1"/>
          </p:cNvSpPr>
          <p:nvPr>
            <p:ph type="title"/>
          </p:nvPr>
        </p:nvSpPr>
        <p:spPr>
          <a:xfrm>
            <a:off x="76200" y="75883"/>
            <a:ext cx="8229600" cy="1143000"/>
          </a:xfrm>
        </p:spPr>
        <p:txBody>
          <a:bodyPr/>
          <a:lstStyle/>
          <a:p>
            <a:r>
              <a:rPr lang="en-US" b="1" dirty="0" smtClean="0">
                <a:solidFill>
                  <a:srgbClr val="C00000"/>
                </a:solidFill>
                <a:latin typeface="Times New Roman" panose="02020603050405020304" pitchFamily="18" charset="0"/>
                <a:cs typeface="Times New Roman" panose="02020603050405020304" pitchFamily="18" charset="0"/>
              </a:rPr>
              <a:t>CLINICAL ANATOMY</a:t>
            </a:r>
            <a:endParaRPr lang="en-US" b="1" dirty="0" smtClean="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86995"/>
            <a:ext cx="9144000" cy="4017645"/>
          </a:xfrm>
          <a:prstGeom prst="rect">
            <a:avLst/>
          </a:prstGeom>
        </p:spPr>
        <p:txBody>
          <a:bodyPr>
            <a:noAutofit/>
          </a:bodyPr>
          <a:p>
            <a:pPr marL="0" indent="0" algn="l">
              <a:lnSpc>
                <a:spcPts val="1260"/>
              </a:lnSpc>
              <a:spcBef>
                <a:spcPct val="0"/>
              </a:spcBef>
              <a:spcAft>
                <a:spcPts val="1200"/>
              </a:spcAft>
            </a:pPr>
            <a:endParaRPr lang="en-GB" sz="16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lang="en-GB" sz="3600" b="1" i="0">
                <a:solidFill>
                  <a:srgbClr val="C00000"/>
                </a:solidFill>
                <a:latin typeface="Times New Roman" panose="02020603050405020304" pitchFamily="18" charset="0"/>
                <a:ea typeface="Proxima Nova"/>
                <a:cs typeface="Times New Roman" panose="02020603050405020304" pitchFamily="18" charset="0"/>
              </a:rPr>
              <a:t>Functions</a:t>
            </a:r>
            <a:endParaRPr lang="en-GB" sz="16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endParaRPr lang="en-GB" sz="16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endParaRPr lang="en-GB" sz="16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lang="en-GB" sz="1600" b="1" i="0">
                <a:solidFill>
                  <a:srgbClr val="1B1B1B"/>
                </a:solidFill>
                <a:latin typeface="Times New Roman" panose="02020603050405020304" pitchFamily="18" charset="0"/>
                <a:ea typeface="Proxima Nova"/>
                <a:cs typeface="Times New Roman" panose="02020603050405020304" pitchFamily="18" charset="0"/>
              </a:rPr>
              <a:t>1. </a:t>
            </a:r>
            <a:r>
              <a:rPr sz="2000" b="1" i="0">
                <a:solidFill>
                  <a:srgbClr val="1B1B1B"/>
                </a:solidFill>
                <a:latin typeface="Times New Roman" panose="02020603050405020304" pitchFamily="18" charset="0"/>
                <a:ea typeface="Proxima Nova"/>
                <a:cs typeface="Times New Roman" panose="02020603050405020304" pitchFamily="18" charset="0"/>
              </a:rPr>
              <a:t>Venous Drainage of the Thoracic Wall</a:t>
            </a:r>
            <a:endParaRPr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endParaRPr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lang="en-GB" sz="2000" b="1" i="0">
                <a:solidFill>
                  <a:srgbClr val="1B1B1B"/>
                </a:solidFill>
                <a:latin typeface="Times New Roman" panose="02020603050405020304" pitchFamily="18" charset="0"/>
                <a:ea typeface="Proxima Nova"/>
                <a:cs typeface="Times New Roman" panose="02020603050405020304" pitchFamily="18" charset="0"/>
              </a:rPr>
              <a:t>2. </a:t>
            </a:r>
            <a:r>
              <a:rPr lang="en-US" altLang="en-US" sz="2000" b="1" i="0">
                <a:solidFill>
                  <a:srgbClr val="1B1B1B"/>
                </a:solidFill>
                <a:latin typeface="Times New Roman" panose="02020603050405020304" pitchFamily="18" charset="0"/>
                <a:ea typeface="Proxima Nova"/>
                <a:cs typeface="Times New Roman" panose="02020603050405020304" pitchFamily="18" charset="0"/>
              </a:rPr>
              <a:t>Drainage from the Posterior Intercostal Veins</a:t>
            </a:r>
            <a:endParaRPr lang="en-US" altLang="en-US"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endParaRPr lang="en-US" altLang="en-US"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lang="en-GB" altLang="en-US" sz="2000" b="1" i="0">
                <a:solidFill>
                  <a:srgbClr val="1B1B1B"/>
                </a:solidFill>
                <a:latin typeface="Times New Roman" panose="02020603050405020304" pitchFamily="18" charset="0"/>
                <a:ea typeface="Proxima Nova"/>
                <a:cs typeface="Times New Roman" panose="02020603050405020304" pitchFamily="18" charset="0"/>
              </a:rPr>
              <a:t>3. </a:t>
            </a:r>
            <a:r>
              <a:rPr lang="en-US" altLang="en-US" sz="2000" b="1" i="0">
                <a:solidFill>
                  <a:srgbClr val="1B1B1B"/>
                </a:solidFill>
                <a:latin typeface="Times New Roman" panose="02020603050405020304" pitchFamily="18" charset="0"/>
                <a:ea typeface="Proxima Nova"/>
                <a:cs typeface="Times New Roman" panose="02020603050405020304" pitchFamily="18" charset="0"/>
              </a:rPr>
              <a:t>Venous Return from the Hemiazygos and Accessory Hemiazygos Veins</a:t>
            </a:r>
            <a:endParaRPr lang="en-US" altLang="en-US"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endParaRPr lang="en-US" altLang="en-US"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lang="en-GB" altLang="en-US" sz="2000" b="1" i="0">
                <a:solidFill>
                  <a:srgbClr val="1B1B1B"/>
                </a:solidFill>
                <a:latin typeface="Times New Roman" panose="02020603050405020304" pitchFamily="18" charset="0"/>
                <a:ea typeface="Proxima Nova"/>
                <a:cs typeface="Times New Roman" panose="02020603050405020304" pitchFamily="18" charset="0"/>
              </a:rPr>
              <a:t>4. </a:t>
            </a:r>
            <a:r>
              <a:rPr lang="en-US" altLang="en-US" sz="2000" b="1" i="0">
                <a:solidFill>
                  <a:srgbClr val="1B1B1B"/>
                </a:solidFill>
                <a:latin typeface="Times New Roman" panose="02020603050405020304" pitchFamily="18" charset="0"/>
                <a:ea typeface="Proxima Nova"/>
                <a:cs typeface="Times New Roman" panose="02020603050405020304" pitchFamily="18" charset="0"/>
              </a:rPr>
              <a:t>Drainage of the Mediastinum</a:t>
            </a:r>
            <a:endParaRPr lang="en-US" altLang="en-US"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endParaRPr lang="en-US" altLang="en-US"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lang="en-GB" altLang="en-US" sz="2000" b="1" i="0">
                <a:solidFill>
                  <a:srgbClr val="1B1B1B"/>
                </a:solidFill>
                <a:latin typeface="Times New Roman" panose="02020603050405020304" pitchFamily="18" charset="0"/>
                <a:ea typeface="Proxima Nova"/>
                <a:cs typeface="Times New Roman" panose="02020603050405020304" pitchFamily="18" charset="0"/>
              </a:rPr>
              <a:t>5. </a:t>
            </a:r>
            <a:r>
              <a:rPr lang="en-US" altLang="en-US" sz="2000" b="1" i="0">
                <a:solidFill>
                  <a:srgbClr val="1B1B1B"/>
                </a:solidFill>
                <a:latin typeface="Times New Roman" panose="02020603050405020304" pitchFamily="18" charset="0"/>
                <a:ea typeface="Proxima Nova"/>
                <a:cs typeface="Times New Roman" panose="02020603050405020304" pitchFamily="18" charset="0"/>
              </a:rPr>
              <a:t>Collateral Circulation in Venous Obstruction</a:t>
            </a:r>
            <a:endParaRPr lang="en-US" altLang="en-US"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endParaRPr lang="en-US" altLang="en-US"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lang="en-GB" altLang="en-US" sz="2000" b="1" i="0">
                <a:solidFill>
                  <a:srgbClr val="1B1B1B"/>
                </a:solidFill>
                <a:latin typeface="Times New Roman" panose="02020603050405020304" pitchFamily="18" charset="0"/>
                <a:ea typeface="Proxima Nova"/>
                <a:cs typeface="Times New Roman" panose="02020603050405020304" pitchFamily="18" charset="0"/>
              </a:rPr>
              <a:t>6. </a:t>
            </a:r>
            <a:r>
              <a:rPr lang="en-US" altLang="en-US" sz="2000" b="1" i="0">
                <a:solidFill>
                  <a:srgbClr val="1B1B1B"/>
                </a:solidFill>
                <a:latin typeface="Times New Roman" panose="02020603050405020304" pitchFamily="18" charset="0"/>
                <a:ea typeface="Proxima Nova"/>
                <a:cs typeface="Times New Roman" panose="02020603050405020304" pitchFamily="18" charset="0"/>
              </a:rPr>
              <a:t>Communication with the Vertebral Venous Plexus</a:t>
            </a:r>
            <a:endParaRPr lang="en-US" altLang="en-US"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endParaRPr lang="en-US" altLang="en-US"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lang="en-GB" altLang="en-US" sz="2000" b="1" i="0">
                <a:solidFill>
                  <a:srgbClr val="1B1B1B"/>
                </a:solidFill>
                <a:latin typeface="Times New Roman" panose="02020603050405020304" pitchFamily="18" charset="0"/>
                <a:ea typeface="Proxima Nova"/>
                <a:cs typeface="Times New Roman" panose="02020603050405020304" pitchFamily="18" charset="0"/>
              </a:rPr>
              <a:t>7.</a:t>
            </a:r>
            <a:r>
              <a:rPr lang="en-US" altLang="en-US" sz="2000" b="1" i="0">
                <a:solidFill>
                  <a:srgbClr val="1B1B1B"/>
                </a:solidFill>
                <a:latin typeface="Times New Roman" panose="02020603050405020304" pitchFamily="18" charset="0"/>
                <a:ea typeface="Proxima Nova"/>
                <a:cs typeface="Times New Roman" panose="02020603050405020304" pitchFamily="18" charset="0"/>
              </a:rPr>
              <a:t>Drainage from the Esophagus and Bronchi</a:t>
            </a:r>
            <a:endParaRPr lang="en-US" altLang="en-US"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endParaRPr lang="en-US" altLang="en-US" sz="2000" b="1" i="0">
              <a:solidFill>
                <a:srgbClr val="1B1B1B"/>
              </a:solidFill>
              <a:latin typeface="Times New Roman" panose="02020603050405020304" pitchFamily="18" charset="0"/>
              <a:ea typeface="Proxima Nova"/>
              <a:cs typeface="Times New Roman" panose="02020603050405020304" pitchFamily="18" charset="0"/>
            </a:endParaRPr>
          </a:p>
          <a:p>
            <a:pPr marL="0" indent="0" algn="l">
              <a:lnSpc>
                <a:spcPts val="1260"/>
              </a:lnSpc>
              <a:spcBef>
                <a:spcPct val="0"/>
              </a:spcBef>
              <a:spcAft>
                <a:spcPts val="1200"/>
              </a:spcAft>
            </a:pPr>
            <a:r>
              <a:rPr lang="en-GB" altLang="en-US" sz="1600" b="1" i="0">
                <a:solidFill>
                  <a:srgbClr val="1B1B1B"/>
                </a:solidFill>
                <a:latin typeface="Times New Roman" panose="02020603050405020304" pitchFamily="18" charset="0"/>
                <a:ea typeface="Proxima Nova"/>
                <a:cs typeface="Times New Roman" panose="02020603050405020304" pitchFamily="18" charset="0"/>
              </a:rPr>
              <a:t>8.</a:t>
            </a:r>
            <a:r>
              <a:rPr lang="en-US" altLang="en-US" sz="1600" b="1" i="0">
                <a:solidFill>
                  <a:srgbClr val="1B1B1B"/>
                </a:solidFill>
                <a:latin typeface="Times New Roman" panose="02020603050405020304" pitchFamily="18" charset="0"/>
                <a:ea typeface="Proxima Nova"/>
                <a:cs typeface="Times New Roman" panose="02020603050405020304" pitchFamily="18" charset="0"/>
              </a:rPr>
              <a:t>Support for Venous Return During Respiration</a:t>
            </a:r>
            <a:endParaRPr lang="en-US" altLang="en-US" sz="1600" b="1" i="0">
              <a:solidFill>
                <a:srgbClr val="1B1B1B"/>
              </a:solidFill>
              <a:latin typeface="Times New Roman" panose="02020603050405020304" pitchFamily="18" charset="0"/>
              <a:ea typeface="Proxima Nova"/>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41375"/>
            <a:ext cx="8229600" cy="5285105"/>
          </a:xfrm>
        </p:spPr>
        <p:txBody>
          <a:bodyPr>
            <a:normAutofit lnSpcReduction="10000"/>
          </a:bodyPr>
          <a:lstStyle/>
          <a:p>
            <a:pPr>
              <a:buNone/>
            </a:pPr>
            <a:r>
              <a:rPr lang="en-US" b="1" dirty="0" smtClean="0">
                <a:latin typeface="Times New Roman" panose="02020603050405020304" pitchFamily="18" charset="0"/>
                <a:cs typeface="Times New Roman" panose="02020603050405020304" pitchFamily="18" charset="0"/>
              </a:rPr>
              <a:t>Aneurysm</a:t>
            </a:r>
            <a:endParaRPr lang="en-US" b="1"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An aneurysm of the </a:t>
            </a:r>
            <a:r>
              <a:rPr lang="en-US" dirty="0" err="1" smtClean="0">
                <a:latin typeface="Times New Roman" panose="02020603050405020304" pitchFamily="18" charset="0"/>
                <a:cs typeface="Times New Roman" panose="02020603050405020304" pitchFamily="18" charset="0"/>
              </a:rPr>
              <a:t>azygos</a:t>
            </a:r>
            <a:r>
              <a:rPr lang="en-US" dirty="0" smtClean="0">
                <a:latin typeface="Times New Roman" panose="02020603050405020304" pitchFamily="18" charset="0"/>
                <a:cs typeface="Times New Roman" panose="02020603050405020304" pitchFamily="18" charset="0"/>
              </a:rPr>
              <a:t> vein is very rare and usually causes no symptoms.</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They are usually detected on a chest X-ray as an abnormal </a:t>
            </a:r>
            <a:r>
              <a:rPr lang="en-US" dirty="0" err="1" smtClean="0">
                <a:latin typeface="Times New Roman" panose="02020603050405020304" pitchFamily="18" charset="0"/>
                <a:cs typeface="Times New Roman" panose="02020603050405020304" pitchFamily="18" charset="0"/>
              </a:rPr>
              <a:t>mediastinal</a:t>
            </a:r>
            <a:r>
              <a:rPr lang="en-US" dirty="0" smtClean="0">
                <a:latin typeface="Times New Roman" panose="02020603050405020304" pitchFamily="18" charset="0"/>
                <a:cs typeface="Times New Roman" panose="02020603050405020304" pitchFamily="18" charset="0"/>
              </a:rPr>
              <a:t> mass.</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They can occur as a result of inferior vena cava obstruction, portal hypertension and  congestive heart failure.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Surgical intervention is indicated when there is a risk of rupture or pulmonary embolism.</a:t>
            </a:r>
            <a:endParaRPr lang="en-US" dirty="0" smtClean="0">
              <a:latin typeface="Times New Roman" panose="02020603050405020304" pitchFamily="18" charset="0"/>
              <a:cs typeface="Times New Roman" panose="02020603050405020304" pitchFamily="18" charset="0"/>
            </a:endParaRPr>
          </a:p>
          <a:p>
            <a:endParaRPr lang="en-US" dirty="0"/>
          </a:p>
        </p:txBody>
      </p:sp>
      <p:sp>
        <p:nvSpPr>
          <p:cNvPr id="2" name="Title 1"/>
          <p:cNvSpPr>
            <a:spLocks noGrp="1"/>
          </p:cNvSpPr>
          <p:nvPr>
            <p:ph type="title"/>
          </p:nvPr>
        </p:nvSpPr>
        <p:spPr>
          <a:xfrm>
            <a:off x="-76200" y="-317"/>
            <a:ext cx="8229600" cy="1143000"/>
          </a:xfrm>
        </p:spPr>
        <p:txBody>
          <a:bodyPr>
            <a:normAutofit/>
          </a:bodyPr>
          <a:lstStyle/>
          <a:p>
            <a:r>
              <a:rPr lang="en-US" dirty="0" smtClean="0">
                <a:latin typeface="Times New Roman" panose="02020603050405020304" pitchFamily="18" charset="0"/>
                <a:cs typeface="Times New Roman" panose="02020603050405020304" pitchFamily="18" charset="0"/>
              </a:rPr>
              <a:t>CLINICAL ANATOMY CONT’D</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020" y="990600"/>
            <a:ext cx="9087485" cy="5668010"/>
          </a:xfrm>
        </p:spPr>
        <p:txBody>
          <a:bodyPr>
            <a:normAutofit fontScale="82500"/>
          </a:bodyPr>
          <a:lstStyle/>
          <a:p>
            <a:pPr>
              <a:buNone/>
            </a:pPr>
            <a:r>
              <a:rPr lang="en-US" b="1" dirty="0" smtClean="0">
                <a:latin typeface="Times New Roman" panose="02020603050405020304" pitchFamily="18" charset="0"/>
                <a:cs typeface="Times New Roman" panose="02020603050405020304" pitchFamily="18" charset="0"/>
              </a:rPr>
              <a:t>Congenital defects</a:t>
            </a:r>
            <a:endParaRPr lang="en-US" b="1"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Rarely, the hepatic portion of the inferior vena cava does not form during embryonic development and as a result the inferior vena cava continues as the </a:t>
            </a:r>
            <a:r>
              <a:rPr lang="en-US" dirty="0" err="1" smtClean="0">
                <a:latin typeface="Times New Roman" panose="02020603050405020304" pitchFamily="18" charset="0"/>
                <a:cs typeface="Times New Roman" panose="02020603050405020304" pitchFamily="18" charset="0"/>
              </a:rPr>
              <a:t>azygos</a:t>
            </a:r>
            <a:r>
              <a:rPr lang="en-US" dirty="0" smtClean="0">
                <a:latin typeface="Times New Roman" panose="02020603050405020304" pitchFamily="18" charset="0"/>
                <a:cs typeface="Times New Roman" panose="02020603050405020304" pitchFamily="18" charset="0"/>
              </a:rPr>
              <a:t> vein.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This is referred to as </a:t>
            </a:r>
            <a:r>
              <a:rPr lang="en-US" dirty="0" err="1" smtClean="0">
                <a:latin typeface="Times New Roman" panose="02020603050405020304" pitchFamily="18" charset="0"/>
                <a:cs typeface="Times New Roman" panose="02020603050405020304" pitchFamily="18" charset="0"/>
              </a:rPr>
              <a:t>azygos</a:t>
            </a:r>
            <a:r>
              <a:rPr lang="en-US" dirty="0" smtClean="0">
                <a:latin typeface="Times New Roman" panose="02020603050405020304" pitchFamily="18" charset="0"/>
                <a:cs typeface="Times New Roman" panose="02020603050405020304" pitchFamily="18" charset="0"/>
              </a:rPr>
              <a:t> continuation of the inferior vena cava or absence of the hepatic segment of the inferior vena cava with </a:t>
            </a:r>
            <a:r>
              <a:rPr lang="en-US" dirty="0" err="1" smtClean="0">
                <a:latin typeface="Times New Roman" panose="02020603050405020304" pitchFamily="18" charset="0"/>
                <a:cs typeface="Times New Roman" panose="02020603050405020304" pitchFamily="18" charset="0"/>
              </a:rPr>
              <a:t>azygos</a:t>
            </a:r>
            <a:r>
              <a:rPr lang="en-US" dirty="0" smtClean="0">
                <a:latin typeface="Times New Roman" panose="02020603050405020304" pitchFamily="18" charset="0"/>
                <a:cs typeface="Times New Roman" panose="02020603050405020304" pitchFamily="18" charset="0"/>
              </a:rPr>
              <a:t> continuation.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To compensate for this congenital abnormality, the </a:t>
            </a:r>
            <a:r>
              <a:rPr lang="en-US" dirty="0" err="1" smtClean="0">
                <a:latin typeface="Times New Roman" panose="02020603050405020304" pitchFamily="18" charset="0"/>
                <a:cs typeface="Times New Roman" panose="02020603050405020304" pitchFamily="18" charset="0"/>
              </a:rPr>
              <a:t>azygos</a:t>
            </a:r>
            <a:r>
              <a:rPr lang="en-US" dirty="0" smtClean="0">
                <a:latin typeface="Times New Roman" panose="02020603050405020304" pitchFamily="18" charset="0"/>
                <a:cs typeface="Times New Roman" panose="02020603050405020304" pitchFamily="18" charset="0"/>
              </a:rPr>
              <a:t> vein dilates in order to accommodate for the increase in blood flow.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It occurs in 0.3% of the population and is associated with congenital heart disease or </a:t>
            </a:r>
            <a:r>
              <a:rPr lang="en-US" dirty="0" err="1" smtClean="0">
                <a:latin typeface="Times New Roman" panose="02020603050405020304" pitchFamily="18" charset="0"/>
                <a:cs typeface="Times New Roman" panose="02020603050405020304" pitchFamily="18" charset="0"/>
              </a:rPr>
              <a:t>asplenia</a:t>
            </a:r>
            <a:r>
              <a:rPr lang="en-US" dirty="0" smtClean="0">
                <a:latin typeface="Times New Roman" panose="02020603050405020304" pitchFamily="18" charset="0"/>
                <a:cs typeface="Times New Roman" panose="02020603050405020304" pitchFamily="18" charset="0"/>
              </a:rPr>
              <a:t> syndromes (syndromes with an absence of normal spleen function.</a:t>
            </a:r>
            <a:endParaRPr lang="en-US" dirty="0" smtClean="0">
              <a:latin typeface="Times New Roman" panose="02020603050405020304" pitchFamily="18" charset="0"/>
              <a:cs typeface="Times New Roman" panose="02020603050405020304" pitchFamily="18" charset="0"/>
            </a:endParaRPr>
          </a:p>
          <a:p>
            <a:endParaRPr lang="en-US" dirty="0"/>
          </a:p>
        </p:txBody>
      </p:sp>
      <p:sp>
        <p:nvSpPr>
          <p:cNvPr id="2" name="Title 1"/>
          <p:cNvSpPr>
            <a:spLocks noGrp="1"/>
          </p:cNvSpPr>
          <p:nvPr>
            <p:ph type="title"/>
          </p:nvPr>
        </p:nvSpPr>
        <p:spPr>
          <a:xfrm>
            <a:off x="0" y="-317"/>
            <a:ext cx="8229600" cy="1143000"/>
          </a:xfrm>
        </p:spPr>
        <p:txBody>
          <a:bodyPr/>
          <a:lstStyle/>
          <a:p>
            <a:r>
              <a:rPr lang="en-US" b="1" dirty="0" smtClean="0">
                <a:solidFill>
                  <a:srgbClr val="C00000"/>
                </a:solidFill>
                <a:latin typeface="Times New Roman" panose="02020603050405020304" pitchFamily="18" charset="0"/>
                <a:cs typeface="Times New Roman" panose="02020603050405020304" pitchFamily="18" charset="0"/>
              </a:rPr>
              <a:t>CLINICAL ANAT CONT’D</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7742</Words>
  <Application>WPS Presentation</Application>
  <PresentationFormat>On-screen Show (4:3)</PresentationFormat>
  <Paragraphs>166</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Times New Roman</vt:lpstr>
      <vt:lpstr>Wingdings</vt:lpstr>
      <vt:lpstr>Proxima Nova</vt:lpstr>
      <vt:lpstr>Liberation Mono</vt:lpstr>
      <vt:lpstr>Microsoft YaHei</vt:lpstr>
      <vt:lpstr>Arial Unicode MS</vt:lpstr>
      <vt:lpstr>Calibri</vt:lpstr>
      <vt:lpstr>Default Design</vt:lpstr>
      <vt:lpstr>AZYGOS SYSTEM OF VEINS</vt:lpstr>
      <vt:lpstr>PowerPoint 演示文稿</vt:lpstr>
      <vt:lpstr>INTRODUCTION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ANATOMICAL RELATIONS</vt:lpstr>
      <vt:lpstr>ANATOMICAL RELATIONS</vt:lpstr>
      <vt:lpstr>PowerPoint 演示文稿</vt:lpstr>
      <vt:lpstr>PowerPoint 演示文稿</vt:lpstr>
      <vt:lpstr>TRIBUTARIES</vt:lpstr>
      <vt:lpstr>		TRIBUTARIES</vt:lpstr>
      <vt:lpstr>PowerPoint 演示文稿</vt:lpstr>
      <vt:lpstr>PowerPoint 演示文稿</vt:lpstr>
      <vt:lpstr>PowerPoint 演示文稿</vt:lpstr>
      <vt:lpstr>CLINICAL ANATOMY</vt:lpstr>
      <vt:lpstr>PowerPoint 演示文稿</vt:lpstr>
      <vt:lpstr>CLINICAL ANATOMY CONT’D</vt:lpstr>
      <vt:lpstr>CLINICAL ANAT CONT’D…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HP</cp:lastModifiedBy>
  <cp:revision>100</cp:revision>
  <dcterms:created xsi:type="dcterms:W3CDTF">2022-11-14T16:29:00Z</dcterms:created>
  <dcterms:modified xsi:type="dcterms:W3CDTF">2025-09-22T23:49:20Z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0D981D575E8249E7B398FFCDECEA363C_12</vt:lpwstr>
  </property>
  <property fmtid="{D5CDD505-2E9C-101B-9397-08002B2CF9AE}" pid="3" name="KSOProductBuildVer">
    <vt:lpwstr>1033-12.2.0.21931</vt:lpwstr>
  </property>
</Properties>
</file>