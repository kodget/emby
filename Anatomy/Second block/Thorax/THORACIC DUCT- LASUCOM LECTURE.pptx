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8" r:id="rId5"/>
    <p:sldId id="260" r:id="rId6"/>
    <p:sldId id="270" r:id="rId7"/>
    <p:sldId id="261" r:id="rId8"/>
    <p:sldId id="272" r:id="rId9"/>
    <p:sldId id="262" r:id="rId10"/>
    <p:sldId id="271" r:id="rId11"/>
    <p:sldId id="263" r:id="rId12"/>
    <p:sldId id="264"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222"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2A81B70-0167-43A2-90D3-8524AC100B39}"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2196680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A81B70-0167-43A2-90D3-8524AC100B39}"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705319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2A81B70-0167-43A2-90D3-8524AC100B39}"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133028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A81B70-0167-43A2-90D3-8524AC100B39}"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361431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A81B70-0167-43A2-90D3-8524AC100B39}" type="datetimeFigureOut">
              <a:rPr lang="en-US" smtClean="0"/>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87482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A81B70-0167-43A2-90D3-8524AC100B39}" type="datetimeFigureOut">
              <a:rPr lang="en-US" smtClean="0"/>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2907500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81B70-0167-43A2-90D3-8524AC100B39}" type="datetimeFigureOut">
              <a:rPr lang="en-US" smtClean="0"/>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707988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A81B70-0167-43A2-90D3-8524AC100B39}"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2257735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A81B70-0167-43A2-90D3-8524AC100B39}" type="datetimeFigureOut">
              <a:rPr lang="en-US" smtClean="0"/>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2323331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A81B70-0167-43A2-90D3-8524AC100B39}"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1604659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A81B70-0167-43A2-90D3-8524AC100B39}" type="datetimeFigureOut">
              <a:rPr lang="en-US" smtClean="0"/>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ACDA7E-9665-4C9A-803A-7A3C578D4FE4}" type="slidenum">
              <a:rPr lang="en-US" smtClean="0"/>
              <a:t>‹#›</a:t>
            </a:fld>
            <a:endParaRPr lang="en-US"/>
          </a:p>
        </p:txBody>
      </p:sp>
    </p:spTree>
    <p:extLst>
      <p:ext uri="{BB962C8B-B14F-4D97-AF65-F5344CB8AC3E}">
        <p14:creationId xmlns:p14="http://schemas.microsoft.com/office/powerpoint/2010/main" val="154984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81B70-0167-43A2-90D3-8524AC100B39}" type="datetimeFigureOut">
              <a:rPr lang="en-US" smtClean="0"/>
              <a:t>9/20/2025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ACDA7E-9665-4C9A-803A-7A3C578D4FE4}" type="slidenum">
              <a:rPr lang="en-US" smtClean="0"/>
              <a:t>‹#›</a:t>
            </a:fld>
            <a:endParaRPr lang="en-US"/>
          </a:p>
        </p:txBody>
      </p:sp>
    </p:spTree>
    <p:extLst>
      <p:ext uri="{BB962C8B-B14F-4D97-AF65-F5344CB8AC3E}">
        <p14:creationId xmlns:p14="http://schemas.microsoft.com/office/powerpoint/2010/main" val="4263385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73762"/>
          </a:xfrm>
        </p:spPr>
        <p:txBody>
          <a:bodyPr/>
          <a:lstStyle/>
          <a:p>
            <a:pPr algn="ctr"/>
            <a:r>
              <a:rPr lang="en-US" dirty="0"/>
              <a:t>THORACIC DUCT</a:t>
            </a:r>
            <a:br>
              <a:rPr lang="en-US" dirty="0"/>
            </a:br>
            <a:r>
              <a:rPr lang="en-US" dirty="0"/>
              <a:t>BY </a:t>
            </a:r>
            <a:br>
              <a:rPr lang="en-US" dirty="0"/>
            </a:br>
            <a:r>
              <a:rPr lang="en-US" dirty="0"/>
              <a:t>DR. OGWUCHE, ELIJAH</a:t>
            </a:r>
            <a:br>
              <a:rPr lang="en-US" dirty="0"/>
            </a:br>
            <a:r>
              <a:rPr lang="en-US" dirty="0"/>
              <a:t>(BSc. MSc. MB,BS)</a:t>
            </a:r>
            <a:br>
              <a:rPr lang="en-US" dirty="0"/>
            </a:br>
            <a:r>
              <a:rPr lang="en-US" dirty="0"/>
              <a:t>LAGOS STATE UNIVERSITY COLLEGE OF MEDICINE (LASUCOM), IKEJA.</a:t>
            </a:r>
          </a:p>
        </p:txBody>
      </p:sp>
    </p:spTree>
    <p:extLst>
      <p:ext uri="{BB962C8B-B14F-4D97-AF65-F5344CB8AC3E}">
        <p14:creationId xmlns:p14="http://schemas.microsoft.com/office/powerpoint/2010/main" val="534119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OUTLINE</a:t>
            </a:r>
          </a:p>
        </p:txBody>
      </p:sp>
      <p:sp>
        <p:nvSpPr>
          <p:cNvPr id="3" name="Content Placeholder 2"/>
          <p:cNvSpPr>
            <a:spLocks noGrp="1"/>
          </p:cNvSpPr>
          <p:nvPr>
            <p:ph idx="1"/>
          </p:nvPr>
        </p:nvSpPr>
        <p:spPr/>
        <p:txBody>
          <a:bodyPr>
            <a:normAutofit lnSpcReduction="10000"/>
          </a:bodyPr>
          <a:lstStyle/>
          <a:p>
            <a:r>
              <a:rPr lang="en-US" dirty="0"/>
              <a:t>INTRODUCTION</a:t>
            </a:r>
          </a:p>
          <a:p>
            <a:r>
              <a:rPr lang="en-US" dirty="0"/>
              <a:t>ORIGIN</a:t>
            </a:r>
          </a:p>
          <a:p>
            <a:r>
              <a:rPr lang="en-US" dirty="0"/>
              <a:t>COURSE</a:t>
            </a:r>
          </a:p>
          <a:p>
            <a:r>
              <a:rPr lang="en-US" dirty="0"/>
              <a:t>TERMINATION</a:t>
            </a:r>
          </a:p>
          <a:p>
            <a:r>
              <a:rPr lang="en-US" dirty="0"/>
              <a:t>TRIBUTARIES</a:t>
            </a:r>
          </a:p>
          <a:p>
            <a:r>
              <a:rPr lang="en-US" dirty="0"/>
              <a:t>VARIATIONS</a:t>
            </a:r>
          </a:p>
          <a:p>
            <a:r>
              <a:rPr lang="en-US" dirty="0"/>
              <a:t>FUNCTIONS</a:t>
            </a:r>
          </a:p>
          <a:p>
            <a:r>
              <a:rPr lang="en-US" dirty="0"/>
              <a:t>APPLIED ANATOMY</a:t>
            </a:r>
          </a:p>
          <a:p>
            <a:r>
              <a:rPr lang="en-US" dirty="0"/>
              <a:t>REFERENCES</a:t>
            </a:r>
          </a:p>
        </p:txBody>
      </p:sp>
    </p:spTree>
    <p:extLst>
      <p:ext uri="{BB962C8B-B14F-4D97-AF65-F5344CB8AC3E}">
        <p14:creationId xmlns:p14="http://schemas.microsoft.com/office/powerpoint/2010/main" val="635114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3" name="Content Placeholder 2"/>
          <p:cNvSpPr>
            <a:spLocks noGrp="1"/>
          </p:cNvSpPr>
          <p:nvPr>
            <p:ph idx="1"/>
          </p:nvPr>
        </p:nvSpPr>
        <p:spPr/>
        <p:txBody>
          <a:bodyPr>
            <a:normAutofit lnSpcReduction="10000"/>
          </a:bodyPr>
          <a:lstStyle/>
          <a:p>
            <a:r>
              <a:rPr lang="en-US" dirty="0"/>
              <a:t>The thoracic duct, also called Van </a:t>
            </a:r>
            <a:r>
              <a:rPr lang="en-US" dirty="0" err="1"/>
              <a:t>Hoorne’s</a:t>
            </a:r>
            <a:r>
              <a:rPr lang="en-US" dirty="0"/>
              <a:t> canal, is the largest lymphatic vessel in the human body.</a:t>
            </a:r>
          </a:p>
          <a:p>
            <a:r>
              <a:rPr lang="en-US" dirty="0"/>
              <a:t>About 40cm long in an adult, approximately 5mm wide at the abdominal origin</a:t>
            </a:r>
          </a:p>
          <a:p>
            <a:r>
              <a:rPr lang="en-US" dirty="0"/>
              <a:t>Drains about 75% of the lymph from the entire body</a:t>
            </a:r>
          </a:p>
          <a:p>
            <a:r>
              <a:rPr lang="en-US" dirty="0"/>
              <a:t>It receives all the lymphatic vessels inferior to the diaphragm and left side of the body above the diaphragm</a:t>
            </a:r>
          </a:p>
          <a:p>
            <a:r>
              <a:rPr lang="en-US" dirty="0"/>
              <a:t>Does not receive lymph from; right upper limb, right breast, right lung, right side of the head and neck which are drained by the right lymphatic duct</a:t>
            </a:r>
          </a:p>
          <a:p>
            <a:endParaRPr lang="en-US" dirty="0"/>
          </a:p>
        </p:txBody>
      </p:sp>
    </p:spTree>
    <p:extLst>
      <p:ext uri="{BB962C8B-B14F-4D97-AF65-F5344CB8AC3E}">
        <p14:creationId xmlns:p14="http://schemas.microsoft.com/office/powerpoint/2010/main" val="3532818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ILLUSTRATION</a:t>
            </a:r>
          </a:p>
        </p:txBody>
      </p:sp>
      <p:pic>
        <p:nvPicPr>
          <p:cNvPr id="4" name="Content Placeholder 3"/>
          <p:cNvPicPr>
            <a:picLocks noGrp="1" noChangeAspect="1"/>
          </p:cNvPicPr>
          <p:nvPr>
            <p:ph idx="1"/>
          </p:nvPr>
        </p:nvPicPr>
        <p:blipFill>
          <a:blip r:embed="rId2"/>
          <a:stretch>
            <a:fillRect/>
          </a:stretch>
        </p:blipFill>
        <p:spPr>
          <a:xfrm>
            <a:off x="3582186" y="1923068"/>
            <a:ext cx="4779389" cy="4355183"/>
          </a:xfrm>
          <a:prstGeom prst="rect">
            <a:avLst/>
          </a:prstGeom>
        </p:spPr>
      </p:pic>
    </p:spTree>
    <p:extLst>
      <p:ext uri="{BB962C8B-B14F-4D97-AF65-F5344CB8AC3E}">
        <p14:creationId xmlns:p14="http://schemas.microsoft.com/office/powerpoint/2010/main" val="3945337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ORIGIN</a:t>
            </a:r>
          </a:p>
        </p:txBody>
      </p:sp>
      <p:sp>
        <p:nvSpPr>
          <p:cNvPr id="3" name="Content Placeholder 2"/>
          <p:cNvSpPr>
            <a:spLocks noGrp="1"/>
          </p:cNvSpPr>
          <p:nvPr>
            <p:ph idx="1"/>
          </p:nvPr>
        </p:nvSpPr>
        <p:spPr/>
        <p:txBody>
          <a:bodyPr/>
          <a:lstStyle/>
          <a:p>
            <a:r>
              <a:rPr lang="en-US" dirty="0"/>
              <a:t>It commences at the </a:t>
            </a:r>
            <a:r>
              <a:rPr lang="en-US" dirty="0" err="1"/>
              <a:t>Cysterna</a:t>
            </a:r>
            <a:r>
              <a:rPr lang="en-US" dirty="0"/>
              <a:t> chyli, on level with the body of the twelfth thoracic vertebra (T12).</a:t>
            </a:r>
          </a:p>
          <a:p>
            <a:r>
              <a:rPr lang="en-US" dirty="0"/>
              <a:t>The </a:t>
            </a:r>
            <a:r>
              <a:rPr lang="en-US" dirty="0" err="1"/>
              <a:t>Cysterna</a:t>
            </a:r>
            <a:r>
              <a:rPr lang="en-US" dirty="0"/>
              <a:t> </a:t>
            </a:r>
            <a:r>
              <a:rPr lang="en-US" dirty="0" err="1"/>
              <a:t>chyli</a:t>
            </a:r>
            <a:r>
              <a:rPr lang="en-US" dirty="0"/>
              <a:t> is an abdominal confluence of the right and left lumbar lymph trunks, as well as the left and right intestinal lymph trunks between T12 and L2</a:t>
            </a:r>
          </a:p>
        </p:txBody>
      </p:sp>
    </p:spTree>
    <p:extLst>
      <p:ext uri="{BB962C8B-B14F-4D97-AF65-F5344CB8AC3E}">
        <p14:creationId xmlns:p14="http://schemas.microsoft.com/office/powerpoint/2010/main" val="1530039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1348-149A-8341-5960-92201E2D33BB}"/>
              </a:ext>
            </a:extLst>
          </p:cNvPr>
          <p:cNvSpPr>
            <a:spLocks noGrp="1"/>
          </p:cNvSpPr>
          <p:nvPr>
            <p:ph type="title"/>
          </p:nvPr>
        </p:nvSpPr>
        <p:spPr/>
        <p:txBody>
          <a:bodyPr/>
          <a:lstStyle/>
          <a:p>
            <a:pPr algn="ctr"/>
            <a:r>
              <a:rPr lang="en-US" dirty="0"/>
              <a:t>DIAGRAM</a:t>
            </a:r>
          </a:p>
        </p:txBody>
      </p:sp>
      <p:pic>
        <p:nvPicPr>
          <p:cNvPr id="4" name="Content Placeholder 3">
            <a:extLst>
              <a:ext uri="{FF2B5EF4-FFF2-40B4-BE49-F238E27FC236}">
                <a16:creationId xmlns:a16="http://schemas.microsoft.com/office/drawing/2014/main" id="{DB3A168D-100A-87EF-FCAF-C54C25B06D74}"/>
              </a:ext>
            </a:extLst>
          </p:cNvPr>
          <p:cNvPicPr>
            <a:picLocks noGrp="1" noChangeAspect="1"/>
          </p:cNvPicPr>
          <p:nvPr>
            <p:ph idx="1"/>
          </p:nvPr>
        </p:nvPicPr>
        <p:blipFill>
          <a:blip r:embed="rId2"/>
          <a:stretch>
            <a:fillRect/>
          </a:stretch>
        </p:blipFill>
        <p:spPr>
          <a:xfrm>
            <a:off x="2702379" y="1563461"/>
            <a:ext cx="7139667" cy="4976132"/>
          </a:xfrm>
          <a:prstGeom prst="rect">
            <a:avLst/>
          </a:prstGeom>
        </p:spPr>
      </p:pic>
    </p:spTree>
    <p:extLst>
      <p:ext uri="{BB962C8B-B14F-4D97-AF65-F5344CB8AC3E}">
        <p14:creationId xmlns:p14="http://schemas.microsoft.com/office/powerpoint/2010/main" val="53529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COURSE </a:t>
            </a:r>
          </a:p>
        </p:txBody>
      </p:sp>
      <p:sp>
        <p:nvSpPr>
          <p:cNvPr id="3" name="Content Placeholder 2"/>
          <p:cNvSpPr>
            <a:spLocks noGrp="1"/>
          </p:cNvSpPr>
          <p:nvPr>
            <p:ph idx="1"/>
          </p:nvPr>
        </p:nvSpPr>
        <p:spPr/>
        <p:txBody>
          <a:bodyPr>
            <a:normAutofit lnSpcReduction="10000"/>
          </a:bodyPr>
          <a:lstStyle/>
          <a:p>
            <a:r>
              <a:rPr lang="en-US" dirty="0"/>
              <a:t>The thoracic duct passes superiorly from the cisterna </a:t>
            </a:r>
            <a:r>
              <a:rPr lang="en-US" dirty="0" err="1"/>
              <a:t>chyli</a:t>
            </a:r>
            <a:r>
              <a:rPr lang="en-US" dirty="0"/>
              <a:t> through the aortic hiatus in the diaphragm.</a:t>
            </a:r>
          </a:p>
          <a:p>
            <a:r>
              <a:rPr lang="en-US" dirty="0"/>
              <a:t>It ascends in the posterior mediastinum between the thoracic aorta and azygos vein</a:t>
            </a:r>
          </a:p>
          <a:p>
            <a:r>
              <a:rPr lang="en-US" dirty="0"/>
              <a:t>It then reaches the right side of the esophagus and passes superiorly anterior to the origin of the right posterior intercostal arteries</a:t>
            </a:r>
          </a:p>
          <a:p>
            <a:r>
              <a:rPr lang="en-US" dirty="0"/>
              <a:t>At the level of the 5</a:t>
            </a:r>
            <a:r>
              <a:rPr lang="en-US" baseline="30000" dirty="0"/>
              <a:t>th</a:t>
            </a:r>
            <a:r>
              <a:rPr lang="en-US" dirty="0"/>
              <a:t> thoracic vertebra (T5), it crosses to the left, posterior to the superior mediastinum</a:t>
            </a:r>
          </a:p>
          <a:p>
            <a:r>
              <a:rPr lang="en-US" dirty="0"/>
              <a:t>From this point, it ascends behind the aortic arch and the left subclavian artery, then to its final destination (termination)</a:t>
            </a:r>
          </a:p>
        </p:txBody>
      </p:sp>
    </p:spTree>
    <p:extLst>
      <p:ext uri="{BB962C8B-B14F-4D97-AF65-F5344CB8AC3E}">
        <p14:creationId xmlns:p14="http://schemas.microsoft.com/office/powerpoint/2010/main" val="379651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C727-7D99-64D7-3AA6-86832D739D07}"/>
              </a:ext>
            </a:extLst>
          </p:cNvPr>
          <p:cNvSpPr>
            <a:spLocks noGrp="1"/>
          </p:cNvSpPr>
          <p:nvPr>
            <p:ph type="title"/>
          </p:nvPr>
        </p:nvSpPr>
        <p:spPr/>
        <p:txBody>
          <a:bodyPr/>
          <a:lstStyle/>
          <a:p>
            <a:pPr algn="ctr"/>
            <a:r>
              <a:rPr lang="en-US" dirty="0"/>
              <a:t>DIAGRAM</a:t>
            </a:r>
          </a:p>
        </p:txBody>
      </p:sp>
      <p:pic>
        <p:nvPicPr>
          <p:cNvPr id="4" name="Content Placeholder 3">
            <a:extLst>
              <a:ext uri="{FF2B5EF4-FFF2-40B4-BE49-F238E27FC236}">
                <a16:creationId xmlns:a16="http://schemas.microsoft.com/office/drawing/2014/main" id="{4FEB57D1-5BEB-4DC5-24DD-5271B53CE11D}"/>
              </a:ext>
            </a:extLst>
          </p:cNvPr>
          <p:cNvPicPr>
            <a:picLocks noGrp="1" noChangeAspect="1"/>
          </p:cNvPicPr>
          <p:nvPr>
            <p:ph idx="1"/>
          </p:nvPr>
        </p:nvPicPr>
        <p:blipFill>
          <a:blip r:embed="rId2"/>
          <a:stretch>
            <a:fillRect/>
          </a:stretch>
        </p:blipFill>
        <p:spPr>
          <a:xfrm>
            <a:off x="2792187" y="1653268"/>
            <a:ext cx="6727370" cy="4839607"/>
          </a:xfrm>
          <a:prstGeom prst="rect">
            <a:avLst/>
          </a:prstGeom>
        </p:spPr>
      </p:pic>
    </p:spTree>
    <p:extLst>
      <p:ext uri="{BB962C8B-B14F-4D97-AF65-F5344CB8AC3E}">
        <p14:creationId xmlns:p14="http://schemas.microsoft.com/office/powerpoint/2010/main" val="2043908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TERMINATION</a:t>
            </a:r>
          </a:p>
        </p:txBody>
      </p:sp>
      <p:sp>
        <p:nvSpPr>
          <p:cNvPr id="3" name="Content Placeholder 2"/>
          <p:cNvSpPr>
            <a:spLocks noGrp="1"/>
          </p:cNvSpPr>
          <p:nvPr>
            <p:ph idx="1"/>
          </p:nvPr>
        </p:nvSpPr>
        <p:spPr/>
        <p:txBody>
          <a:bodyPr/>
          <a:lstStyle/>
          <a:p>
            <a:r>
              <a:rPr lang="en-US" dirty="0"/>
              <a:t>The thoracic duct divides into two or three separate branches, all of which open separately into the venous system near the union of the left internal jugular vein (IJV) and the subclavian vein, at the venous angle called </a:t>
            </a:r>
            <a:r>
              <a:rPr lang="en-US" dirty="0" err="1"/>
              <a:t>Pirogoff’s</a:t>
            </a:r>
            <a:r>
              <a:rPr lang="en-US" dirty="0"/>
              <a:t> angle </a:t>
            </a:r>
          </a:p>
          <a:p>
            <a:endParaRPr lang="en-US" dirty="0"/>
          </a:p>
        </p:txBody>
      </p:sp>
    </p:spTree>
    <p:extLst>
      <p:ext uri="{BB962C8B-B14F-4D97-AF65-F5344CB8AC3E}">
        <p14:creationId xmlns:p14="http://schemas.microsoft.com/office/powerpoint/2010/main" val="33796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B1E86-A57E-9432-C740-CD0B06DA2A85}"/>
              </a:ext>
            </a:extLst>
          </p:cNvPr>
          <p:cNvSpPr>
            <a:spLocks noGrp="1"/>
          </p:cNvSpPr>
          <p:nvPr>
            <p:ph type="title"/>
          </p:nvPr>
        </p:nvSpPr>
        <p:spPr/>
        <p:txBody>
          <a:bodyPr/>
          <a:lstStyle/>
          <a:p>
            <a:pPr algn="ctr"/>
            <a:r>
              <a:rPr lang="en-US" dirty="0"/>
              <a:t>DIAGRAM</a:t>
            </a:r>
          </a:p>
        </p:txBody>
      </p:sp>
      <p:pic>
        <p:nvPicPr>
          <p:cNvPr id="4" name="Content Placeholder 3">
            <a:extLst>
              <a:ext uri="{FF2B5EF4-FFF2-40B4-BE49-F238E27FC236}">
                <a16:creationId xmlns:a16="http://schemas.microsoft.com/office/drawing/2014/main" id="{B0B47372-EEBA-EAE1-A681-74C8D83D8579}"/>
              </a:ext>
            </a:extLst>
          </p:cNvPr>
          <p:cNvPicPr>
            <a:picLocks noGrp="1" noChangeAspect="1"/>
          </p:cNvPicPr>
          <p:nvPr>
            <p:ph idx="1"/>
          </p:nvPr>
        </p:nvPicPr>
        <p:blipFill>
          <a:blip r:embed="rId2"/>
          <a:stretch>
            <a:fillRect/>
          </a:stretch>
        </p:blipFill>
        <p:spPr>
          <a:xfrm>
            <a:off x="3237139" y="1861457"/>
            <a:ext cx="6735536" cy="4469947"/>
          </a:xfrm>
          <a:prstGeom prst="rect">
            <a:avLst/>
          </a:prstGeom>
        </p:spPr>
      </p:pic>
    </p:spTree>
    <p:extLst>
      <p:ext uri="{BB962C8B-B14F-4D97-AF65-F5344CB8AC3E}">
        <p14:creationId xmlns:p14="http://schemas.microsoft.com/office/powerpoint/2010/main" val="3736052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TRIBUTARIES</a:t>
            </a:r>
          </a:p>
        </p:txBody>
      </p:sp>
      <p:sp>
        <p:nvSpPr>
          <p:cNvPr id="3" name="Content Placeholder 2"/>
          <p:cNvSpPr>
            <a:spLocks noGrp="1"/>
          </p:cNvSpPr>
          <p:nvPr>
            <p:ph idx="1"/>
          </p:nvPr>
        </p:nvSpPr>
        <p:spPr/>
        <p:txBody>
          <a:bodyPr>
            <a:normAutofit fontScale="92500" lnSpcReduction="20000"/>
          </a:bodyPr>
          <a:lstStyle/>
          <a:p>
            <a:r>
              <a:rPr lang="en-US" dirty="0"/>
              <a:t>It receive lymph from;</a:t>
            </a:r>
          </a:p>
          <a:p>
            <a:pPr marL="0" indent="0">
              <a:buNone/>
            </a:pPr>
            <a:r>
              <a:rPr lang="en-US" dirty="0"/>
              <a:t>     - the posterior mediastinal lymph nodes</a:t>
            </a:r>
          </a:p>
          <a:p>
            <a:pPr marL="0" indent="0">
              <a:buNone/>
            </a:pPr>
            <a:r>
              <a:rPr lang="en-US" dirty="0"/>
              <a:t>     - right and left descending thoracic lymph trunks</a:t>
            </a:r>
          </a:p>
          <a:p>
            <a:pPr marL="0" indent="0">
              <a:buNone/>
            </a:pPr>
            <a:r>
              <a:rPr lang="en-US" dirty="0"/>
              <a:t>     - upper intercostal lymph trunks (1-5 intercostal spaces)</a:t>
            </a:r>
          </a:p>
          <a:p>
            <a:pPr marL="0" indent="0">
              <a:buNone/>
            </a:pPr>
            <a:r>
              <a:rPr lang="en-US" dirty="0"/>
              <a:t> Others include;</a:t>
            </a:r>
          </a:p>
          <a:p>
            <a:pPr marL="0" indent="0">
              <a:buNone/>
            </a:pPr>
            <a:r>
              <a:rPr lang="en-US" dirty="0"/>
              <a:t>      - mediastinal lymph trunks</a:t>
            </a:r>
          </a:p>
          <a:p>
            <a:pPr marL="0" indent="0">
              <a:buNone/>
            </a:pPr>
            <a:r>
              <a:rPr lang="en-US" dirty="0"/>
              <a:t>      - left jugular trunk</a:t>
            </a:r>
          </a:p>
          <a:p>
            <a:pPr marL="0" indent="0">
              <a:buNone/>
            </a:pPr>
            <a:r>
              <a:rPr lang="en-US" dirty="0"/>
              <a:t>      - left </a:t>
            </a:r>
            <a:r>
              <a:rPr lang="en-US" dirty="0" err="1"/>
              <a:t>bronchomedistinal</a:t>
            </a:r>
            <a:r>
              <a:rPr lang="en-US" dirty="0"/>
              <a:t> trunk</a:t>
            </a:r>
          </a:p>
          <a:p>
            <a:pPr marL="0" indent="0">
              <a:buNone/>
            </a:pPr>
            <a:r>
              <a:rPr lang="en-US" dirty="0"/>
              <a:t>      - left subclavian trunk</a:t>
            </a:r>
          </a:p>
          <a:p>
            <a:pPr marL="0" indent="0">
              <a:buNone/>
            </a:pPr>
            <a:r>
              <a:rPr lang="en-US" dirty="0"/>
              <a:t>       </a:t>
            </a:r>
          </a:p>
        </p:txBody>
      </p:sp>
    </p:spTree>
    <p:extLst>
      <p:ext uri="{BB962C8B-B14F-4D97-AF65-F5344CB8AC3E}">
        <p14:creationId xmlns:p14="http://schemas.microsoft.com/office/powerpoint/2010/main" val="3217710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VARIATIONS</a:t>
            </a:r>
          </a:p>
        </p:txBody>
      </p:sp>
      <p:sp>
        <p:nvSpPr>
          <p:cNvPr id="3" name="Content Placeholder 2"/>
          <p:cNvSpPr>
            <a:spLocks noGrp="1"/>
          </p:cNvSpPr>
          <p:nvPr>
            <p:ph idx="1"/>
          </p:nvPr>
        </p:nvSpPr>
        <p:spPr/>
        <p:txBody>
          <a:bodyPr/>
          <a:lstStyle/>
          <a:p>
            <a:r>
              <a:rPr lang="en-US" dirty="0"/>
              <a:t>The thoracic duct in some individuals, occasionally divides into a right and left duct, with the left entering the venous system as normal and the right draining into the right subclavian vein</a:t>
            </a:r>
          </a:p>
          <a:p>
            <a:r>
              <a:rPr lang="en-US" dirty="0"/>
              <a:t>It may also drain into the left IJV, or into the left brachiocephalic vein  </a:t>
            </a:r>
          </a:p>
        </p:txBody>
      </p:sp>
    </p:spTree>
    <p:extLst>
      <p:ext uri="{BB962C8B-B14F-4D97-AF65-F5344CB8AC3E}">
        <p14:creationId xmlns:p14="http://schemas.microsoft.com/office/powerpoint/2010/main" val="3131492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APPLIED ANATOMY</a:t>
            </a:r>
          </a:p>
        </p:txBody>
      </p:sp>
      <p:sp>
        <p:nvSpPr>
          <p:cNvPr id="3" name="Content Placeholder 2"/>
          <p:cNvSpPr>
            <a:spLocks noGrp="1"/>
          </p:cNvSpPr>
          <p:nvPr>
            <p:ph idx="1"/>
          </p:nvPr>
        </p:nvSpPr>
        <p:spPr/>
        <p:txBody>
          <a:bodyPr/>
          <a:lstStyle/>
          <a:p>
            <a:r>
              <a:rPr lang="en-US" dirty="0" err="1"/>
              <a:t>Chylothorax</a:t>
            </a:r>
            <a:r>
              <a:rPr lang="en-US" dirty="0"/>
              <a:t> ; rupture of the thoracic duct causes leakage into the pleural cavity</a:t>
            </a:r>
          </a:p>
          <a:p>
            <a:r>
              <a:rPr lang="en-US" dirty="0"/>
              <a:t>Virchow’s node; palpably enlarged lymph node in the left </a:t>
            </a:r>
            <a:r>
              <a:rPr lang="en-US" dirty="0" err="1"/>
              <a:t>supraclaviclar</a:t>
            </a:r>
            <a:r>
              <a:rPr lang="en-US" dirty="0"/>
              <a:t> area that drains the lymph from the (Positive </a:t>
            </a:r>
            <a:r>
              <a:rPr lang="en-US" dirty="0" err="1"/>
              <a:t>Troisier’s</a:t>
            </a:r>
            <a:r>
              <a:rPr lang="en-US" dirty="0"/>
              <a:t> sign; one of the earliest sign of intra-abdominal malignancy), </a:t>
            </a:r>
          </a:p>
          <a:p>
            <a:r>
              <a:rPr lang="en-US" dirty="0"/>
              <a:t>Thoracic duct fistula; </a:t>
            </a:r>
            <a:r>
              <a:rPr lang="en-US" dirty="0" err="1"/>
              <a:t>occours</a:t>
            </a:r>
            <a:r>
              <a:rPr lang="en-US" dirty="0"/>
              <a:t> following surgery and can lead to protein, electrolytes and fluid </a:t>
            </a:r>
            <a:r>
              <a:rPr lang="en-US" dirty="0" err="1"/>
              <a:t>inbalance</a:t>
            </a:r>
            <a:endParaRPr lang="en-US" dirty="0"/>
          </a:p>
        </p:txBody>
      </p:sp>
    </p:spTree>
    <p:extLst>
      <p:ext uri="{BB962C8B-B14F-4D97-AF65-F5344CB8AC3E}">
        <p14:creationId xmlns:p14="http://schemas.microsoft.com/office/powerpoint/2010/main" val="4253793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REFERENCES </a:t>
            </a:r>
          </a:p>
        </p:txBody>
      </p:sp>
      <p:sp>
        <p:nvSpPr>
          <p:cNvPr id="3" name="Content Placeholder 2"/>
          <p:cNvSpPr>
            <a:spLocks noGrp="1"/>
          </p:cNvSpPr>
          <p:nvPr>
            <p:ph idx="1"/>
          </p:nvPr>
        </p:nvSpPr>
        <p:spPr/>
        <p:txBody>
          <a:bodyPr>
            <a:normAutofit fontScale="85000" lnSpcReduction="10000"/>
          </a:bodyPr>
          <a:lstStyle/>
          <a:p>
            <a:r>
              <a:rPr lang="en-US" dirty="0"/>
              <a:t>Frank </a:t>
            </a:r>
            <a:r>
              <a:rPr lang="en-US" dirty="0" err="1"/>
              <a:t>H.Netter</a:t>
            </a:r>
            <a:r>
              <a:rPr lang="en-US" dirty="0"/>
              <a:t> MD: Atlas of Human Anatomy, 5th Edition, Elsevier Saunders.</a:t>
            </a:r>
          </a:p>
          <a:p>
            <a:r>
              <a:rPr lang="en-US" dirty="0"/>
              <a:t>Chummy </a:t>
            </a:r>
            <a:r>
              <a:rPr lang="en-US" dirty="0" err="1"/>
              <a:t>S.Sinnatamby</a:t>
            </a:r>
            <a:r>
              <a:rPr lang="en-US" dirty="0"/>
              <a:t>: Last’s Anatomy Regional and Applied, 12th Edition, Churchill Livingstone Elsevier.</a:t>
            </a:r>
          </a:p>
          <a:p>
            <a:r>
              <a:rPr lang="en-US" dirty="0"/>
              <a:t>Richard L. Drake, A. Wayne </a:t>
            </a:r>
            <a:r>
              <a:rPr lang="en-US" dirty="0" err="1"/>
              <a:t>Vogl</a:t>
            </a:r>
            <a:r>
              <a:rPr lang="en-US" dirty="0"/>
              <a:t>, Adam. W.M. Mitchell: Gray’s Anatomy for Students, 2nd Edition, Churchill Livingstone Elsevier.</a:t>
            </a:r>
          </a:p>
          <a:p>
            <a:r>
              <a:rPr lang="en-US" dirty="0"/>
              <a:t>Ted L Tewfik, MD: Thoracic duct anatomy. WebMD LLC (accessed 18/01/2016).</a:t>
            </a:r>
          </a:p>
          <a:p>
            <a:r>
              <a:rPr lang="en-US" dirty="0"/>
              <a:t>Gray, Henry: Anatomy of the human body. Philadelphia: Lea &amp; </a:t>
            </a:r>
            <a:r>
              <a:rPr lang="en-US" dirty="0" err="1"/>
              <a:t>Febiger</a:t>
            </a:r>
            <a:r>
              <a:rPr lang="en-US" dirty="0"/>
              <a:t>, 1918; Bartleby.com, 2000. (accessed 18/01/2016).</a:t>
            </a:r>
          </a:p>
          <a:p>
            <a:r>
              <a:rPr lang="en-US" dirty="0" err="1"/>
              <a:t>Knipe</a:t>
            </a:r>
            <a:r>
              <a:rPr lang="en-US" dirty="0"/>
              <a:t> H, MD: Thoracic duct. Radiopaedia.org (accessed 18/01/2016).</a:t>
            </a:r>
          </a:p>
          <a:p>
            <a:r>
              <a:rPr lang="en-US" dirty="0" err="1"/>
              <a:t>Riquet</a:t>
            </a:r>
            <a:r>
              <a:rPr lang="en-US" dirty="0"/>
              <a:t> M. et al: Thoracic duct tributaries from intrathoracic organs. PubMed.gov (accessed 18/01/2016).</a:t>
            </a:r>
          </a:p>
        </p:txBody>
      </p:sp>
    </p:spTree>
    <p:extLst>
      <p:ext uri="{BB962C8B-B14F-4D97-AF65-F5344CB8AC3E}">
        <p14:creationId xmlns:p14="http://schemas.microsoft.com/office/powerpoint/2010/main" val="2917269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endParaRPr lang="en-US" dirty="0"/>
          </a:p>
          <a:p>
            <a:pPr algn="ctr"/>
            <a:endParaRPr lang="en-US" dirty="0"/>
          </a:p>
          <a:p>
            <a:pPr algn="ctr"/>
            <a:endParaRPr lang="en-US" dirty="0"/>
          </a:p>
          <a:p>
            <a:pPr algn="ctr"/>
            <a:r>
              <a:rPr lang="en-US" i="1" dirty="0"/>
              <a:t>THANK YOU FOR LISTENING</a:t>
            </a:r>
          </a:p>
        </p:txBody>
      </p:sp>
    </p:spTree>
    <p:extLst>
      <p:ext uri="{BB962C8B-B14F-4D97-AF65-F5344CB8AC3E}">
        <p14:creationId xmlns:p14="http://schemas.microsoft.com/office/powerpoint/2010/main" val="3044346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659</Words>
  <Application>Microsoft Office PowerPoint</Application>
  <PresentationFormat>Widescreen</PresentationFormat>
  <Paragraphs>62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THORACIC DUCT BY  DR. OGWUCHE, ELIJAH (BSc. MSc. MB,BS) LAGOS STATE UNIVERSITY COLLEGE OF MEDICINE (LASUCOM), IKEJA.</vt:lpstr>
      <vt:lpstr>OUTLINE</vt:lpstr>
      <vt:lpstr>INTRODUCTION</vt:lpstr>
      <vt:lpstr>ILLUSTRATION</vt:lpstr>
      <vt:lpstr>ORIGIN</vt:lpstr>
      <vt:lpstr>DIAGRAM</vt:lpstr>
      <vt:lpstr>COURSE </vt:lpstr>
      <vt:lpstr>DIAGRAM</vt:lpstr>
      <vt:lpstr>TERMINATION</vt:lpstr>
      <vt:lpstr>DIAGRAM</vt:lpstr>
      <vt:lpstr>TRIBUTARIES</vt:lpstr>
      <vt:lpstr>VARIATIONS</vt:lpstr>
      <vt:lpstr>APPLIED ANATOMY</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THORACIC DUCT BY  DR. OGWUCHE, ELIJAH (BSc. MSc. MB,BS) LAGOS STATE UNIVERSITY COLLEGE OF MEDICINE (LASUCOM), IKEJA.</dc:title>
  <dc:creator>Windows</dc:creator>
  <cp:lastModifiedBy>Elijah Ogwuche</cp:lastModifiedBy>
  <cp:revision>18</cp:revision>
  <dcterms:created xsi:type="dcterms:W3CDTF">2025-09-17T17:56:00Z</dcterms:created>
  <dcterms:modified xsi:type="dcterms:W3CDTF">2025-09-20T06:23:28Z</dcterms:modified>
</cp:coreProperties>
</file>